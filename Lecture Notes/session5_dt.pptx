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handoutMasterIdLst>
    <p:handoutMasterId r:id="rId39"/>
  </p:handoutMasterIdLst>
  <p:sldIdLst>
    <p:sldId id="256" r:id="rId2"/>
    <p:sldId id="401" r:id="rId3"/>
    <p:sldId id="403" r:id="rId4"/>
    <p:sldId id="332" r:id="rId5"/>
    <p:sldId id="402" r:id="rId6"/>
    <p:sldId id="429" r:id="rId7"/>
    <p:sldId id="315" r:id="rId8"/>
    <p:sldId id="316" r:id="rId9"/>
    <p:sldId id="317" r:id="rId10"/>
    <p:sldId id="318" r:id="rId11"/>
    <p:sldId id="433" r:id="rId12"/>
    <p:sldId id="319" r:id="rId13"/>
    <p:sldId id="321" r:id="rId14"/>
    <p:sldId id="322" r:id="rId15"/>
    <p:sldId id="370" r:id="rId16"/>
    <p:sldId id="369" r:id="rId17"/>
    <p:sldId id="324" r:id="rId18"/>
    <p:sldId id="439" r:id="rId19"/>
    <p:sldId id="325" r:id="rId20"/>
    <p:sldId id="440" r:id="rId21"/>
    <p:sldId id="326" r:id="rId22"/>
    <p:sldId id="327" r:id="rId23"/>
    <p:sldId id="328" r:id="rId24"/>
    <p:sldId id="329" r:id="rId25"/>
    <p:sldId id="330" r:id="rId26"/>
    <p:sldId id="331" r:id="rId27"/>
    <p:sldId id="372" r:id="rId28"/>
    <p:sldId id="334" r:id="rId29"/>
    <p:sldId id="335" r:id="rId30"/>
    <p:sldId id="404" r:id="rId31"/>
    <p:sldId id="364" r:id="rId32"/>
    <p:sldId id="434" r:id="rId33"/>
    <p:sldId id="435" r:id="rId34"/>
    <p:sldId id="437" r:id="rId35"/>
    <p:sldId id="436" r:id="rId36"/>
    <p:sldId id="438" r:id="rId3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CC0066"/>
    <a:srgbClr val="D60093"/>
    <a:srgbClr val="FF0000"/>
    <a:srgbClr val="33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8C69F-500A-0000-D79D-5CEF45FE653D}" v="928" dt="2021-05-11T03:38:42.757"/>
    <p1510:client id="{22C0B364-C95C-A74B-8FD8-013B025908F9}" v="1975" dt="2021-05-11T16:35:42.817"/>
    <p1510:client id="{4B208F83-0ED0-8193-A343-6369CAE97B3A}" v="7" dt="2021-05-11T06:08:46.072"/>
    <p1510:client id="{A2A8C69F-2006-0000-D46A-8C918A84E3E0}" v="4207" dt="2021-05-11T01:05:32.238"/>
    <p1510:client id="{B77FF953-5FC4-4F48-8875-F193F0146EB8}" v="2235" dt="2021-05-11T03:12:16.238"/>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69"/>
    <p:restoredTop sz="96966"/>
  </p:normalViewPr>
  <p:slideViewPr>
    <p:cSldViewPr snapToGrid="0" snapToObjects="1">
      <p:cViewPr varScale="1">
        <p:scale>
          <a:sx n="157" d="100"/>
          <a:sy n="157" d="100"/>
        </p:scale>
        <p:origin x="1856" y="120"/>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10/1/24</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10/1/24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Building large scale machine learning models</a:t>
            </a:r>
          </a:p>
          <a:p>
            <a:r>
              <a:rPr lang="en-US" dirty="0"/>
              <a:t>Why it is a very useful model to know</a:t>
            </a:r>
          </a:p>
          <a:p>
            <a:r>
              <a:rPr lang="en-US" dirty="0"/>
              <a:t>DT are predictive models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Unsupervised learning: clustering, Dim Reduction, SVD</a:t>
            </a:r>
          </a:p>
          <a:p>
            <a:r>
              <a:rPr lang="en-US" dirty="0"/>
              <a:t>Self supervised learning: node embedding, supervision does not come from outside, not task specific, but supervision come from the data</a:t>
            </a:r>
          </a:p>
        </p:txBody>
      </p:sp>
      <p:sp>
        <p:nvSpPr>
          <p:cNvPr id="4" name="Slide Number Placeholder 3"/>
          <p:cNvSpPr>
            <a:spLocks noGrp="1"/>
          </p:cNvSpPr>
          <p:nvPr>
            <p:ph type="sldNum" sz="quarter" idx="5"/>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2148553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t>
            </a:r>
            <a:r>
              <a:rPr lang="en-US" dirty="0" err="1"/>
              <a:t>oculd</a:t>
            </a:r>
            <a:r>
              <a:rPr lang="en-US" dirty="0"/>
              <a:t> do a perfect </a:t>
            </a:r>
            <a:r>
              <a:rPr lang="en-US" dirty="0" err="1"/>
              <a:t>prediciton</a:t>
            </a:r>
            <a:r>
              <a:rPr lang="en-US" dirty="0"/>
              <a:t> on train data by simply memorize the data... But that wont generalize to the new test data!! That’s why ML is hard, tuning algorithms, picking right parameters is necessary. You deploy ML into real world and that’s the real evaluation of your model</a:t>
            </a:r>
          </a:p>
        </p:txBody>
      </p:sp>
      <p:sp>
        <p:nvSpPr>
          <p:cNvPr id="4" name="Slide Number Placeholder 3"/>
          <p:cNvSpPr>
            <a:spLocks noGrp="1"/>
          </p:cNvSpPr>
          <p:nvPr>
            <p:ph type="sldNum" sz="quarter" idx="5"/>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3601938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EE707532-839C-41A2-9E71-D5288AEAE66A}" type="slidenum">
              <a:rPr lang="en-US" smtClean="0"/>
              <a:pPr/>
              <a:t>5</a:t>
            </a:fld>
            <a:endParaRPr lang="en-US"/>
          </a:p>
        </p:txBody>
      </p:sp>
    </p:spTree>
    <p:extLst>
      <p:ext uri="{BB962C8B-B14F-4D97-AF65-F5344CB8AC3E}">
        <p14:creationId xmlns:p14="http://schemas.microsoft.com/office/powerpoint/2010/main" val="1388304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 have a long history, they started in 1980s...</a:t>
            </a:r>
          </a:p>
          <a:p>
            <a:r>
              <a:rPr lang="en-US" dirty="0"/>
              <a:t>Additional innovations: boosted DT, random forest</a:t>
            </a:r>
          </a:p>
          <a:p>
            <a:r>
              <a:rPr lang="en-US" dirty="0"/>
              <a:t>They are a method of choice when working with tabular data, When you are working with tabular data and most data in the world is tabular because it comes from relational databases.</a:t>
            </a:r>
          </a:p>
        </p:txBody>
      </p:sp>
      <p:sp>
        <p:nvSpPr>
          <p:cNvPr id="4" name="Slide Number Placeholder 3"/>
          <p:cNvSpPr>
            <a:spLocks noGrp="1"/>
          </p:cNvSpPr>
          <p:nvPr>
            <p:ph type="sldNum" sz="quarter" idx="5"/>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4234728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is the characteristic of the person</a:t>
            </a:r>
          </a:p>
          <a:p>
            <a:r>
              <a:rPr lang="en-US" dirty="0"/>
              <a:t>Subscript: refers to person </a:t>
            </a:r>
            <a:r>
              <a:rPr lang="en-US" dirty="0" err="1"/>
              <a:t>i</a:t>
            </a:r>
            <a:endParaRPr lang="en-US" dirty="0"/>
          </a:p>
          <a:p>
            <a:r>
              <a:rPr lang="en-US" dirty="0"/>
              <a:t>Superscript: refers to feature j</a:t>
            </a:r>
          </a:p>
        </p:txBody>
      </p:sp>
      <p:sp>
        <p:nvSpPr>
          <p:cNvPr id="4" name="Slide Number Placeholder 3"/>
          <p:cNvSpPr>
            <a:spLocks noGrp="1"/>
          </p:cNvSpPr>
          <p:nvPr>
            <p:ph type="sldNum" sz="quarter" idx="5"/>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1174206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3618950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Here we are looking at binary classification task, where label takes either + or -. There are two classes. </a:t>
            </a:r>
          </a:p>
          <a:p>
            <a:r>
              <a:rPr lang="en-US" dirty="0"/>
              <a:t>DT finely chops and partitions decision space into regions.  It has complex decision boundaries.</a:t>
            </a:r>
          </a:p>
          <a:p>
            <a:r>
              <a:rPr lang="en-US" dirty="0"/>
              <a:t>Usually you train multiple shallow trees and combine their </a:t>
            </a:r>
            <a:r>
              <a:rPr lang="en-US" dirty="0" err="1"/>
              <a:t>resultk</a:t>
            </a:r>
            <a:r>
              <a:rPr lang="en-US" dirty="0"/>
              <a:t>, rather than making one deep tree.</a:t>
            </a:r>
          </a:p>
        </p:txBody>
      </p:sp>
      <p:sp>
        <p:nvSpPr>
          <p:cNvPr id="4" name="Slide Number Placeholder 3"/>
          <p:cNvSpPr>
            <a:spLocks noGrp="1"/>
          </p:cNvSpPr>
          <p:nvPr>
            <p:ph type="sldNum" sz="quarter" idx="10"/>
          </p:nvPr>
        </p:nvSpPr>
        <p:spPr/>
        <p:txBody>
          <a:bodyPr/>
          <a:lstStyle/>
          <a:p>
            <a:fld id="{6B81F57D-0EF3-4713-8906-EEC17DB47EC3}" type="slidenum">
              <a:rPr lang="en-US" smtClean="0"/>
              <a:pPr/>
              <a:t>11</a:t>
            </a:fld>
            <a:endParaRPr lang="en-US"/>
          </a:p>
        </p:txBody>
      </p:sp>
    </p:spTree>
    <p:extLst>
      <p:ext uri="{BB962C8B-B14F-4D97-AF65-F5344CB8AC3E}">
        <p14:creationId xmlns:p14="http://schemas.microsoft.com/office/powerpoint/2010/main" val="1070182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Here we are looking at binary classification task, where label takes either + or -. There are two classes. </a:t>
            </a:r>
          </a:p>
          <a:p>
            <a:r>
              <a:rPr lang="en-US" dirty="0"/>
              <a:t>DT finely chops and partitions decision space into regions.  It has complex decision boundaries.</a:t>
            </a:r>
          </a:p>
          <a:p>
            <a:r>
              <a:rPr lang="en-US" dirty="0"/>
              <a:t>Usually you train multiple shallow trees and combine their result, rather than making one deep tree.</a:t>
            </a:r>
          </a:p>
        </p:txBody>
      </p:sp>
      <p:sp>
        <p:nvSpPr>
          <p:cNvPr id="4" name="Slide Number Placeholder 3"/>
          <p:cNvSpPr>
            <a:spLocks noGrp="1"/>
          </p:cNvSpPr>
          <p:nvPr>
            <p:ph type="sldNum" sz="quarter" idx="10"/>
          </p:nvPr>
        </p:nvSpPr>
        <p:spPr/>
        <p:txBody>
          <a:bodyPr/>
          <a:lstStyle/>
          <a:p>
            <a:fld id="{6B81F57D-0EF3-4713-8906-EEC17DB47EC3}" type="slidenum">
              <a:rPr lang="en-US" smtClean="0"/>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we create a split node or do we create a leaf node, make a prediction and stop building the tree.</a:t>
            </a:r>
          </a:p>
          <a:p>
            <a:r>
              <a:rPr lang="en-US" dirty="0"/>
              <a:t>Whatever comes from the parent either goes to the left child or to the right child.</a:t>
            </a:r>
          </a:p>
        </p:txBody>
      </p:sp>
      <p:sp>
        <p:nvSpPr>
          <p:cNvPr id="4" name="Slide Number Placeholder 3"/>
          <p:cNvSpPr>
            <a:spLocks noGrp="1"/>
          </p:cNvSpPr>
          <p:nvPr>
            <p:ph type="sldNum" sz="quarter" idx="5"/>
          </p:nvPr>
        </p:nvSpPr>
        <p:spPr/>
        <p:txBody>
          <a:bodyPr/>
          <a:lstStyle/>
          <a:p>
            <a:fld id="{EE707532-839C-41A2-9E71-D5288AEAE66A}" type="slidenum">
              <a:rPr lang="en-US" smtClean="0"/>
              <a:pPr/>
              <a:t>13</a:t>
            </a:fld>
            <a:endParaRPr lang="en-US"/>
          </a:p>
        </p:txBody>
      </p:sp>
    </p:spTree>
    <p:extLst>
      <p:ext uri="{BB962C8B-B14F-4D97-AF65-F5344CB8AC3E}">
        <p14:creationId xmlns:p14="http://schemas.microsoft.com/office/powerpoint/2010/main" val="2085505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level of tree requires a single pass over data</a:t>
            </a:r>
          </a:p>
        </p:txBody>
      </p:sp>
      <p:sp>
        <p:nvSpPr>
          <p:cNvPr id="4" name="Slide Number Placeholder 3"/>
          <p:cNvSpPr>
            <a:spLocks noGrp="1"/>
          </p:cNvSpPr>
          <p:nvPr>
            <p:ph type="sldNum" sz="quarter" idx="5"/>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2526229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Purity is the weighted reduction in variance. Maximizing purity means variance in both child nodes are the smallest.</a:t>
            </a:r>
          </a:p>
          <a:p>
            <a:pPr lvl="0"/>
            <a:endParaRPr lang="en-US" dirty="0"/>
          </a:p>
          <a:p>
            <a:pPr lvl="0"/>
            <a:r>
              <a:rPr lang="en-US" dirty="0"/>
              <a:t>For ordered domains sort </a:t>
            </a:r>
            <a:r>
              <a:rPr lang="en-US" b="1" dirty="0"/>
              <a:t>X</a:t>
            </a:r>
            <a:r>
              <a:rPr lang="en-US" b="1" baseline="30000" dirty="0"/>
              <a:t>(</a:t>
            </a:r>
            <a:r>
              <a:rPr lang="en-US" b="1" baseline="30000" dirty="0" err="1"/>
              <a:t>i</a:t>
            </a:r>
            <a:r>
              <a:rPr lang="en-US" b="1" baseline="30000" dirty="0"/>
              <a:t>)</a:t>
            </a:r>
            <a:r>
              <a:rPr lang="en-US" dirty="0"/>
              <a:t> and consider a split </a:t>
            </a:r>
            <a:br>
              <a:rPr lang="en-US" dirty="0"/>
            </a:br>
            <a:r>
              <a:rPr lang="en-US" dirty="0"/>
              <a:t>between each pair of adjacent values</a:t>
            </a:r>
          </a:p>
          <a:p>
            <a:pPr lvl="0"/>
            <a:r>
              <a:rPr lang="en-US" dirty="0"/>
              <a:t>For categorical </a:t>
            </a:r>
            <a:r>
              <a:rPr lang="en-US" b="1" i="1" dirty="0"/>
              <a:t>X</a:t>
            </a:r>
            <a:r>
              <a:rPr lang="en-US" b="1" i="1" baseline="30000" dirty="0"/>
              <a:t>(</a:t>
            </a:r>
            <a:r>
              <a:rPr lang="en-US" b="1" i="1" baseline="30000" dirty="0" err="1"/>
              <a:t>i</a:t>
            </a:r>
            <a:r>
              <a:rPr lang="en-US" b="1" i="1" baseline="30000" dirty="0"/>
              <a:t>)</a:t>
            </a:r>
            <a:r>
              <a:rPr lang="en-US" dirty="0"/>
              <a:t> find best split based on subsets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1739103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a:t>
            </a:r>
            <a:r>
              <a:rPr lang="en-US" dirty="0" err="1"/>
              <a:t>infrmation</a:t>
            </a:r>
            <a:r>
              <a:rPr lang="en-US" dirty="0"/>
              <a:t> does x provide about y</a:t>
            </a:r>
          </a:p>
        </p:txBody>
      </p:sp>
      <p:sp>
        <p:nvSpPr>
          <p:cNvPr id="4" name="Slide Number Placeholder 3"/>
          <p:cNvSpPr>
            <a:spLocks noGrp="1"/>
          </p:cNvSpPr>
          <p:nvPr>
            <p:ph type="sldNum" sz="quarter" idx="5"/>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2860049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build this up through a sequence of steps</a:t>
            </a:r>
          </a:p>
          <a:p>
            <a:r>
              <a:rPr lang="en-US" dirty="0"/>
              <a:t>This is a information theoretic measure. Information theory is based on entropy. </a:t>
            </a:r>
          </a:p>
          <a:p>
            <a:r>
              <a:rPr lang="en-US" dirty="0"/>
              <a:t>Low entropy = deterministic distribution</a:t>
            </a:r>
          </a:p>
          <a:p>
            <a:r>
              <a:rPr lang="en-US" dirty="0"/>
              <a:t>High </a:t>
            </a:r>
            <a:r>
              <a:rPr lang="en-US" dirty="0" err="1"/>
              <a:t>entorpy</a:t>
            </a:r>
            <a:r>
              <a:rPr lang="en-US" dirty="0"/>
              <a:t> = uncertain distribution</a:t>
            </a:r>
          </a:p>
          <a:p>
            <a:endParaRPr lang="en-US" dirty="0"/>
          </a:p>
          <a:p>
            <a:r>
              <a:rPr lang="en-US" dirty="0"/>
              <a:t>Distributions of particles. A new particle comes , for the distribution on the right we cant tell where particle belongs to because all </a:t>
            </a:r>
            <a:r>
              <a:rPr lang="en-US" dirty="0" err="1"/>
              <a:t>postiions</a:t>
            </a:r>
            <a:r>
              <a:rPr lang="en-US" dirty="0"/>
              <a:t> are equally likely.</a:t>
            </a:r>
          </a:p>
          <a:p>
            <a:endParaRPr lang="en-US" dirty="0"/>
          </a:p>
          <a:p>
            <a:r>
              <a:rPr lang="en-US" b="0" i="0" dirty="0">
                <a:solidFill>
                  <a:srgbClr val="232629"/>
                </a:solidFill>
                <a:effectLst/>
                <a:latin typeface="-apple-system"/>
              </a:rPr>
              <a:t>The maximum value of entropy is </a:t>
            </a:r>
            <a:r>
              <a:rPr lang="en-US" b="0" i="0" u="none" strike="noStrike" dirty="0">
                <a:solidFill>
                  <a:srgbClr val="232629"/>
                </a:solidFill>
                <a:effectLst/>
                <a:latin typeface="STIXGeneral-Regular"/>
              </a:rPr>
              <a:t>log</a:t>
            </a:r>
            <a:r>
              <a:rPr lang="en-US" b="0" i="0" u="none" strike="noStrike" dirty="0">
                <a:solidFill>
                  <a:srgbClr val="232629"/>
                </a:solidFill>
                <a:effectLst/>
                <a:latin typeface="STIXGeneral-Italic"/>
              </a:rPr>
              <a:t>𝑘</a:t>
            </a:r>
            <a:r>
              <a:rPr lang="en-US" b="0" i="0" u="none" strike="noStrike" dirty="0">
                <a:solidFill>
                  <a:srgbClr val="232629"/>
                </a:solidFill>
                <a:effectLst/>
                <a:latin typeface="inherit"/>
              </a:rPr>
              <a:t>log⁡�</a:t>
            </a:r>
            <a:r>
              <a:rPr lang="en-US" b="0" i="0" dirty="0">
                <a:solidFill>
                  <a:srgbClr val="232629"/>
                </a:solidFill>
                <a:effectLst/>
                <a:latin typeface="-apple-system"/>
              </a:rPr>
              <a:t>, where </a:t>
            </a:r>
            <a:r>
              <a:rPr lang="en-US" b="0" i="0" u="none" strike="noStrike" dirty="0">
                <a:solidFill>
                  <a:srgbClr val="232629"/>
                </a:solidFill>
                <a:effectLst/>
                <a:latin typeface="STIXGeneral-Italic"/>
              </a:rPr>
              <a:t>𝑘</a:t>
            </a:r>
            <a:r>
              <a:rPr lang="en-US" b="0" i="0" u="none" strike="noStrike" dirty="0">
                <a:solidFill>
                  <a:srgbClr val="232629"/>
                </a:solidFill>
                <a:effectLst/>
                <a:latin typeface="inherit"/>
              </a:rPr>
              <a:t>�</a:t>
            </a:r>
            <a:r>
              <a:rPr lang="en-US" b="0" i="0" dirty="0">
                <a:solidFill>
                  <a:srgbClr val="232629"/>
                </a:solidFill>
                <a:effectLst/>
                <a:latin typeface="-apple-system"/>
              </a:rPr>
              <a:t> is the number of categories you are using. Its numeric value will naturally depend on the base of logarithms you are using.</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52117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 distribution over math, CS and history</a:t>
            </a:r>
          </a:p>
        </p:txBody>
      </p:sp>
      <p:sp>
        <p:nvSpPr>
          <p:cNvPr id="4" name="Slide Number Placeholder 3"/>
          <p:cNvSpPr>
            <a:spLocks noGrp="1"/>
          </p:cNvSpPr>
          <p:nvPr>
            <p:ph type="sldNum" sz="quarter" idx="5"/>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3578385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of “specific conditional entropy”</a:t>
            </a:r>
          </a:p>
          <a:p>
            <a:r>
              <a:rPr lang="en-US" dirty="0"/>
              <a:t>Expected number of bits we need to send if both sides know X</a:t>
            </a:r>
          </a:p>
        </p:txBody>
      </p:sp>
      <p:sp>
        <p:nvSpPr>
          <p:cNvPr id="4" name="Slide Number Placeholder 3"/>
          <p:cNvSpPr>
            <a:spLocks noGrp="1"/>
          </p:cNvSpPr>
          <p:nvPr>
            <p:ph type="sldNum" sz="quarter" idx="5"/>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217911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Entropy is defined over discrete and categorical variable, its almost like variance over categorical data.</a:t>
            </a:r>
          </a:p>
          <a:p>
            <a:r>
              <a:rPr lang="en-US" dirty="0"/>
              <a:t>variance is defined over continuous variable</a:t>
            </a:r>
          </a:p>
        </p:txBody>
      </p:sp>
      <p:sp>
        <p:nvSpPr>
          <p:cNvPr id="4" name="Slide Number Placeholder 3"/>
          <p:cNvSpPr>
            <a:spLocks noGrp="1"/>
          </p:cNvSpPr>
          <p:nvPr>
            <p:ph type="sldNum" sz="quarter" idx="5"/>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2404738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values in features? IG metric assumes no missing value. </a:t>
            </a:r>
          </a:p>
          <a:p>
            <a:r>
              <a:rPr lang="en-US" dirty="0"/>
              <a:t>Either ignore missing values or impute them with average or a special value reserved for missing. </a:t>
            </a:r>
          </a:p>
        </p:txBody>
      </p:sp>
      <p:sp>
        <p:nvSpPr>
          <p:cNvPr id="4" name="Slide Number Placeholder 3"/>
          <p:cNvSpPr>
            <a:spLocks noGrp="1"/>
          </p:cNvSpPr>
          <p:nvPr>
            <p:ph type="sldNum" sz="quarter" idx="5"/>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3356411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3731083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Perhaps we can address these stopping criteria as an approach to deal with overfitting, and mention that we will address overfitting issues further in ensembles</a:t>
            </a:r>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28</a:t>
            </a:fld>
            <a:endParaRPr lang="en-US"/>
          </a:p>
        </p:txBody>
      </p:sp>
    </p:spTree>
    <p:extLst>
      <p:ext uri="{BB962C8B-B14F-4D97-AF65-F5344CB8AC3E}">
        <p14:creationId xmlns:p14="http://schemas.microsoft.com/office/powerpoint/2010/main" val="3329786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millions of features</a:t>
            </a:r>
          </a:p>
          <a:p>
            <a:r>
              <a:rPr lang="en-US" dirty="0"/>
              <a:t>They are robust and are used all over industry. Easy to understand, interpretable, </a:t>
            </a:r>
            <a:r>
              <a:rPr lang="en-US" dirty="0" err="1"/>
              <a:t>mititgate</a:t>
            </a:r>
            <a:r>
              <a:rPr lang="en-US" dirty="0"/>
              <a:t> overfitting, easy to make progress on it and iterate on them.</a:t>
            </a:r>
          </a:p>
        </p:txBody>
      </p:sp>
      <p:sp>
        <p:nvSpPr>
          <p:cNvPr id="4" name="Slide Number Placeholder 3"/>
          <p:cNvSpPr>
            <a:spLocks noGrp="1"/>
          </p:cNvSpPr>
          <p:nvPr>
            <p:ph type="sldNum" sz="quarter" idx="5"/>
          </p:nvPr>
        </p:nvSpPr>
        <p:spPr/>
        <p:txBody>
          <a:bodyPr/>
          <a:lstStyle/>
          <a:p>
            <a:fld id="{EE707532-839C-41A2-9E71-D5288AEAE66A}" type="slidenum">
              <a:rPr lang="en-US" smtClean="0"/>
              <a:pPr/>
              <a:t>30</a:t>
            </a:fld>
            <a:endParaRPr lang="en-US"/>
          </a:p>
        </p:txBody>
      </p:sp>
    </p:spTree>
    <p:extLst>
      <p:ext uri="{BB962C8B-B14F-4D97-AF65-F5344CB8AC3E}">
        <p14:creationId xmlns:p14="http://schemas.microsoft.com/office/powerpoint/2010/main" val="23077189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612532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E0F3328A-A558-E744-B947-C9CD6A04FA92}"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4C38FDE-789B-7F4A-9D65-DEFB3792D203}"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E0D4786-38A4-D14D-A0C6-A12267D32605}" type="datetime1">
              <a:rPr lang="en-US" smtClean="0"/>
              <a:t>10/1/24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832B17-2C68-FE4E-BB46-A4B081462332}" type="datetime1">
              <a:rPr lang="en-US" smtClean="0"/>
              <a:t>10/1/24</a:t>
            </a:fld>
            <a:endParaRPr lang="en-US"/>
          </a:p>
        </p:txBody>
      </p:sp>
      <p:sp>
        <p:nvSpPr>
          <p:cNvPr id="8" name="Footer Placeholder 7"/>
          <p:cNvSpPr>
            <a:spLocks noGrp="1"/>
          </p:cNvSpPr>
          <p:nvPr>
            <p:ph type="ftr" sz="quarter" idx="11"/>
          </p:nvPr>
        </p:nvSpPr>
        <p:spPr/>
        <p:txBody>
          <a:bodyPr/>
          <a:lstStyle/>
          <a:p>
            <a:r>
              <a:rPr lang="en-US"/>
              <a:t>Jure Leskovec &amp; Mina Ghashami, Stanford CS246: Mining Massive Datasets, http://cs246.stanford.edu</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E62F7CD-74FF-BD46-9004-F98941651B7E}" type="datetime1">
              <a:rPr lang="en-US" smtClean="0"/>
              <a:t>10/1/24</a:t>
            </a:fld>
            <a:endParaRPr lang="en-US"/>
          </a:p>
        </p:txBody>
      </p:sp>
      <p:sp>
        <p:nvSpPr>
          <p:cNvPr id="4" name="Footer Placeholder 3"/>
          <p:cNvSpPr>
            <a:spLocks noGrp="1"/>
          </p:cNvSpPr>
          <p:nvPr>
            <p:ph type="ftr" sz="quarter" idx="11"/>
          </p:nvPr>
        </p:nvSpPr>
        <p:spPr/>
        <p:txBody>
          <a:bodyPr/>
          <a:lstStyle/>
          <a:p>
            <a:r>
              <a:rPr lang="en-US"/>
              <a:t>Jure Leskovec &amp; Mina Ghashami, Stanford CS246: Mining Massive Datasets, http://cs246.stanford.edu</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0E24E7-62D9-5F41-9188-A87288B7A443}" type="datetime1">
              <a:rPr lang="en-US" smtClean="0"/>
              <a:t>10/1/24</a:t>
            </a:fld>
            <a:endParaRPr lang="en-US"/>
          </a:p>
        </p:txBody>
      </p:sp>
      <p:sp>
        <p:nvSpPr>
          <p:cNvPr id="3" name="Footer Placeholder 2"/>
          <p:cNvSpPr>
            <a:spLocks noGrp="1"/>
          </p:cNvSpPr>
          <p:nvPr>
            <p:ph type="ftr" sz="quarter" idx="11"/>
          </p:nvPr>
        </p:nvSpPr>
        <p:spPr/>
        <p:txBody>
          <a:bodyPr/>
          <a:lstStyle/>
          <a:p>
            <a:r>
              <a:rPr lang="en-US"/>
              <a:t>Jure Leskovec &amp; Mina Ghashami, Stanford CS246: Mining Massive Datasets, http://cs246.stanford.edu</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59893D7-2AB8-2D43-9075-DC22D156001D}" type="datetime1">
              <a:rPr lang="en-US" smtClean="0"/>
              <a:t>10/1/24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186EAC21-6DAC-A148-AAB7-EC887FBE63FD}" type="datetime1">
              <a:rPr lang="en-US" smtClean="0"/>
              <a:t>10/1/24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341213E-2657-2845-902C-B2C0030F6D84}"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BC173D8-5AB6-9442-8042-1A266B2679D0}" type="datetime1">
              <a:rPr lang="en-US" smtClean="0"/>
              <a:t>10/1/24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E31ADAD7-B395-F341-BF1D-631FC092504B}" type="datetime1">
              <a:rPr lang="en-US" smtClean="0"/>
              <a:t>10/1/24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Jure Leskovec &amp; Mina Ghashami, Stanford CS246: Mining Massive Datasets, http://cs246.stanford.edu</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D94DDB40-7242-9A40-8D46-787E35DD6EE5}" type="datetime1">
              <a:rPr lang="en-US" smtClean="0"/>
              <a:t>10/1/24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Jure Leskovec &amp; Mina Ghashami, Stanford CS246: Mining Massive Datasets, http://cs246.stanford.edu</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ECAA1E06-1B15-604E-8134-CEDED9BB0AEF}" type="datetime1">
              <a:rPr lang="en-US" smtClean="0"/>
              <a:t>10/1/24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Jure Leskovec &amp; Mina Ghashami, Stanford CS246: Mining Massive Datasets, http://cs246.stanford.edu</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Large Scale Machine Learning: Decision Trees</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CS246: Mining Massive Datasets</a:t>
            </a:r>
          </a:p>
          <a:p>
            <a:r>
              <a:rPr lang="en-US" sz="2400" dirty="0"/>
              <a:t>Jure </a:t>
            </a:r>
            <a:r>
              <a:rPr lang="en-US" sz="2400" dirty="0" err="1"/>
              <a:t>Leskovec</a:t>
            </a:r>
            <a:r>
              <a:rPr lang="en-US" sz="2400" dirty="0"/>
              <a:t>, </a:t>
            </a:r>
            <a:r>
              <a:rPr lang="en-US" sz="2000" dirty="0"/>
              <a:t>Stanford University</a:t>
            </a:r>
          </a:p>
          <a:p>
            <a:r>
              <a:rPr lang="en-US" sz="2400" dirty="0"/>
              <a:t>Mina </a:t>
            </a:r>
            <a:r>
              <a:rPr lang="en-US" sz="2400" dirty="0" err="1"/>
              <a:t>Ghashami</a:t>
            </a:r>
            <a:r>
              <a:rPr lang="en-US" sz="2400" dirty="0"/>
              <a:t>, </a:t>
            </a:r>
            <a:r>
              <a:rPr lang="en-US" sz="2000" dirty="0"/>
              <a:t>Amazon</a:t>
            </a:r>
          </a:p>
          <a:p>
            <a:r>
              <a:rPr lang="en-US" sz="3200" dirty="0"/>
              <a:t>http://cs246.stanford.edu</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6" name="TextBox 2">
            <a:extLst>
              <a:ext uri="{FF2B5EF4-FFF2-40B4-BE49-F238E27FC236}">
                <a16:creationId xmlns:a16="http://schemas.microsoft.com/office/drawing/2014/main" id="{D67065EE-57DE-574D-A7E7-83EF6381508E}"/>
              </a:ext>
            </a:extLst>
          </p:cNvPr>
          <p:cNvSpPr txBox="1"/>
          <p:nvPr/>
        </p:nvSpPr>
        <p:spPr>
          <a:xfrm>
            <a:off x="1905000" y="128016"/>
            <a:ext cx="7239000"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t>Note to other teachers and users of these slides: </a:t>
            </a:r>
            <a:r>
              <a:rPr lang="en-US" sz="1400"/>
              <a:t>We would be delighted if you found our </a:t>
            </a:r>
          </a:p>
          <a:p>
            <a:r>
              <a:rPr lang="en-US" sz="1400"/>
              <a:t>material useful for giving your own lectures. Feel free to use these slides verbatim, or to </a:t>
            </a:r>
          </a:p>
          <a:p>
            <a:r>
              <a:rPr lang="en-US" sz="1400"/>
              <a:t>modify them to fit your own needs. If you make use of a significant portion of these slides </a:t>
            </a:r>
          </a:p>
          <a:p>
            <a:r>
              <a:rPr lang="en-US" sz="1400"/>
              <a:t>in your own lecture, please include this message, or a link to our web site: </a:t>
            </a:r>
            <a:r>
              <a:rPr lang="en-US" sz="1400">
                <a:hlinkClick r:id="rId4"/>
              </a:rPr>
              <a:t>http://</a:t>
            </a:r>
            <a:r>
              <a:rPr lang="en-US" sz="1400" err="1">
                <a:hlinkClick r:id="rId4"/>
              </a:rPr>
              <a:t>www.mmds.org</a:t>
            </a:r>
            <a:r>
              <a:rPr lang="en-US" sz="1400">
                <a:hlinkClick r:id="rId4"/>
              </a:rPr>
              <a:t> </a:t>
            </a:r>
            <a:endParaRPr lang="en-US" sz="1400"/>
          </a:p>
          <a:p>
            <a:endParaRPr lang="en-US" sz="1400">
              <a:latin typeface="Arial" pitchFamily="34" charset="0"/>
              <a:cs typeface="Arial"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a:t>Supervised Learning</a:t>
            </a:r>
          </a:p>
        </p:txBody>
      </p:sp>
      <mc:AlternateContent xmlns:mc="http://schemas.openxmlformats.org/markup-compatibility/2006" xmlns:a14="http://schemas.microsoft.com/office/drawing/2010/main">
        <mc:Choice Requires="a14">
          <p:sp>
            <p:nvSpPr>
              <p:cNvPr id="63491" name="Rectangle 3"/>
              <p:cNvSpPr>
                <a:spLocks noGrp="1" noChangeArrowheads="1"/>
              </p:cNvSpPr>
              <p:nvPr>
                <p:ph idx="1"/>
              </p:nvPr>
            </p:nvSpPr>
            <p:spPr>
              <a:xfrm>
                <a:off x="457200" y="1295400"/>
                <a:ext cx="8610600" cy="5562600"/>
              </a:xfrm>
            </p:spPr>
            <p:txBody>
              <a:bodyPr>
                <a:normAutofit/>
              </a:bodyPr>
              <a:lstStyle/>
              <a:p>
                <a:pPr marL="118872" indent="0">
                  <a:buNone/>
                </a:pPr>
                <a:r>
                  <a:rPr lang="en-US" b="1" dirty="0">
                    <a:solidFill>
                      <a:srgbClr val="FF0066"/>
                    </a:solidFill>
                  </a:rPr>
                  <a:t>Given some data:</a:t>
                </a:r>
              </a:p>
              <a:p>
                <a:r>
                  <a:rPr lang="en-US" dirty="0"/>
                  <a:t>“Learn” a function to map from the </a:t>
                </a:r>
                <a:br>
                  <a:rPr lang="en-US" dirty="0"/>
                </a:br>
                <a:r>
                  <a:rPr lang="en-US" b="1" dirty="0"/>
                  <a:t>input</a:t>
                </a:r>
                <a:r>
                  <a:rPr lang="en-US" dirty="0"/>
                  <a:t> to the </a:t>
                </a:r>
                <a:r>
                  <a:rPr lang="en-US" b="1" dirty="0"/>
                  <a:t>output</a:t>
                </a:r>
              </a:p>
              <a:p>
                <a:pPr lvl="8"/>
                <a:endParaRPr lang="en-US" altLang="en-US" b="1" dirty="0"/>
              </a:p>
              <a:p>
                <a:r>
                  <a:rPr lang="en-US" altLang="en-US" b="1" dirty="0">
                    <a:solidFill>
                      <a:srgbClr val="FF0066"/>
                    </a:solidFill>
                  </a:rPr>
                  <a:t>Given:</a:t>
                </a:r>
                <a:r>
                  <a:rPr lang="en-US" altLang="en-US" dirty="0">
                    <a:solidFill>
                      <a:srgbClr val="FF0066"/>
                    </a:solidFill>
                  </a:rPr>
                  <a:t> </a:t>
                </a:r>
                <a:br>
                  <a:rPr lang="en-US" altLang="en-US" dirty="0">
                    <a:solidFill>
                      <a:srgbClr val="FF0066"/>
                    </a:solidFill>
                  </a:rPr>
                </a:br>
                <a:r>
                  <a:rPr lang="en-US" altLang="en-US" u="sng" dirty="0"/>
                  <a:t>Training</a:t>
                </a:r>
                <a:r>
                  <a:rPr lang="en-US" altLang="en-US" dirty="0"/>
                  <a:t> examples </a:t>
                </a:r>
                <a14:m>
                  <m:oMath xmlns:m="http://schemas.openxmlformats.org/officeDocument/2006/math">
                    <m:d>
                      <m:dPr>
                        <m:ctrlPr>
                          <a:rPr lang="en-US" altLang="en-US" b="1" i="1" smtClean="0">
                            <a:latin typeface="Cambria Math" panose="02040503050406030204" pitchFamily="18" charset="0"/>
                          </a:rPr>
                        </m:ctrlPr>
                      </m:dPr>
                      <m:e>
                        <m:sSub>
                          <m:sSubPr>
                            <m:ctrlPr>
                              <a:rPr lang="en-US" altLang="en-US" b="1" i="1" smtClean="0">
                                <a:latin typeface="Cambria Math" panose="02040503050406030204" pitchFamily="18" charset="0"/>
                              </a:rPr>
                            </m:ctrlPr>
                          </m:sSubPr>
                          <m:e>
                            <m:r>
                              <a:rPr lang="en-US" altLang="en-US" b="1" i="1" smtClean="0">
                                <a:latin typeface="Cambria Math"/>
                              </a:rPr>
                              <m:t>𝒙</m:t>
                            </m:r>
                          </m:e>
                          <m:sub>
                            <m:r>
                              <a:rPr lang="en-US" altLang="en-US" b="1" i="1" smtClean="0">
                                <a:latin typeface="Cambria Math"/>
                              </a:rPr>
                              <m:t>𝒊</m:t>
                            </m:r>
                          </m:sub>
                        </m:sSub>
                        <m:r>
                          <a:rPr lang="en-US" altLang="en-US" b="1" smtClean="0">
                            <a:latin typeface="Cambria Math"/>
                          </a:rPr>
                          <m:t>, </m:t>
                        </m:r>
                        <m:sSub>
                          <m:sSubPr>
                            <m:ctrlPr>
                              <a:rPr lang="en-US" altLang="en-US" b="1" i="1" smtClean="0">
                                <a:latin typeface="Cambria Math" panose="02040503050406030204" pitchFamily="18" charset="0"/>
                              </a:rPr>
                            </m:ctrlPr>
                          </m:sSubPr>
                          <m:e>
                            <m:r>
                              <a:rPr lang="en-US" altLang="en-US" b="1" i="1" smtClean="0">
                                <a:latin typeface="Cambria Math"/>
                              </a:rPr>
                              <m:t>𝒚</m:t>
                            </m:r>
                          </m:e>
                          <m:sub>
                            <m:r>
                              <a:rPr lang="en-US" altLang="en-US" b="1" i="1" smtClean="0">
                                <a:latin typeface="Cambria Math" panose="02040503050406030204" pitchFamily="18" charset="0"/>
                              </a:rPr>
                              <m:t>𝒊</m:t>
                            </m:r>
                          </m:sub>
                        </m:sSub>
                        <m:r>
                          <a:rPr lang="en-US" altLang="en-US" b="1" i="1" smtClean="0">
                            <a:latin typeface="Cambria Math"/>
                          </a:rPr>
                          <m:t>=</m:t>
                        </m:r>
                        <m:r>
                          <a:rPr lang="en-US" altLang="en-US" b="1" i="1" smtClean="0">
                            <a:latin typeface="Cambria Math"/>
                          </a:rPr>
                          <m:t>𝒇</m:t>
                        </m:r>
                        <m:d>
                          <m:dPr>
                            <m:ctrlPr>
                              <a:rPr lang="en-US" altLang="en-US" b="1" i="1" smtClean="0">
                                <a:latin typeface="Cambria Math" panose="02040503050406030204" pitchFamily="18" charset="0"/>
                              </a:rPr>
                            </m:ctrlPr>
                          </m:dPr>
                          <m:e>
                            <m:sSub>
                              <m:sSubPr>
                                <m:ctrlPr>
                                  <a:rPr lang="en-US" altLang="en-US" b="1" i="1" smtClean="0">
                                    <a:latin typeface="Cambria Math" panose="02040503050406030204" pitchFamily="18" charset="0"/>
                                  </a:rPr>
                                </m:ctrlPr>
                              </m:sSubPr>
                              <m:e>
                                <m:r>
                                  <a:rPr lang="en-US" altLang="en-US" b="1" i="1" smtClean="0">
                                    <a:latin typeface="Cambria Math"/>
                                  </a:rPr>
                                  <m:t>𝒙</m:t>
                                </m:r>
                              </m:e>
                              <m:sub>
                                <m:r>
                                  <a:rPr lang="en-US" altLang="en-US" b="1" i="1" smtClean="0">
                                    <a:latin typeface="Cambria Math"/>
                                  </a:rPr>
                                  <m:t>𝒊</m:t>
                                </m:r>
                              </m:sub>
                            </m:sSub>
                          </m:e>
                        </m:d>
                      </m:e>
                    </m:d>
                  </m:oMath>
                </a14:m>
                <a:r>
                  <a:rPr lang="en-US" altLang="en-US" dirty="0"/>
                  <a:t> for some unknown function </a:t>
                </a:r>
                <a14:m>
                  <m:oMath xmlns:m="http://schemas.openxmlformats.org/officeDocument/2006/math">
                    <m:r>
                      <a:rPr lang="en-US" altLang="en-US" b="1" i="1" dirty="0" smtClean="0">
                        <a:latin typeface="Cambria Math"/>
                      </a:rPr>
                      <m:t>𝒇</m:t>
                    </m:r>
                  </m:oMath>
                </a14:m>
                <a:endParaRPr lang="en-US" altLang="en-US" dirty="0"/>
              </a:p>
              <a:p>
                <a:r>
                  <a:rPr lang="en-US" altLang="en-US" b="1" dirty="0">
                    <a:solidFill>
                      <a:srgbClr val="FF0066"/>
                    </a:solidFill>
                  </a:rPr>
                  <a:t>Find:</a:t>
                </a:r>
                <a:br>
                  <a:rPr lang="en-US" altLang="en-US" b="1" dirty="0"/>
                </a:br>
                <a:r>
                  <a:rPr lang="en-US" altLang="en-US" dirty="0"/>
                  <a:t>A good approximation to </a:t>
                </a:r>
                <a14:m>
                  <m:oMath xmlns:m="http://schemas.openxmlformats.org/officeDocument/2006/math">
                    <m:r>
                      <a:rPr lang="en-US" altLang="en-US" b="1" i="1" dirty="0" smtClean="0">
                        <a:latin typeface="Cambria Math"/>
                      </a:rPr>
                      <m:t>𝒇</m:t>
                    </m:r>
                  </m:oMath>
                </a14:m>
                <a:r>
                  <a:rPr lang="en-US" altLang="en-US" dirty="0"/>
                  <a:t> </a:t>
                </a:r>
              </a:p>
            </p:txBody>
          </p:sp>
        </mc:Choice>
        <mc:Fallback xmlns="">
          <p:sp>
            <p:nvSpPr>
              <p:cNvPr id="63491" name="Rectangle 3"/>
              <p:cNvSpPr>
                <a:spLocks noGrp="1" noRot="1" noChangeAspect="1" noMove="1" noResize="1" noEditPoints="1" noAdjustHandles="1" noChangeArrowheads="1" noChangeShapeType="1" noTextEdit="1"/>
              </p:cNvSpPr>
              <p:nvPr>
                <p:ph idx="1"/>
              </p:nvPr>
            </p:nvSpPr>
            <p:spPr>
              <a:xfrm>
                <a:off x="457200" y="1295400"/>
                <a:ext cx="8610600" cy="5562600"/>
              </a:xfrm>
              <a:blipFill>
                <a:blip r:embed="rId3"/>
                <a:stretch>
                  <a:fillRect l="-849" t="-658"/>
                </a:stretch>
              </a:blipFill>
            </p:spPr>
            <p:txBody>
              <a:bodyPr/>
              <a:lstStyle/>
              <a:p>
                <a:r>
                  <a:rPr lang="en-US">
                    <a:noFill/>
                  </a:rPr>
                  <a:t> </a:t>
                </a:r>
              </a:p>
            </p:txBody>
          </p:sp>
        </mc:Fallback>
      </mc:AlternateContent>
      <p:sp>
        <p:nvSpPr>
          <p:cNvPr id="2" name="Footer Placeholder 1"/>
          <p:cNvSpPr>
            <a:spLocks noGrp="1"/>
          </p:cNvSpPr>
          <p:nvPr>
            <p:ph type="ftr" sz="quarter" idx="11"/>
          </p:nvPr>
        </p:nvSpPr>
        <p:spPr/>
        <p:txBody>
          <a:bodyPr/>
          <a:lstStyle/>
          <a:p>
            <a:r>
              <a:rPr lang="en-US" alt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ADAEE056-DE50-40B5-8B82-B15458AC4612}" type="slidenum">
              <a:rPr lang="en-US" altLang="en-US" smtClean="0"/>
              <a:pPr/>
              <a:t>2</a:t>
            </a:fld>
            <a:endParaRPr lang="en-US" altLang="en-US"/>
          </a:p>
        </p:txBody>
      </p:sp>
      <p:sp>
        <p:nvSpPr>
          <p:cNvPr id="3" name="Date Placeholder 2"/>
          <p:cNvSpPr>
            <a:spLocks noGrp="1"/>
          </p:cNvSpPr>
          <p:nvPr>
            <p:ph type="dt" sz="half" idx="10"/>
          </p:nvPr>
        </p:nvSpPr>
        <p:spPr/>
        <p:txBody>
          <a:bodyPr/>
          <a:lstStyle/>
          <a:p>
            <a:fld id="{D32B4179-17CC-0642-B516-7F8394F13FC1}" type="datetime1">
              <a:rPr lang="en-US" smtClean="0"/>
              <a:t>10/1/24</a:t>
            </a:fld>
            <a:endParaRPr lang="en-US"/>
          </a:p>
        </p:txBody>
      </p:sp>
    </p:spTree>
    <p:extLst>
      <p:ext uri="{BB962C8B-B14F-4D97-AF65-F5344CB8AC3E}">
        <p14:creationId xmlns:p14="http://schemas.microsoft.com/office/powerpoint/2010/main" val="886567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Supervised Learning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b="1" dirty="0"/>
                  <a:t>Would like to do </a:t>
                </a:r>
                <a:r>
                  <a:rPr lang="en-US" b="1" dirty="0">
                    <a:solidFill>
                      <a:srgbClr val="D60093"/>
                    </a:solidFill>
                  </a:rPr>
                  <a:t>prediction</a:t>
                </a:r>
                <a:r>
                  <a:rPr lang="en-US" b="1" dirty="0"/>
                  <a:t>:</a:t>
                </a:r>
                <a:r>
                  <a:rPr lang="en-US" b="1" dirty="0">
                    <a:solidFill>
                      <a:schemeClr val="accent3"/>
                    </a:solidFill>
                  </a:rPr>
                  <a:t> </a:t>
                </a:r>
              </a:p>
              <a:p>
                <a:pPr>
                  <a:buNone/>
                </a:pPr>
                <a:r>
                  <a:rPr lang="en-US" dirty="0">
                    <a:solidFill>
                      <a:srgbClr val="0000FF"/>
                    </a:solidFill>
                  </a:rPr>
                  <a:t>	</a:t>
                </a:r>
                <a:r>
                  <a:rPr lang="en-US" b="1" dirty="0">
                    <a:solidFill>
                      <a:srgbClr val="0000FF"/>
                    </a:solidFill>
                  </a:rPr>
                  <a:t>estimate </a:t>
                </a:r>
                <a:r>
                  <a:rPr lang="en-US" dirty="0">
                    <a:solidFill>
                      <a:srgbClr val="0000FF"/>
                    </a:solidFill>
                  </a:rPr>
                  <a:t>a function </a:t>
                </a:r>
                <a14:m>
                  <m:oMath xmlns:m="http://schemas.openxmlformats.org/officeDocument/2006/math">
                    <m:r>
                      <a:rPr lang="en-US" b="1" i="1" dirty="0" smtClean="0">
                        <a:solidFill>
                          <a:srgbClr val="0000FF"/>
                        </a:solidFill>
                        <a:latin typeface="Cambria Math" panose="02040503050406030204" pitchFamily="18" charset="0"/>
                      </a:rPr>
                      <m:t>𝒇</m:t>
                    </m:r>
                    <m:r>
                      <a:rPr lang="en-US" b="1" i="1" dirty="0" smtClean="0">
                        <a:solidFill>
                          <a:srgbClr val="0000FF"/>
                        </a:solidFill>
                        <a:latin typeface="Cambria Math" panose="02040503050406030204" pitchFamily="18" charset="0"/>
                      </a:rPr>
                      <m:t>(</m:t>
                    </m:r>
                    <m:r>
                      <a:rPr lang="en-US" b="1" i="1" dirty="0" smtClean="0">
                        <a:solidFill>
                          <a:srgbClr val="0000FF"/>
                        </a:solidFill>
                        <a:latin typeface="Cambria Math" panose="02040503050406030204" pitchFamily="18" charset="0"/>
                      </a:rPr>
                      <m:t>𝒙</m:t>
                    </m:r>
                    <m:r>
                      <a:rPr lang="en-US" b="1" i="1" dirty="0" smtClean="0">
                        <a:solidFill>
                          <a:srgbClr val="0000FF"/>
                        </a:solidFill>
                        <a:latin typeface="Cambria Math" panose="02040503050406030204" pitchFamily="18" charset="0"/>
                      </a:rPr>
                      <m:t>)</m:t>
                    </m:r>
                  </m:oMath>
                </a14:m>
                <a:r>
                  <a:rPr lang="en-US" dirty="0">
                    <a:solidFill>
                      <a:srgbClr val="0000FF"/>
                    </a:solidFill>
                  </a:rPr>
                  <a:t> so that</a:t>
                </a:r>
                <a:r>
                  <a:rPr lang="en-US" dirty="0">
                    <a:solidFill>
                      <a:schemeClr val="accent2"/>
                    </a:solidFill>
                  </a:rPr>
                  <a:t> </a:t>
                </a:r>
                <a14:m>
                  <m:oMath xmlns:m="http://schemas.openxmlformats.org/officeDocument/2006/math">
                    <m:r>
                      <a:rPr lang="en-US" b="1" i="1" dirty="0" smtClean="0">
                        <a:solidFill>
                          <a:srgbClr val="008000"/>
                        </a:solidFill>
                        <a:latin typeface="Cambria Math" panose="02040503050406030204" pitchFamily="18" charset="0"/>
                      </a:rPr>
                      <m:t>𝒚</m:t>
                    </m:r>
                    <m:r>
                      <a:rPr lang="en-US" b="1" i="1" dirty="0" smtClean="0">
                        <a:solidFill>
                          <a:srgbClr val="008000"/>
                        </a:solidFill>
                        <a:latin typeface="Cambria Math" panose="02040503050406030204" pitchFamily="18" charset="0"/>
                      </a:rPr>
                      <m:t> = </m:t>
                    </m:r>
                    <m:r>
                      <a:rPr lang="en-US" b="1" i="1" dirty="0" smtClean="0">
                        <a:solidFill>
                          <a:srgbClr val="008000"/>
                        </a:solidFill>
                        <a:latin typeface="Cambria Math" panose="02040503050406030204" pitchFamily="18" charset="0"/>
                      </a:rPr>
                      <m:t>𝒇</m:t>
                    </m:r>
                    <m:r>
                      <a:rPr lang="en-US" b="1" i="1" dirty="0" smtClean="0">
                        <a:solidFill>
                          <a:srgbClr val="008000"/>
                        </a:solidFill>
                        <a:latin typeface="Cambria Math" panose="02040503050406030204" pitchFamily="18" charset="0"/>
                      </a:rPr>
                      <m:t>(</m:t>
                    </m:r>
                    <m:r>
                      <a:rPr lang="en-US" b="1" i="1" dirty="0" smtClean="0">
                        <a:solidFill>
                          <a:srgbClr val="008000"/>
                        </a:solidFill>
                        <a:latin typeface="Cambria Math" panose="02040503050406030204" pitchFamily="18" charset="0"/>
                      </a:rPr>
                      <m:t>𝒙</m:t>
                    </m:r>
                    <m:r>
                      <a:rPr lang="en-US" b="1" i="1" dirty="0" smtClean="0">
                        <a:solidFill>
                          <a:srgbClr val="008000"/>
                        </a:solidFill>
                        <a:latin typeface="Cambria Math" panose="02040503050406030204" pitchFamily="18" charset="0"/>
                      </a:rPr>
                      <m:t>)</m:t>
                    </m:r>
                  </m:oMath>
                </a14:m>
                <a:endParaRPr lang="en-US" b="1" i="1" dirty="0">
                  <a:solidFill>
                    <a:srgbClr val="008000"/>
                  </a:solidFill>
                </a:endParaRPr>
              </a:p>
              <a:p>
                <a:pPr lvl="8"/>
                <a:endParaRPr lang="en-US" dirty="0"/>
              </a:p>
              <a:p>
                <a:r>
                  <a:rPr lang="en-US" b="1" dirty="0"/>
                  <a:t>Where </a:t>
                </a:r>
                <a:r>
                  <a:rPr lang="en-US" b="1" i="1" dirty="0">
                    <a:solidFill>
                      <a:srgbClr val="008000"/>
                    </a:solidFill>
                  </a:rPr>
                  <a:t>y</a:t>
                </a:r>
                <a:r>
                  <a:rPr lang="en-US" b="1" dirty="0"/>
                  <a:t> can be:</a:t>
                </a:r>
              </a:p>
              <a:p>
                <a:pPr lvl="1"/>
                <a:r>
                  <a:rPr lang="en-US" b="1" dirty="0">
                    <a:solidFill>
                      <a:srgbClr val="D60093"/>
                    </a:solidFill>
                  </a:rPr>
                  <a:t>Real number</a:t>
                </a:r>
                <a:r>
                  <a:rPr lang="en-US" b="1" dirty="0"/>
                  <a:t>:</a:t>
                </a:r>
                <a:r>
                  <a:rPr lang="en-US" dirty="0"/>
                  <a:t> Regression</a:t>
                </a:r>
              </a:p>
              <a:p>
                <a:pPr lvl="1"/>
                <a:r>
                  <a:rPr lang="en-US" b="1" dirty="0">
                    <a:solidFill>
                      <a:srgbClr val="D60093"/>
                    </a:solidFill>
                  </a:rPr>
                  <a:t>Categorical</a:t>
                </a:r>
                <a:r>
                  <a:rPr lang="en-US" b="1" dirty="0"/>
                  <a:t>:</a:t>
                </a:r>
                <a:r>
                  <a:rPr lang="en-US" dirty="0"/>
                  <a:t> </a:t>
                </a:r>
                <a:r>
                  <a:rPr lang="en-US" b="1" dirty="0"/>
                  <a:t>Classification</a:t>
                </a:r>
              </a:p>
              <a:p>
                <a:pPr marL="2048256" lvl="8" indent="0">
                  <a:buNone/>
                </a:pPr>
                <a:endParaRPr lang="en-US" dirty="0"/>
              </a:p>
              <a:p>
                <a:r>
                  <a:rPr lang="en-US" b="1" dirty="0"/>
                  <a:t>Data is </a:t>
                </a:r>
                <a:r>
                  <a:rPr lang="en-US" b="1" dirty="0">
                    <a:solidFill>
                      <a:srgbClr val="D60093"/>
                    </a:solidFill>
                  </a:rPr>
                  <a:t>labeled</a:t>
                </a:r>
                <a:r>
                  <a:rPr lang="en-US" b="1" dirty="0"/>
                  <a:t>:</a:t>
                </a:r>
              </a:p>
              <a:p>
                <a:pPr lvl="1"/>
                <a:r>
                  <a:rPr lang="en-US" dirty="0"/>
                  <a:t>Have many pairs </a:t>
                </a: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𝒙</m:t>
                    </m:r>
                    <m:r>
                      <a:rPr lang="en-US" b="1" i="1" dirty="0" smtClean="0">
                        <a:latin typeface="Cambria Math" panose="02040503050406030204" pitchFamily="18" charset="0"/>
                      </a:rPr>
                      <m:t>, </m:t>
                    </m:r>
                    <m:r>
                      <a:rPr lang="en-US" b="1" i="1" dirty="0" smtClean="0">
                        <a:latin typeface="Cambria Math" panose="02040503050406030204" pitchFamily="18" charset="0"/>
                      </a:rPr>
                      <m:t>𝒚</m:t>
                    </m:r>
                    <m:r>
                      <a:rPr lang="en-US" b="1" i="1" dirty="0" smtClean="0">
                        <a:latin typeface="Cambria Math" panose="02040503050406030204" pitchFamily="18" charset="0"/>
                      </a:rPr>
                      <m:t>)}</m:t>
                    </m:r>
                  </m:oMath>
                </a14:m>
                <a:endParaRPr lang="en-US" b="1" dirty="0"/>
              </a:p>
              <a:p>
                <a:pPr lvl="2"/>
                <a:r>
                  <a:rPr lang="en-US" b="1" dirty="0"/>
                  <a:t>x</a:t>
                </a:r>
                <a:r>
                  <a:rPr lang="en-US" dirty="0"/>
                  <a:t> … vector of binary, categorical, real valued features </a:t>
                </a:r>
              </a:p>
              <a:p>
                <a:pPr lvl="2"/>
                <a:r>
                  <a:rPr lang="en-US" b="1" dirty="0"/>
                  <a:t>y</a:t>
                </a:r>
                <a:r>
                  <a:rPr lang="en-US" dirty="0"/>
                  <a:t> … class label, or a real number</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725" b="-725"/>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nn-NO"/>
              <a:t>Jure Leskovec &amp; Mina Ghashami, Stanford CS246: Mining Massive Datasets, http://cs246.stanford.edu</a:t>
            </a:r>
            <a:endParaRPr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3</a:t>
            </a:fld>
            <a:endParaRPr lang="en-US"/>
          </a:p>
        </p:txBody>
      </p:sp>
      <p:sp>
        <p:nvSpPr>
          <p:cNvPr id="4" name="Date Placeholder 3"/>
          <p:cNvSpPr>
            <a:spLocks noGrp="1"/>
          </p:cNvSpPr>
          <p:nvPr>
            <p:ph type="dt" sz="half" idx="10"/>
          </p:nvPr>
        </p:nvSpPr>
        <p:spPr/>
        <p:txBody>
          <a:bodyPr/>
          <a:lstStyle/>
          <a:p>
            <a:fld id="{BAE3BE99-A54E-E64F-9916-3D2CF54819EA}" type="datetime1">
              <a:rPr lang="en-US" smtClean="0"/>
              <a:t>10/1/24</a:t>
            </a:fld>
            <a:endParaRPr lang="en-US"/>
          </a:p>
        </p:txBody>
      </p:sp>
    </p:spTree>
    <p:extLst>
      <p:ext uri="{BB962C8B-B14F-4D97-AF65-F5344CB8AC3E}">
        <p14:creationId xmlns:p14="http://schemas.microsoft.com/office/powerpoint/2010/main" val="3760389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Supervised Learning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410200"/>
              </a:xfrm>
            </p:spPr>
            <p:txBody>
              <a:bodyPr>
                <a:normAutofit/>
              </a:bodyPr>
              <a:lstStyle/>
              <a:p>
                <a:r>
                  <a:rPr lang="en-US" b="1" dirty="0">
                    <a:solidFill>
                      <a:srgbClr val="0000FF"/>
                    </a:solidFill>
                  </a:rPr>
                  <a:t>Task:</a:t>
                </a:r>
                <a:r>
                  <a:rPr lang="en-US" b="1" dirty="0"/>
                  <a:t> </a:t>
                </a:r>
                <a:r>
                  <a:rPr lang="en-US" dirty="0"/>
                  <a:t>Given data </a:t>
                </a: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𝑿</m:t>
                    </m:r>
                    <m:r>
                      <a:rPr lang="en-US" b="1" i="1" dirty="0" smtClean="0">
                        <a:latin typeface="Cambria Math" panose="02040503050406030204" pitchFamily="18" charset="0"/>
                      </a:rPr>
                      <m:t>,</m:t>
                    </m:r>
                    <m:r>
                      <a:rPr lang="en-US" b="1" i="1" dirty="0" smtClean="0">
                        <a:latin typeface="Cambria Math" panose="02040503050406030204" pitchFamily="18" charset="0"/>
                      </a:rPr>
                      <m:t>𝒀</m:t>
                    </m:r>
                    <m:r>
                      <a:rPr lang="en-US" b="1" i="1" dirty="0" smtClean="0">
                        <a:latin typeface="Cambria Math" panose="02040503050406030204" pitchFamily="18" charset="0"/>
                      </a:rPr>
                      <m:t>)</m:t>
                    </m:r>
                  </m:oMath>
                </a14:m>
                <a:r>
                  <a:rPr lang="en-US" dirty="0"/>
                  <a:t> build a model </a:t>
                </a:r>
                <a14:m>
                  <m:oMath xmlns:m="http://schemas.openxmlformats.org/officeDocument/2006/math">
                    <m:r>
                      <a:rPr lang="en-US" b="1" i="1" dirty="0" smtClean="0">
                        <a:latin typeface="Cambria Math" panose="02040503050406030204" pitchFamily="18" charset="0"/>
                      </a:rPr>
                      <m:t>𝒇</m:t>
                    </m:r>
                    <m:r>
                      <a:rPr lang="en-US" b="1" i="1" dirty="0" smtClean="0">
                        <a:latin typeface="Cambria Math" panose="02040503050406030204" pitchFamily="18" charset="0"/>
                      </a:rPr>
                      <m:t>()</m:t>
                    </m:r>
                  </m:oMath>
                </a14:m>
                <a:r>
                  <a:rPr lang="en-US" dirty="0"/>
                  <a:t>  to predict </a:t>
                </a:r>
                <a14:m>
                  <m:oMath xmlns:m="http://schemas.openxmlformats.org/officeDocument/2006/math">
                    <m:r>
                      <a:rPr lang="en-US" b="1" i="1" dirty="0" smtClean="0">
                        <a:latin typeface="Cambria Math" panose="02040503050406030204" pitchFamily="18" charset="0"/>
                      </a:rPr>
                      <m:t>𝒀</m:t>
                    </m:r>
                    <m:r>
                      <a:rPr lang="en-US" b="1" i="1" dirty="0" smtClean="0">
                        <a:latin typeface="Cambria Math" panose="02040503050406030204" pitchFamily="18" charset="0"/>
                      </a:rPr>
                      <m:t>’</m:t>
                    </m:r>
                  </m:oMath>
                </a14:m>
                <a:r>
                  <a:rPr lang="en-US" dirty="0"/>
                  <a:t> based on </a:t>
                </a:r>
                <a14:m>
                  <m:oMath xmlns:m="http://schemas.openxmlformats.org/officeDocument/2006/math">
                    <m:r>
                      <a:rPr lang="en-US" b="1" i="1" dirty="0" smtClean="0">
                        <a:latin typeface="Cambria Math" panose="02040503050406030204" pitchFamily="18" charset="0"/>
                      </a:rPr>
                      <m:t>𝑿</m:t>
                    </m:r>
                    <m:r>
                      <a:rPr lang="en-US" b="1" i="1" dirty="0" smtClean="0">
                        <a:latin typeface="Cambria Math" panose="02040503050406030204" pitchFamily="18" charset="0"/>
                      </a:rPr>
                      <m:t>’</m:t>
                    </m:r>
                  </m:oMath>
                </a14:m>
                <a:endParaRPr lang="en-US" b="1" dirty="0"/>
              </a:p>
              <a:p>
                <a:r>
                  <a:rPr lang="en-US" b="1" dirty="0">
                    <a:solidFill>
                      <a:srgbClr val="0000FF"/>
                    </a:solidFill>
                  </a:rPr>
                  <a:t>Strategy:</a:t>
                </a:r>
                <a:r>
                  <a:rPr lang="en-US" b="1" dirty="0"/>
                  <a:t> Estimate </a:t>
                </a:r>
                <a14:m>
                  <m:oMath xmlns:m="http://schemas.openxmlformats.org/officeDocument/2006/math">
                    <m:r>
                      <a:rPr lang="en-US" b="1" i="1" dirty="0" smtClean="0">
                        <a:latin typeface="Cambria Math"/>
                      </a:rPr>
                      <m:t>𝒚</m:t>
                    </m:r>
                    <m:r>
                      <a:rPr lang="en-US" b="1" i="1" dirty="0" smtClean="0">
                        <a:latin typeface="Cambria Math"/>
                      </a:rPr>
                      <m:t> = </m:t>
                    </m:r>
                    <m:r>
                      <a:rPr lang="en-US" b="1" i="1" dirty="0" smtClean="0">
                        <a:latin typeface="Cambria Math"/>
                      </a:rPr>
                      <m:t>𝒇</m:t>
                    </m:r>
                    <m:d>
                      <m:dPr>
                        <m:ctrlPr>
                          <a:rPr lang="en-US" b="1" i="1" dirty="0" smtClean="0">
                            <a:latin typeface="Cambria Math" panose="02040503050406030204" pitchFamily="18" charset="0"/>
                          </a:rPr>
                        </m:ctrlPr>
                      </m:dPr>
                      <m:e>
                        <m:r>
                          <a:rPr lang="en-US" b="1" i="1" dirty="0" smtClean="0">
                            <a:latin typeface="Cambria Math"/>
                          </a:rPr>
                          <m:t>𝒙</m:t>
                        </m:r>
                      </m:e>
                    </m:d>
                  </m:oMath>
                </a14:m>
                <a:br>
                  <a:rPr lang="en-US" b="1" dirty="0"/>
                </a:br>
                <a:r>
                  <a:rPr lang="en-US" b="1" dirty="0"/>
                  <a:t>on </a:t>
                </a: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𝑿</m:t>
                    </m:r>
                    <m:r>
                      <a:rPr lang="en-US" b="1" i="1" dirty="0" smtClean="0">
                        <a:latin typeface="Cambria Math" panose="02040503050406030204" pitchFamily="18" charset="0"/>
                      </a:rPr>
                      <m:t>,</m:t>
                    </m:r>
                    <m:r>
                      <a:rPr lang="en-US" b="1" i="1" dirty="0" smtClean="0">
                        <a:latin typeface="Cambria Math" panose="02040503050406030204" pitchFamily="18" charset="0"/>
                      </a:rPr>
                      <m:t>𝒀</m:t>
                    </m:r>
                    <m:r>
                      <a:rPr lang="en-US" b="1" i="1" dirty="0" smtClean="0">
                        <a:latin typeface="Cambria Math" panose="02040503050406030204" pitchFamily="18" charset="0"/>
                      </a:rPr>
                      <m:t>)</m:t>
                    </m:r>
                  </m:oMath>
                </a14:m>
                <a:br>
                  <a:rPr lang="en-US" b="1" dirty="0"/>
                </a:br>
                <a:r>
                  <a:rPr lang="en-US" b="1" dirty="0"/>
                  <a:t>Hope that the same </a:t>
                </a:r>
                <a14:m>
                  <m:oMath xmlns:m="http://schemas.openxmlformats.org/officeDocument/2006/math">
                    <m:r>
                      <a:rPr lang="en-US" b="1" i="1" dirty="0" smtClean="0">
                        <a:latin typeface="Cambria Math"/>
                      </a:rPr>
                      <m:t>𝒇</m:t>
                    </m:r>
                    <m:r>
                      <a:rPr lang="en-US" b="1" i="1" dirty="0" smtClean="0">
                        <a:latin typeface="Cambria Math"/>
                      </a:rPr>
                      <m:t>(</m:t>
                    </m:r>
                    <m:r>
                      <a:rPr lang="en-US" b="1" i="1" dirty="0" smtClean="0">
                        <a:latin typeface="Cambria Math"/>
                      </a:rPr>
                      <m:t>𝒙</m:t>
                    </m:r>
                    <m:r>
                      <a:rPr lang="en-US" b="1" i="1" dirty="0">
                        <a:latin typeface="Cambria Math"/>
                      </a:rPr>
                      <m:t>)</m:t>
                    </m:r>
                  </m:oMath>
                </a14:m>
                <a:r>
                  <a:rPr lang="en-US" b="1" dirty="0"/>
                  <a:t> also </a:t>
                </a:r>
                <a:br>
                  <a:rPr lang="en-US" b="1" dirty="0"/>
                </a:br>
                <a:r>
                  <a:rPr lang="en-US" b="1" dirty="0"/>
                  <a:t>works to predict unknown </a:t>
                </a:r>
                <a14:m>
                  <m:oMath xmlns:m="http://schemas.openxmlformats.org/officeDocument/2006/math">
                    <m:r>
                      <a:rPr lang="en-US" b="1" i="1" dirty="0" smtClean="0">
                        <a:latin typeface="Cambria Math"/>
                      </a:rPr>
                      <m:t>𝒀</m:t>
                    </m:r>
                    <m:r>
                      <a:rPr lang="en-US" b="1" i="1" dirty="0">
                        <a:latin typeface="Cambria Math"/>
                      </a:rPr>
                      <m:t>’</m:t>
                    </m:r>
                  </m:oMath>
                </a14:m>
                <a:endParaRPr lang="en-US" b="1" dirty="0"/>
              </a:p>
              <a:p>
                <a:pPr lvl="1"/>
                <a:r>
                  <a:rPr lang="en-US" dirty="0"/>
                  <a:t>The </a:t>
                </a:r>
                <a:r>
                  <a:rPr lang="en-US" b="1" dirty="0"/>
                  <a:t>“hope”</a:t>
                </a:r>
                <a:r>
                  <a:rPr lang="en-US" dirty="0"/>
                  <a:t> is called </a:t>
                </a:r>
                <a:r>
                  <a:rPr lang="en-US" b="1" dirty="0"/>
                  <a:t>generalization</a:t>
                </a:r>
              </a:p>
              <a:p>
                <a:pPr lvl="2"/>
                <a:r>
                  <a:rPr lang="en-US" b="1" dirty="0">
                    <a:solidFill>
                      <a:srgbClr val="0000FF"/>
                    </a:solidFill>
                  </a:rPr>
                  <a:t>Overfitting:</a:t>
                </a:r>
                <a:r>
                  <a:rPr lang="en-US" b="1" dirty="0"/>
                  <a:t> If </a:t>
                </a:r>
                <a14:m>
                  <m:oMath xmlns:m="http://schemas.openxmlformats.org/officeDocument/2006/math">
                    <m:r>
                      <a:rPr lang="en-US" b="1" i="1" dirty="0" smtClean="0">
                        <a:latin typeface="Cambria Math" panose="02040503050406030204" pitchFamily="18" charset="0"/>
                      </a:rPr>
                      <m:t>𝒇</m:t>
                    </m:r>
                    <m:r>
                      <a:rPr lang="en-US" b="1" i="1" dirty="0" smtClean="0">
                        <a:latin typeface="Cambria Math" panose="02040503050406030204" pitchFamily="18" charset="0"/>
                      </a:rPr>
                      <m:t>(</m:t>
                    </m:r>
                    <m:r>
                      <a:rPr lang="en-US" b="1" i="1" dirty="0" smtClean="0">
                        <a:latin typeface="Cambria Math" panose="02040503050406030204" pitchFamily="18" charset="0"/>
                      </a:rPr>
                      <m:t>𝒙</m:t>
                    </m:r>
                    <m:r>
                      <a:rPr lang="en-US" b="1" i="1" dirty="0" smtClean="0">
                        <a:latin typeface="Cambria Math" panose="02040503050406030204" pitchFamily="18" charset="0"/>
                      </a:rPr>
                      <m:t>) </m:t>
                    </m:r>
                  </m:oMath>
                </a14:m>
                <a:r>
                  <a:rPr lang="en-US" b="1" dirty="0"/>
                  <a:t>predicts well </a:t>
                </a:r>
                <a14:m>
                  <m:oMath xmlns:m="http://schemas.openxmlformats.org/officeDocument/2006/math">
                    <m:r>
                      <a:rPr lang="en-US" b="1" i="1" dirty="0" smtClean="0">
                        <a:latin typeface="Cambria Math" panose="02040503050406030204" pitchFamily="18" charset="0"/>
                      </a:rPr>
                      <m:t>𝒀</m:t>
                    </m:r>
                  </m:oMath>
                </a14:m>
                <a:r>
                  <a:rPr lang="en-US" b="1" dirty="0"/>
                  <a:t> but unable to predict </a:t>
                </a:r>
                <a14:m>
                  <m:oMath xmlns:m="http://schemas.openxmlformats.org/officeDocument/2006/math">
                    <m:r>
                      <a:rPr lang="en-US" b="1" i="1" dirty="0" smtClean="0">
                        <a:latin typeface="Cambria Math" panose="02040503050406030204" pitchFamily="18" charset="0"/>
                      </a:rPr>
                      <m:t>𝒀</m:t>
                    </m:r>
                    <m:r>
                      <a:rPr lang="en-US" b="1" i="1" dirty="0" smtClean="0">
                        <a:latin typeface="Cambria Math" panose="02040503050406030204" pitchFamily="18" charset="0"/>
                      </a:rPr>
                      <m:t>’</m:t>
                    </m:r>
                  </m:oMath>
                </a14:m>
                <a:r>
                  <a:rPr lang="en-US" b="1" dirty="0"/>
                  <a:t> </a:t>
                </a:r>
              </a:p>
              <a:p>
                <a:pPr lvl="1"/>
                <a:r>
                  <a:rPr lang="en-US" b="1" dirty="0">
                    <a:solidFill>
                      <a:srgbClr val="FF0066"/>
                    </a:solidFill>
                  </a:rPr>
                  <a:t>We want to build a model that </a:t>
                </a:r>
                <a:r>
                  <a:rPr lang="en-US" b="1" u="sng" dirty="0">
                    <a:solidFill>
                      <a:srgbClr val="FF0066"/>
                    </a:solidFill>
                  </a:rPr>
                  <a:t>generalizes</a:t>
                </a:r>
                <a:r>
                  <a:rPr lang="en-US" b="1" dirty="0">
                    <a:solidFill>
                      <a:srgbClr val="FF0066"/>
                    </a:solidFill>
                  </a:rPr>
                  <a:t> </a:t>
                </a:r>
                <a:br>
                  <a:rPr lang="en-US" b="1" dirty="0">
                    <a:solidFill>
                      <a:srgbClr val="FF0066"/>
                    </a:solidFill>
                  </a:rPr>
                </a:br>
                <a:r>
                  <a:rPr lang="en-US" b="1" dirty="0">
                    <a:solidFill>
                      <a:srgbClr val="FF0066"/>
                    </a:solidFill>
                  </a:rPr>
                  <a:t>well to unseen data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410200"/>
              </a:xfrm>
              <a:blipFill>
                <a:blip r:embed="rId3"/>
                <a:stretch>
                  <a:fillRect t="-704"/>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a:t>
            </a:fld>
            <a:endParaRPr lang="en-US"/>
          </a:p>
        </p:txBody>
      </p:sp>
      <p:sp>
        <p:nvSpPr>
          <p:cNvPr id="7" name="Rectangle 6"/>
          <p:cNvSpPr/>
          <p:nvPr/>
        </p:nvSpPr>
        <p:spPr>
          <a:xfrm>
            <a:off x="7162800" y="2140530"/>
            <a:ext cx="1524000" cy="1295400"/>
          </a:xfrm>
          <a:prstGeom prst="rect">
            <a:avLst/>
          </a:prstGeom>
          <a:ln cmpd="sng"/>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t>X</a:t>
            </a:r>
          </a:p>
        </p:txBody>
      </p:sp>
      <p:sp>
        <p:nvSpPr>
          <p:cNvPr id="8" name="Rectangle 7"/>
          <p:cNvSpPr/>
          <p:nvPr/>
        </p:nvSpPr>
        <p:spPr>
          <a:xfrm>
            <a:off x="8755946" y="2140530"/>
            <a:ext cx="388054" cy="1295400"/>
          </a:xfrm>
          <a:prstGeom prst="rect">
            <a:avLst/>
          </a:prstGeom>
          <a:ln cmpd="sng"/>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t>Y</a:t>
            </a:r>
          </a:p>
        </p:txBody>
      </p:sp>
      <p:sp>
        <p:nvSpPr>
          <p:cNvPr id="9" name="Rectangle 8"/>
          <p:cNvSpPr/>
          <p:nvPr/>
        </p:nvSpPr>
        <p:spPr>
          <a:xfrm>
            <a:off x="7162800" y="3512130"/>
            <a:ext cx="1524000" cy="6096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a:t>X’</a:t>
            </a:r>
          </a:p>
        </p:txBody>
      </p:sp>
      <p:sp>
        <p:nvSpPr>
          <p:cNvPr id="13" name="Rectangle 12"/>
          <p:cNvSpPr/>
          <p:nvPr/>
        </p:nvSpPr>
        <p:spPr>
          <a:xfrm>
            <a:off x="8755946" y="3505200"/>
            <a:ext cx="388054" cy="609600"/>
          </a:xfrm>
          <a:prstGeom prst="rect">
            <a:avLst/>
          </a:prstGeom>
          <a:solidFill>
            <a:schemeClr val="bg1">
              <a:lumMod val="65000"/>
              <a:alpha val="49000"/>
            </a:schemeClr>
          </a:solidFill>
          <a:ln>
            <a:solidFill>
              <a:schemeClr val="dk1">
                <a:shade val="50000"/>
                <a:alpha val="36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a:t>Y’</a:t>
            </a:r>
          </a:p>
        </p:txBody>
      </p:sp>
      <p:sp>
        <p:nvSpPr>
          <p:cNvPr id="15" name="Left Brace 14"/>
          <p:cNvSpPr/>
          <p:nvPr/>
        </p:nvSpPr>
        <p:spPr>
          <a:xfrm>
            <a:off x="6972300" y="3498270"/>
            <a:ext cx="190500" cy="616530"/>
          </a:xfrm>
          <a:prstGeom prst="leftBrace">
            <a:avLst>
              <a:gd name="adj1" fmla="val 30455"/>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p:cNvSpPr txBox="1"/>
          <p:nvPr/>
        </p:nvSpPr>
        <p:spPr>
          <a:xfrm>
            <a:off x="6380445" y="3468469"/>
            <a:ext cx="706155" cy="646331"/>
          </a:xfrm>
          <a:prstGeom prst="rect">
            <a:avLst/>
          </a:prstGeom>
          <a:noFill/>
        </p:spPr>
        <p:txBody>
          <a:bodyPr wrap="none" rtlCol="0">
            <a:spAutoFit/>
          </a:bodyPr>
          <a:lstStyle/>
          <a:p>
            <a:r>
              <a:rPr lang="en-US" b="1">
                <a:solidFill>
                  <a:srgbClr val="008000"/>
                </a:solidFill>
                <a:latin typeface="Arial" pitchFamily="34" charset="0"/>
                <a:cs typeface="Arial" pitchFamily="34" charset="0"/>
              </a:rPr>
              <a:t>Test </a:t>
            </a:r>
            <a:br>
              <a:rPr lang="en-US" b="1">
                <a:solidFill>
                  <a:srgbClr val="008000"/>
                </a:solidFill>
                <a:latin typeface="Arial" pitchFamily="34" charset="0"/>
                <a:cs typeface="Arial" pitchFamily="34" charset="0"/>
              </a:rPr>
            </a:br>
            <a:r>
              <a:rPr lang="en-US" b="1">
                <a:solidFill>
                  <a:srgbClr val="008000"/>
                </a:solidFill>
                <a:latin typeface="Arial" pitchFamily="34" charset="0"/>
                <a:cs typeface="Arial" pitchFamily="34" charset="0"/>
              </a:rPr>
              <a:t>data</a:t>
            </a:r>
          </a:p>
        </p:txBody>
      </p:sp>
      <p:sp>
        <p:nvSpPr>
          <p:cNvPr id="17" name="Left Brace 16"/>
          <p:cNvSpPr/>
          <p:nvPr/>
        </p:nvSpPr>
        <p:spPr>
          <a:xfrm>
            <a:off x="6972300" y="2133600"/>
            <a:ext cx="190500" cy="1302330"/>
          </a:xfrm>
          <a:prstGeom prst="leftBrace">
            <a:avLst>
              <a:gd name="adj1" fmla="val 30455"/>
              <a:gd name="adj2" fmla="val 50000"/>
            </a:avLst>
          </a:prstGeom>
          <a:ln w="28575">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p:cNvSpPr txBox="1"/>
          <p:nvPr/>
        </p:nvSpPr>
        <p:spPr>
          <a:xfrm>
            <a:off x="6004188" y="2590800"/>
            <a:ext cx="1082412" cy="646331"/>
          </a:xfrm>
          <a:prstGeom prst="rect">
            <a:avLst/>
          </a:prstGeom>
          <a:noFill/>
        </p:spPr>
        <p:txBody>
          <a:bodyPr wrap="none" rtlCol="0">
            <a:spAutoFit/>
          </a:bodyPr>
          <a:lstStyle/>
          <a:p>
            <a:pPr algn="ctr"/>
            <a:r>
              <a:rPr lang="en-US" b="1" dirty="0">
                <a:solidFill>
                  <a:srgbClr val="0000FF"/>
                </a:solidFill>
                <a:latin typeface="Arial" pitchFamily="34" charset="0"/>
                <a:cs typeface="Arial" pitchFamily="34" charset="0"/>
              </a:rPr>
              <a:t>Training</a:t>
            </a:r>
            <a:br>
              <a:rPr lang="en-US" b="1" dirty="0">
                <a:solidFill>
                  <a:srgbClr val="0000FF"/>
                </a:solidFill>
                <a:latin typeface="Arial" pitchFamily="34" charset="0"/>
                <a:cs typeface="Arial" pitchFamily="34" charset="0"/>
              </a:rPr>
            </a:br>
            <a:r>
              <a:rPr lang="en-US" b="1" dirty="0">
                <a:solidFill>
                  <a:srgbClr val="0000FF"/>
                </a:solidFill>
                <a:latin typeface="Arial" pitchFamily="34" charset="0"/>
                <a:cs typeface="Arial" pitchFamily="34" charset="0"/>
              </a:rPr>
              <a:t>data</a:t>
            </a:r>
          </a:p>
        </p:txBody>
      </p:sp>
      <p:sp>
        <p:nvSpPr>
          <p:cNvPr id="4" name="Date Placeholder 3"/>
          <p:cNvSpPr>
            <a:spLocks noGrp="1"/>
          </p:cNvSpPr>
          <p:nvPr>
            <p:ph type="dt" sz="half" idx="10"/>
          </p:nvPr>
        </p:nvSpPr>
        <p:spPr/>
        <p:txBody>
          <a:bodyPr/>
          <a:lstStyle/>
          <a:p>
            <a:fld id="{6428C10D-1657-5E4F-9850-CEF83D68C977}" type="datetime1">
              <a:rPr lang="en-US" smtClean="0"/>
              <a:t>10/1/24</a:t>
            </a:fld>
            <a:endParaRPr lang="en-US"/>
          </a:p>
        </p:txBody>
      </p:sp>
    </p:spTree>
    <p:extLst>
      <p:ext uri="{BB962C8B-B14F-4D97-AF65-F5344CB8AC3E}">
        <p14:creationId xmlns:p14="http://schemas.microsoft.com/office/powerpoint/2010/main" val="1525722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8077200" cy="2590800"/>
          </a:xfrm>
        </p:spPr>
        <p:txBody>
          <a:bodyPr anchor="b">
            <a:normAutofit/>
          </a:bodyPr>
          <a:lstStyle/>
          <a:p>
            <a:r>
              <a:rPr lang="en-US" sz="4800"/>
              <a:t>Decision Trees, Random Forests and GBDTs</a:t>
            </a:r>
          </a:p>
        </p:txBody>
      </p:sp>
    </p:spTree>
    <p:extLst>
      <p:ext uri="{BB962C8B-B14F-4D97-AF65-F5344CB8AC3E}">
        <p14:creationId xmlns:p14="http://schemas.microsoft.com/office/powerpoint/2010/main" val="294845909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C64D-A177-1447-A7A1-DF1C054F695D}"/>
              </a:ext>
            </a:extLst>
          </p:cNvPr>
          <p:cNvSpPr>
            <a:spLocks noGrp="1"/>
          </p:cNvSpPr>
          <p:nvPr>
            <p:ph type="title"/>
          </p:nvPr>
        </p:nvSpPr>
        <p:spPr/>
        <p:txBody>
          <a:bodyPr/>
          <a:lstStyle/>
          <a:p>
            <a:r>
              <a:rPr lang="en-US"/>
              <a:t>Preface: Decision Trees</a:t>
            </a:r>
          </a:p>
        </p:txBody>
      </p:sp>
      <p:sp>
        <p:nvSpPr>
          <p:cNvPr id="3" name="Content Placeholder 2">
            <a:extLst>
              <a:ext uri="{FF2B5EF4-FFF2-40B4-BE49-F238E27FC236}">
                <a16:creationId xmlns:a16="http://schemas.microsoft.com/office/drawing/2014/main" id="{873FEE73-7F04-C04E-BC04-5F49AF333E64}"/>
              </a:ext>
            </a:extLst>
          </p:cNvPr>
          <p:cNvSpPr>
            <a:spLocks noGrp="1"/>
          </p:cNvSpPr>
          <p:nvPr>
            <p:ph idx="1"/>
          </p:nvPr>
        </p:nvSpPr>
        <p:spPr>
          <a:xfrm>
            <a:off x="457200" y="1295400"/>
            <a:ext cx="8229600" cy="5562600"/>
          </a:xfrm>
        </p:spPr>
        <p:txBody>
          <a:bodyPr vert="horz" lIns="54864" tIns="91440" rIns="91440" bIns="45720" rtlCol="0" anchor="t">
            <a:normAutofit/>
          </a:bodyPr>
          <a:lstStyle/>
          <a:p>
            <a:pPr marL="438785"/>
            <a:r>
              <a:rPr lang="en-US" b="1" dirty="0">
                <a:solidFill>
                  <a:srgbClr val="D60093"/>
                </a:solidFill>
                <a:latin typeface="Calibri"/>
                <a:cs typeface="Calibri"/>
              </a:rPr>
              <a:t>Decision trees are part of ML since 1980s</a:t>
            </a:r>
            <a:endParaRPr lang="en-US" dirty="0">
              <a:solidFill>
                <a:srgbClr val="D60093"/>
              </a:solidFill>
              <a:latin typeface="Calibri"/>
              <a:cs typeface="Calibri"/>
            </a:endParaRPr>
          </a:p>
          <a:p>
            <a:pPr marL="731393" lvl="1"/>
            <a:r>
              <a:rPr lang="en-US" dirty="0">
                <a:latin typeface="Calibri"/>
                <a:cs typeface="Calibri"/>
              </a:rPr>
              <a:t>Introduced by Leo </a:t>
            </a:r>
            <a:r>
              <a:rPr lang="en-US" dirty="0" err="1">
                <a:latin typeface="Calibri"/>
                <a:cs typeface="Calibri"/>
              </a:rPr>
              <a:t>Breiman</a:t>
            </a:r>
            <a:r>
              <a:rPr lang="en-US" dirty="0">
                <a:latin typeface="Calibri"/>
                <a:cs typeface="Calibri"/>
              </a:rPr>
              <a:t> in 1984</a:t>
            </a:r>
          </a:p>
          <a:p>
            <a:pPr lvl="1"/>
            <a:r>
              <a:rPr lang="en-US" dirty="0">
                <a:latin typeface="Calibri"/>
                <a:cs typeface="Calibri"/>
              </a:rPr>
              <a:t>Notable algorithms: ID3, C4.5</a:t>
            </a:r>
          </a:p>
          <a:p>
            <a:pPr marL="438785"/>
            <a:r>
              <a:rPr lang="en-US" b="1" dirty="0">
                <a:latin typeface="Calibri"/>
                <a:cs typeface="Calibri"/>
              </a:rPr>
              <a:t>More recent innovations include:</a:t>
            </a:r>
          </a:p>
          <a:p>
            <a:pPr lvl="1"/>
            <a:r>
              <a:rPr lang="en-US" dirty="0">
                <a:latin typeface="Calibri"/>
                <a:cs typeface="Calibri"/>
              </a:rPr>
              <a:t>Boosted decision trees (gradient boosted DT)</a:t>
            </a:r>
          </a:p>
          <a:p>
            <a:pPr lvl="1"/>
            <a:r>
              <a:rPr lang="en-US" dirty="0">
                <a:latin typeface="Calibri"/>
                <a:cs typeface="Calibri"/>
              </a:rPr>
              <a:t>Random forest</a:t>
            </a:r>
          </a:p>
          <a:p>
            <a:pPr marL="438785"/>
            <a:r>
              <a:rPr lang="en-US" dirty="0">
                <a:latin typeface="Calibri"/>
                <a:cs typeface="Calibri"/>
              </a:rPr>
              <a:t>Even though DTs are old, hand-engineered and heuristic, they are a method of choice for tabular data and for Kaggle competitions. </a:t>
            </a:r>
            <a:r>
              <a:rPr lang="en-US" dirty="0">
                <a:latin typeface="Calibri"/>
                <a:cs typeface="Calibri"/>
                <a:sym typeface="Wingdings" pitchFamily="2" charset="2"/>
              </a:rPr>
              <a:t></a:t>
            </a:r>
            <a:endParaRPr lang="en-US" dirty="0">
              <a:latin typeface="Calibri"/>
              <a:cs typeface="Calibri"/>
            </a:endParaRPr>
          </a:p>
        </p:txBody>
      </p:sp>
      <p:sp>
        <p:nvSpPr>
          <p:cNvPr id="4" name="Date Placeholder 3">
            <a:extLst>
              <a:ext uri="{FF2B5EF4-FFF2-40B4-BE49-F238E27FC236}">
                <a16:creationId xmlns:a16="http://schemas.microsoft.com/office/drawing/2014/main" id="{578B2E94-9F20-C743-85A7-07F849418F63}"/>
              </a:ext>
            </a:extLst>
          </p:cNvPr>
          <p:cNvSpPr>
            <a:spLocks noGrp="1"/>
          </p:cNvSpPr>
          <p:nvPr>
            <p:ph type="dt" sz="half" idx="10"/>
          </p:nvPr>
        </p:nvSpPr>
        <p:spPr/>
        <p:txBody>
          <a:bodyPr/>
          <a:lstStyle/>
          <a:p>
            <a:fld id="{F99FAA1D-0A4D-BD4A-B3A1-86C11DBB5FCF}" type="datetime1">
              <a:rPr lang="en-US" smtClean="0"/>
              <a:t>10/1/24</a:t>
            </a:fld>
            <a:endParaRPr lang="en-US"/>
          </a:p>
        </p:txBody>
      </p:sp>
      <p:sp>
        <p:nvSpPr>
          <p:cNvPr id="5" name="Footer Placeholder 4">
            <a:extLst>
              <a:ext uri="{FF2B5EF4-FFF2-40B4-BE49-F238E27FC236}">
                <a16:creationId xmlns:a16="http://schemas.microsoft.com/office/drawing/2014/main" id="{ECFD7D83-1EBF-7343-9F32-83A3D462F82E}"/>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3FF522C7-FC39-654B-BE3A-C115CBD06471}"/>
              </a:ext>
            </a:extLst>
          </p:cNvPr>
          <p:cNvSpPr>
            <a:spLocks noGrp="1"/>
          </p:cNvSpPr>
          <p:nvPr>
            <p:ph type="sldNum" sz="quarter" idx="12"/>
          </p:nvPr>
        </p:nvSpPr>
        <p:spPr/>
        <p:txBody>
          <a:bodyPr/>
          <a:lstStyle/>
          <a:p>
            <a:fld id="{19B12225-5612-419B-A8D5-4B8EEE4C217E}" type="slidenum">
              <a:rPr lang="en-US" smtClean="0"/>
              <a:pPr/>
              <a:t>6</a:t>
            </a:fld>
            <a:endParaRPr lang="en-US"/>
          </a:p>
        </p:txBody>
      </p:sp>
    </p:spTree>
    <p:extLst>
      <p:ext uri="{BB962C8B-B14F-4D97-AF65-F5344CB8AC3E}">
        <p14:creationId xmlns:p14="http://schemas.microsoft.com/office/powerpoint/2010/main" val="1871443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 Learning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153905" cy="5562600"/>
              </a:xfrm>
            </p:spPr>
            <p:txBody>
              <a:bodyPr>
                <a:normAutofit fontScale="85000" lnSpcReduction="20000"/>
              </a:bodyPr>
              <a:lstStyle/>
              <a:p>
                <a:r>
                  <a:rPr lang="en-US" b="1" dirty="0"/>
                  <a:t>Given one target attribute (e.g., lifespan), try to predict the value of new people’s lifespans by means of some of the other available attribute</a:t>
                </a:r>
              </a:p>
              <a:p>
                <a:r>
                  <a:rPr lang="en-US" b="1" dirty="0">
                    <a:solidFill>
                      <a:srgbClr val="FF0066"/>
                    </a:solidFill>
                  </a:rPr>
                  <a:t>Input attributes:</a:t>
                </a:r>
              </a:p>
              <a:p>
                <a:pPr lvl="1"/>
                <a:r>
                  <a:rPr lang="en-US" b="1" dirty="0"/>
                  <a:t>d</a:t>
                </a:r>
                <a:r>
                  <a:rPr lang="en-US" dirty="0"/>
                  <a:t> features/attributes: </a:t>
                </a:r>
                <a14:m>
                  <m:oMath xmlns:m="http://schemas.openxmlformats.org/officeDocument/2006/math">
                    <m:r>
                      <a:rPr lang="en-US" b="1" i="1" dirty="0" smtClean="0">
                        <a:latin typeface="Cambria Math" panose="02040503050406030204" pitchFamily="18" charset="0"/>
                      </a:rPr>
                      <m:t>𝒙</m:t>
                    </m:r>
                  </m:oMath>
                </a14:m>
                <a:r>
                  <a:rPr lang="en-US" b="1" baseline="30000" dirty="0"/>
                  <a:t>(</a:t>
                </a:r>
                <a14:m>
                  <m:oMath xmlns:m="http://schemas.openxmlformats.org/officeDocument/2006/math">
                    <m:r>
                      <a:rPr lang="en-US" b="1" i="1" baseline="30000" dirty="0" smtClean="0">
                        <a:latin typeface="Cambria Math" panose="02040503050406030204" pitchFamily="18" charset="0"/>
                      </a:rPr>
                      <m:t>𝟏</m:t>
                    </m:r>
                  </m:oMath>
                </a14:m>
                <a:r>
                  <a:rPr lang="en-US" b="1" baseline="30000" dirty="0"/>
                  <a:t>)</a:t>
                </a:r>
                <a14:m>
                  <m:oMath xmlns:m="http://schemas.openxmlformats.org/officeDocument/2006/math">
                    <m:r>
                      <a:rPr lang="en-US" b="1" i="1" dirty="0" smtClean="0">
                        <a:latin typeface="Cambria Math" panose="02040503050406030204" pitchFamily="18" charset="0"/>
                      </a:rPr>
                      <m:t>, </m:t>
                    </m:r>
                    <m:r>
                      <a:rPr lang="en-US" b="1" i="1" dirty="0">
                        <a:latin typeface="Cambria Math" panose="02040503050406030204" pitchFamily="18" charset="0"/>
                      </a:rPr>
                      <m:t>𝒙</m:t>
                    </m:r>
                  </m:oMath>
                </a14:m>
                <a:r>
                  <a:rPr lang="en-US" b="1" baseline="30000" dirty="0"/>
                  <a:t>(</a:t>
                </a:r>
                <a14:m>
                  <m:oMath xmlns:m="http://schemas.openxmlformats.org/officeDocument/2006/math">
                    <m:r>
                      <a:rPr lang="en-US" b="1" i="1" baseline="30000" dirty="0" smtClean="0">
                        <a:latin typeface="Cambria Math" panose="02040503050406030204" pitchFamily="18" charset="0"/>
                      </a:rPr>
                      <m:t>𝟐</m:t>
                    </m:r>
                  </m:oMath>
                </a14:m>
                <a:r>
                  <a:rPr lang="en-US" b="1" baseline="30000" dirty="0"/>
                  <a:t>)</a:t>
                </a:r>
                <a14:m>
                  <m:oMath xmlns:m="http://schemas.openxmlformats.org/officeDocument/2006/math">
                    <m:r>
                      <a:rPr lang="en-US" b="1" i="1" dirty="0" smtClean="0">
                        <a:latin typeface="Cambria Math" panose="02040503050406030204" pitchFamily="18" charset="0"/>
                      </a:rPr>
                      <m:t>, … </m:t>
                    </m:r>
                    <m:r>
                      <a:rPr lang="en-US" b="1" i="1" dirty="0">
                        <a:latin typeface="Cambria Math" panose="02040503050406030204" pitchFamily="18" charset="0"/>
                      </a:rPr>
                      <m:t>𝒙</m:t>
                    </m:r>
                  </m:oMath>
                </a14:m>
                <a:r>
                  <a:rPr lang="en-US" b="1" baseline="30000" dirty="0"/>
                  <a:t>(</a:t>
                </a:r>
                <a14:m>
                  <m:oMath xmlns:m="http://schemas.openxmlformats.org/officeDocument/2006/math">
                    <m:r>
                      <a:rPr lang="en-US" b="1" i="1" baseline="30000" dirty="0" smtClean="0">
                        <a:latin typeface="Cambria Math" panose="02040503050406030204" pitchFamily="18" charset="0"/>
                      </a:rPr>
                      <m:t>𝒅</m:t>
                    </m:r>
                  </m:oMath>
                </a14:m>
                <a:r>
                  <a:rPr lang="en-US" b="1" baseline="30000" dirty="0"/>
                  <a:t>)</a:t>
                </a:r>
              </a:p>
              <a:p>
                <a:pPr lvl="1"/>
                <a:r>
                  <a:rPr lang="en-US" dirty="0"/>
                  <a:t>Each </a:t>
                </a:r>
                <a14:m>
                  <m:oMath xmlns:m="http://schemas.openxmlformats.org/officeDocument/2006/math">
                    <m:r>
                      <a:rPr lang="en-US" b="1" i="1" dirty="0">
                        <a:latin typeface="Cambria Math" panose="02040503050406030204" pitchFamily="18" charset="0"/>
                      </a:rPr>
                      <m:t>𝒙</m:t>
                    </m:r>
                  </m:oMath>
                </a14:m>
                <a:r>
                  <a:rPr lang="en-US" b="1" baseline="30000" dirty="0"/>
                  <a:t>(</a:t>
                </a:r>
                <a14:m>
                  <m:oMath xmlns:m="http://schemas.openxmlformats.org/officeDocument/2006/math">
                    <m:r>
                      <a:rPr lang="en-US" b="1" i="1" baseline="30000" dirty="0" smtClean="0">
                        <a:latin typeface="Cambria Math" panose="02040503050406030204" pitchFamily="18" charset="0"/>
                      </a:rPr>
                      <m:t>𝒋</m:t>
                    </m:r>
                  </m:oMath>
                </a14:m>
                <a:r>
                  <a:rPr lang="en-US" b="1" baseline="30000" dirty="0"/>
                  <a:t>)</a:t>
                </a:r>
                <a:r>
                  <a:rPr lang="en-US" dirty="0"/>
                  <a:t> has </a:t>
                </a:r>
                <a:r>
                  <a:rPr lang="en-US" b="1" dirty="0">
                    <a:solidFill>
                      <a:srgbClr val="008000"/>
                    </a:solidFill>
                  </a:rPr>
                  <a:t>domain</a:t>
                </a:r>
                <a:r>
                  <a:rPr lang="en-US" dirty="0">
                    <a:solidFill>
                      <a:srgbClr val="008000"/>
                    </a:solidFill>
                  </a:rPr>
                  <a:t> </a:t>
                </a:r>
                <a14:m>
                  <m:oMath xmlns:m="http://schemas.openxmlformats.org/officeDocument/2006/math">
                    <m:r>
                      <a:rPr lang="en-US" b="1" i="1" dirty="0" smtClean="0">
                        <a:latin typeface="Cambria Math" panose="02040503050406030204" pitchFamily="18" charset="0"/>
                      </a:rPr>
                      <m:t>𝑶</m:t>
                    </m:r>
                    <m:r>
                      <a:rPr lang="en-US" b="1" i="1" baseline="-25000" dirty="0" err="1">
                        <a:latin typeface="Cambria Math" panose="02040503050406030204" pitchFamily="18" charset="0"/>
                      </a:rPr>
                      <m:t>𝒋</m:t>
                    </m:r>
                    <m:r>
                      <a:rPr lang="en-US" i="1" dirty="0">
                        <a:latin typeface="Cambria Math" panose="02040503050406030204" pitchFamily="18" charset="0"/>
                      </a:rPr>
                      <m:t> </m:t>
                    </m:r>
                  </m:oMath>
                </a14:m>
                <a:endParaRPr lang="en-US" dirty="0"/>
              </a:p>
              <a:p>
                <a:pPr lvl="2"/>
                <a:r>
                  <a:rPr lang="en-US" b="1" dirty="0"/>
                  <a:t>Categorical:  </a:t>
                </a:r>
                <a14:m>
                  <m:oMath xmlns:m="http://schemas.openxmlformats.org/officeDocument/2006/math">
                    <m:r>
                      <a:rPr lang="en-US" b="1" i="1" dirty="0" smtClean="0">
                        <a:latin typeface="Cambria Math" panose="02040503050406030204" pitchFamily="18" charset="0"/>
                      </a:rPr>
                      <m:t>𝑶</m:t>
                    </m:r>
                    <m:r>
                      <a:rPr lang="en-US" b="1" i="1" baseline="-25000" dirty="0" err="1">
                        <a:latin typeface="Cambria Math" panose="02040503050406030204" pitchFamily="18" charset="0"/>
                      </a:rPr>
                      <m:t>𝒋</m:t>
                    </m:r>
                    <m:r>
                      <a:rPr lang="en-US" i="1" dirty="0">
                        <a:latin typeface="Cambria Math" panose="02040503050406030204" pitchFamily="18" charset="0"/>
                      </a:rPr>
                      <m:t> = {</m:t>
                    </m:r>
                    <m:r>
                      <a:rPr lang="en-US" b="0" i="1" dirty="0" smtClean="0">
                        <a:latin typeface="Cambria Math" panose="02040503050406030204" pitchFamily="18" charset="0"/>
                      </a:rPr>
                      <m:t>𝑚𝑎𝑙𝑒</m:t>
                    </m:r>
                    <m:r>
                      <a:rPr lang="en-US" i="1" dirty="0">
                        <a:latin typeface="Cambria Math" panose="02040503050406030204" pitchFamily="18" charset="0"/>
                      </a:rPr>
                      <m:t>, </m:t>
                    </m:r>
                    <m:r>
                      <a:rPr lang="en-US" b="0" i="1" dirty="0" smtClean="0">
                        <a:latin typeface="Cambria Math" panose="02040503050406030204" pitchFamily="18" charset="0"/>
                      </a:rPr>
                      <m:t>𝑓𝑒𝑚𝑎𝑙𝑒</m:t>
                    </m:r>
                    <m:r>
                      <a:rPr lang="en-US" i="1" dirty="0">
                        <a:latin typeface="Cambria Math" panose="02040503050406030204" pitchFamily="18" charset="0"/>
                      </a:rPr>
                      <m:t>}</m:t>
                    </m:r>
                  </m:oMath>
                </a14:m>
                <a:endParaRPr lang="en-US" dirty="0"/>
              </a:p>
              <a:p>
                <a:pPr lvl="2"/>
                <a:r>
                  <a:rPr lang="en-US" b="1" dirty="0"/>
                  <a:t>Numerical:</a:t>
                </a:r>
                <a:r>
                  <a:rPr lang="en-US" dirty="0"/>
                  <a:t> </a:t>
                </a:r>
                <a14:m>
                  <m:oMath xmlns:m="http://schemas.openxmlformats.org/officeDocument/2006/math">
                    <m:r>
                      <a:rPr lang="en-US" b="1" i="1" dirty="0" smtClean="0">
                        <a:latin typeface="Cambria Math" panose="02040503050406030204" pitchFamily="18" charset="0"/>
                      </a:rPr>
                      <m:t>𝑯</m:t>
                    </m:r>
                    <m:r>
                      <a:rPr lang="en-US" b="1" i="1" baseline="-25000" dirty="0" err="1">
                        <a:latin typeface="Cambria Math" panose="02040503050406030204" pitchFamily="18" charset="0"/>
                      </a:rPr>
                      <m:t>𝒋</m:t>
                    </m:r>
                    <m:r>
                      <a:rPr lang="en-US" i="1" dirty="0">
                        <a:latin typeface="Cambria Math" panose="02040503050406030204" pitchFamily="18" charset="0"/>
                      </a:rPr>
                      <m:t> = (</m:t>
                    </m:r>
                    <m:r>
                      <a:rPr lang="en-US" b="0" i="1" dirty="0" smtClean="0">
                        <a:latin typeface="Cambria Math" panose="02040503050406030204" pitchFamily="18" charset="0"/>
                      </a:rPr>
                      <m:t>1</m:t>
                    </m:r>
                    <m:r>
                      <a:rPr lang="en-US" i="1" dirty="0">
                        <a:latin typeface="Cambria Math" panose="02040503050406030204" pitchFamily="18" charset="0"/>
                      </a:rPr>
                      <m:t>, </m:t>
                    </m:r>
                    <m:r>
                      <a:rPr lang="en-US" b="0" i="1" dirty="0" smtClean="0">
                        <a:latin typeface="Cambria Math" panose="02040503050406030204" pitchFamily="18" charset="0"/>
                      </a:rPr>
                      <m:t>20</m:t>
                    </m:r>
                    <m:r>
                      <a:rPr lang="en-US" i="1" dirty="0">
                        <a:latin typeface="Cambria Math" panose="02040503050406030204" pitchFamily="18" charset="0"/>
                      </a:rPr>
                      <m:t>0)</m:t>
                    </m:r>
                  </m:oMath>
                </a14:m>
                <a:endParaRPr lang="en-US" dirty="0"/>
              </a:p>
              <a:p>
                <a:pPr lvl="1"/>
                <a14:m>
                  <m:oMath xmlns:m="http://schemas.openxmlformats.org/officeDocument/2006/math">
                    <m:r>
                      <a:rPr lang="en-US" b="1" i="1" dirty="0" smtClean="0">
                        <a:latin typeface="Cambria Math" panose="02040503050406030204" pitchFamily="18" charset="0"/>
                      </a:rPr>
                      <m:t>𝒀</m:t>
                    </m:r>
                  </m:oMath>
                </a14:m>
                <a:r>
                  <a:rPr lang="en-US" dirty="0"/>
                  <a:t> is output variable with domain </a:t>
                </a:r>
                <a14:m>
                  <m:oMath xmlns:m="http://schemas.openxmlformats.org/officeDocument/2006/math">
                    <m:r>
                      <a:rPr lang="en-US" b="1" i="1" dirty="0" smtClean="0">
                        <a:latin typeface="Cambria Math" panose="02040503050406030204" pitchFamily="18" charset="0"/>
                      </a:rPr>
                      <m:t>𝑶</m:t>
                    </m:r>
                    <m:r>
                      <a:rPr lang="en-US" b="1" i="1" baseline="-25000" dirty="0">
                        <a:latin typeface="Cambria Math" panose="02040503050406030204" pitchFamily="18" charset="0"/>
                      </a:rPr>
                      <m:t>𝒀</m:t>
                    </m:r>
                  </m:oMath>
                </a14:m>
                <a:r>
                  <a:rPr lang="en-US" dirty="0"/>
                  <a:t>:</a:t>
                </a:r>
              </a:p>
              <a:p>
                <a:pPr lvl="3"/>
                <a:r>
                  <a:rPr lang="en-US" b="1" dirty="0"/>
                  <a:t>Categorical:</a:t>
                </a:r>
                <a:r>
                  <a:rPr lang="en-US" dirty="0"/>
                  <a:t> Classification e.g. </a:t>
                </a:r>
                <a:r>
                  <a:rPr lang="en-US" b="1" i="1" dirty="0"/>
                  <a:t>Y</a:t>
                </a:r>
                <a:r>
                  <a:rPr lang="en-US" b="1" dirty="0"/>
                  <a:t> = eye color</a:t>
                </a:r>
              </a:p>
              <a:p>
                <a:pPr lvl="3"/>
                <a:r>
                  <a:rPr lang="en-US" b="1" dirty="0"/>
                  <a:t>Numerical:</a:t>
                </a:r>
                <a:r>
                  <a:rPr lang="en-US" dirty="0"/>
                  <a:t> Regression e.g. </a:t>
                </a:r>
                <a:r>
                  <a:rPr lang="en-US" b="1" i="1" dirty="0"/>
                  <a:t>Y</a:t>
                </a:r>
                <a:r>
                  <a:rPr lang="en-US" b="1" dirty="0"/>
                  <a:t> = lifespan</a:t>
                </a:r>
              </a:p>
              <a:p>
                <a:r>
                  <a:rPr lang="en-US" b="1" dirty="0">
                    <a:solidFill>
                      <a:srgbClr val="D60093"/>
                    </a:solidFill>
                  </a:rPr>
                  <a:t>Data D:</a:t>
                </a:r>
              </a:p>
              <a:p>
                <a:pPr lvl="1"/>
                <a14:m>
                  <m:oMath xmlns:m="http://schemas.openxmlformats.org/officeDocument/2006/math">
                    <m:r>
                      <a:rPr lang="en-US" b="1" i="1" dirty="0">
                        <a:latin typeface="Cambria Math"/>
                      </a:rPr>
                      <m:t>𝒏</m:t>
                    </m:r>
                  </m:oMath>
                </a14:m>
                <a:r>
                  <a:rPr lang="en-US" dirty="0"/>
                  <a:t> examples </a:t>
                </a:r>
                <a14:m>
                  <m:oMath xmlns:m="http://schemas.openxmlformats.org/officeDocument/2006/math">
                    <m:r>
                      <a:rPr lang="en-US" b="1" i="1" dirty="0" smtClean="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𝒙</m:t>
                        </m:r>
                      </m:e>
                      <m:sub>
                        <m:r>
                          <a:rPr lang="en-US" b="1" i="1" dirty="0">
                            <a:latin typeface="Cambria Math" panose="02040503050406030204" pitchFamily="18" charset="0"/>
                          </a:rPr>
                          <m:t>𝒊</m:t>
                        </m:r>
                      </m:sub>
                    </m:sSub>
                    <m:r>
                      <a:rPr lang="en-US" i="1" dirty="0" smtClean="0">
                        <a:latin typeface="Cambria Math" panose="02040503050406030204" pitchFamily="18" charset="0"/>
                      </a:rPr>
                      <m:t>,</m:t>
                    </m:r>
                    <m:r>
                      <a:rPr lang="en-US" b="1" i="1" dirty="0">
                        <a:latin typeface="Cambria Math" panose="02040503050406030204" pitchFamily="18" charset="0"/>
                      </a:rPr>
                      <m:t> </m:t>
                    </m:r>
                    <m:sSub>
                      <m:sSubPr>
                        <m:ctrlPr>
                          <a:rPr lang="en-US" b="1" i="1" dirty="0">
                            <a:latin typeface="Cambria Math" panose="02040503050406030204" pitchFamily="18" charset="0"/>
                          </a:rPr>
                        </m:ctrlPr>
                      </m:sSubPr>
                      <m:e>
                        <m:r>
                          <a:rPr lang="en-US" b="1" i="1" dirty="0">
                            <a:latin typeface="Cambria Math" panose="02040503050406030204" pitchFamily="18" charset="0"/>
                          </a:rPr>
                          <m:t>𝒚</m:t>
                        </m:r>
                      </m:e>
                      <m:sub>
                        <m:r>
                          <a:rPr lang="en-US" b="1" i="1" dirty="0">
                            <a:latin typeface="Cambria Math" panose="02040503050406030204" pitchFamily="18" charset="0"/>
                          </a:rPr>
                          <m:t>𝒊</m:t>
                        </m:r>
                      </m:sub>
                    </m:sSub>
                    <m:r>
                      <a:rPr lang="en-US" b="1" i="1" dirty="0" smtClean="0">
                        <a:latin typeface="Cambria Math" panose="02040503050406030204" pitchFamily="18" charset="0"/>
                      </a:rPr>
                      <m:t>) </m:t>
                    </m:r>
                  </m:oMath>
                </a14:m>
                <a:r>
                  <a:rPr lang="en-US" dirty="0"/>
                  <a:t>where </a:t>
                </a:r>
                <a14:m>
                  <m:oMath xmlns:m="http://schemas.openxmlformats.org/officeDocument/2006/math">
                    <m:sSub>
                      <m:sSubPr>
                        <m:ctrlPr>
                          <a:rPr lang="en-US" b="1" i="1" dirty="0">
                            <a:latin typeface="Cambria Math" panose="02040503050406030204" pitchFamily="18" charset="0"/>
                          </a:rPr>
                        </m:ctrlPr>
                      </m:sSubPr>
                      <m:e>
                        <m:r>
                          <a:rPr lang="en-US" b="1" i="1" dirty="0">
                            <a:latin typeface="Cambria Math"/>
                          </a:rPr>
                          <m:t>𝒙</m:t>
                        </m:r>
                      </m:e>
                      <m:sub>
                        <m:r>
                          <a:rPr lang="en-US" b="1" i="1" dirty="0">
                            <a:latin typeface="Cambria Math"/>
                          </a:rPr>
                          <m:t>𝒊</m:t>
                        </m:r>
                      </m:sub>
                    </m:sSub>
                  </m:oMath>
                </a14:m>
                <a:r>
                  <a:rPr lang="en-US" dirty="0"/>
                  <a:t> is a </a:t>
                </a:r>
                <a14:m>
                  <m:oMath xmlns:m="http://schemas.openxmlformats.org/officeDocument/2006/math">
                    <m:r>
                      <a:rPr lang="en-US" b="1" i="1" dirty="0">
                        <a:latin typeface="Cambria Math"/>
                      </a:rPr>
                      <m:t>𝒅</m:t>
                    </m:r>
                  </m:oMath>
                </a14:m>
                <a:r>
                  <a:rPr lang="en-US" dirty="0"/>
                  <a:t>-dim feature vector, </a:t>
                </a:r>
                <a14:m>
                  <m:oMath xmlns:m="http://schemas.openxmlformats.org/officeDocument/2006/math">
                    <m:sSub>
                      <m:sSubPr>
                        <m:ctrlPr>
                          <a:rPr lang="en-US" b="1" i="1" dirty="0">
                            <a:latin typeface="Cambria Math" panose="02040503050406030204" pitchFamily="18" charset="0"/>
                          </a:rPr>
                        </m:ctrlPr>
                      </m:sSubPr>
                      <m:e>
                        <m:r>
                          <a:rPr lang="en-US" b="1" i="1" dirty="0">
                            <a:latin typeface="Cambria Math"/>
                          </a:rPr>
                          <m:t>𝒚</m:t>
                        </m:r>
                      </m:e>
                      <m:sub>
                        <m:r>
                          <a:rPr lang="en-US" b="1" i="1" dirty="0">
                            <a:latin typeface="Cambria Math"/>
                          </a:rPr>
                          <m:t>𝒊</m:t>
                        </m:r>
                      </m:sub>
                    </m:sSub>
                    <m:r>
                      <a:rPr lang="en-US" b="1" i="1" dirty="0">
                        <a:latin typeface="Cambria Math"/>
                      </a:rPr>
                      <m:t>∈</m:t>
                    </m:r>
                    <m:sSub>
                      <m:sSubPr>
                        <m:ctrlPr>
                          <a:rPr lang="en-US" b="1" i="1" dirty="0">
                            <a:latin typeface="Cambria Math" panose="02040503050406030204" pitchFamily="18" charset="0"/>
                          </a:rPr>
                        </m:ctrlPr>
                      </m:sSubPr>
                      <m:e>
                        <m:r>
                          <a:rPr lang="en-US" b="1" i="1" dirty="0">
                            <a:latin typeface="Cambria Math"/>
                          </a:rPr>
                          <m:t>𝑶</m:t>
                        </m:r>
                      </m:e>
                      <m:sub>
                        <m:r>
                          <a:rPr lang="en-US" b="1" i="1" dirty="0">
                            <a:latin typeface="Cambria Math"/>
                          </a:rPr>
                          <m:t>𝒀</m:t>
                        </m:r>
                      </m:sub>
                    </m:sSub>
                  </m:oMath>
                </a14:m>
                <a:r>
                  <a:rPr lang="en-US" dirty="0"/>
                  <a:t> is output variable</a:t>
                </a:r>
              </a:p>
              <a:p>
                <a:r>
                  <a:rPr lang="en-US" b="1" dirty="0">
                    <a:solidFill>
                      <a:srgbClr val="0000FF"/>
                    </a:solidFill>
                  </a:rPr>
                  <a:t>Task:</a:t>
                </a:r>
              </a:p>
              <a:p>
                <a:pPr lvl="1"/>
                <a:r>
                  <a:rPr lang="en-US" dirty="0"/>
                  <a:t>Given an input data vector </a:t>
                </a:r>
                <a14:m>
                  <m:oMath xmlns:m="http://schemas.openxmlformats.org/officeDocument/2006/math">
                    <m:r>
                      <a:rPr lang="en-US" b="1" i="1" dirty="0">
                        <a:latin typeface="Cambria Math"/>
                      </a:rPr>
                      <m:t>𝒙</m:t>
                    </m:r>
                  </m:oMath>
                </a14:m>
                <a:r>
                  <a:rPr lang="en-US" dirty="0"/>
                  <a:t> predict output label </a:t>
                </a:r>
                <a14:m>
                  <m:oMath xmlns:m="http://schemas.openxmlformats.org/officeDocument/2006/math">
                    <m:r>
                      <a:rPr lang="en-US" b="1" i="1" dirty="0">
                        <a:latin typeface="Cambria Math"/>
                      </a:rPr>
                      <m:t>𝒚</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153905" cy="5562600"/>
              </a:xfrm>
              <a:blipFill>
                <a:blip r:embed="rId3"/>
                <a:stretch>
                  <a:fillRect t="-1598" r="-1555"/>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7</a:t>
            </a:fld>
            <a:endParaRPr lang="en-US"/>
          </a:p>
        </p:txBody>
      </p:sp>
      <p:sp>
        <p:nvSpPr>
          <p:cNvPr id="4" name="Date Placeholder 3"/>
          <p:cNvSpPr>
            <a:spLocks noGrp="1"/>
          </p:cNvSpPr>
          <p:nvPr>
            <p:ph type="dt" sz="half" idx="10"/>
          </p:nvPr>
        </p:nvSpPr>
        <p:spPr/>
        <p:txBody>
          <a:bodyPr/>
          <a:lstStyle/>
          <a:p>
            <a:fld id="{7CD68B54-DAB5-9A4C-9E14-B6D649028AE9}"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2936871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Trees</a:t>
            </a:r>
          </a:p>
        </p:txBody>
      </p:sp>
      <p:sp>
        <p:nvSpPr>
          <p:cNvPr id="8" name="Content Placeholder 7"/>
          <p:cNvSpPr>
            <a:spLocks noGrp="1"/>
          </p:cNvSpPr>
          <p:nvPr>
            <p:ph idx="1"/>
          </p:nvPr>
        </p:nvSpPr>
        <p:spPr>
          <a:xfrm>
            <a:off x="457200" y="1295400"/>
            <a:ext cx="3733800" cy="5257801"/>
          </a:xfrm>
        </p:spPr>
        <p:txBody>
          <a:bodyPr/>
          <a:lstStyle/>
          <a:p>
            <a:r>
              <a:rPr lang="en-US" dirty="0"/>
              <a:t>A </a:t>
            </a:r>
            <a:r>
              <a:rPr lang="en-US" b="1" dirty="0">
                <a:solidFill>
                  <a:srgbClr val="D60093"/>
                </a:solidFill>
              </a:rPr>
              <a:t>Decision Tree</a:t>
            </a:r>
            <a:r>
              <a:rPr lang="en-US" b="1" dirty="0"/>
              <a:t> </a:t>
            </a:r>
            <a:r>
              <a:rPr lang="en-US" dirty="0"/>
              <a:t>is a tree-structured plan of a set of attributes to test in order to predict the output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8</a:t>
            </a:fld>
            <a:endParaRPr lang="en-US"/>
          </a:p>
        </p:txBody>
      </p:sp>
      <p:grpSp>
        <p:nvGrpSpPr>
          <p:cNvPr id="7" name="Group 33"/>
          <p:cNvGrpSpPr/>
          <p:nvPr/>
        </p:nvGrpSpPr>
        <p:grpSpPr>
          <a:xfrm>
            <a:off x="4419600" y="1752600"/>
            <a:ext cx="4572000" cy="4419600"/>
            <a:chOff x="685800" y="1676400"/>
            <a:chExt cx="4572000" cy="4419600"/>
          </a:xfrm>
        </p:grpSpPr>
        <p:sp>
          <p:nvSpPr>
            <p:cNvPr id="35" name="Oval 34"/>
            <p:cNvSpPr/>
            <p:nvPr/>
          </p:nvSpPr>
          <p:spPr>
            <a:xfrm>
              <a:off x="1676400" y="16764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A</a:t>
              </a:r>
            </a:p>
          </p:txBody>
        </p:sp>
        <p:sp>
          <p:nvSpPr>
            <p:cNvPr id="37" name="TextBox 36"/>
            <p:cNvSpPr txBox="1"/>
            <p:nvPr/>
          </p:nvSpPr>
          <p:spPr>
            <a:xfrm>
              <a:off x="1447800" y="2221468"/>
              <a:ext cx="976549"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(1)</a:t>
              </a:r>
              <a:r>
                <a:rPr lang="en-US" b="1">
                  <a:latin typeface="Arial" pitchFamily="34" charset="0"/>
                  <a:cs typeface="Arial" pitchFamily="34" charset="0"/>
                </a:rPr>
                <a:t>&lt;v</a:t>
              </a:r>
              <a:r>
                <a:rPr lang="en-US" b="1" baseline="30000">
                  <a:latin typeface="Arial" pitchFamily="34" charset="0"/>
                  <a:cs typeface="Arial" pitchFamily="34" charset="0"/>
                </a:rPr>
                <a:t>(1)</a:t>
              </a:r>
            </a:p>
          </p:txBody>
        </p:sp>
        <p:cxnSp>
          <p:nvCxnSpPr>
            <p:cNvPr id="38" name="Straight Arrow Connector 37"/>
            <p:cNvCxnSpPr>
              <a:stCxn id="35" idx="3"/>
            </p:cNvCxnSpPr>
            <p:nvPr/>
          </p:nvCxnSpPr>
          <p:spPr>
            <a:xfrm rot="5400000">
              <a:off x="1190345" y="20285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5" idx="5"/>
              <a:endCxn id="40" idx="1"/>
            </p:cNvCxnSpPr>
            <p:nvPr/>
          </p:nvCxnSpPr>
          <p:spPr>
            <a:xfrm rot="16200000" flipH="1">
              <a:off x="2104745" y="20285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0" name="Oval 39"/>
            <p:cNvSpPr/>
            <p:nvPr/>
          </p:nvSpPr>
          <p:spPr>
            <a:xfrm>
              <a:off x="2590800" y="2514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C</a:t>
              </a:r>
            </a:p>
          </p:txBody>
        </p:sp>
        <p:sp>
          <p:nvSpPr>
            <p:cNvPr id="41" name="Oval 40"/>
            <p:cNvSpPr/>
            <p:nvPr/>
          </p:nvSpPr>
          <p:spPr>
            <a:xfrm>
              <a:off x="1447800" y="3352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D</a:t>
              </a:r>
            </a:p>
          </p:txBody>
        </p:sp>
        <p:sp>
          <p:nvSpPr>
            <p:cNvPr id="42" name="Oval 41"/>
            <p:cNvSpPr/>
            <p:nvPr/>
          </p:nvSpPr>
          <p:spPr>
            <a:xfrm>
              <a:off x="3962400" y="3352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cxnSp>
          <p:nvCxnSpPr>
            <p:cNvPr id="43" name="Straight Arrow Connector 42"/>
            <p:cNvCxnSpPr>
              <a:stCxn id="40" idx="3"/>
              <a:endCxn id="41" idx="7"/>
            </p:cNvCxnSpPr>
            <p:nvPr/>
          </p:nvCxnSpPr>
          <p:spPr>
            <a:xfrm rot="5400000">
              <a:off x="1990445" y="27524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40" idx="5"/>
              <a:endCxn id="42" idx="1"/>
            </p:cNvCxnSpPr>
            <p:nvPr/>
          </p:nvCxnSpPr>
          <p:spPr>
            <a:xfrm rot="16200000" flipH="1">
              <a:off x="3247745" y="26381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5" name="Oval 44"/>
            <p:cNvSpPr/>
            <p:nvPr/>
          </p:nvSpPr>
          <p:spPr>
            <a:xfrm>
              <a:off x="7620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sp>
          <p:nvSpPr>
            <p:cNvPr id="46" name="Oval 45"/>
            <p:cNvSpPr/>
            <p:nvPr/>
          </p:nvSpPr>
          <p:spPr>
            <a:xfrm>
              <a:off x="22098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G</a:t>
              </a:r>
            </a:p>
          </p:txBody>
        </p:sp>
        <p:cxnSp>
          <p:nvCxnSpPr>
            <p:cNvPr id="47" name="Straight Arrow Connector 46"/>
            <p:cNvCxnSpPr>
              <a:endCxn id="45" idx="7"/>
            </p:cNvCxnSpPr>
            <p:nvPr/>
          </p:nvCxnSpPr>
          <p:spPr>
            <a:xfrm rot="5400000">
              <a:off x="1076045" y="38192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8" name="Straight Arrow Connector 47"/>
            <p:cNvCxnSpPr>
              <a:endCxn id="46" idx="1"/>
            </p:cNvCxnSpPr>
            <p:nvPr/>
          </p:nvCxnSpPr>
          <p:spPr>
            <a:xfrm rot="16200000" flipH="1">
              <a:off x="1799945" y="37811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9" name="Oval 48"/>
            <p:cNvSpPr/>
            <p:nvPr/>
          </p:nvSpPr>
          <p:spPr>
            <a:xfrm>
              <a:off x="32766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H</a:t>
              </a:r>
            </a:p>
          </p:txBody>
        </p:sp>
        <p:sp>
          <p:nvSpPr>
            <p:cNvPr id="50" name="Oval 49"/>
            <p:cNvSpPr/>
            <p:nvPr/>
          </p:nvSpPr>
          <p:spPr>
            <a:xfrm>
              <a:off x="47244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I</a:t>
              </a:r>
            </a:p>
          </p:txBody>
        </p:sp>
        <p:cxnSp>
          <p:nvCxnSpPr>
            <p:cNvPr id="51" name="Straight Arrow Connector 50"/>
            <p:cNvCxnSpPr>
              <a:endCxn id="49" idx="7"/>
            </p:cNvCxnSpPr>
            <p:nvPr/>
          </p:nvCxnSpPr>
          <p:spPr>
            <a:xfrm rot="5400000">
              <a:off x="3590645" y="38192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2" name="Straight Arrow Connector 51"/>
            <p:cNvCxnSpPr>
              <a:endCxn id="50" idx="1"/>
            </p:cNvCxnSpPr>
            <p:nvPr/>
          </p:nvCxnSpPr>
          <p:spPr>
            <a:xfrm rot="16200000" flipH="1">
              <a:off x="4314545" y="37811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3" name="Hexagon 52"/>
            <p:cNvSpPr/>
            <p:nvPr/>
          </p:nvSpPr>
          <p:spPr>
            <a:xfrm>
              <a:off x="914400" y="2590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0.42</a:t>
              </a:r>
            </a:p>
          </p:txBody>
        </p:sp>
        <p:sp>
          <p:nvSpPr>
            <p:cNvPr id="54" name="Isosceles Triangle 53"/>
            <p:cNvSpPr/>
            <p:nvPr/>
          </p:nvSpPr>
          <p:spPr>
            <a:xfrm>
              <a:off x="6858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55" name="Isosceles Triangle 54"/>
            <p:cNvSpPr/>
            <p:nvPr/>
          </p:nvSpPr>
          <p:spPr>
            <a:xfrm>
              <a:off x="21336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56" name="Isosceles Triangle 55"/>
            <p:cNvSpPr/>
            <p:nvPr/>
          </p:nvSpPr>
          <p:spPr>
            <a:xfrm>
              <a:off x="32004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57" name="Isosceles Triangle 56"/>
            <p:cNvSpPr/>
            <p:nvPr/>
          </p:nvSpPr>
          <p:spPr>
            <a:xfrm>
              <a:off x="46482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sp>
        <p:nvSpPr>
          <p:cNvPr id="58" name="TextBox 57"/>
          <p:cNvSpPr txBox="1"/>
          <p:nvPr/>
        </p:nvSpPr>
        <p:spPr>
          <a:xfrm>
            <a:off x="5867400" y="3288268"/>
            <a:ext cx="1656223"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a:t>
            </a:r>
            <a:r>
              <a:rPr lang="en-US" b="1">
                <a:latin typeface="Arial" pitchFamily="34" charset="0"/>
                <a:cs typeface="Arial" pitchFamily="34" charset="0"/>
              </a:rPr>
              <a:t>{v</a:t>
            </a:r>
            <a:r>
              <a:rPr lang="en-US" b="1" baseline="30000">
                <a:latin typeface="Arial" pitchFamily="34" charset="0"/>
                <a:cs typeface="Arial" pitchFamily="34" charset="0"/>
              </a:rPr>
              <a:t>(2)</a:t>
            </a:r>
            <a:r>
              <a:rPr lang="en-US" b="1">
                <a:latin typeface="Arial" pitchFamily="34" charset="0"/>
                <a:cs typeface="Arial" pitchFamily="34" charset="0"/>
              </a:rPr>
              <a:t>, v</a:t>
            </a:r>
            <a:r>
              <a:rPr lang="en-US" b="1" baseline="30000">
                <a:latin typeface="Arial" pitchFamily="34" charset="0"/>
                <a:cs typeface="Arial" pitchFamily="34" charset="0"/>
              </a:rPr>
              <a:t>(3)</a:t>
            </a:r>
            <a:r>
              <a:rPr lang="en-US" b="1">
                <a:latin typeface="Arial" pitchFamily="34" charset="0"/>
                <a:cs typeface="Arial" pitchFamily="34" charset="0"/>
              </a:rPr>
              <a:t>}</a:t>
            </a:r>
            <a:endParaRPr lang="en-US" b="1" baseline="-25000">
              <a:latin typeface="Arial" pitchFamily="34" charset="0"/>
              <a:cs typeface="Arial" pitchFamily="34" charset="0"/>
            </a:endParaRPr>
          </a:p>
        </p:txBody>
      </p:sp>
      <p:sp>
        <p:nvSpPr>
          <p:cNvPr id="59" name="TextBox 58"/>
          <p:cNvSpPr txBox="1"/>
          <p:nvPr/>
        </p:nvSpPr>
        <p:spPr>
          <a:xfrm rot="19156000">
            <a:off x="4840060" y="2024596"/>
            <a:ext cx="543739" cy="369332"/>
          </a:xfrm>
          <a:prstGeom prst="rect">
            <a:avLst/>
          </a:prstGeom>
          <a:noFill/>
        </p:spPr>
        <p:txBody>
          <a:bodyPr wrap="none" rtlCol="0">
            <a:spAutoFit/>
          </a:bodyPr>
          <a:lstStyle/>
          <a:p>
            <a:r>
              <a:rPr lang="en-US">
                <a:latin typeface="Arial" pitchFamily="34" charset="0"/>
                <a:cs typeface="Arial" pitchFamily="34" charset="0"/>
              </a:rPr>
              <a:t>yes</a:t>
            </a:r>
          </a:p>
        </p:txBody>
      </p:sp>
      <p:sp>
        <p:nvSpPr>
          <p:cNvPr id="60" name="TextBox 59"/>
          <p:cNvSpPr txBox="1"/>
          <p:nvPr/>
        </p:nvSpPr>
        <p:spPr>
          <a:xfrm rot="2406036">
            <a:off x="5930205" y="2076253"/>
            <a:ext cx="441146" cy="369332"/>
          </a:xfrm>
          <a:prstGeom prst="rect">
            <a:avLst/>
          </a:prstGeom>
          <a:noFill/>
        </p:spPr>
        <p:txBody>
          <a:bodyPr wrap="none" rtlCol="0">
            <a:spAutoFit/>
          </a:bodyPr>
          <a:lstStyle/>
          <a:p>
            <a:r>
              <a:rPr lang="en-US">
                <a:latin typeface="Arial" pitchFamily="34" charset="0"/>
                <a:cs typeface="Arial" pitchFamily="34" charset="0"/>
              </a:rPr>
              <a:t>no</a:t>
            </a:r>
          </a:p>
        </p:txBody>
      </p:sp>
      <p:sp>
        <p:nvSpPr>
          <p:cNvPr id="3" name="Date Placeholder 2"/>
          <p:cNvSpPr>
            <a:spLocks noGrp="1"/>
          </p:cNvSpPr>
          <p:nvPr>
            <p:ph type="dt" sz="half" idx="10"/>
          </p:nvPr>
        </p:nvSpPr>
        <p:spPr/>
        <p:txBody>
          <a:bodyPr/>
          <a:lstStyle/>
          <a:p>
            <a:fld id="{DE287918-EB9E-6E44-BA67-82EE9997EBA3}" type="datetime1">
              <a:rPr lang="en-US" smtClean="0"/>
              <a:t>10/1/24</a:t>
            </a:fld>
            <a:endParaRPr lang="en-US"/>
          </a:p>
        </p:txBody>
      </p:sp>
      <p:sp>
        <p:nvSpPr>
          <p:cNvPr id="4" name="Footer Placeholder 3"/>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428218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b="1" dirty="0">
                    <a:solidFill>
                      <a:srgbClr val="0000FF"/>
                    </a:solidFill>
                  </a:rPr>
                  <a:t>Decision trees:</a:t>
                </a:r>
              </a:p>
              <a:p>
                <a:pPr lvl="1"/>
                <a:r>
                  <a:rPr lang="en-US" dirty="0"/>
                  <a:t>Split the data at each</a:t>
                </a:r>
                <a:br>
                  <a:rPr lang="en-US" dirty="0"/>
                </a:br>
                <a:r>
                  <a:rPr lang="en-US" dirty="0"/>
                  <a:t>internal node</a:t>
                </a:r>
              </a:p>
              <a:p>
                <a:pPr lvl="1"/>
                <a:r>
                  <a:rPr lang="en-US" dirty="0"/>
                  <a:t>Each leaf node </a:t>
                </a:r>
                <a:br>
                  <a:rPr lang="en-US" dirty="0"/>
                </a:br>
                <a:r>
                  <a:rPr lang="en-US" dirty="0"/>
                  <a:t>makes a prediction</a:t>
                </a:r>
              </a:p>
              <a:p>
                <a:endParaRPr lang="en-US" b="1" dirty="0">
                  <a:solidFill>
                    <a:srgbClr val="FF0066"/>
                  </a:solidFill>
                </a:endParaRPr>
              </a:p>
              <a:p>
                <a:r>
                  <a:rPr lang="en-US" b="1" dirty="0">
                    <a:solidFill>
                      <a:srgbClr val="FF0066"/>
                    </a:solidFill>
                  </a:rPr>
                  <a:t>Lecture today:</a:t>
                </a:r>
              </a:p>
              <a:p>
                <a:pPr lvl="1"/>
                <a:r>
                  <a:rPr lang="en-US" dirty="0"/>
                  <a:t>Binary splits: </a:t>
                </a:r>
                <a14:m>
                  <m:oMath xmlns:m="http://schemas.openxmlformats.org/officeDocument/2006/math">
                    <m:r>
                      <a:rPr lang="en-US" b="1" i="1" dirty="0" smtClean="0">
                        <a:latin typeface="Cambria Math" panose="02040503050406030204" pitchFamily="18" charset="0"/>
                      </a:rPr>
                      <m:t>𝑿</m:t>
                    </m:r>
                    <m:r>
                      <m:rPr>
                        <m:nor/>
                      </m:rPr>
                      <a:rPr lang="en-US" b="1" baseline="30000" dirty="0"/>
                      <m:t>(</m:t>
                    </m:r>
                    <m:r>
                      <a:rPr lang="en-US" b="1" i="1" baseline="30000" dirty="0" smtClean="0">
                        <a:latin typeface="Cambria Math" panose="02040503050406030204" pitchFamily="18" charset="0"/>
                      </a:rPr>
                      <m:t>𝒋</m:t>
                    </m:r>
                    <m:r>
                      <m:rPr>
                        <m:nor/>
                      </m:rPr>
                      <a:rPr lang="en-US" b="1" i="0" baseline="30000" dirty="0" smtClean="0"/>
                      <m:t>)</m:t>
                    </m:r>
                    <m:r>
                      <a:rPr lang="en-US" b="1" i="1" dirty="0">
                        <a:latin typeface="Cambria Math" panose="02040503050406030204" pitchFamily="18" charset="0"/>
                      </a:rPr>
                      <m:t>&lt;</m:t>
                    </m:r>
                    <m:r>
                      <a:rPr lang="en-US" b="1" i="1" dirty="0">
                        <a:latin typeface="Cambria Math" panose="02040503050406030204" pitchFamily="18" charset="0"/>
                      </a:rPr>
                      <m:t>𝒗</m:t>
                    </m:r>
                  </m:oMath>
                </a14:m>
                <a:endParaRPr lang="en-US" b="1" baseline="-25000" dirty="0"/>
              </a:p>
              <a:p>
                <a:pPr lvl="1"/>
                <a:r>
                  <a:rPr lang="en-US" dirty="0"/>
                  <a:t>Numerical attributes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725"/>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9</a:t>
            </a:fld>
            <a:endParaRPr lang="en-US"/>
          </a:p>
        </p:txBody>
      </p:sp>
      <p:grpSp>
        <p:nvGrpSpPr>
          <p:cNvPr id="34" name="Group 33"/>
          <p:cNvGrpSpPr/>
          <p:nvPr/>
        </p:nvGrpSpPr>
        <p:grpSpPr>
          <a:xfrm>
            <a:off x="4495800" y="1752600"/>
            <a:ext cx="4572000" cy="4419600"/>
            <a:chOff x="685800" y="1676400"/>
            <a:chExt cx="4572000" cy="4419600"/>
          </a:xfrm>
        </p:grpSpPr>
        <p:sp>
          <p:nvSpPr>
            <p:cNvPr id="35" name="Oval 34"/>
            <p:cNvSpPr/>
            <p:nvPr/>
          </p:nvSpPr>
          <p:spPr>
            <a:xfrm>
              <a:off x="1676400" y="16764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A</a:t>
              </a:r>
            </a:p>
          </p:txBody>
        </p:sp>
        <p:sp>
          <p:nvSpPr>
            <p:cNvPr id="37" name="TextBox 36"/>
            <p:cNvSpPr txBox="1"/>
            <p:nvPr/>
          </p:nvSpPr>
          <p:spPr>
            <a:xfrm>
              <a:off x="1436203" y="22214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(1)</a:t>
              </a:r>
              <a:r>
                <a:rPr lang="en-US" b="1">
                  <a:latin typeface="Arial" pitchFamily="34" charset="0"/>
                  <a:cs typeface="Arial" pitchFamily="34" charset="0"/>
                </a:rPr>
                <a:t>&lt;v</a:t>
              </a:r>
              <a:r>
                <a:rPr lang="en-US" b="1" baseline="30000">
                  <a:latin typeface="Arial" pitchFamily="34" charset="0"/>
                  <a:cs typeface="Arial" pitchFamily="34" charset="0"/>
                </a:rPr>
                <a:t>(1)</a:t>
              </a:r>
            </a:p>
          </p:txBody>
        </p:sp>
        <p:cxnSp>
          <p:nvCxnSpPr>
            <p:cNvPr id="38" name="Straight Arrow Connector 37"/>
            <p:cNvCxnSpPr>
              <a:stCxn id="35" idx="3"/>
            </p:cNvCxnSpPr>
            <p:nvPr/>
          </p:nvCxnSpPr>
          <p:spPr>
            <a:xfrm rot="5400000">
              <a:off x="1190345" y="20285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5" idx="5"/>
              <a:endCxn id="40" idx="1"/>
            </p:cNvCxnSpPr>
            <p:nvPr/>
          </p:nvCxnSpPr>
          <p:spPr>
            <a:xfrm rot="16200000" flipH="1">
              <a:off x="2104745" y="20285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0" name="Oval 39"/>
            <p:cNvSpPr/>
            <p:nvPr/>
          </p:nvSpPr>
          <p:spPr>
            <a:xfrm>
              <a:off x="2590800" y="2514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C</a:t>
              </a:r>
            </a:p>
          </p:txBody>
        </p:sp>
        <p:sp>
          <p:nvSpPr>
            <p:cNvPr id="41" name="Oval 40"/>
            <p:cNvSpPr/>
            <p:nvPr/>
          </p:nvSpPr>
          <p:spPr>
            <a:xfrm>
              <a:off x="1447800" y="3352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D</a:t>
              </a:r>
            </a:p>
          </p:txBody>
        </p:sp>
        <p:sp>
          <p:nvSpPr>
            <p:cNvPr id="42" name="Oval 41"/>
            <p:cNvSpPr/>
            <p:nvPr/>
          </p:nvSpPr>
          <p:spPr>
            <a:xfrm>
              <a:off x="3962400" y="3352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cxnSp>
          <p:nvCxnSpPr>
            <p:cNvPr id="43" name="Straight Arrow Connector 42"/>
            <p:cNvCxnSpPr>
              <a:stCxn id="40" idx="3"/>
              <a:endCxn id="41" idx="7"/>
            </p:cNvCxnSpPr>
            <p:nvPr/>
          </p:nvCxnSpPr>
          <p:spPr>
            <a:xfrm rot="5400000">
              <a:off x="1990445" y="27524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40" idx="5"/>
              <a:endCxn id="42" idx="1"/>
            </p:cNvCxnSpPr>
            <p:nvPr/>
          </p:nvCxnSpPr>
          <p:spPr>
            <a:xfrm rot="16200000" flipH="1">
              <a:off x="3247745" y="26381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5" name="Oval 44"/>
            <p:cNvSpPr/>
            <p:nvPr/>
          </p:nvSpPr>
          <p:spPr>
            <a:xfrm>
              <a:off x="7620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sp>
          <p:nvSpPr>
            <p:cNvPr id="46" name="Oval 45"/>
            <p:cNvSpPr/>
            <p:nvPr/>
          </p:nvSpPr>
          <p:spPr>
            <a:xfrm>
              <a:off x="22098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G</a:t>
              </a:r>
            </a:p>
          </p:txBody>
        </p:sp>
        <p:cxnSp>
          <p:nvCxnSpPr>
            <p:cNvPr id="47" name="Straight Arrow Connector 46"/>
            <p:cNvCxnSpPr>
              <a:endCxn id="45" idx="7"/>
            </p:cNvCxnSpPr>
            <p:nvPr/>
          </p:nvCxnSpPr>
          <p:spPr>
            <a:xfrm rot="5400000">
              <a:off x="1076045" y="38192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8" name="Straight Arrow Connector 47"/>
            <p:cNvCxnSpPr>
              <a:endCxn id="46" idx="1"/>
            </p:cNvCxnSpPr>
            <p:nvPr/>
          </p:nvCxnSpPr>
          <p:spPr>
            <a:xfrm rot="16200000" flipH="1">
              <a:off x="1799945" y="37811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9" name="Oval 48"/>
            <p:cNvSpPr/>
            <p:nvPr/>
          </p:nvSpPr>
          <p:spPr>
            <a:xfrm>
              <a:off x="32766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H</a:t>
              </a:r>
            </a:p>
          </p:txBody>
        </p:sp>
        <p:sp>
          <p:nvSpPr>
            <p:cNvPr id="50" name="Oval 49"/>
            <p:cNvSpPr/>
            <p:nvPr/>
          </p:nvSpPr>
          <p:spPr>
            <a:xfrm>
              <a:off x="47244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I</a:t>
              </a:r>
            </a:p>
          </p:txBody>
        </p:sp>
        <p:cxnSp>
          <p:nvCxnSpPr>
            <p:cNvPr id="51" name="Straight Arrow Connector 50"/>
            <p:cNvCxnSpPr>
              <a:endCxn id="49" idx="7"/>
            </p:cNvCxnSpPr>
            <p:nvPr/>
          </p:nvCxnSpPr>
          <p:spPr>
            <a:xfrm rot="5400000">
              <a:off x="3590645" y="38192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2" name="Straight Arrow Connector 51"/>
            <p:cNvCxnSpPr>
              <a:endCxn id="50" idx="1"/>
            </p:cNvCxnSpPr>
            <p:nvPr/>
          </p:nvCxnSpPr>
          <p:spPr>
            <a:xfrm rot="16200000" flipH="1">
              <a:off x="4314545" y="37811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3" name="Hexagon 52"/>
            <p:cNvSpPr/>
            <p:nvPr/>
          </p:nvSpPr>
          <p:spPr>
            <a:xfrm>
              <a:off x="914400" y="2590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0.42</a:t>
              </a:r>
            </a:p>
          </p:txBody>
        </p:sp>
        <p:sp>
          <p:nvSpPr>
            <p:cNvPr id="54" name="Isosceles Triangle 53"/>
            <p:cNvSpPr/>
            <p:nvPr/>
          </p:nvSpPr>
          <p:spPr>
            <a:xfrm>
              <a:off x="6858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55" name="Isosceles Triangle 54"/>
            <p:cNvSpPr/>
            <p:nvPr/>
          </p:nvSpPr>
          <p:spPr>
            <a:xfrm>
              <a:off x="21336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56" name="Isosceles Triangle 55"/>
            <p:cNvSpPr/>
            <p:nvPr/>
          </p:nvSpPr>
          <p:spPr>
            <a:xfrm>
              <a:off x="32004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57" name="Isosceles Triangle 56"/>
            <p:cNvSpPr/>
            <p:nvPr/>
          </p:nvSpPr>
          <p:spPr>
            <a:xfrm>
              <a:off x="46482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sp>
        <p:nvSpPr>
          <p:cNvPr id="58" name="TextBox 57"/>
          <p:cNvSpPr txBox="1"/>
          <p:nvPr/>
        </p:nvSpPr>
        <p:spPr>
          <a:xfrm>
            <a:off x="6172200" y="3048000"/>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&lt;v</a:t>
            </a:r>
            <a:r>
              <a:rPr lang="en-US" b="1" baseline="30000">
                <a:latin typeface="Arial" pitchFamily="34" charset="0"/>
                <a:cs typeface="Arial" pitchFamily="34" charset="0"/>
                <a:sym typeface="Symbol"/>
              </a:rPr>
              <a:t>(2)</a:t>
            </a:r>
            <a:endParaRPr lang="en-US" b="1" baseline="30000">
              <a:latin typeface="Arial" pitchFamily="34" charset="0"/>
              <a:cs typeface="Arial" pitchFamily="34" charset="0"/>
            </a:endParaRPr>
          </a:p>
        </p:txBody>
      </p:sp>
      <p:sp>
        <p:nvSpPr>
          <p:cNvPr id="59" name="TextBox 58"/>
          <p:cNvSpPr txBox="1"/>
          <p:nvPr/>
        </p:nvSpPr>
        <p:spPr>
          <a:xfrm rot="19156000">
            <a:off x="4916260" y="2024596"/>
            <a:ext cx="543739" cy="369332"/>
          </a:xfrm>
          <a:prstGeom prst="rect">
            <a:avLst/>
          </a:prstGeom>
          <a:noFill/>
        </p:spPr>
        <p:txBody>
          <a:bodyPr wrap="none" rtlCol="0">
            <a:spAutoFit/>
          </a:bodyPr>
          <a:lstStyle/>
          <a:p>
            <a:r>
              <a:rPr lang="en-US">
                <a:latin typeface="Arial" pitchFamily="34" charset="0"/>
                <a:cs typeface="Arial" pitchFamily="34" charset="0"/>
              </a:rPr>
              <a:t>yes</a:t>
            </a:r>
          </a:p>
        </p:txBody>
      </p:sp>
      <p:sp>
        <p:nvSpPr>
          <p:cNvPr id="60" name="TextBox 59"/>
          <p:cNvSpPr txBox="1"/>
          <p:nvPr/>
        </p:nvSpPr>
        <p:spPr>
          <a:xfrm rot="2406036">
            <a:off x="6006405" y="2076253"/>
            <a:ext cx="441146" cy="369332"/>
          </a:xfrm>
          <a:prstGeom prst="rect">
            <a:avLst/>
          </a:prstGeom>
          <a:noFill/>
        </p:spPr>
        <p:txBody>
          <a:bodyPr wrap="none" rtlCol="0">
            <a:spAutoFit/>
          </a:bodyPr>
          <a:lstStyle/>
          <a:p>
            <a:r>
              <a:rPr lang="en-US">
                <a:latin typeface="Arial" pitchFamily="34" charset="0"/>
                <a:cs typeface="Arial" pitchFamily="34" charset="0"/>
              </a:rPr>
              <a:t>no</a:t>
            </a:r>
          </a:p>
        </p:txBody>
      </p:sp>
      <p:sp>
        <p:nvSpPr>
          <p:cNvPr id="61" name="TextBox 60"/>
          <p:cNvSpPr txBox="1"/>
          <p:nvPr/>
        </p:nvSpPr>
        <p:spPr>
          <a:xfrm>
            <a:off x="5029200" y="40502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(3)</a:t>
            </a:r>
            <a:r>
              <a:rPr lang="en-US" b="1">
                <a:latin typeface="Arial" pitchFamily="34" charset="0"/>
                <a:cs typeface="Arial" pitchFamily="34" charset="0"/>
                <a:sym typeface="Symbol"/>
              </a:rPr>
              <a:t>&lt;</a:t>
            </a:r>
            <a:r>
              <a:rPr lang="en-US" b="1">
                <a:latin typeface="Arial" pitchFamily="34" charset="0"/>
                <a:cs typeface="Arial" pitchFamily="34" charset="0"/>
              </a:rPr>
              <a:t>v</a:t>
            </a:r>
            <a:r>
              <a:rPr lang="en-US" b="1" baseline="30000">
                <a:latin typeface="Arial" pitchFamily="34" charset="0"/>
                <a:cs typeface="Arial" pitchFamily="34" charset="0"/>
              </a:rPr>
              <a:t>(4)</a:t>
            </a:r>
          </a:p>
        </p:txBody>
      </p:sp>
      <p:sp>
        <p:nvSpPr>
          <p:cNvPr id="62" name="TextBox 61"/>
          <p:cNvSpPr txBox="1"/>
          <p:nvPr/>
        </p:nvSpPr>
        <p:spPr>
          <a:xfrm>
            <a:off x="7557851" y="4050268"/>
            <a:ext cx="976549"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&lt;</a:t>
            </a:r>
            <a:r>
              <a:rPr lang="en-US" b="1">
                <a:latin typeface="Arial" pitchFamily="34" charset="0"/>
                <a:cs typeface="Arial" pitchFamily="34" charset="0"/>
              </a:rPr>
              <a:t>v</a:t>
            </a:r>
            <a:r>
              <a:rPr lang="en-US" b="1" baseline="30000">
                <a:latin typeface="Arial" pitchFamily="34" charset="0"/>
                <a:cs typeface="Arial" pitchFamily="34" charset="0"/>
              </a:rPr>
              <a:t>(5)</a:t>
            </a:r>
          </a:p>
        </p:txBody>
      </p:sp>
      <p:sp>
        <p:nvSpPr>
          <p:cNvPr id="4" name="Date Placeholder 3"/>
          <p:cNvSpPr>
            <a:spLocks noGrp="1"/>
          </p:cNvSpPr>
          <p:nvPr>
            <p:ph type="dt" sz="half" idx="10"/>
          </p:nvPr>
        </p:nvSpPr>
        <p:spPr/>
        <p:txBody>
          <a:bodyPr/>
          <a:lstStyle/>
          <a:p>
            <a:fld id="{2980493D-7461-864C-97F6-3E4E2FD38E7D}"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3581631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make predictions?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solidFill>
                      <a:srgbClr val="FF0066"/>
                    </a:solidFill>
                  </a:rPr>
                  <a:t>Input:</a:t>
                </a:r>
                <a:r>
                  <a:rPr lang="en-US" dirty="0">
                    <a:solidFill>
                      <a:srgbClr val="FF0066"/>
                    </a:solidFill>
                  </a:rPr>
                  <a:t> </a:t>
                </a:r>
                <a:r>
                  <a:rPr lang="en-US" dirty="0"/>
                  <a:t>Example </a:t>
                </a:r>
                <a14:m>
                  <m:oMath xmlns:m="http://schemas.openxmlformats.org/officeDocument/2006/math">
                    <m:r>
                      <a:rPr lang="en-US" b="1" i="1" dirty="0" smtClean="0">
                        <a:latin typeface="Cambria Math" panose="02040503050406030204" pitchFamily="18" charset="0"/>
                      </a:rPr>
                      <m:t>𝒙</m:t>
                    </m:r>
                    <m:r>
                      <a:rPr lang="en-US" b="1" i="1" baseline="-25000" dirty="0">
                        <a:latin typeface="Cambria Math" panose="02040503050406030204" pitchFamily="18" charset="0"/>
                      </a:rPr>
                      <m:t>𝒊</m:t>
                    </m:r>
                  </m:oMath>
                </a14:m>
                <a:endParaRPr lang="en-US" b="1" i="1" dirty="0"/>
              </a:p>
              <a:p>
                <a:r>
                  <a:rPr lang="en-US" b="1" dirty="0">
                    <a:solidFill>
                      <a:srgbClr val="FF0066"/>
                    </a:solidFill>
                  </a:rPr>
                  <a:t>Output:</a:t>
                </a:r>
                <a:r>
                  <a:rPr lang="en-US" dirty="0">
                    <a:solidFill>
                      <a:srgbClr val="FF0066"/>
                    </a:solidFill>
                  </a:rPr>
                  <a:t> </a:t>
                </a:r>
                <a:r>
                  <a:rPr lang="en-US" dirty="0"/>
                  <a:t>Predicted </a:t>
                </a:r>
                <a14:m>
                  <m:oMath xmlns:m="http://schemas.openxmlformats.org/officeDocument/2006/math">
                    <m:acc>
                      <m:accPr>
                        <m:chr m:val="̂"/>
                        <m:ctrlPr>
                          <a:rPr lang="en-US" b="0" i="1" dirty="0" smtClean="0">
                            <a:solidFill>
                              <a:srgbClr val="FF0066"/>
                            </a:solidFill>
                            <a:latin typeface="Cambria Math" panose="02040503050406030204" pitchFamily="18" charset="0"/>
                          </a:rPr>
                        </m:ctrlPr>
                      </m:accPr>
                      <m:e>
                        <m:sSub>
                          <m:sSubPr>
                            <m:ctrlPr>
                              <a:rPr lang="en-US" b="1" i="1" dirty="0" smtClean="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𝒚</m:t>
                            </m:r>
                          </m:e>
                          <m:sub>
                            <m:r>
                              <a:rPr lang="en-US" b="1" i="1" dirty="0" smtClean="0">
                                <a:solidFill>
                                  <a:schemeClr val="tx1"/>
                                </a:solidFill>
                                <a:latin typeface="Cambria Math" panose="02040503050406030204" pitchFamily="18" charset="0"/>
                              </a:rPr>
                              <m:t>𝒊</m:t>
                            </m:r>
                          </m:sub>
                        </m:sSub>
                      </m:e>
                    </m:acc>
                  </m:oMath>
                </a14:m>
                <a:endParaRPr lang="en-US" b="1" i="1" baseline="30000" dirty="0"/>
              </a:p>
              <a:p>
                <a:pPr lvl="8"/>
                <a:endParaRPr lang="en-US" dirty="0"/>
              </a:p>
              <a:p>
                <a:r>
                  <a:rPr lang="en-US" dirty="0"/>
                  <a:t>“Drop” </a:t>
                </a:r>
                <a14:m>
                  <m:oMath xmlns:m="http://schemas.openxmlformats.org/officeDocument/2006/math">
                    <m:r>
                      <a:rPr lang="en-US" b="1" i="1" dirty="0" smtClean="0">
                        <a:latin typeface="Cambria Math" panose="02040503050406030204" pitchFamily="18" charset="0"/>
                      </a:rPr>
                      <m:t>𝒙</m:t>
                    </m:r>
                    <m:r>
                      <a:rPr lang="en-US" b="1" i="1" baseline="-25000" dirty="0">
                        <a:latin typeface="Cambria Math" panose="02040503050406030204" pitchFamily="18" charset="0"/>
                      </a:rPr>
                      <m:t>𝒊</m:t>
                    </m:r>
                  </m:oMath>
                </a14:m>
                <a:r>
                  <a:rPr lang="en-US" dirty="0"/>
                  <a:t> down </a:t>
                </a:r>
                <a:br>
                  <a:rPr lang="en-US" dirty="0"/>
                </a:br>
                <a:r>
                  <a:rPr lang="en-US" dirty="0"/>
                  <a:t>the tree until it </a:t>
                </a:r>
                <a:br>
                  <a:rPr lang="en-US" dirty="0"/>
                </a:br>
                <a:r>
                  <a:rPr lang="en-US" dirty="0"/>
                  <a:t>hits a leaf node</a:t>
                </a:r>
              </a:p>
              <a:p>
                <a:pPr lvl="8"/>
                <a:endParaRPr lang="en-US" dirty="0"/>
              </a:p>
              <a:p>
                <a:r>
                  <a:rPr lang="en-US" dirty="0"/>
                  <a:t>Predict the value</a:t>
                </a:r>
                <a:br>
                  <a:rPr lang="en-US" dirty="0"/>
                </a:br>
                <a:r>
                  <a:rPr lang="en-US" dirty="0"/>
                  <a:t>stored in the leaf</a:t>
                </a:r>
                <a:br>
                  <a:rPr lang="en-US" dirty="0"/>
                </a:br>
                <a:r>
                  <a:rPr lang="en-US" dirty="0"/>
                  <a:t>that </a:t>
                </a:r>
                <a14:m>
                  <m:oMath xmlns:m="http://schemas.openxmlformats.org/officeDocument/2006/math">
                    <m:r>
                      <a:rPr lang="en-US" b="1" i="1" dirty="0" smtClean="0">
                        <a:latin typeface="Cambria Math" panose="02040503050406030204" pitchFamily="18" charset="0"/>
                      </a:rPr>
                      <m:t>𝒙</m:t>
                    </m:r>
                    <m:r>
                      <a:rPr lang="en-US" b="1" i="1" baseline="-25000" dirty="0">
                        <a:latin typeface="Cambria Math" panose="02040503050406030204" pitchFamily="18" charset="0"/>
                      </a:rPr>
                      <m:t>𝒊</m:t>
                    </m:r>
                    <m:r>
                      <a:rPr lang="en-US" i="1" dirty="0">
                        <a:latin typeface="Cambria Math" panose="02040503050406030204" pitchFamily="18" charset="0"/>
                      </a:rPr>
                      <m:t> </m:t>
                    </m:r>
                  </m:oMath>
                </a14:m>
                <a:r>
                  <a:rPr lang="en-US" dirty="0"/>
                  <a:t>hits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96" t="-58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10</a:t>
            </a:fld>
            <a:endParaRPr lang="en-US"/>
          </a:p>
        </p:txBody>
      </p:sp>
      <p:grpSp>
        <p:nvGrpSpPr>
          <p:cNvPr id="60" name="Group 59"/>
          <p:cNvGrpSpPr/>
          <p:nvPr/>
        </p:nvGrpSpPr>
        <p:grpSpPr>
          <a:xfrm>
            <a:off x="4495800" y="1752600"/>
            <a:ext cx="4572000" cy="4419600"/>
            <a:chOff x="685800" y="1676400"/>
            <a:chExt cx="4572000" cy="4419600"/>
          </a:xfrm>
        </p:grpSpPr>
        <p:sp>
          <p:nvSpPr>
            <p:cNvPr id="61" name="Oval 60"/>
            <p:cNvSpPr/>
            <p:nvPr/>
          </p:nvSpPr>
          <p:spPr>
            <a:xfrm>
              <a:off x="1676400" y="16764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A</a:t>
              </a:r>
            </a:p>
          </p:txBody>
        </p:sp>
        <p:sp>
          <p:nvSpPr>
            <p:cNvPr id="62" name="TextBox 61"/>
            <p:cNvSpPr txBox="1"/>
            <p:nvPr/>
          </p:nvSpPr>
          <p:spPr>
            <a:xfrm>
              <a:off x="1436203" y="22214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(1)</a:t>
              </a:r>
              <a:r>
                <a:rPr lang="en-US" b="1">
                  <a:latin typeface="Arial" pitchFamily="34" charset="0"/>
                  <a:cs typeface="Arial" pitchFamily="34" charset="0"/>
                </a:rPr>
                <a:t>&lt;v</a:t>
              </a:r>
              <a:r>
                <a:rPr lang="en-US" b="1" baseline="30000">
                  <a:latin typeface="Arial" pitchFamily="34" charset="0"/>
                  <a:cs typeface="Arial" pitchFamily="34" charset="0"/>
                </a:rPr>
                <a:t>(1)</a:t>
              </a:r>
            </a:p>
          </p:txBody>
        </p:sp>
        <p:cxnSp>
          <p:nvCxnSpPr>
            <p:cNvPr id="63" name="Straight Arrow Connector 62"/>
            <p:cNvCxnSpPr>
              <a:stCxn id="61" idx="3"/>
            </p:cNvCxnSpPr>
            <p:nvPr/>
          </p:nvCxnSpPr>
          <p:spPr>
            <a:xfrm rot="5400000">
              <a:off x="1190345" y="20285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64" name="Straight Arrow Connector 63"/>
            <p:cNvCxnSpPr>
              <a:stCxn id="61" idx="5"/>
              <a:endCxn id="65" idx="1"/>
            </p:cNvCxnSpPr>
            <p:nvPr/>
          </p:nvCxnSpPr>
          <p:spPr>
            <a:xfrm rot="16200000" flipH="1">
              <a:off x="2104745" y="20285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65" name="Oval 64"/>
            <p:cNvSpPr/>
            <p:nvPr/>
          </p:nvSpPr>
          <p:spPr>
            <a:xfrm>
              <a:off x="2590800" y="2514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C</a:t>
              </a:r>
            </a:p>
          </p:txBody>
        </p:sp>
        <p:sp>
          <p:nvSpPr>
            <p:cNvPr id="66" name="Oval 65"/>
            <p:cNvSpPr/>
            <p:nvPr/>
          </p:nvSpPr>
          <p:spPr>
            <a:xfrm>
              <a:off x="1447800" y="3352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D</a:t>
              </a:r>
            </a:p>
          </p:txBody>
        </p:sp>
        <p:sp>
          <p:nvSpPr>
            <p:cNvPr id="67" name="Oval 66"/>
            <p:cNvSpPr/>
            <p:nvPr/>
          </p:nvSpPr>
          <p:spPr>
            <a:xfrm>
              <a:off x="3962400" y="3352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cxnSp>
          <p:nvCxnSpPr>
            <p:cNvPr id="68" name="Straight Arrow Connector 67"/>
            <p:cNvCxnSpPr>
              <a:stCxn id="65" idx="3"/>
              <a:endCxn id="66" idx="7"/>
            </p:cNvCxnSpPr>
            <p:nvPr/>
          </p:nvCxnSpPr>
          <p:spPr>
            <a:xfrm rot="5400000">
              <a:off x="1990445" y="27524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65" idx="5"/>
              <a:endCxn id="67" idx="1"/>
            </p:cNvCxnSpPr>
            <p:nvPr/>
          </p:nvCxnSpPr>
          <p:spPr>
            <a:xfrm rot="16200000" flipH="1">
              <a:off x="3247745" y="26381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70" name="Oval 69"/>
            <p:cNvSpPr/>
            <p:nvPr/>
          </p:nvSpPr>
          <p:spPr>
            <a:xfrm>
              <a:off x="7620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sp>
          <p:nvSpPr>
            <p:cNvPr id="71" name="Oval 70"/>
            <p:cNvSpPr/>
            <p:nvPr/>
          </p:nvSpPr>
          <p:spPr>
            <a:xfrm>
              <a:off x="22098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G</a:t>
              </a:r>
            </a:p>
          </p:txBody>
        </p:sp>
        <p:cxnSp>
          <p:nvCxnSpPr>
            <p:cNvPr id="72" name="Straight Arrow Connector 71"/>
            <p:cNvCxnSpPr>
              <a:endCxn id="70" idx="7"/>
            </p:cNvCxnSpPr>
            <p:nvPr/>
          </p:nvCxnSpPr>
          <p:spPr>
            <a:xfrm rot="5400000">
              <a:off x="1076045" y="38192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73" name="Straight Arrow Connector 72"/>
            <p:cNvCxnSpPr>
              <a:endCxn id="71" idx="1"/>
            </p:cNvCxnSpPr>
            <p:nvPr/>
          </p:nvCxnSpPr>
          <p:spPr>
            <a:xfrm rot="16200000" flipH="1">
              <a:off x="1799945" y="37811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74" name="Oval 73"/>
            <p:cNvSpPr/>
            <p:nvPr/>
          </p:nvSpPr>
          <p:spPr>
            <a:xfrm>
              <a:off x="32766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H</a:t>
              </a:r>
            </a:p>
          </p:txBody>
        </p:sp>
        <p:sp>
          <p:nvSpPr>
            <p:cNvPr id="97" name="Oval 96"/>
            <p:cNvSpPr/>
            <p:nvPr/>
          </p:nvSpPr>
          <p:spPr>
            <a:xfrm>
              <a:off x="4724400" y="4191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I</a:t>
              </a:r>
            </a:p>
          </p:txBody>
        </p:sp>
        <p:cxnSp>
          <p:nvCxnSpPr>
            <p:cNvPr id="98" name="Straight Arrow Connector 97"/>
            <p:cNvCxnSpPr>
              <a:endCxn id="74" idx="7"/>
            </p:cNvCxnSpPr>
            <p:nvPr/>
          </p:nvCxnSpPr>
          <p:spPr>
            <a:xfrm rot="5400000">
              <a:off x="3590645" y="38192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02" name="Straight Arrow Connector 101"/>
            <p:cNvCxnSpPr>
              <a:endCxn id="97" idx="1"/>
            </p:cNvCxnSpPr>
            <p:nvPr/>
          </p:nvCxnSpPr>
          <p:spPr>
            <a:xfrm rot="16200000" flipH="1">
              <a:off x="4314545" y="37811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03" name="Hexagon 102"/>
            <p:cNvSpPr/>
            <p:nvPr/>
          </p:nvSpPr>
          <p:spPr>
            <a:xfrm>
              <a:off x="914400" y="2590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0.42</a:t>
              </a:r>
            </a:p>
          </p:txBody>
        </p:sp>
        <p:sp>
          <p:nvSpPr>
            <p:cNvPr id="105" name="Isosceles Triangle 104"/>
            <p:cNvSpPr/>
            <p:nvPr/>
          </p:nvSpPr>
          <p:spPr>
            <a:xfrm>
              <a:off x="6858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06" name="Isosceles Triangle 105"/>
            <p:cNvSpPr/>
            <p:nvPr/>
          </p:nvSpPr>
          <p:spPr>
            <a:xfrm>
              <a:off x="21336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07" name="Isosceles Triangle 106"/>
            <p:cNvSpPr/>
            <p:nvPr/>
          </p:nvSpPr>
          <p:spPr>
            <a:xfrm>
              <a:off x="32004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08" name="Isosceles Triangle 107"/>
            <p:cNvSpPr/>
            <p:nvPr/>
          </p:nvSpPr>
          <p:spPr>
            <a:xfrm>
              <a:off x="4648200" y="46482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sp>
        <p:nvSpPr>
          <p:cNvPr id="110" name="TextBox 109"/>
          <p:cNvSpPr txBox="1"/>
          <p:nvPr/>
        </p:nvSpPr>
        <p:spPr>
          <a:xfrm>
            <a:off x="6172200" y="3048000"/>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&lt;v</a:t>
            </a:r>
            <a:r>
              <a:rPr lang="en-US" b="1" baseline="30000">
                <a:latin typeface="Arial" pitchFamily="34" charset="0"/>
                <a:cs typeface="Arial" pitchFamily="34" charset="0"/>
                <a:sym typeface="Symbol"/>
              </a:rPr>
              <a:t>(2)</a:t>
            </a:r>
            <a:endParaRPr lang="en-US" b="1" baseline="30000">
              <a:latin typeface="Arial" pitchFamily="34" charset="0"/>
              <a:cs typeface="Arial" pitchFamily="34" charset="0"/>
            </a:endParaRPr>
          </a:p>
        </p:txBody>
      </p:sp>
      <p:sp>
        <p:nvSpPr>
          <p:cNvPr id="111" name="TextBox 110"/>
          <p:cNvSpPr txBox="1"/>
          <p:nvPr/>
        </p:nvSpPr>
        <p:spPr>
          <a:xfrm rot="19156000">
            <a:off x="4916260" y="2024596"/>
            <a:ext cx="543739" cy="369332"/>
          </a:xfrm>
          <a:prstGeom prst="rect">
            <a:avLst/>
          </a:prstGeom>
          <a:noFill/>
        </p:spPr>
        <p:txBody>
          <a:bodyPr wrap="none" rtlCol="0">
            <a:spAutoFit/>
          </a:bodyPr>
          <a:lstStyle/>
          <a:p>
            <a:r>
              <a:rPr lang="en-US">
                <a:latin typeface="Arial" pitchFamily="34" charset="0"/>
                <a:cs typeface="Arial" pitchFamily="34" charset="0"/>
              </a:rPr>
              <a:t>yes</a:t>
            </a:r>
          </a:p>
        </p:txBody>
      </p:sp>
      <p:sp>
        <p:nvSpPr>
          <p:cNvPr id="112" name="TextBox 111"/>
          <p:cNvSpPr txBox="1"/>
          <p:nvPr/>
        </p:nvSpPr>
        <p:spPr>
          <a:xfrm rot="2406036">
            <a:off x="6006405" y="2076253"/>
            <a:ext cx="441146" cy="369332"/>
          </a:xfrm>
          <a:prstGeom prst="rect">
            <a:avLst/>
          </a:prstGeom>
          <a:noFill/>
        </p:spPr>
        <p:txBody>
          <a:bodyPr wrap="none" rtlCol="0">
            <a:spAutoFit/>
          </a:bodyPr>
          <a:lstStyle/>
          <a:p>
            <a:r>
              <a:rPr lang="en-US">
                <a:latin typeface="Arial" pitchFamily="34" charset="0"/>
                <a:cs typeface="Arial" pitchFamily="34" charset="0"/>
              </a:rPr>
              <a:t>no</a:t>
            </a:r>
          </a:p>
        </p:txBody>
      </p:sp>
      <p:sp>
        <p:nvSpPr>
          <p:cNvPr id="113" name="TextBox 112"/>
          <p:cNvSpPr txBox="1"/>
          <p:nvPr/>
        </p:nvSpPr>
        <p:spPr>
          <a:xfrm>
            <a:off x="5029200" y="40502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(3)</a:t>
            </a:r>
            <a:r>
              <a:rPr lang="en-US" b="1">
                <a:latin typeface="Arial" pitchFamily="34" charset="0"/>
                <a:cs typeface="Arial" pitchFamily="34" charset="0"/>
                <a:sym typeface="Symbol"/>
              </a:rPr>
              <a:t>&lt;</a:t>
            </a:r>
            <a:r>
              <a:rPr lang="en-US" b="1">
                <a:latin typeface="Arial" pitchFamily="34" charset="0"/>
                <a:cs typeface="Arial" pitchFamily="34" charset="0"/>
              </a:rPr>
              <a:t>v</a:t>
            </a:r>
            <a:r>
              <a:rPr lang="en-US" b="1" baseline="30000">
                <a:latin typeface="Arial" pitchFamily="34" charset="0"/>
                <a:cs typeface="Arial" pitchFamily="34" charset="0"/>
              </a:rPr>
              <a:t>(4)</a:t>
            </a:r>
          </a:p>
        </p:txBody>
      </p:sp>
      <p:sp>
        <p:nvSpPr>
          <p:cNvPr id="114" name="TextBox 113"/>
          <p:cNvSpPr txBox="1"/>
          <p:nvPr/>
        </p:nvSpPr>
        <p:spPr>
          <a:xfrm>
            <a:off x="7557851" y="4050268"/>
            <a:ext cx="976549"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&lt;</a:t>
            </a:r>
            <a:r>
              <a:rPr lang="en-US" b="1">
                <a:latin typeface="Arial" pitchFamily="34" charset="0"/>
                <a:cs typeface="Arial" pitchFamily="34" charset="0"/>
              </a:rPr>
              <a:t>v</a:t>
            </a:r>
            <a:r>
              <a:rPr lang="en-US" b="1" baseline="30000">
                <a:latin typeface="Arial" pitchFamily="34" charset="0"/>
                <a:cs typeface="Arial" pitchFamily="34" charset="0"/>
              </a:rPr>
              <a:t>(5)</a:t>
            </a:r>
          </a:p>
        </p:txBody>
      </p:sp>
      <p:sp>
        <p:nvSpPr>
          <p:cNvPr id="4" name="Date Placeholder 3"/>
          <p:cNvSpPr>
            <a:spLocks noGrp="1"/>
          </p:cNvSpPr>
          <p:nvPr>
            <p:ph type="dt" sz="half" idx="10"/>
          </p:nvPr>
        </p:nvSpPr>
        <p:spPr/>
        <p:txBody>
          <a:bodyPr/>
          <a:lstStyle/>
          <a:p>
            <a:fld id="{480A50CC-40AF-664B-B39E-721644729EBC}"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2898083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Trees: feature space</a:t>
            </a:r>
          </a:p>
        </p:txBody>
      </p:sp>
      <p:sp>
        <p:nvSpPr>
          <p:cNvPr id="3" name="Content Placeholder 2"/>
          <p:cNvSpPr>
            <a:spLocks noGrp="1"/>
          </p:cNvSpPr>
          <p:nvPr>
            <p:ph idx="1"/>
          </p:nvPr>
        </p:nvSpPr>
        <p:spPr>
          <a:xfrm>
            <a:off x="457200" y="1295401"/>
            <a:ext cx="6687312" cy="939172"/>
          </a:xfrm>
        </p:spPr>
        <p:txBody>
          <a:bodyPr/>
          <a:lstStyle/>
          <a:p>
            <a:r>
              <a:rPr lang="en-US" b="1" dirty="0">
                <a:solidFill>
                  <a:srgbClr val="0000FF"/>
                </a:solidFill>
              </a:rPr>
              <a:t>Alternative view:</a:t>
            </a:r>
          </a:p>
        </p:txBody>
      </p:sp>
      <p:sp>
        <p:nvSpPr>
          <p:cNvPr id="6" name="Slide Number Placeholder 5"/>
          <p:cNvSpPr>
            <a:spLocks noGrp="1"/>
          </p:cNvSpPr>
          <p:nvPr>
            <p:ph type="sldNum" sz="quarter" idx="12"/>
          </p:nvPr>
        </p:nvSpPr>
        <p:spPr>
          <a:xfrm>
            <a:off x="8204396" y="6583680"/>
            <a:ext cx="733864" cy="274320"/>
          </a:xfrm>
        </p:spPr>
        <p:txBody>
          <a:bodyPr/>
          <a:lstStyle/>
          <a:p>
            <a:fld id="{19B12225-5612-419B-A8D5-4B8EEE4C217E}" type="slidenum">
              <a:rPr lang="en-US" smtClean="0"/>
              <a:pPr/>
              <a:t>11</a:t>
            </a:fld>
            <a:endParaRPr lang="en-US"/>
          </a:p>
        </p:txBody>
      </p:sp>
      <p:sp>
        <p:nvSpPr>
          <p:cNvPr id="8" name="Rectangle 7"/>
          <p:cNvSpPr/>
          <p:nvPr/>
        </p:nvSpPr>
        <p:spPr>
          <a:xfrm>
            <a:off x="609600" y="1938702"/>
            <a:ext cx="5181600" cy="4495800"/>
          </a:xfrm>
          <a:prstGeom prst="rect">
            <a:avLst/>
          </a:prstGeom>
          <a:noFill/>
          <a:ln w="38100" cmpd="sng">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685800" y="1938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4" name="TextBox 23"/>
          <p:cNvSpPr txBox="1"/>
          <p:nvPr/>
        </p:nvSpPr>
        <p:spPr>
          <a:xfrm>
            <a:off x="1025030" y="201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5" name="TextBox 24"/>
          <p:cNvSpPr txBox="1"/>
          <p:nvPr/>
        </p:nvSpPr>
        <p:spPr>
          <a:xfrm>
            <a:off x="762000" y="23152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6" name="TextBox 25"/>
          <p:cNvSpPr txBox="1"/>
          <p:nvPr/>
        </p:nvSpPr>
        <p:spPr>
          <a:xfrm>
            <a:off x="1143000" y="23152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7" name="TextBox 26"/>
          <p:cNvSpPr txBox="1"/>
          <p:nvPr/>
        </p:nvSpPr>
        <p:spPr>
          <a:xfrm>
            <a:off x="1634630" y="201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8" name="TextBox 27"/>
          <p:cNvSpPr txBox="1"/>
          <p:nvPr/>
        </p:nvSpPr>
        <p:spPr>
          <a:xfrm>
            <a:off x="1981200" y="2853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9" name="TextBox 28"/>
          <p:cNvSpPr txBox="1"/>
          <p:nvPr/>
        </p:nvSpPr>
        <p:spPr>
          <a:xfrm>
            <a:off x="2549030" y="2091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0" name="TextBox 29"/>
          <p:cNvSpPr txBox="1"/>
          <p:nvPr/>
        </p:nvSpPr>
        <p:spPr>
          <a:xfrm>
            <a:off x="1025030" y="28486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1" name="TextBox 30"/>
          <p:cNvSpPr txBox="1"/>
          <p:nvPr/>
        </p:nvSpPr>
        <p:spPr>
          <a:xfrm>
            <a:off x="1406030" y="2700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2" name="TextBox 31"/>
          <p:cNvSpPr txBox="1"/>
          <p:nvPr/>
        </p:nvSpPr>
        <p:spPr>
          <a:xfrm>
            <a:off x="1981200" y="2395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3" name="TextBox 32"/>
          <p:cNvSpPr txBox="1"/>
          <p:nvPr/>
        </p:nvSpPr>
        <p:spPr>
          <a:xfrm>
            <a:off x="2438400" y="29293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4" name="TextBox 33"/>
          <p:cNvSpPr txBox="1"/>
          <p:nvPr/>
        </p:nvSpPr>
        <p:spPr>
          <a:xfrm>
            <a:off x="3352800" y="2319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5" name="TextBox 34"/>
          <p:cNvSpPr txBox="1"/>
          <p:nvPr/>
        </p:nvSpPr>
        <p:spPr>
          <a:xfrm>
            <a:off x="2930030" y="30772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6" name="TextBox 35"/>
          <p:cNvSpPr txBox="1"/>
          <p:nvPr/>
        </p:nvSpPr>
        <p:spPr>
          <a:xfrm>
            <a:off x="2819400" y="25483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7" name="TextBox 36"/>
          <p:cNvSpPr txBox="1"/>
          <p:nvPr/>
        </p:nvSpPr>
        <p:spPr>
          <a:xfrm>
            <a:off x="3810000" y="201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8" name="TextBox 37"/>
          <p:cNvSpPr txBox="1"/>
          <p:nvPr/>
        </p:nvSpPr>
        <p:spPr>
          <a:xfrm>
            <a:off x="4225430" y="2395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9" name="TextBox 38"/>
          <p:cNvSpPr txBox="1"/>
          <p:nvPr/>
        </p:nvSpPr>
        <p:spPr>
          <a:xfrm>
            <a:off x="3886200" y="2853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0" name="TextBox 39"/>
          <p:cNvSpPr txBox="1"/>
          <p:nvPr/>
        </p:nvSpPr>
        <p:spPr>
          <a:xfrm>
            <a:off x="4800600" y="20149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1" name="TextBox 40"/>
          <p:cNvSpPr txBox="1"/>
          <p:nvPr/>
        </p:nvSpPr>
        <p:spPr>
          <a:xfrm>
            <a:off x="5227252" y="20149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2" name="TextBox 41"/>
          <p:cNvSpPr txBox="1"/>
          <p:nvPr/>
        </p:nvSpPr>
        <p:spPr>
          <a:xfrm>
            <a:off x="4922452" y="2391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3" name="TextBox 42"/>
          <p:cNvSpPr txBox="1"/>
          <p:nvPr/>
        </p:nvSpPr>
        <p:spPr>
          <a:xfrm>
            <a:off x="5334000" y="26200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4" name="TextBox 43"/>
          <p:cNvSpPr txBox="1"/>
          <p:nvPr/>
        </p:nvSpPr>
        <p:spPr>
          <a:xfrm>
            <a:off x="4953000" y="28486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5" name="TextBox 44"/>
          <p:cNvSpPr txBox="1"/>
          <p:nvPr/>
        </p:nvSpPr>
        <p:spPr>
          <a:xfrm>
            <a:off x="796430" y="3615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6" name="TextBox 45"/>
          <p:cNvSpPr txBox="1"/>
          <p:nvPr/>
        </p:nvSpPr>
        <p:spPr>
          <a:xfrm>
            <a:off x="533400" y="3915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7" name="TextBox 46"/>
          <p:cNvSpPr txBox="1"/>
          <p:nvPr/>
        </p:nvSpPr>
        <p:spPr>
          <a:xfrm>
            <a:off x="914400" y="3915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8" name="TextBox 47"/>
          <p:cNvSpPr txBox="1"/>
          <p:nvPr/>
        </p:nvSpPr>
        <p:spPr>
          <a:xfrm>
            <a:off x="1406030" y="3615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9" name="TextBox 48"/>
          <p:cNvSpPr txBox="1"/>
          <p:nvPr/>
        </p:nvSpPr>
        <p:spPr>
          <a:xfrm>
            <a:off x="1558430" y="40678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0" name="TextBox 49"/>
          <p:cNvSpPr txBox="1"/>
          <p:nvPr/>
        </p:nvSpPr>
        <p:spPr>
          <a:xfrm>
            <a:off x="796430" y="44488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1" name="TextBox 50"/>
          <p:cNvSpPr txBox="1"/>
          <p:nvPr/>
        </p:nvSpPr>
        <p:spPr>
          <a:xfrm>
            <a:off x="1177430" y="4300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2" name="TextBox 51"/>
          <p:cNvSpPr txBox="1"/>
          <p:nvPr/>
        </p:nvSpPr>
        <p:spPr>
          <a:xfrm>
            <a:off x="796430" y="4986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3" name="TextBox 52"/>
          <p:cNvSpPr txBox="1"/>
          <p:nvPr/>
        </p:nvSpPr>
        <p:spPr>
          <a:xfrm>
            <a:off x="533400" y="52870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4" name="TextBox 53"/>
          <p:cNvSpPr txBox="1"/>
          <p:nvPr/>
        </p:nvSpPr>
        <p:spPr>
          <a:xfrm>
            <a:off x="914400" y="52870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5" name="TextBox 54"/>
          <p:cNvSpPr txBox="1"/>
          <p:nvPr/>
        </p:nvSpPr>
        <p:spPr>
          <a:xfrm>
            <a:off x="1406030" y="4986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6" name="TextBox 55"/>
          <p:cNvSpPr txBox="1"/>
          <p:nvPr/>
        </p:nvSpPr>
        <p:spPr>
          <a:xfrm>
            <a:off x="1558430" y="5439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7" name="TextBox 56"/>
          <p:cNvSpPr txBox="1"/>
          <p:nvPr/>
        </p:nvSpPr>
        <p:spPr>
          <a:xfrm>
            <a:off x="796430" y="5820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8" name="TextBox 57"/>
          <p:cNvSpPr txBox="1"/>
          <p:nvPr/>
        </p:nvSpPr>
        <p:spPr>
          <a:xfrm>
            <a:off x="1177430" y="56725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9" name="TextBox 58"/>
          <p:cNvSpPr txBox="1"/>
          <p:nvPr/>
        </p:nvSpPr>
        <p:spPr>
          <a:xfrm>
            <a:off x="4149230" y="5062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0" name="TextBox 59"/>
          <p:cNvSpPr txBox="1"/>
          <p:nvPr/>
        </p:nvSpPr>
        <p:spPr>
          <a:xfrm>
            <a:off x="3581400" y="5443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1" name="TextBox 60"/>
          <p:cNvSpPr txBox="1"/>
          <p:nvPr/>
        </p:nvSpPr>
        <p:spPr>
          <a:xfrm>
            <a:off x="5334000" y="5901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2" name="TextBox 61"/>
          <p:cNvSpPr txBox="1"/>
          <p:nvPr/>
        </p:nvSpPr>
        <p:spPr>
          <a:xfrm>
            <a:off x="4758830" y="5062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3" name="TextBox 62"/>
          <p:cNvSpPr txBox="1"/>
          <p:nvPr/>
        </p:nvSpPr>
        <p:spPr>
          <a:xfrm>
            <a:off x="5334000" y="5367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4" name="TextBox 63"/>
          <p:cNvSpPr txBox="1"/>
          <p:nvPr/>
        </p:nvSpPr>
        <p:spPr>
          <a:xfrm>
            <a:off x="3886200" y="582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5" name="TextBox 64"/>
          <p:cNvSpPr txBox="1"/>
          <p:nvPr/>
        </p:nvSpPr>
        <p:spPr>
          <a:xfrm>
            <a:off x="4758830" y="59728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6" name="TextBox 65"/>
          <p:cNvSpPr txBox="1"/>
          <p:nvPr/>
        </p:nvSpPr>
        <p:spPr>
          <a:xfrm>
            <a:off x="3581400" y="37675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67" name="TextBox 66"/>
          <p:cNvSpPr txBox="1"/>
          <p:nvPr/>
        </p:nvSpPr>
        <p:spPr>
          <a:xfrm>
            <a:off x="5181600" y="36913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68" name="TextBox 67"/>
          <p:cNvSpPr txBox="1"/>
          <p:nvPr/>
        </p:nvSpPr>
        <p:spPr>
          <a:xfrm>
            <a:off x="4419600" y="34627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69" name="TextBox 68"/>
          <p:cNvSpPr txBox="1"/>
          <p:nvPr/>
        </p:nvSpPr>
        <p:spPr>
          <a:xfrm>
            <a:off x="4953000" y="43009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0" name="TextBox 69"/>
          <p:cNvSpPr txBox="1"/>
          <p:nvPr/>
        </p:nvSpPr>
        <p:spPr>
          <a:xfrm>
            <a:off x="3886200" y="43771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1" name="TextBox 70"/>
          <p:cNvSpPr txBox="1"/>
          <p:nvPr/>
        </p:nvSpPr>
        <p:spPr>
          <a:xfrm>
            <a:off x="2209800" y="36913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2" name="TextBox 71"/>
          <p:cNvSpPr txBox="1"/>
          <p:nvPr/>
        </p:nvSpPr>
        <p:spPr>
          <a:xfrm>
            <a:off x="2636452" y="36913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3" name="TextBox 72"/>
          <p:cNvSpPr txBox="1"/>
          <p:nvPr/>
        </p:nvSpPr>
        <p:spPr>
          <a:xfrm>
            <a:off x="2331652" y="40678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4" name="TextBox 73"/>
          <p:cNvSpPr txBox="1"/>
          <p:nvPr/>
        </p:nvSpPr>
        <p:spPr>
          <a:xfrm>
            <a:off x="2743200" y="4296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5" name="TextBox 74"/>
          <p:cNvSpPr txBox="1"/>
          <p:nvPr/>
        </p:nvSpPr>
        <p:spPr>
          <a:xfrm>
            <a:off x="2362200" y="45250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6" name="TextBox 75"/>
          <p:cNvSpPr txBox="1"/>
          <p:nvPr/>
        </p:nvSpPr>
        <p:spPr>
          <a:xfrm>
            <a:off x="2209800" y="49867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7" name="TextBox 76"/>
          <p:cNvSpPr txBox="1"/>
          <p:nvPr/>
        </p:nvSpPr>
        <p:spPr>
          <a:xfrm>
            <a:off x="2636452" y="49867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8" name="TextBox 77"/>
          <p:cNvSpPr txBox="1"/>
          <p:nvPr/>
        </p:nvSpPr>
        <p:spPr>
          <a:xfrm>
            <a:off x="2331652" y="53632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9" name="TextBox 78"/>
          <p:cNvSpPr txBox="1"/>
          <p:nvPr/>
        </p:nvSpPr>
        <p:spPr>
          <a:xfrm>
            <a:off x="2743200" y="55918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80" name="TextBox 79"/>
          <p:cNvSpPr txBox="1"/>
          <p:nvPr/>
        </p:nvSpPr>
        <p:spPr>
          <a:xfrm>
            <a:off x="2362200" y="5820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81" name="TextBox 80"/>
          <p:cNvSpPr txBox="1"/>
          <p:nvPr/>
        </p:nvSpPr>
        <p:spPr>
          <a:xfrm>
            <a:off x="4191000" y="3915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82" name="TextBox 81"/>
          <p:cNvSpPr txBox="1"/>
          <p:nvPr/>
        </p:nvSpPr>
        <p:spPr>
          <a:xfrm>
            <a:off x="4835030" y="5443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83" name="TextBox 82"/>
          <p:cNvSpPr txBox="1"/>
          <p:nvPr/>
        </p:nvSpPr>
        <p:spPr>
          <a:xfrm>
            <a:off x="4225430" y="55156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84" name="TextBox 83"/>
          <p:cNvSpPr txBox="1"/>
          <p:nvPr/>
        </p:nvSpPr>
        <p:spPr>
          <a:xfrm>
            <a:off x="66279" y="3816213"/>
            <a:ext cx="526106" cy="369332"/>
          </a:xfrm>
          <a:prstGeom prst="rect">
            <a:avLst/>
          </a:prstGeom>
          <a:noFill/>
        </p:spPr>
        <p:txBody>
          <a:bodyPr wrap="none" rtlCol="0">
            <a:spAutoFit/>
          </a:bodyPr>
          <a:lstStyle/>
          <a:p>
            <a:r>
              <a:rPr lang="en-US" b="1" dirty="0">
                <a:solidFill>
                  <a:srgbClr val="CC0066"/>
                </a:solidFill>
                <a:latin typeface="Arial" pitchFamily="34" charset="0"/>
                <a:cs typeface="Arial" pitchFamily="34" charset="0"/>
              </a:rPr>
              <a:t>X</a:t>
            </a:r>
            <a:r>
              <a:rPr lang="en-US" b="1" baseline="30000" dirty="0">
                <a:solidFill>
                  <a:srgbClr val="CC0066"/>
                </a:solidFill>
                <a:latin typeface="Arial" pitchFamily="34" charset="0"/>
                <a:cs typeface="Arial" pitchFamily="34" charset="0"/>
              </a:rPr>
              <a:t>(1)</a:t>
            </a:r>
          </a:p>
        </p:txBody>
      </p:sp>
      <p:sp>
        <p:nvSpPr>
          <p:cNvPr id="85" name="TextBox 84"/>
          <p:cNvSpPr txBox="1"/>
          <p:nvPr/>
        </p:nvSpPr>
        <p:spPr>
          <a:xfrm>
            <a:off x="2826694" y="6424989"/>
            <a:ext cx="526106" cy="369332"/>
          </a:xfrm>
          <a:prstGeom prst="rect">
            <a:avLst/>
          </a:prstGeom>
          <a:noFill/>
        </p:spPr>
        <p:txBody>
          <a:bodyPr wrap="none" rtlCol="0">
            <a:spAutoFit/>
          </a:bodyPr>
          <a:lstStyle/>
          <a:p>
            <a:r>
              <a:rPr lang="en-US" b="1" dirty="0">
                <a:solidFill>
                  <a:srgbClr val="CC0066"/>
                </a:solidFill>
                <a:latin typeface="Arial" pitchFamily="34" charset="0"/>
                <a:cs typeface="Arial" pitchFamily="34" charset="0"/>
              </a:rPr>
              <a:t>X</a:t>
            </a:r>
            <a:r>
              <a:rPr lang="en-US" b="1" baseline="30000" dirty="0">
                <a:solidFill>
                  <a:srgbClr val="CC0066"/>
                </a:solidFill>
                <a:latin typeface="Arial" pitchFamily="34" charset="0"/>
                <a:cs typeface="Arial" pitchFamily="34" charset="0"/>
              </a:rPr>
              <a:t>(2)</a:t>
            </a:r>
          </a:p>
        </p:txBody>
      </p:sp>
      <p:sp>
        <p:nvSpPr>
          <p:cNvPr id="4" name="Date Placeholder 3"/>
          <p:cNvSpPr>
            <a:spLocks noGrp="1"/>
          </p:cNvSpPr>
          <p:nvPr>
            <p:ph type="dt" sz="half" idx="10"/>
          </p:nvPr>
        </p:nvSpPr>
        <p:spPr/>
        <p:txBody>
          <a:bodyPr/>
          <a:lstStyle/>
          <a:p>
            <a:fld id="{E27786FE-512C-2C41-B574-E442F4F65DA9}" type="datetime1">
              <a:rPr lang="en-US" smtClean="0"/>
              <a:t>10/1/24</a:t>
            </a:fld>
            <a:endParaRPr lang="en-US"/>
          </a:p>
        </p:txBody>
      </p:sp>
      <p:sp>
        <p:nvSpPr>
          <p:cNvPr id="5" name="Footer Placeholder 4"/>
          <p:cNvSpPr>
            <a:spLocks noGrp="1"/>
          </p:cNvSpPr>
          <p:nvPr>
            <p:ph type="ftr" sz="quarter" idx="11"/>
          </p:nvPr>
        </p:nvSpPr>
        <p:spPr>
          <a:xfrm>
            <a:off x="2693746" y="6549852"/>
            <a:ext cx="5507719" cy="274320"/>
          </a:xfrm>
        </p:spPr>
        <p:txBody>
          <a:bodyPr/>
          <a:lstStyle/>
          <a:p>
            <a:r>
              <a:rPr lang="en-US" dirty="0"/>
              <a:t>Jure </a:t>
            </a:r>
            <a:r>
              <a:rPr lang="en-US" dirty="0" err="1"/>
              <a:t>Leskovec</a:t>
            </a:r>
            <a:r>
              <a:rPr lang="en-US" dirty="0"/>
              <a:t> &amp; Mina </a:t>
            </a:r>
            <a:r>
              <a:rPr lang="en-US" dirty="0" err="1"/>
              <a:t>Ghashami</a:t>
            </a:r>
            <a:r>
              <a:rPr lang="en-US" dirty="0"/>
              <a:t>, Stanford CS246: Mining Massive Datasets, http://cs246.stanford.edu</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20C58D-902D-CAAB-127A-1D3DB101DED6}"/>
                  </a:ext>
                </a:extLst>
              </p:cNvPr>
              <p:cNvSpPr txBox="1"/>
              <p:nvPr/>
            </p:nvSpPr>
            <p:spPr>
              <a:xfrm>
                <a:off x="6957928" y="1857875"/>
                <a:ext cx="2542032" cy="421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itchFamily="34" charset="0"/>
                        </a:rPr>
                        <m:t>𝑥</m:t>
                      </m:r>
                      <m:r>
                        <a:rPr lang="en-US" sz="2000" b="0" i="1" smtClean="0">
                          <a:latin typeface="Cambria Math" panose="02040503050406030204" pitchFamily="18" charset="0"/>
                          <a:cs typeface="Arial" pitchFamily="34" charset="0"/>
                        </a:rPr>
                        <m:t>=</m:t>
                      </m:r>
                      <m:sSup>
                        <m:sSupPr>
                          <m:ctrlPr>
                            <a:rPr lang="en-US" sz="2000" b="0" i="1" smtClean="0">
                              <a:latin typeface="Cambria Math" panose="02040503050406030204" pitchFamily="18" charset="0"/>
                              <a:cs typeface="Arial" pitchFamily="34" charset="0"/>
                            </a:rPr>
                          </m:ctrlPr>
                        </m:sSupPr>
                        <m:e>
                          <m:r>
                            <a:rPr lang="en-US" sz="2000" b="0" i="1" smtClean="0">
                              <a:latin typeface="Cambria Math" panose="02040503050406030204" pitchFamily="18" charset="0"/>
                              <a:cs typeface="Arial" pitchFamily="34" charset="0"/>
                            </a:rPr>
                            <m:t>𝑥</m:t>
                          </m:r>
                        </m:e>
                        <m:sup>
                          <m:d>
                            <m:dPr>
                              <m:ctrlPr>
                                <a:rPr lang="en-US" sz="2000" b="0" i="1" smtClean="0">
                                  <a:latin typeface="Cambria Math" panose="02040503050406030204" pitchFamily="18" charset="0"/>
                                  <a:cs typeface="Arial" pitchFamily="34" charset="0"/>
                                </a:rPr>
                              </m:ctrlPr>
                            </m:dPr>
                            <m:e>
                              <m:r>
                                <a:rPr lang="en-US" sz="2000" b="0" i="1" smtClean="0">
                                  <a:latin typeface="Cambria Math" panose="02040503050406030204" pitchFamily="18" charset="0"/>
                                  <a:cs typeface="Arial" pitchFamily="34" charset="0"/>
                                </a:rPr>
                                <m:t>1</m:t>
                              </m:r>
                            </m:e>
                          </m:d>
                        </m:sup>
                      </m:sSup>
                      <m:r>
                        <a:rPr lang="en-US" sz="2000" b="0" i="1" smtClean="0">
                          <a:latin typeface="Cambria Math" panose="02040503050406030204" pitchFamily="18" charset="0"/>
                          <a:cs typeface="Arial" pitchFamily="34" charset="0"/>
                        </a:rPr>
                        <m:t>,</m:t>
                      </m:r>
                      <m:sSup>
                        <m:sSupPr>
                          <m:ctrlPr>
                            <a:rPr lang="en-US" sz="2000" i="1">
                              <a:latin typeface="Cambria Math" panose="02040503050406030204" pitchFamily="18" charset="0"/>
                              <a:cs typeface="Arial" pitchFamily="34" charset="0"/>
                            </a:rPr>
                          </m:ctrlPr>
                        </m:sSupPr>
                        <m:e>
                          <m:r>
                            <a:rPr lang="en-US" sz="2000" i="1">
                              <a:latin typeface="Cambria Math" panose="02040503050406030204" pitchFamily="18" charset="0"/>
                              <a:cs typeface="Arial" pitchFamily="34" charset="0"/>
                            </a:rPr>
                            <m:t>𝑥</m:t>
                          </m:r>
                        </m:e>
                        <m:sup>
                          <m:d>
                            <m:dPr>
                              <m:ctrlPr>
                                <a:rPr lang="en-US" sz="2000" i="1">
                                  <a:latin typeface="Cambria Math" panose="02040503050406030204" pitchFamily="18" charset="0"/>
                                  <a:cs typeface="Arial" pitchFamily="34" charset="0"/>
                                </a:rPr>
                              </m:ctrlPr>
                            </m:dPr>
                            <m:e>
                              <m:r>
                                <a:rPr lang="en-US" sz="2000" b="0" i="1" smtClean="0">
                                  <a:latin typeface="Cambria Math" panose="02040503050406030204" pitchFamily="18" charset="0"/>
                                  <a:cs typeface="Arial" pitchFamily="34" charset="0"/>
                                </a:rPr>
                                <m:t>2</m:t>
                              </m:r>
                            </m:e>
                          </m:d>
                        </m:sup>
                      </m:sSup>
                    </m:oMath>
                  </m:oMathPara>
                </a14:m>
                <a:endParaRPr lang="en-US" sz="2000" dirty="0">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7820C58D-902D-CAAB-127A-1D3DB101DED6}"/>
                  </a:ext>
                </a:extLst>
              </p:cNvPr>
              <p:cNvSpPr txBox="1">
                <a:spLocks noRot="1" noChangeAspect="1" noMove="1" noResize="1" noEditPoints="1" noAdjustHandles="1" noChangeArrowheads="1" noChangeShapeType="1" noTextEdit="1"/>
              </p:cNvSpPr>
              <p:nvPr/>
            </p:nvSpPr>
            <p:spPr>
              <a:xfrm>
                <a:off x="6957928" y="1857875"/>
                <a:ext cx="2542032" cy="421013"/>
              </a:xfrm>
              <a:prstGeom prst="rect">
                <a:avLst/>
              </a:prstGeom>
              <a:blipFill>
                <a:blip r:embed="rId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2EC6987-0F92-F35E-6CC4-D9CF638C78B7}"/>
              </a:ext>
            </a:extLst>
          </p:cNvPr>
          <p:cNvSpPr txBox="1"/>
          <p:nvPr/>
        </p:nvSpPr>
        <p:spPr>
          <a:xfrm>
            <a:off x="5842254" y="1916724"/>
            <a:ext cx="1690844" cy="369332"/>
          </a:xfrm>
          <a:prstGeom prst="rect">
            <a:avLst/>
          </a:prstGeom>
          <a:noFill/>
        </p:spPr>
        <p:txBody>
          <a:bodyPr wrap="square" rtlCol="0">
            <a:spAutoFit/>
          </a:bodyPr>
          <a:lstStyle/>
          <a:p>
            <a:r>
              <a:rPr lang="en-US" dirty="0">
                <a:latin typeface="Arial" pitchFamily="34" charset="0"/>
                <a:cs typeface="Arial" pitchFamily="34" charset="0"/>
              </a:rPr>
              <a:t>Data is 2-dim:</a:t>
            </a:r>
          </a:p>
        </p:txBody>
      </p:sp>
      <p:sp>
        <p:nvSpPr>
          <p:cNvPr id="11" name="TextBox 10">
            <a:extLst>
              <a:ext uri="{FF2B5EF4-FFF2-40B4-BE49-F238E27FC236}">
                <a16:creationId xmlns:a16="http://schemas.microsoft.com/office/drawing/2014/main" id="{70755CA0-52DD-1DBC-5E29-964B759980FA}"/>
              </a:ext>
            </a:extLst>
          </p:cNvPr>
          <p:cNvSpPr txBox="1"/>
          <p:nvPr/>
        </p:nvSpPr>
        <p:spPr>
          <a:xfrm>
            <a:off x="5842254" y="2391437"/>
            <a:ext cx="3096006" cy="369332"/>
          </a:xfrm>
          <a:prstGeom prst="rect">
            <a:avLst/>
          </a:prstGeom>
          <a:noFill/>
        </p:spPr>
        <p:txBody>
          <a:bodyPr wrap="square" rtlCol="0">
            <a:spAutoFit/>
          </a:bodyPr>
          <a:lstStyle/>
          <a:p>
            <a:r>
              <a:rPr lang="en-US" dirty="0">
                <a:latin typeface="Arial" pitchFamily="34" charset="0"/>
                <a:cs typeface="Arial" pitchFamily="34" charset="0"/>
              </a:rPr>
              <a:t>Class label: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F3E0BB5-935B-8CC7-AD05-478CB489CFF2}"/>
                  </a:ext>
                </a:extLst>
              </p:cNvPr>
              <p:cNvSpPr txBox="1"/>
              <p:nvPr/>
            </p:nvSpPr>
            <p:spPr>
              <a:xfrm>
                <a:off x="6949686" y="2354107"/>
                <a:ext cx="254203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itchFamily="34" charset="0"/>
                        </a:rPr>
                        <m:t>𝑦</m:t>
                      </m:r>
                      <m:r>
                        <a:rPr lang="en-US" sz="2000" b="0" i="1" smtClean="0">
                          <a:latin typeface="Cambria Math" panose="02040503050406030204" pitchFamily="18" charset="0"/>
                          <a:cs typeface="Arial" pitchFamily="34" charset="0"/>
                        </a:rPr>
                        <m:t>={+,−}</m:t>
                      </m:r>
                    </m:oMath>
                  </m:oMathPara>
                </a14:m>
                <a:endParaRPr lang="en-US" sz="2000" dirty="0">
                  <a:latin typeface="Arial" pitchFamily="34" charset="0"/>
                  <a:cs typeface="Arial" pitchFamily="34" charset="0"/>
                </a:endParaRPr>
              </a:p>
            </p:txBody>
          </p:sp>
        </mc:Choice>
        <mc:Fallback xmlns="">
          <p:sp>
            <p:nvSpPr>
              <p:cNvPr id="13" name="TextBox 12">
                <a:extLst>
                  <a:ext uri="{FF2B5EF4-FFF2-40B4-BE49-F238E27FC236}">
                    <a16:creationId xmlns:a16="http://schemas.microsoft.com/office/drawing/2014/main" id="{EF3E0BB5-935B-8CC7-AD05-478CB489CFF2}"/>
                  </a:ext>
                </a:extLst>
              </p:cNvPr>
              <p:cNvSpPr txBox="1">
                <a:spLocks noRot="1" noChangeAspect="1" noMove="1" noResize="1" noEditPoints="1" noAdjustHandles="1" noChangeArrowheads="1" noChangeShapeType="1" noTextEdit="1"/>
              </p:cNvSpPr>
              <p:nvPr/>
            </p:nvSpPr>
            <p:spPr>
              <a:xfrm>
                <a:off x="6949686" y="2354107"/>
                <a:ext cx="2542032" cy="400110"/>
              </a:xfrm>
              <a:prstGeom prst="rect">
                <a:avLst/>
              </a:prstGeom>
              <a:blipFill>
                <a:blip r:embed="rId4"/>
                <a:stretch>
                  <a:fillRect b="-15625"/>
                </a:stretch>
              </a:blipFill>
            </p:spPr>
            <p:txBody>
              <a:bodyPr/>
              <a:lstStyle/>
              <a:p>
                <a:r>
                  <a:rPr lang="en-US">
                    <a:noFill/>
                  </a:rPr>
                  <a:t> </a:t>
                </a:r>
              </a:p>
            </p:txBody>
          </p:sp>
        </mc:Fallback>
      </mc:AlternateContent>
    </p:spTree>
    <p:extLst>
      <p:ext uri="{BB962C8B-B14F-4D97-AF65-F5344CB8AC3E}">
        <p14:creationId xmlns:p14="http://schemas.microsoft.com/office/powerpoint/2010/main" val="2461538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Trees: feature space</a:t>
            </a:r>
          </a:p>
        </p:txBody>
      </p:sp>
      <p:sp>
        <p:nvSpPr>
          <p:cNvPr id="3" name="Content Placeholder 2"/>
          <p:cNvSpPr>
            <a:spLocks noGrp="1"/>
          </p:cNvSpPr>
          <p:nvPr>
            <p:ph idx="1"/>
          </p:nvPr>
        </p:nvSpPr>
        <p:spPr>
          <a:xfrm>
            <a:off x="457200" y="1295400"/>
            <a:ext cx="8229600" cy="2055167"/>
          </a:xfrm>
        </p:spPr>
        <p:txBody>
          <a:bodyPr/>
          <a:lstStyle/>
          <a:p>
            <a:r>
              <a:rPr lang="en-US" b="1">
                <a:solidFill>
                  <a:srgbClr val="0000FF"/>
                </a:solidFill>
              </a:rPr>
              <a:t>Alternative view:</a:t>
            </a:r>
          </a:p>
        </p:txBody>
      </p:sp>
      <p:sp>
        <p:nvSpPr>
          <p:cNvPr id="6" name="Slide Number Placeholder 5"/>
          <p:cNvSpPr>
            <a:spLocks noGrp="1"/>
          </p:cNvSpPr>
          <p:nvPr>
            <p:ph type="sldNum" sz="quarter" idx="12"/>
          </p:nvPr>
        </p:nvSpPr>
        <p:spPr>
          <a:xfrm>
            <a:off x="8204396" y="6583680"/>
            <a:ext cx="733864" cy="274320"/>
          </a:xfrm>
        </p:spPr>
        <p:txBody>
          <a:bodyPr/>
          <a:lstStyle/>
          <a:p>
            <a:fld id="{19B12225-5612-419B-A8D5-4B8EEE4C217E}" type="slidenum">
              <a:rPr lang="en-US" smtClean="0"/>
              <a:pPr/>
              <a:t>12</a:t>
            </a:fld>
            <a:endParaRPr lang="en-US"/>
          </a:p>
        </p:txBody>
      </p:sp>
      <p:sp>
        <p:nvSpPr>
          <p:cNvPr id="8" name="Rectangle 7"/>
          <p:cNvSpPr/>
          <p:nvPr/>
        </p:nvSpPr>
        <p:spPr>
          <a:xfrm>
            <a:off x="609600" y="1938702"/>
            <a:ext cx="5181600" cy="4495800"/>
          </a:xfrm>
          <a:prstGeom prst="rect">
            <a:avLst/>
          </a:prstGeom>
          <a:noFill/>
          <a:ln w="38100" cmpd="sng">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9600" y="3462702"/>
            <a:ext cx="5181600" cy="0"/>
          </a:xfrm>
          <a:prstGeom prst="line">
            <a:avLst/>
          </a:prstGeom>
          <a:ln cmpd="sng">
            <a:solidFill>
              <a:srgbClr val="008000"/>
            </a:solidFill>
          </a:ln>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rot="5400000" flipH="1" flipV="1">
            <a:off x="419100" y="4948602"/>
            <a:ext cx="2971800" cy="0"/>
          </a:xfrm>
          <a:prstGeom prst="line">
            <a:avLst/>
          </a:prstGeom>
          <a:ln cmpd="sng">
            <a:solidFill>
              <a:srgbClr val="008000"/>
            </a:solidFill>
          </a:ln>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rot="5400000" flipH="1" flipV="1">
            <a:off x="3962400" y="2700702"/>
            <a:ext cx="1524000" cy="0"/>
          </a:xfrm>
          <a:prstGeom prst="line">
            <a:avLst/>
          </a:prstGeom>
          <a:ln cmpd="sng">
            <a:solidFill>
              <a:srgbClr val="008000"/>
            </a:solidFill>
          </a:ln>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rot="5400000" flipH="1" flipV="1">
            <a:off x="1866900" y="4948602"/>
            <a:ext cx="2971800" cy="0"/>
          </a:xfrm>
          <a:prstGeom prst="line">
            <a:avLst/>
          </a:prstGeom>
          <a:ln cmpd="sng">
            <a:solidFill>
              <a:srgbClr val="008000"/>
            </a:solidFill>
          </a:ln>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a:off x="3352800" y="4986702"/>
            <a:ext cx="2438400" cy="0"/>
          </a:xfrm>
          <a:prstGeom prst="line">
            <a:avLst/>
          </a:prstGeom>
          <a:ln cmpd="sng">
            <a:solidFill>
              <a:srgbClr val="008000"/>
            </a:solidFill>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685800" y="1938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4" name="TextBox 23"/>
          <p:cNvSpPr txBox="1"/>
          <p:nvPr/>
        </p:nvSpPr>
        <p:spPr>
          <a:xfrm>
            <a:off x="1025030" y="201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5" name="TextBox 24"/>
          <p:cNvSpPr txBox="1"/>
          <p:nvPr/>
        </p:nvSpPr>
        <p:spPr>
          <a:xfrm>
            <a:off x="762000" y="23152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6" name="TextBox 25"/>
          <p:cNvSpPr txBox="1"/>
          <p:nvPr/>
        </p:nvSpPr>
        <p:spPr>
          <a:xfrm>
            <a:off x="1143000" y="23152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7" name="TextBox 26"/>
          <p:cNvSpPr txBox="1"/>
          <p:nvPr/>
        </p:nvSpPr>
        <p:spPr>
          <a:xfrm>
            <a:off x="1634630" y="201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8" name="TextBox 27"/>
          <p:cNvSpPr txBox="1"/>
          <p:nvPr/>
        </p:nvSpPr>
        <p:spPr>
          <a:xfrm>
            <a:off x="1981200" y="2853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29" name="TextBox 28"/>
          <p:cNvSpPr txBox="1"/>
          <p:nvPr/>
        </p:nvSpPr>
        <p:spPr>
          <a:xfrm>
            <a:off x="2549030" y="2091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0" name="TextBox 29"/>
          <p:cNvSpPr txBox="1"/>
          <p:nvPr/>
        </p:nvSpPr>
        <p:spPr>
          <a:xfrm>
            <a:off x="1025030" y="28486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1" name="TextBox 30"/>
          <p:cNvSpPr txBox="1"/>
          <p:nvPr/>
        </p:nvSpPr>
        <p:spPr>
          <a:xfrm>
            <a:off x="1406030" y="2700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2" name="TextBox 31"/>
          <p:cNvSpPr txBox="1"/>
          <p:nvPr/>
        </p:nvSpPr>
        <p:spPr>
          <a:xfrm>
            <a:off x="1981200" y="2395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3" name="TextBox 32"/>
          <p:cNvSpPr txBox="1"/>
          <p:nvPr/>
        </p:nvSpPr>
        <p:spPr>
          <a:xfrm>
            <a:off x="2438400" y="29293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4" name="TextBox 33"/>
          <p:cNvSpPr txBox="1"/>
          <p:nvPr/>
        </p:nvSpPr>
        <p:spPr>
          <a:xfrm>
            <a:off x="3352800" y="2319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5" name="TextBox 34"/>
          <p:cNvSpPr txBox="1"/>
          <p:nvPr/>
        </p:nvSpPr>
        <p:spPr>
          <a:xfrm>
            <a:off x="2930030" y="30772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6" name="TextBox 35"/>
          <p:cNvSpPr txBox="1"/>
          <p:nvPr/>
        </p:nvSpPr>
        <p:spPr>
          <a:xfrm>
            <a:off x="2819400" y="25483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7" name="TextBox 36"/>
          <p:cNvSpPr txBox="1"/>
          <p:nvPr/>
        </p:nvSpPr>
        <p:spPr>
          <a:xfrm>
            <a:off x="3810000" y="201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8" name="TextBox 37"/>
          <p:cNvSpPr txBox="1"/>
          <p:nvPr/>
        </p:nvSpPr>
        <p:spPr>
          <a:xfrm>
            <a:off x="4225430" y="2395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39" name="TextBox 38"/>
          <p:cNvSpPr txBox="1"/>
          <p:nvPr/>
        </p:nvSpPr>
        <p:spPr>
          <a:xfrm>
            <a:off x="3886200" y="2853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0" name="TextBox 39"/>
          <p:cNvSpPr txBox="1"/>
          <p:nvPr/>
        </p:nvSpPr>
        <p:spPr>
          <a:xfrm>
            <a:off x="4800600" y="20149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1" name="TextBox 40"/>
          <p:cNvSpPr txBox="1"/>
          <p:nvPr/>
        </p:nvSpPr>
        <p:spPr>
          <a:xfrm>
            <a:off x="5227252" y="20149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2" name="TextBox 41"/>
          <p:cNvSpPr txBox="1"/>
          <p:nvPr/>
        </p:nvSpPr>
        <p:spPr>
          <a:xfrm>
            <a:off x="4922452" y="2391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3" name="TextBox 42"/>
          <p:cNvSpPr txBox="1"/>
          <p:nvPr/>
        </p:nvSpPr>
        <p:spPr>
          <a:xfrm>
            <a:off x="5334000" y="26200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4" name="TextBox 43"/>
          <p:cNvSpPr txBox="1"/>
          <p:nvPr/>
        </p:nvSpPr>
        <p:spPr>
          <a:xfrm>
            <a:off x="4953000" y="28486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45" name="TextBox 44"/>
          <p:cNvSpPr txBox="1"/>
          <p:nvPr/>
        </p:nvSpPr>
        <p:spPr>
          <a:xfrm>
            <a:off x="796430" y="3615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6" name="TextBox 45"/>
          <p:cNvSpPr txBox="1"/>
          <p:nvPr/>
        </p:nvSpPr>
        <p:spPr>
          <a:xfrm>
            <a:off x="533400" y="3915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7" name="TextBox 46"/>
          <p:cNvSpPr txBox="1"/>
          <p:nvPr/>
        </p:nvSpPr>
        <p:spPr>
          <a:xfrm>
            <a:off x="914400" y="3915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8" name="TextBox 47"/>
          <p:cNvSpPr txBox="1"/>
          <p:nvPr/>
        </p:nvSpPr>
        <p:spPr>
          <a:xfrm>
            <a:off x="1406030" y="3615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49" name="TextBox 48"/>
          <p:cNvSpPr txBox="1"/>
          <p:nvPr/>
        </p:nvSpPr>
        <p:spPr>
          <a:xfrm>
            <a:off x="1558430" y="40678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0" name="TextBox 49"/>
          <p:cNvSpPr txBox="1"/>
          <p:nvPr/>
        </p:nvSpPr>
        <p:spPr>
          <a:xfrm>
            <a:off x="796430" y="44488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1" name="TextBox 50"/>
          <p:cNvSpPr txBox="1"/>
          <p:nvPr/>
        </p:nvSpPr>
        <p:spPr>
          <a:xfrm>
            <a:off x="1177430" y="4300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2" name="TextBox 51"/>
          <p:cNvSpPr txBox="1"/>
          <p:nvPr/>
        </p:nvSpPr>
        <p:spPr>
          <a:xfrm>
            <a:off x="796430" y="4986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3" name="TextBox 52"/>
          <p:cNvSpPr txBox="1"/>
          <p:nvPr/>
        </p:nvSpPr>
        <p:spPr>
          <a:xfrm>
            <a:off x="533400" y="52870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4" name="TextBox 53"/>
          <p:cNvSpPr txBox="1"/>
          <p:nvPr/>
        </p:nvSpPr>
        <p:spPr>
          <a:xfrm>
            <a:off x="914400" y="52870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5" name="TextBox 54"/>
          <p:cNvSpPr txBox="1"/>
          <p:nvPr/>
        </p:nvSpPr>
        <p:spPr>
          <a:xfrm>
            <a:off x="1406030" y="4986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6" name="TextBox 55"/>
          <p:cNvSpPr txBox="1"/>
          <p:nvPr/>
        </p:nvSpPr>
        <p:spPr>
          <a:xfrm>
            <a:off x="1558430" y="5439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7" name="TextBox 56"/>
          <p:cNvSpPr txBox="1"/>
          <p:nvPr/>
        </p:nvSpPr>
        <p:spPr>
          <a:xfrm>
            <a:off x="796430" y="58204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8" name="TextBox 57"/>
          <p:cNvSpPr txBox="1"/>
          <p:nvPr/>
        </p:nvSpPr>
        <p:spPr>
          <a:xfrm>
            <a:off x="1177430" y="56725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59" name="TextBox 58"/>
          <p:cNvSpPr txBox="1"/>
          <p:nvPr/>
        </p:nvSpPr>
        <p:spPr>
          <a:xfrm>
            <a:off x="4149230" y="5062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0" name="TextBox 59"/>
          <p:cNvSpPr txBox="1"/>
          <p:nvPr/>
        </p:nvSpPr>
        <p:spPr>
          <a:xfrm>
            <a:off x="3581400" y="5443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1" name="TextBox 60"/>
          <p:cNvSpPr txBox="1"/>
          <p:nvPr/>
        </p:nvSpPr>
        <p:spPr>
          <a:xfrm>
            <a:off x="5334000" y="59011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2" name="TextBox 61"/>
          <p:cNvSpPr txBox="1"/>
          <p:nvPr/>
        </p:nvSpPr>
        <p:spPr>
          <a:xfrm>
            <a:off x="4758830" y="5062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3" name="TextBox 62"/>
          <p:cNvSpPr txBox="1"/>
          <p:nvPr/>
        </p:nvSpPr>
        <p:spPr>
          <a:xfrm>
            <a:off x="5334000" y="53677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4" name="TextBox 63"/>
          <p:cNvSpPr txBox="1"/>
          <p:nvPr/>
        </p:nvSpPr>
        <p:spPr>
          <a:xfrm>
            <a:off x="3886200" y="5824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5" name="TextBox 64"/>
          <p:cNvSpPr txBox="1"/>
          <p:nvPr/>
        </p:nvSpPr>
        <p:spPr>
          <a:xfrm>
            <a:off x="4758830" y="59728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66" name="TextBox 65"/>
          <p:cNvSpPr txBox="1"/>
          <p:nvPr/>
        </p:nvSpPr>
        <p:spPr>
          <a:xfrm>
            <a:off x="3581400" y="37675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67" name="TextBox 66"/>
          <p:cNvSpPr txBox="1"/>
          <p:nvPr/>
        </p:nvSpPr>
        <p:spPr>
          <a:xfrm>
            <a:off x="5181600" y="36913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68" name="TextBox 67"/>
          <p:cNvSpPr txBox="1"/>
          <p:nvPr/>
        </p:nvSpPr>
        <p:spPr>
          <a:xfrm>
            <a:off x="4419600" y="34627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69" name="TextBox 68"/>
          <p:cNvSpPr txBox="1"/>
          <p:nvPr/>
        </p:nvSpPr>
        <p:spPr>
          <a:xfrm>
            <a:off x="4953000" y="43009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0" name="TextBox 69"/>
          <p:cNvSpPr txBox="1"/>
          <p:nvPr/>
        </p:nvSpPr>
        <p:spPr>
          <a:xfrm>
            <a:off x="3886200" y="43771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1" name="TextBox 70"/>
          <p:cNvSpPr txBox="1"/>
          <p:nvPr/>
        </p:nvSpPr>
        <p:spPr>
          <a:xfrm>
            <a:off x="2209800" y="36913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2" name="TextBox 71"/>
          <p:cNvSpPr txBox="1"/>
          <p:nvPr/>
        </p:nvSpPr>
        <p:spPr>
          <a:xfrm>
            <a:off x="2636452" y="36913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3" name="TextBox 72"/>
          <p:cNvSpPr txBox="1"/>
          <p:nvPr/>
        </p:nvSpPr>
        <p:spPr>
          <a:xfrm>
            <a:off x="2331652" y="40678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4" name="TextBox 73"/>
          <p:cNvSpPr txBox="1"/>
          <p:nvPr/>
        </p:nvSpPr>
        <p:spPr>
          <a:xfrm>
            <a:off x="2743200" y="4296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5" name="TextBox 74"/>
          <p:cNvSpPr txBox="1"/>
          <p:nvPr/>
        </p:nvSpPr>
        <p:spPr>
          <a:xfrm>
            <a:off x="2362200" y="45250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6" name="TextBox 75"/>
          <p:cNvSpPr txBox="1"/>
          <p:nvPr/>
        </p:nvSpPr>
        <p:spPr>
          <a:xfrm>
            <a:off x="2209800" y="49867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7" name="TextBox 76"/>
          <p:cNvSpPr txBox="1"/>
          <p:nvPr/>
        </p:nvSpPr>
        <p:spPr>
          <a:xfrm>
            <a:off x="2636452" y="4986702"/>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8" name="TextBox 77"/>
          <p:cNvSpPr txBox="1"/>
          <p:nvPr/>
        </p:nvSpPr>
        <p:spPr>
          <a:xfrm>
            <a:off x="2331652" y="53632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79" name="TextBox 78"/>
          <p:cNvSpPr txBox="1"/>
          <p:nvPr/>
        </p:nvSpPr>
        <p:spPr>
          <a:xfrm>
            <a:off x="2743200" y="55918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80" name="TextBox 79"/>
          <p:cNvSpPr txBox="1"/>
          <p:nvPr/>
        </p:nvSpPr>
        <p:spPr>
          <a:xfrm>
            <a:off x="2362200" y="5820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81" name="TextBox 80"/>
          <p:cNvSpPr txBox="1"/>
          <p:nvPr/>
        </p:nvSpPr>
        <p:spPr>
          <a:xfrm>
            <a:off x="4191000" y="3915437"/>
            <a:ext cx="335348" cy="461665"/>
          </a:xfrm>
          <a:prstGeom prst="rect">
            <a:avLst/>
          </a:prstGeom>
          <a:noFill/>
        </p:spPr>
        <p:txBody>
          <a:bodyPr wrap="none" rtlCol="0">
            <a:spAutoFit/>
          </a:bodyPr>
          <a:lstStyle/>
          <a:p>
            <a:r>
              <a:rPr lang="en-US" sz="2400" b="1">
                <a:solidFill>
                  <a:srgbClr val="FF0000"/>
                </a:solidFill>
              </a:rPr>
              <a:t>–</a:t>
            </a:r>
            <a:endParaRPr lang="en-US" b="1">
              <a:solidFill>
                <a:srgbClr val="FF0000"/>
              </a:solidFill>
            </a:endParaRPr>
          </a:p>
        </p:txBody>
      </p:sp>
      <p:sp>
        <p:nvSpPr>
          <p:cNvPr id="82" name="TextBox 81"/>
          <p:cNvSpPr txBox="1"/>
          <p:nvPr/>
        </p:nvSpPr>
        <p:spPr>
          <a:xfrm>
            <a:off x="4835030" y="5443902"/>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83" name="TextBox 82"/>
          <p:cNvSpPr txBox="1"/>
          <p:nvPr/>
        </p:nvSpPr>
        <p:spPr>
          <a:xfrm>
            <a:off x="4225430" y="5515637"/>
            <a:ext cx="346570" cy="461665"/>
          </a:xfrm>
          <a:prstGeom prst="rect">
            <a:avLst/>
          </a:prstGeom>
          <a:noFill/>
        </p:spPr>
        <p:txBody>
          <a:bodyPr wrap="none" rtlCol="0">
            <a:spAutoFit/>
          </a:bodyPr>
          <a:lstStyle/>
          <a:p>
            <a:r>
              <a:rPr lang="en-US" sz="2400" b="1">
                <a:solidFill>
                  <a:srgbClr val="002060"/>
                </a:solidFill>
              </a:rPr>
              <a:t>+</a:t>
            </a:r>
            <a:endParaRPr lang="en-US" b="1">
              <a:solidFill>
                <a:srgbClr val="002060"/>
              </a:solidFill>
            </a:endParaRPr>
          </a:p>
        </p:txBody>
      </p:sp>
      <p:sp>
        <p:nvSpPr>
          <p:cNvPr id="84" name="TextBox 83"/>
          <p:cNvSpPr txBox="1"/>
          <p:nvPr/>
        </p:nvSpPr>
        <p:spPr>
          <a:xfrm>
            <a:off x="53420" y="3821299"/>
            <a:ext cx="526106" cy="369332"/>
          </a:xfrm>
          <a:prstGeom prst="rect">
            <a:avLst/>
          </a:prstGeom>
          <a:noFill/>
        </p:spPr>
        <p:txBody>
          <a:bodyPr wrap="none" rtlCol="0">
            <a:spAutoFit/>
          </a:bodyPr>
          <a:lstStyle/>
          <a:p>
            <a:r>
              <a:rPr lang="en-US" b="1" dirty="0">
                <a:solidFill>
                  <a:srgbClr val="CC0066"/>
                </a:solidFill>
                <a:latin typeface="Arial" pitchFamily="34" charset="0"/>
                <a:cs typeface="Arial" pitchFamily="34" charset="0"/>
              </a:rPr>
              <a:t>X</a:t>
            </a:r>
            <a:r>
              <a:rPr lang="en-US" b="1" baseline="30000" dirty="0">
                <a:solidFill>
                  <a:srgbClr val="CC0066"/>
                </a:solidFill>
                <a:latin typeface="Arial" pitchFamily="34" charset="0"/>
                <a:cs typeface="Arial" pitchFamily="34" charset="0"/>
              </a:rPr>
              <a:t>(1)</a:t>
            </a:r>
          </a:p>
        </p:txBody>
      </p:sp>
      <p:sp>
        <p:nvSpPr>
          <p:cNvPr id="85" name="TextBox 84"/>
          <p:cNvSpPr txBox="1"/>
          <p:nvPr/>
        </p:nvSpPr>
        <p:spPr>
          <a:xfrm>
            <a:off x="2801336" y="6436007"/>
            <a:ext cx="526106" cy="369332"/>
          </a:xfrm>
          <a:prstGeom prst="rect">
            <a:avLst/>
          </a:prstGeom>
          <a:noFill/>
        </p:spPr>
        <p:txBody>
          <a:bodyPr wrap="none" rtlCol="0">
            <a:spAutoFit/>
          </a:bodyPr>
          <a:lstStyle/>
          <a:p>
            <a:r>
              <a:rPr lang="en-US" b="1" dirty="0">
                <a:solidFill>
                  <a:srgbClr val="CC0066"/>
                </a:solidFill>
                <a:latin typeface="Arial" pitchFamily="34" charset="0"/>
                <a:cs typeface="Arial" pitchFamily="34" charset="0"/>
              </a:rPr>
              <a:t>X</a:t>
            </a:r>
            <a:r>
              <a:rPr lang="en-US" b="1" baseline="30000" dirty="0">
                <a:solidFill>
                  <a:srgbClr val="CC0066"/>
                </a:solidFill>
                <a:latin typeface="Arial" pitchFamily="34" charset="0"/>
                <a:cs typeface="Arial" pitchFamily="34" charset="0"/>
              </a:rPr>
              <a:t>(2)</a:t>
            </a:r>
          </a:p>
        </p:txBody>
      </p:sp>
      <p:sp>
        <p:nvSpPr>
          <p:cNvPr id="4" name="Date Placeholder 3"/>
          <p:cNvSpPr>
            <a:spLocks noGrp="1"/>
          </p:cNvSpPr>
          <p:nvPr>
            <p:ph type="dt" sz="half" idx="10"/>
          </p:nvPr>
        </p:nvSpPr>
        <p:spPr/>
        <p:txBody>
          <a:bodyPr/>
          <a:lstStyle/>
          <a:p>
            <a:fld id="{FAB7DC72-3F17-564B-A2B4-7D4401564173}" type="datetime1">
              <a:rPr lang="en-US" smtClean="0"/>
              <a:t>10/1/24</a:t>
            </a:fld>
            <a:endParaRPr lang="en-US"/>
          </a:p>
        </p:txBody>
      </p:sp>
      <p:sp>
        <p:nvSpPr>
          <p:cNvPr id="5" name="Footer Placeholder 4"/>
          <p:cNvSpPr>
            <a:spLocks noGrp="1"/>
          </p:cNvSpPr>
          <p:nvPr>
            <p:ph type="ftr" sz="quarter" idx="11"/>
          </p:nvPr>
        </p:nvSpPr>
        <p:spPr>
          <a:xfrm>
            <a:off x="2693746" y="6549852"/>
            <a:ext cx="5507719" cy="274320"/>
          </a:xfrm>
        </p:spPr>
        <p:txBody>
          <a:bodyPr/>
          <a:lstStyle/>
          <a:p>
            <a:r>
              <a:rPr lang="en-US" dirty="0"/>
              <a:t>Jure </a:t>
            </a:r>
            <a:r>
              <a:rPr lang="en-US" dirty="0" err="1"/>
              <a:t>Leskovec</a:t>
            </a:r>
            <a:r>
              <a:rPr lang="en-US" dirty="0"/>
              <a:t> &amp; Mina </a:t>
            </a:r>
            <a:r>
              <a:rPr lang="en-US" dirty="0" err="1"/>
              <a:t>Ghashami</a:t>
            </a:r>
            <a:r>
              <a:rPr lang="en-US" dirty="0"/>
              <a:t>, Stanford CS246: Mining Massive Datasets, http://cs246.stanford.edu</a:t>
            </a:r>
          </a:p>
        </p:txBody>
      </p:sp>
      <p:sp>
        <p:nvSpPr>
          <p:cNvPr id="87" name="Oval 86"/>
          <p:cNvSpPr/>
          <p:nvPr/>
        </p:nvSpPr>
        <p:spPr>
          <a:xfrm>
            <a:off x="7058465" y="1855458"/>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A</a:t>
            </a:r>
          </a:p>
        </p:txBody>
      </p:sp>
      <p:sp>
        <p:nvSpPr>
          <p:cNvPr id="88" name="TextBox 87"/>
          <p:cNvSpPr txBox="1"/>
          <p:nvPr/>
        </p:nvSpPr>
        <p:spPr>
          <a:xfrm>
            <a:off x="6798791" y="2392122"/>
            <a:ext cx="976549" cy="369332"/>
          </a:xfrm>
          <a:prstGeom prst="rect">
            <a:avLst/>
          </a:prstGeom>
          <a:noFill/>
        </p:spPr>
        <p:txBody>
          <a:bodyPr wrap="none" rtlCol="0">
            <a:spAutoFit/>
          </a:bodyPr>
          <a:lstStyle/>
          <a:p>
            <a:r>
              <a:rPr lang="en-US" b="1" dirty="0">
                <a:latin typeface="Arial" pitchFamily="34" charset="0"/>
                <a:cs typeface="Arial" pitchFamily="34" charset="0"/>
              </a:rPr>
              <a:t>X</a:t>
            </a:r>
            <a:r>
              <a:rPr lang="en-US" b="1" baseline="30000" dirty="0">
                <a:latin typeface="Arial" pitchFamily="34" charset="0"/>
                <a:cs typeface="Arial" pitchFamily="34" charset="0"/>
              </a:rPr>
              <a:t>(1)</a:t>
            </a:r>
            <a:r>
              <a:rPr lang="en-US" b="1" dirty="0">
                <a:latin typeface="Arial" pitchFamily="34" charset="0"/>
                <a:cs typeface="Arial" pitchFamily="34" charset="0"/>
              </a:rPr>
              <a:t>&lt;v</a:t>
            </a:r>
            <a:r>
              <a:rPr lang="en-US" b="1" baseline="30000" dirty="0">
                <a:latin typeface="Arial" pitchFamily="34" charset="0"/>
                <a:cs typeface="Arial" pitchFamily="34" charset="0"/>
              </a:rPr>
              <a:t>(1)</a:t>
            </a:r>
          </a:p>
        </p:txBody>
      </p:sp>
      <p:cxnSp>
        <p:nvCxnSpPr>
          <p:cNvPr id="89" name="Straight Arrow Connector 88"/>
          <p:cNvCxnSpPr>
            <a:stCxn id="87" idx="3"/>
          </p:cNvCxnSpPr>
          <p:nvPr/>
        </p:nvCxnSpPr>
        <p:spPr>
          <a:xfrm rot="5400000">
            <a:off x="6572410" y="2207603"/>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90" name="Straight Arrow Connector 89"/>
          <p:cNvCxnSpPr>
            <a:stCxn id="87" idx="5"/>
            <a:endCxn id="91" idx="1"/>
          </p:cNvCxnSpPr>
          <p:nvPr/>
        </p:nvCxnSpPr>
        <p:spPr>
          <a:xfrm rot="16200000" flipH="1">
            <a:off x="7486810" y="2207603"/>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91" name="Oval 90"/>
          <p:cNvSpPr/>
          <p:nvPr/>
        </p:nvSpPr>
        <p:spPr>
          <a:xfrm>
            <a:off x="7972865" y="2693658"/>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C</a:t>
            </a:r>
          </a:p>
        </p:txBody>
      </p:sp>
      <p:cxnSp>
        <p:nvCxnSpPr>
          <p:cNvPr id="94" name="Straight Arrow Connector 93"/>
          <p:cNvCxnSpPr>
            <a:stCxn id="91" idx="3"/>
          </p:cNvCxnSpPr>
          <p:nvPr/>
        </p:nvCxnSpPr>
        <p:spPr>
          <a:xfrm flipH="1">
            <a:off x="7744265" y="3083903"/>
            <a:ext cx="295555" cy="5149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95" name="Straight Arrow Connector 94"/>
          <p:cNvCxnSpPr>
            <a:stCxn id="91" idx="5"/>
          </p:cNvCxnSpPr>
          <p:nvPr/>
        </p:nvCxnSpPr>
        <p:spPr>
          <a:xfrm>
            <a:off x="8363110" y="3083903"/>
            <a:ext cx="476090" cy="5149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96" name="Oval 95"/>
          <p:cNvSpPr/>
          <p:nvPr/>
        </p:nvSpPr>
        <p:spPr>
          <a:xfrm>
            <a:off x="6305710" y="2773465"/>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cxnSp>
        <p:nvCxnSpPr>
          <p:cNvPr id="99" name="Straight Arrow Connector 98"/>
          <p:cNvCxnSpPr>
            <a:stCxn id="96" idx="3"/>
          </p:cNvCxnSpPr>
          <p:nvPr/>
        </p:nvCxnSpPr>
        <p:spPr>
          <a:xfrm flipH="1">
            <a:off x="6172200" y="3163710"/>
            <a:ext cx="200465" cy="41769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00" name="Oval 99"/>
          <p:cNvSpPr/>
          <p:nvPr/>
        </p:nvSpPr>
        <p:spPr>
          <a:xfrm>
            <a:off x="7353300" y="4467875"/>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H</a:t>
            </a:r>
          </a:p>
        </p:txBody>
      </p:sp>
      <p:cxnSp>
        <p:nvCxnSpPr>
          <p:cNvPr id="102" name="Straight Arrow Connector 101"/>
          <p:cNvCxnSpPr>
            <a:endCxn id="92" idx="0"/>
          </p:cNvCxnSpPr>
          <p:nvPr/>
        </p:nvCxnSpPr>
        <p:spPr>
          <a:xfrm>
            <a:off x="6668220" y="3198243"/>
            <a:ext cx="245968" cy="398396"/>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03" name="Straight Arrow Connector 102"/>
          <p:cNvCxnSpPr/>
          <p:nvPr/>
        </p:nvCxnSpPr>
        <p:spPr>
          <a:xfrm rot="16200000" flipH="1">
            <a:off x="7038855" y="3983887"/>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09" name="Hexagon 108"/>
          <p:cNvSpPr/>
          <p:nvPr/>
        </p:nvSpPr>
        <p:spPr>
          <a:xfrm>
            <a:off x="5905500" y="35814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a:t>
            </a:r>
          </a:p>
        </p:txBody>
      </p:sp>
      <p:sp>
        <p:nvSpPr>
          <p:cNvPr id="110" name="TextBox 109"/>
          <p:cNvSpPr txBox="1"/>
          <p:nvPr/>
        </p:nvSpPr>
        <p:spPr>
          <a:xfrm>
            <a:off x="6739177" y="28310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rPr>
              <a:t>&lt;v</a:t>
            </a:r>
            <a:r>
              <a:rPr lang="en-US" b="1" baseline="30000">
                <a:latin typeface="Arial" pitchFamily="34" charset="0"/>
                <a:cs typeface="Arial" pitchFamily="34" charset="0"/>
              </a:rPr>
              <a:t>(2)</a:t>
            </a:r>
          </a:p>
        </p:txBody>
      </p:sp>
      <p:sp>
        <p:nvSpPr>
          <p:cNvPr id="111" name="Hexagon 110"/>
          <p:cNvSpPr/>
          <p:nvPr/>
        </p:nvSpPr>
        <p:spPr>
          <a:xfrm>
            <a:off x="7543800" y="35814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a:t>
            </a:r>
          </a:p>
        </p:txBody>
      </p:sp>
      <p:sp>
        <p:nvSpPr>
          <p:cNvPr id="112" name="Hexagon 111"/>
          <p:cNvSpPr/>
          <p:nvPr/>
        </p:nvSpPr>
        <p:spPr>
          <a:xfrm>
            <a:off x="8610600" y="35814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 </a:t>
            </a:r>
          </a:p>
        </p:txBody>
      </p:sp>
      <p:sp>
        <p:nvSpPr>
          <p:cNvPr id="113" name="TextBox 112"/>
          <p:cNvSpPr txBox="1"/>
          <p:nvPr/>
        </p:nvSpPr>
        <p:spPr>
          <a:xfrm>
            <a:off x="7848600" y="31358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rPr>
              <a:t>&lt;v</a:t>
            </a:r>
            <a:r>
              <a:rPr lang="en-US" b="1" baseline="30000">
                <a:latin typeface="Arial" pitchFamily="34" charset="0"/>
                <a:cs typeface="Arial" pitchFamily="34" charset="0"/>
              </a:rPr>
              <a:t>(3)</a:t>
            </a:r>
          </a:p>
        </p:txBody>
      </p:sp>
      <p:sp>
        <p:nvSpPr>
          <p:cNvPr id="114" name="TextBox 113"/>
          <p:cNvSpPr txBox="1"/>
          <p:nvPr/>
        </p:nvSpPr>
        <p:spPr>
          <a:xfrm>
            <a:off x="186086" y="3276600"/>
            <a:ext cx="526106" cy="369332"/>
          </a:xfrm>
          <a:prstGeom prst="rect">
            <a:avLst/>
          </a:prstGeom>
          <a:noFill/>
        </p:spPr>
        <p:txBody>
          <a:bodyPr wrap="none" rtlCol="0">
            <a:spAutoFit/>
          </a:bodyPr>
          <a:lstStyle/>
          <a:p>
            <a:r>
              <a:rPr lang="en-US" b="1" dirty="0">
                <a:latin typeface="Arial" pitchFamily="34" charset="0"/>
                <a:cs typeface="Arial" pitchFamily="34" charset="0"/>
              </a:rPr>
              <a:t>V</a:t>
            </a:r>
            <a:r>
              <a:rPr lang="en-US" b="1" baseline="30000" dirty="0">
                <a:latin typeface="Arial" pitchFamily="34" charset="0"/>
                <a:cs typeface="Arial" pitchFamily="34" charset="0"/>
              </a:rPr>
              <a:t>(1)</a:t>
            </a:r>
          </a:p>
        </p:txBody>
      </p:sp>
      <p:sp>
        <p:nvSpPr>
          <p:cNvPr id="115" name="TextBox 114"/>
          <p:cNvSpPr txBox="1"/>
          <p:nvPr/>
        </p:nvSpPr>
        <p:spPr>
          <a:xfrm>
            <a:off x="1706067" y="6365186"/>
            <a:ext cx="526106" cy="369332"/>
          </a:xfrm>
          <a:prstGeom prst="rect">
            <a:avLst/>
          </a:prstGeom>
          <a:noFill/>
        </p:spPr>
        <p:txBody>
          <a:bodyPr wrap="none" rtlCol="0">
            <a:spAutoFit/>
          </a:bodyPr>
          <a:lstStyle/>
          <a:p>
            <a:r>
              <a:rPr lang="en-US" b="1">
                <a:latin typeface="Arial" pitchFamily="34" charset="0"/>
                <a:cs typeface="Arial" pitchFamily="34" charset="0"/>
              </a:rPr>
              <a:t>V</a:t>
            </a:r>
            <a:r>
              <a:rPr lang="en-US" b="1" baseline="30000">
                <a:latin typeface="Arial" pitchFamily="34" charset="0"/>
                <a:cs typeface="Arial" pitchFamily="34" charset="0"/>
              </a:rPr>
              <a:t>(2)</a:t>
            </a:r>
          </a:p>
        </p:txBody>
      </p:sp>
      <p:sp>
        <p:nvSpPr>
          <p:cNvPr id="116" name="TextBox 115"/>
          <p:cNvSpPr txBox="1"/>
          <p:nvPr/>
        </p:nvSpPr>
        <p:spPr>
          <a:xfrm>
            <a:off x="4534249" y="1556327"/>
            <a:ext cx="526106" cy="369332"/>
          </a:xfrm>
          <a:prstGeom prst="rect">
            <a:avLst/>
          </a:prstGeom>
          <a:noFill/>
        </p:spPr>
        <p:txBody>
          <a:bodyPr wrap="none" rtlCol="0">
            <a:spAutoFit/>
          </a:bodyPr>
          <a:lstStyle/>
          <a:p>
            <a:r>
              <a:rPr lang="en-US" b="1">
                <a:latin typeface="Arial" pitchFamily="34" charset="0"/>
                <a:cs typeface="Arial" pitchFamily="34" charset="0"/>
              </a:rPr>
              <a:t>V</a:t>
            </a:r>
            <a:r>
              <a:rPr lang="en-US" b="1" baseline="30000">
                <a:latin typeface="Arial" pitchFamily="34" charset="0"/>
                <a:cs typeface="Arial" pitchFamily="34" charset="0"/>
              </a:rPr>
              <a:t>(3)</a:t>
            </a:r>
          </a:p>
        </p:txBody>
      </p:sp>
      <p:sp>
        <p:nvSpPr>
          <p:cNvPr id="117" name="TextBox 116"/>
          <p:cNvSpPr txBox="1"/>
          <p:nvPr/>
        </p:nvSpPr>
        <p:spPr>
          <a:xfrm>
            <a:off x="3200400" y="6400800"/>
            <a:ext cx="526106" cy="369332"/>
          </a:xfrm>
          <a:prstGeom prst="rect">
            <a:avLst/>
          </a:prstGeom>
          <a:noFill/>
        </p:spPr>
        <p:txBody>
          <a:bodyPr wrap="none" rtlCol="0">
            <a:spAutoFit/>
          </a:bodyPr>
          <a:lstStyle/>
          <a:p>
            <a:r>
              <a:rPr lang="en-US" b="1">
                <a:latin typeface="Arial" pitchFamily="34" charset="0"/>
                <a:cs typeface="Arial" pitchFamily="34" charset="0"/>
              </a:rPr>
              <a:t>V</a:t>
            </a:r>
            <a:r>
              <a:rPr lang="en-US" b="1" baseline="30000">
                <a:latin typeface="Arial" pitchFamily="34" charset="0"/>
                <a:cs typeface="Arial" pitchFamily="34" charset="0"/>
              </a:rPr>
              <a:t>(4)</a:t>
            </a:r>
          </a:p>
        </p:txBody>
      </p:sp>
      <p:sp>
        <p:nvSpPr>
          <p:cNvPr id="118" name="TextBox 117"/>
          <p:cNvSpPr txBox="1"/>
          <p:nvPr/>
        </p:nvSpPr>
        <p:spPr>
          <a:xfrm>
            <a:off x="6612415" y="40502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rPr>
              <a:t>&lt;v</a:t>
            </a:r>
            <a:r>
              <a:rPr lang="en-US" b="1" baseline="30000">
                <a:latin typeface="Arial" pitchFamily="34" charset="0"/>
                <a:cs typeface="Arial" pitchFamily="34" charset="0"/>
              </a:rPr>
              <a:t>(4)</a:t>
            </a:r>
          </a:p>
        </p:txBody>
      </p:sp>
      <p:cxnSp>
        <p:nvCxnSpPr>
          <p:cNvPr id="137" name="Straight Arrow Connector 136"/>
          <p:cNvCxnSpPr>
            <a:stCxn id="92" idx="3"/>
          </p:cNvCxnSpPr>
          <p:nvPr/>
        </p:nvCxnSpPr>
        <p:spPr>
          <a:xfrm flipH="1">
            <a:off x="6372665" y="3986884"/>
            <a:ext cx="379878" cy="432716"/>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38" name="Hexagon 137"/>
          <p:cNvSpPr/>
          <p:nvPr/>
        </p:nvSpPr>
        <p:spPr>
          <a:xfrm>
            <a:off x="6096000" y="44196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a:t>
            </a:r>
          </a:p>
        </p:txBody>
      </p:sp>
      <p:sp>
        <p:nvSpPr>
          <p:cNvPr id="141" name="Hexagon 140"/>
          <p:cNvSpPr/>
          <p:nvPr/>
        </p:nvSpPr>
        <p:spPr>
          <a:xfrm>
            <a:off x="6810255" y="5365469"/>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a:t>
            </a:r>
          </a:p>
        </p:txBody>
      </p:sp>
      <p:sp>
        <p:nvSpPr>
          <p:cNvPr id="142" name="Hexagon 141"/>
          <p:cNvSpPr/>
          <p:nvPr/>
        </p:nvSpPr>
        <p:spPr>
          <a:xfrm>
            <a:off x="7940415" y="5372167"/>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a:t>
            </a:r>
          </a:p>
        </p:txBody>
      </p:sp>
      <p:cxnSp>
        <p:nvCxnSpPr>
          <p:cNvPr id="143" name="Straight Arrow Connector 142"/>
          <p:cNvCxnSpPr>
            <a:stCxn id="100" idx="5"/>
          </p:cNvCxnSpPr>
          <p:nvPr/>
        </p:nvCxnSpPr>
        <p:spPr>
          <a:xfrm>
            <a:off x="7743545" y="4858120"/>
            <a:ext cx="463570" cy="507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44" name="TextBox 143"/>
          <p:cNvSpPr txBox="1"/>
          <p:nvPr/>
        </p:nvSpPr>
        <p:spPr>
          <a:xfrm>
            <a:off x="7239000" y="4915951"/>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(1)</a:t>
            </a:r>
            <a:r>
              <a:rPr lang="en-US" b="1">
                <a:latin typeface="Arial" pitchFamily="34" charset="0"/>
                <a:cs typeface="Arial" pitchFamily="34" charset="0"/>
              </a:rPr>
              <a:t>&lt;v</a:t>
            </a:r>
            <a:r>
              <a:rPr lang="en-US" b="1" baseline="30000">
                <a:latin typeface="Arial" pitchFamily="34" charset="0"/>
                <a:cs typeface="Arial" pitchFamily="34" charset="0"/>
              </a:rPr>
              <a:t>(5)</a:t>
            </a:r>
          </a:p>
        </p:txBody>
      </p:sp>
      <p:cxnSp>
        <p:nvCxnSpPr>
          <p:cNvPr id="145" name="Straight Arrow Connector 144"/>
          <p:cNvCxnSpPr>
            <a:stCxn id="100" idx="3"/>
          </p:cNvCxnSpPr>
          <p:nvPr/>
        </p:nvCxnSpPr>
        <p:spPr>
          <a:xfrm flipH="1">
            <a:off x="7086600" y="4858120"/>
            <a:ext cx="333655" cy="510983"/>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48" name="TextBox 147"/>
          <p:cNvSpPr txBox="1"/>
          <p:nvPr/>
        </p:nvSpPr>
        <p:spPr>
          <a:xfrm>
            <a:off x="5715000" y="4876800"/>
            <a:ext cx="526106" cy="369332"/>
          </a:xfrm>
          <a:prstGeom prst="rect">
            <a:avLst/>
          </a:prstGeom>
          <a:noFill/>
        </p:spPr>
        <p:txBody>
          <a:bodyPr wrap="none" rtlCol="0">
            <a:spAutoFit/>
          </a:bodyPr>
          <a:lstStyle/>
          <a:p>
            <a:r>
              <a:rPr lang="en-US" b="1">
                <a:latin typeface="Arial" pitchFamily="34" charset="0"/>
                <a:cs typeface="Arial" pitchFamily="34" charset="0"/>
              </a:rPr>
              <a:t>V</a:t>
            </a:r>
            <a:r>
              <a:rPr lang="en-US" b="1" baseline="30000">
                <a:latin typeface="Arial" pitchFamily="34" charset="0"/>
                <a:cs typeface="Arial" pitchFamily="34" charset="0"/>
              </a:rPr>
              <a:t>(5)</a:t>
            </a:r>
          </a:p>
        </p:txBody>
      </p:sp>
      <p:sp>
        <p:nvSpPr>
          <p:cNvPr id="92" name="Oval 91"/>
          <p:cNvSpPr/>
          <p:nvPr/>
        </p:nvSpPr>
        <p:spPr>
          <a:xfrm>
            <a:off x="6685588" y="3596639"/>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D</a:t>
            </a:r>
          </a:p>
        </p:txBody>
      </p:sp>
      <p:sp>
        <p:nvSpPr>
          <p:cNvPr id="7" name="TextBox 6">
            <a:extLst>
              <a:ext uri="{FF2B5EF4-FFF2-40B4-BE49-F238E27FC236}">
                <a16:creationId xmlns:a16="http://schemas.microsoft.com/office/drawing/2014/main" id="{8EE5219E-BFCC-6F8C-CB31-32A779998D78}"/>
              </a:ext>
            </a:extLst>
          </p:cNvPr>
          <p:cNvSpPr txBox="1"/>
          <p:nvPr/>
        </p:nvSpPr>
        <p:spPr>
          <a:xfrm>
            <a:off x="7614612" y="2173628"/>
            <a:ext cx="586853"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No</a:t>
            </a:r>
          </a:p>
        </p:txBody>
      </p:sp>
      <p:sp>
        <p:nvSpPr>
          <p:cNvPr id="9" name="TextBox 8">
            <a:extLst>
              <a:ext uri="{FF2B5EF4-FFF2-40B4-BE49-F238E27FC236}">
                <a16:creationId xmlns:a16="http://schemas.microsoft.com/office/drawing/2014/main" id="{25CA2129-8453-E787-8246-09EDCEFBFE9C}"/>
              </a:ext>
            </a:extLst>
          </p:cNvPr>
          <p:cNvSpPr txBox="1"/>
          <p:nvPr/>
        </p:nvSpPr>
        <p:spPr>
          <a:xfrm>
            <a:off x="6384879" y="2125801"/>
            <a:ext cx="586853" cy="369332"/>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yes</a:t>
            </a:r>
          </a:p>
        </p:txBody>
      </p:sp>
    </p:spTree>
    <p:extLst>
      <p:ext uri="{BB962C8B-B14F-4D97-AF65-F5344CB8AC3E}">
        <p14:creationId xmlns:p14="http://schemas.microsoft.com/office/powerpoint/2010/main" val="138723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p:bldP spid="91" grpId="0" animBg="1"/>
      <p:bldP spid="96" grpId="0" animBg="1"/>
      <p:bldP spid="100" grpId="0" animBg="1"/>
      <p:bldP spid="109" grpId="0" animBg="1"/>
      <p:bldP spid="110" grpId="0"/>
      <p:bldP spid="111" grpId="0" animBg="1"/>
      <p:bldP spid="112" grpId="0" animBg="1"/>
      <p:bldP spid="113" grpId="0"/>
      <p:bldP spid="118" grpId="0"/>
      <p:bldP spid="138" grpId="0" animBg="1"/>
      <p:bldP spid="141" grpId="0" animBg="1"/>
      <p:bldP spid="142" grpId="0" animBg="1"/>
      <p:bldP spid="144" grpId="0"/>
      <p:bldP spid="9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How to construct a tree?</a:t>
            </a:r>
          </a:p>
        </p:txBody>
      </p:sp>
      <mc:AlternateContent xmlns:mc="http://schemas.openxmlformats.org/markup-compatibility/2006" xmlns:a14="http://schemas.microsoft.com/office/drawing/2010/main">
        <mc:Choice Requires="a14">
          <p:sp>
            <p:nvSpPr>
              <p:cNvPr id="32" name="Content Placeholder 31"/>
              <p:cNvSpPr>
                <a:spLocks noGrp="1"/>
              </p:cNvSpPr>
              <p:nvPr>
                <p:ph idx="1"/>
              </p:nvPr>
            </p:nvSpPr>
            <p:spPr/>
            <p:txBody>
              <a:bodyPr>
                <a:normAutofit/>
              </a:bodyPr>
              <a:lstStyle/>
              <a:p>
                <a:r>
                  <a:rPr lang="en-US" b="1">
                    <a:solidFill>
                      <a:srgbClr val="0000FF"/>
                    </a:solidFill>
                  </a:rPr>
                  <a:t>Training dataset </a:t>
                </a:r>
                <a14:m>
                  <m:oMath xmlns:m="http://schemas.openxmlformats.org/officeDocument/2006/math">
                    <m:sSup>
                      <m:sSupPr>
                        <m:ctrlPr>
                          <a:rPr lang="en-US" b="1" i="1" dirty="0" smtClean="0">
                            <a:solidFill>
                              <a:srgbClr val="0000FF"/>
                            </a:solidFill>
                            <a:latin typeface="Cambria Math" panose="02040503050406030204" pitchFamily="18" charset="0"/>
                          </a:rPr>
                        </m:ctrlPr>
                      </m:sSupPr>
                      <m:e>
                        <m:r>
                          <a:rPr lang="en-US" b="1" i="1" dirty="0" smtClean="0">
                            <a:solidFill>
                              <a:srgbClr val="0000FF"/>
                            </a:solidFill>
                            <a:latin typeface="Cambria Math" panose="02040503050406030204" pitchFamily="18" charset="0"/>
                          </a:rPr>
                          <m:t>𝑫</m:t>
                        </m:r>
                      </m:e>
                      <m:sup>
                        <m:r>
                          <a:rPr lang="en-US" b="1" i="1" dirty="0" smtClean="0">
                            <a:solidFill>
                              <a:srgbClr val="0000FF"/>
                            </a:solidFill>
                            <a:latin typeface="Cambria Math" panose="02040503050406030204" pitchFamily="18" charset="0"/>
                          </a:rPr>
                          <m:t>∗</m:t>
                        </m:r>
                      </m:sup>
                    </m:sSup>
                    <m:r>
                      <a:rPr lang="en-US" b="1" i="1" dirty="0" smtClean="0">
                        <a:solidFill>
                          <a:srgbClr val="0000FF"/>
                        </a:solidFill>
                        <a:latin typeface="Cambria Math" panose="02040503050406030204" pitchFamily="18" charset="0"/>
                      </a:rPr>
                      <m:t>, |</m:t>
                    </m:r>
                    <m:sSup>
                      <m:sSupPr>
                        <m:ctrlPr>
                          <a:rPr lang="en-US" b="1" i="1" dirty="0" smtClean="0">
                            <a:solidFill>
                              <a:srgbClr val="0000FF"/>
                            </a:solidFill>
                            <a:latin typeface="Cambria Math" panose="02040503050406030204" pitchFamily="18" charset="0"/>
                          </a:rPr>
                        </m:ctrlPr>
                      </m:sSupPr>
                      <m:e>
                        <m:r>
                          <a:rPr lang="en-US" b="1" i="1" dirty="0" smtClean="0">
                            <a:solidFill>
                              <a:srgbClr val="0000FF"/>
                            </a:solidFill>
                            <a:latin typeface="Cambria Math" panose="02040503050406030204" pitchFamily="18" charset="0"/>
                          </a:rPr>
                          <m:t>𝑫</m:t>
                        </m:r>
                      </m:e>
                      <m:sup>
                        <m:r>
                          <a:rPr lang="en-US" b="1" i="1" dirty="0" smtClean="0">
                            <a:solidFill>
                              <a:srgbClr val="0000FF"/>
                            </a:solidFill>
                            <a:latin typeface="Cambria Math" panose="02040503050406030204" pitchFamily="18" charset="0"/>
                          </a:rPr>
                          <m:t>∗</m:t>
                        </m:r>
                      </m:sup>
                    </m:sSup>
                    <m:r>
                      <a:rPr lang="en-US" b="1" i="1" dirty="0" smtClean="0">
                        <a:solidFill>
                          <a:srgbClr val="0000FF"/>
                        </a:solidFill>
                        <a:latin typeface="Cambria Math" panose="02040503050406030204" pitchFamily="18" charset="0"/>
                      </a:rPr>
                      <m:t>|=</m:t>
                    </m:r>
                    <m:r>
                      <a:rPr lang="en-US" b="1" i="1" dirty="0" smtClean="0">
                        <a:solidFill>
                          <a:srgbClr val="0000FF"/>
                        </a:solidFill>
                        <a:latin typeface="Cambria Math" panose="02040503050406030204" pitchFamily="18" charset="0"/>
                      </a:rPr>
                      <m:t>𝟏𝟎𝟎</m:t>
                    </m:r>
                    <m:r>
                      <a:rPr lang="en-US" b="1" i="1" dirty="0" smtClean="0">
                        <a:solidFill>
                          <a:srgbClr val="0000FF"/>
                        </a:solidFill>
                        <a:latin typeface="Cambria Math" panose="02040503050406030204" pitchFamily="18" charset="0"/>
                      </a:rPr>
                      <m:t> </m:t>
                    </m:r>
                  </m:oMath>
                </a14:m>
                <a:r>
                  <a:rPr lang="en-US" b="1">
                    <a:solidFill>
                      <a:srgbClr val="0000FF"/>
                    </a:solidFill>
                  </a:rPr>
                  <a:t>examples</a:t>
                </a:r>
              </a:p>
            </p:txBody>
          </p:sp>
        </mc:Choice>
        <mc:Fallback xmlns="">
          <p:sp>
            <p:nvSpPr>
              <p:cNvPr id="32" name="Content Placeholder 31"/>
              <p:cNvSpPr>
                <a:spLocks noGrp="1" noRot="1" noChangeAspect="1" noMove="1" noResize="1" noEditPoints="1" noAdjustHandles="1" noChangeArrowheads="1" noChangeShapeType="1" noTextEdit="1"/>
              </p:cNvSpPr>
              <p:nvPr>
                <p:ph idx="1"/>
              </p:nvPr>
            </p:nvSpPr>
            <p:spPr>
              <a:blipFill>
                <a:blip r:embed="rId3"/>
                <a:stretch>
                  <a:fillRect l="-296" t="-58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13</a:t>
            </a:fld>
            <a:endParaRPr lang="en-US"/>
          </a:p>
        </p:txBody>
      </p:sp>
      <p:sp>
        <p:nvSpPr>
          <p:cNvPr id="8" name="Oval 7"/>
          <p:cNvSpPr/>
          <p:nvPr/>
        </p:nvSpPr>
        <p:spPr>
          <a:xfrm>
            <a:off x="3614571" y="2133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A</a:t>
            </a:r>
          </a:p>
        </p:txBody>
      </p:sp>
      <p:sp>
        <p:nvSpPr>
          <p:cNvPr id="9" name="Oval 8"/>
          <p:cNvSpPr/>
          <p:nvPr/>
        </p:nvSpPr>
        <p:spPr>
          <a:xfrm>
            <a:off x="27001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B</a:t>
            </a:r>
          </a:p>
        </p:txBody>
      </p:sp>
      <p:sp>
        <p:nvSpPr>
          <p:cNvPr id="11" name="TextBox 10"/>
          <p:cNvSpPr txBox="1"/>
          <p:nvPr/>
        </p:nvSpPr>
        <p:spPr>
          <a:xfrm>
            <a:off x="3280559" y="2743200"/>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(1)</a:t>
            </a:r>
            <a:r>
              <a:rPr lang="en-US" b="1">
                <a:latin typeface="Arial" pitchFamily="34" charset="0"/>
                <a:cs typeface="Arial" pitchFamily="34" charset="0"/>
              </a:rPr>
              <a:t>&lt;v</a:t>
            </a:r>
            <a:r>
              <a:rPr lang="en-US" b="1" baseline="30000">
                <a:latin typeface="Arial" pitchFamily="34" charset="0"/>
                <a:cs typeface="Arial" pitchFamily="34" charset="0"/>
              </a:rPr>
              <a:t>(1)</a:t>
            </a:r>
          </a:p>
        </p:txBody>
      </p:sp>
      <p:cxnSp>
        <p:nvCxnSpPr>
          <p:cNvPr id="13" name="Straight Arrow Connector 12"/>
          <p:cNvCxnSpPr>
            <a:stCxn id="8" idx="3"/>
            <a:endCxn id="9" idx="7"/>
          </p:cNvCxnSpPr>
          <p:nvPr/>
        </p:nvCxnSpPr>
        <p:spPr>
          <a:xfrm rot="5400000">
            <a:off x="31285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8" idx="5"/>
            <a:endCxn id="21" idx="1"/>
          </p:cNvCxnSpPr>
          <p:nvPr/>
        </p:nvCxnSpPr>
        <p:spPr>
          <a:xfrm rot="16200000" flipH="1">
            <a:off x="40429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1" name="Oval 20"/>
          <p:cNvSpPr/>
          <p:nvPr/>
        </p:nvSpPr>
        <p:spPr>
          <a:xfrm>
            <a:off x="45289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C</a:t>
            </a:r>
          </a:p>
        </p:txBody>
      </p:sp>
      <p:sp>
        <p:nvSpPr>
          <p:cNvPr id="22" name="Oval 21"/>
          <p:cNvSpPr/>
          <p:nvPr/>
        </p:nvSpPr>
        <p:spPr>
          <a:xfrm>
            <a:off x="33859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D</a:t>
            </a:r>
          </a:p>
        </p:txBody>
      </p:sp>
      <p:sp>
        <p:nvSpPr>
          <p:cNvPr id="23" name="Oval 22"/>
          <p:cNvSpPr/>
          <p:nvPr/>
        </p:nvSpPr>
        <p:spPr>
          <a:xfrm>
            <a:off x="59005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E</a:t>
            </a:r>
          </a:p>
        </p:txBody>
      </p:sp>
      <p:cxnSp>
        <p:nvCxnSpPr>
          <p:cNvPr id="24" name="Straight Arrow Connector 23"/>
          <p:cNvCxnSpPr>
            <a:stCxn id="21" idx="3"/>
            <a:endCxn id="22" idx="7"/>
          </p:cNvCxnSpPr>
          <p:nvPr/>
        </p:nvCxnSpPr>
        <p:spPr>
          <a:xfrm rot="5400000">
            <a:off x="3928616" y="32096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1" idx="5"/>
            <a:endCxn id="23" idx="1"/>
          </p:cNvCxnSpPr>
          <p:nvPr/>
        </p:nvCxnSpPr>
        <p:spPr>
          <a:xfrm rot="16200000" flipH="1">
            <a:off x="5185916" y="30953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8" name="Oval 27"/>
          <p:cNvSpPr/>
          <p:nvPr/>
        </p:nvSpPr>
        <p:spPr>
          <a:xfrm>
            <a:off x="27001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F</a:t>
            </a:r>
          </a:p>
        </p:txBody>
      </p:sp>
      <p:sp>
        <p:nvSpPr>
          <p:cNvPr id="29" name="Oval 28"/>
          <p:cNvSpPr/>
          <p:nvPr/>
        </p:nvSpPr>
        <p:spPr>
          <a:xfrm>
            <a:off x="41479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G</a:t>
            </a:r>
          </a:p>
        </p:txBody>
      </p:sp>
      <p:cxnSp>
        <p:nvCxnSpPr>
          <p:cNvPr id="30" name="Straight Arrow Connector 29"/>
          <p:cNvCxnSpPr>
            <a:endCxn id="28" idx="7"/>
          </p:cNvCxnSpPr>
          <p:nvPr/>
        </p:nvCxnSpPr>
        <p:spPr>
          <a:xfrm rot="5400000">
            <a:off x="30142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1" name="Straight Arrow Connector 30"/>
          <p:cNvCxnSpPr>
            <a:endCxn id="29" idx="1"/>
          </p:cNvCxnSpPr>
          <p:nvPr/>
        </p:nvCxnSpPr>
        <p:spPr>
          <a:xfrm rot="16200000" flipH="1">
            <a:off x="37381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33" name="Oval 32"/>
          <p:cNvSpPr/>
          <p:nvPr/>
        </p:nvSpPr>
        <p:spPr>
          <a:xfrm>
            <a:off x="52147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H</a:t>
            </a:r>
          </a:p>
        </p:txBody>
      </p:sp>
      <p:sp>
        <p:nvSpPr>
          <p:cNvPr id="34" name="Oval 33"/>
          <p:cNvSpPr/>
          <p:nvPr/>
        </p:nvSpPr>
        <p:spPr>
          <a:xfrm>
            <a:off x="66625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latin typeface="Arial" pitchFamily="34" charset="0"/>
                <a:cs typeface="Arial" pitchFamily="34" charset="0"/>
              </a:rPr>
              <a:t>I</a:t>
            </a:r>
          </a:p>
        </p:txBody>
      </p:sp>
      <p:cxnSp>
        <p:nvCxnSpPr>
          <p:cNvPr id="35" name="Straight Arrow Connector 34"/>
          <p:cNvCxnSpPr>
            <a:endCxn id="33" idx="7"/>
          </p:cNvCxnSpPr>
          <p:nvPr/>
        </p:nvCxnSpPr>
        <p:spPr>
          <a:xfrm rot="5400000">
            <a:off x="55288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6" name="Straight Arrow Connector 35"/>
          <p:cNvCxnSpPr>
            <a:endCxn id="34" idx="1"/>
          </p:cNvCxnSpPr>
          <p:nvPr/>
        </p:nvCxnSpPr>
        <p:spPr>
          <a:xfrm rot="16200000" flipH="1">
            <a:off x="62527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38" name="Isosceles Triangle 37"/>
          <p:cNvSpPr/>
          <p:nvPr/>
        </p:nvSpPr>
        <p:spPr>
          <a:xfrm>
            <a:off x="26239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39" name="Isosceles Triangle 38"/>
          <p:cNvSpPr/>
          <p:nvPr/>
        </p:nvSpPr>
        <p:spPr>
          <a:xfrm>
            <a:off x="40717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0" name="Isosceles Triangle 39"/>
          <p:cNvSpPr/>
          <p:nvPr/>
        </p:nvSpPr>
        <p:spPr>
          <a:xfrm>
            <a:off x="51385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1" name="Isosceles Triangle 40"/>
          <p:cNvSpPr/>
          <p:nvPr/>
        </p:nvSpPr>
        <p:spPr>
          <a:xfrm>
            <a:off x="65863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2" name="TextBox 41"/>
          <p:cNvSpPr txBox="1"/>
          <p:nvPr/>
        </p:nvSpPr>
        <p:spPr>
          <a:xfrm>
            <a:off x="4150571" y="2373868"/>
            <a:ext cx="861133" cy="369332"/>
          </a:xfrm>
          <a:prstGeom prst="rect">
            <a:avLst/>
          </a:prstGeom>
          <a:noFill/>
        </p:spPr>
        <p:txBody>
          <a:bodyPr wrap="none" rtlCol="0">
            <a:spAutoFit/>
          </a:bodyPr>
          <a:lstStyle/>
          <a:p>
            <a:r>
              <a:rPr lang="en-US">
                <a:latin typeface="Arial" pitchFamily="34" charset="0"/>
                <a:cs typeface="Arial" pitchFamily="34" charset="0"/>
              </a:rPr>
              <a:t>|D|=90</a:t>
            </a:r>
            <a:endParaRPr lang="en-US" baseline="-25000">
              <a:latin typeface="Arial" pitchFamily="34" charset="0"/>
              <a:cs typeface="Arial" pitchFamily="34" charset="0"/>
            </a:endParaRPr>
          </a:p>
        </p:txBody>
      </p:sp>
      <p:sp>
        <p:nvSpPr>
          <p:cNvPr id="43" name="TextBox 42"/>
          <p:cNvSpPr txBox="1"/>
          <p:nvPr/>
        </p:nvSpPr>
        <p:spPr>
          <a:xfrm>
            <a:off x="2700171" y="2438400"/>
            <a:ext cx="861133" cy="369332"/>
          </a:xfrm>
          <a:prstGeom prst="rect">
            <a:avLst/>
          </a:prstGeom>
          <a:noFill/>
        </p:spPr>
        <p:txBody>
          <a:bodyPr wrap="none" rtlCol="0">
            <a:spAutoFit/>
          </a:bodyPr>
          <a:lstStyle/>
          <a:p>
            <a:r>
              <a:rPr lang="en-US">
                <a:latin typeface="Arial" pitchFamily="34" charset="0"/>
                <a:cs typeface="Arial" pitchFamily="34" charset="0"/>
              </a:rPr>
              <a:t>|D|=10</a:t>
            </a:r>
            <a:endParaRPr lang="en-US" baseline="-25000">
              <a:latin typeface="Arial" pitchFamily="34" charset="0"/>
              <a:cs typeface="Arial" pitchFamily="34" charset="0"/>
            </a:endParaRPr>
          </a:p>
        </p:txBody>
      </p:sp>
      <p:sp>
        <p:nvSpPr>
          <p:cNvPr id="45" name="TextBox 44"/>
          <p:cNvSpPr txBox="1"/>
          <p:nvPr/>
        </p:nvSpPr>
        <p:spPr>
          <a:xfrm>
            <a:off x="4279405" y="35930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&lt;v</a:t>
            </a:r>
            <a:r>
              <a:rPr lang="en-US" b="1" baseline="30000">
                <a:latin typeface="Arial" pitchFamily="34" charset="0"/>
                <a:cs typeface="Arial" pitchFamily="34" charset="0"/>
                <a:sym typeface="Symbol"/>
              </a:rPr>
              <a:t>(2)</a:t>
            </a:r>
            <a:endParaRPr lang="en-US" b="1" baseline="30000">
              <a:latin typeface="Arial" pitchFamily="34" charset="0"/>
              <a:cs typeface="Arial" pitchFamily="34" charset="0"/>
            </a:endParaRPr>
          </a:p>
        </p:txBody>
      </p:sp>
      <p:sp>
        <p:nvSpPr>
          <p:cNvPr id="46" name="TextBox 45"/>
          <p:cNvSpPr txBox="1"/>
          <p:nvPr/>
        </p:nvSpPr>
        <p:spPr>
          <a:xfrm>
            <a:off x="3188803" y="4507468"/>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(3)</a:t>
            </a:r>
            <a:r>
              <a:rPr lang="en-US" b="1">
                <a:latin typeface="Arial" pitchFamily="34" charset="0"/>
                <a:cs typeface="Arial" pitchFamily="34" charset="0"/>
                <a:sym typeface="Symbol"/>
              </a:rPr>
              <a:t>&lt;</a:t>
            </a:r>
            <a:r>
              <a:rPr lang="en-US" b="1">
                <a:latin typeface="Arial" pitchFamily="34" charset="0"/>
                <a:cs typeface="Arial" pitchFamily="34" charset="0"/>
              </a:rPr>
              <a:t>v</a:t>
            </a:r>
            <a:r>
              <a:rPr lang="en-US" b="1" baseline="30000">
                <a:latin typeface="Arial" pitchFamily="34" charset="0"/>
                <a:cs typeface="Arial" pitchFamily="34" charset="0"/>
              </a:rPr>
              <a:t>(4)</a:t>
            </a:r>
          </a:p>
        </p:txBody>
      </p:sp>
      <p:sp>
        <p:nvSpPr>
          <p:cNvPr id="47" name="TextBox 46"/>
          <p:cNvSpPr txBox="1"/>
          <p:nvPr/>
        </p:nvSpPr>
        <p:spPr>
          <a:xfrm>
            <a:off x="5690767" y="4428119"/>
            <a:ext cx="1002197" cy="369332"/>
          </a:xfrm>
          <a:prstGeom prst="rect">
            <a:avLst/>
          </a:prstGeom>
          <a:noFill/>
        </p:spPr>
        <p:txBody>
          <a:bodyPr wrap="none" rtlCol="0">
            <a:spAutoFit/>
          </a:bodyPr>
          <a:lstStyle/>
          <a:p>
            <a:r>
              <a:rPr lang="en-US" b="1">
                <a:latin typeface="Arial" pitchFamily="34" charset="0"/>
                <a:cs typeface="Arial" pitchFamily="34" charset="0"/>
              </a:rPr>
              <a:t>X</a:t>
            </a:r>
            <a:r>
              <a:rPr lang="en-US" b="1" baseline="30000">
                <a:latin typeface="Arial" pitchFamily="34" charset="0"/>
                <a:cs typeface="Arial" pitchFamily="34" charset="0"/>
              </a:rPr>
              <a:t>(2)</a:t>
            </a:r>
            <a:r>
              <a:rPr lang="en-US" b="1">
                <a:latin typeface="Arial" pitchFamily="34" charset="0"/>
                <a:cs typeface="Arial" pitchFamily="34" charset="0"/>
                <a:sym typeface="Symbol"/>
              </a:rPr>
              <a:t>&lt;</a:t>
            </a:r>
            <a:r>
              <a:rPr lang="en-US" b="1">
                <a:latin typeface="Arial" pitchFamily="34" charset="0"/>
                <a:cs typeface="Arial" pitchFamily="34" charset="0"/>
              </a:rPr>
              <a:t>v</a:t>
            </a:r>
            <a:r>
              <a:rPr lang="en-US" b="1" baseline="30000">
                <a:latin typeface="Arial" pitchFamily="34" charset="0"/>
                <a:cs typeface="Arial" pitchFamily="34" charset="0"/>
              </a:rPr>
              <a:t>(5)</a:t>
            </a:r>
          </a:p>
        </p:txBody>
      </p:sp>
      <p:sp>
        <p:nvSpPr>
          <p:cNvPr id="48" name="TextBox 47"/>
          <p:cNvSpPr txBox="1"/>
          <p:nvPr/>
        </p:nvSpPr>
        <p:spPr>
          <a:xfrm>
            <a:off x="5259164" y="3200400"/>
            <a:ext cx="861133" cy="369332"/>
          </a:xfrm>
          <a:prstGeom prst="rect">
            <a:avLst/>
          </a:prstGeom>
          <a:noFill/>
        </p:spPr>
        <p:txBody>
          <a:bodyPr wrap="none" rtlCol="0">
            <a:spAutoFit/>
          </a:bodyPr>
          <a:lstStyle/>
          <a:p>
            <a:r>
              <a:rPr lang="en-US">
                <a:latin typeface="Arial" pitchFamily="34" charset="0"/>
                <a:cs typeface="Arial" pitchFamily="34" charset="0"/>
              </a:rPr>
              <a:t>|D|=45</a:t>
            </a:r>
            <a:endParaRPr lang="en-US" baseline="-25000">
              <a:latin typeface="Arial" pitchFamily="34" charset="0"/>
              <a:cs typeface="Arial" pitchFamily="34" charset="0"/>
            </a:endParaRPr>
          </a:p>
        </p:txBody>
      </p:sp>
      <p:sp>
        <p:nvSpPr>
          <p:cNvPr id="49" name="TextBox 48"/>
          <p:cNvSpPr txBox="1"/>
          <p:nvPr/>
        </p:nvSpPr>
        <p:spPr>
          <a:xfrm>
            <a:off x="3568942" y="3212068"/>
            <a:ext cx="861133" cy="369332"/>
          </a:xfrm>
          <a:prstGeom prst="rect">
            <a:avLst/>
          </a:prstGeom>
          <a:noFill/>
        </p:spPr>
        <p:txBody>
          <a:bodyPr wrap="none" rtlCol="0">
            <a:spAutoFit/>
          </a:bodyPr>
          <a:lstStyle/>
          <a:p>
            <a:r>
              <a:rPr lang="en-US">
                <a:latin typeface="Arial" pitchFamily="34" charset="0"/>
                <a:cs typeface="Arial" pitchFamily="34" charset="0"/>
              </a:rPr>
              <a:t>|D|=45</a:t>
            </a:r>
            <a:endParaRPr lang="en-US" baseline="-25000">
              <a:latin typeface="Arial" pitchFamily="34" charset="0"/>
              <a:cs typeface="Arial" pitchFamily="34" charset="0"/>
            </a:endParaRPr>
          </a:p>
        </p:txBody>
      </p:sp>
      <p:sp>
        <p:nvSpPr>
          <p:cNvPr id="50" name="Hexagon 49"/>
          <p:cNvSpPr/>
          <p:nvPr/>
        </p:nvSpPr>
        <p:spPr>
          <a:xfrm>
            <a:off x="2646005" y="2971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400">
                <a:latin typeface="Arial" pitchFamily="34" charset="0"/>
                <a:cs typeface="Arial" pitchFamily="34" charset="0"/>
              </a:rPr>
              <a:t>Y=</a:t>
            </a:r>
            <a:br>
              <a:rPr lang="en-US" sz="1400">
                <a:latin typeface="Arial" pitchFamily="34" charset="0"/>
                <a:cs typeface="Arial" pitchFamily="34" charset="0"/>
              </a:rPr>
            </a:br>
            <a:r>
              <a:rPr lang="en-US" sz="1400">
                <a:latin typeface="Arial" pitchFamily="34" charset="0"/>
                <a:cs typeface="Arial" pitchFamily="34" charset="0"/>
              </a:rPr>
              <a:t>0.42</a:t>
            </a:r>
          </a:p>
        </p:txBody>
      </p:sp>
      <p:sp>
        <p:nvSpPr>
          <p:cNvPr id="51" name="TextBox 50"/>
          <p:cNvSpPr txBox="1"/>
          <p:nvPr/>
        </p:nvSpPr>
        <p:spPr>
          <a:xfrm>
            <a:off x="3919371" y="4114800"/>
            <a:ext cx="861133" cy="369332"/>
          </a:xfrm>
          <a:prstGeom prst="rect">
            <a:avLst/>
          </a:prstGeom>
          <a:noFill/>
        </p:spPr>
        <p:txBody>
          <a:bodyPr wrap="none" rtlCol="0">
            <a:spAutoFit/>
          </a:bodyPr>
          <a:lstStyle/>
          <a:p>
            <a:r>
              <a:rPr lang="en-US">
                <a:latin typeface="Arial" pitchFamily="34" charset="0"/>
                <a:cs typeface="Arial" pitchFamily="34" charset="0"/>
              </a:rPr>
              <a:t>|D|=25</a:t>
            </a:r>
            <a:endParaRPr lang="en-US" baseline="-25000">
              <a:latin typeface="Arial" pitchFamily="34" charset="0"/>
              <a:cs typeface="Arial" pitchFamily="34" charset="0"/>
            </a:endParaRPr>
          </a:p>
        </p:txBody>
      </p:sp>
      <p:sp>
        <p:nvSpPr>
          <p:cNvPr id="52" name="TextBox 51"/>
          <p:cNvSpPr txBox="1"/>
          <p:nvPr/>
        </p:nvSpPr>
        <p:spPr>
          <a:xfrm>
            <a:off x="2514600" y="4126468"/>
            <a:ext cx="861133" cy="369332"/>
          </a:xfrm>
          <a:prstGeom prst="rect">
            <a:avLst/>
          </a:prstGeom>
          <a:noFill/>
        </p:spPr>
        <p:txBody>
          <a:bodyPr wrap="none" rtlCol="0">
            <a:spAutoFit/>
          </a:bodyPr>
          <a:lstStyle/>
          <a:p>
            <a:r>
              <a:rPr lang="en-US">
                <a:latin typeface="Arial" pitchFamily="34" charset="0"/>
                <a:cs typeface="Arial" pitchFamily="34" charset="0"/>
              </a:rPr>
              <a:t>|D|=20</a:t>
            </a:r>
            <a:endParaRPr lang="en-US" baseline="-25000">
              <a:latin typeface="Arial" pitchFamily="34" charset="0"/>
              <a:cs typeface="Arial" pitchFamily="34" charset="0"/>
            </a:endParaRPr>
          </a:p>
        </p:txBody>
      </p:sp>
      <p:sp>
        <p:nvSpPr>
          <p:cNvPr id="53" name="TextBox 52"/>
          <p:cNvSpPr txBox="1"/>
          <p:nvPr/>
        </p:nvSpPr>
        <p:spPr>
          <a:xfrm>
            <a:off x="6510171" y="4114800"/>
            <a:ext cx="861133" cy="369332"/>
          </a:xfrm>
          <a:prstGeom prst="rect">
            <a:avLst/>
          </a:prstGeom>
          <a:noFill/>
        </p:spPr>
        <p:txBody>
          <a:bodyPr wrap="none" rtlCol="0">
            <a:spAutoFit/>
          </a:bodyPr>
          <a:lstStyle/>
          <a:p>
            <a:r>
              <a:rPr lang="en-US">
                <a:latin typeface="Arial" pitchFamily="34" charset="0"/>
                <a:cs typeface="Arial" pitchFamily="34" charset="0"/>
              </a:rPr>
              <a:t>|D|=30</a:t>
            </a:r>
            <a:endParaRPr lang="en-US" baseline="-25000">
              <a:latin typeface="Arial" pitchFamily="34" charset="0"/>
              <a:cs typeface="Arial" pitchFamily="34" charset="0"/>
            </a:endParaRPr>
          </a:p>
        </p:txBody>
      </p:sp>
      <p:sp>
        <p:nvSpPr>
          <p:cNvPr id="54" name="TextBox 53"/>
          <p:cNvSpPr txBox="1"/>
          <p:nvPr/>
        </p:nvSpPr>
        <p:spPr>
          <a:xfrm>
            <a:off x="5029200" y="4126468"/>
            <a:ext cx="861133" cy="369332"/>
          </a:xfrm>
          <a:prstGeom prst="rect">
            <a:avLst/>
          </a:prstGeom>
          <a:noFill/>
        </p:spPr>
        <p:txBody>
          <a:bodyPr wrap="none" rtlCol="0">
            <a:spAutoFit/>
          </a:bodyPr>
          <a:lstStyle/>
          <a:p>
            <a:r>
              <a:rPr lang="en-US">
                <a:latin typeface="Arial" pitchFamily="34" charset="0"/>
                <a:cs typeface="Arial" pitchFamily="34" charset="0"/>
              </a:rPr>
              <a:t>|D|=15</a:t>
            </a:r>
            <a:endParaRPr lang="en-US" baseline="-25000">
              <a:latin typeface="Arial" pitchFamily="34" charset="0"/>
              <a:cs typeface="Arial" pitchFamily="34" charset="0"/>
            </a:endParaRPr>
          </a:p>
        </p:txBody>
      </p:sp>
      <p:cxnSp>
        <p:nvCxnSpPr>
          <p:cNvPr id="57" name="Straight Arrow Connector 56"/>
          <p:cNvCxnSpPr>
            <a:stCxn id="58" idx="1"/>
            <a:endCxn id="42" idx="3"/>
          </p:cNvCxnSpPr>
          <p:nvPr/>
        </p:nvCxnSpPr>
        <p:spPr>
          <a:xfrm flipH="1">
            <a:off x="5011704" y="2273588"/>
            <a:ext cx="627096" cy="284946"/>
          </a:xfrm>
          <a:prstGeom prst="straightConnector1">
            <a:avLst/>
          </a:prstGeom>
          <a:ln w="28575">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5638800" y="1981200"/>
            <a:ext cx="1941557" cy="584775"/>
          </a:xfrm>
          <a:prstGeom prst="rect">
            <a:avLst/>
          </a:prstGeom>
          <a:noFill/>
        </p:spPr>
        <p:txBody>
          <a:bodyPr wrap="none" rtlCol="0">
            <a:spAutoFit/>
          </a:bodyPr>
          <a:lstStyle/>
          <a:p>
            <a:r>
              <a:rPr lang="en-US" sz="1600">
                <a:solidFill>
                  <a:srgbClr val="008000"/>
                </a:solidFill>
                <a:latin typeface="Arial" pitchFamily="34" charset="0"/>
                <a:cs typeface="Arial" pitchFamily="34" charset="0"/>
              </a:rPr>
              <a:t># of examples </a:t>
            </a:r>
            <a:br>
              <a:rPr lang="en-US" sz="1600">
                <a:solidFill>
                  <a:srgbClr val="008000"/>
                </a:solidFill>
                <a:latin typeface="Arial" pitchFamily="34" charset="0"/>
                <a:cs typeface="Arial" pitchFamily="34" charset="0"/>
              </a:rPr>
            </a:br>
            <a:r>
              <a:rPr lang="en-US" sz="1600">
                <a:solidFill>
                  <a:srgbClr val="008000"/>
                </a:solidFill>
                <a:latin typeface="Arial" pitchFamily="34" charset="0"/>
                <a:cs typeface="Arial" pitchFamily="34" charset="0"/>
              </a:rPr>
              <a:t>traversing the edge</a:t>
            </a:r>
          </a:p>
        </p:txBody>
      </p:sp>
      <p:sp>
        <p:nvSpPr>
          <p:cNvPr id="2" name="Date Placeholder 1"/>
          <p:cNvSpPr>
            <a:spLocks noGrp="1"/>
          </p:cNvSpPr>
          <p:nvPr>
            <p:ph type="dt" sz="half" idx="10"/>
          </p:nvPr>
        </p:nvSpPr>
        <p:spPr/>
        <p:txBody>
          <a:bodyPr/>
          <a:lstStyle/>
          <a:p>
            <a:fld id="{2B86CE2D-6871-4F40-80AC-606C711715E5}" type="datetime1">
              <a:rPr lang="en-US" smtClean="0"/>
              <a:t>10/1/24</a:t>
            </a:fld>
            <a:endParaRPr lang="en-US"/>
          </a:p>
        </p:txBody>
      </p:sp>
      <p:sp>
        <p:nvSpPr>
          <p:cNvPr id="3" name="Footer Placeholder 2"/>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88230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21" grpId="0" animBg="1"/>
      <p:bldP spid="22" grpId="0" animBg="1"/>
      <p:bldP spid="23" grpId="0" animBg="1"/>
      <p:bldP spid="28" grpId="0" animBg="1"/>
      <p:bldP spid="29" grpId="0" animBg="1"/>
      <p:bldP spid="33" grpId="0" animBg="1"/>
      <p:bldP spid="34" grpId="0" animBg="1"/>
      <p:bldP spid="38" grpId="0" animBg="1"/>
      <p:bldP spid="39" grpId="0" animBg="1"/>
      <p:bldP spid="40" grpId="0" animBg="1"/>
      <p:bldP spid="41" grpId="0" animBg="1"/>
      <p:bldP spid="42" grpId="0"/>
      <p:bldP spid="43" grpId="0"/>
      <p:bldP spid="45" grpId="0"/>
      <p:bldP spid="46" grpId="0"/>
      <p:bldP spid="47" grpId="0"/>
      <p:bldP spid="48" grpId="0"/>
      <p:bldP spid="49" grpId="0"/>
      <p:bldP spid="50" grpId="0" animBg="1"/>
      <p:bldP spid="51" grpId="0"/>
      <p:bldP spid="52" grpId="0"/>
      <p:bldP spid="53" grpId="0"/>
      <p:bldP spid="54" grpId="0"/>
      <p:bldP spid="5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construct a tree?</a:t>
            </a:r>
          </a:p>
        </p:txBody>
      </p:sp>
      <p:sp>
        <p:nvSpPr>
          <p:cNvPr id="3" name="Content Placeholder 2"/>
          <p:cNvSpPr>
            <a:spLocks noGrp="1"/>
          </p:cNvSpPr>
          <p:nvPr>
            <p:ph idx="1"/>
          </p:nvPr>
        </p:nvSpPr>
        <p:spPr>
          <a:xfrm>
            <a:off x="457200" y="1295400"/>
            <a:ext cx="8229600" cy="5562600"/>
          </a:xfrm>
        </p:spPr>
        <p:txBody>
          <a:bodyPr>
            <a:normAutofit/>
          </a:bodyPr>
          <a:lstStyle/>
          <a:p>
            <a:r>
              <a:rPr lang="en-US"/>
              <a:t>Imagine we are currently</a:t>
            </a:r>
            <a:br>
              <a:rPr lang="en-US"/>
            </a:br>
            <a:r>
              <a:rPr lang="en-US"/>
              <a:t>at some node </a:t>
            </a:r>
            <a:r>
              <a:rPr lang="en-US" b="1" i="1"/>
              <a:t>G</a:t>
            </a:r>
          </a:p>
          <a:p>
            <a:pPr lvl="1"/>
            <a:r>
              <a:rPr lang="en-US"/>
              <a:t>Let </a:t>
            </a:r>
            <a:r>
              <a:rPr lang="en-US" b="1" i="1"/>
              <a:t>D</a:t>
            </a:r>
            <a:r>
              <a:rPr lang="en-US" b="1" i="1" baseline="-25000"/>
              <a:t>G</a:t>
            </a:r>
            <a:r>
              <a:rPr lang="en-US"/>
              <a:t> be the data that reaches </a:t>
            </a:r>
            <a:r>
              <a:rPr lang="en-US" b="1" i="1"/>
              <a:t>G</a:t>
            </a:r>
          </a:p>
          <a:p>
            <a:r>
              <a:rPr lang="en-US" b="1"/>
              <a:t>There is a decision we have</a:t>
            </a:r>
            <a:br>
              <a:rPr lang="en-US" b="1"/>
            </a:br>
            <a:r>
              <a:rPr lang="en-US" b="1"/>
              <a:t>to make: </a:t>
            </a:r>
            <a:r>
              <a:rPr lang="en-US" b="1">
                <a:solidFill>
                  <a:srgbClr val="D60093"/>
                </a:solidFill>
              </a:rPr>
              <a:t>Do we continue </a:t>
            </a:r>
            <a:br>
              <a:rPr lang="en-US" b="1">
                <a:solidFill>
                  <a:srgbClr val="D60093"/>
                </a:solidFill>
              </a:rPr>
            </a:br>
            <a:r>
              <a:rPr lang="en-US" b="1">
                <a:solidFill>
                  <a:srgbClr val="D60093"/>
                </a:solidFill>
              </a:rPr>
              <a:t>building the tree?</a:t>
            </a:r>
          </a:p>
          <a:p>
            <a:pPr lvl="1"/>
            <a:r>
              <a:rPr lang="en-US" b="1">
                <a:solidFill>
                  <a:srgbClr val="0000FF"/>
                </a:solidFill>
              </a:rPr>
              <a:t>If yes</a:t>
            </a:r>
            <a:r>
              <a:rPr lang="en-US"/>
              <a:t>, which variable and which value </a:t>
            </a:r>
            <a:br>
              <a:rPr lang="en-US"/>
            </a:br>
            <a:r>
              <a:rPr lang="en-US"/>
              <a:t>do we use for a </a:t>
            </a:r>
            <a:r>
              <a:rPr lang="en-US" b="1"/>
              <a:t>split</a:t>
            </a:r>
            <a:r>
              <a:rPr lang="en-US"/>
              <a:t>?</a:t>
            </a:r>
          </a:p>
          <a:p>
            <a:pPr lvl="2"/>
            <a:r>
              <a:rPr lang="en-US"/>
              <a:t>Continue building the tree recursively</a:t>
            </a:r>
          </a:p>
          <a:p>
            <a:pPr lvl="1"/>
            <a:r>
              <a:rPr lang="en-US" b="1">
                <a:solidFill>
                  <a:srgbClr val="0000FF"/>
                </a:solidFill>
              </a:rPr>
              <a:t>If not</a:t>
            </a:r>
            <a:r>
              <a:rPr lang="en-US"/>
              <a:t>, how do we make a prediction?</a:t>
            </a:r>
          </a:p>
          <a:p>
            <a:pPr lvl="2"/>
            <a:r>
              <a:rPr lang="en-US"/>
              <a:t>We need to build a </a:t>
            </a:r>
            <a:r>
              <a:rPr lang="en-US" b="1"/>
              <a:t>“predictor node”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14</a:t>
            </a:fld>
            <a:endParaRPr lang="en-US"/>
          </a:p>
        </p:txBody>
      </p:sp>
      <p:grpSp>
        <p:nvGrpSpPr>
          <p:cNvPr id="7" name="Group 6"/>
          <p:cNvGrpSpPr/>
          <p:nvPr/>
        </p:nvGrpSpPr>
        <p:grpSpPr>
          <a:xfrm>
            <a:off x="6477000" y="1219200"/>
            <a:ext cx="2438400" cy="2286000"/>
            <a:chOff x="2623971" y="2133600"/>
            <a:chExt cx="4572000" cy="4419600"/>
          </a:xfrm>
        </p:grpSpPr>
        <p:sp>
          <p:nvSpPr>
            <p:cNvPr id="8" name="Oval 7"/>
            <p:cNvSpPr/>
            <p:nvPr/>
          </p:nvSpPr>
          <p:spPr>
            <a:xfrm>
              <a:off x="3614571" y="2133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A</a:t>
              </a:r>
            </a:p>
          </p:txBody>
        </p:sp>
        <p:sp>
          <p:nvSpPr>
            <p:cNvPr id="9" name="Oval 8"/>
            <p:cNvSpPr/>
            <p:nvPr/>
          </p:nvSpPr>
          <p:spPr>
            <a:xfrm>
              <a:off x="27001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B</a:t>
              </a:r>
            </a:p>
          </p:txBody>
        </p:sp>
        <p:cxnSp>
          <p:nvCxnSpPr>
            <p:cNvPr id="10" name="Straight Arrow Connector 9"/>
            <p:cNvCxnSpPr>
              <a:stCxn id="8" idx="3"/>
              <a:endCxn id="9" idx="7"/>
            </p:cNvCxnSpPr>
            <p:nvPr/>
          </p:nvCxnSpPr>
          <p:spPr>
            <a:xfrm rot="5400000">
              <a:off x="31285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8" idx="5"/>
              <a:endCxn id="12" idx="1"/>
            </p:cNvCxnSpPr>
            <p:nvPr/>
          </p:nvCxnSpPr>
          <p:spPr>
            <a:xfrm rot="16200000" flipH="1">
              <a:off x="40429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2" name="Oval 11"/>
            <p:cNvSpPr/>
            <p:nvPr/>
          </p:nvSpPr>
          <p:spPr>
            <a:xfrm>
              <a:off x="45289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C</a:t>
              </a:r>
            </a:p>
          </p:txBody>
        </p:sp>
        <p:sp>
          <p:nvSpPr>
            <p:cNvPr id="13" name="Oval 12"/>
            <p:cNvSpPr/>
            <p:nvPr/>
          </p:nvSpPr>
          <p:spPr>
            <a:xfrm>
              <a:off x="33859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D</a:t>
              </a:r>
            </a:p>
          </p:txBody>
        </p:sp>
        <p:sp>
          <p:nvSpPr>
            <p:cNvPr id="14" name="Oval 13"/>
            <p:cNvSpPr/>
            <p:nvPr/>
          </p:nvSpPr>
          <p:spPr>
            <a:xfrm>
              <a:off x="59005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E</a:t>
              </a:r>
            </a:p>
          </p:txBody>
        </p:sp>
        <p:cxnSp>
          <p:nvCxnSpPr>
            <p:cNvPr id="15" name="Straight Arrow Connector 14"/>
            <p:cNvCxnSpPr>
              <a:stCxn id="12" idx="3"/>
              <a:endCxn id="13" idx="7"/>
            </p:cNvCxnSpPr>
            <p:nvPr/>
          </p:nvCxnSpPr>
          <p:spPr>
            <a:xfrm rot="5400000">
              <a:off x="3928616" y="32096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12" idx="5"/>
              <a:endCxn id="14" idx="1"/>
            </p:cNvCxnSpPr>
            <p:nvPr/>
          </p:nvCxnSpPr>
          <p:spPr>
            <a:xfrm rot="16200000" flipH="1">
              <a:off x="5185916" y="30953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7" name="Oval 16"/>
            <p:cNvSpPr/>
            <p:nvPr/>
          </p:nvSpPr>
          <p:spPr>
            <a:xfrm>
              <a:off x="27001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F</a:t>
              </a:r>
            </a:p>
          </p:txBody>
        </p:sp>
        <p:sp>
          <p:nvSpPr>
            <p:cNvPr id="18" name="Oval 17"/>
            <p:cNvSpPr/>
            <p:nvPr/>
          </p:nvSpPr>
          <p:spPr>
            <a:xfrm>
              <a:off x="4147971" y="4648200"/>
              <a:ext cx="457200" cy="457200"/>
            </a:xfrm>
            <a:prstGeom prst="ellipse">
              <a:avLst/>
            </a:prstGeom>
            <a:solidFill>
              <a:srgbClr val="FF0000"/>
            </a:solidFill>
            <a:ln w="19050">
              <a:solidFill>
                <a:srgbClr val="FF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1400" b="1">
                  <a:solidFill>
                    <a:schemeClr val="bg1"/>
                  </a:solidFill>
                  <a:latin typeface="Arial" pitchFamily="34" charset="0"/>
                  <a:cs typeface="Arial" pitchFamily="34" charset="0"/>
                </a:rPr>
                <a:t>G</a:t>
              </a:r>
            </a:p>
          </p:txBody>
        </p:sp>
        <p:cxnSp>
          <p:nvCxnSpPr>
            <p:cNvPr id="19" name="Straight Arrow Connector 18"/>
            <p:cNvCxnSpPr>
              <a:endCxn id="17" idx="7"/>
            </p:cNvCxnSpPr>
            <p:nvPr/>
          </p:nvCxnSpPr>
          <p:spPr>
            <a:xfrm rot="5400000">
              <a:off x="30142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a:endCxn id="18" idx="1"/>
            </p:cNvCxnSpPr>
            <p:nvPr/>
          </p:nvCxnSpPr>
          <p:spPr>
            <a:xfrm rot="16200000" flipH="1">
              <a:off x="37381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1" name="Oval 20"/>
            <p:cNvSpPr/>
            <p:nvPr/>
          </p:nvSpPr>
          <p:spPr>
            <a:xfrm>
              <a:off x="52147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H</a:t>
              </a:r>
            </a:p>
          </p:txBody>
        </p:sp>
        <p:sp>
          <p:nvSpPr>
            <p:cNvPr id="22" name="Oval 21"/>
            <p:cNvSpPr/>
            <p:nvPr/>
          </p:nvSpPr>
          <p:spPr>
            <a:xfrm>
              <a:off x="66625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sz="1400" b="1">
                  <a:latin typeface="Arial" pitchFamily="34" charset="0"/>
                  <a:cs typeface="Arial" pitchFamily="34" charset="0"/>
                </a:rPr>
                <a:t>I</a:t>
              </a:r>
            </a:p>
          </p:txBody>
        </p:sp>
        <p:cxnSp>
          <p:nvCxnSpPr>
            <p:cNvPr id="23" name="Straight Arrow Connector 22"/>
            <p:cNvCxnSpPr>
              <a:endCxn id="21" idx="7"/>
            </p:cNvCxnSpPr>
            <p:nvPr/>
          </p:nvCxnSpPr>
          <p:spPr>
            <a:xfrm rot="5400000">
              <a:off x="55288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p:cNvCxnSpPr>
              <a:endCxn id="22" idx="1"/>
            </p:cNvCxnSpPr>
            <p:nvPr/>
          </p:nvCxnSpPr>
          <p:spPr>
            <a:xfrm rot="16200000" flipH="1">
              <a:off x="62527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5" name="Isosceles Triangle 24"/>
            <p:cNvSpPr/>
            <p:nvPr/>
          </p:nvSpPr>
          <p:spPr>
            <a:xfrm>
              <a:off x="26239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latin typeface="Arial" pitchFamily="34" charset="0"/>
                <a:cs typeface="Arial" pitchFamily="34" charset="0"/>
              </a:endParaRPr>
            </a:p>
          </p:txBody>
        </p:sp>
        <p:sp>
          <p:nvSpPr>
            <p:cNvPr id="26" name="Isosceles Triangle 25"/>
            <p:cNvSpPr/>
            <p:nvPr/>
          </p:nvSpPr>
          <p:spPr>
            <a:xfrm>
              <a:off x="4071771" y="5105400"/>
              <a:ext cx="609600" cy="1447800"/>
            </a:xfrm>
            <a:prstGeom prst="triangl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latin typeface="Arial" pitchFamily="34" charset="0"/>
                <a:cs typeface="Arial" pitchFamily="34" charset="0"/>
              </a:endParaRPr>
            </a:p>
          </p:txBody>
        </p:sp>
        <p:sp>
          <p:nvSpPr>
            <p:cNvPr id="27" name="Isosceles Triangle 26"/>
            <p:cNvSpPr/>
            <p:nvPr/>
          </p:nvSpPr>
          <p:spPr>
            <a:xfrm>
              <a:off x="51385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latin typeface="Arial" pitchFamily="34" charset="0"/>
                <a:cs typeface="Arial" pitchFamily="34" charset="0"/>
              </a:endParaRPr>
            </a:p>
          </p:txBody>
        </p:sp>
        <p:sp>
          <p:nvSpPr>
            <p:cNvPr id="28" name="Isosceles Triangle 27"/>
            <p:cNvSpPr/>
            <p:nvPr/>
          </p:nvSpPr>
          <p:spPr>
            <a:xfrm>
              <a:off x="6586371" y="5105400"/>
              <a:ext cx="609600" cy="1447800"/>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latin typeface="Arial" pitchFamily="34" charset="0"/>
                <a:cs typeface="Arial" pitchFamily="34" charset="0"/>
              </a:endParaRPr>
            </a:p>
          </p:txBody>
        </p:sp>
        <p:sp>
          <p:nvSpPr>
            <p:cNvPr id="29" name="Hexagon 28"/>
            <p:cNvSpPr/>
            <p:nvPr/>
          </p:nvSpPr>
          <p:spPr>
            <a:xfrm>
              <a:off x="2646005" y="2971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endParaRPr lang="en-US" sz="1200" b="1">
                <a:latin typeface="Arial" pitchFamily="34" charset="0"/>
                <a:cs typeface="Arial" pitchFamily="34" charset="0"/>
              </a:endParaRPr>
            </a:p>
          </p:txBody>
        </p:sp>
      </p:grpSp>
      <p:sp>
        <p:nvSpPr>
          <p:cNvPr id="4" name="Date Placeholder 3"/>
          <p:cNvSpPr>
            <a:spLocks noGrp="1"/>
          </p:cNvSpPr>
          <p:nvPr>
            <p:ph type="dt" sz="half" idx="10"/>
          </p:nvPr>
        </p:nvSpPr>
        <p:spPr/>
        <p:txBody>
          <a:bodyPr/>
          <a:lstStyle/>
          <a:p>
            <a:fld id="{68E714EF-A3EC-BC42-8162-F5CB3A172E07}"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360056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763000" cy="987552"/>
          </a:xfrm>
        </p:spPr>
        <p:txBody>
          <a:bodyPr>
            <a:normAutofit/>
          </a:bodyPr>
          <a:lstStyle/>
          <a:p>
            <a:r>
              <a:rPr lang="en-US"/>
              <a:t>3 steps in constructing a tree</a:t>
            </a:r>
          </a:p>
        </p:txBody>
      </p:sp>
      <p:sp>
        <p:nvSpPr>
          <p:cNvPr id="3" name="Content Placeholder 2"/>
          <p:cNvSpPr>
            <a:spLocks noGrp="1"/>
          </p:cNvSpPr>
          <p:nvPr>
            <p:ph idx="1"/>
          </p:nvPr>
        </p:nvSpPr>
        <p:spPr>
          <a:xfrm>
            <a:off x="457200" y="6096000"/>
            <a:ext cx="8305800" cy="533400"/>
          </a:xfrm>
        </p:spPr>
        <p:txBody>
          <a:bodyPr>
            <a:normAutofit fontScale="92500" lnSpcReduction="20000"/>
          </a:bodyPr>
          <a:lstStyle/>
          <a:p>
            <a:r>
              <a:rPr lang="en-US" b="1">
                <a:solidFill>
                  <a:srgbClr val="FFFF00"/>
                </a:solidFill>
              </a:rPr>
              <a:t>Requires at least a single pass over the data!</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15</a:t>
            </a:fld>
            <a:endParaRPr lang="en-US"/>
          </a:p>
        </p:txBody>
      </p:sp>
      <p:pic>
        <p:nvPicPr>
          <p:cNvPr id="7" name="Picture 2"/>
          <p:cNvPicPr>
            <a:picLocks noChangeAspect="1" noChangeArrowheads="1"/>
          </p:cNvPicPr>
          <p:nvPr/>
        </p:nvPicPr>
        <p:blipFill>
          <a:blip r:embed="rId3" cstate="print"/>
          <a:srcRect/>
          <a:stretch>
            <a:fillRect/>
          </a:stretch>
        </p:blipFill>
        <p:spPr bwMode="auto">
          <a:xfrm>
            <a:off x="914400" y="1219200"/>
            <a:ext cx="7665987" cy="4876800"/>
          </a:xfrm>
          <a:prstGeom prst="rect">
            <a:avLst/>
          </a:prstGeom>
          <a:noFill/>
          <a:ln w="9525">
            <a:noFill/>
            <a:miter lim="800000"/>
            <a:headEnd/>
            <a:tailEnd/>
          </a:ln>
        </p:spPr>
      </p:pic>
      <p:sp>
        <p:nvSpPr>
          <p:cNvPr id="10" name="Rectangle 9"/>
          <p:cNvSpPr/>
          <p:nvPr/>
        </p:nvSpPr>
        <p:spPr>
          <a:xfrm>
            <a:off x="4648200" y="2228088"/>
            <a:ext cx="2819400" cy="404576"/>
          </a:xfrm>
          <a:prstGeom prst="rect">
            <a:avLst/>
          </a:prstGeom>
          <a:noFill/>
          <a:ln cmpd="sng">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970844" y="2656820"/>
            <a:ext cx="3454706" cy="402144"/>
          </a:xfrm>
          <a:prstGeom prst="rect">
            <a:avLst/>
          </a:prstGeom>
          <a:noFill/>
          <a:ln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05514" y="3058856"/>
            <a:ext cx="3178366" cy="414548"/>
          </a:xfrm>
          <a:prstGeom prst="rect">
            <a:avLst/>
          </a:prstGeom>
          <a:noFill/>
          <a:ln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058912" y="2113084"/>
            <a:ext cx="625492" cy="523220"/>
          </a:xfrm>
          <a:prstGeom prst="rect">
            <a:avLst/>
          </a:prstGeom>
          <a:noFill/>
        </p:spPr>
        <p:txBody>
          <a:bodyPr wrap="none" rtlCol="0">
            <a:spAutoFit/>
          </a:bodyPr>
          <a:lstStyle/>
          <a:p>
            <a:r>
              <a:rPr lang="en-US" sz="2800" b="1">
                <a:solidFill>
                  <a:srgbClr val="D60093"/>
                </a:solidFill>
                <a:latin typeface="Arial" pitchFamily="34" charset="0"/>
                <a:cs typeface="Arial" pitchFamily="34" charset="0"/>
              </a:rPr>
              <a:t>(1)</a:t>
            </a:r>
          </a:p>
        </p:txBody>
      </p:sp>
      <p:sp>
        <p:nvSpPr>
          <p:cNvPr id="15" name="TextBox 14"/>
          <p:cNvSpPr txBox="1"/>
          <p:nvPr/>
        </p:nvSpPr>
        <p:spPr>
          <a:xfrm>
            <a:off x="8058912" y="2535744"/>
            <a:ext cx="625492" cy="523220"/>
          </a:xfrm>
          <a:prstGeom prst="rect">
            <a:avLst/>
          </a:prstGeom>
          <a:noFill/>
        </p:spPr>
        <p:txBody>
          <a:bodyPr wrap="none" rtlCol="0">
            <a:spAutoFit/>
          </a:bodyPr>
          <a:lstStyle/>
          <a:p>
            <a:r>
              <a:rPr lang="en-US" sz="2800" b="1">
                <a:solidFill>
                  <a:srgbClr val="D60093"/>
                </a:solidFill>
                <a:latin typeface="Arial" pitchFamily="34" charset="0"/>
                <a:cs typeface="Arial" pitchFamily="34" charset="0"/>
              </a:rPr>
              <a:t>(2)</a:t>
            </a:r>
          </a:p>
        </p:txBody>
      </p:sp>
      <p:sp>
        <p:nvSpPr>
          <p:cNvPr id="16" name="TextBox 15"/>
          <p:cNvSpPr txBox="1"/>
          <p:nvPr/>
        </p:nvSpPr>
        <p:spPr>
          <a:xfrm>
            <a:off x="8058912" y="2992956"/>
            <a:ext cx="625492" cy="523220"/>
          </a:xfrm>
          <a:prstGeom prst="rect">
            <a:avLst/>
          </a:prstGeom>
          <a:noFill/>
        </p:spPr>
        <p:txBody>
          <a:bodyPr wrap="none" rtlCol="0">
            <a:spAutoFit/>
          </a:bodyPr>
          <a:lstStyle/>
          <a:p>
            <a:r>
              <a:rPr lang="en-US" sz="2800" b="1">
                <a:solidFill>
                  <a:srgbClr val="D60093"/>
                </a:solidFill>
                <a:latin typeface="Arial" pitchFamily="34" charset="0"/>
                <a:cs typeface="Arial" pitchFamily="34" charset="0"/>
              </a:rPr>
              <a:t>(3)</a:t>
            </a:r>
          </a:p>
        </p:txBody>
      </p:sp>
      <p:sp>
        <p:nvSpPr>
          <p:cNvPr id="17" name="TextBox 16"/>
          <p:cNvSpPr txBox="1"/>
          <p:nvPr/>
        </p:nvSpPr>
        <p:spPr>
          <a:xfrm>
            <a:off x="3288062" y="1348024"/>
            <a:ext cx="3333391" cy="430887"/>
          </a:xfrm>
          <a:prstGeom prst="rect">
            <a:avLst/>
          </a:prstGeom>
          <a:solidFill>
            <a:schemeClr val="bg1"/>
          </a:solidFill>
          <a:ln w="38100">
            <a:solidFill>
              <a:schemeClr val="accent5"/>
            </a:solidFill>
          </a:ln>
        </p:spPr>
        <p:txBody>
          <a:bodyPr wrap="square" tIns="0" bIns="0" rtlCol="0">
            <a:spAutoFit/>
          </a:bodyPr>
          <a:lstStyle/>
          <a:p>
            <a:r>
              <a:rPr lang="en-US" sz="2800" b="1" err="1">
                <a:latin typeface="Times New Roman" pitchFamily="18" charset="0"/>
                <a:cs typeface="Times New Roman" pitchFamily="18" charset="0"/>
              </a:rPr>
              <a:t>BuildSubtree</a:t>
            </a:r>
            <a:endParaRPr lang="en-US" sz="2800" b="1">
              <a:latin typeface="Times New Roman" pitchFamily="18" charset="0"/>
              <a:cs typeface="Times New Roman" pitchFamily="18" charset="0"/>
            </a:endParaRPr>
          </a:p>
        </p:txBody>
      </p:sp>
      <p:sp>
        <p:nvSpPr>
          <p:cNvPr id="22" name="TextBox 21"/>
          <p:cNvSpPr txBox="1"/>
          <p:nvPr/>
        </p:nvSpPr>
        <p:spPr>
          <a:xfrm>
            <a:off x="1905000" y="3854780"/>
            <a:ext cx="3309491" cy="400110"/>
          </a:xfrm>
          <a:prstGeom prst="rect">
            <a:avLst/>
          </a:prstGeom>
          <a:solidFill>
            <a:schemeClr val="bg1"/>
          </a:solidFill>
          <a:ln w="38100">
            <a:noFill/>
          </a:ln>
        </p:spPr>
        <p:txBody>
          <a:bodyPr wrap="square" tIns="0" bIns="0" rtlCol="0">
            <a:spAutoFit/>
          </a:bodyPr>
          <a:lstStyle/>
          <a:p>
            <a:pPr algn="r"/>
            <a:r>
              <a:rPr lang="en-US" sz="2600" b="1" err="1">
                <a:latin typeface="Times New Roman" pitchFamily="18" charset="0"/>
                <a:cs typeface="Times New Roman" pitchFamily="18" charset="0"/>
              </a:rPr>
              <a:t>BuildSubtree</a:t>
            </a:r>
            <a:endParaRPr lang="en-US" sz="2600" b="1">
              <a:latin typeface="Times New Roman" pitchFamily="18" charset="0"/>
              <a:cs typeface="Times New Roman" pitchFamily="18" charset="0"/>
            </a:endParaRPr>
          </a:p>
        </p:txBody>
      </p:sp>
      <p:sp>
        <p:nvSpPr>
          <p:cNvPr id="23" name="TextBox 22"/>
          <p:cNvSpPr txBox="1"/>
          <p:nvPr/>
        </p:nvSpPr>
        <p:spPr>
          <a:xfrm>
            <a:off x="1918156" y="5448180"/>
            <a:ext cx="3305042" cy="400110"/>
          </a:xfrm>
          <a:prstGeom prst="rect">
            <a:avLst/>
          </a:prstGeom>
          <a:solidFill>
            <a:schemeClr val="bg1"/>
          </a:solidFill>
          <a:ln w="38100">
            <a:noFill/>
          </a:ln>
        </p:spPr>
        <p:txBody>
          <a:bodyPr wrap="square" tIns="0" bIns="0" rtlCol="0">
            <a:spAutoFit/>
          </a:bodyPr>
          <a:lstStyle/>
          <a:p>
            <a:pPr algn="r"/>
            <a:r>
              <a:rPr lang="en-US" sz="2600" b="1" err="1">
                <a:latin typeface="Times New Roman" pitchFamily="18" charset="0"/>
                <a:cs typeface="Times New Roman" pitchFamily="18" charset="0"/>
              </a:rPr>
              <a:t>BuildSubtree</a:t>
            </a:r>
            <a:endParaRPr lang="en-US" sz="2600" b="1">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FE08BE3-5220-904A-9E81-655B3A79F104}"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75323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8" grpId="0"/>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How to construct a tree?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686800" cy="5562600"/>
              </a:xfrm>
            </p:spPr>
            <p:txBody>
              <a:bodyPr>
                <a:normAutofit/>
              </a:bodyPr>
              <a:lstStyle/>
              <a:p>
                <a:pPr marL="118872" indent="0">
                  <a:buNone/>
                </a:pPr>
                <a:r>
                  <a:rPr lang="en-US" b="1" dirty="0">
                    <a:solidFill>
                      <a:srgbClr val="0000FF"/>
                    </a:solidFill>
                  </a:rPr>
                  <a:t>(1) How to split? </a:t>
                </a:r>
                <a:r>
                  <a:rPr lang="en-US" b="1" dirty="0"/>
                  <a:t>Pick </a:t>
                </a:r>
                <a:br>
                  <a:rPr lang="en-US" b="1" dirty="0"/>
                </a:br>
                <a:r>
                  <a:rPr lang="en-US" b="1" dirty="0"/>
                  <a:t>attribute &amp; value</a:t>
                </a:r>
                <a:r>
                  <a:rPr lang="en-US" dirty="0"/>
                  <a:t> </a:t>
                </a:r>
                <a:r>
                  <a:rPr lang="en-US" b="1" dirty="0"/>
                  <a:t>that </a:t>
                </a:r>
                <a:br>
                  <a:rPr lang="en-US" b="1" dirty="0"/>
                </a:br>
                <a:r>
                  <a:rPr lang="en-US" b="1" dirty="0"/>
                  <a:t>optimizes some criterion</a:t>
                </a:r>
              </a:p>
              <a:p>
                <a:r>
                  <a:rPr lang="en-US" b="1" u="sng" dirty="0">
                    <a:solidFill>
                      <a:srgbClr val="0000FF"/>
                    </a:solidFill>
                  </a:rPr>
                  <a:t>Regression:</a:t>
                </a:r>
                <a:r>
                  <a:rPr lang="en-US" b="1" dirty="0">
                    <a:solidFill>
                      <a:srgbClr val="D60093"/>
                    </a:solidFill>
                  </a:rPr>
                  <a:t> </a:t>
                </a:r>
                <a:r>
                  <a:rPr lang="en-US" b="1" dirty="0">
                    <a:solidFill>
                      <a:srgbClr val="FF0066"/>
                    </a:solidFill>
                  </a:rPr>
                  <a:t>Purity</a:t>
                </a:r>
                <a:endParaRPr lang="en-US" b="1" u="sng" dirty="0">
                  <a:solidFill>
                    <a:srgbClr val="FF0066"/>
                  </a:solidFill>
                </a:endParaRPr>
              </a:p>
              <a:p>
                <a:pPr lvl="1"/>
                <a:r>
                  <a:rPr lang="en-US" b="1" dirty="0">
                    <a:solidFill>
                      <a:srgbClr val="D60093"/>
                    </a:solidFill>
                  </a:rPr>
                  <a:t>Find split </a:t>
                </a:r>
                <a14:m>
                  <m:oMath xmlns:m="http://schemas.openxmlformats.org/officeDocument/2006/math">
                    <m:r>
                      <a:rPr lang="en-US" b="1" i="1" dirty="0" smtClean="0">
                        <a:solidFill>
                          <a:srgbClr val="D60093"/>
                        </a:solidFill>
                        <a:latin typeface="Cambria Math" panose="02040503050406030204" pitchFamily="18" charset="0"/>
                      </a:rPr>
                      <m:t>(</m:t>
                    </m:r>
                    <m:r>
                      <a:rPr lang="en-US" b="1" i="1" dirty="0" smtClean="0">
                        <a:solidFill>
                          <a:srgbClr val="D60093"/>
                        </a:solidFill>
                        <a:latin typeface="Cambria Math" panose="02040503050406030204" pitchFamily="18" charset="0"/>
                      </a:rPr>
                      <m:t>𝑿</m:t>
                    </m:r>
                    <m:r>
                      <m:rPr>
                        <m:nor/>
                      </m:rPr>
                      <a:rPr lang="en-US" b="1" baseline="30000" dirty="0">
                        <a:solidFill>
                          <a:srgbClr val="D60093"/>
                        </a:solidFill>
                      </a:rPr>
                      <m:t>(</m:t>
                    </m:r>
                    <m:r>
                      <a:rPr lang="en-US" b="1" i="1" baseline="30000" dirty="0" err="1">
                        <a:solidFill>
                          <a:srgbClr val="D60093"/>
                        </a:solidFill>
                        <a:latin typeface="Cambria Math" panose="02040503050406030204" pitchFamily="18" charset="0"/>
                      </a:rPr>
                      <m:t>𝒊</m:t>
                    </m:r>
                    <m:r>
                      <m:rPr>
                        <m:nor/>
                      </m:rPr>
                      <a:rPr lang="en-US" b="1" i="0" baseline="30000" dirty="0" smtClean="0">
                        <a:solidFill>
                          <a:srgbClr val="D60093"/>
                        </a:solidFill>
                      </a:rPr>
                      <m:t>)</m:t>
                    </m:r>
                    <m:r>
                      <a:rPr lang="en-US" b="1" i="1" dirty="0">
                        <a:solidFill>
                          <a:srgbClr val="D60093"/>
                        </a:solidFill>
                        <a:latin typeface="Cambria Math" panose="02040503050406030204" pitchFamily="18" charset="0"/>
                      </a:rPr>
                      <m:t>, </m:t>
                    </m:r>
                    <m:r>
                      <a:rPr lang="en-US" b="1" i="1" dirty="0">
                        <a:solidFill>
                          <a:srgbClr val="D60093"/>
                        </a:solidFill>
                        <a:latin typeface="Cambria Math" panose="02040503050406030204" pitchFamily="18" charset="0"/>
                      </a:rPr>
                      <m:t>𝒗</m:t>
                    </m:r>
                    <m:r>
                      <a:rPr lang="en-US" b="1" i="1" dirty="0">
                        <a:solidFill>
                          <a:srgbClr val="D60093"/>
                        </a:solidFill>
                        <a:latin typeface="Cambria Math" panose="02040503050406030204" pitchFamily="18" charset="0"/>
                      </a:rPr>
                      <m:t>) </m:t>
                    </m:r>
                  </m:oMath>
                </a14:m>
                <a:r>
                  <a:rPr lang="en-US" dirty="0"/>
                  <a:t>that </a:t>
                </a:r>
                <a:br>
                  <a:rPr lang="en-US" dirty="0"/>
                </a:br>
                <a:r>
                  <a:rPr lang="en-US" dirty="0"/>
                  <a:t>creates </a:t>
                </a:r>
                <a14:m>
                  <m:oMath xmlns:m="http://schemas.openxmlformats.org/officeDocument/2006/math">
                    <m:r>
                      <a:rPr lang="en-US" b="1" i="1" dirty="0" smtClean="0">
                        <a:latin typeface="Cambria Math" panose="02040503050406030204" pitchFamily="18" charset="0"/>
                      </a:rPr>
                      <m:t>𝑫</m:t>
                    </m:r>
                    <m:r>
                      <a:rPr lang="en-US" b="1" i="1" dirty="0" smtClean="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𝑫</m:t>
                        </m:r>
                      </m:e>
                      <m:sub>
                        <m:r>
                          <a:rPr lang="en-US" b="1" i="1" dirty="0" smtClean="0">
                            <a:latin typeface="Cambria Math" panose="02040503050406030204" pitchFamily="18" charset="0"/>
                          </a:rPr>
                          <m:t>𝑳</m:t>
                        </m:r>
                      </m:sub>
                    </m:sSub>
                    <m:r>
                      <a:rPr lang="en-US" b="1" i="1" dirty="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a:latin typeface="Cambria Math" panose="02040503050406030204" pitchFamily="18" charset="0"/>
                          </a:rPr>
                          <m:t>𝑫</m:t>
                        </m:r>
                      </m:e>
                      <m:sub>
                        <m:r>
                          <a:rPr lang="en-US" b="1" i="1" dirty="0">
                            <a:latin typeface="Cambria Math" panose="02040503050406030204" pitchFamily="18" charset="0"/>
                          </a:rPr>
                          <m:t>𝑹</m:t>
                        </m:r>
                      </m:sub>
                    </m:sSub>
                  </m:oMath>
                </a14:m>
                <a:r>
                  <a:rPr lang="en-US" dirty="0"/>
                  <a:t>: parent, </a:t>
                </a:r>
                <a:br>
                  <a:rPr lang="en-US" dirty="0"/>
                </a:br>
                <a:r>
                  <a:rPr lang="en-US" dirty="0"/>
                  <a:t>left, right child datasets </a:t>
                </a:r>
                <a:br>
                  <a:rPr lang="en-US" dirty="0"/>
                </a:br>
                <a:r>
                  <a:rPr lang="en-US" dirty="0"/>
                  <a:t>and </a:t>
                </a:r>
                <a:r>
                  <a:rPr lang="en-US" b="1" dirty="0"/>
                  <a:t>maximizes</a:t>
                </a:r>
                <a:r>
                  <a:rPr lang="en-US" dirty="0"/>
                  <a:t>: </a:t>
                </a:r>
                <a:br>
                  <a:rPr lang="en-US" b="0" i="1" dirty="0">
                    <a:latin typeface="Cambria Math"/>
                  </a:rPr>
                </a:br>
                <a14:m>
                  <m:oMath xmlns:m="http://schemas.openxmlformats.org/officeDocument/2006/math">
                    <m:d>
                      <m:dPr>
                        <m:begChr m:val="|"/>
                        <m:endChr m:val="|"/>
                        <m:ctrlPr>
                          <a:rPr lang="en-US" b="1" i="1" smtClean="0">
                            <a:solidFill>
                              <a:srgbClr val="008000"/>
                            </a:solidFill>
                            <a:latin typeface="Cambria Math" panose="02040503050406030204" pitchFamily="18" charset="0"/>
                          </a:rPr>
                        </m:ctrlPr>
                      </m:dPr>
                      <m:e>
                        <m:r>
                          <a:rPr lang="en-US" b="1" i="1" smtClean="0">
                            <a:solidFill>
                              <a:srgbClr val="008000"/>
                            </a:solidFill>
                            <a:latin typeface="Cambria Math"/>
                          </a:rPr>
                          <m:t>𝑫</m:t>
                        </m:r>
                      </m:e>
                    </m:d>
                    <m:r>
                      <a:rPr lang="en-US" b="1" i="1" smtClean="0">
                        <a:solidFill>
                          <a:srgbClr val="008000"/>
                        </a:solidFill>
                        <a:latin typeface="Cambria Math"/>
                      </a:rPr>
                      <m:t>⋅</m:t>
                    </m:r>
                    <m:r>
                      <a:rPr lang="en-US" b="1" i="1" smtClean="0">
                        <a:solidFill>
                          <a:srgbClr val="008000"/>
                        </a:solidFill>
                        <a:latin typeface="Cambria Math"/>
                      </a:rPr>
                      <m:t>𝑽𝒂𝒓</m:t>
                    </m:r>
                    <m:d>
                      <m:dPr>
                        <m:ctrlPr>
                          <a:rPr lang="en-US" b="1" i="1" smtClean="0">
                            <a:solidFill>
                              <a:srgbClr val="008000"/>
                            </a:solidFill>
                            <a:latin typeface="Cambria Math" panose="02040503050406030204" pitchFamily="18" charset="0"/>
                          </a:rPr>
                        </m:ctrlPr>
                      </m:dPr>
                      <m:e>
                        <m:r>
                          <a:rPr lang="en-US" b="1" i="1" smtClean="0">
                            <a:solidFill>
                              <a:srgbClr val="008000"/>
                            </a:solidFill>
                            <a:latin typeface="Cambria Math"/>
                          </a:rPr>
                          <m:t>𝑫</m:t>
                        </m:r>
                      </m:e>
                    </m:d>
                    <m:r>
                      <a:rPr lang="en-US" b="1" i="1" smtClean="0">
                        <a:solidFill>
                          <a:srgbClr val="008000"/>
                        </a:solidFill>
                        <a:latin typeface="Cambria Math"/>
                      </a:rPr>
                      <m:t>−</m:t>
                    </m:r>
                    <m:d>
                      <m:dPr>
                        <m:ctrlPr>
                          <a:rPr lang="en-US" b="1" i="1" smtClean="0">
                            <a:solidFill>
                              <a:srgbClr val="008000"/>
                            </a:solidFill>
                            <a:latin typeface="Cambria Math" panose="02040503050406030204" pitchFamily="18" charset="0"/>
                          </a:rPr>
                        </m:ctrlPr>
                      </m:dPr>
                      <m:e>
                        <m:d>
                          <m:dPr>
                            <m:begChr m:val="|"/>
                            <m:endChr m:val="|"/>
                            <m:ctrlPr>
                              <a:rPr lang="en-US" b="1" i="1" smtClean="0">
                                <a:solidFill>
                                  <a:srgbClr val="008000"/>
                                </a:solidFill>
                                <a:highlight>
                                  <a:srgbClr val="FFFF00"/>
                                </a:highlight>
                                <a:latin typeface="Cambria Math" panose="02040503050406030204" pitchFamily="18" charset="0"/>
                              </a:rPr>
                            </m:ctrlPr>
                          </m:dPr>
                          <m:e>
                            <m:sSub>
                              <m:sSubPr>
                                <m:ctrlPr>
                                  <a:rPr lang="en-US" b="1" i="1" smtClean="0">
                                    <a:solidFill>
                                      <a:srgbClr val="008000"/>
                                    </a:solidFill>
                                    <a:highlight>
                                      <a:srgbClr val="FFFF00"/>
                                    </a:highlight>
                                    <a:latin typeface="Cambria Math" panose="02040503050406030204" pitchFamily="18" charset="0"/>
                                  </a:rPr>
                                </m:ctrlPr>
                              </m:sSubPr>
                              <m:e>
                                <m:r>
                                  <a:rPr lang="en-US" b="1" i="1" smtClean="0">
                                    <a:solidFill>
                                      <a:srgbClr val="008000"/>
                                    </a:solidFill>
                                    <a:highlight>
                                      <a:srgbClr val="FFFF00"/>
                                    </a:highlight>
                                    <a:latin typeface="Cambria Math"/>
                                  </a:rPr>
                                  <m:t>𝑫</m:t>
                                </m:r>
                              </m:e>
                              <m:sub>
                                <m:r>
                                  <a:rPr lang="en-US" b="1" i="1" smtClean="0">
                                    <a:solidFill>
                                      <a:srgbClr val="008000"/>
                                    </a:solidFill>
                                    <a:highlight>
                                      <a:srgbClr val="FFFF00"/>
                                    </a:highlight>
                                    <a:latin typeface="Cambria Math"/>
                                  </a:rPr>
                                  <m:t>𝑳</m:t>
                                </m:r>
                              </m:sub>
                            </m:sSub>
                          </m:e>
                        </m:d>
                        <m:r>
                          <a:rPr lang="en-US" b="1" i="1" smtClean="0">
                            <a:solidFill>
                              <a:srgbClr val="008000"/>
                            </a:solidFill>
                            <a:highlight>
                              <a:srgbClr val="FFFF00"/>
                            </a:highlight>
                            <a:latin typeface="Cambria Math"/>
                          </a:rPr>
                          <m:t>⋅</m:t>
                        </m:r>
                        <m:r>
                          <a:rPr lang="en-US" b="1" i="1" smtClean="0">
                            <a:solidFill>
                              <a:srgbClr val="008000"/>
                            </a:solidFill>
                            <a:highlight>
                              <a:srgbClr val="FFFF00"/>
                            </a:highlight>
                            <a:latin typeface="Cambria Math"/>
                          </a:rPr>
                          <m:t>𝑽𝒂𝒓</m:t>
                        </m:r>
                        <m:d>
                          <m:dPr>
                            <m:ctrlPr>
                              <a:rPr lang="en-US" b="1" i="1" smtClean="0">
                                <a:solidFill>
                                  <a:srgbClr val="008000"/>
                                </a:solidFill>
                                <a:highlight>
                                  <a:srgbClr val="FFFF00"/>
                                </a:highlight>
                                <a:latin typeface="Cambria Math" panose="02040503050406030204" pitchFamily="18" charset="0"/>
                              </a:rPr>
                            </m:ctrlPr>
                          </m:dPr>
                          <m:e>
                            <m:sSub>
                              <m:sSubPr>
                                <m:ctrlPr>
                                  <a:rPr lang="en-US" b="1" i="1" smtClean="0">
                                    <a:solidFill>
                                      <a:srgbClr val="008000"/>
                                    </a:solidFill>
                                    <a:highlight>
                                      <a:srgbClr val="FFFF00"/>
                                    </a:highlight>
                                    <a:latin typeface="Cambria Math" panose="02040503050406030204" pitchFamily="18" charset="0"/>
                                  </a:rPr>
                                </m:ctrlPr>
                              </m:sSubPr>
                              <m:e>
                                <m:r>
                                  <a:rPr lang="en-US" b="1" i="1" smtClean="0">
                                    <a:solidFill>
                                      <a:srgbClr val="008000"/>
                                    </a:solidFill>
                                    <a:highlight>
                                      <a:srgbClr val="FFFF00"/>
                                    </a:highlight>
                                    <a:latin typeface="Cambria Math"/>
                                  </a:rPr>
                                  <m:t>𝑫</m:t>
                                </m:r>
                              </m:e>
                              <m:sub>
                                <m:r>
                                  <a:rPr lang="en-US" b="1" i="1" smtClean="0">
                                    <a:solidFill>
                                      <a:srgbClr val="008000"/>
                                    </a:solidFill>
                                    <a:highlight>
                                      <a:srgbClr val="FFFF00"/>
                                    </a:highlight>
                                    <a:latin typeface="Cambria Math"/>
                                  </a:rPr>
                                  <m:t>𝑳</m:t>
                                </m:r>
                              </m:sub>
                            </m:sSub>
                          </m:e>
                        </m:d>
                        <m:r>
                          <a:rPr lang="en-US" b="1" i="1" smtClean="0">
                            <a:solidFill>
                              <a:srgbClr val="008000"/>
                            </a:solidFill>
                            <a:highlight>
                              <a:srgbClr val="FFFF00"/>
                            </a:highlight>
                            <a:latin typeface="Cambria Math"/>
                          </a:rPr>
                          <m:t>+</m:t>
                        </m:r>
                        <m:d>
                          <m:dPr>
                            <m:begChr m:val="|"/>
                            <m:endChr m:val="|"/>
                            <m:ctrlPr>
                              <a:rPr lang="en-US" b="1" i="1" smtClean="0">
                                <a:solidFill>
                                  <a:srgbClr val="008000"/>
                                </a:solidFill>
                                <a:highlight>
                                  <a:srgbClr val="FFFF00"/>
                                </a:highlight>
                                <a:latin typeface="Cambria Math" panose="02040503050406030204" pitchFamily="18" charset="0"/>
                              </a:rPr>
                            </m:ctrlPr>
                          </m:dPr>
                          <m:e>
                            <m:sSub>
                              <m:sSubPr>
                                <m:ctrlPr>
                                  <a:rPr lang="en-US" b="1" i="1" smtClean="0">
                                    <a:solidFill>
                                      <a:srgbClr val="008000"/>
                                    </a:solidFill>
                                    <a:highlight>
                                      <a:srgbClr val="FFFF00"/>
                                    </a:highlight>
                                    <a:latin typeface="Cambria Math" panose="02040503050406030204" pitchFamily="18" charset="0"/>
                                  </a:rPr>
                                </m:ctrlPr>
                              </m:sSubPr>
                              <m:e>
                                <m:r>
                                  <a:rPr lang="en-US" b="1" i="1" smtClean="0">
                                    <a:solidFill>
                                      <a:srgbClr val="008000"/>
                                    </a:solidFill>
                                    <a:highlight>
                                      <a:srgbClr val="FFFF00"/>
                                    </a:highlight>
                                    <a:latin typeface="Cambria Math"/>
                                  </a:rPr>
                                  <m:t>𝑫</m:t>
                                </m:r>
                              </m:e>
                              <m:sub>
                                <m:r>
                                  <a:rPr lang="en-US" b="1" i="1" smtClean="0">
                                    <a:solidFill>
                                      <a:srgbClr val="008000"/>
                                    </a:solidFill>
                                    <a:highlight>
                                      <a:srgbClr val="FFFF00"/>
                                    </a:highlight>
                                    <a:latin typeface="Cambria Math"/>
                                  </a:rPr>
                                  <m:t>𝑹</m:t>
                                </m:r>
                              </m:sub>
                            </m:sSub>
                          </m:e>
                        </m:d>
                        <m:r>
                          <a:rPr lang="en-US" b="1" i="1" smtClean="0">
                            <a:solidFill>
                              <a:srgbClr val="008000"/>
                            </a:solidFill>
                            <a:highlight>
                              <a:srgbClr val="FFFF00"/>
                            </a:highlight>
                            <a:latin typeface="Cambria Math"/>
                          </a:rPr>
                          <m:t>⋅</m:t>
                        </m:r>
                        <m:r>
                          <a:rPr lang="en-US" b="1" i="1" smtClean="0">
                            <a:solidFill>
                              <a:srgbClr val="008000"/>
                            </a:solidFill>
                            <a:highlight>
                              <a:srgbClr val="FFFF00"/>
                            </a:highlight>
                            <a:latin typeface="Cambria Math"/>
                          </a:rPr>
                          <m:t>𝑽𝒂𝒓</m:t>
                        </m:r>
                        <m:d>
                          <m:dPr>
                            <m:ctrlPr>
                              <a:rPr lang="en-US" b="1" i="1" smtClean="0">
                                <a:solidFill>
                                  <a:srgbClr val="008000"/>
                                </a:solidFill>
                                <a:highlight>
                                  <a:srgbClr val="FFFF00"/>
                                </a:highlight>
                                <a:latin typeface="Cambria Math" panose="02040503050406030204" pitchFamily="18" charset="0"/>
                              </a:rPr>
                            </m:ctrlPr>
                          </m:dPr>
                          <m:e>
                            <m:sSub>
                              <m:sSubPr>
                                <m:ctrlPr>
                                  <a:rPr lang="en-US" b="1" i="1" smtClean="0">
                                    <a:solidFill>
                                      <a:srgbClr val="008000"/>
                                    </a:solidFill>
                                    <a:highlight>
                                      <a:srgbClr val="FFFF00"/>
                                    </a:highlight>
                                    <a:latin typeface="Cambria Math" panose="02040503050406030204" pitchFamily="18" charset="0"/>
                                  </a:rPr>
                                </m:ctrlPr>
                              </m:sSubPr>
                              <m:e>
                                <m:r>
                                  <a:rPr lang="en-US" b="1" i="1" smtClean="0">
                                    <a:solidFill>
                                      <a:srgbClr val="008000"/>
                                    </a:solidFill>
                                    <a:highlight>
                                      <a:srgbClr val="FFFF00"/>
                                    </a:highlight>
                                    <a:latin typeface="Cambria Math"/>
                                  </a:rPr>
                                  <m:t>𝑫</m:t>
                                </m:r>
                              </m:e>
                              <m:sub>
                                <m:r>
                                  <a:rPr lang="en-US" b="1" i="1" smtClean="0">
                                    <a:solidFill>
                                      <a:srgbClr val="008000"/>
                                    </a:solidFill>
                                    <a:highlight>
                                      <a:srgbClr val="FFFF00"/>
                                    </a:highlight>
                                    <a:latin typeface="Cambria Math"/>
                                  </a:rPr>
                                  <m:t>𝑹</m:t>
                                </m:r>
                              </m:sub>
                            </m:sSub>
                          </m:e>
                        </m:d>
                      </m:e>
                    </m:d>
                  </m:oMath>
                </a14:m>
                <a:endParaRPr lang="en-US" b="1" i="1" dirty="0">
                  <a:latin typeface="Cambria Math"/>
                </a:endParaRPr>
              </a:p>
              <a:p>
                <a:pPr lvl="2"/>
                <a14:m>
                  <m:oMath xmlns:m="http://schemas.openxmlformats.org/officeDocument/2006/math">
                    <m:r>
                      <a:rPr lang="en-US" b="1" i="1">
                        <a:latin typeface="Cambria Math"/>
                      </a:rPr>
                      <m:t>𝑽𝒂𝒓</m:t>
                    </m:r>
                    <m:d>
                      <m:dPr>
                        <m:ctrlPr>
                          <a:rPr lang="en-US" b="1" i="1">
                            <a:latin typeface="Cambria Math" panose="02040503050406030204" pitchFamily="18" charset="0"/>
                          </a:rPr>
                        </m:ctrlPr>
                      </m:dPr>
                      <m:e>
                        <m:r>
                          <a:rPr lang="en-US" b="1" i="1">
                            <a:latin typeface="Cambria Math"/>
                          </a:rPr>
                          <m:t>𝑫</m:t>
                        </m:r>
                      </m:e>
                    </m:d>
                    <m:r>
                      <a:rPr lang="en-US" b="1" i="1" smtClean="0">
                        <a:latin typeface="Cambria Math"/>
                      </a:rPr>
                      <m:t>=</m:t>
                    </m:r>
                    <m:f>
                      <m:fPr>
                        <m:ctrlPr>
                          <a:rPr lang="en-US" b="1" i="1" smtClean="0">
                            <a:latin typeface="Cambria Math" panose="02040503050406030204" pitchFamily="18" charset="0"/>
                          </a:rPr>
                        </m:ctrlPr>
                      </m:fPr>
                      <m:num>
                        <m:r>
                          <a:rPr lang="en-US" b="1" i="1" smtClean="0">
                            <a:latin typeface="Cambria Math"/>
                          </a:rPr>
                          <m:t>𝟏</m:t>
                        </m:r>
                      </m:num>
                      <m:den>
                        <m:r>
                          <a:rPr lang="en-US" b="1" i="1" smtClean="0">
                            <a:latin typeface="Cambria Math" panose="02040503050406030204" pitchFamily="18" charset="0"/>
                          </a:rPr>
                          <m:t>|</m:t>
                        </m:r>
                        <m:r>
                          <a:rPr lang="en-US" b="1" i="1" smtClean="0">
                            <a:latin typeface="Cambria Math" panose="02040503050406030204" pitchFamily="18" charset="0"/>
                          </a:rPr>
                          <m:t>𝑫</m:t>
                        </m:r>
                        <m:r>
                          <a:rPr lang="en-US" b="1" i="1" smtClean="0">
                            <a:latin typeface="Cambria Math" panose="02040503050406030204" pitchFamily="18" charset="0"/>
                          </a:rPr>
                          <m:t>|</m:t>
                        </m:r>
                      </m:den>
                    </m:f>
                    <m:nary>
                      <m:naryPr>
                        <m:chr m:val="∑"/>
                        <m:supHide m:val="on"/>
                        <m:ctrlPr>
                          <a:rPr lang="en-US" b="1" i="1" dirty="0" smtClean="0">
                            <a:latin typeface="Cambria Math" panose="02040503050406030204" pitchFamily="18" charset="0"/>
                          </a:rPr>
                        </m:ctrlPr>
                      </m:naryPr>
                      <m:sub>
                        <m:r>
                          <a:rPr lang="en-US" b="1" i="1" dirty="0" smtClean="0">
                            <a:latin typeface="Cambria Math"/>
                          </a:rPr>
                          <m:t>𝒊</m:t>
                        </m:r>
                        <m:r>
                          <a:rPr lang="en-US" b="1" i="1" dirty="0" smtClean="0">
                            <a:latin typeface="Cambria Math"/>
                          </a:rPr>
                          <m:t>∈</m:t>
                        </m:r>
                        <m:r>
                          <a:rPr lang="en-US" b="1" i="1" dirty="0" smtClean="0">
                            <a:latin typeface="Cambria Math"/>
                          </a:rPr>
                          <m:t>𝑫</m:t>
                        </m:r>
                      </m:sub>
                      <m:sup/>
                      <m:e>
                        <m:sSup>
                          <m:sSupPr>
                            <m:ctrlPr>
                              <a:rPr lang="en-US" b="1" i="1" dirty="0" smtClean="0">
                                <a:latin typeface="Cambria Math" panose="02040503050406030204" pitchFamily="18" charset="0"/>
                              </a:rPr>
                            </m:ctrlPr>
                          </m:sSupPr>
                          <m:e>
                            <m:d>
                              <m:dPr>
                                <m:ctrlPr>
                                  <a:rPr lang="en-US" b="1" i="1" dirty="0" smtClean="0">
                                    <a:latin typeface="Cambria Math" panose="02040503050406030204" pitchFamily="18" charset="0"/>
                                  </a:rPr>
                                </m:ctrlPr>
                              </m:dPr>
                              <m:e>
                                <m:sSub>
                                  <m:sSubPr>
                                    <m:ctrlPr>
                                      <a:rPr lang="en-US" b="1" i="1" dirty="0" smtClean="0">
                                        <a:latin typeface="Cambria Math" panose="02040503050406030204" pitchFamily="18" charset="0"/>
                                      </a:rPr>
                                    </m:ctrlPr>
                                  </m:sSubPr>
                                  <m:e>
                                    <m:r>
                                      <a:rPr lang="en-US" b="1" i="1" dirty="0" smtClean="0">
                                        <a:latin typeface="Cambria Math"/>
                                      </a:rPr>
                                      <m:t>𝒚</m:t>
                                    </m:r>
                                  </m:e>
                                  <m:sub>
                                    <m:r>
                                      <a:rPr lang="en-US" b="1" i="1" dirty="0" smtClean="0">
                                        <a:latin typeface="Cambria Math"/>
                                      </a:rPr>
                                      <m:t>𝒊</m:t>
                                    </m:r>
                                  </m:sub>
                                </m:sSub>
                                <m:r>
                                  <a:rPr lang="en-US" b="1" i="1" dirty="0" smtClean="0">
                                    <a:latin typeface="Cambria Math"/>
                                  </a:rPr>
                                  <m:t>−</m:t>
                                </m:r>
                                <m:acc>
                                  <m:accPr>
                                    <m:chr m:val="̅"/>
                                    <m:ctrlPr>
                                      <a:rPr lang="en-US" b="1" i="1" dirty="0" smtClean="0">
                                        <a:latin typeface="Cambria Math" panose="02040503050406030204" pitchFamily="18" charset="0"/>
                                      </a:rPr>
                                    </m:ctrlPr>
                                  </m:accPr>
                                  <m:e>
                                    <m:r>
                                      <a:rPr lang="en-US" b="1" i="1" dirty="0" smtClean="0">
                                        <a:latin typeface="Cambria Math"/>
                                      </a:rPr>
                                      <m:t>𝒚</m:t>
                                    </m:r>
                                  </m:e>
                                </m:acc>
                              </m:e>
                            </m:d>
                          </m:e>
                          <m:sup>
                            <m:r>
                              <a:rPr lang="en-US" b="1" i="1" dirty="0" smtClean="0">
                                <a:latin typeface="Cambria Math"/>
                              </a:rPr>
                              <m:t>𝟐</m:t>
                            </m:r>
                          </m:sup>
                        </m:sSup>
                      </m:e>
                    </m:nary>
                  </m:oMath>
                </a14:m>
                <a:r>
                  <a:rPr lang="en-US" dirty="0"/>
                  <a:t> … variance of </a:t>
                </a:r>
                <a14:m>
                  <m:oMath xmlns:m="http://schemas.openxmlformats.org/officeDocument/2006/math">
                    <m:sSub>
                      <m:sSubPr>
                        <m:ctrlPr>
                          <a:rPr lang="en-US" b="1" i="1" dirty="0">
                            <a:latin typeface="Cambria Math" panose="02040503050406030204" pitchFamily="18" charset="0"/>
                          </a:rPr>
                        </m:ctrlPr>
                      </m:sSubPr>
                      <m:e>
                        <m:r>
                          <a:rPr lang="en-US" b="1" i="1" dirty="0">
                            <a:latin typeface="Cambria Math"/>
                          </a:rPr>
                          <m:t>𝒚</m:t>
                        </m:r>
                      </m:e>
                      <m:sub>
                        <m:r>
                          <a:rPr lang="en-US" b="1" i="1" dirty="0">
                            <a:latin typeface="Cambria Math"/>
                          </a:rPr>
                          <m:t>𝒊</m:t>
                        </m:r>
                      </m:sub>
                    </m:sSub>
                  </m:oMath>
                </a14:m>
                <a:r>
                  <a:rPr lang="en-US" dirty="0"/>
                  <a:t> in </a:t>
                </a:r>
                <a14:m>
                  <m:oMath xmlns:m="http://schemas.openxmlformats.org/officeDocument/2006/math">
                    <m:r>
                      <a:rPr lang="en-US" b="1" i="1" dirty="0">
                        <a:latin typeface="Cambria Math"/>
                      </a:rPr>
                      <m:t>𝑫</m:t>
                    </m:r>
                  </m:oMath>
                </a14:m>
                <a:endParaRPr lang="en-US" b="1"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562600"/>
              </a:xfrm>
              <a:blipFill>
                <a:blip r:embed="rId3"/>
                <a:stretch>
                  <a:fillRect l="-877" t="-685" b="-502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BEE1FCB-83B6-BE4E-AAA5-18B67A14A0F6}"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16</a:t>
            </a:fld>
            <a:endParaRPr lang="en-US"/>
          </a:p>
        </p:txBody>
      </p:sp>
      <p:grpSp>
        <p:nvGrpSpPr>
          <p:cNvPr id="41" name="Group 40"/>
          <p:cNvGrpSpPr/>
          <p:nvPr/>
        </p:nvGrpSpPr>
        <p:grpSpPr>
          <a:xfrm>
            <a:off x="5410200" y="1295400"/>
            <a:ext cx="3545649" cy="2676196"/>
            <a:chOff x="2588637" y="2133600"/>
            <a:chExt cx="4677598" cy="3695699"/>
          </a:xfrm>
        </p:grpSpPr>
        <p:sp>
          <p:nvSpPr>
            <p:cNvPr id="7" name="Oval 6"/>
            <p:cNvSpPr/>
            <p:nvPr/>
          </p:nvSpPr>
          <p:spPr>
            <a:xfrm>
              <a:off x="3614571" y="2133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A</a:t>
              </a:r>
            </a:p>
          </p:txBody>
        </p:sp>
        <p:sp>
          <p:nvSpPr>
            <p:cNvPr id="8" name="Oval 7"/>
            <p:cNvSpPr/>
            <p:nvPr/>
          </p:nvSpPr>
          <p:spPr>
            <a:xfrm>
              <a:off x="27001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B</a:t>
              </a:r>
            </a:p>
          </p:txBody>
        </p:sp>
        <p:sp>
          <p:nvSpPr>
            <p:cNvPr id="9" name="TextBox 8"/>
            <p:cNvSpPr txBox="1"/>
            <p:nvPr/>
          </p:nvSpPr>
          <p:spPr>
            <a:xfrm>
              <a:off x="3273778" y="2659743"/>
              <a:ext cx="1224870" cy="510030"/>
            </a:xfrm>
            <a:prstGeom prst="rect">
              <a:avLst/>
            </a:prstGeom>
            <a:noFill/>
          </p:spPr>
          <p:txBody>
            <a:bodyPr wrap="none" rtlCol="0">
              <a:spAutoFit/>
            </a:bodyPr>
            <a:lstStyle/>
            <a:p>
              <a:r>
                <a:rPr lang="en-US" b="1"/>
                <a:t>X</a:t>
              </a:r>
              <a:r>
                <a:rPr lang="en-US" b="1" baseline="30000"/>
                <a:t>(1)</a:t>
              </a:r>
              <a:r>
                <a:rPr lang="en-US" b="1"/>
                <a:t>&lt;v</a:t>
              </a:r>
              <a:r>
                <a:rPr lang="en-US" b="1" baseline="30000"/>
                <a:t>(1)</a:t>
              </a:r>
            </a:p>
          </p:txBody>
        </p:sp>
        <p:cxnSp>
          <p:nvCxnSpPr>
            <p:cNvPr id="10" name="Straight Arrow Connector 9"/>
            <p:cNvCxnSpPr>
              <a:stCxn id="7" idx="3"/>
              <a:endCxn id="8" idx="7"/>
            </p:cNvCxnSpPr>
            <p:nvPr/>
          </p:nvCxnSpPr>
          <p:spPr>
            <a:xfrm rot="5400000">
              <a:off x="31285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7" idx="5"/>
              <a:endCxn id="12" idx="1"/>
            </p:cNvCxnSpPr>
            <p:nvPr/>
          </p:nvCxnSpPr>
          <p:spPr>
            <a:xfrm rot="16200000" flipH="1">
              <a:off x="40429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2" name="Oval 11"/>
            <p:cNvSpPr/>
            <p:nvPr/>
          </p:nvSpPr>
          <p:spPr>
            <a:xfrm>
              <a:off x="45289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C</a:t>
              </a:r>
            </a:p>
          </p:txBody>
        </p:sp>
        <p:sp>
          <p:nvSpPr>
            <p:cNvPr id="13" name="Oval 12"/>
            <p:cNvSpPr/>
            <p:nvPr/>
          </p:nvSpPr>
          <p:spPr>
            <a:xfrm>
              <a:off x="33859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D</a:t>
              </a:r>
            </a:p>
          </p:txBody>
        </p:sp>
        <p:sp>
          <p:nvSpPr>
            <p:cNvPr id="14" name="Oval 13"/>
            <p:cNvSpPr/>
            <p:nvPr/>
          </p:nvSpPr>
          <p:spPr>
            <a:xfrm>
              <a:off x="59005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E</a:t>
              </a:r>
            </a:p>
          </p:txBody>
        </p:sp>
        <p:cxnSp>
          <p:nvCxnSpPr>
            <p:cNvPr id="15" name="Straight Arrow Connector 14"/>
            <p:cNvCxnSpPr>
              <a:stCxn id="12" idx="3"/>
              <a:endCxn id="13" idx="7"/>
            </p:cNvCxnSpPr>
            <p:nvPr/>
          </p:nvCxnSpPr>
          <p:spPr>
            <a:xfrm rot="5400000">
              <a:off x="3928616" y="32096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12" idx="5"/>
              <a:endCxn id="14" idx="1"/>
            </p:cNvCxnSpPr>
            <p:nvPr/>
          </p:nvCxnSpPr>
          <p:spPr>
            <a:xfrm rot="16200000" flipH="1">
              <a:off x="5185916" y="30953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7" name="Oval 16"/>
            <p:cNvSpPr/>
            <p:nvPr/>
          </p:nvSpPr>
          <p:spPr>
            <a:xfrm>
              <a:off x="27001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F</a:t>
              </a:r>
            </a:p>
          </p:txBody>
        </p:sp>
        <p:sp>
          <p:nvSpPr>
            <p:cNvPr id="18" name="Oval 17"/>
            <p:cNvSpPr/>
            <p:nvPr/>
          </p:nvSpPr>
          <p:spPr>
            <a:xfrm>
              <a:off x="41479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G</a:t>
              </a:r>
            </a:p>
          </p:txBody>
        </p:sp>
        <p:cxnSp>
          <p:nvCxnSpPr>
            <p:cNvPr id="19" name="Straight Arrow Connector 18"/>
            <p:cNvCxnSpPr>
              <a:endCxn id="17" idx="7"/>
            </p:cNvCxnSpPr>
            <p:nvPr/>
          </p:nvCxnSpPr>
          <p:spPr>
            <a:xfrm rot="5400000">
              <a:off x="30142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a:endCxn id="18" idx="1"/>
            </p:cNvCxnSpPr>
            <p:nvPr/>
          </p:nvCxnSpPr>
          <p:spPr>
            <a:xfrm rot="16200000" flipH="1">
              <a:off x="37381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1" name="Oval 20"/>
            <p:cNvSpPr/>
            <p:nvPr/>
          </p:nvSpPr>
          <p:spPr>
            <a:xfrm>
              <a:off x="52147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H</a:t>
              </a:r>
            </a:p>
          </p:txBody>
        </p:sp>
        <p:sp>
          <p:nvSpPr>
            <p:cNvPr id="22" name="Oval 21"/>
            <p:cNvSpPr/>
            <p:nvPr/>
          </p:nvSpPr>
          <p:spPr>
            <a:xfrm>
              <a:off x="66625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I</a:t>
              </a:r>
            </a:p>
          </p:txBody>
        </p:sp>
        <p:cxnSp>
          <p:nvCxnSpPr>
            <p:cNvPr id="23" name="Straight Arrow Connector 22"/>
            <p:cNvCxnSpPr>
              <a:endCxn id="21" idx="7"/>
            </p:cNvCxnSpPr>
            <p:nvPr/>
          </p:nvCxnSpPr>
          <p:spPr>
            <a:xfrm rot="5400000">
              <a:off x="55288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p:cNvCxnSpPr>
              <a:endCxn id="22" idx="1"/>
            </p:cNvCxnSpPr>
            <p:nvPr/>
          </p:nvCxnSpPr>
          <p:spPr>
            <a:xfrm rot="16200000" flipH="1">
              <a:off x="62527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5" name="Isosceles Triangle 24"/>
            <p:cNvSpPr/>
            <p:nvPr/>
          </p:nvSpPr>
          <p:spPr>
            <a:xfrm>
              <a:off x="2623970"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p:cNvSpPr/>
            <p:nvPr/>
          </p:nvSpPr>
          <p:spPr>
            <a:xfrm>
              <a:off x="40717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p:cNvSpPr/>
            <p:nvPr/>
          </p:nvSpPr>
          <p:spPr>
            <a:xfrm>
              <a:off x="51385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p:cNvSpPr/>
            <p:nvPr/>
          </p:nvSpPr>
          <p:spPr>
            <a:xfrm>
              <a:off x="65863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150572" y="2373868"/>
              <a:ext cx="768484" cy="382522"/>
            </a:xfrm>
            <a:prstGeom prst="rect">
              <a:avLst/>
            </a:prstGeom>
            <a:noFill/>
          </p:spPr>
          <p:txBody>
            <a:bodyPr wrap="none" rtlCol="0">
              <a:spAutoFit/>
            </a:bodyPr>
            <a:lstStyle/>
            <a:p>
              <a:r>
                <a:rPr lang="en-US" sz="1200"/>
                <a:t>|D|=90</a:t>
              </a:r>
              <a:endParaRPr lang="en-US" sz="1200" baseline="-25000"/>
            </a:p>
          </p:txBody>
        </p:sp>
        <p:sp>
          <p:nvSpPr>
            <p:cNvPr id="30" name="TextBox 29"/>
            <p:cNvSpPr txBox="1"/>
            <p:nvPr/>
          </p:nvSpPr>
          <p:spPr>
            <a:xfrm>
              <a:off x="2700170" y="2438400"/>
              <a:ext cx="753992" cy="382522"/>
            </a:xfrm>
            <a:prstGeom prst="rect">
              <a:avLst/>
            </a:prstGeom>
            <a:noFill/>
          </p:spPr>
          <p:txBody>
            <a:bodyPr wrap="none" rtlCol="0">
              <a:spAutoFit/>
            </a:bodyPr>
            <a:lstStyle/>
            <a:p>
              <a:r>
                <a:rPr lang="en-US" sz="1200"/>
                <a:t>|D|=10</a:t>
              </a:r>
              <a:endParaRPr lang="en-US" sz="1200" baseline="-25000"/>
            </a:p>
          </p:txBody>
        </p:sp>
        <p:sp>
          <p:nvSpPr>
            <p:cNvPr id="31" name="TextBox 30"/>
            <p:cNvSpPr txBox="1"/>
            <p:nvPr/>
          </p:nvSpPr>
          <p:spPr>
            <a:xfrm>
              <a:off x="4197067" y="3517684"/>
              <a:ext cx="1229099" cy="510030"/>
            </a:xfrm>
            <a:prstGeom prst="rect">
              <a:avLst/>
            </a:prstGeom>
            <a:noFill/>
          </p:spPr>
          <p:txBody>
            <a:bodyPr wrap="none" rtlCol="0">
              <a:spAutoFit/>
            </a:bodyPr>
            <a:lstStyle/>
            <a:p>
              <a:r>
                <a:rPr lang="en-US" b="1"/>
                <a:t>X</a:t>
              </a:r>
              <a:r>
                <a:rPr lang="en-US" b="1" baseline="30000"/>
                <a:t>(2)</a:t>
              </a:r>
              <a:r>
                <a:rPr lang="en-US" b="1">
                  <a:sym typeface="Symbol"/>
                </a:rPr>
                <a:t>&lt;v</a:t>
              </a:r>
              <a:r>
                <a:rPr lang="en-US" b="1" baseline="30000">
                  <a:sym typeface="Symbol"/>
                </a:rPr>
                <a:t>(2)</a:t>
              </a:r>
              <a:endParaRPr lang="en-US" b="1" baseline="30000"/>
            </a:p>
          </p:txBody>
        </p:sp>
        <p:sp>
          <p:nvSpPr>
            <p:cNvPr id="32" name="TextBox 31"/>
            <p:cNvSpPr txBox="1"/>
            <p:nvPr/>
          </p:nvSpPr>
          <p:spPr>
            <a:xfrm>
              <a:off x="3076328" y="4452114"/>
              <a:ext cx="1233329" cy="510030"/>
            </a:xfrm>
            <a:prstGeom prst="rect">
              <a:avLst/>
            </a:prstGeom>
            <a:noFill/>
          </p:spPr>
          <p:txBody>
            <a:bodyPr wrap="none" rtlCol="0">
              <a:spAutoFit/>
            </a:bodyPr>
            <a:lstStyle/>
            <a:p>
              <a:r>
                <a:rPr lang="en-US" b="1"/>
                <a:t>X</a:t>
              </a:r>
              <a:r>
                <a:rPr lang="en-US" b="1" baseline="30000"/>
                <a:t>(3)</a:t>
              </a:r>
              <a:r>
                <a:rPr lang="en-US" b="1">
                  <a:sym typeface="Symbol"/>
                </a:rPr>
                <a:t>&lt;</a:t>
              </a:r>
              <a:r>
                <a:rPr lang="en-US" b="1"/>
                <a:t>v</a:t>
              </a:r>
              <a:r>
                <a:rPr lang="en-US" b="1" baseline="30000"/>
                <a:t>(4)</a:t>
              </a:r>
            </a:p>
          </p:txBody>
        </p:sp>
        <p:sp>
          <p:nvSpPr>
            <p:cNvPr id="33" name="TextBox 32"/>
            <p:cNvSpPr txBox="1"/>
            <p:nvPr/>
          </p:nvSpPr>
          <p:spPr>
            <a:xfrm>
              <a:off x="5580316" y="4414232"/>
              <a:ext cx="1226986" cy="510030"/>
            </a:xfrm>
            <a:prstGeom prst="rect">
              <a:avLst/>
            </a:prstGeom>
            <a:noFill/>
          </p:spPr>
          <p:txBody>
            <a:bodyPr wrap="none" rtlCol="0">
              <a:spAutoFit/>
            </a:bodyPr>
            <a:lstStyle/>
            <a:p>
              <a:r>
                <a:rPr lang="en-US" b="1"/>
                <a:t>X</a:t>
              </a:r>
              <a:r>
                <a:rPr lang="en-US" b="1" baseline="30000"/>
                <a:t>(2)</a:t>
              </a:r>
              <a:r>
                <a:rPr lang="en-US" b="1">
                  <a:sym typeface="Symbol"/>
                </a:rPr>
                <a:t>&lt;</a:t>
              </a:r>
              <a:r>
                <a:rPr lang="en-US" b="1"/>
                <a:t>v</a:t>
              </a:r>
              <a:r>
                <a:rPr lang="en-US" b="1" baseline="30000"/>
                <a:t>(5)</a:t>
              </a:r>
            </a:p>
          </p:txBody>
        </p:sp>
        <p:sp>
          <p:nvSpPr>
            <p:cNvPr id="34" name="TextBox 33"/>
            <p:cNvSpPr txBox="1"/>
            <p:nvPr/>
          </p:nvSpPr>
          <p:spPr>
            <a:xfrm>
              <a:off x="5259165" y="3276600"/>
              <a:ext cx="762275" cy="382522"/>
            </a:xfrm>
            <a:prstGeom prst="rect">
              <a:avLst/>
            </a:prstGeom>
            <a:noFill/>
          </p:spPr>
          <p:txBody>
            <a:bodyPr wrap="none" rtlCol="0">
              <a:spAutoFit/>
            </a:bodyPr>
            <a:lstStyle/>
            <a:p>
              <a:r>
                <a:rPr lang="en-US" sz="1200"/>
                <a:t>|D|=45</a:t>
              </a:r>
              <a:endParaRPr lang="en-US" sz="1200" baseline="-25000"/>
            </a:p>
          </p:txBody>
        </p:sp>
        <p:sp>
          <p:nvSpPr>
            <p:cNvPr id="35" name="TextBox 34"/>
            <p:cNvSpPr txBox="1"/>
            <p:nvPr/>
          </p:nvSpPr>
          <p:spPr>
            <a:xfrm>
              <a:off x="3568941" y="3288268"/>
              <a:ext cx="762275" cy="382522"/>
            </a:xfrm>
            <a:prstGeom prst="rect">
              <a:avLst/>
            </a:prstGeom>
            <a:noFill/>
          </p:spPr>
          <p:txBody>
            <a:bodyPr wrap="none" rtlCol="0">
              <a:spAutoFit/>
            </a:bodyPr>
            <a:lstStyle/>
            <a:p>
              <a:r>
                <a:rPr lang="en-US" sz="1200"/>
                <a:t>|D|=45</a:t>
              </a:r>
              <a:endParaRPr lang="en-US" sz="1200" baseline="-25000"/>
            </a:p>
          </p:txBody>
        </p:sp>
        <p:sp>
          <p:nvSpPr>
            <p:cNvPr id="36" name="Hexagon 35"/>
            <p:cNvSpPr/>
            <p:nvPr/>
          </p:nvSpPr>
          <p:spPr>
            <a:xfrm>
              <a:off x="2646005" y="2971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600"/>
                <a:t>.42</a:t>
              </a:r>
            </a:p>
          </p:txBody>
        </p:sp>
        <p:sp>
          <p:nvSpPr>
            <p:cNvPr id="37" name="TextBox 36"/>
            <p:cNvSpPr txBox="1"/>
            <p:nvPr/>
          </p:nvSpPr>
          <p:spPr>
            <a:xfrm>
              <a:off x="3919371" y="4114800"/>
              <a:ext cx="754407" cy="382522"/>
            </a:xfrm>
            <a:prstGeom prst="rect">
              <a:avLst/>
            </a:prstGeom>
            <a:noFill/>
          </p:spPr>
          <p:txBody>
            <a:bodyPr wrap="none" rtlCol="0">
              <a:spAutoFit/>
            </a:bodyPr>
            <a:lstStyle/>
            <a:p>
              <a:r>
                <a:rPr lang="en-US" sz="1200"/>
                <a:t>|D|=25</a:t>
              </a:r>
              <a:endParaRPr lang="en-US" sz="1200" baseline="-25000"/>
            </a:p>
          </p:txBody>
        </p:sp>
        <p:sp>
          <p:nvSpPr>
            <p:cNvPr id="38" name="TextBox 37"/>
            <p:cNvSpPr txBox="1"/>
            <p:nvPr/>
          </p:nvSpPr>
          <p:spPr>
            <a:xfrm>
              <a:off x="2588637" y="4126468"/>
              <a:ext cx="762523" cy="382522"/>
            </a:xfrm>
            <a:prstGeom prst="rect">
              <a:avLst/>
            </a:prstGeom>
            <a:noFill/>
          </p:spPr>
          <p:txBody>
            <a:bodyPr wrap="none" rtlCol="0">
              <a:spAutoFit/>
            </a:bodyPr>
            <a:lstStyle/>
            <a:p>
              <a:r>
                <a:rPr lang="en-US" sz="1200"/>
                <a:t>|D|=20</a:t>
              </a:r>
              <a:endParaRPr lang="en-US" sz="1200" baseline="-25000"/>
            </a:p>
          </p:txBody>
        </p:sp>
        <p:sp>
          <p:nvSpPr>
            <p:cNvPr id="39" name="TextBox 38"/>
            <p:cNvSpPr txBox="1"/>
            <p:nvPr/>
          </p:nvSpPr>
          <p:spPr>
            <a:xfrm>
              <a:off x="6510171" y="4114800"/>
              <a:ext cx="756064" cy="382522"/>
            </a:xfrm>
            <a:prstGeom prst="rect">
              <a:avLst/>
            </a:prstGeom>
            <a:noFill/>
          </p:spPr>
          <p:txBody>
            <a:bodyPr wrap="none" rtlCol="0">
              <a:spAutoFit/>
            </a:bodyPr>
            <a:lstStyle/>
            <a:p>
              <a:r>
                <a:rPr lang="en-US" sz="1200"/>
                <a:t>|D|=30</a:t>
              </a:r>
              <a:endParaRPr lang="en-US" sz="1200" baseline="-25000"/>
            </a:p>
          </p:txBody>
        </p:sp>
        <p:sp>
          <p:nvSpPr>
            <p:cNvPr id="40" name="TextBox 39"/>
            <p:cNvSpPr txBox="1"/>
            <p:nvPr/>
          </p:nvSpPr>
          <p:spPr>
            <a:xfrm>
              <a:off x="5100352" y="4126468"/>
              <a:ext cx="747783" cy="382522"/>
            </a:xfrm>
            <a:prstGeom prst="rect">
              <a:avLst/>
            </a:prstGeom>
            <a:noFill/>
          </p:spPr>
          <p:txBody>
            <a:bodyPr wrap="none" rtlCol="0">
              <a:spAutoFit/>
            </a:bodyPr>
            <a:lstStyle/>
            <a:p>
              <a:r>
                <a:rPr lang="en-US" sz="1200"/>
                <a:t>|D|=15</a:t>
              </a:r>
              <a:endParaRPr lang="en-US" sz="1200" baseline="-25000"/>
            </a:p>
          </p:txBody>
        </p:sp>
      </p:grpSp>
    </p:spTree>
    <p:extLst>
      <p:ext uri="{BB962C8B-B14F-4D97-AF65-F5344CB8AC3E}">
        <p14:creationId xmlns:p14="http://schemas.microsoft.com/office/powerpoint/2010/main" val="1975366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construct a tree?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1295400"/>
                <a:ext cx="8498649" cy="5410200"/>
              </a:xfrm>
            </p:spPr>
            <p:txBody>
              <a:bodyPr>
                <a:normAutofit/>
              </a:bodyPr>
              <a:lstStyle/>
              <a:p>
                <a:pPr marL="118872" indent="0">
                  <a:buNone/>
                </a:pPr>
                <a:r>
                  <a:rPr lang="en-US" b="1" dirty="0">
                    <a:solidFill>
                      <a:srgbClr val="0000FF"/>
                    </a:solidFill>
                  </a:rPr>
                  <a:t>(1) How to split? </a:t>
                </a:r>
                <a:r>
                  <a:rPr lang="en-US" b="1" dirty="0"/>
                  <a:t>Pick </a:t>
                </a:r>
                <a:br>
                  <a:rPr lang="en-US" b="1" dirty="0"/>
                </a:br>
                <a:r>
                  <a:rPr lang="en-US" b="1" dirty="0"/>
                  <a:t>attribute &amp; value</a:t>
                </a:r>
                <a:r>
                  <a:rPr lang="en-US" dirty="0"/>
                  <a:t> </a:t>
                </a:r>
                <a:r>
                  <a:rPr lang="en-US" b="1" dirty="0"/>
                  <a:t>that </a:t>
                </a:r>
                <a:br>
                  <a:rPr lang="en-US" b="1" dirty="0"/>
                </a:br>
                <a:r>
                  <a:rPr lang="en-US" b="1" dirty="0"/>
                  <a:t>optimizes some criterion</a:t>
                </a:r>
              </a:p>
              <a:p>
                <a:r>
                  <a:rPr lang="en-US" b="1" u="sng" dirty="0">
                    <a:solidFill>
                      <a:srgbClr val="0000FF"/>
                    </a:solidFill>
                  </a:rPr>
                  <a:t>Classification:</a:t>
                </a:r>
                <a:br>
                  <a:rPr lang="en-US" u="sng" dirty="0">
                    <a:solidFill>
                      <a:srgbClr val="0000FF"/>
                    </a:solidFill>
                  </a:rPr>
                </a:br>
                <a:r>
                  <a:rPr lang="en-US" b="1" dirty="0">
                    <a:solidFill>
                      <a:srgbClr val="FF0066"/>
                    </a:solidFill>
                  </a:rPr>
                  <a:t>Information Gain</a:t>
                </a:r>
              </a:p>
              <a:p>
                <a:pPr lvl="1"/>
                <a:r>
                  <a:rPr lang="en-US" b="1" dirty="0"/>
                  <a:t>Measures how much</a:t>
                </a:r>
                <a:br>
                  <a:rPr lang="en-US" b="1" dirty="0"/>
                </a:br>
                <a:r>
                  <a:rPr lang="en-US" b="1" dirty="0"/>
                  <a:t>a given attribute </a:t>
                </a:r>
                <a14:m>
                  <m:oMath xmlns:m="http://schemas.openxmlformats.org/officeDocument/2006/math">
                    <m:r>
                      <a:rPr lang="en-US" b="1" i="1" dirty="0" smtClean="0">
                        <a:latin typeface="Cambria Math" panose="02040503050406030204" pitchFamily="18" charset="0"/>
                      </a:rPr>
                      <m:t>𝑿</m:t>
                    </m:r>
                  </m:oMath>
                </a14:m>
                <a:r>
                  <a:rPr lang="en-US" b="1" dirty="0"/>
                  <a:t> tells us about the class </a:t>
                </a:r>
                <a14:m>
                  <m:oMath xmlns:m="http://schemas.openxmlformats.org/officeDocument/2006/math">
                    <m:r>
                      <a:rPr lang="en-US" b="1" i="1" dirty="0" smtClean="0">
                        <a:latin typeface="Cambria Math" panose="02040503050406030204" pitchFamily="18" charset="0"/>
                      </a:rPr>
                      <m:t>𝒀</m:t>
                    </m:r>
                  </m:oMath>
                </a14:m>
                <a:r>
                  <a:rPr lang="en-US" b="1" dirty="0"/>
                  <a:t> </a:t>
                </a:r>
              </a:p>
              <a:p>
                <a:pPr lvl="1"/>
                <a14:m>
                  <m:oMath xmlns:m="http://schemas.openxmlformats.org/officeDocument/2006/math">
                    <m:r>
                      <a:rPr lang="en-US" b="1" i="1" dirty="0" smtClean="0">
                        <a:solidFill>
                          <a:srgbClr val="0000FF"/>
                        </a:solidFill>
                        <a:latin typeface="Cambria Math" panose="02040503050406030204" pitchFamily="18" charset="0"/>
                      </a:rPr>
                      <m:t>𝑰𝑮</m:t>
                    </m:r>
                    <m:r>
                      <a:rPr lang="en-US" b="1" i="1" dirty="0" smtClean="0">
                        <a:solidFill>
                          <a:srgbClr val="0000FF"/>
                        </a:solidFill>
                        <a:latin typeface="Cambria Math" panose="02040503050406030204" pitchFamily="18" charset="0"/>
                      </a:rPr>
                      <m:t>(</m:t>
                    </m:r>
                    <m:r>
                      <a:rPr lang="en-US" b="1" i="1" dirty="0" smtClean="0">
                        <a:solidFill>
                          <a:srgbClr val="0000FF"/>
                        </a:solidFill>
                        <a:latin typeface="Cambria Math" panose="02040503050406030204" pitchFamily="18" charset="0"/>
                      </a:rPr>
                      <m:t>𝒀</m:t>
                    </m:r>
                    <m:r>
                      <a:rPr lang="en-US" b="1" i="1" dirty="0" smtClean="0">
                        <a:solidFill>
                          <a:srgbClr val="0000FF"/>
                        </a:solidFill>
                        <a:latin typeface="Cambria Math" panose="02040503050406030204" pitchFamily="18" charset="0"/>
                      </a:rPr>
                      <m:t> | </m:t>
                    </m:r>
                    <m:r>
                      <a:rPr lang="en-US" b="1" i="1" dirty="0" smtClean="0">
                        <a:solidFill>
                          <a:srgbClr val="0000FF"/>
                        </a:solidFill>
                        <a:latin typeface="Cambria Math" panose="02040503050406030204" pitchFamily="18" charset="0"/>
                      </a:rPr>
                      <m:t>𝑿</m:t>
                    </m:r>
                    <m:r>
                      <a:rPr lang="en-US" b="1" i="1" dirty="0" smtClean="0">
                        <a:solidFill>
                          <a:srgbClr val="0000FF"/>
                        </a:solidFill>
                        <a:latin typeface="Cambria Math" panose="02040503050406030204" pitchFamily="18" charset="0"/>
                      </a:rPr>
                      <m:t>)</m:t>
                    </m:r>
                    <m:r>
                      <a:rPr lang="en-US" i="1" dirty="0">
                        <a:latin typeface="Cambria Math" panose="02040503050406030204" pitchFamily="18" charset="0"/>
                      </a:rPr>
                      <m:t> </m:t>
                    </m:r>
                  </m:oMath>
                </a14:m>
                <a:r>
                  <a:rPr lang="en-US" dirty="0"/>
                  <a:t>: We must transmit </a:t>
                </a:r>
                <a14:m>
                  <m:oMath xmlns:m="http://schemas.openxmlformats.org/officeDocument/2006/math">
                    <m:r>
                      <a:rPr lang="en-US" b="1" i="1" dirty="0" smtClean="0">
                        <a:latin typeface="Cambria Math" panose="02040503050406030204" pitchFamily="18" charset="0"/>
                      </a:rPr>
                      <m:t>𝒀</m:t>
                    </m:r>
                  </m:oMath>
                </a14:m>
                <a:r>
                  <a:rPr lang="en-US" b="1" dirty="0"/>
                  <a:t> </a:t>
                </a:r>
                <a:r>
                  <a:rPr lang="en-US" dirty="0"/>
                  <a:t>over a binary link. </a:t>
                </a:r>
                <a:br>
                  <a:rPr lang="en-US" dirty="0"/>
                </a:br>
                <a:r>
                  <a:rPr lang="en-US" dirty="0"/>
                  <a:t>How many bits on average would it save us if both ends of the line knew </a:t>
                </a:r>
                <a14:m>
                  <m:oMath xmlns:m="http://schemas.openxmlformats.org/officeDocument/2006/math">
                    <m:r>
                      <a:rPr lang="en-US" b="1" i="1" dirty="0" smtClean="0">
                        <a:latin typeface="Cambria Math" panose="02040503050406030204" pitchFamily="18" charset="0"/>
                      </a:rPr>
                      <m:t>𝑿</m:t>
                    </m:r>
                  </m:oMath>
                </a14:m>
                <a:r>
                  <a:rPr lang="en-US" dirty="0"/>
                  <a:t>?</a:t>
                </a:r>
              </a:p>
              <a:p>
                <a:pPr lvl="1"/>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1295400"/>
                <a:ext cx="8498649" cy="5410200"/>
              </a:xfrm>
              <a:blipFill>
                <a:blip r:embed="rId3"/>
                <a:stretch>
                  <a:fillRect l="-861" t="-676"/>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17</a:t>
            </a:fld>
            <a:endParaRPr lang="en-US"/>
          </a:p>
        </p:txBody>
      </p:sp>
      <p:sp>
        <p:nvSpPr>
          <p:cNvPr id="4" name="Date Placeholder 3"/>
          <p:cNvSpPr>
            <a:spLocks noGrp="1"/>
          </p:cNvSpPr>
          <p:nvPr>
            <p:ph type="dt" sz="half" idx="10"/>
          </p:nvPr>
        </p:nvSpPr>
        <p:spPr/>
        <p:txBody>
          <a:bodyPr/>
          <a:lstStyle/>
          <a:p>
            <a:fld id="{3616CC24-43F9-BE42-A31A-C88EF398ADD2}"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grpSp>
        <p:nvGrpSpPr>
          <p:cNvPr id="77" name="Group 76"/>
          <p:cNvGrpSpPr/>
          <p:nvPr/>
        </p:nvGrpSpPr>
        <p:grpSpPr>
          <a:xfrm>
            <a:off x="5410200" y="1295400"/>
            <a:ext cx="3545649" cy="2676196"/>
            <a:chOff x="2588637" y="2133600"/>
            <a:chExt cx="4677598" cy="3695699"/>
          </a:xfrm>
        </p:grpSpPr>
        <p:sp>
          <p:nvSpPr>
            <p:cNvPr id="78" name="Oval 77"/>
            <p:cNvSpPr/>
            <p:nvPr/>
          </p:nvSpPr>
          <p:spPr>
            <a:xfrm>
              <a:off x="3614571" y="2133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A</a:t>
              </a:r>
            </a:p>
          </p:txBody>
        </p:sp>
        <p:sp>
          <p:nvSpPr>
            <p:cNvPr id="79" name="Oval 78"/>
            <p:cNvSpPr/>
            <p:nvPr/>
          </p:nvSpPr>
          <p:spPr>
            <a:xfrm>
              <a:off x="27001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B</a:t>
              </a:r>
            </a:p>
          </p:txBody>
        </p:sp>
        <p:sp>
          <p:nvSpPr>
            <p:cNvPr id="80" name="TextBox 79"/>
            <p:cNvSpPr txBox="1"/>
            <p:nvPr/>
          </p:nvSpPr>
          <p:spPr>
            <a:xfrm>
              <a:off x="3273778" y="2659743"/>
              <a:ext cx="1224870" cy="510030"/>
            </a:xfrm>
            <a:prstGeom prst="rect">
              <a:avLst/>
            </a:prstGeom>
            <a:noFill/>
          </p:spPr>
          <p:txBody>
            <a:bodyPr wrap="none" rtlCol="0">
              <a:spAutoFit/>
            </a:bodyPr>
            <a:lstStyle/>
            <a:p>
              <a:r>
                <a:rPr lang="en-US" b="1"/>
                <a:t>X</a:t>
              </a:r>
              <a:r>
                <a:rPr lang="en-US" b="1" baseline="30000"/>
                <a:t>(1)</a:t>
              </a:r>
              <a:r>
                <a:rPr lang="en-US" b="1"/>
                <a:t>&lt;v</a:t>
              </a:r>
              <a:r>
                <a:rPr lang="en-US" b="1" baseline="30000"/>
                <a:t>(1)</a:t>
              </a:r>
            </a:p>
          </p:txBody>
        </p:sp>
        <p:cxnSp>
          <p:nvCxnSpPr>
            <p:cNvPr id="81" name="Straight Arrow Connector 80"/>
            <p:cNvCxnSpPr>
              <a:stCxn id="78" idx="3"/>
              <a:endCxn id="79" idx="7"/>
            </p:cNvCxnSpPr>
            <p:nvPr/>
          </p:nvCxnSpPr>
          <p:spPr>
            <a:xfrm rot="5400000">
              <a:off x="31285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82" name="Straight Arrow Connector 81"/>
            <p:cNvCxnSpPr>
              <a:stCxn id="78" idx="5"/>
              <a:endCxn id="83" idx="1"/>
            </p:cNvCxnSpPr>
            <p:nvPr/>
          </p:nvCxnSpPr>
          <p:spPr>
            <a:xfrm rot="16200000" flipH="1">
              <a:off x="40429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83" name="Oval 82"/>
            <p:cNvSpPr/>
            <p:nvPr/>
          </p:nvSpPr>
          <p:spPr>
            <a:xfrm>
              <a:off x="45289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C</a:t>
              </a:r>
            </a:p>
          </p:txBody>
        </p:sp>
        <p:sp>
          <p:nvSpPr>
            <p:cNvPr id="84" name="Oval 83"/>
            <p:cNvSpPr/>
            <p:nvPr/>
          </p:nvSpPr>
          <p:spPr>
            <a:xfrm>
              <a:off x="33859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D</a:t>
              </a:r>
            </a:p>
          </p:txBody>
        </p:sp>
        <p:sp>
          <p:nvSpPr>
            <p:cNvPr id="85" name="Oval 84"/>
            <p:cNvSpPr/>
            <p:nvPr/>
          </p:nvSpPr>
          <p:spPr>
            <a:xfrm>
              <a:off x="59005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E</a:t>
              </a:r>
            </a:p>
          </p:txBody>
        </p:sp>
        <p:cxnSp>
          <p:nvCxnSpPr>
            <p:cNvPr id="86" name="Straight Arrow Connector 85"/>
            <p:cNvCxnSpPr>
              <a:stCxn id="83" idx="3"/>
              <a:endCxn id="84" idx="7"/>
            </p:cNvCxnSpPr>
            <p:nvPr/>
          </p:nvCxnSpPr>
          <p:spPr>
            <a:xfrm rot="5400000">
              <a:off x="3928616" y="32096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87" name="Straight Arrow Connector 86"/>
            <p:cNvCxnSpPr>
              <a:stCxn id="83" idx="5"/>
              <a:endCxn id="85" idx="1"/>
            </p:cNvCxnSpPr>
            <p:nvPr/>
          </p:nvCxnSpPr>
          <p:spPr>
            <a:xfrm rot="16200000" flipH="1">
              <a:off x="5185916" y="30953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88" name="Oval 87"/>
            <p:cNvSpPr/>
            <p:nvPr/>
          </p:nvSpPr>
          <p:spPr>
            <a:xfrm>
              <a:off x="27001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dirty="0"/>
                <a:t>F</a:t>
              </a:r>
            </a:p>
          </p:txBody>
        </p:sp>
        <p:sp>
          <p:nvSpPr>
            <p:cNvPr id="89" name="Oval 88"/>
            <p:cNvSpPr/>
            <p:nvPr/>
          </p:nvSpPr>
          <p:spPr>
            <a:xfrm>
              <a:off x="41479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G</a:t>
              </a:r>
            </a:p>
          </p:txBody>
        </p:sp>
        <p:cxnSp>
          <p:nvCxnSpPr>
            <p:cNvPr id="90" name="Straight Arrow Connector 89"/>
            <p:cNvCxnSpPr>
              <a:endCxn id="88" idx="7"/>
            </p:cNvCxnSpPr>
            <p:nvPr/>
          </p:nvCxnSpPr>
          <p:spPr>
            <a:xfrm rot="5400000">
              <a:off x="30142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91" name="Straight Arrow Connector 90"/>
            <p:cNvCxnSpPr>
              <a:endCxn id="89" idx="1"/>
            </p:cNvCxnSpPr>
            <p:nvPr/>
          </p:nvCxnSpPr>
          <p:spPr>
            <a:xfrm rot="16200000" flipH="1">
              <a:off x="37381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92" name="Oval 91"/>
            <p:cNvSpPr/>
            <p:nvPr/>
          </p:nvSpPr>
          <p:spPr>
            <a:xfrm>
              <a:off x="52147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H</a:t>
              </a:r>
            </a:p>
          </p:txBody>
        </p:sp>
        <p:sp>
          <p:nvSpPr>
            <p:cNvPr id="93" name="Oval 92"/>
            <p:cNvSpPr/>
            <p:nvPr/>
          </p:nvSpPr>
          <p:spPr>
            <a:xfrm>
              <a:off x="66625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I</a:t>
              </a:r>
            </a:p>
          </p:txBody>
        </p:sp>
        <p:cxnSp>
          <p:nvCxnSpPr>
            <p:cNvPr id="94" name="Straight Arrow Connector 93"/>
            <p:cNvCxnSpPr>
              <a:endCxn id="92" idx="7"/>
            </p:cNvCxnSpPr>
            <p:nvPr/>
          </p:nvCxnSpPr>
          <p:spPr>
            <a:xfrm rot="5400000">
              <a:off x="55288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95" name="Straight Arrow Connector 94"/>
            <p:cNvCxnSpPr>
              <a:endCxn id="93" idx="1"/>
            </p:cNvCxnSpPr>
            <p:nvPr/>
          </p:nvCxnSpPr>
          <p:spPr>
            <a:xfrm rot="16200000" flipH="1">
              <a:off x="62527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96" name="Isosceles Triangle 95"/>
            <p:cNvSpPr/>
            <p:nvPr/>
          </p:nvSpPr>
          <p:spPr>
            <a:xfrm>
              <a:off x="2623970"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Isosceles Triangle 96"/>
            <p:cNvSpPr/>
            <p:nvPr/>
          </p:nvSpPr>
          <p:spPr>
            <a:xfrm>
              <a:off x="40717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Isosceles Triangle 97"/>
            <p:cNvSpPr/>
            <p:nvPr/>
          </p:nvSpPr>
          <p:spPr>
            <a:xfrm>
              <a:off x="51385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98"/>
            <p:cNvSpPr/>
            <p:nvPr/>
          </p:nvSpPr>
          <p:spPr>
            <a:xfrm>
              <a:off x="65863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p:cNvSpPr txBox="1"/>
            <p:nvPr/>
          </p:nvSpPr>
          <p:spPr>
            <a:xfrm>
              <a:off x="4150572" y="2373868"/>
              <a:ext cx="768484" cy="382522"/>
            </a:xfrm>
            <a:prstGeom prst="rect">
              <a:avLst/>
            </a:prstGeom>
            <a:noFill/>
          </p:spPr>
          <p:txBody>
            <a:bodyPr wrap="none" rtlCol="0">
              <a:spAutoFit/>
            </a:bodyPr>
            <a:lstStyle/>
            <a:p>
              <a:r>
                <a:rPr lang="en-US" sz="1200"/>
                <a:t>|D|=90</a:t>
              </a:r>
              <a:endParaRPr lang="en-US" sz="1200" baseline="-25000"/>
            </a:p>
          </p:txBody>
        </p:sp>
        <p:sp>
          <p:nvSpPr>
            <p:cNvPr id="101" name="TextBox 100"/>
            <p:cNvSpPr txBox="1"/>
            <p:nvPr/>
          </p:nvSpPr>
          <p:spPr>
            <a:xfrm>
              <a:off x="2700170" y="2438400"/>
              <a:ext cx="753992" cy="382522"/>
            </a:xfrm>
            <a:prstGeom prst="rect">
              <a:avLst/>
            </a:prstGeom>
            <a:noFill/>
          </p:spPr>
          <p:txBody>
            <a:bodyPr wrap="none" rtlCol="0">
              <a:spAutoFit/>
            </a:bodyPr>
            <a:lstStyle/>
            <a:p>
              <a:r>
                <a:rPr lang="en-US" sz="1200"/>
                <a:t>|D|=10</a:t>
              </a:r>
              <a:endParaRPr lang="en-US" sz="1200" baseline="-25000"/>
            </a:p>
          </p:txBody>
        </p:sp>
        <p:sp>
          <p:nvSpPr>
            <p:cNvPr id="102" name="TextBox 101"/>
            <p:cNvSpPr txBox="1"/>
            <p:nvPr/>
          </p:nvSpPr>
          <p:spPr>
            <a:xfrm>
              <a:off x="4197067" y="3517684"/>
              <a:ext cx="1229099" cy="510030"/>
            </a:xfrm>
            <a:prstGeom prst="rect">
              <a:avLst/>
            </a:prstGeom>
            <a:noFill/>
          </p:spPr>
          <p:txBody>
            <a:bodyPr wrap="none" rtlCol="0">
              <a:spAutoFit/>
            </a:bodyPr>
            <a:lstStyle/>
            <a:p>
              <a:r>
                <a:rPr lang="en-US" b="1"/>
                <a:t>X</a:t>
              </a:r>
              <a:r>
                <a:rPr lang="en-US" b="1" baseline="30000"/>
                <a:t>(2)</a:t>
              </a:r>
              <a:r>
                <a:rPr lang="en-US" b="1">
                  <a:sym typeface="Symbol"/>
                </a:rPr>
                <a:t>&lt;v</a:t>
              </a:r>
              <a:r>
                <a:rPr lang="en-US" b="1" baseline="30000">
                  <a:sym typeface="Symbol"/>
                </a:rPr>
                <a:t>(2)</a:t>
              </a:r>
              <a:endParaRPr lang="en-US" b="1" baseline="30000"/>
            </a:p>
          </p:txBody>
        </p:sp>
        <p:sp>
          <p:nvSpPr>
            <p:cNvPr id="103" name="TextBox 102"/>
            <p:cNvSpPr txBox="1"/>
            <p:nvPr/>
          </p:nvSpPr>
          <p:spPr>
            <a:xfrm>
              <a:off x="3076328" y="4452114"/>
              <a:ext cx="1233329" cy="510030"/>
            </a:xfrm>
            <a:prstGeom prst="rect">
              <a:avLst/>
            </a:prstGeom>
            <a:noFill/>
          </p:spPr>
          <p:txBody>
            <a:bodyPr wrap="none" rtlCol="0">
              <a:spAutoFit/>
            </a:bodyPr>
            <a:lstStyle/>
            <a:p>
              <a:r>
                <a:rPr lang="en-US" b="1"/>
                <a:t>X</a:t>
              </a:r>
              <a:r>
                <a:rPr lang="en-US" b="1" baseline="30000"/>
                <a:t>(3)</a:t>
              </a:r>
              <a:r>
                <a:rPr lang="en-US" b="1">
                  <a:sym typeface="Symbol"/>
                </a:rPr>
                <a:t>&lt;</a:t>
              </a:r>
              <a:r>
                <a:rPr lang="en-US" b="1"/>
                <a:t>v</a:t>
              </a:r>
              <a:r>
                <a:rPr lang="en-US" b="1" baseline="30000"/>
                <a:t>(4)</a:t>
              </a:r>
            </a:p>
          </p:txBody>
        </p:sp>
        <p:sp>
          <p:nvSpPr>
            <p:cNvPr id="104" name="TextBox 103"/>
            <p:cNvSpPr txBox="1"/>
            <p:nvPr/>
          </p:nvSpPr>
          <p:spPr>
            <a:xfrm>
              <a:off x="5580316" y="4414232"/>
              <a:ext cx="1226986" cy="510030"/>
            </a:xfrm>
            <a:prstGeom prst="rect">
              <a:avLst/>
            </a:prstGeom>
            <a:noFill/>
          </p:spPr>
          <p:txBody>
            <a:bodyPr wrap="none" rtlCol="0">
              <a:spAutoFit/>
            </a:bodyPr>
            <a:lstStyle/>
            <a:p>
              <a:r>
                <a:rPr lang="en-US" b="1"/>
                <a:t>X</a:t>
              </a:r>
              <a:r>
                <a:rPr lang="en-US" b="1" baseline="30000"/>
                <a:t>(2)</a:t>
              </a:r>
              <a:r>
                <a:rPr lang="en-US" b="1">
                  <a:sym typeface="Symbol"/>
                </a:rPr>
                <a:t>&lt;</a:t>
              </a:r>
              <a:r>
                <a:rPr lang="en-US" b="1"/>
                <a:t>v</a:t>
              </a:r>
              <a:r>
                <a:rPr lang="en-US" b="1" baseline="30000"/>
                <a:t>(5)</a:t>
              </a:r>
            </a:p>
          </p:txBody>
        </p:sp>
        <p:sp>
          <p:nvSpPr>
            <p:cNvPr id="105" name="TextBox 104"/>
            <p:cNvSpPr txBox="1"/>
            <p:nvPr/>
          </p:nvSpPr>
          <p:spPr>
            <a:xfrm>
              <a:off x="5259165" y="3276600"/>
              <a:ext cx="762275" cy="382522"/>
            </a:xfrm>
            <a:prstGeom prst="rect">
              <a:avLst/>
            </a:prstGeom>
            <a:noFill/>
          </p:spPr>
          <p:txBody>
            <a:bodyPr wrap="none" rtlCol="0">
              <a:spAutoFit/>
            </a:bodyPr>
            <a:lstStyle/>
            <a:p>
              <a:r>
                <a:rPr lang="en-US" sz="1200"/>
                <a:t>|D|=45</a:t>
              </a:r>
              <a:endParaRPr lang="en-US" sz="1200" baseline="-25000"/>
            </a:p>
          </p:txBody>
        </p:sp>
        <p:sp>
          <p:nvSpPr>
            <p:cNvPr id="106" name="TextBox 105"/>
            <p:cNvSpPr txBox="1"/>
            <p:nvPr/>
          </p:nvSpPr>
          <p:spPr>
            <a:xfrm>
              <a:off x="3568941" y="3288268"/>
              <a:ext cx="762275" cy="382522"/>
            </a:xfrm>
            <a:prstGeom prst="rect">
              <a:avLst/>
            </a:prstGeom>
            <a:noFill/>
          </p:spPr>
          <p:txBody>
            <a:bodyPr wrap="none" rtlCol="0">
              <a:spAutoFit/>
            </a:bodyPr>
            <a:lstStyle/>
            <a:p>
              <a:r>
                <a:rPr lang="en-US" sz="1200"/>
                <a:t>|D|=45</a:t>
              </a:r>
              <a:endParaRPr lang="en-US" sz="1200" baseline="-25000"/>
            </a:p>
          </p:txBody>
        </p:sp>
        <p:sp>
          <p:nvSpPr>
            <p:cNvPr id="107" name="Hexagon 106"/>
            <p:cNvSpPr/>
            <p:nvPr/>
          </p:nvSpPr>
          <p:spPr>
            <a:xfrm>
              <a:off x="2646005" y="2971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600"/>
                <a:t>.42</a:t>
              </a:r>
            </a:p>
          </p:txBody>
        </p:sp>
        <p:sp>
          <p:nvSpPr>
            <p:cNvPr id="108" name="TextBox 107"/>
            <p:cNvSpPr txBox="1"/>
            <p:nvPr/>
          </p:nvSpPr>
          <p:spPr>
            <a:xfrm>
              <a:off x="3919371" y="4114800"/>
              <a:ext cx="754407" cy="382522"/>
            </a:xfrm>
            <a:prstGeom prst="rect">
              <a:avLst/>
            </a:prstGeom>
            <a:noFill/>
          </p:spPr>
          <p:txBody>
            <a:bodyPr wrap="none" rtlCol="0">
              <a:spAutoFit/>
            </a:bodyPr>
            <a:lstStyle/>
            <a:p>
              <a:r>
                <a:rPr lang="en-US" sz="1200"/>
                <a:t>|D|=25</a:t>
              </a:r>
              <a:endParaRPr lang="en-US" sz="1200" baseline="-25000"/>
            </a:p>
          </p:txBody>
        </p:sp>
        <p:sp>
          <p:nvSpPr>
            <p:cNvPr id="109" name="TextBox 108"/>
            <p:cNvSpPr txBox="1"/>
            <p:nvPr/>
          </p:nvSpPr>
          <p:spPr>
            <a:xfrm>
              <a:off x="2588637" y="4126468"/>
              <a:ext cx="762523" cy="382522"/>
            </a:xfrm>
            <a:prstGeom prst="rect">
              <a:avLst/>
            </a:prstGeom>
            <a:noFill/>
          </p:spPr>
          <p:txBody>
            <a:bodyPr wrap="none" rtlCol="0">
              <a:spAutoFit/>
            </a:bodyPr>
            <a:lstStyle/>
            <a:p>
              <a:r>
                <a:rPr lang="en-US" sz="1200"/>
                <a:t>|D|=20</a:t>
              </a:r>
              <a:endParaRPr lang="en-US" sz="1200" baseline="-25000"/>
            </a:p>
          </p:txBody>
        </p:sp>
        <p:sp>
          <p:nvSpPr>
            <p:cNvPr id="110" name="TextBox 109"/>
            <p:cNvSpPr txBox="1"/>
            <p:nvPr/>
          </p:nvSpPr>
          <p:spPr>
            <a:xfrm>
              <a:off x="6510171" y="4114800"/>
              <a:ext cx="756064" cy="382522"/>
            </a:xfrm>
            <a:prstGeom prst="rect">
              <a:avLst/>
            </a:prstGeom>
            <a:noFill/>
          </p:spPr>
          <p:txBody>
            <a:bodyPr wrap="none" rtlCol="0">
              <a:spAutoFit/>
            </a:bodyPr>
            <a:lstStyle/>
            <a:p>
              <a:r>
                <a:rPr lang="en-US" sz="1200"/>
                <a:t>|D|=30</a:t>
              </a:r>
              <a:endParaRPr lang="en-US" sz="1200" baseline="-25000"/>
            </a:p>
          </p:txBody>
        </p:sp>
        <p:sp>
          <p:nvSpPr>
            <p:cNvPr id="111" name="TextBox 110"/>
            <p:cNvSpPr txBox="1"/>
            <p:nvPr/>
          </p:nvSpPr>
          <p:spPr>
            <a:xfrm>
              <a:off x="5100352" y="4126468"/>
              <a:ext cx="747783" cy="382522"/>
            </a:xfrm>
            <a:prstGeom prst="rect">
              <a:avLst/>
            </a:prstGeom>
            <a:noFill/>
          </p:spPr>
          <p:txBody>
            <a:bodyPr wrap="none" rtlCol="0">
              <a:spAutoFit/>
            </a:bodyPr>
            <a:lstStyle/>
            <a:p>
              <a:r>
                <a:rPr lang="en-US" sz="1200"/>
                <a:t>|D|=15</a:t>
              </a:r>
              <a:endParaRPr lang="en-US" sz="1200" baseline="-25000"/>
            </a:p>
          </p:txBody>
        </p:sp>
      </p:grpSp>
      <p:pic>
        <p:nvPicPr>
          <p:cNvPr id="7" name="Picture 6">
            <a:extLst>
              <a:ext uri="{FF2B5EF4-FFF2-40B4-BE49-F238E27FC236}">
                <a16:creationId xmlns:a16="http://schemas.microsoft.com/office/drawing/2014/main" id="{A6C080F6-B12F-2440-2978-B86E71DE1FE9}"/>
              </a:ext>
            </a:extLst>
          </p:cNvPr>
          <p:cNvPicPr>
            <a:picLocks noChangeAspect="1"/>
          </p:cNvPicPr>
          <p:nvPr/>
        </p:nvPicPr>
        <p:blipFill>
          <a:blip r:embed="rId4"/>
          <a:stretch>
            <a:fillRect/>
          </a:stretch>
        </p:blipFill>
        <p:spPr>
          <a:xfrm>
            <a:off x="4977384" y="5694156"/>
            <a:ext cx="3520884" cy="4383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300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2390-4D8B-FA4B-541D-C2E3AC1D0C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4C79D1-7796-4813-C8F2-C26B1DEE09EB}"/>
              </a:ext>
            </a:extLst>
          </p:cNvPr>
          <p:cNvSpPr>
            <a:spLocks noGrp="1"/>
          </p:cNvSpPr>
          <p:nvPr>
            <p:ph idx="1"/>
          </p:nvPr>
        </p:nvSpPr>
        <p:spPr/>
        <p:txBody>
          <a:bodyPr/>
          <a:lstStyle/>
          <a:p>
            <a:r>
              <a:rPr lang="en-US" dirty="0"/>
              <a:t>If X and Y are independent -&gt; IG(Y|X) = 0</a:t>
            </a:r>
          </a:p>
          <a:p>
            <a:r>
              <a:rPr lang="en-US" dirty="0"/>
              <a:t>When choosing a feature for split, ideally you should choose a feature that tells you </a:t>
            </a:r>
            <a:r>
              <a:rPr lang="en-US" dirty="0" err="1"/>
              <a:t>alot</a:t>
            </a:r>
            <a:r>
              <a:rPr lang="en-US" dirty="0"/>
              <a:t> about Y. </a:t>
            </a:r>
            <a:r>
              <a:rPr lang="en-US" dirty="0">
                <a:sym typeface="Wingdings" pitchFamily="2" charset="2"/>
              </a:rPr>
              <a:t> IG(Y|X) should be high.</a:t>
            </a:r>
          </a:p>
          <a:p>
            <a:endParaRPr lang="en-US" dirty="0">
              <a:sym typeface="Wingdings" pitchFamily="2" charset="2"/>
            </a:endParaRPr>
          </a:p>
          <a:p>
            <a:r>
              <a:rPr lang="en-US" dirty="0">
                <a:sym typeface="Wingdings" pitchFamily="2" charset="2"/>
              </a:rPr>
              <a:t>Y = lifespan</a:t>
            </a:r>
          </a:p>
          <a:p>
            <a:r>
              <a:rPr lang="en-US" dirty="0" err="1">
                <a:sym typeface="Wingdings" pitchFamily="2" charset="2"/>
              </a:rPr>
              <a:t>Xs</a:t>
            </a:r>
            <a:r>
              <a:rPr lang="en-US" dirty="0">
                <a:sym typeface="Wingdings" pitchFamily="2" charset="2"/>
              </a:rPr>
              <a:t> = {</a:t>
            </a:r>
            <a:r>
              <a:rPr lang="en-US" dirty="0" err="1">
                <a:sym typeface="Wingdings" pitchFamily="2" charset="2"/>
              </a:rPr>
              <a:t>eyecolor</a:t>
            </a:r>
            <a:r>
              <a:rPr lang="en-US" dirty="0">
                <a:sym typeface="Wingdings" pitchFamily="2" charset="2"/>
              </a:rPr>
              <a:t>, smoker, gender}</a:t>
            </a:r>
          </a:p>
          <a:p>
            <a:r>
              <a:rPr lang="en-US" dirty="0">
                <a:sym typeface="Wingdings" pitchFamily="2" charset="2"/>
              </a:rPr>
              <a:t>IG(</a:t>
            </a:r>
            <a:r>
              <a:rPr lang="en-US" dirty="0" err="1">
                <a:sym typeface="Wingdings" pitchFamily="2" charset="2"/>
              </a:rPr>
              <a:t>lifespan|gender</a:t>
            </a:r>
            <a:r>
              <a:rPr lang="en-US" dirty="0">
                <a:sym typeface="Wingdings" pitchFamily="2" charset="2"/>
              </a:rPr>
              <a:t>) = 0.2</a:t>
            </a:r>
          </a:p>
          <a:p>
            <a:r>
              <a:rPr lang="en-US" dirty="0">
                <a:highlight>
                  <a:srgbClr val="FFFF00"/>
                </a:highlight>
                <a:sym typeface="Wingdings" pitchFamily="2" charset="2"/>
              </a:rPr>
              <a:t>IG(</a:t>
            </a:r>
            <a:r>
              <a:rPr lang="en-US" dirty="0" err="1">
                <a:highlight>
                  <a:srgbClr val="FFFF00"/>
                </a:highlight>
                <a:sym typeface="Wingdings" pitchFamily="2" charset="2"/>
              </a:rPr>
              <a:t>lifespan|smoker</a:t>
            </a:r>
            <a:r>
              <a:rPr lang="en-US" dirty="0">
                <a:highlight>
                  <a:srgbClr val="FFFF00"/>
                </a:highlight>
                <a:sym typeface="Wingdings" pitchFamily="2" charset="2"/>
              </a:rPr>
              <a:t>) = 0.6</a:t>
            </a:r>
          </a:p>
          <a:p>
            <a:r>
              <a:rPr lang="en-US" dirty="0">
                <a:sym typeface="Wingdings" pitchFamily="2" charset="2"/>
              </a:rPr>
              <a:t>IG(</a:t>
            </a:r>
            <a:r>
              <a:rPr lang="en-US" dirty="0" err="1">
                <a:sym typeface="Wingdings" pitchFamily="2" charset="2"/>
              </a:rPr>
              <a:t>lifespan|eyecolor</a:t>
            </a:r>
            <a:r>
              <a:rPr lang="en-US" dirty="0">
                <a:sym typeface="Wingdings" pitchFamily="2" charset="2"/>
              </a:rPr>
              <a:t>) = 0.001</a:t>
            </a:r>
            <a:endParaRPr lang="en-US" dirty="0"/>
          </a:p>
        </p:txBody>
      </p:sp>
      <p:sp>
        <p:nvSpPr>
          <p:cNvPr id="4" name="Date Placeholder 3">
            <a:extLst>
              <a:ext uri="{FF2B5EF4-FFF2-40B4-BE49-F238E27FC236}">
                <a16:creationId xmlns:a16="http://schemas.microsoft.com/office/drawing/2014/main" id="{72E1F9D8-2DBE-7847-56EF-B857610CDB80}"/>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DC130BA8-7B31-E6DE-A693-4FF7D98CF24F}"/>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2E82237F-84B4-FC90-F1CE-D6E9BD1C4610}"/>
              </a:ext>
            </a:extLst>
          </p:cNvPr>
          <p:cNvSpPr>
            <a:spLocks noGrp="1"/>
          </p:cNvSpPr>
          <p:nvPr>
            <p:ph type="sldNum" sz="quarter" idx="12"/>
          </p:nvPr>
        </p:nvSpPr>
        <p:spPr/>
        <p:txBody>
          <a:bodyPr/>
          <a:lstStyle/>
          <a:p>
            <a:fld id="{19B12225-5612-419B-A8D5-4B8EEE4C217E}" type="slidenum">
              <a:rPr lang="en-US" smtClean="0"/>
              <a:pPr/>
              <a:t>18</a:t>
            </a:fld>
            <a:endParaRPr lang="en-US"/>
          </a:p>
        </p:txBody>
      </p:sp>
    </p:spTree>
    <p:extLst>
      <p:ext uri="{BB962C8B-B14F-4D97-AF65-F5344CB8AC3E}">
        <p14:creationId xmlns:p14="http://schemas.microsoft.com/office/powerpoint/2010/main" val="2803338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Information Gain? Entropy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610600" cy="4267200"/>
              </a:xfrm>
            </p:spPr>
            <p:txBody>
              <a:bodyPr>
                <a:normAutofit fontScale="92500"/>
              </a:bodyPr>
              <a:lstStyle/>
              <a:p>
                <a:pPr marL="118872" lvl="2" indent="0">
                  <a:spcBef>
                    <a:spcPts val="0"/>
                  </a:spcBef>
                  <a:buClr>
                    <a:schemeClr val="accent1"/>
                  </a:buClr>
                  <a:buSzPct val="80000"/>
                  <a:buNone/>
                </a:pPr>
                <a:r>
                  <a:rPr lang="en-US" sz="3200" b="1" dirty="0">
                    <a:solidFill>
                      <a:srgbClr val="0000FF"/>
                    </a:solidFill>
                  </a:rPr>
                  <a:t>Entropy: </a:t>
                </a:r>
              </a:p>
              <a:p>
                <a:pPr marL="118872" lvl="2" indent="0">
                  <a:spcBef>
                    <a:spcPts val="0"/>
                  </a:spcBef>
                  <a:buClr>
                    <a:schemeClr val="accent1"/>
                  </a:buClr>
                  <a:buSzPct val="80000"/>
                  <a:buNone/>
                </a:pPr>
                <a:endParaRPr lang="en-US" sz="3200" b="1" dirty="0">
                  <a:solidFill>
                    <a:srgbClr val="0000FF"/>
                  </a:solidFill>
                </a:endParaRPr>
              </a:p>
              <a:p>
                <a:pPr marL="118872" lvl="2" indent="0">
                  <a:spcBef>
                    <a:spcPts val="0"/>
                  </a:spcBef>
                  <a:buClr>
                    <a:schemeClr val="accent1"/>
                  </a:buClr>
                  <a:buSzPct val="80000"/>
                  <a:buNone/>
                </a:pPr>
                <a:r>
                  <a:rPr lang="en-US" sz="3200" b="1" dirty="0">
                    <a:solidFill>
                      <a:srgbClr val="0000FF"/>
                    </a:solidFill>
                  </a:rPr>
                  <a:t>The entropy of </a:t>
                </a:r>
                <a14:m>
                  <m:oMath xmlns:m="http://schemas.openxmlformats.org/officeDocument/2006/math">
                    <m:r>
                      <a:rPr lang="en-US" sz="3200" b="1" i="1" dirty="0" smtClean="0">
                        <a:solidFill>
                          <a:srgbClr val="0000FF"/>
                        </a:solidFill>
                        <a:latin typeface="Cambria Math" panose="02040503050406030204" pitchFamily="18" charset="0"/>
                      </a:rPr>
                      <m:t>𝑿</m:t>
                    </m:r>
                  </m:oMath>
                </a14:m>
                <a:r>
                  <a:rPr lang="en-US" sz="3200" b="1" dirty="0">
                    <a:solidFill>
                      <a:srgbClr val="0000FF"/>
                    </a:solidFill>
                  </a:rPr>
                  <a:t>:  </a:t>
                </a:r>
                <a14:m>
                  <m:oMath xmlns:m="http://schemas.openxmlformats.org/officeDocument/2006/math">
                    <m:r>
                      <a:rPr lang="en-US" sz="3200" b="1" i="1">
                        <a:solidFill>
                          <a:srgbClr val="0000FF"/>
                        </a:solidFill>
                        <a:latin typeface="Cambria Math"/>
                      </a:rPr>
                      <m:t>𝑯</m:t>
                    </m:r>
                    <m:d>
                      <m:dPr>
                        <m:ctrlPr>
                          <a:rPr lang="en-US" sz="3200" b="1" i="1">
                            <a:solidFill>
                              <a:srgbClr val="0000FF"/>
                            </a:solidFill>
                            <a:latin typeface="Cambria Math" panose="02040503050406030204" pitchFamily="18" charset="0"/>
                          </a:rPr>
                        </m:ctrlPr>
                      </m:dPr>
                      <m:e>
                        <m:r>
                          <a:rPr lang="en-US" sz="3200" b="1" i="1">
                            <a:solidFill>
                              <a:srgbClr val="0000FF"/>
                            </a:solidFill>
                            <a:latin typeface="Cambria Math"/>
                          </a:rPr>
                          <m:t>𝑿</m:t>
                        </m:r>
                      </m:e>
                    </m:d>
                    <m:r>
                      <a:rPr lang="en-US" sz="3200" b="1" i="1">
                        <a:solidFill>
                          <a:srgbClr val="0000FF"/>
                        </a:solidFill>
                        <a:latin typeface="Cambria Math"/>
                      </a:rPr>
                      <m:t>=−</m:t>
                    </m:r>
                    <m:nary>
                      <m:naryPr>
                        <m:chr m:val="∑"/>
                        <m:ctrlPr>
                          <a:rPr lang="en-US" sz="3200" b="1" i="1">
                            <a:solidFill>
                              <a:srgbClr val="0000FF"/>
                            </a:solidFill>
                            <a:latin typeface="Cambria Math" panose="02040503050406030204" pitchFamily="18" charset="0"/>
                          </a:rPr>
                        </m:ctrlPr>
                      </m:naryPr>
                      <m:sub>
                        <m:r>
                          <m:rPr>
                            <m:brk m:alnAt="23"/>
                          </m:rPr>
                          <a:rPr lang="en-US" sz="3200" b="1" i="1">
                            <a:solidFill>
                              <a:srgbClr val="0000FF"/>
                            </a:solidFill>
                            <a:latin typeface="Cambria Math"/>
                          </a:rPr>
                          <m:t>𝒋</m:t>
                        </m:r>
                        <m:r>
                          <a:rPr lang="en-US" sz="3200" b="1" i="1">
                            <a:solidFill>
                              <a:srgbClr val="0000FF"/>
                            </a:solidFill>
                            <a:latin typeface="Cambria Math"/>
                          </a:rPr>
                          <m:t>=</m:t>
                        </m:r>
                        <m:r>
                          <a:rPr lang="en-US" sz="3200" b="1" i="1">
                            <a:solidFill>
                              <a:srgbClr val="0000FF"/>
                            </a:solidFill>
                            <a:latin typeface="Cambria Math"/>
                          </a:rPr>
                          <m:t>𝟏</m:t>
                        </m:r>
                      </m:sub>
                      <m:sup>
                        <m:r>
                          <a:rPr lang="en-US" sz="3200" b="1" i="1">
                            <a:solidFill>
                              <a:srgbClr val="0000FF"/>
                            </a:solidFill>
                            <a:latin typeface="Cambria Math"/>
                          </a:rPr>
                          <m:t>𝒎</m:t>
                        </m:r>
                      </m:sup>
                      <m:e>
                        <m:r>
                          <a:rPr lang="en-US" sz="3200" b="1" i="1">
                            <a:solidFill>
                              <a:srgbClr val="0000FF"/>
                            </a:solidFill>
                            <a:latin typeface="Cambria Math" panose="02040503050406030204" pitchFamily="18" charset="0"/>
                          </a:rPr>
                          <m:t>𝒑</m:t>
                        </m:r>
                        <m:r>
                          <a:rPr lang="en-US" sz="3200" b="1" i="1">
                            <a:solidFill>
                              <a:srgbClr val="0000FF"/>
                            </a:solidFill>
                            <a:latin typeface="Cambria Math" panose="02040503050406030204" pitchFamily="18" charset="0"/>
                          </a:rPr>
                          <m:t>(</m:t>
                        </m:r>
                        <m:sSub>
                          <m:sSubPr>
                            <m:ctrlPr>
                              <a:rPr lang="en-US" sz="3200" b="1" i="1">
                                <a:solidFill>
                                  <a:srgbClr val="0000FF"/>
                                </a:solidFill>
                                <a:latin typeface="Cambria Math" panose="02040503050406030204" pitchFamily="18" charset="0"/>
                              </a:rPr>
                            </m:ctrlPr>
                          </m:sSubPr>
                          <m:e>
                            <m:r>
                              <a:rPr lang="en-US" sz="3200" b="1" i="1">
                                <a:solidFill>
                                  <a:srgbClr val="0000FF"/>
                                </a:solidFill>
                                <a:latin typeface="Cambria Math" panose="02040503050406030204" pitchFamily="18" charset="0"/>
                              </a:rPr>
                              <m:t>𝑿</m:t>
                            </m:r>
                          </m:e>
                          <m:sub>
                            <m:r>
                              <a:rPr lang="en-US" sz="3200" b="1" i="1">
                                <a:solidFill>
                                  <a:srgbClr val="0000FF"/>
                                </a:solidFill>
                                <a:latin typeface="Cambria Math" panose="02040503050406030204" pitchFamily="18" charset="0"/>
                              </a:rPr>
                              <m:t>𝒋</m:t>
                            </m:r>
                          </m:sub>
                        </m:sSub>
                        <m:r>
                          <a:rPr lang="en-US" sz="3200" b="1" i="1">
                            <a:solidFill>
                              <a:srgbClr val="0000FF"/>
                            </a:solidFill>
                            <a:latin typeface="Cambria Math" panose="02040503050406030204" pitchFamily="18" charset="0"/>
                          </a:rPr>
                          <m:t>)</m:t>
                        </m:r>
                        <m:func>
                          <m:funcPr>
                            <m:ctrlPr>
                              <a:rPr lang="en-US" sz="3200" b="1" i="1" smtClean="0">
                                <a:solidFill>
                                  <a:srgbClr val="0000FF"/>
                                </a:solidFill>
                                <a:latin typeface="Cambria Math" panose="02040503050406030204" pitchFamily="18" charset="0"/>
                              </a:rPr>
                            </m:ctrlPr>
                          </m:funcPr>
                          <m:fName>
                            <m:r>
                              <a:rPr lang="en-US" sz="3200" b="1" i="1">
                                <a:solidFill>
                                  <a:srgbClr val="0000FF"/>
                                </a:solidFill>
                                <a:latin typeface="Cambria Math"/>
                              </a:rPr>
                              <m:t>𝒍𝒐𝒈</m:t>
                            </m:r>
                          </m:fName>
                          <m:e>
                            <m:r>
                              <a:rPr lang="en-US" sz="3200" b="1" i="1">
                                <a:solidFill>
                                  <a:srgbClr val="0000FF"/>
                                </a:solidFill>
                                <a:latin typeface="Cambria Math" panose="02040503050406030204" pitchFamily="18" charset="0"/>
                              </a:rPr>
                              <m:t>𝒑</m:t>
                            </m:r>
                            <m:r>
                              <a:rPr lang="en-US" sz="3200" b="1" i="1">
                                <a:solidFill>
                                  <a:srgbClr val="0000FF"/>
                                </a:solidFill>
                                <a:latin typeface="Cambria Math" panose="02040503050406030204" pitchFamily="18" charset="0"/>
                              </a:rPr>
                              <m:t>(</m:t>
                            </m:r>
                            <m:sSub>
                              <m:sSubPr>
                                <m:ctrlPr>
                                  <a:rPr lang="en-US" sz="3200" b="1" i="1">
                                    <a:solidFill>
                                      <a:srgbClr val="0000FF"/>
                                    </a:solidFill>
                                    <a:latin typeface="Cambria Math" panose="02040503050406030204" pitchFamily="18" charset="0"/>
                                  </a:rPr>
                                </m:ctrlPr>
                              </m:sSubPr>
                              <m:e>
                                <m:r>
                                  <a:rPr lang="en-US" sz="3200" b="1" i="1">
                                    <a:solidFill>
                                      <a:srgbClr val="0000FF"/>
                                    </a:solidFill>
                                    <a:latin typeface="Cambria Math" panose="02040503050406030204" pitchFamily="18" charset="0"/>
                                  </a:rPr>
                                  <m:t>𝑿</m:t>
                                </m:r>
                              </m:e>
                              <m:sub>
                                <m:r>
                                  <a:rPr lang="en-US" sz="3200" b="1" i="1">
                                    <a:solidFill>
                                      <a:srgbClr val="0000FF"/>
                                    </a:solidFill>
                                    <a:latin typeface="Cambria Math" panose="02040503050406030204" pitchFamily="18" charset="0"/>
                                  </a:rPr>
                                  <m:t>𝒋</m:t>
                                </m:r>
                              </m:sub>
                            </m:sSub>
                            <m:r>
                              <a:rPr lang="en-US" sz="3200" b="1" i="1">
                                <a:solidFill>
                                  <a:srgbClr val="0000FF"/>
                                </a:solidFill>
                                <a:latin typeface="Cambria Math" panose="02040503050406030204" pitchFamily="18" charset="0"/>
                              </a:rPr>
                              <m:t>)</m:t>
                            </m:r>
                          </m:e>
                        </m:func>
                      </m:e>
                    </m:nary>
                  </m:oMath>
                </a14:m>
                <a:endParaRPr lang="en-US" sz="3200" b="1" dirty="0">
                  <a:solidFill>
                    <a:srgbClr val="0000FF"/>
                  </a:solidFill>
                </a:endParaRPr>
              </a:p>
              <a:p>
                <a:pPr lvl="1"/>
                <a:r>
                  <a:rPr lang="en-US" b="1" dirty="0">
                    <a:solidFill>
                      <a:srgbClr val="D60093"/>
                    </a:solidFill>
                  </a:rPr>
                  <a:t>“High Entropy”:</a:t>
                </a:r>
                <a:r>
                  <a:rPr lang="en-US" dirty="0"/>
                  <a:t> </a:t>
                </a:r>
                <a14:m>
                  <m:oMath xmlns:m="http://schemas.openxmlformats.org/officeDocument/2006/math">
                    <m:r>
                      <a:rPr lang="en-US" b="1" i="1" dirty="0" smtClean="0">
                        <a:latin typeface="Cambria Math" panose="02040503050406030204" pitchFamily="18" charset="0"/>
                      </a:rPr>
                      <m:t>𝑿</m:t>
                    </m:r>
                  </m:oMath>
                </a14:m>
                <a:r>
                  <a:rPr lang="en-US" dirty="0"/>
                  <a:t> is from a uniform (boring) distribution</a:t>
                </a:r>
              </a:p>
              <a:p>
                <a:pPr lvl="2"/>
                <a:r>
                  <a:rPr lang="en-US" dirty="0"/>
                  <a:t>A histogram of the frequency distribution of values of </a:t>
                </a:r>
                <a14:m>
                  <m:oMath xmlns:m="http://schemas.openxmlformats.org/officeDocument/2006/math">
                    <m:r>
                      <a:rPr lang="en-US" b="1" i="1" dirty="0" smtClean="0">
                        <a:latin typeface="Cambria Math" panose="02040503050406030204" pitchFamily="18" charset="0"/>
                      </a:rPr>
                      <m:t>𝑿</m:t>
                    </m:r>
                  </m:oMath>
                </a14:m>
                <a:r>
                  <a:rPr lang="en-US" b="1" dirty="0"/>
                  <a:t> </a:t>
                </a:r>
                <a:r>
                  <a:rPr lang="en-US" dirty="0"/>
                  <a:t>is </a:t>
                </a:r>
                <a:r>
                  <a:rPr lang="en-US" b="1" dirty="0"/>
                  <a:t>flat</a:t>
                </a:r>
              </a:p>
              <a:p>
                <a:pPr lvl="1"/>
                <a:r>
                  <a:rPr lang="en-US" b="1" dirty="0">
                    <a:solidFill>
                      <a:srgbClr val="D60093"/>
                    </a:solidFill>
                  </a:rPr>
                  <a:t>“Low Entropy”:</a:t>
                </a:r>
                <a:r>
                  <a:rPr lang="en-US" dirty="0"/>
                  <a:t> </a:t>
                </a:r>
                <a14:m>
                  <m:oMath xmlns:m="http://schemas.openxmlformats.org/officeDocument/2006/math">
                    <m:r>
                      <a:rPr lang="en-US" b="1" i="1" dirty="0">
                        <a:latin typeface="Cambria Math" panose="02040503050406030204" pitchFamily="18" charset="0"/>
                      </a:rPr>
                      <m:t>𝑿</m:t>
                    </m:r>
                  </m:oMath>
                </a14:m>
                <a:r>
                  <a:rPr lang="en-US" dirty="0"/>
                  <a:t> is from </a:t>
                </a:r>
                <a:r>
                  <a:rPr lang="sl-SI" dirty="0"/>
                  <a:t>a </a:t>
                </a:r>
                <a:r>
                  <a:rPr lang="en-US" dirty="0"/>
                  <a:t>varied (peaks/valleys) </a:t>
                </a:r>
                <a:r>
                  <a:rPr lang="en-US" dirty="0" err="1"/>
                  <a:t>distrib</a:t>
                </a:r>
                <a:r>
                  <a:rPr lang="en-US" dirty="0"/>
                  <a:t>.</a:t>
                </a:r>
              </a:p>
              <a:p>
                <a:pPr lvl="2"/>
                <a:r>
                  <a:rPr lang="en-US" dirty="0"/>
                  <a:t>A histogram of the frequency distribution of values of</a:t>
                </a:r>
                <a:r>
                  <a:rPr lang="en-US" b="1" dirty="0"/>
                  <a:t> </a:t>
                </a:r>
                <a14:m>
                  <m:oMath xmlns:m="http://schemas.openxmlformats.org/officeDocument/2006/math">
                    <m:r>
                      <a:rPr lang="en-US" b="1" i="1" dirty="0">
                        <a:latin typeface="Cambria Math" panose="02040503050406030204" pitchFamily="18" charset="0"/>
                      </a:rPr>
                      <m:t>𝑿</m:t>
                    </m:r>
                  </m:oMath>
                </a14:m>
                <a:r>
                  <a:rPr lang="en-US" dirty="0"/>
                  <a:t> would have many lows and one or two highs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4267200"/>
              </a:xfrm>
              <a:blipFill>
                <a:blip r:embed="rId3"/>
                <a:stretch>
                  <a:fillRect l="-736" t="-89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19</a:t>
            </a:fld>
            <a:endParaRPr lang="en-US"/>
          </a:p>
        </p:txBody>
      </p:sp>
      <p:pic>
        <p:nvPicPr>
          <p:cNvPr id="1026" name="Picture 2" descr="http://images.lingvistika.org/w/images/e/e2/Timesarrowfig2.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896" t="8458" r="3337" b="55097"/>
          <a:stretch/>
        </p:blipFill>
        <p:spPr bwMode="auto">
          <a:xfrm>
            <a:off x="1752600" y="5420202"/>
            <a:ext cx="4949098" cy="13996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859280" y="6397228"/>
            <a:ext cx="1556836"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Low entropy</a:t>
            </a:r>
          </a:p>
        </p:txBody>
      </p:sp>
      <p:sp>
        <p:nvSpPr>
          <p:cNvPr id="7" name="TextBox 6"/>
          <p:cNvSpPr txBox="1"/>
          <p:nvPr/>
        </p:nvSpPr>
        <p:spPr>
          <a:xfrm>
            <a:off x="5142260" y="6404848"/>
            <a:ext cx="1608133"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High entropy</a:t>
            </a:r>
          </a:p>
        </p:txBody>
      </p:sp>
      <p:sp>
        <p:nvSpPr>
          <p:cNvPr id="6" name="Date Placeholder 5"/>
          <p:cNvSpPr>
            <a:spLocks noGrp="1"/>
          </p:cNvSpPr>
          <p:nvPr>
            <p:ph type="dt" sz="half" idx="10"/>
          </p:nvPr>
        </p:nvSpPr>
        <p:spPr/>
        <p:txBody>
          <a:bodyPr/>
          <a:lstStyle/>
          <a:p>
            <a:fld id="{F90063B7-EAD8-EE41-9DFC-59A1EDF6861A}" type="datetime1">
              <a:rPr lang="en-US" smtClean="0"/>
              <a:t>10/1/24</a:t>
            </a:fld>
            <a:endParaRPr lang="en-US"/>
          </a:p>
        </p:txBody>
      </p:sp>
      <p:sp>
        <p:nvSpPr>
          <p:cNvPr id="8" name="Footer Placeholder 7"/>
          <p:cNvSpPr>
            <a:spLocks noGrp="1"/>
          </p:cNvSpPr>
          <p:nvPr>
            <p:ph type="ftr" sz="quarter" idx="11"/>
          </p:nvPr>
        </p:nvSpPr>
        <p:spPr/>
        <p:txBody>
          <a:bodyPr/>
          <a:lstStyle/>
          <a:p>
            <a:r>
              <a:rPr lang="en-US"/>
              <a:t>Jure Leskovec &amp; Mina Ghashami, Stanford CS246: Mining Massive Datasets, http://cs246.stanford.edu</a:t>
            </a:r>
          </a:p>
        </p:txBody>
      </p:sp>
      <p:pic>
        <p:nvPicPr>
          <p:cNvPr id="9" name="Picture 8">
            <a:extLst>
              <a:ext uri="{FF2B5EF4-FFF2-40B4-BE49-F238E27FC236}">
                <a16:creationId xmlns:a16="http://schemas.microsoft.com/office/drawing/2014/main" id="{5D2B26CE-DDBE-CB2B-0A80-BE8F3AE93457}"/>
              </a:ext>
            </a:extLst>
          </p:cNvPr>
          <p:cNvPicPr>
            <a:picLocks noChangeAspect="1"/>
          </p:cNvPicPr>
          <p:nvPr/>
        </p:nvPicPr>
        <p:blipFill>
          <a:blip r:embed="rId5"/>
          <a:stretch>
            <a:fillRect/>
          </a:stretch>
        </p:blipFill>
        <p:spPr>
          <a:xfrm>
            <a:off x="4014431" y="1467620"/>
            <a:ext cx="3520884" cy="4383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2281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72873-2CCE-08C8-9273-EF009CA6C7FD}"/>
              </a:ext>
            </a:extLst>
          </p:cNvPr>
          <p:cNvSpPr>
            <a:spLocks noGrp="1"/>
          </p:cNvSpPr>
          <p:nvPr>
            <p:ph type="title"/>
          </p:nvPr>
        </p:nvSpPr>
        <p:spPr/>
        <p:txBody>
          <a:bodyPr/>
          <a:lstStyle/>
          <a:p>
            <a:r>
              <a:rPr lang="en-US" dirty="0"/>
              <a:t>Entropy</a:t>
            </a:r>
          </a:p>
        </p:txBody>
      </p:sp>
      <p:sp>
        <p:nvSpPr>
          <p:cNvPr id="3" name="Content Placeholder 2">
            <a:extLst>
              <a:ext uri="{FF2B5EF4-FFF2-40B4-BE49-F238E27FC236}">
                <a16:creationId xmlns:a16="http://schemas.microsoft.com/office/drawing/2014/main" id="{8A71B30E-E57B-2DCB-D85F-2947C054755E}"/>
              </a:ext>
            </a:extLst>
          </p:cNvPr>
          <p:cNvSpPr>
            <a:spLocks noGrp="1"/>
          </p:cNvSpPr>
          <p:nvPr>
            <p:ph idx="1"/>
          </p:nvPr>
        </p:nvSpPr>
        <p:spPr/>
        <p:txBody>
          <a:bodyPr/>
          <a:lstStyle/>
          <a:p>
            <a:r>
              <a:rPr lang="en-US" dirty="0">
                <a:highlight>
                  <a:srgbClr val="FFFF00"/>
                </a:highlight>
              </a:rPr>
              <a:t>Entropy = uncertainty </a:t>
            </a:r>
          </a:p>
          <a:p>
            <a:r>
              <a:rPr lang="en-US" dirty="0"/>
              <a:t>Random variable Y = {1} </a:t>
            </a:r>
            <a:r>
              <a:rPr lang="en-US" dirty="0">
                <a:sym typeface="Wingdings" pitchFamily="2" charset="2"/>
              </a:rPr>
              <a:t> H(Y) = 0</a:t>
            </a:r>
          </a:p>
          <a:p>
            <a:r>
              <a:rPr lang="en-US" dirty="0">
                <a:sym typeface="Wingdings" pitchFamily="2" charset="2"/>
              </a:rPr>
              <a:t>Random variable Y = {0 (pr 0.5) , 1 (pr 0.5)}  H(Y) = 1 </a:t>
            </a:r>
            <a:endParaRPr lang="en-US" dirty="0"/>
          </a:p>
        </p:txBody>
      </p:sp>
      <p:sp>
        <p:nvSpPr>
          <p:cNvPr id="4" name="Date Placeholder 3">
            <a:extLst>
              <a:ext uri="{FF2B5EF4-FFF2-40B4-BE49-F238E27FC236}">
                <a16:creationId xmlns:a16="http://schemas.microsoft.com/office/drawing/2014/main" id="{C2AEFF7F-9D56-823F-EE19-60BB1DEB5AE4}"/>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D973E2B0-427A-3AAE-002E-BB925297E645}"/>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014D824F-5ABE-3ED2-4667-407C7DEEE390}"/>
              </a:ext>
            </a:extLst>
          </p:cNvPr>
          <p:cNvSpPr>
            <a:spLocks noGrp="1"/>
          </p:cNvSpPr>
          <p:nvPr>
            <p:ph type="sldNum" sz="quarter" idx="12"/>
          </p:nvPr>
        </p:nvSpPr>
        <p:spPr/>
        <p:txBody>
          <a:bodyPr/>
          <a:lstStyle/>
          <a:p>
            <a:fld id="{19B12225-5612-419B-A8D5-4B8EEE4C217E}" type="slidenum">
              <a:rPr lang="en-US" smtClean="0"/>
              <a:pPr/>
              <a:t>20</a:t>
            </a:fld>
            <a:endParaRPr lang="en-US"/>
          </a:p>
        </p:txBody>
      </p:sp>
    </p:spTree>
    <p:extLst>
      <p:ext uri="{BB962C8B-B14F-4D97-AF65-F5344CB8AC3E}">
        <p14:creationId xmlns:p14="http://schemas.microsoft.com/office/powerpoint/2010/main" val="806227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Information Gain? Entropy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1752600"/>
              </a:xfrm>
            </p:spPr>
            <p:txBody>
              <a:bodyPr>
                <a:normAutofit/>
              </a:bodyPr>
              <a:lstStyle/>
              <a:p>
                <a:r>
                  <a:rPr lang="en-US" b="1" dirty="0">
                    <a:solidFill>
                      <a:srgbClr val="FF0066"/>
                    </a:solidFill>
                  </a:rPr>
                  <a:t>Suppose I want to predict </a:t>
                </a:r>
                <a14:m>
                  <m:oMath xmlns:m="http://schemas.openxmlformats.org/officeDocument/2006/math">
                    <m:r>
                      <a:rPr lang="en-US" b="1" i="1" dirty="0">
                        <a:latin typeface="Cambria Math"/>
                      </a:rPr>
                      <m:t>𝒀</m:t>
                    </m:r>
                  </m:oMath>
                </a14:m>
                <a:r>
                  <a:rPr lang="en-US" b="1" dirty="0">
                    <a:solidFill>
                      <a:srgbClr val="FF0066"/>
                    </a:solidFill>
                  </a:rPr>
                  <a:t> and I have input </a:t>
                </a:r>
                <a14:m>
                  <m:oMath xmlns:m="http://schemas.openxmlformats.org/officeDocument/2006/math">
                    <m:r>
                      <a:rPr lang="en-US" b="1" i="1" dirty="0" smtClean="0">
                        <a:latin typeface="Cambria Math"/>
                      </a:rPr>
                      <m:t>𝑿</m:t>
                    </m:r>
                  </m:oMath>
                </a14:m>
                <a:endParaRPr lang="en-US" b="1" dirty="0">
                  <a:solidFill>
                    <a:srgbClr val="FF0066"/>
                  </a:solidFill>
                </a:endParaRPr>
              </a:p>
              <a:p>
                <a:pPr lvl="1"/>
                <a14:m>
                  <m:oMath xmlns:m="http://schemas.openxmlformats.org/officeDocument/2006/math">
                    <m:r>
                      <a:rPr lang="en-US" b="1" i="1" dirty="0">
                        <a:latin typeface="Cambria Math"/>
                      </a:rPr>
                      <m:t>𝑿</m:t>
                    </m:r>
                  </m:oMath>
                </a14:m>
                <a:r>
                  <a:rPr lang="en-US" dirty="0"/>
                  <a:t> = College Major</a:t>
                </a:r>
              </a:p>
              <a:p>
                <a:pPr lvl="1"/>
                <a14:m>
                  <m:oMath xmlns:m="http://schemas.openxmlformats.org/officeDocument/2006/math">
                    <m:r>
                      <a:rPr lang="en-US" b="1" i="1" dirty="0">
                        <a:latin typeface="Cambria Math"/>
                      </a:rPr>
                      <m:t>𝒀</m:t>
                    </m:r>
                  </m:oMath>
                </a14:m>
                <a:r>
                  <a:rPr lang="en-US" dirty="0"/>
                  <a:t> = Likes “Casablanca”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1752600"/>
              </a:xfrm>
              <a:blipFill>
                <a:blip r:embed="rId3"/>
                <a:stretch>
                  <a:fillRect l="-283" t="-1742" b="-41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21</a:t>
            </a:fld>
            <a:endParaRPr lang="en-US"/>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2792996" y="2903220"/>
                <a:ext cx="6351004" cy="39547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n-US" b="1" dirty="0">
                    <a:solidFill>
                      <a:srgbClr val="008000"/>
                    </a:solidFill>
                  </a:rPr>
                  <a:t>From this data we estimate</a:t>
                </a:r>
              </a:p>
              <a:p>
                <a:pPr lvl="1"/>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𝑌</m:t>
                    </m:r>
                    <m:r>
                      <a:rPr lang="en-US" i="1" dirty="0" smtClean="0">
                        <a:latin typeface="Cambria Math"/>
                      </a:rPr>
                      <m:t> = </m:t>
                    </m:r>
                    <m:r>
                      <a:rPr lang="en-US" i="1" dirty="0" smtClean="0">
                        <a:latin typeface="Cambria Math"/>
                      </a:rPr>
                      <m:t>𝑌𝑒𝑠</m:t>
                    </m:r>
                    <m:r>
                      <a:rPr lang="en-US" i="1" dirty="0" smtClean="0">
                        <a:latin typeface="Cambria Math"/>
                      </a:rPr>
                      <m:t>) = 0.5</m:t>
                    </m:r>
                  </m:oMath>
                </a14:m>
                <a:endParaRPr lang="en-US" dirty="0"/>
              </a:p>
              <a:p>
                <a:pPr lvl="1"/>
                <a14:m>
                  <m:oMath xmlns:m="http://schemas.openxmlformats.org/officeDocument/2006/math">
                    <m:r>
                      <a:rPr lang="en-US" sz="2600" i="1" dirty="0">
                        <a:latin typeface="Cambria Math"/>
                      </a:rPr>
                      <m:t>𝐻</m:t>
                    </m:r>
                    <m:r>
                      <a:rPr lang="en-US" sz="2600" i="1" dirty="0">
                        <a:latin typeface="Cambria Math"/>
                      </a:rPr>
                      <m:t>(</m:t>
                    </m:r>
                    <m:r>
                      <a:rPr lang="en-US" sz="2600" i="1" dirty="0">
                        <a:latin typeface="Cambria Math"/>
                      </a:rPr>
                      <m:t>𝑌</m:t>
                    </m:r>
                    <m:r>
                      <a:rPr lang="en-US" sz="2600" i="1" dirty="0">
                        <a:latin typeface="Cambria Math"/>
                      </a:rPr>
                      <m:t>)=−½</m:t>
                    </m:r>
                    <m:r>
                      <m:rPr>
                        <m:sty m:val="p"/>
                      </m:rPr>
                      <a:rPr lang="en-US" sz="2600" i="1" dirty="0">
                        <a:latin typeface="Cambria Math"/>
                      </a:rPr>
                      <m:t>log</m:t>
                    </m:r>
                    <m:r>
                      <a:rPr lang="en-US" sz="2600" i="1" baseline="-25000" dirty="0">
                        <a:latin typeface="Cambria Math"/>
                      </a:rPr>
                      <m:t>2</m:t>
                    </m:r>
                    <m:r>
                      <a:rPr lang="en-US" sz="2600" i="1" dirty="0">
                        <a:latin typeface="Cambria Math"/>
                      </a:rPr>
                      <m:t>(½)−½</m:t>
                    </m:r>
                    <m:r>
                      <m:rPr>
                        <m:sty m:val="p"/>
                      </m:rPr>
                      <a:rPr lang="en-US" sz="2600" i="1" dirty="0">
                        <a:latin typeface="Cambria Math"/>
                      </a:rPr>
                      <m:t>log</m:t>
                    </m:r>
                    <m:r>
                      <a:rPr lang="en-US" sz="2600" i="1" baseline="-25000" dirty="0">
                        <a:latin typeface="Cambria Math"/>
                      </a:rPr>
                      <m:t>2</m:t>
                    </m:r>
                    <m:r>
                      <a:rPr lang="en-US" sz="2600" i="1" dirty="0">
                        <a:latin typeface="Cambria Math"/>
                      </a:rPr>
                      <m:t>(½) </m:t>
                    </m:r>
                    <m:r>
                      <a:rPr lang="en-US" sz="2600" b="1" i="1" dirty="0">
                        <a:latin typeface="Cambria Math"/>
                      </a:rPr>
                      <m:t>= </m:t>
                    </m:r>
                    <m:r>
                      <a:rPr lang="en-US" sz="2600" b="1" i="1" dirty="0">
                        <a:latin typeface="Cambria Math"/>
                      </a:rPr>
                      <m:t>𝟏</m:t>
                    </m:r>
                  </m:oMath>
                </a14:m>
                <a:endParaRPr lang="en-US" sz="2600" i="1" dirty="0">
                  <a:latin typeface="Cambria Math"/>
                </a:endParaRPr>
              </a:p>
              <a:p>
                <a:pPr lvl="1"/>
                <a14:m>
                  <m:oMath xmlns:m="http://schemas.openxmlformats.org/officeDocument/2006/math">
                    <m:r>
                      <a:rPr lang="en-US" i="1" dirty="0">
                        <a:latin typeface="Cambria Math"/>
                      </a:rPr>
                      <m:t>𝑃</m:t>
                    </m:r>
                    <m:r>
                      <a:rPr lang="en-US" i="1" dirty="0">
                        <a:latin typeface="Cambria Math"/>
                      </a:rPr>
                      <m:t>(</m:t>
                    </m:r>
                    <m:r>
                      <a:rPr lang="en-US" i="1" dirty="0">
                        <a:latin typeface="Cambria Math"/>
                      </a:rPr>
                      <m:t>𝑋</m:t>
                    </m:r>
                    <m:r>
                      <a:rPr lang="en-US" i="1" dirty="0">
                        <a:latin typeface="Cambria Math"/>
                      </a:rPr>
                      <m:t> =</m:t>
                    </m:r>
                    <m:r>
                      <a:rPr lang="en-US" b="0" i="1" dirty="0" smtClean="0">
                        <a:latin typeface="Cambria Math" panose="02040503050406030204" pitchFamily="18" charset="0"/>
                      </a:rPr>
                      <m:t>𝐶𝑆</m:t>
                    </m:r>
                    <m:r>
                      <a:rPr lang="en-US" i="1" dirty="0">
                        <a:latin typeface="Cambria Math"/>
                      </a:rPr>
                      <m:t>) = 0.</m:t>
                    </m:r>
                    <m:r>
                      <a:rPr lang="en-US" b="0" i="1" dirty="0" smtClean="0">
                        <a:latin typeface="Cambria Math" panose="02040503050406030204" pitchFamily="18" charset="0"/>
                      </a:rPr>
                      <m:t>2</m:t>
                    </m:r>
                    <m:r>
                      <a:rPr lang="en-US" i="1" dirty="0">
                        <a:latin typeface="Cambria Math"/>
                      </a:rPr>
                      <m:t>5</m:t>
                    </m:r>
                  </m:oMath>
                </a14:m>
                <a:endParaRPr lang="en-US" i="1" dirty="0">
                  <a:latin typeface="Cambria Math"/>
                </a:endParaRPr>
              </a:p>
              <a:p>
                <a:pPr lvl="1"/>
                <a14:m>
                  <m:oMath xmlns:m="http://schemas.openxmlformats.org/officeDocument/2006/math">
                    <m:r>
                      <a:rPr lang="en-US" i="1" dirty="0">
                        <a:latin typeface="Cambria Math"/>
                      </a:rPr>
                      <m:t>𝑃</m:t>
                    </m:r>
                    <m:r>
                      <a:rPr lang="en-US" i="1" dirty="0">
                        <a:latin typeface="Cambria Math"/>
                      </a:rPr>
                      <m:t>(</m:t>
                    </m:r>
                    <m:r>
                      <a:rPr lang="en-US" i="1" dirty="0">
                        <a:latin typeface="Cambria Math"/>
                      </a:rPr>
                      <m:t>𝑋</m:t>
                    </m:r>
                    <m:r>
                      <a:rPr lang="en-US" i="1" dirty="0">
                        <a:latin typeface="Cambria Math"/>
                      </a:rPr>
                      <m:t> =</m:t>
                    </m:r>
                    <m:r>
                      <a:rPr lang="en-US" b="0" i="1" dirty="0" smtClean="0">
                        <a:latin typeface="Cambria Math" panose="02040503050406030204" pitchFamily="18" charset="0"/>
                      </a:rPr>
                      <m:t>𝐻𝑖𝑠𝑡𝑜𝑟𝑦</m:t>
                    </m:r>
                    <m:r>
                      <a:rPr lang="en-US" i="1" dirty="0">
                        <a:latin typeface="Cambria Math"/>
                      </a:rPr>
                      <m:t>) = 0.</m:t>
                    </m:r>
                    <m:r>
                      <a:rPr lang="en-US" b="0" i="1" dirty="0" smtClean="0">
                        <a:latin typeface="Cambria Math" panose="02040503050406030204" pitchFamily="18" charset="0"/>
                      </a:rPr>
                      <m:t>2</m:t>
                    </m:r>
                    <m:r>
                      <a:rPr lang="en-US" i="1" dirty="0">
                        <a:latin typeface="Cambria Math"/>
                      </a:rPr>
                      <m:t>5</m:t>
                    </m:r>
                  </m:oMath>
                </a14:m>
                <a:endParaRPr lang="en-US" i="1" dirty="0">
                  <a:latin typeface="Cambria Math"/>
                </a:endParaRPr>
              </a:p>
              <a:p>
                <a:pPr lvl="1"/>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𝑋</m:t>
                    </m:r>
                    <m:r>
                      <a:rPr lang="en-US" i="1" dirty="0" smtClean="0">
                        <a:latin typeface="Cambria Math"/>
                      </a:rPr>
                      <m:t> = </m:t>
                    </m:r>
                    <m:r>
                      <a:rPr lang="en-US" i="1" dirty="0" smtClean="0">
                        <a:latin typeface="Cambria Math"/>
                      </a:rPr>
                      <m:t>𝑀𝑎𝑡h</m:t>
                    </m:r>
                    <m:r>
                      <a:rPr lang="en-US" i="1" dirty="0" smtClean="0">
                        <a:latin typeface="Cambria Math"/>
                      </a:rPr>
                      <m:t>) = 0.5</m:t>
                    </m:r>
                  </m:oMath>
                </a14:m>
                <a:endParaRPr lang="en-US" dirty="0"/>
              </a:p>
              <a:p>
                <a:pPr lvl="1"/>
                <a14:m>
                  <m:oMath xmlns:m="http://schemas.openxmlformats.org/officeDocument/2006/math">
                    <m:r>
                      <a:rPr lang="en-US" i="1" dirty="0">
                        <a:latin typeface="Cambria Math"/>
                      </a:rPr>
                      <m:t>𝐻</m:t>
                    </m:r>
                    <m:d>
                      <m:dPr>
                        <m:ctrlPr>
                          <a:rPr lang="en-US" i="1" dirty="0">
                            <a:latin typeface="Cambria Math" panose="02040503050406030204" pitchFamily="18" charset="0"/>
                          </a:rPr>
                        </m:ctrlPr>
                      </m:dPr>
                      <m:e>
                        <m:r>
                          <a:rPr lang="en-US" i="1" dirty="0">
                            <a:latin typeface="Cambria Math"/>
                          </a:rPr>
                          <m:t>𝑋</m:t>
                        </m:r>
                      </m:e>
                    </m:d>
                    <m:r>
                      <a:rPr lang="en-US" i="1" dirty="0">
                        <a:latin typeface="Cambria Math"/>
                      </a:rPr>
                      <m:t>=</m:t>
                    </m:r>
                    <m:nary>
                      <m:naryPr>
                        <m:chr m:val="∑"/>
                        <m:ctrlPr>
                          <a:rPr lang="en-US" i="1">
                            <a:latin typeface="Cambria Math" panose="02040503050406030204" pitchFamily="18" charset="0"/>
                          </a:rPr>
                        </m:ctrlPr>
                      </m:naryPr>
                      <m:sub>
                        <m:r>
                          <m:rPr>
                            <m:brk m:alnAt="23"/>
                          </m:rPr>
                          <a:rPr lang="en-US" i="1">
                            <a:latin typeface="Cambria Math"/>
                          </a:rPr>
                          <m:t>𝑗</m:t>
                        </m:r>
                        <m:r>
                          <a:rPr lang="en-US" i="1">
                            <a:latin typeface="Cambria Math"/>
                          </a:rPr>
                          <m:t>=1</m:t>
                        </m:r>
                      </m:sub>
                      <m:sup>
                        <m:r>
                          <a:rPr lang="en-US" i="1">
                            <a:latin typeface="Cambria Math"/>
                          </a:rPr>
                          <m:t>𝑚</m:t>
                        </m:r>
                      </m:sup>
                      <m:e>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e>
                        </m:d>
                        <m:func>
                          <m:funcPr>
                            <m:ctrlPr>
                              <a:rPr lang="en-US" i="1">
                                <a:latin typeface="Cambria Math" panose="02040503050406030204" pitchFamily="18" charset="0"/>
                              </a:rPr>
                            </m:ctrlPr>
                          </m:funcPr>
                          <m:fName>
                            <m:r>
                              <a:rPr lang="en-US" i="1">
                                <a:latin typeface="Cambria Math"/>
                              </a:rPr>
                              <m:t>𝑙𝑜𝑔</m:t>
                            </m:r>
                          </m:fName>
                          <m:e>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e>
                            </m:d>
                          </m:e>
                        </m:func>
                      </m:e>
                    </m:nary>
                    <m:r>
                      <a:rPr lang="en-US" i="1">
                        <a:latin typeface="Cambria Math" panose="02040503050406030204" pitchFamily="18" charset="0"/>
                      </a:rPr>
                      <m:t>=</m:t>
                    </m:r>
                    <m:r>
                      <a:rPr lang="en-US" i="1" dirty="0">
                        <a:latin typeface="Cambria Math"/>
                      </a:rPr>
                      <m:t>1.5</m:t>
                    </m:r>
                  </m:oMath>
                </a14:m>
                <a:endParaRPr lang="en-US" dirty="0"/>
              </a:p>
              <a:p>
                <a:pPr marL="118872" indent="0">
                  <a:buNone/>
                </a:pPr>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792996" y="2903220"/>
                <a:ext cx="6351004" cy="3954780"/>
              </a:xfrm>
              <a:prstGeom prst="rect">
                <a:avLst/>
              </a:prstGeom>
              <a:blipFill>
                <a:blip r:embed="rId4"/>
                <a:stretch>
                  <a:fillRect t="-641" b="-19872"/>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2196850729"/>
              </p:ext>
            </p:extLst>
          </p:nvPr>
        </p:nvGraphicFramePr>
        <p:xfrm>
          <a:off x="609600" y="3048000"/>
          <a:ext cx="2133600" cy="3332480"/>
        </p:xfrm>
        <a:graphic>
          <a:graphicData uri="http://schemas.openxmlformats.org/drawingml/2006/table">
            <a:tbl>
              <a:tblPr firstRow="1" bandRow="1">
                <a:tableStyleId>{073A0DAA-6AF3-43AB-8588-CEC1D06C72B9}</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142240">
                <a:tc>
                  <a:txBody>
                    <a:bodyPr/>
                    <a:lstStyle/>
                    <a:p>
                      <a:pPr algn="ctr"/>
                      <a:r>
                        <a:rPr lang="en-US"/>
                        <a:t>X</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1"/>
                  </a:ext>
                </a:extLst>
              </a:tr>
              <a:tr h="370840">
                <a:tc>
                  <a:txBody>
                    <a:bodyPr/>
                    <a:lstStyle/>
                    <a:p>
                      <a:r>
                        <a:rPr lang="en-US" dirty="0">
                          <a:latin typeface="Arial" pitchFamily="34" charset="0"/>
                          <a:cs typeface="Arial" pitchFamily="34" charset="0"/>
                        </a:rPr>
                        <a:t>History</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2"/>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3"/>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4"/>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5"/>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6"/>
                  </a:ext>
                </a:extLst>
              </a:tr>
              <a:tr h="370840">
                <a:tc>
                  <a:txBody>
                    <a:bodyPr/>
                    <a:lstStyle/>
                    <a:p>
                      <a:r>
                        <a:rPr lang="en-US" dirty="0">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7"/>
                  </a:ext>
                </a:extLst>
              </a:tr>
              <a:tr h="370840">
                <a:tc>
                  <a:txBody>
                    <a:bodyPr/>
                    <a:lstStyle/>
                    <a:p>
                      <a:r>
                        <a:rPr lang="en-US" dirty="0">
                          <a:latin typeface="Arial" pitchFamily="34" charset="0"/>
                          <a:cs typeface="Arial" pitchFamily="34" charset="0"/>
                        </a:rPr>
                        <a:t>History</a:t>
                      </a:r>
                    </a:p>
                  </a:txBody>
                  <a:tcPr/>
                </a:tc>
                <a:tc>
                  <a:txBody>
                    <a:bodyPr/>
                    <a:lstStyle/>
                    <a:p>
                      <a:r>
                        <a:rPr lang="en-US" dirty="0">
                          <a:latin typeface="Arial" pitchFamily="34" charset="0"/>
                          <a:cs typeface="Arial" pitchFamily="34" charset="0"/>
                        </a:rPr>
                        <a:t>No</a:t>
                      </a:r>
                    </a:p>
                  </a:txBody>
                  <a:tcPr/>
                </a:tc>
                <a:extLst>
                  <a:ext uri="{0D108BD9-81ED-4DB2-BD59-A6C34878D82A}">
                    <a16:rowId xmlns:a16="http://schemas.microsoft.com/office/drawing/2014/main" val="10008"/>
                  </a:ext>
                </a:extLst>
              </a:tr>
            </a:tbl>
          </a:graphicData>
        </a:graphic>
      </p:graphicFrame>
      <p:sp>
        <p:nvSpPr>
          <p:cNvPr id="5" name="Date Placeholder 4"/>
          <p:cNvSpPr>
            <a:spLocks noGrp="1"/>
          </p:cNvSpPr>
          <p:nvPr>
            <p:ph type="dt" sz="half" idx="10"/>
          </p:nvPr>
        </p:nvSpPr>
        <p:spPr/>
        <p:txBody>
          <a:bodyPr/>
          <a:lstStyle/>
          <a:p>
            <a:fld id="{4EE20F6A-921D-9045-BCF8-00E91E729F7D}" type="datetime1">
              <a:rPr lang="en-US" smtClean="0"/>
              <a:t>10/1/24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215078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Information Gain? Entropy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1752600"/>
              </a:xfrm>
            </p:spPr>
            <p:txBody>
              <a:bodyPr>
                <a:normAutofit/>
              </a:bodyPr>
              <a:lstStyle/>
              <a:p>
                <a:r>
                  <a:rPr lang="en-US" b="1" dirty="0">
                    <a:solidFill>
                      <a:srgbClr val="FF0066"/>
                    </a:solidFill>
                  </a:rPr>
                  <a:t>Suppose I want to predict </a:t>
                </a:r>
                <a14:m>
                  <m:oMath xmlns:m="http://schemas.openxmlformats.org/officeDocument/2006/math">
                    <m:r>
                      <a:rPr lang="en-US" b="1" i="1" dirty="0">
                        <a:latin typeface="Cambria Math"/>
                      </a:rPr>
                      <m:t>𝒀</m:t>
                    </m:r>
                  </m:oMath>
                </a14:m>
                <a:r>
                  <a:rPr lang="en-US" b="1" dirty="0">
                    <a:solidFill>
                      <a:srgbClr val="FF0066"/>
                    </a:solidFill>
                  </a:rPr>
                  <a:t> and I have input </a:t>
                </a:r>
                <a14:m>
                  <m:oMath xmlns:m="http://schemas.openxmlformats.org/officeDocument/2006/math">
                    <m:r>
                      <a:rPr lang="en-US" b="1" i="1" dirty="0">
                        <a:latin typeface="Cambria Math"/>
                      </a:rPr>
                      <m:t>𝑿</m:t>
                    </m:r>
                  </m:oMath>
                </a14:m>
                <a:endParaRPr lang="en-US" b="1" dirty="0">
                  <a:solidFill>
                    <a:srgbClr val="FF0066"/>
                  </a:solidFill>
                </a:endParaRPr>
              </a:p>
              <a:p>
                <a:pPr lvl="1"/>
                <a14:m>
                  <m:oMath xmlns:m="http://schemas.openxmlformats.org/officeDocument/2006/math">
                    <m:r>
                      <a:rPr lang="en-US" b="1" i="1" dirty="0">
                        <a:latin typeface="Cambria Math"/>
                      </a:rPr>
                      <m:t>𝑿</m:t>
                    </m:r>
                  </m:oMath>
                </a14:m>
                <a:r>
                  <a:rPr lang="en-US" dirty="0"/>
                  <a:t> = College Major</a:t>
                </a:r>
              </a:p>
              <a:p>
                <a:pPr lvl="1"/>
                <a14:m>
                  <m:oMath xmlns:m="http://schemas.openxmlformats.org/officeDocument/2006/math">
                    <m:r>
                      <a:rPr lang="en-US" b="1" i="1" dirty="0">
                        <a:latin typeface="Cambria Math"/>
                      </a:rPr>
                      <m:t>𝒀</m:t>
                    </m:r>
                  </m:oMath>
                </a14:m>
                <a:r>
                  <a:rPr lang="en-US" dirty="0"/>
                  <a:t> = Likes “Casablanca”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1752600"/>
              </a:xfrm>
              <a:blipFill>
                <a:blip r:embed="rId2"/>
                <a:stretch>
                  <a:fillRect l="-283" t="-1742" b="-41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22</a:t>
            </a:fld>
            <a:endParaRPr lang="en-US"/>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2743200" y="2903220"/>
                <a:ext cx="6400800" cy="39547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n-US" b="1" dirty="0"/>
                  <a:t>Def: </a:t>
                </a:r>
                <a:r>
                  <a:rPr lang="en-US" b="1" dirty="0">
                    <a:solidFill>
                      <a:srgbClr val="0000FF"/>
                    </a:solidFill>
                  </a:rPr>
                  <a:t>Specific Conditional Entropy</a:t>
                </a:r>
              </a:p>
              <a:p>
                <a:pPr lvl="1"/>
                <a14:m>
                  <m:oMath xmlns:m="http://schemas.openxmlformats.org/officeDocument/2006/math">
                    <m:r>
                      <a:rPr lang="en-US" b="1" i="1" dirty="0" smtClean="0">
                        <a:latin typeface="Cambria Math" panose="02040503050406030204" pitchFamily="18" charset="0"/>
                      </a:rPr>
                      <m:t>𝑯</m:t>
                    </m:r>
                    <m:r>
                      <a:rPr lang="en-US" b="1" i="1" dirty="0" smtClean="0">
                        <a:latin typeface="Cambria Math" panose="02040503050406030204" pitchFamily="18" charset="0"/>
                      </a:rPr>
                      <m:t>(</m:t>
                    </m:r>
                    <m:r>
                      <a:rPr lang="en-US" b="1" i="1" dirty="0" smtClean="0">
                        <a:latin typeface="Cambria Math" panose="02040503050406030204" pitchFamily="18" charset="0"/>
                      </a:rPr>
                      <m:t>𝒀</m:t>
                    </m:r>
                    <m:r>
                      <a:rPr lang="en-US" b="1" i="1" dirty="0" smtClean="0">
                        <a:latin typeface="Cambria Math" panose="02040503050406030204" pitchFamily="18" charset="0"/>
                      </a:rPr>
                      <m:t> | </m:t>
                    </m:r>
                    <m:r>
                      <a:rPr lang="en-US" b="1" i="1" dirty="0" smtClean="0">
                        <a:latin typeface="Cambria Math" panose="02040503050406030204" pitchFamily="18" charset="0"/>
                      </a:rPr>
                      <m:t>𝑿</m:t>
                    </m:r>
                    <m:r>
                      <a:rPr lang="en-US" b="1" i="1" dirty="0" smtClean="0">
                        <a:latin typeface="Cambria Math" panose="02040503050406030204" pitchFamily="18" charset="0"/>
                      </a:rPr>
                      <m:t>=</m:t>
                    </m:r>
                    <m:r>
                      <a:rPr lang="en-US" b="1" i="1" dirty="0" smtClean="0">
                        <a:latin typeface="Cambria Math" panose="02040503050406030204" pitchFamily="18" charset="0"/>
                      </a:rPr>
                      <m:t>𝒗</m:t>
                    </m:r>
                    <m:r>
                      <a:rPr lang="en-US" b="1" i="1" dirty="0" smtClean="0">
                        <a:latin typeface="Cambria Math" panose="02040503050406030204" pitchFamily="18" charset="0"/>
                      </a:rPr>
                      <m:t>)</m:t>
                    </m:r>
                  </m:oMath>
                </a14:m>
                <a:r>
                  <a:rPr lang="en-US" dirty="0"/>
                  <a:t> = The entropy of </a:t>
                </a:r>
                <a14:m>
                  <m:oMath xmlns:m="http://schemas.openxmlformats.org/officeDocument/2006/math">
                    <m:r>
                      <a:rPr lang="en-US" b="1" i="1" dirty="0" smtClean="0">
                        <a:latin typeface="Cambria Math" panose="02040503050406030204" pitchFamily="18" charset="0"/>
                      </a:rPr>
                      <m:t>𝒀</m:t>
                    </m:r>
                  </m:oMath>
                </a14:m>
                <a:r>
                  <a:rPr lang="en-US" b="1" dirty="0"/>
                  <a:t> </a:t>
                </a:r>
                <a:r>
                  <a:rPr lang="en-US" dirty="0"/>
                  <a:t>among only those records in which </a:t>
                </a:r>
                <a14:m>
                  <m:oMath xmlns:m="http://schemas.openxmlformats.org/officeDocument/2006/math">
                    <m:r>
                      <a:rPr lang="en-US" b="1" i="1" dirty="0" smtClean="0">
                        <a:latin typeface="Cambria Math" panose="02040503050406030204" pitchFamily="18" charset="0"/>
                      </a:rPr>
                      <m:t>𝑿</m:t>
                    </m:r>
                  </m:oMath>
                </a14:m>
                <a:r>
                  <a:rPr lang="en-US" dirty="0"/>
                  <a:t> has value </a:t>
                </a:r>
                <a14:m>
                  <m:oMath xmlns:m="http://schemas.openxmlformats.org/officeDocument/2006/math">
                    <m:r>
                      <a:rPr lang="en-US" b="1" i="1" dirty="0" smtClean="0">
                        <a:latin typeface="Cambria Math" panose="02040503050406030204" pitchFamily="18" charset="0"/>
                      </a:rPr>
                      <m:t>𝒗</m:t>
                    </m:r>
                  </m:oMath>
                </a14:m>
                <a:endParaRPr lang="en-US" b="1" dirty="0"/>
              </a:p>
              <a:p>
                <a:pPr lvl="1"/>
                <a:r>
                  <a:rPr lang="en-US" b="1" dirty="0">
                    <a:solidFill>
                      <a:srgbClr val="008000"/>
                    </a:solidFill>
                  </a:rPr>
                  <a:t>Example:</a:t>
                </a:r>
              </a:p>
              <a:p>
                <a:pPr lvl="2"/>
                <a14:m>
                  <m:oMath xmlns:m="http://schemas.openxmlformats.org/officeDocument/2006/math">
                    <m:r>
                      <a:rPr lang="en-US" i="1" dirty="0" smtClean="0">
                        <a:latin typeface="Cambria Math"/>
                      </a:rPr>
                      <m:t>𝐻</m:t>
                    </m:r>
                    <m:r>
                      <a:rPr lang="en-US" i="1" dirty="0" smtClean="0">
                        <a:latin typeface="Cambria Math"/>
                      </a:rPr>
                      <m:t>(</m:t>
                    </m:r>
                    <m:r>
                      <a:rPr lang="en-US" i="1" dirty="0" smtClean="0">
                        <a:latin typeface="Cambria Math"/>
                      </a:rPr>
                      <m:t>𝑌</m:t>
                    </m:r>
                    <m:r>
                      <a:rPr lang="en-US" i="1" dirty="0" smtClean="0">
                        <a:latin typeface="Cambria Math"/>
                      </a:rPr>
                      <m:t>|</m:t>
                    </m:r>
                    <m:r>
                      <a:rPr lang="en-US" i="1" dirty="0" smtClean="0">
                        <a:latin typeface="Cambria Math"/>
                      </a:rPr>
                      <m:t>𝑋</m:t>
                    </m:r>
                    <m:r>
                      <a:rPr lang="en-US" i="1" dirty="0" smtClean="0">
                        <a:latin typeface="Cambria Math"/>
                      </a:rPr>
                      <m:t>=</m:t>
                    </m:r>
                    <m:r>
                      <a:rPr lang="en-US" i="1" dirty="0" smtClean="0">
                        <a:latin typeface="Cambria Math"/>
                      </a:rPr>
                      <m:t>𝑀𝑎𝑡h</m:t>
                    </m:r>
                    <m:r>
                      <a:rPr lang="en-US" i="1" dirty="0">
                        <a:latin typeface="Cambria Math"/>
                      </a:rPr>
                      <m:t>) = 1</m:t>
                    </m:r>
                  </m:oMath>
                </a14:m>
                <a:endParaRPr lang="en-US" dirty="0"/>
              </a:p>
              <a:p>
                <a:pPr lvl="2"/>
                <a14:m>
                  <m:oMath xmlns:m="http://schemas.openxmlformats.org/officeDocument/2006/math">
                    <m:r>
                      <a:rPr lang="en-US" i="1" dirty="0" smtClean="0">
                        <a:latin typeface="Cambria Math"/>
                      </a:rPr>
                      <m:t>𝐻</m:t>
                    </m:r>
                    <m:r>
                      <a:rPr lang="en-US" i="1" dirty="0" smtClean="0">
                        <a:latin typeface="Cambria Math"/>
                      </a:rPr>
                      <m:t>(</m:t>
                    </m:r>
                    <m:r>
                      <a:rPr lang="en-US" i="1" dirty="0" smtClean="0">
                        <a:latin typeface="Cambria Math"/>
                      </a:rPr>
                      <m:t>𝑌</m:t>
                    </m:r>
                    <m:r>
                      <a:rPr lang="en-US" i="1" dirty="0" smtClean="0">
                        <a:latin typeface="Cambria Math"/>
                      </a:rPr>
                      <m:t>|</m:t>
                    </m:r>
                    <m:r>
                      <a:rPr lang="en-US" i="1" dirty="0" smtClean="0">
                        <a:latin typeface="Cambria Math"/>
                      </a:rPr>
                      <m:t>𝑋</m:t>
                    </m:r>
                    <m:r>
                      <a:rPr lang="en-US" i="1" dirty="0" smtClean="0">
                        <a:latin typeface="Cambria Math"/>
                      </a:rPr>
                      <m:t>=</m:t>
                    </m:r>
                    <m:r>
                      <a:rPr lang="en-US" i="1" dirty="0" smtClean="0">
                        <a:latin typeface="Cambria Math"/>
                      </a:rPr>
                      <m:t>𝐻𝑖𝑠𝑡𝑜𝑟𝑦</m:t>
                    </m:r>
                    <m:r>
                      <a:rPr lang="en-US" i="1" dirty="0">
                        <a:latin typeface="Cambria Math"/>
                      </a:rPr>
                      <m:t>) = 0</m:t>
                    </m:r>
                  </m:oMath>
                </a14:m>
                <a:endParaRPr lang="en-US" dirty="0"/>
              </a:p>
              <a:p>
                <a:pPr lvl="2"/>
                <a14:m>
                  <m:oMath xmlns:m="http://schemas.openxmlformats.org/officeDocument/2006/math">
                    <m:r>
                      <a:rPr lang="en-US" i="1" dirty="0" smtClean="0">
                        <a:latin typeface="Cambria Math"/>
                      </a:rPr>
                      <m:t>𝐻</m:t>
                    </m:r>
                    <m:r>
                      <a:rPr lang="en-US" i="1" dirty="0" smtClean="0">
                        <a:latin typeface="Cambria Math"/>
                      </a:rPr>
                      <m:t>(</m:t>
                    </m:r>
                    <m:r>
                      <a:rPr lang="en-US" i="1" dirty="0" smtClean="0">
                        <a:latin typeface="Cambria Math"/>
                      </a:rPr>
                      <m:t>𝑌</m:t>
                    </m:r>
                    <m:r>
                      <a:rPr lang="en-US" i="1" dirty="0" smtClean="0">
                        <a:latin typeface="Cambria Math"/>
                      </a:rPr>
                      <m:t>|</m:t>
                    </m:r>
                    <m:r>
                      <a:rPr lang="en-US" i="1" dirty="0" smtClean="0">
                        <a:latin typeface="Cambria Math"/>
                      </a:rPr>
                      <m:t>𝑋</m:t>
                    </m:r>
                    <m:r>
                      <a:rPr lang="en-US" i="1" dirty="0" smtClean="0">
                        <a:latin typeface="Cambria Math"/>
                      </a:rPr>
                      <m:t>=</m:t>
                    </m:r>
                    <m:r>
                      <a:rPr lang="en-US" i="1" dirty="0" smtClean="0">
                        <a:latin typeface="Cambria Math"/>
                      </a:rPr>
                      <m:t>𝐶𝑆</m:t>
                    </m:r>
                    <m:r>
                      <a:rPr lang="en-US" i="1" dirty="0">
                        <a:latin typeface="Cambria Math"/>
                      </a:rPr>
                      <m:t>) = 0</m:t>
                    </m:r>
                  </m:oMath>
                </a14:m>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743200" y="2903220"/>
                <a:ext cx="6400800" cy="3954780"/>
              </a:xfrm>
              <a:prstGeom prst="rect">
                <a:avLst/>
              </a:prstGeom>
              <a:blipFill>
                <a:blip r:embed="rId3"/>
                <a:stretch>
                  <a:fillRect l="-381" t="-770"/>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3405303146"/>
              </p:ext>
            </p:extLst>
          </p:nvPr>
        </p:nvGraphicFramePr>
        <p:xfrm>
          <a:off x="609600" y="3048000"/>
          <a:ext cx="2133600" cy="3332480"/>
        </p:xfrm>
        <a:graphic>
          <a:graphicData uri="http://schemas.openxmlformats.org/drawingml/2006/table">
            <a:tbl>
              <a:tblPr firstRow="1" bandRow="1">
                <a:tableStyleId>{073A0DAA-6AF3-43AB-8588-CEC1D06C72B9}</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142240">
                <a:tc>
                  <a:txBody>
                    <a:bodyPr/>
                    <a:lstStyle/>
                    <a:p>
                      <a:pPr algn="ctr"/>
                      <a:r>
                        <a:rPr lang="en-US"/>
                        <a:t>X</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1"/>
                  </a:ext>
                </a:extLst>
              </a:tr>
              <a:tr h="370840">
                <a:tc>
                  <a:txBody>
                    <a:bodyPr/>
                    <a:lstStyle/>
                    <a:p>
                      <a:r>
                        <a:rPr lang="en-US" dirty="0">
                          <a:latin typeface="Arial" pitchFamily="34" charset="0"/>
                          <a:cs typeface="Arial" pitchFamily="34" charset="0"/>
                        </a:rPr>
                        <a:t>History</a:t>
                      </a:r>
                    </a:p>
                  </a:txBody>
                  <a:tcPr/>
                </a:tc>
                <a:tc>
                  <a:txBody>
                    <a:bodyPr/>
                    <a:lstStyle/>
                    <a:p>
                      <a:r>
                        <a:rPr lang="en-US" dirty="0">
                          <a:latin typeface="Arial" pitchFamily="34" charset="0"/>
                          <a:cs typeface="Arial" pitchFamily="34" charset="0"/>
                        </a:rPr>
                        <a:t>No</a:t>
                      </a:r>
                    </a:p>
                  </a:txBody>
                  <a:tcPr/>
                </a:tc>
                <a:extLst>
                  <a:ext uri="{0D108BD9-81ED-4DB2-BD59-A6C34878D82A}">
                    <a16:rowId xmlns:a16="http://schemas.microsoft.com/office/drawing/2014/main" val="10002"/>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3"/>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4"/>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5"/>
                  </a:ext>
                </a:extLst>
              </a:tr>
              <a:tr h="370840">
                <a:tc>
                  <a:txBody>
                    <a:bodyPr/>
                    <a:lstStyle/>
                    <a:p>
                      <a:r>
                        <a:rPr lang="en-US">
                          <a:latin typeface="Arial" pitchFamily="34" charset="0"/>
                          <a:cs typeface="Arial" pitchFamily="34" charset="0"/>
                        </a:rPr>
                        <a:t>CS</a:t>
                      </a:r>
                    </a:p>
                  </a:txBody>
                  <a:tcPr/>
                </a:tc>
                <a:tc>
                  <a:txBody>
                    <a:bodyPr/>
                    <a:lstStyle/>
                    <a:p>
                      <a:r>
                        <a:rPr lang="en-US" dirty="0">
                          <a:latin typeface="Arial" pitchFamily="34" charset="0"/>
                          <a:cs typeface="Arial" pitchFamily="34" charset="0"/>
                        </a:rPr>
                        <a:t>Yes</a:t>
                      </a:r>
                    </a:p>
                  </a:txBody>
                  <a:tcPr/>
                </a:tc>
                <a:extLst>
                  <a:ext uri="{0D108BD9-81ED-4DB2-BD59-A6C34878D82A}">
                    <a16:rowId xmlns:a16="http://schemas.microsoft.com/office/drawing/2014/main" val="10006"/>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7"/>
                  </a:ext>
                </a:extLst>
              </a:tr>
              <a:tr h="370840">
                <a:tc>
                  <a:txBody>
                    <a:bodyPr/>
                    <a:lstStyle/>
                    <a:p>
                      <a:r>
                        <a:rPr lang="en-US">
                          <a:latin typeface="Arial" pitchFamily="34" charset="0"/>
                          <a:cs typeface="Arial" pitchFamily="34" charset="0"/>
                        </a:rPr>
                        <a:t>History</a:t>
                      </a:r>
                    </a:p>
                  </a:txBody>
                  <a:tcPr/>
                </a:tc>
                <a:tc>
                  <a:txBody>
                    <a:bodyPr/>
                    <a:lstStyle/>
                    <a:p>
                      <a:r>
                        <a:rPr lang="en-US" dirty="0">
                          <a:latin typeface="Arial" pitchFamily="34" charset="0"/>
                          <a:cs typeface="Arial" pitchFamily="34" charset="0"/>
                        </a:rPr>
                        <a:t>No</a:t>
                      </a:r>
                    </a:p>
                  </a:txBody>
                  <a:tcPr/>
                </a:tc>
                <a:extLst>
                  <a:ext uri="{0D108BD9-81ED-4DB2-BD59-A6C34878D82A}">
                    <a16:rowId xmlns:a16="http://schemas.microsoft.com/office/drawing/2014/main" val="10008"/>
                  </a:ext>
                </a:extLst>
              </a:tr>
            </a:tbl>
          </a:graphicData>
        </a:graphic>
      </p:graphicFrame>
      <p:sp>
        <p:nvSpPr>
          <p:cNvPr id="5" name="Date Placeholder 4"/>
          <p:cNvSpPr>
            <a:spLocks noGrp="1"/>
          </p:cNvSpPr>
          <p:nvPr>
            <p:ph type="dt" sz="half" idx="10"/>
          </p:nvPr>
        </p:nvSpPr>
        <p:spPr/>
        <p:txBody>
          <a:bodyPr/>
          <a:lstStyle/>
          <a:p>
            <a:fld id="{605FE980-90CD-7A47-960F-120173EFE45B}" type="datetime1">
              <a:rPr lang="en-US" smtClean="0"/>
              <a:t>10/1/24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3534817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Information Gain?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1752600"/>
              </a:xfrm>
            </p:spPr>
            <p:txBody>
              <a:bodyPr>
                <a:normAutofit/>
              </a:bodyPr>
              <a:lstStyle/>
              <a:p>
                <a:r>
                  <a:rPr lang="en-US" b="1" dirty="0">
                    <a:solidFill>
                      <a:srgbClr val="FF0066"/>
                    </a:solidFill>
                  </a:rPr>
                  <a:t>Suppose I want to predict </a:t>
                </a:r>
                <a14:m>
                  <m:oMath xmlns:m="http://schemas.openxmlformats.org/officeDocument/2006/math">
                    <m:r>
                      <a:rPr lang="en-US" b="1" i="1" dirty="0">
                        <a:latin typeface="Cambria Math"/>
                      </a:rPr>
                      <m:t>𝒀</m:t>
                    </m:r>
                  </m:oMath>
                </a14:m>
                <a:r>
                  <a:rPr lang="en-US" b="1" dirty="0">
                    <a:solidFill>
                      <a:srgbClr val="FF0066"/>
                    </a:solidFill>
                  </a:rPr>
                  <a:t> and I have input </a:t>
                </a:r>
                <a14:m>
                  <m:oMath xmlns:m="http://schemas.openxmlformats.org/officeDocument/2006/math">
                    <m:r>
                      <a:rPr lang="en-US" b="1" i="1" dirty="0">
                        <a:latin typeface="Cambria Math"/>
                      </a:rPr>
                      <m:t>𝑿</m:t>
                    </m:r>
                  </m:oMath>
                </a14:m>
                <a:endParaRPr lang="en-US" b="1" dirty="0">
                  <a:solidFill>
                    <a:srgbClr val="FF0066"/>
                  </a:solidFill>
                </a:endParaRPr>
              </a:p>
              <a:p>
                <a:pPr lvl="1"/>
                <a14:m>
                  <m:oMath xmlns:m="http://schemas.openxmlformats.org/officeDocument/2006/math">
                    <m:r>
                      <a:rPr lang="en-US" b="1" i="1" dirty="0" smtClean="0">
                        <a:latin typeface="Cambria Math"/>
                      </a:rPr>
                      <m:t>𝑿</m:t>
                    </m:r>
                  </m:oMath>
                </a14:m>
                <a:r>
                  <a:rPr lang="en-US" dirty="0"/>
                  <a:t> = College Major</a:t>
                </a:r>
              </a:p>
              <a:p>
                <a:pPr lvl="1"/>
                <a14:m>
                  <m:oMath xmlns:m="http://schemas.openxmlformats.org/officeDocument/2006/math">
                    <m:r>
                      <a:rPr lang="en-US" b="1" i="1" dirty="0" smtClean="0">
                        <a:latin typeface="Cambria Math"/>
                      </a:rPr>
                      <m:t>𝒀</m:t>
                    </m:r>
                  </m:oMath>
                </a14:m>
                <a:r>
                  <a:rPr lang="en-US" dirty="0"/>
                  <a:t> = Likes “Casablanca”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1752600"/>
              </a:xfrm>
              <a:blipFill>
                <a:blip r:embed="rId3"/>
                <a:stretch>
                  <a:fillRect l="-283" t="-1742" b="-41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23</a:t>
            </a:fld>
            <a:endParaRPr lang="en-US"/>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2743200" y="2903220"/>
                <a:ext cx="6400800" cy="3954780"/>
              </a:xfrm>
              <a:prstGeom prst="rect">
                <a:avLst/>
              </a:prstGeom>
            </p:spPr>
            <p:txBody>
              <a:bodyPr vert="horz" lIns="54864" tIns="91440" rtlCol="0">
                <a:normAutofit lnSpcReduction="10000"/>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n-US" b="1" dirty="0"/>
                  <a:t>Def: </a:t>
                </a:r>
                <a:r>
                  <a:rPr lang="en-US" b="1" dirty="0">
                    <a:solidFill>
                      <a:srgbClr val="0000FF"/>
                    </a:solidFill>
                  </a:rPr>
                  <a:t>Conditional Entropy</a:t>
                </a:r>
              </a:p>
              <a:p>
                <a:pPr lvl="1"/>
                <a14:m>
                  <m:oMath xmlns:m="http://schemas.openxmlformats.org/officeDocument/2006/math">
                    <m:r>
                      <a:rPr lang="en-US" b="1" i="1" dirty="0" smtClean="0">
                        <a:solidFill>
                          <a:srgbClr val="008000"/>
                        </a:solidFill>
                        <a:latin typeface="Cambria Math"/>
                      </a:rPr>
                      <m:t>𝑯</m:t>
                    </m:r>
                    <m:r>
                      <a:rPr lang="en-US" b="1" i="1" dirty="0" smtClean="0">
                        <a:solidFill>
                          <a:srgbClr val="008000"/>
                        </a:solidFill>
                        <a:latin typeface="Cambria Math"/>
                      </a:rPr>
                      <m:t>(</m:t>
                    </m:r>
                    <m:r>
                      <a:rPr lang="en-US" b="1" i="1" dirty="0" smtClean="0">
                        <a:solidFill>
                          <a:srgbClr val="008000"/>
                        </a:solidFill>
                        <a:latin typeface="Cambria Math"/>
                      </a:rPr>
                      <m:t>𝒀</m:t>
                    </m:r>
                    <m:r>
                      <a:rPr lang="en-US" b="1" i="1" dirty="0" smtClean="0">
                        <a:solidFill>
                          <a:srgbClr val="008000"/>
                        </a:solidFill>
                        <a:latin typeface="Cambria Math"/>
                      </a:rPr>
                      <m:t> | </m:t>
                    </m:r>
                    <m:r>
                      <a:rPr lang="en-US" b="1" i="1" dirty="0" smtClean="0">
                        <a:solidFill>
                          <a:srgbClr val="008000"/>
                        </a:solidFill>
                        <a:latin typeface="Cambria Math"/>
                      </a:rPr>
                      <m:t>𝑿</m:t>
                    </m:r>
                    <m:r>
                      <a:rPr lang="en-US" b="1" i="1" dirty="0" smtClean="0">
                        <a:solidFill>
                          <a:srgbClr val="008000"/>
                        </a:solidFill>
                        <a:latin typeface="Cambria Math"/>
                      </a:rPr>
                      <m:t>) =</m:t>
                    </m:r>
                  </m:oMath>
                </a14:m>
                <a:r>
                  <a:rPr lang="en-US" dirty="0"/>
                  <a:t> The average specific conditional entropy of </a:t>
                </a:r>
                <a14:m>
                  <m:oMath xmlns:m="http://schemas.openxmlformats.org/officeDocument/2006/math">
                    <m:r>
                      <a:rPr lang="en-US" b="1" i="1" dirty="0" smtClean="0">
                        <a:latin typeface="Cambria Math" panose="02040503050406030204" pitchFamily="18" charset="0"/>
                      </a:rPr>
                      <m:t>𝒀</m:t>
                    </m:r>
                  </m:oMath>
                </a14:m>
                <a:endParaRPr lang="en-US" b="1" dirty="0"/>
              </a:p>
              <a:p>
                <a:pPr lvl="2"/>
                <a:r>
                  <a:rPr lang="en-US" b="1" dirty="0"/>
                  <a:t>=</a:t>
                </a:r>
                <a:r>
                  <a:rPr lang="en-US" dirty="0"/>
                  <a:t> if you choose a record at random what will be the conditional entropy of </a:t>
                </a:r>
                <a14:m>
                  <m:oMath xmlns:m="http://schemas.openxmlformats.org/officeDocument/2006/math">
                    <m:r>
                      <a:rPr lang="en-US" b="1" i="1" dirty="0" smtClean="0">
                        <a:latin typeface="Cambria Math" panose="02040503050406030204" pitchFamily="18" charset="0"/>
                      </a:rPr>
                      <m:t>𝒀</m:t>
                    </m:r>
                  </m:oMath>
                </a14:m>
                <a:r>
                  <a:rPr lang="en-US" dirty="0"/>
                  <a:t>, conditioned on that row’s value of </a:t>
                </a:r>
                <a14:m>
                  <m:oMath xmlns:m="http://schemas.openxmlformats.org/officeDocument/2006/math">
                    <m:r>
                      <a:rPr lang="en-US" b="1" i="1" dirty="0" smtClean="0">
                        <a:latin typeface="Cambria Math" panose="02040503050406030204" pitchFamily="18" charset="0"/>
                      </a:rPr>
                      <m:t>𝑿</m:t>
                    </m:r>
                  </m:oMath>
                </a14:m>
                <a:endParaRPr lang="en-US" b="1" dirty="0"/>
              </a:p>
              <a:p>
                <a:pPr lvl="2"/>
                <a:r>
                  <a:rPr lang="en-US" b="1" dirty="0"/>
                  <a:t>=</a:t>
                </a:r>
                <a:r>
                  <a:rPr lang="en-US" dirty="0"/>
                  <a:t> Expected number of bits to transmit </a:t>
                </a:r>
                <a14:m>
                  <m:oMath xmlns:m="http://schemas.openxmlformats.org/officeDocument/2006/math">
                    <m:r>
                      <a:rPr lang="en-US" b="1" i="1" dirty="0" smtClean="0">
                        <a:latin typeface="Cambria Math" panose="02040503050406030204" pitchFamily="18" charset="0"/>
                      </a:rPr>
                      <m:t>𝒀</m:t>
                    </m:r>
                  </m:oMath>
                </a14:m>
                <a:r>
                  <a:rPr lang="en-US" dirty="0"/>
                  <a:t> </a:t>
                </a:r>
                <a:br>
                  <a:rPr lang="en-US" dirty="0"/>
                </a:br>
                <a:r>
                  <a:rPr lang="en-US" dirty="0"/>
                  <a:t>if both sides knew the value of </a:t>
                </a:r>
                <a14:m>
                  <m:oMath xmlns:m="http://schemas.openxmlformats.org/officeDocument/2006/math">
                    <m:r>
                      <a:rPr lang="en-US" b="1" i="1" dirty="0" smtClean="0">
                        <a:latin typeface="Cambria Math" panose="02040503050406030204" pitchFamily="18" charset="0"/>
                      </a:rPr>
                      <m:t>𝑿</m:t>
                    </m:r>
                  </m:oMath>
                </a14:m>
                <a:endParaRPr lang="en-US" b="1" dirty="0"/>
              </a:p>
              <a:p>
                <a:pPr lvl="2"/>
                <a:r>
                  <a:rPr lang="en-US" b="1" dirty="0">
                    <a:solidFill>
                      <a:srgbClr val="008000"/>
                    </a:solidFill>
                  </a:rPr>
                  <a:t>= </a:t>
                </a:r>
                <a14:m>
                  <m:oMath xmlns:m="http://schemas.openxmlformats.org/officeDocument/2006/math">
                    <m:nary>
                      <m:naryPr>
                        <m:chr m:val="∑"/>
                        <m:supHide m:val="on"/>
                        <m:ctrlPr>
                          <a:rPr lang="en-US" b="1" i="1" smtClean="0">
                            <a:solidFill>
                              <a:srgbClr val="008000"/>
                            </a:solidFill>
                            <a:latin typeface="Cambria Math" panose="02040503050406030204" pitchFamily="18" charset="0"/>
                          </a:rPr>
                        </m:ctrlPr>
                      </m:naryPr>
                      <m:sub>
                        <m:r>
                          <a:rPr lang="en-US" b="1" i="1" smtClean="0">
                            <a:solidFill>
                              <a:srgbClr val="008000"/>
                            </a:solidFill>
                            <a:latin typeface="Cambria Math"/>
                          </a:rPr>
                          <m:t>𝒋</m:t>
                        </m:r>
                      </m:sub>
                      <m:sup/>
                      <m:e>
                        <m:r>
                          <a:rPr lang="en-US" b="1" i="1" smtClean="0">
                            <a:solidFill>
                              <a:srgbClr val="008000"/>
                            </a:solidFill>
                            <a:latin typeface="Cambria Math"/>
                          </a:rPr>
                          <m:t>𝑷</m:t>
                        </m:r>
                        <m:d>
                          <m:dPr>
                            <m:ctrlPr>
                              <a:rPr lang="en-US" b="1" i="1" smtClean="0">
                                <a:solidFill>
                                  <a:srgbClr val="008000"/>
                                </a:solidFill>
                                <a:latin typeface="Cambria Math" panose="02040503050406030204" pitchFamily="18" charset="0"/>
                              </a:rPr>
                            </m:ctrlPr>
                          </m:dPr>
                          <m:e>
                            <m:r>
                              <a:rPr lang="en-US" b="1" i="1" smtClean="0">
                                <a:solidFill>
                                  <a:srgbClr val="008000"/>
                                </a:solidFill>
                                <a:latin typeface="Cambria Math"/>
                              </a:rPr>
                              <m:t>𝑿</m:t>
                            </m:r>
                            <m:r>
                              <a:rPr lang="en-US" b="1" i="1" smtClean="0">
                                <a:solidFill>
                                  <a:srgbClr val="008000"/>
                                </a:solidFill>
                                <a:latin typeface="Cambria Math"/>
                              </a:rPr>
                              <m:t>=</m:t>
                            </m:r>
                            <m:sSub>
                              <m:sSubPr>
                                <m:ctrlPr>
                                  <a:rPr lang="en-US" b="1" i="1" smtClean="0">
                                    <a:solidFill>
                                      <a:srgbClr val="008000"/>
                                    </a:solidFill>
                                    <a:latin typeface="Cambria Math" panose="02040503050406030204" pitchFamily="18" charset="0"/>
                                  </a:rPr>
                                </m:ctrlPr>
                              </m:sSubPr>
                              <m:e>
                                <m:r>
                                  <a:rPr lang="en-US" b="1" i="1" smtClean="0">
                                    <a:solidFill>
                                      <a:srgbClr val="008000"/>
                                    </a:solidFill>
                                    <a:latin typeface="Cambria Math"/>
                                  </a:rPr>
                                  <m:t>𝒗</m:t>
                                </m:r>
                              </m:e>
                              <m:sub>
                                <m:r>
                                  <a:rPr lang="en-US" b="1" i="1" smtClean="0">
                                    <a:solidFill>
                                      <a:srgbClr val="008000"/>
                                    </a:solidFill>
                                    <a:latin typeface="Cambria Math"/>
                                  </a:rPr>
                                  <m:t>𝒋</m:t>
                                </m:r>
                              </m:sub>
                            </m:sSub>
                          </m:e>
                        </m:d>
                        <m:r>
                          <a:rPr lang="en-US" b="1" i="1" smtClean="0">
                            <a:solidFill>
                              <a:srgbClr val="008000"/>
                            </a:solidFill>
                            <a:latin typeface="Cambria Math"/>
                          </a:rPr>
                          <m:t>𝑯</m:t>
                        </m:r>
                        <m:r>
                          <a:rPr lang="en-US" b="1" i="1" smtClean="0">
                            <a:solidFill>
                              <a:srgbClr val="008000"/>
                            </a:solidFill>
                            <a:latin typeface="Cambria Math"/>
                          </a:rPr>
                          <m:t>(</m:t>
                        </m:r>
                        <m:r>
                          <a:rPr lang="en-US" b="1" i="1" smtClean="0">
                            <a:solidFill>
                              <a:srgbClr val="008000"/>
                            </a:solidFill>
                            <a:latin typeface="Cambria Math"/>
                          </a:rPr>
                          <m:t>𝒀</m:t>
                        </m:r>
                        <m:r>
                          <a:rPr lang="en-US" b="1" i="1" smtClean="0">
                            <a:solidFill>
                              <a:srgbClr val="008000"/>
                            </a:solidFill>
                            <a:latin typeface="Cambria Math"/>
                          </a:rPr>
                          <m:t>|</m:t>
                        </m:r>
                        <m:r>
                          <a:rPr lang="en-US" b="1" i="1" smtClean="0">
                            <a:solidFill>
                              <a:srgbClr val="008000"/>
                            </a:solidFill>
                            <a:latin typeface="Cambria Math"/>
                          </a:rPr>
                          <m:t>𝑿</m:t>
                        </m:r>
                        <m:r>
                          <a:rPr lang="en-US" b="1" i="1" smtClean="0">
                            <a:solidFill>
                              <a:srgbClr val="008000"/>
                            </a:solidFill>
                            <a:latin typeface="Cambria Math"/>
                          </a:rPr>
                          <m:t>=</m:t>
                        </m:r>
                        <m:sSub>
                          <m:sSubPr>
                            <m:ctrlPr>
                              <a:rPr lang="en-US" b="1" i="1" smtClean="0">
                                <a:solidFill>
                                  <a:srgbClr val="008000"/>
                                </a:solidFill>
                                <a:latin typeface="Cambria Math" panose="02040503050406030204" pitchFamily="18" charset="0"/>
                              </a:rPr>
                            </m:ctrlPr>
                          </m:sSubPr>
                          <m:e>
                            <m:r>
                              <a:rPr lang="en-US" b="1" i="1" smtClean="0">
                                <a:solidFill>
                                  <a:srgbClr val="008000"/>
                                </a:solidFill>
                                <a:latin typeface="Cambria Math"/>
                              </a:rPr>
                              <m:t>𝒗</m:t>
                            </m:r>
                          </m:e>
                          <m:sub>
                            <m:r>
                              <a:rPr lang="en-US" b="1" i="1" smtClean="0">
                                <a:solidFill>
                                  <a:srgbClr val="008000"/>
                                </a:solidFill>
                                <a:latin typeface="Cambria Math"/>
                              </a:rPr>
                              <m:t>𝒋</m:t>
                            </m:r>
                          </m:sub>
                        </m:sSub>
                        <m:r>
                          <a:rPr lang="en-US" b="1" i="1" smtClean="0">
                            <a:solidFill>
                              <a:srgbClr val="008000"/>
                            </a:solidFill>
                            <a:latin typeface="Cambria Math"/>
                          </a:rPr>
                          <m:t>)</m:t>
                        </m:r>
                      </m:e>
                    </m:nary>
                  </m:oMath>
                </a14:m>
                <a:endParaRPr lang="en-US" b="1" dirty="0">
                  <a:solidFill>
                    <a:srgbClr val="008000"/>
                  </a:solidFill>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743200" y="2903220"/>
                <a:ext cx="6400800" cy="3954780"/>
              </a:xfrm>
              <a:prstGeom prst="rect">
                <a:avLst/>
              </a:prstGeom>
              <a:blipFill>
                <a:blip r:embed="rId4"/>
                <a:stretch>
                  <a:fillRect l="-381" t="-2003"/>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2332101698"/>
              </p:ext>
            </p:extLst>
          </p:nvPr>
        </p:nvGraphicFramePr>
        <p:xfrm>
          <a:off x="609600" y="3048000"/>
          <a:ext cx="2133600" cy="3332480"/>
        </p:xfrm>
        <a:graphic>
          <a:graphicData uri="http://schemas.openxmlformats.org/drawingml/2006/table">
            <a:tbl>
              <a:tblPr firstRow="1" bandRow="1">
                <a:tableStyleId>{073A0DAA-6AF3-43AB-8588-CEC1D06C72B9}</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142240">
                <a:tc>
                  <a:txBody>
                    <a:bodyPr/>
                    <a:lstStyle/>
                    <a:p>
                      <a:pPr algn="ctr"/>
                      <a:r>
                        <a:rPr lang="en-US"/>
                        <a:t>X</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1"/>
                  </a:ext>
                </a:extLst>
              </a:tr>
              <a:tr h="370840">
                <a:tc>
                  <a:txBody>
                    <a:bodyPr/>
                    <a:lstStyle/>
                    <a:p>
                      <a:r>
                        <a:rPr lang="en-US">
                          <a:latin typeface="Arial" pitchFamily="34" charset="0"/>
                          <a:cs typeface="Arial" pitchFamily="34" charset="0"/>
                        </a:rPr>
                        <a:t>History</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2"/>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3"/>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4"/>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5"/>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6"/>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7"/>
                  </a:ext>
                </a:extLst>
              </a:tr>
              <a:tr h="370840">
                <a:tc>
                  <a:txBody>
                    <a:bodyPr/>
                    <a:lstStyle/>
                    <a:p>
                      <a:r>
                        <a:rPr lang="en-US">
                          <a:latin typeface="Arial" pitchFamily="34" charset="0"/>
                          <a:cs typeface="Arial" pitchFamily="34" charset="0"/>
                        </a:rPr>
                        <a:t>History</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8"/>
                  </a:ext>
                </a:extLst>
              </a:tr>
            </a:tbl>
          </a:graphicData>
        </a:graphic>
      </p:graphicFrame>
      <p:sp>
        <p:nvSpPr>
          <p:cNvPr id="5" name="Date Placeholder 4"/>
          <p:cNvSpPr>
            <a:spLocks noGrp="1"/>
          </p:cNvSpPr>
          <p:nvPr>
            <p:ph type="dt" sz="half" idx="10"/>
          </p:nvPr>
        </p:nvSpPr>
        <p:spPr/>
        <p:txBody>
          <a:bodyPr/>
          <a:lstStyle/>
          <a:p>
            <a:fld id="{D317881C-C312-D74D-BA98-FD869B5A5733}" type="datetime1">
              <a:rPr lang="en-US" smtClean="0"/>
              <a:t>10/1/24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545451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Information Gain?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1752600"/>
              </a:xfrm>
            </p:spPr>
            <p:txBody>
              <a:bodyPr>
                <a:normAutofit/>
              </a:bodyPr>
              <a:lstStyle/>
              <a:p>
                <a:r>
                  <a:rPr lang="en-US" b="1">
                    <a:solidFill>
                      <a:srgbClr val="FF0066"/>
                    </a:solidFill>
                  </a:rPr>
                  <a:t>Suppose I want to predict </a:t>
                </a:r>
                <a14:m>
                  <m:oMath xmlns:m="http://schemas.openxmlformats.org/officeDocument/2006/math">
                    <m:r>
                      <a:rPr lang="en-US" b="1" i="1" dirty="0">
                        <a:latin typeface="Cambria Math"/>
                      </a:rPr>
                      <m:t>𝒀</m:t>
                    </m:r>
                  </m:oMath>
                </a14:m>
                <a:r>
                  <a:rPr lang="en-US" b="1">
                    <a:solidFill>
                      <a:srgbClr val="FF0066"/>
                    </a:solidFill>
                  </a:rPr>
                  <a:t> and I have input </a:t>
                </a:r>
                <a14:m>
                  <m:oMath xmlns:m="http://schemas.openxmlformats.org/officeDocument/2006/math">
                    <m:r>
                      <a:rPr lang="en-US" b="1" i="1" dirty="0">
                        <a:latin typeface="Cambria Math"/>
                      </a:rPr>
                      <m:t>𝑿</m:t>
                    </m:r>
                  </m:oMath>
                </a14:m>
                <a:endParaRPr lang="en-US" b="1">
                  <a:solidFill>
                    <a:srgbClr val="FF0066"/>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1752600"/>
              </a:xfrm>
              <a:blipFill>
                <a:blip r:embed="rId3"/>
                <a:stretch>
                  <a:fillRect l="-283" t="-174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35479425"/>
              </p:ext>
            </p:extLst>
          </p:nvPr>
        </p:nvGraphicFramePr>
        <p:xfrm>
          <a:off x="609600" y="3048000"/>
          <a:ext cx="2133600" cy="3332480"/>
        </p:xfrm>
        <a:graphic>
          <a:graphicData uri="http://schemas.openxmlformats.org/drawingml/2006/table">
            <a:tbl>
              <a:tblPr firstRow="1" bandRow="1">
                <a:tableStyleId>{073A0DAA-6AF3-43AB-8588-CEC1D06C72B9}</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142240">
                <a:tc>
                  <a:txBody>
                    <a:bodyPr/>
                    <a:lstStyle/>
                    <a:p>
                      <a:pPr algn="ctr"/>
                      <a:r>
                        <a:rPr lang="en-US"/>
                        <a:t>X</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1"/>
                  </a:ext>
                </a:extLst>
              </a:tr>
              <a:tr h="370840">
                <a:tc>
                  <a:txBody>
                    <a:bodyPr/>
                    <a:lstStyle/>
                    <a:p>
                      <a:r>
                        <a:rPr lang="en-US">
                          <a:latin typeface="Arial" pitchFamily="34" charset="0"/>
                          <a:cs typeface="Arial" pitchFamily="34" charset="0"/>
                        </a:rPr>
                        <a:t>History</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2"/>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3"/>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4"/>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5"/>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6"/>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Yes</a:t>
                      </a:r>
                    </a:p>
                  </a:txBody>
                  <a:tcPr/>
                </a:tc>
                <a:extLst>
                  <a:ext uri="{0D108BD9-81ED-4DB2-BD59-A6C34878D82A}">
                    <a16:rowId xmlns:a16="http://schemas.microsoft.com/office/drawing/2014/main" val="10007"/>
                  </a:ext>
                </a:extLst>
              </a:tr>
              <a:tr h="370840">
                <a:tc>
                  <a:txBody>
                    <a:bodyPr/>
                    <a:lstStyle/>
                    <a:p>
                      <a:r>
                        <a:rPr lang="en-US">
                          <a:latin typeface="Arial" pitchFamily="34" charset="0"/>
                          <a:cs typeface="Arial" pitchFamily="34" charset="0"/>
                        </a:rPr>
                        <a:t>History</a:t>
                      </a:r>
                    </a:p>
                  </a:txBody>
                  <a:tcPr/>
                </a:tc>
                <a:tc>
                  <a:txBody>
                    <a:bodyPr/>
                    <a:lstStyle/>
                    <a:p>
                      <a:r>
                        <a:rPr lang="en-US">
                          <a:latin typeface="Arial" pitchFamily="34" charset="0"/>
                          <a:cs typeface="Arial" pitchFamily="34" charset="0"/>
                        </a:rPr>
                        <a:t>No</a:t>
                      </a:r>
                    </a:p>
                  </a:txBody>
                  <a:tcPr/>
                </a:tc>
                <a:extLst>
                  <a:ext uri="{0D108BD9-81ED-4DB2-BD59-A6C34878D82A}">
                    <a16:rowId xmlns:a16="http://schemas.microsoft.com/office/drawing/2014/main" val="10008"/>
                  </a:ext>
                </a:extLst>
              </a:tr>
            </a:tbl>
          </a:graphicData>
        </a:graphic>
      </p:graphicFrame>
      <mc:AlternateContent xmlns:mc="http://schemas.openxmlformats.org/markup-compatibility/2006" xmlns:a14="http://schemas.microsoft.com/office/drawing/2010/main">
        <mc:Choice Requires="a14">
          <p:sp>
            <p:nvSpPr>
              <p:cNvPr id="7" name="Content Placeholder 2"/>
              <p:cNvSpPr txBox="1">
                <a:spLocks/>
              </p:cNvSpPr>
              <p:nvPr/>
            </p:nvSpPr>
            <p:spPr>
              <a:xfrm>
                <a:off x="2743200" y="1905000"/>
                <a:ext cx="6400800" cy="495300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14:m>
                  <m:oMath xmlns:m="http://schemas.openxmlformats.org/officeDocument/2006/math">
                    <m:r>
                      <a:rPr lang="en-US" b="1" i="1" dirty="0" smtClean="0">
                        <a:solidFill>
                          <a:srgbClr val="008000"/>
                        </a:solidFill>
                        <a:latin typeface="Cambria Math"/>
                      </a:rPr>
                      <m:t>𝑯</m:t>
                    </m:r>
                    <m:r>
                      <a:rPr lang="en-US" b="1" i="1" dirty="0" smtClean="0">
                        <a:solidFill>
                          <a:srgbClr val="008000"/>
                        </a:solidFill>
                        <a:latin typeface="Cambria Math"/>
                      </a:rPr>
                      <m:t>(</m:t>
                    </m:r>
                    <m:r>
                      <a:rPr lang="en-US" b="1" i="1" dirty="0" smtClean="0">
                        <a:solidFill>
                          <a:srgbClr val="008000"/>
                        </a:solidFill>
                        <a:latin typeface="Cambria Math"/>
                      </a:rPr>
                      <m:t>𝒀</m:t>
                    </m:r>
                    <m:r>
                      <a:rPr lang="en-US" b="1" i="1" dirty="0" smtClean="0">
                        <a:solidFill>
                          <a:srgbClr val="008000"/>
                        </a:solidFill>
                        <a:latin typeface="Cambria Math"/>
                      </a:rPr>
                      <m:t> | </m:t>
                    </m:r>
                    <m:r>
                      <a:rPr lang="en-US" b="1" i="1" dirty="0" smtClean="0">
                        <a:solidFill>
                          <a:srgbClr val="008000"/>
                        </a:solidFill>
                        <a:latin typeface="Cambria Math"/>
                      </a:rPr>
                      <m:t>𝑿</m:t>
                    </m:r>
                    <m:r>
                      <a:rPr lang="en-US" b="1" i="1" dirty="0" smtClean="0">
                        <a:solidFill>
                          <a:srgbClr val="008000"/>
                        </a:solidFill>
                        <a:latin typeface="Cambria Math"/>
                      </a:rPr>
                      <m:t>) =</m:t>
                    </m:r>
                  </m:oMath>
                </a14:m>
                <a:r>
                  <a:rPr lang="en-US" dirty="0"/>
                  <a:t> The average specific conditional entropy of </a:t>
                </a:r>
                <a14:m>
                  <m:oMath xmlns:m="http://schemas.openxmlformats.org/officeDocument/2006/math">
                    <m:r>
                      <a:rPr lang="en-US" b="1" i="1" dirty="0" smtClean="0">
                        <a:latin typeface="Cambria Math"/>
                      </a:rPr>
                      <m:t>𝒀</m:t>
                    </m:r>
                  </m:oMath>
                </a14:m>
                <a:endParaRPr lang="en-US" b="1" dirty="0"/>
              </a:p>
              <a:p>
                <a:pPr marL="118872" indent="0">
                  <a:buNone/>
                </a:pPr>
                <a14:m>
                  <m:oMathPara xmlns:m="http://schemas.openxmlformats.org/officeDocument/2006/math">
                    <m:oMathParaPr>
                      <m:jc m:val="centerGroup"/>
                    </m:oMathParaPr>
                    <m:oMath xmlns:m="http://schemas.openxmlformats.org/officeDocument/2006/math">
                      <m:r>
                        <a:rPr lang="en-US" b="1" i="1" smtClean="0">
                          <a:latin typeface="Cambria Math"/>
                        </a:rPr>
                        <m:t>=</m:t>
                      </m:r>
                      <m:nary>
                        <m:naryPr>
                          <m:chr m:val="∑"/>
                          <m:supHide m:val="on"/>
                          <m:ctrlPr>
                            <a:rPr lang="en-US" b="1" i="1" smtClean="0">
                              <a:latin typeface="Cambria Math" panose="02040503050406030204" pitchFamily="18" charset="0"/>
                            </a:rPr>
                          </m:ctrlPr>
                        </m:naryPr>
                        <m:sub>
                          <m:r>
                            <a:rPr lang="en-US" b="1" i="1" smtClean="0">
                              <a:latin typeface="Cambria Math"/>
                            </a:rPr>
                            <m:t>𝒋</m:t>
                          </m:r>
                        </m:sub>
                        <m:sup/>
                        <m:e>
                          <m:r>
                            <a:rPr lang="en-US" b="1" i="1" smtClean="0">
                              <a:latin typeface="Cambria Math"/>
                            </a:rPr>
                            <m:t>𝑷</m:t>
                          </m:r>
                          <m:d>
                            <m:dPr>
                              <m:ctrlPr>
                                <a:rPr lang="en-US" b="1" i="1" smtClean="0">
                                  <a:latin typeface="Cambria Math" panose="02040503050406030204" pitchFamily="18" charset="0"/>
                                </a:rPr>
                              </m:ctrlPr>
                            </m:dPr>
                            <m:e>
                              <m:r>
                                <a:rPr lang="en-US" b="1" i="1" smtClean="0">
                                  <a:latin typeface="Cambria Math"/>
                                </a:rPr>
                                <m:t>𝑿</m:t>
                              </m:r>
                              <m:r>
                                <a:rPr lang="en-US" b="1" i="1" smtClean="0">
                                  <a:latin typeface="Cambria Math"/>
                                </a:rPr>
                                <m:t>=</m:t>
                              </m:r>
                              <m:sSub>
                                <m:sSubPr>
                                  <m:ctrlPr>
                                    <a:rPr lang="en-US" b="1" i="1" smtClean="0">
                                      <a:latin typeface="Cambria Math" panose="02040503050406030204" pitchFamily="18" charset="0"/>
                                    </a:rPr>
                                  </m:ctrlPr>
                                </m:sSubPr>
                                <m:e>
                                  <m:r>
                                    <a:rPr lang="en-US" b="1" i="1" smtClean="0">
                                      <a:latin typeface="Cambria Math"/>
                                    </a:rPr>
                                    <m:t>𝒗</m:t>
                                  </m:r>
                                </m:e>
                                <m:sub>
                                  <m:r>
                                    <a:rPr lang="en-US" b="1" i="1" smtClean="0">
                                      <a:latin typeface="Cambria Math"/>
                                    </a:rPr>
                                    <m:t>𝒋</m:t>
                                  </m:r>
                                </m:sub>
                              </m:sSub>
                            </m:e>
                          </m:d>
                          <m:r>
                            <a:rPr lang="en-US" b="1" i="1" smtClean="0">
                              <a:latin typeface="Cambria Math"/>
                            </a:rPr>
                            <m:t>𝑯</m:t>
                          </m:r>
                          <m:r>
                            <a:rPr lang="en-US" b="1" i="1" smtClean="0">
                              <a:latin typeface="Cambria Math"/>
                            </a:rPr>
                            <m:t>(</m:t>
                          </m:r>
                          <m:r>
                            <a:rPr lang="en-US" b="1" i="1" smtClean="0">
                              <a:latin typeface="Cambria Math"/>
                            </a:rPr>
                            <m:t>𝒀</m:t>
                          </m:r>
                          <m:r>
                            <a:rPr lang="en-US" b="1" i="1" smtClean="0">
                              <a:latin typeface="Cambria Math"/>
                            </a:rPr>
                            <m:t>|</m:t>
                          </m:r>
                          <m:r>
                            <a:rPr lang="en-US" b="1" i="1" smtClean="0">
                              <a:latin typeface="Cambria Math"/>
                            </a:rPr>
                            <m:t>𝑿</m:t>
                          </m:r>
                          <m:r>
                            <a:rPr lang="en-US" b="1" i="1" smtClean="0">
                              <a:latin typeface="Cambria Math"/>
                            </a:rPr>
                            <m:t>=</m:t>
                          </m:r>
                          <m:sSub>
                            <m:sSubPr>
                              <m:ctrlPr>
                                <a:rPr lang="en-US" b="1" i="1" smtClean="0">
                                  <a:latin typeface="Cambria Math" panose="02040503050406030204" pitchFamily="18" charset="0"/>
                                </a:rPr>
                              </m:ctrlPr>
                            </m:sSubPr>
                            <m:e>
                              <m:r>
                                <a:rPr lang="en-US" b="1" i="1" smtClean="0">
                                  <a:latin typeface="Cambria Math"/>
                                </a:rPr>
                                <m:t>𝒗</m:t>
                              </m:r>
                            </m:e>
                            <m:sub>
                              <m:r>
                                <a:rPr lang="en-US" b="1" i="1" smtClean="0">
                                  <a:latin typeface="Cambria Math"/>
                                </a:rPr>
                                <m:t>𝒋</m:t>
                              </m:r>
                            </m:sub>
                          </m:sSub>
                          <m:r>
                            <a:rPr lang="en-US" b="1" i="1" smtClean="0">
                              <a:latin typeface="Cambria Math"/>
                            </a:rPr>
                            <m:t>)</m:t>
                          </m:r>
                        </m:e>
                      </m:nary>
                    </m:oMath>
                  </m:oMathPara>
                </a14:m>
                <a:endParaRPr lang="en-US" b="1" dirty="0"/>
              </a:p>
              <a:p>
                <a:r>
                  <a:rPr lang="en-US" b="1" dirty="0"/>
                  <a:t>Example:</a:t>
                </a:r>
              </a:p>
              <a:p>
                <a:pPr lvl="5"/>
                <a:endParaRPr lang="en-US" b="1" dirty="0"/>
              </a:p>
              <a:p>
                <a:pPr lvl="5"/>
                <a:endParaRPr lang="en-US" sz="1600" b="1" dirty="0"/>
              </a:p>
              <a:p>
                <a:pPr lvl="4"/>
                <a:endParaRPr lang="en-US" b="1" dirty="0"/>
              </a:p>
              <a:p>
                <a:pPr lvl="1"/>
                <a:endParaRPr lang="en-US" b="1" dirty="0"/>
              </a:p>
              <a:p>
                <a:r>
                  <a:rPr lang="en-US" b="1" dirty="0"/>
                  <a:t>So: </a:t>
                </a:r>
                <a:r>
                  <a:rPr lang="en-US" sz="2800" dirty="0"/>
                  <a:t>H(Y|X)=0.5*1+0.25*0+0.25*0 = </a:t>
                </a:r>
                <a:r>
                  <a:rPr lang="en-US" sz="2800" b="1" dirty="0"/>
                  <a:t>0.5</a:t>
                </a:r>
              </a:p>
              <a:p>
                <a:endParaRPr lang="en-US" b="1"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743200" y="1905000"/>
                <a:ext cx="6400800" cy="4953000"/>
              </a:xfrm>
              <a:prstGeom prst="rect">
                <a:avLst/>
              </a:prstGeom>
              <a:blipFill>
                <a:blip r:embed="rId4"/>
                <a:stretch>
                  <a:fillRect l="-381" t="-616" b="-2463"/>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2843682508"/>
              </p:ext>
            </p:extLst>
          </p:nvPr>
        </p:nvGraphicFramePr>
        <p:xfrm>
          <a:off x="3375660" y="4765040"/>
          <a:ext cx="5158740" cy="1483360"/>
        </p:xfrm>
        <a:graphic>
          <a:graphicData uri="http://schemas.openxmlformats.org/drawingml/2006/table">
            <a:tbl>
              <a:tblPr firstRow="1" bandRow="1">
                <a:tableStyleId>{073A0DAA-6AF3-43AB-8588-CEC1D06C72B9}</a:tableStyleId>
              </a:tblPr>
              <a:tblGrid>
                <a:gridCol w="1719580">
                  <a:extLst>
                    <a:ext uri="{9D8B030D-6E8A-4147-A177-3AD203B41FA5}">
                      <a16:colId xmlns:a16="http://schemas.microsoft.com/office/drawing/2014/main" val="20000"/>
                    </a:ext>
                  </a:extLst>
                </a:gridCol>
                <a:gridCol w="1719580">
                  <a:extLst>
                    <a:ext uri="{9D8B030D-6E8A-4147-A177-3AD203B41FA5}">
                      <a16:colId xmlns:a16="http://schemas.microsoft.com/office/drawing/2014/main" val="20001"/>
                    </a:ext>
                  </a:extLst>
                </a:gridCol>
                <a:gridCol w="1719580">
                  <a:extLst>
                    <a:ext uri="{9D8B030D-6E8A-4147-A177-3AD203B41FA5}">
                      <a16:colId xmlns:a16="http://schemas.microsoft.com/office/drawing/2014/main" val="20002"/>
                    </a:ext>
                  </a:extLst>
                </a:gridCol>
              </a:tblGrid>
              <a:tr h="370840">
                <a:tc>
                  <a:txBody>
                    <a:bodyPr/>
                    <a:lstStyle/>
                    <a:p>
                      <a:pPr algn="ctr"/>
                      <a:r>
                        <a:rPr lang="en-US" err="1"/>
                        <a:t>V</a:t>
                      </a:r>
                      <a:r>
                        <a:rPr lang="en-US" baseline="-25000" err="1"/>
                        <a:t>j</a:t>
                      </a:r>
                      <a:endParaRPr lang="en-US" baseline="-25000"/>
                    </a:p>
                  </a:txBody>
                  <a:tcPr/>
                </a:tc>
                <a:tc>
                  <a:txBody>
                    <a:bodyPr/>
                    <a:lstStyle/>
                    <a:p>
                      <a:pPr algn="ctr"/>
                      <a:r>
                        <a:rPr lang="en-US"/>
                        <a:t>P(X=</a:t>
                      </a:r>
                      <a:r>
                        <a:rPr lang="en-US" err="1"/>
                        <a:t>v</a:t>
                      </a:r>
                      <a:r>
                        <a:rPr lang="en-US" baseline="-25000" err="1"/>
                        <a:t>j</a:t>
                      </a:r>
                      <a:r>
                        <a:rPr lang="en-US"/>
                        <a:t>)</a:t>
                      </a:r>
                    </a:p>
                  </a:txBody>
                  <a:tcPr/>
                </a:tc>
                <a:tc>
                  <a:txBody>
                    <a:bodyPr/>
                    <a:lstStyle/>
                    <a:p>
                      <a:pPr algn="ctr"/>
                      <a:r>
                        <a:rPr lang="en-US"/>
                        <a:t>H(Y|X=</a:t>
                      </a:r>
                      <a:r>
                        <a:rPr lang="en-US" err="1"/>
                        <a:t>v</a:t>
                      </a:r>
                      <a:r>
                        <a:rPr lang="en-US" baseline="-25000" err="1"/>
                        <a:t>j</a:t>
                      </a:r>
                      <a:r>
                        <a:rPr lang="en-US"/>
                        <a:t>)</a:t>
                      </a:r>
                    </a:p>
                  </a:txBody>
                  <a:tcPr/>
                </a:tc>
                <a:extLst>
                  <a:ext uri="{0D108BD9-81ED-4DB2-BD59-A6C34878D82A}">
                    <a16:rowId xmlns:a16="http://schemas.microsoft.com/office/drawing/2014/main" val="10000"/>
                  </a:ext>
                </a:extLst>
              </a:tr>
              <a:tr h="370840">
                <a:tc>
                  <a:txBody>
                    <a:bodyPr/>
                    <a:lstStyle/>
                    <a:p>
                      <a:r>
                        <a:rPr lang="en-US">
                          <a:latin typeface="Arial" pitchFamily="34" charset="0"/>
                          <a:cs typeface="Arial" pitchFamily="34" charset="0"/>
                        </a:rPr>
                        <a:t>Math</a:t>
                      </a:r>
                    </a:p>
                  </a:txBody>
                  <a:tcPr/>
                </a:tc>
                <a:tc>
                  <a:txBody>
                    <a:bodyPr/>
                    <a:lstStyle/>
                    <a:p>
                      <a:r>
                        <a:rPr lang="en-US">
                          <a:latin typeface="Arial" pitchFamily="34" charset="0"/>
                          <a:cs typeface="Arial" pitchFamily="34" charset="0"/>
                        </a:rPr>
                        <a:t>0.5</a:t>
                      </a:r>
                    </a:p>
                  </a:txBody>
                  <a:tcPr/>
                </a:tc>
                <a:tc>
                  <a:txBody>
                    <a:bodyPr/>
                    <a:lstStyle/>
                    <a:p>
                      <a:r>
                        <a:rPr lang="en-US">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r>
                        <a:rPr lang="en-US">
                          <a:latin typeface="Arial" pitchFamily="34" charset="0"/>
                          <a:cs typeface="Arial" pitchFamily="34" charset="0"/>
                        </a:rPr>
                        <a:t>History</a:t>
                      </a:r>
                    </a:p>
                  </a:txBody>
                  <a:tcPr/>
                </a:tc>
                <a:tc>
                  <a:txBody>
                    <a:bodyPr/>
                    <a:lstStyle/>
                    <a:p>
                      <a:r>
                        <a:rPr lang="en-US">
                          <a:latin typeface="Arial" pitchFamily="34" charset="0"/>
                          <a:cs typeface="Arial" pitchFamily="34" charset="0"/>
                        </a:rPr>
                        <a:t>0.25</a:t>
                      </a:r>
                    </a:p>
                  </a:txBody>
                  <a:tcPr/>
                </a:tc>
                <a:tc>
                  <a:txBody>
                    <a:bodyPr/>
                    <a:lstStyle/>
                    <a:p>
                      <a:r>
                        <a:rPr lang="en-US">
                          <a:latin typeface="Arial" pitchFamily="34" charset="0"/>
                          <a:cs typeface="Arial" pitchFamily="34" charset="0"/>
                        </a:rPr>
                        <a:t>0</a:t>
                      </a:r>
                    </a:p>
                  </a:txBody>
                  <a:tcPr/>
                </a:tc>
                <a:extLst>
                  <a:ext uri="{0D108BD9-81ED-4DB2-BD59-A6C34878D82A}">
                    <a16:rowId xmlns:a16="http://schemas.microsoft.com/office/drawing/2014/main" val="10002"/>
                  </a:ext>
                </a:extLst>
              </a:tr>
              <a:tr h="370840">
                <a:tc>
                  <a:txBody>
                    <a:bodyPr/>
                    <a:lstStyle/>
                    <a:p>
                      <a:r>
                        <a:rPr lang="en-US">
                          <a:latin typeface="Arial" pitchFamily="34" charset="0"/>
                          <a:cs typeface="Arial" pitchFamily="34" charset="0"/>
                        </a:rPr>
                        <a:t>CS</a:t>
                      </a:r>
                    </a:p>
                  </a:txBody>
                  <a:tcPr/>
                </a:tc>
                <a:tc>
                  <a:txBody>
                    <a:bodyPr/>
                    <a:lstStyle/>
                    <a:p>
                      <a:r>
                        <a:rPr lang="en-US">
                          <a:latin typeface="Arial" pitchFamily="34" charset="0"/>
                          <a:cs typeface="Arial" pitchFamily="34" charset="0"/>
                        </a:rPr>
                        <a:t>0.25</a:t>
                      </a:r>
                    </a:p>
                  </a:txBody>
                  <a:tcPr/>
                </a:tc>
                <a:tc>
                  <a:txBody>
                    <a:bodyPr/>
                    <a:lstStyle/>
                    <a:p>
                      <a:r>
                        <a:rPr lang="en-US">
                          <a:latin typeface="Arial" pitchFamily="34" charset="0"/>
                          <a:cs typeface="Arial" pitchFamily="34" charset="0"/>
                        </a:rPr>
                        <a:t>0</a:t>
                      </a:r>
                    </a:p>
                  </a:txBody>
                  <a:tcPr/>
                </a:tc>
                <a:extLst>
                  <a:ext uri="{0D108BD9-81ED-4DB2-BD59-A6C34878D82A}">
                    <a16:rowId xmlns:a16="http://schemas.microsoft.com/office/drawing/2014/main" val="10003"/>
                  </a:ext>
                </a:extLst>
              </a:tr>
            </a:tbl>
          </a:graphicData>
        </a:graphic>
      </p:graphicFrame>
      <p:sp>
        <p:nvSpPr>
          <p:cNvPr id="8" name="Date Placeholder 7"/>
          <p:cNvSpPr>
            <a:spLocks noGrp="1"/>
          </p:cNvSpPr>
          <p:nvPr>
            <p:ph type="dt" sz="half" idx="10"/>
          </p:nvPr>
        </p:nvSpPr>
        <p:spPr/>
        <p:txBody>
          <a:bodyPr/>
          <a:lstStyle/>
          <a:p>
            <a:fld id="{169AA59D-C563-EC4B-83C5-0F96D99D21BD}" type="datetime1">
              <a:rPr lang="en-US" smtClean="0"/>
              <a:t>10/1/24</a:t>
            </a:fld>
            <a:endParaRPr lang="en-US"/>
          </a:p>
        </p:txBody>
      </p:sp>
      <p:sp>
        <p:nvSpPr>
          <p:cNvPr id="9" name="Footer Placeholder 8"/>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419087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Information Gain?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1752600"/>
              </a:xfrm>
            </p:spPr>
            <p:txBody>
              <a:bodyPr>
                <a:normAutofit/>
              </a:bodyPr>
              <a:lstStyle/>
              <a:p>
                <a:r>
                  <a:rPr lang="en-US" b="1">
                    <a:solidFill>
                      <a:srgbClr val="FF0066"/>
                    </a:solidFill>
                  </a:rPr>
                  <a:t>Suppose I want to predict </a:t>
                </a:r>
                <a14:m>
                  <m:oMath xmlns:m="http://schemas.openxmlformats.org/officeDocument/2006/math">
                    <m:r>
                      <a:rPr lang="en-US" b="1" i="1" dirty="0">
                        <a:latin typeface="Cambria Math"/>
                      </a:rPr>
                      <m:t>𝒀</m:t>
                    </m:r>
                  </m:oMath>
                </a14:m>
                <a:r>
                  <a:rPr lang="en-US" b="1">
                    <a:solidFill>
                      <a:srgbClr val="FF0066"/>
                    </a:solidFill>
                  </a:rPr>
                  <a:t> and I have input </a:t>
                </a:r>
                <a14:m>
                  <m:oMath xmlns:m="http://schemas.openxmlformats.org/officeDocument/2006/math">
                    <m:r>
                      <a:rPr lang="en-US" b="1" i="1" dirty="0">
                        <a:latin typeface="Cambria Math"/>
                      </a:rPr>
                      <m:t>𝑿</m:t>
                    </m:r>
                  </m:oMath>
                </a14:m>
                <a:endParaRPr lang="en-US" b="1">
                  <a:solidFill>
                    <a:srgbClr val="FF0066"/>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1752600"/>
              </a:xfrm>
              <a:blipFill>
                <a:blip r:embed="rId3"/>
                <a:stretch>
                  <a:fillRect l="-283" t="-174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736723358"/>
              </p:ext>
            </p:extLst>
          </p:nvPr>
        </p:nvGraphicFramePr>
        <p:xfrm>
          <a:off x="609600" y="3048000"/>
          <a:ext cx="2133600" cy="3332480"/>
        </p:xfrm>
        <a:graphic>
          <a:graphicData uri="http://schemas.openxmlformats.org/drawingml/2006/table">
            <a:tbl>
              <a:tblPr firstRow="1" bandRow="1">
                <a:tableStyleId>{073A0DAA-6AF3-43AB-8588-CEC1D06C72B9}</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142240">
                <a:tc>
                  <a:txBody>
                    <a:bodyPr/>
                    <a:lstStyle/>
                    <a:p>
                      <a:pPr algn="ctr"/>
                      <a:r>
                        <a:rPr lang="en-US"/>
                        <a:t>X</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t>Math</a:t>
                      </a:r>
                    </a:p>
                  </a:txBody>
                  <a:tcPr/>
                </a:tc>
                <a:tc>
                  <a:txBody>
                    <a:bodyPr/>
                    <a:lstStyle/>
                    <a:p>
                      <a:r>
                        <a:rPr lang="en-US"/>
                        <a:t>Yes</a:t>
                      </a:r>
                    </a:p>
                  </a:txBody>
                  <a:tcPr/>
                </a:tc>
                <a:extLst>
                  <a:ext uri="{0D108BD9-81ED-4DB2-BD59-A6C34878D82A}">
                    <a16:rowId xmlns:a16="http://schemas.microsoft.com/office/drawing/2014/main" val="10001"/>
                  </a:ext>
                </a:extLst>
              </a:tr>
              <a:tr h="370840">
                <a:tc>
                  <a:txBody>
                    <a:bodyPr/>
                    <a:lstStyle/>
                    <a:p>
                      <a:r>
                        <a:rPr lang="en-US"/>
                        <a:t>History</a:t>
                      </a:r>
                    </a:p>
                  </a:txBody>
                  <a:tcPr/>
                </a:tc>
                <a:tc>
                  <a:txBody>
                    <a:bodyPr/>
                    <a:lstStyle/>
                    <a:p>
                      <a:r>
                        <a:rPr lang="en-US"/>
                        <a:t>No</a:t>
                      </a:r>
                    </a:p>
                  </a:txBody>
                  <a:tcPr/>
                </a:tc>
                <a:extLst>
                  <a:ext uri="{0D108BD9-81ED-4DB2-BD59-A6C34878D82A}">
                    <a16:rowId xmlns:a16="http://schemas.microsoft.com/office/drawing/2014/main" val="10002"/>
                  </a:ext>
                </a:extLst>
              </a:tr>
              <a:tr h="370840">
                <a:tc>
                  <a:txBody>
                    <a:bodyPr/>
                    <a:lstStyle/>
                    <a:p>
                      <a:r>
                        <a:rPr lang="en-US"/>
                        <a:t>CS</a:t>
                      </a:r>
                    </a:p>
                  </a:txBody>
                  <a:tcPr/>
                </a:tc>
                <a:tc>
                  <a:txBody>
                    <a:bodyPr/>
                    <a:lstStyle/>
                    <a:p>
                      <a:r>
                        <a:rPr lang="en-US"/>
                        <a:t>Yes</a:t>
                      </a:r>
                    </a:p>
                  </a:txBody>
                  <a:tcPr/>
                </a:tc>
                <a:extLst>
                  <a:ext uri="{0D108BD9-81ED-4DB2-BD59-A6C34878D82A}">
                    <a16:rowId xmlns:a16="http://schemas.microsoft.com/office/drawing/2014/main" val="10003"/>
                  </a:ext>
                </a:extLst>
              </a:tr>
              <a:tr h="370840">
                <a:tc>
                  <a:txBody>
                    <a:bodyPr/>
                    <a:lstStyle/>
                    <a:p>
                      <a:r>
                        <a:rPr lang="en-US"/>
                        <a:t>Math</a:t>
                      </a:r>
                    </a:p>
                  </a:txBody>
                  <a:tcPr/>
                </a:tc>
                <a:tc>
                  <a:txBody>
                    <a:bodyPr/>
                    <a:lstStyle/>
                    <a:p>
                      <a:r>
                        <a:rPr lang="en-US"/>
                        <a:t>No</a:t>
                      </a:r>
                    </a:p>
                  </a:txBody>
                  <a:tcPr/>
                </a:tc>
                <a:extLst>
                  <a:ext uri="{0D108BD9-81ED-4DB2-BD59-A6C34878D82A}">
                    <a16:rowId xmlns:a16="http://schemas.microsoft.com/office/drawing/2014/main" val="10004"/>
                  </a:ext>
                </a:extLst>
              </a:tr>
              <a:tr h="370840">
                <a:tc>
                  <a:txBody>
                    <a:bodyPr/>
                    <a:lstStyle/>
                    <a:p>
                      <a:r>
                        <a:rPr lang="en-US"/>
                        <a:t>Math</a:t>
                      </a:r>
                    </a:p>
                  </a:txBody>
                  <a:tcPr/>
                </a:tc>
                <a:tc>
                  <a:txBody>
                    <a:bodyPr/>
                    <a:lstStyle/>
                    <a:p>
                      <a:r>
                        <a:rPr lang="en-US"/>
                        <a:t>No</a:t>
                      </a:r>
                    </a:p>
                  </a:txBody>
                  <a:tcPr/>
                </a:tc>
                <a:extLst>
                  <a:ext uri="{0D108BD9-81ED-4DB2-BD59-A6C34878D82A}">
                    <a16:rowId xmlns:a16="http://schemas.microsoft.com/office/drawing/2014/main" val="10005"/>
                  </a:ext>
                </a:extLst>
              </a:tr>
              <a:tr h="370840">
                <a:tc>
                  <a:txBody>
                    <a:bodyPr/>
                    <a:lstStyle/>
                    <a:p>
                      <a:r>
                        <a:rPr lang="en-US"/>
                        <a:t>CS</a:t>
                      </a:r>
                    </a:p>
                  </a:txBody>
                  <a:tcPr/>
                </a:tc>
                <a:tc>
                  <a:txBody>
                    <a:bodyPr/>
                    <a:lstStyle/>
                    <a:p>
                      <a:r>
                        <a:rPr lang="en-US"/>
                        <a:t>Yes</a:t>
                      </a:r>
                    </a:p>
                  </a:txBody>
                  <a:tcPr/>
                </a:tc>
                <a:extLst>
                  <a:ext uri="{0D108BD9-81ED-4DB2-BD59-A6C34878D82A}">
                    <a16:rowId xmlns:a16="http://schemas.microsoft.com/office/drawing/2014/main" val="10006"/>
                  </a:ext>
                </a:extLst>
              </a:tr>
              <a:tr h="370840">
                <a:tc>
                  <a:txBody>
                    <a:bodyPr/>
                    <a:lstStyle/>
                    <a:p>
                      <a:r>
                        <a:rPr lang="en-US"/>
                        <a:t>Math</a:t>
                      </a:r>
                    </a:p>
                  </a:txBody>
                  <a:tcPr/>
                </a:tc>
                <a:tc>
                  <a:txBody>
                    <a:bodyPr/>
                    <a:lstStyle/>
                    <a:p>
                      <a:r>
                        <a:rPr lang="en-US"/>
                        <a:t>Yes</a:t>
                      </a:r>
                    </a:p>
                  </a:txBody>
                  <a:tcPr/>
                </a:tc>
                <a:extLst>
                  <a:ext uri="{0D108BD9-81ED-4DB2-BD59-A6C34878D82A}">
                    <a16:rowId xmlns:a16="http://schemas.microsoft.com/office/drawing/2014/main" val="10007"/>
                  </a:ext>
                </a:extLst>
              </a:tr>
              <a:tr h="370840">
                <a:tc>
                  <a:txBody>
                    <a:bodyPr/>
                    <a:lstStyle/>
                    <a:p>
                      <a:r>
                        <a:rPr lang="en-US"/>
                        <a:t>History</a:t>
                      </a:r>
                    </a:p>
                  </a:txBody>
                  <a:tcPr/>
                </a:tc>
                <a:tc>
                  <a:txBody>
                    <a:bodyPr/>
                    <a:lstStyle/>
                    <a:p>
                      <a:r>
                        <a:rPr lang="en-US"/>
                        <a:t>No</a:t>
                      </a:r>
                    </a:p>
                  </a:txBody>
                  <a:tcPr/>
                </a:tc>
                <a:extLst>
                  <a:ext uri="{0D108BD9-81ED-4DB2-BD59-A6C34878D82A}">
                    <a16:rowId xmlns:a16="http://schemas.microsoft.com/office/drawing/2014/main" val="10008"/>
                  </a:ext>
                </a:extLst>
              </a:tr>
            </a:tbl>
          </a:graphicData>
        </a:graphic>
      </p:graphicFrame>
      <mc:AlternateContent xmlns:mc="http://schemas.openxmlformats.org/markup-compatibility/2006">
        <mc:Choice xmlns:a14="http://schemas.microsoft.com/office/drawing/2010/main" Requires="a14">
          <p:sp>
            <p:nvSpPr>
              <p:cNvPr id="7" name="Content Placeholder 2"/>
              <p:cNvSpPr txBox="1">
                <a:spLocks/>
              </p:cNvSpPr>
              <p:nvPr/>
            </p:nvSpPr>
            <p:spPr>
              <a:xfrm>
                <a:off x="2743200" y="1905000"/>
                <a:ext cx="6400800" cy="495300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n-US" b="1" dirty="0"/>
                  <a:t>Def: </a:t>
                </a:r>
                <a:r>
                  <a:rPr lang="en-US" b="1" dirty="0">
                    <a:solidFill>
                      <a:srgbClr val="0000FF"/>
                    </a:solidFill>
                  </a:rPr>
                  <a:t>Information Gain</a:t>
                </a:r>
              </a:p>
              <a:p>
                <a:pPr lvl="1"/>
                <a14:m>
                  <m:oMath xmlns:m="http://schemas.openxmlformats.org/officeDocument/2006/math">
                    <m:r>
                      <a:rPr lang="en-US" b="1" i="1" dirty="0" smtClean="0">
                        <a:latin typeface="Cambria Math"/>
                      </a:rPr>
                      <m:t>𝑰𝑮</m:t>
                    </m:r>
                    <m:r>
                      <a:rPr lang="en-US" b="1" i="1" dirty="0" smtClean="0">
                        <a:latin typeface="Cambria Math"/>
                      </a:rPr>
                      <m:t>(</m:t>
                    </m:r>
                    <m:r>
                      <a:rPr lang="en-US" b="1" i="1" dirty="0" smtClean="0">
                        <a:latin typeface="Cambria Math"/>
                      </a:rPr>
                      <m:t>𝒀</m:t>
                    </m:r>
                    <m:r>
                      <a:rPr lang="en-US" b="1" i="1" dirty="0" smtClean="0">
                        <a:latin typeface="Cambria Math"/>
                      </a:rPr>
                      <m:t>|</m:t>
                    </m:r>
                    <m:r>
                      <a:rPr lang="en-US" b="1" i="1" dirty="0" smtClean="0">
                        <a:latin typeface="Cambria Math"/>
                      </a:rPr>
                      <m:t>𝑿</m:t>
                    </m:r>
                    <m:r>
                      <a:rPr lang="en-US" b="1" i="1" dirty="0" smtClean="0">
                        <a:latin typeface="Cambria Math"/>
                      </a:rPr>
                      <m:t>)</m:t>
                    </m:r>
                    <m:r>
                      <a:rPr lang="en-US" i="1" dirty="0">
                        <a:latin typeface="Cambria Math"/>
                      </a:rPr>
                      <m:t> =</m:t>
                    </m:r>
                  </m:oMath>
                </a14:m>
                <a:r>
                  <a:rPr lang="en-US" dirty="0"/>
                  <a:t> I must transmit </a:t>
                </a:r>
                <a14:m>
                  <m:oMath xmlns:m="http://schemas.openxmlformats.org/officeDocument/2006/math">
                    <m:r>
                      <a:rPr lang="en-US" b="1" i="1" dirty="0" smtClean="0">
                        <a:latin typeface="Cambria Math" panose="02040503050406030204" pitchFamily="18" charset="0"/>
                      </a:rPr>
                      <m:t>𝒀</m:t>
                    </m:r>
                  </m:oMath>
                </a14:m>
                <a:r>
                  <a:rPr lang="en-US" dirty="0"/>
                  <a:t>. </a:t>
                </a:r>
                <a:r>
                  <a:rPr lang="en-US" b="1" dirty="0">
                    <a:solidFill>
                      <a:srgbClr val="008000"/>
                    </a:solidFill>
                  </a:rPr>
                  <a:t>How many bits on average would it save me if both ends of the line knew X?</a:t>
                </a:r>
              </a:p>
              <a:p>
                <a:pPr marL="118872" indent="0">
                  <a:buNone/>
                </a:pPr>
                <a14:m>
                  <m:oMathPara xmlns:m="http://schemas.openxmlformats.org/officeDocument/2006/math">
                    <m:oMathParaPr>
                      <m:jc m:val="centerGroup"/>
                    </m:oMathParaPr>
                    <m:oMath xmlns:m="http://schemas.openxmlformats.org/officeDocument/2006/math">
                      <m:r>
                        <a:rPr lang="en-US" b="1" i="1" dirty="0" smtClean="0">
                          <a:solidFill>
                            <a:srgbClr val="0000FF"/>
                          </a:solidFill>
                          <a:latin typeface="Cambria Math"/>
                        </a:rPr>
                        <m:t>𝑰𝑮</m:t>
                      </m:r>
                      <m:r>
                        <a:rPr lang="en-US" b="1" i="1" dirty="0" smtClean="0">
                          <a:solidFill>
                            <a:srgbClr val="0000FF"/>
                          </a:solidFill>
                          <a:latin typeface="Cambria Math"/>
                        </a:rPr>
                        <m:t>(</m:t>
                      </m:r>
                      <m:r>
                        <a:rPr lang="en-US" b="1" i="1" dirty="0" smtClean="0">
                          <a:solidFill>
                            <a:srgbClr val="0000FF"/>
                          </a:solidFill>
                          <a:latin typeface="Cambria Math"/>
                        </a:rPr>
                        <m:t>𝒀</m:t>
                      </m:r>
                      <m:r>
                        <a:rPr lang="en-US" b="1" i="1" dirty="0" smtClean="0">
                          <a:solidFill>
                            <a:srgbClr val="0000FF"/>
                          </a:solidFill>
                          <a:latin typeface="Cambria Math"/>
                        </a:rPr>
                        <m:t>|</m:t>
                      </m:r>
                      <m:r>
                        <a:rPr lang="en-US" b="1" i="1" dirty="0" smtClean="0">
                          <a:solidFill>
                            <a:srgbClr val="0000FF"/>
                          </a:solidFill>
                          <a:latin typeface="Cambria Math"/>
                        </a:rPr>
                        <m:t>𝑿</m:t>
                      </m:r>
                      <m:r>
                        <a:rPr lang="en-US" b="1" i="1" dirty="0" smtClean="0">
                          <a:solidFill>
                            <a:srgbClr val="0000FF"/>
                          </a:solidFill>
                          <a:latin typeface="Cambria Math"/>
                        </a:rPr>
                        <m:t>) = </m:t>
                      </m:r>
                      <m:r>
                        <a:rPr lang="en-US" b="1" i="1" dirty="0" smtClean="0">
                          <a:solidFill>
                            <a:srgbClr val="0000FF"/>
                          </a:solidFill>
                          <a:latin typeface="Cambria Math"/>
                        </a:rPr>
                        <m:t>𝑯</m:t>
                      </m:r>
                      <m:r>
                        <a:rPr lang="en-US" b="1" i="1" dirty="0" smtClean="0">
                          <a:solidFill>
                            <a:srgbClr val="0000FF"/>
                          </a:solidFill>
                          <a:latin typeface="Cambria Math"/>
                        </a:rPr>
                        <m:t>(</m:t>
                      </m:r>
                      <m:r>
                        <a:rPr lang="en-US" b="1" i="1" dirty="0" smtClean="0">
                          <a:solidFill>
                            <a:srgbClr val="0000FF"/>
                          </a:solidFill>
                          <a:latin typeface="Cambria Math"/>
                        </a:rPr>
                        <m:t>𝒀</m:t>
                      </m:r>
                      <m:r>
                        <a:rPr lang="en-US" b="1" i="1" dirty="0" smtClean="0">
                          <a:solidFill>
                            <a:srgbClr val="0000FF"/>
                          </a:solidFill>
                          <a:latin typeface="Cambria Math"/>
                        </a:rPr>
                        <m:t>) − </m:t>
                      </m:r>
                      <m:r>
                        <a:rPr lang="en-US" b="1" i="1" dirty="0" smtClean="0">
                          <a:solidFill>
                            <a:srgbClr val="0000FF"/>
                          </a:solidFill>
                          <a:latin typeface="Cambria Math"/>
                        </a:rPr>
                        <m:t>𝑯</m:t>
                      </m:r>
                      <m:r>
                        <a:rPr lang="en-US" b="1" i="1" dirty="0" smtClean="0">
                          <a:solidFill>
                            <a:srgbClr val="0000FF"/>
                          </a:solidFill>
                          <a:latin typeface="Cambria Math"/>
                        </a:rPr>
                        <m:t>(</m:t>
                      </m:r>
                      <m:r>
                        <a:rPr lang="en-US" b="1" i="1" dirty="0" smtClean="0">
                          <a:solidFill>
                            <a:srgbClr val="0000FF"/>
                          </a:solidFill>
                          <a:latin typeface="Cambria Math"/>
                        </a:rPr>
                        <m:t>𝒀</m:t>
                      </m:r>
                      <m:r>
                        <a:rPr lang="en-US" b="1" i="1" dirty="0" smtClean="0">
                          <a:solidFill>
                            <a:srgbClr val="0000FF"/>
                          </a:solidFill>
                          <a:latin typeface="Cambria Math"/>
                        </a:rPr>
                        <m:t> | </m:t>
                      </m:r>
                      <m:r>
                        <a:rPr lang="en-US" b="1" i="1" dirty="0" smtClean="0">
                          <a:solidFill>
                            <a:srgbClr val="0000FF"/>
                          </a:solidFill>
                          <a:latin typeface="Cambria Math"/>
                        </a:rPr>
                        <m:t>𝑿</m:t>
                      </m:r>
                      <m:r>
                        <a:rPr lang="en-US" b="1" i="1" dirty="0" smtClean="0">
                          <a:solidFill>
                            <a:srgbClr val="0000FF"/>
                          </a:solidFill>
                          <a:latin typeface="Cambria Math"/>
                        </a:rPr>
                        <m:t>)</m:t>
                      </m:r>
                    </m:oMath>
                  </m:oMathPara>
                </a14:m>
                <a:endParaRPr lang="en-US" b="1" dirty="0">
                  <a:solidFill>
                    <a:srgbClr val="0000FF"/>
                  </a:solidFill>
                </a:endParaRPr>
              </a:p>
              <a:p>
                <a:pPr lvl="8"/>
                <a:endParaRPr lang="en-US" dirty="0"/>
              </a:p>
              <a:p>
                <a:r>
                  <a:rPr lang="en-US" b="1" dirty="0"/>
                  <a:t>Example:</a:t>
                </a:r>
              </a:p>
              <a:p>
                <a:pPr lvl="1"/>
                <a:r>
                  <a:rPr lang="en-US" dirty="0">
                    <a:highlight>
                      <a:srgbClr val="FFFF00"/>
                    </a:highlight>
                  </a:rPr>
                  <a:t>H(Y) = 1</a:t>
                </a:r>
              </a:p>
              <a:p>
                <a:pPr lvl="1"/>
                <a:r>
                  <a:rPr lang="en-US" dirty="0">
                    <a:highlight>
                      <a:srgbClr val="FFFF00"/>
                    </a:highlight>
                  </a:rPr>
                  <a:t>H(Y|X) = 0.5</a:t>
                </a:r>
              </a:p>
              <a:p>
                <a:pPr lvl="1"/>
                <a:r>
                  <a:rPr lang="en-US" dirty="0"/>
                  <a:t>Thus </a:t>
                </a:r>
                <a:r>
                  <a:rPr lang="en-US" b="1" dirty="0"/>
                  <a:t>IG(Y|X) = 1 – 0.5 = 0.5</a:t>
                </a:r>
              </a:p>
            </p:txBody>
          </p:sp>
        </mc:Choice>
        <mc:Fallback>
          <p:sp>
            <p:nvSpPr>
              <p:cNvPr id="7" name="Content Placeholder 2"/>
              <p:cNvSpPr txBox="1">
                <a:spLocks noRot="1" noChangeAspect="1" noMove="1" noResize="1" noEditPoints="1" noAdjustHandles="1" noChangeArrowheads="1" noChangeShapeType="1" noTextEdit="1"/>
              </p:cNvSpPr>
              <p:nvPr/>
            </p:nvSpPr>
            <p:spPr>
              <a:xfrm>
                <a:off x="2743200" y="1905000"/>
                <a:ext cx="6400800" cy="4953000"/>
              </a:xfrm>
              <a:prstGeom prst="rect">
                <a:avLst/>
              </a:prstGeom>
              <a:blipFill>
                <a:blip r:embed="rId4"/>
                <a:stretch>
                  <a:fillRect t="-769" b="-1026"/>
                </a:stretch>
              </a:blipFill>
            </p:spPr>
            <p:txBody>
              <a:bodyPr/>
              <a:lstStyle/>
              <a:p>
                <a:r>
                  <a:rPr lang="en-US">
                    <a:noFill/>
                  </a:rPr>
                  <a:t> </a:t>
                </a:r>
              </a:p>
            </p:txBody>
          </p:sp>
        </mc:Fallback>
      </mc:AlternateContent>
      <p:sp>
        <p:nvSpPr>
          <p:cNvPr id="6" name="Date Placeholder 5"/>
          <p:cNvSpPr>
            <a:spLocks noGrp="1"/>
          </p:cNvSpPr>
          <p:nvPr>
            <p:ph type="dt" sz="half" idx="10"/>
          </p:nvPr>
        </p:nvSpPr>
        <p:spPr/>
        <p:txBody>
          <a:bodyPr/>
          <a:lstStyle/>
          <a:p>
            <a:fld id="{220DC289-309F-304A-9C59-7F3C3E2CE8D7}" type="datetime1">
              <a:rPr lang="en-US" smtClean="0"/>
              <a:t>10/1/24</a:t>
            </a:fld>
            <a:endParaRPr lang="en-US" dirty="0"/>
          </a:p>
        </p:txBody>
      </p:sp>
      <p:sp>
        <p:nvSpPr>
          <p:cNvPr id="8" name="Footer Placeholder 7"/>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552438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987552"/>
          </a:xfrm>
        </p:spPr>
        <p:txBody>
          <a:bodyPr>
            <a:normAutofit/>
          </a:bodyPr>
          <a:lstStyle/>
          <a:p>
            <a:r>
              <a:rPr lang="en-US"/>
              <a:t>What is Information Gain used for?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5486400"/>
              </a:xfrm>
            </p:spPr>
            <p:txBody>
              <a:bodyPr>
                <a:normAutofit/>
              </a:bodyPr>
              <a:lstStyle/>
              <a:p>
                <a:r>
                  <a:rPr lang="en-US" b="1" dirty="0">
                    <a:solidFill>
                      <a:srgbClr val="0000FF"/>
                    </a:solidFill>
                  </a:rPr>
                  <a:t>Suppose you are trying to predict whether someone is going to live past 80 years </a:t>
                </a:r>
              </a:p>
              <a:p>
                <a:r>
                  <a:rPr lang="en-US" dirty="0"/>
                  <a:t>From historical data you might find:</a:t>
                </a:r>
              </a:p>
              <a:p>
                <a:pPr lvl="1"/>
                <a14:m>
                  <m:oMath xmlns:m="http://schemas.openxmlformats.org/officeDocument/2006/math">
                    <m:r>
                      <a:rPr lang="en-US" b="1" i="1" dirty="0" smtClean="0">
                        <a:latin typeface="Cambria Math" panose="02040503050406030204" pitchFamily="18" charset="0"/>
                      </a:rPr>
                      <m:t>𝑰𝑮</m:t>
                    </m:r>
                    <m:r>
                      <a:rPr lang="en-US" b="1" i="1" dirty="0" smtClean="0">
                        <a:latin typeface="Cambria Math" panose="02040503050406030204" pitchFamily="18" charset="0"/>
                      </a:rPr>
                      <m:t>(</m:t>
                    </m:r>
                    <m:r>
                      <a:rPr lang="en-US" b="1" i="1" dirty="0" err="1">
                        <a:latin typeface="Cambria Math" panose="02040503050406030204" pitchFamily="18" charset="0"/>
                      </a:rPr>
                      <m:t>𝑳𝒐𝒏𝒈𝑳𝒊𝒇𝒆</m:t>
                    </m:r>
                    <m:r>
                      <a:rPr lang="en-US" b="1" i="1" dirty="0">
                        <a:latin typeface="Cambria Math" panose="02040503050406030204" pitchFamily="18" charset="0"/>
                      </a:rPr>
                      <m:t> | </m:t>
                    </m:r>
                    <m:r>
                      <a:rPr lang="en-US" b="1" i="1" dirty="0" err="1">
                        <a:latin typeface="Cambria Math" panose="02040503050406030204" pitchFamily="18" charset="0"/>
                      </a:rPr>
                      <m:t>𝑯𝒂𝒊𝒓𝑪𝒐𝒍𝒐𝒓</m:t>
                    </m:r>
                    <m:r>
                      <a:rPr lang="en-US" b="1" i="1" dirty="0">
                        <a:latin typeface="Cambria Math" panose="02040503050406030204" pitchFamily="18" charset="0"/>
                      </a:rPr>
                      <m:t>) = </m:t>
                    </m:r>
                    <m:r>
                      <a:rPr lang="en-US" b="1" i="1" dirty="0">
                        <a:latin typeface="Cambria Math" panose="02040503050406030204" pitchFamily="18" charset="0"/>
                      </a:rPr>
                      <m:t>𝟎</m:t>
                    </m:r>
                    <m:r>
                      <a:rPr lang="en-US" b="1" i="1" dirty="0">
                        <a:latin typeface="Cambria Math" panose="02040503050406030204" pitchFamily="18" charset="0"/>
                      </a:rPr>
                      <m:t>.</m:t>
                    </m:r>
                    <m:r>
                      <a:rPr lang="en-US" b="1" i="1" dirty="0">
                        <a:latin typeface="Cambria Math" panose="02040503050406030204" pitchFamily="18" charset="0"/>
                      </a:rPr>
                      <m:t>𝟎𝟏</m:t>
                    </m:r>
                  </m:oMath>
                </a14:m>
                <a:endParaRPr lang="en-US" b="1" dirty="0"/>
              </a:p>
              <a:p>
                <a:pPr lvl="1"/>
                <a14:m>
                  <m:oMath xmlns:m="http://schemas.openxmlformats.org/officeDocument/2006/math">
                    <m:r>
                      <a:rPr lang="en-US" b="1" i="1" dirty="0" smtClean="0">
                        <a:latin typeface="Cambria Math" panose="02040503050406030204" pitchFamily="18" charset="0"/>
                      </a:rPr>
                      <m:t>𝑰𝑮</m:t>
                    </m:r>
                    <m:r>
                      <a:rPr lang="en-US" b="1" i="1" dirty="0" smtClean="0">
                        <a:latin typeface="Cambria Math" panose="02040503050406030204" pitchFamily="18" charset="0"/>
                      </a:rPr>
                      <m:t>(</m:t>
                    </m:r>
                    <m:r>
                      <a:rPr lang="en-US" b="1" i="1" dirty="0" err="1">
                        <a:latin typeface="Cambria Math" panose="02040503050406030204" pitchFamily="18" charset="0"/>
                      </a:rPr>
                      <m:t>𝑳𝒐𝒏𝒈𝑳𝒊𝒇𝒆</m:t>
                    </m:r>
                    <m:r>
                      <a:rPr lang="en-US" b="1" i="1" dirty="0">
                        <a:latin typeface="Cambria Math" panose="02040503050406030204" pitchFamily="18" charset="0"/>
                      </a:rPr>
                      <m:t> | </m:t>
                    </m:r>
                    <m:r>
                      <a:rPr lang="en-US" b="1" i="1" dirty="0">
                        <a:latin typeface="Cambria Math" panose="02040503050406030204" pitchFamily="18" charset="0"/>
                      </a:rPr>
                      <m:t>𝑺𝒎𝒐𝒌𝒆𝒓</m:t>
                    </m:r>
                    <m:r>
                      <a:rPr lang="en-US" b="1" i="1" dirty="0">
                        <a:latin typeface="Cambria Math" panose="02040503050406030204" pitchFamily="18" charset="0"/>
                      </a:rPr>
                      <m:t>) = </m:t>
                    </m:r>
                    <m:r>
                      <a:rPr lang="en-US" b="1" i="1" dirty="0">
                        <a:latin typeface="Cambria Math" panose="02040503050406030204" pitchFamily="18" charset="0"/>
                      </a:rPr>
                      <m:t>𝟎</m:t>
                    </m:r>
                    <m:r>
                      <a:rPr lang="en-US" b="1" i="1" dirty="0">
                        <a:latin typeface="Cambria Math" panose="02040503050406030204" pitchFamily="18" charset="0"/>
                      </a:rPr>
                      <m:t>.</m:t>
                    </m:r>
                    <m:r>
                      <a:rPr lang="en-US" b="1" i="1" dirty="0">
                        <a:latin typeface="Cambria Math" panose="02040503050406030204" pitchFamily="18" charset="0"/>
                      </a:rPr>
                      <m:t>𝟒</m:t>
                    </m:r>
                  </m:oMath>
                </a14:m>
                <a:endParaRPr lang="en-US" b="1" dirty="0"/>
              </a:p>
              <a:p>
                <a:pPr lvl="1"/>
                <a14:m>
                  <m:oMath xmlns:m="http://schemas.openxmlformats.org/officeDocument/2006/math">
                    <m:r>
                      <a:rPr lang="en-US" b="1" i="1" dirty="0" smtClean="0">
                        <a:latin typeface="Cambria Math" panose="02040503050406030204" pitchFamily="18" charset="0"/>
                      </a:rPr>
                      <m:t>𝑰𝑮</m:t>
                    </m:r>
                    <m:r>
                      <a:rPr lang="en-US" b="1" i="1" dirty="0" smtClean="0">
                        <a:latin typeface="Cambria Math" panose="02040503050406030204" pitchFamily="18" charset="0"/>
                      </a:rPr>
                      <m:t>(</m:t>
                    </m:r>
                    <m:r>
                      <a:rPr lang="en-US" b="1" i="1" dirty="0" err="1">
                        <a:latin typeface="Cambria Math" panose="02040503050406030204" pitchFamily="18" charset="0"/>
                      </a:rPr>
                      <m:t>𝑳𝒐𝒏𝒈𝑳𝒊𝒇𝒆</m:t>
                    </m:r>
                    <m:r>
                      <a:rPr lang="en-US" b="1" i="1" dirty="0">
                        <a:latin typeface="Cambria Math" panose="02040503050406030204" pitchFamily="18" charset="0"/>
                      </a:rPr>
                      <m:t> | </m:t>
                    </m:r>
                    <m:r>
                      <a:rPr lang="en-US" b="1" i="1" dirty="0">
                        <a:latin typeface="Cambria Math" panose="02040503050406030204" pitchFamily="18" charset="0"/>
                      </a:rPr>
                      <m:t>𝑮𝒆𝒏𝒅𝒆𝒓</m:t>
                    </m:r>
                    <m:r>
                      <a:rPr lang="en-US" b="1" i="1" dirty="0">
                        <a:latin typeface="Cambria Math" panose="02040503050406030204" pitchFamily="18" charset="0"/>
                      </a:rPr>
                      <m:t>) = </m:t>
                    </m:r>
                    <m:r>
                      <a:rPr lang="en-US" b="1" i="1" dirty="0">
                        <a:latin typeface="Cambria Math" panose="02040503050406030204" pitchFamily="18" charset="0"/>
                      </a:rPr>
                      <m:t>𝟎</m:t>
                    </m:r>
                    <m:r>
                      <a:rPr lang="en-US" b="1" i="1" dirty="0">
                        <a:latin typeface="Cambria Math" panose="02040503050406030204" pitchFamily="18" charset="0"/>
                      </a:rPr>
                      <m:t>.</m:t>
                    </m:r>
                    <m:r>
                      <a:rPr lang="en-US" b="1" i="1" dirty="0">
                        <a:latin typeface="Cambria Math" panose="02040503050406030204" pitchFamily="18" charset="0"/>
                      </a:rPr>
                      <m:t>𝟐𝟓</m:t>
                    </m:r>
                  </m:oMath>
                </a14:m>
                <a:endParaRPr lang="en-US" b="1" dirty="0"/>
              </a:p>
              <a:p>
                <a:pPr lvl="1"/>
                <a14:m>
                  <m:oMath xmlns:m="http://schemas.openxmlformats.org/officeDocument/2006/math">
                    <m:r>
                      <a:rPr lang="en-US" b="1" i="1" dirty="0" smtClean="0">
                        <a:latin typeface="Cambria Math" panose="02040503050406030204" pitchFamily="18" charset="0"/>
                      </a:rPr>
                      <m:t>𝑰𝑮</m:t>
                    </m:r>
                    <m:r>
                      <a:rPr lang="en-US" b="1" i="1" dirty="0" smtClean="0">
                        <a:latin typeface="Cambria Math" panose="02040503050406030204" pitchFamily="18" charset="0"/>
                      </a:rPr>
                      <m:t>(</m:t>
                    </m:r>
                    <m:r>
                      <a:rPr lang="en-US" b="1" i="1" dirty="0" err="1">
                        <a:latin typeface="Cambria Math" panose="02040503050406030204" pitchFamily="18" charset="0"/>
                      </a:rPr>
                      <m:t>𝑳𝒐𝒏𝒈𝑳𝒊𝒇𝒆</m:t>
                    </m:r>
                    <m:r>
                      <a:rPr lang="en-US" b="1" i="1" dirty="0">
                        <a:latin typeface="Cambria Math" panose="02040503050406030204" pitchFamily="18" charset="0"/>
                      </a:rPr>
                      <m:t> | </m:t>
                    </m:r>
                    <m:r>
                      <a:rPr lang="en-US" b="1" i="1" dirty="0" err="1">
                        <a:latin typeface="Cambria Math" panose="02040503050406030204" pitchFamily="18" charset="0"/>
                      </a:rPr>
                      <m:t>𝑳𝒂𝒔𝒕𝑫𝒊𝒈𝒊𝒕𝑶𝒇𝑺𝑺𝑵</m:t>
                    </m:r>
                    <m:r>
                      <a:rPr lang="en-US" b="1" i="1" dirty="0">
                        <a:latin typeface="Cambria Math" panose="02040503050406030204" pitchFamily="18" charset="0"/>
                      </a:rPr>
                      <m:t>) = </m:t>
                    </m:r>
                    <m:r>
                      <a:rPr lang="en-US" b="1" i="1" dirty="0">
                        <a:latin typeface="Cambria Math" panose="02040503050406030204" pitchFamily="18" charset="0"/>
                      </a:rPr>
                      <m:t>𝟎</m:t>
                    </m:r>
                    <m:r>
                      <a:rPr lang="en-US" b="1" i="1" dirty="0">
                        <a:latin typeface="Cambria Math" panose="02040503050406030204" pitchFamily="18" charset="0"/>
                      </a:rPr>
                      <m:t>.</m:t>
                    </m:r>
                    <m:r>
                      <a:rPr lang="en-US" b="1" i="1" dirty="0">
                        <a:latin typeface="Cambria Math" panose="02040503050406030204" pitchFamily="18" charset="0"/>
                      </a:rPr>
                      <m:t>𝟎𝟎𝟎𝟎𝟏</m:t>
                    </m:r>
                  </m:oMath>
                </a14:m>
                <a:endParaRPr lang="en-US" b="1" dirty="0"/>
              </a:p>
              <a:p>
                <a:pPr lvl="8"/>
                <a:endParaRPr lang="en-US" sz="900" dirty="0"/>
              </a:p>
              <a:p>
                <a:r>
                  <a:rPr lang="en-US" b="1" dirty="0">
                    <a:solidFill>
                      <a:srgbClr val="FF0066"/>
                    </a:solidFill>
                  </a:rPr>
                  <a:t>IG tells us how much information about </a:t>
                </a:r>
                <a14:m>
                  <m:oMath xmlns:m="http://schemas.openxmlformats.org/officeDocument/2006/math">
                    <m:r>
                      <a:rPr lang="en-US" b="1" i="1" dirty="0">
                        <a:latin typeface="Cambria Math"/>
                      </a:rPr>
                      <m:t>𝒀</m:t>
                    </m:r>
                  </m:oMath>
                </a14:m>
                <a:r>
                  <a:rPr lang="en-US" b="1" dirty="0">
                    <a:solidFill>
                      <a:srgbClr val="FF0066"/>
                    </a:solidFill>
                  </a:rPr>
                  <a:t> is contained in </a:t>
                </a:r>
                <a14:m>
                  <m:oMath xmlns:m="http://schemas.openxmlformats.org/officeDocument/2006/math">
                    <m:r>
                      <a:rPr lang="en-US" b="1" i="1" dirty="0" smtClean="0">
                        <a:latin typeface="Cambria Math"/>
                      </a:rPr>
                      <m:t>𝑿</m:t>
                    </m:r>
                  </m:oMath>
                </a14:m>
                <a:endParaRPr lang="en-US" b="1" dirty="0">
                  <a:solidFill>
                    <a:srgbClr val="FF0066"/>
                  </a:solidFill>
                </a:endParaRPr>
              </a:p>
              <a:p>
                <a:pPr lvl="1"/>
                <a:r>
                  <a:rPr lang="en-US" b="1" dirty="0"/>
                  <a:t>So attribute X that has high </a:t>
                </a:r>
                <a14:m>
                  <m:oMath xmlns:m="http://schemas.openxmlformats.org/officeDocument/2006/math">
                    <m:r>
                      <a:rPr lang="en-US" b="1" i="1" dirty="0" smtClean="0">
                        <a:latin typeface="Cambria Math" panose="02040503050406030204" pitchFamily="18" charset="0"/>
                      </a:rPr>
                      <m:t>𝑰𝑮</m:t>
                    </m:r>
                    <m:r>
                      <a:rPr lang="en-US" b="1" i="1" dirty="0" smtClean="0">
                        <a:latin typeface="Cambria Math" panose="02040503050406030204" pitchFamily="18" charset="0"/>
                      </a:rPr>
                      <m:t>(</m:t>
                    </m:r>
                    <m:r>
                      <a:rPr lang="en-US" b="1" i="1" dirty="0" smtClean="0">
                        <a:latin typeface="Cambria Math" panose="02040503050406030204" pitchFamily="18" charset="0"/>
                      </a:rPr>
                      <m:t>𝒀</m:t>
                    </m:r>
                    <m:r>
                      <a:rPr lang="en-US" b="1" i="1" dirty="0" smtClean="0">
                        <a:latin typeface="Cambria Math" panose="02040503050406030204" pitchFamily="18" charset="0"/>
                      </a:rPr>
                      <m:t>|</m:t>
                    </m:r>
                    <m:r>
                      <a:rPr lang="en-US" b="1" i="1" dirty="0" smtClean="0">
                        <a:latin typeface="Cambria Math" panose="02040503050406030204" pitchFamily="18" charset="0"/>
                      </a:rPr>
                      <m:t>𝑿</m:t>
                    </m:r>
                    <m:r>
                      <a:rPr lang="en-US" b="1" i="1" dirty="0" smtClean="0">
                        <a:latin typeface="Cambria Math" panose="02040503050406030204" pitchFamily="18" charset="0"/>
                      </a:rPr>
                      <m:t>) </m:t>
                    </m:r>
                  </m:oMath>
                </a14:m>
                <a:r>
                  <a:rPr lang="en-US" b="1" dirty="0"/>
                  <a:t>is a good split!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5486400"/>
              </a:xfrm>
              <a:blipFill>
                <a:blip r:embed="rId3"/>
                <a:stretch>
                  <a:fillRect l="-283" t="-66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26</a:t>
            </a:fld>
            <a:endParaRPr lang="en-US"/>
          </a:p>
        </p:txBody>
      </p:sp>
      <p:sp>
        <p:nvSpPr>
          <p:cNvPr id="5" name="Date Placeholder 4"/>
          <p:cNvSpPr>
            <a:spLocks noGrp="1"/>
          </p:cNvSpPr>
          <p:nvPr>
            <p:ph type="dt" sz="half" idx="10"/>
          </p:nvPr>
        </p:nvSpPr>
        <p:spPr/>
        <p:txBody>
          <a:bodyPr/>
          <a:lstStyle/>
          <a:p>
            <a:fld id="{DF9557F6-9797-C845-943F-5F660F658BAD}" type="datetime1">
              <a:rPr lang="en-US" smtClean="0"/>
              <a:t>10/1/24</a:t>
            </a:fld>
            <a:endParaRPr lang="en-US"/>
          </a:p>
        </p:txBody>
      </p:sp>
      <p:sp>
        <p:nvSpPr>
          <p:cNvPr id="6" name="Footer Placeholder 5"/>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2500539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763000" cy="987552"/>
          </a:xfrm>
        </p:spPr>
        <p:txBody>
          <a:bodyPr>
            <a:normAutofit/>
          </a:bodyPr>
          <a:lstStyle/>
          <a:p>
            <a:r>
              <a:rPr lang="en-US"/>
              <a:t>3 steps in constructing a tree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27</a:t>
            </a:fld>
            <a:endParaRPr lang="en-US"/>
          </a:p>
        </p:txBody>
      </p:sp>
      <p:pic>
        <p:nvPicPr>
          <p:cNvPr id="7" name="Picture 2"/>
          <p:cNvPicPr>
            <a:picLocks noChangeAspect="1" noChangeArrowheads="1"/>
          </p:cNvPicPr>
          <p:nvPr/>
        </p:nvPicPr>
        <p:blipFill>
          <a:blip r:embed="rId2" cstate="print"/>
          <a:srcRect/>
          <a:stretch>
            <a:fillRect/>
          </a:stretch>
        </p:blipFill>
        <p:spPr bwMode="auto">
          <a:xfrm>
            <a:off x="914400" y="1219200"/>
            <a:ext cx="7665987" cy="4876800"/>
          </a:xfrm>
          <a:prstGeom prst="rect">
            <a:avLst/>
          </a:prstGeom>
          <a:noFill/>
          <a:ln w="9525">
            <a:noFill/>
            <a:miter lim="800000"/>
            <a:headEnd/>
            <a:tailEnd/>
          </a:ln>
        </p:spPr>
      </p:pic>
      <p:sp>
        <p:nvSpPr>
          <p:cNvPr id="10" name="Rectangle 9"/>
          <p:cNvSpPr/>
          <p:nvPr/>
        </p:nvSpPr>
        <p:spPr>
          <a:xfrm>
            <a:off x="4648200" y="2228088"/>
            <a:ext cx="2819400" cy="404576"/>
          </a:xfrm>
          <a:prstGeom prst="rect">
            <a:avLst/>
          </a:prstGeom>
          <a:noFill/>
          <a:ln cmpd="sng">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970844" y="2656820"/>
            <a:ext cx="3454706" cy="402144"/>
          </a:xfrm>
          <a:prstGeom prst="rect">
            <a:avLst/>
          </a:prstGeom>
          <a:noFill/>
          <a:ln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05514" y="3058856"/>
            <a:ext cx="3178366" cy="414548"/>
          </a:xfrm>
          <a:prstGeom prst="rect">
            <a:avLst/>
          </a:prstGeom>
          <a:noFill/>
          <a:ln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058912" y="2113084"/>
            <a:ext cx="625492" cy="523220"/>
          </a:xfrm>
          <a:prstGeom prst="rect">
            <a:avLst/>
          </a:prstGeom>
          <a:noFill/>
        </p:spPr>
        <p:txBody>
          <a:bodyPr wrap="none" rtlCol="0">
            <a:spAutoFit/>
          </a:bodyPr>
          <a:lstStyle/>
          <a:p>
            <a:r>
              <a:rPr lang="en-US" sz="2800" b="1">
                <a:solidFill>
                  <a:srgbClr val="D60093"/>
                </a:solidFill>
                <a:latin typeface="Arial" pitchFamily="34" charset="0"/>
                <a:cs typeface="Arial" pitchFamily="34" charset="0"/>
              </a:rPr>
              <a:t>(1)</a:t>
            </a:r>
          </a:p>
        </p:txBody>
      </p:sp>
      <p:sp>
        <p:nvSpPr>
          <p:cNvPr id="15" name="TextBox 14"/>
          <p:cNvSpPr txBox="1"/>
          <p:nvPr/>
        </p:nvSpPr>
        <p:spPr>
          <a:xfrm>
            <a:off x="8058912" y="2535744"/>
            <a:ext cx="625492" cy="523220"/>
          </a:xfrm>
          <a:prstGeom prst="rect">
            <a:avLst/>
          </a:prstGeom>
          <a:noFill/>
        </p:spPr>
        <p:txBody>
          <a:bodyPr wrap="none" rtlCol="0">
            <a:spAutoFit/>
          </a:bodyPr>
          <a:lstStyle/>
          <a:p>
            <a:r>
              <a:rPr lang="en-US" sz="2800" b="1">
                <a:solidFill>
                  <a:srgbClr val="D60093"/>
                </a:solidFill>
                <a:latin typeface="Arial" pitchFamily="34" charset="0"/>
                <a:cs typeface="Arial" pitchFamily="34" charset="0"/>
              </a:rPr>
              <a:t>(2)</a:t>
            </a:r>
          </a:p>
        </p:txBody>
      </p:sp>
      <p:sp>
        <p:nvSpPr>
          <p:cNvPr id="16" name="TextBox 15"/>
          <p:cNvSpPr txBox="1"/>
          <p:nvPr/>
        </p:nvSpPr>
        <p:spPr>
          <a:xfrm>
            <a:off x="8058912" y="2992956"/>
            <a:ext cx="625492" cy="523220"/>
          </a:xfrm>
          <a:prstGeom prst="rect">
            <a:avLst/>
          </a:prstGeom>
          <a:noFill/>
        </p:spPr>
        <p:txBody>
          <a:bodyPr wrap="none" rtlCol="0">
            <a:spAutoFit/>
          </a:bodyPr>
          <a:lstStyle/>
          <a:p>
            <a:r>
              <a:rPr lang="en-US" sz="2800" b="1">
                <a:solidFill>
                  <a:srgbClr val="D60093"/>
                </a:solidFill>
                <a:latin typeface="Arial" pitchFamily="34" charset="0"/>
                <a:cs typeface="Arial" pitchFamily="34" charset="0"/>
              </a:rPr>
              <a:t>(3)</a:t>
            </a:r>
          </a:p>
        </p:txBody>
      </p:sp>
      <p:sp>
        <p:nvSpPr>
          <p:cNvPr id="17" name="TextBox 16"/>
          <p:cNvSpPr txBox="1"/>
          <p:nvPr/>
        </p:nvSpPr>
        <p:spPr>
          <a:xfrm>
            <a:off x="3288062" y="1348024"/>
            <a:ext cx="3333391" cy="430887"/>
          </a:xfrm>
          <a:prstGeom prst="rect">
            <a:avLst/>
          </a:prstGeom>
          <a:solidFill>
            <a:schemeClr val="bg1"/>
          </a:solidFill>
          <a:ln w="38100">
            <a:solidFill>
              <a:schemeClr val="accent5"/>
            </a:solidFill>
          </a:ln>
        </p:spPr>
        <p:txBody>
          <a:bodyPr wrap="square" tIns="0" bIns="0" rtlCol="0">
            <a:spAutoFit/>
          </a:bodyPr>
          <a:lstStyle/>
          <a:p>
            <a:r>
              <a:rPr lang="en-US" sz="2800" b="1" err="1">
                <a:latin typeface="Times New Roman" pitchFamily="18" charset="0"/>
                <a:cs typeface="Times New Roman" pitchFamily="18" charset="0"/>
              </a:rPr>
              <a:t>BuildSubtree</a:t>
            </a:r>
            <a:endParaRPr lang="en-US" sz="2800" b="1">
              <a:latin typeface="Times New Roman" pitchFamily="18" charset="0"/>
              <a:cs typeface="Times New Roman" pitchFamily="18" charset="0"/>
            </a:endParaRPr>
          </a:p>
        </p:txBody>
      </p:sp>
      <p:sp>
        <p:nvSpPr>
          <p:cNvPr id="22" name="TextBox 21"/>
          <p:cNvSpPr txBox="1"/>
          <p:nvPr/>
        </p:nvSpPr>
        <p:spPr>
          <a:xfrm>
            <a:off x="1905000" y="3854780"/>
            <a:ext cx="3309491" cy="400110"/>
          </a:xfrm>
          <a:prstGeom prst="rect">
            <a:avLst/>
          </a:prstGeom>
          <a:solidFill>
            <a:schemeClr val="bg1"/>
          </a:solidFill>
          <a:ln w="38100">
            <a:noFill/>
          </a:ln>
        </p:spPr>
        <p:txBody>
          <a:bodyPr wrap="square" tIns="0" bIns="0" rtlCol="0">
            <a:spAutoFit/>
          </a:bodyPr>
          <a:lstStyle/>
          <a:p>
            <a:pPr algn="r"/>
            <a:r>
              <a:rPr lang="en-US" sz="2600" b="1" err="1">
                <a:latin typeface="Times New Roman" pitchFamily="18" charset="0"/>
                <a:cs typeface="Times New Roman" pitchFamily="18" charset="0"/>
              </a:rPr>
              <a:t>BuildSubtree</a:t>
            </a:r>
            <a:endParaRPr lang="en-US" sz="2600" b="1">
              <a:latin typeface="Times New Roman" pitchFamily="18" charset="0"/>
              <a:cs typeface="Times New Roman" pitchFamily="18" charset="0"/>
            </a:endParaRPr>
          </a:p>
        </p:txBody>
      </p:sp>
      <p:sp>
        <p:nvSpPr>
          <p:cNvPr id="23" name="TextBox 22"/>
          <p:cNvSpPr txBox="1"/>
          <p:nvPr/>
        </p:nvSpPr>
        <p:spPr>
          <a:xfrm>
            <a:off x="1918156" y="5448180"/>
            <a:ext cx="3305042" cy="400110"/>
          </a:xfrm>
          <a:prstGeom prst="rect">
            <a:avLst/>
          </a:prstGeom>
          <a:solidFill>
            <a:schemeClr val="bg1"/>
          </a:solidFill>
          <a:ln w="38100">
            <a:noFill/>
          </a:ln>
        </p:spPr>
        <p:txBody>
          <a:bodyPr wrap="square" tIns="0" bIns="0" rtlCol="0">
            <a:spAutoFit/>
          </a:bodyPr>
          <a:lstStyle/>
          <a:p>
            <a:pPr algn="r"/>
            <a:r>
              <a:rPr lang="en-US" sz="2600" b="1" err="1">
                <a:latin typeface="Times New Roman" pitchFamily="18" charset="0"/>
                <a:cs typeface="Times New Roman" pitchFamily="18" charset="0"/>
              </a:rPr>
              <a:t>BuildSubtree</a:t>
            </a:r>
            <a:endParaRPr lang="en-US" sz="2600" b="1">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D7EAB8F-7BE7-E745-82F5-86B2D1B1A798}"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198623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8" grpId="0"/>
      <p:bldP spid="15"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When to stop?</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marL="118872" indent="0">
                  <a:buNone/>
                </a:pPr>
                <a:r>
                  <a:rPr lang="en-US" b="1" dirty="0">
                    <a:solidFill>
                      <a:srgbClr val="D60093"/>
                    </a:solidFill>
                  </a:rPr>
                  <a:t>(2) When to stop?</a:t>
                </a:r>
              </a:p>
              <a:p>
                <a:r>
                  <a:rPr lang="en-US" dirty="0"/>
                  <a:t>Many different </a:t>
                </a:r>
                <a:r>
                  <a:rPr lang="en-US" dirty="0">
                    <a:highlight>
                      <a:srgbClr val="FFFF00"/>
                    </a:highlight>
                  </a:rPr>
                  <a:t>heuristic</a:t>
                </a:r>
                <a:r>
                  <a:rPr lang="en-US" dirty="0"/>
                  <a:t> </a:t>
                </a:r>
                <a:br>
                  <a:rPr lang="en-US" dirty="0"/>
                </a:br>
                <a:r>
                  <a:rPr lang="en-US" dirty="0"/>
                  <a:t>options</a:t>
                </a:r>
              </a:p>
              <a:p>
                <a:r>
                  <a:rPr lang="en-US" b="1" dirty="0"/>
                  <a:t>Two ideas:</a:t>
                </a:r>
              </a:p>
              <a:p>
                <a:pPr lvl="1"/>
                <a:r>
                  <a:rPr lang="en-US" b="1" dirty="0">
                    <a:solidFill>
                      <a:srgbClr val="008000"/>
                    </a:solidFill>
                  </a:rPr>
                  <a:t>(1) When the leaf is “pure”</a:t>
                </a:r>
              </a:p>
              <a:p>
                <a:pPr lvl="2"/>
                <a:r>
                  <a:rPr lang="en-US" dirty="0"/>
                  <a:t>The target variable does not</a:t>
                </a:r>
                <a:br>
                  <a:rPr lang="en-US" dirty="0"/>
                </a:br>
                <a:r>
                  <a:rPr lang="en-US" dirty="0"/>
                  <a:t>vary too much: </a:t>
                </a:r>
                <a14:m>
                  <m:oMath xmlns:m="http://schemas.openxmlformats.org/officeDocument/2006/math">
                    <m:r>
                      <a:rPr lang="en-US" b="1" i="1" dirty="0" smtClean="0">
                        <a:latin typeface="Cambria Math" panose="02040503050406030204" pitchFamily="18" charset="0"/>
                      </a:rPr>
                      <m:t>𝑽𝒂𝒓</m:t>
                    </m:r>
                    <m:r>
                      <a:rPr lang="en-US" b="1" i="1" dirty="0">
                        <a:latin typeface="Cambria Math" panose="02040503050406030204" pitchFamily="18" charset="0"/>
                      </a:rPr>
                      <m:t>(</m:t>
                    </m:r>
                    <m:r>
                      <a:rPr lang="en-US" b="1" i="1" dirty="0" err="1">
                        <a:latin typeface="Cambria Math" panose="02040503050406030204" pitchFamily="18" charset="0"/>
                      </a:rPr>
                      <m:t>𝒚</m:t>
                    </m:r>
                    <m:r>
                      <a:rPr lang="en-US" b="1" i="1" dirty="0">
                        <a:latin typeface="Cambria Math" panose="02040503050406030204" pitchFamily="18" charset="0"/>
                      </a:rPr>
                      <m:t>) &lt; </m:t>
                    </m:r>
                    <m:r>
                      <a:rPr lang="en-US" b="1" i="1" dirty="0">
                        <a:latin typeface="Cambria Math" panose="02040503050406030204" pitchFamily="18" charset="0"/>
                        <a:sym typeface="Symbol"/>
                      </a:rPr>
                      <m:t></m:t>
                    </m:r>
                  </m:oMath>
                </a14:m>
                <a:endParaRPr lang="en-US" b="1" i="1" dirty="0">
                  <a:sym typeface="Symbol"/>
                </a:endParaRPr>
              </a:p>
              <a:p>
                <a:pPr lvl="1"/>
                <a:r>
                  <a:rPr lang="en-US" b="1" dirty="0">
                    <a:solidFill>
                      <a:srgbClr val="008000"/>
                    </a:solidFill>
                    <a:sym typeface="Symbol"/>
                  </a:rPr>
                  <a:t>(2) When # of examples in </a:t>
                </a:r>
                <a:br>
                  <a:rPr lang="en-US" b="1" dirty="0">
                    <a:solidFill>
                      <a:srgbClr val="008000"/>
                    </a:solidFill>
                    <a:sym typeface="Symbol"/>
                  </a:rPr>
                </a:br>
                <a:r>
                  <a:rPr lang="en-US" b="1" dirty="0">
                    <a:solidFill>
                      <a:srgbClr val="008000"/>
                    </a:solidFill>
                    <a:sym typeface="Symbol"/>
                  </a:rPr>
                  <a:t>the leaf is too small</a:t>
                </a:r>
              </a:p>
              <a:p>
                <a:pPr lvl="2"/>
                <a:r>
                  <a:rPr lang="en-US" dirty="0">
                    <a:sym typeface="Symbol"/>
                  </a:rPr>
                  <a:t>For example, </a:t>
                </a:r>
                <a14:m>
                  <m:oMath xmlns:m="http://schemas.openxmlformats.org/officeDocument/2006/math">
                    <m:r>
                      <a:rPr lang="en-US" b="1" i="1" dirty="0" smtClean="0">
                        <a:latin typeface="Cambria Math" panose="02040503050406030204" pitchFamily="18" charset="0"/>
                        <a:sym typeface="Symbol"/>
                      </a:rPr>
                      <m:t>|</m:t>
                    </m:r>
                    <m:r>
                      <a:rPr lang="en-US" b="1" i="1" dirty="0" smtClean="0">
                        <a:latin typeface="Cambria Math" panose="02040503050406030204" pitchFamily="18" charset="0"/>
                        <a:sym typeface="Symbol"/>
                      </a:rPr>
                      <m:t>𝑫</m:t>
                    </m:r>
                    <m:r>
                      <a:rPr lang="en-US" b="1" i="1" dirty="0" smtClean="0">
                        <a:latin typeface="Cambria Math" panose="02040503050406030204" pitchFamily="18" charset="0"/>
                        <a:sym typeface="Symbol"/>
                      </a:rPr>
                      <m:t>| </m:t>
                    </m:r>
                    <m:r>
                      <a:rPr lang="en-US" b="1" i="1" dirty="0" smtClean="0">
                        <a:latin typeface="Cambria Math" panose="02040503050406030204" pitchFamily="18" charset="0"/>
                        <a:sym typeface="Symbol"/>
                      </a:rPr>
                      <m:t>𝟏𝟎𝟎</m:t>
                    </m:r>
                  </m:oMath>
                </a14:m>
                <a:endParaRPr lang="en-US" b="1" i="1" dirty="0">
                  <a:sym typeface="Symbo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26" t="-725"/>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28</a:t>
            </a:fld>
            <a:endParaRPr lang="en-US"/>
          </a:p>
        </p:txBody>
      </p:sp>
      <p:sp>
        <p:nvSpPr>
          <p:cNvPr id="4" name="Date Placeholder 3"/>
          <p:cNvSpPr>
            <a:spLocks noGrp="1"/>
          </p:cNvSpPr>
          <p:nvPr>
            <p:ph type="dt" sz="half" idx="10"/>
          </p:nvPr>
        </p:nvSpPr>
        <p:spPr/>
        <p:txBody>
          <a:bodyPr/>
          <a:lstStyle/>
          <a:p>
            <a:fld id="{78A7CB64-A7C0-244F-8480-5E309B9D5138}"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grpSp>
        <p:nvGrpSpPr>
          <p:cNvPr id="42" name="Group 41"/>
          <p:cNvGrpSpPr/>
          <p:nvPr/>
        </p:nvGrpSpPr>
        <p:grpSpPr>
          <a:xfrm>
            <a:off x="5410200" y="1295400"/>
            <a:ext cx="3545649" cy="2676196"/>
            <a:chOff x="2588637" y="2133600"/>
            <a:chExt cx="4677598" cy="3695699"/>
          </a:xfrm>
        </p:grpSpPr>
        <p:sp>
          <p:nvSpPr>
            <p:cNvPr id="43" name="Oval 42"/>
            <p:cNvSpPr/>
            <p:nvPr/>
          </p:nvSpPr>
          <p:spPr>
            <a:xfrm>
              <a:off x="3614571" y="2133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A</a:t>
              </a:r>
            </a:p>
          </p:txBody>
        </p:sp>
        <p:sp>
          <p:nvSpPr>
            <p:cNvPr id="44" name="Oval 43"/>
            <p:cNvSpPr/>
            <p:nvPr/>
          </p:nvSpPr>
          <p:spPr>
            <a:xfrm>
              <a:off x="27001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B</a:t>
              </a:r>
            </a:p>
          </p:txBody>
        </p:sp>
        <p:sp>
          <p:nvSpPr>
            <p:cNvPr id="45" name="TextBox 44"/>
            <p:cNvSpPr txBox="1"/>
            <p:nvPr/>
          </p:nvSpPr>
          <p:spPr>
            <a:xfrm>
              <a:off x="3273778" y="2659743"/>
              <a:ext cx="1224870" cy="510030"/>
            </a:xfrm>
            <a:prstGeom prst="rect">
              <a:avLst/>
            </a:prstGeom>
            <a:noFill/>
          </p:spPr>
          <p:txBody>
            <a:bodyPr wrap="none" rtlCol="0">
              <a:spAutoFit/>
            </a:bodyPr>
            <a:lstStyle/>
            <a:p>
              <a:r>
                <a:rPr lang="en-US" b="1"/>
                <a:t>X</a:t>
              </a:r>
              <a:r>
                <a:rPr lang="en-US" b="1" baseline="30000"/>
                <a:t>(1)</a:t>
              </a:r>
              <a:r>
                <a:rPr lang="en-US" b="1"/>
                <a:t>&lt;v</a:t>
              </a:r>
              <a:r>
                <a:rPr lang="en-US" b="1" baseline="30000"/>
                <a:t>(1)</a:t>
              </a:r>
            </a:p>
          </p:txBody>
        </p:sp>
        <p:cxnSp>
          <p:nvCxnSpPr>
            <p:cNvPr id="46" name="Straight Arrow Connector 45"/>
            <p:cNvCxnSpPr>
              <a:stCxn id="43" idx="3"/>
              <a:endCxn id="44" idx="7"/>
            </p:cNvCxnSpPr>
            <p:nvPr/>
          </p:nvCxnSpPr>
          <p:spPr>
            <a:xfrm rot="5400000">
              <a:off x="31285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a:stCxn id="43" idx="5"/>
              <a:endCxn id="48" idx="1"/>
            </p:cNvCxnSpPr>
            <p:nvPr/>
          </p:nvCxnSpPr>
          <p:spPr>
            <a:xfrm rot="16200000" flipH="1">
              <a:off x="40429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8" name="Oval 47"/>
            <p:cNvSpPr/>
            <p:nvPr/>
          </p:nvSpPr>
          <p:spPr>
            <a:xfrm>
              <a:off x="45289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C</a:t>
              </a:r>
            </a:p>
          </p:txBody>
        </p:sp>
        <p:sp>
          <p:nvSpPr>
            <p:cNvPr id="49" name="Oval 48"/>
            <p:cNvSpPr/>
            <p:nvPr/>
          </p:nvSpPr>
          <p:spPr>
            <a:xfrm>
              <a:off x="33859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D</a:t>
              </a:r>
            </a:p>
          </p:txBody>
        </p:sp>
        <p:sp>
          <p:nvSpPr>
            <p:cNvPr id="50" name="Oval 49"/>
            <p:cNvSpPr/>
            <p:nvPr/>
          </p:nvSpPr>
          <p:spPr>
            <a:xfrm>
              <a:off x="59005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E</a:t>
              </a:r>
            </a:p>
          </p:txBody>
        </p:sp>
        <p:cxnSp>
          <p:nvCxnSpPr>
            <p:cNvPr id="51" name="Straight Arrow Connector 50"/>
            <p:cNvCxnSpPr>
              <a:stCxn id="48" idx="3"/>
              <a:endCxn id="49" idx="7"/>
            </p:cNvCxnSpPr>
            <p:nvPr/>
          </p:nvCxnSpPr>
          <p:spPr>
            <a:xfrm rot="5400000">
              <a:off x="3928616" y="32096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2" name="Straight Arrow Connector 51"/>
            <p:cNvCxnSpPr>
              <a:stCxn id="48" idx="5"/>
              <a:endCxn id="50" idx="1"/>
            </p:cNvCxnSpPr>
            <p:nvPr/>
          </p:nvCxnSpPr>
          <p:spPr>
            <a:xfrm rot="16200000" flipH="1">
              <a:off x="5185916" y="30953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3" name="Oval 52"/>
            <p:cNvSpPr/>
            <p:nvPr/>
          </p:nvSpPr>
          <p:spPr>
            <a:xfrm>
              <a:off x="27001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F</a:t>
              </a:r>
            </a:p>
          </p:txBody>
        </p:sp>
        <p:sp>
          <p:nvSpPr>
            <p:cNvPr id="54" name="Oval 53"/>
            <p:cNvSpPr/>
            <p:nvPr/>
          </p:nvSpPr>
          <p:spPr>
            <a:xfrm>
              <a:off x="41479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G</a:t>
              </a:r>
            </a:p>
          </p:txBody>
        </p:sp>
        <p:cxnSp>
          <p:nvCxnSpPr>
            <p:cNvPr id="55" name="Straight Arrow Connector 54"/>
            <p:cNvCxnSpPr>
              <a:endCxn id="53" idx="7"/>
            </p:cNvCxnSpPr>
            <p:nvPr/>
          </p:nvCxnSpPr>
          <p:spPr>
            <a:xfrm rot="5400000">
              <a:off x="30142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6" name="Straight Arrow Connector 55"/>
            <p:cNvCxnSpPr>
              <a:endCxn id="54" idx="1"/>
            </p:cNvCxnSpPr>
            <p:nvPr/>
          </p:nvCxnSpPr>
          <p:spPr>
            <a:xfrm rot="16200000" flipH="1">
              <a:off x="37381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7" name="Oval 56"/>
            <p:cNvSpPr/>
            <p:nvPr/>
          </p:nvSpPr>
          <p:spPr>
            <a:xfrm>
              <a:off x="52147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H</a:t>
              </a:r>
            </a:p>
          </p:txBody>
        </p:sp>
        <p:sp>
          <p:nvSpPr>
            <p:cNvPr id="58" name="Oval 57"/>
            <p:cNvSpPr/>
            <p:nvPr/>
          </p:nvSpPr>
          <p:spPr>
            <a:xfrm>
              <a:off x="66625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I</a:t>
              </a:r>
            </a:p>
          </p:txBody>
        </p:sp>
        <p:cxnSp>
          <p:nvCxnSpPr>
            <p:cNvPr id="59" name="Straight Arrow Connector 58"/>
            <p:cNvCxnSpPr>
              <a:endCxn id="57" idx="7"/>
            </p:cNvCxnSpPr>
            <p:nvPr/>
          </p:nvCxnSpPr>
          <p:spPr>
            <a:xfrm rot="5400000">
              <a:off x="55288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60" name="Straight Arrow Connector 59"/>
            <p:cNvCxnSpPr>
              <a:endCxn id="58" idx="1"/>
            </p:cNvCxnSpPr>
            <p:nvPr/>
          </p:nvCxnSpPr>
          <p:spPr>
            <a:xfrm rot="16200000" flipH="1">
              <a:off x="62527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61" name="Isosceles Triangle 60"/>
            <p:cNvSpPr/>
            <p:nvPr/>
          </p:nvSpPr>
          <p:spPr>
            <a:xfrm>
              <a:off x="2623970"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p:cNvSpPr/>
            <p:nvPr/>
          </p:nvSpPr>
          <p:spPr>
            <a:xfrm>
              <a:off x="40717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p:cNvSpPr/>
            <p:nvPr/>
          </p:nvSpPr>
          <p:spPr>
            <a:xfrm>
              <a:off x="51385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p:cNvSpPr/>
            <p:nvPr/>
          </p:nvSpPr>
          <p:spPr>
            <a:xfrm>
              <a:off x="65863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4150572" y="2373868"/>
              <a:ext cx="768484" cy="382522"/>
            </a:xfrm>
            <a:prstGeom prst="rect">
              <a:avLst/>
            </a:prstGeom>
            <a:noFill/>
          </p:spPr>
          <p:txBody>
            <a:bodyPr wrap="none" rtlCol="0">
              <a:spAutoFit/>
            </a:bodyPr>
            <a:lstStyle/>
            <a:p>
              <a:r>
                <a:rPr lang="en-US" sz="1200"/>
                <a:t>|D|=90</a:t>
              </a:r>
              <a:endParaRPr lang="en-US" sz="1200" baseline="-25000"/>
            </a:p>
          </p:txBody>
        </p:sp>
        <p:sp>
          <p:nvSpPr>
            <p:cNvPr id="66" name="TextBox 65"/>
            <p:cNvSpPr txBox="1"/>
            <p:nvPr/>
          </p:nvSpPr>
          <p:spPr>
            <a:xfrm>
              <a:off x="2700170" y="2438400"/>
              <a:ext cx="753992" cy="382522"/>
            </a:xfrm>
            <a:prstGeom prst="rect">
              <a:avLst/>
            </a:prstGeom>
            <a:noFill/>
          </p:spPr>
          <p:txBody>
            <a:bodyPr wrap="none" rtlCol="0">
              <a:spAutoFit/>
            </a:bodyPr>
            <a:lstStyle/>
            <a:p>
              <a:r>
                <a:rPr lang="en-US" sz="1200"/>
                <a:t>|D|=10</a:t>
              </a:r>
              <a:endParaRPr lang="en-US" sz="1200" baseline="-25000"/>
            </a:p>
          </p:txBody>
        </p:sp>
        <p:sp>
          <p:nvSpPr>
            <p:cNvPr id="67" name="TextBox 66"/>
            <p:cNvSpPr txBox="1"/>
            <p:nvPr/>
          </p:nvSpPr>
          <p:spPr>
            <a:xfrm>
              <a:off x="4197067" y="3517684"/>
              <a:ext cx="1229099" cy="510030"/>
            </a:xfrm>
            <a:prstGeom prst="rect">
              <a:avLst/>
            </a:prstGeom>
            <a:noFill/>
          </p:spPr>
          <p:txBody>
            <a:bodyPr wrap="none" rtlCol="0">
              <a:spAutoFit/>
            </a:bodyPr>
            <a:lstStyle/>
            <a:p>
              <a:r>
                <a:rPr lang="en-US" b="1"/>
                <a:t>X</a:t>
              </a:r>
              <a:r>
                <a:rPr lang="en-US" b="1" baseline="30000"/>
                <a:t>(2)</a:t>
              </a:r>
              <a:r>
                <a:rPr lang="en-US" b="1">
                  <a:sym typeface="Symbol"/>
                </a:rPr>
                <a:t>&lt;v</a:t>
              </a:r>
              <a:r>
                <a:rPr lang="en-US" b="1" baseline="30000">
                  <a:sym typeface="Symbol"/>
                </a:rPr>
                <a:t>(2)</a:t>
              </a:r>
              <a:endParaRPr lang="en-US" b="1" baseline="30000"/>
            </a:p>
          </p:txBody>
        </p:sp>
        <p:sp>
          <p:nvSpPr>
            <p:cNvPr id="68" name="TextBox 67"/>
            <p:cNvSpPr txBox="1"/>
            <p:nvPr/>
          </p:nvSpPr>
          <p:spPr>
            <a:xfrm>
              <a:off x="3076328" y="4452114"/>
              <a:ext cx="1233329" cy="510030"/>
            </a:xfrm>
            <a:prstGeom prst="rect">
              <a:avLst/>
            </a:prstGeom>
            <a:noFill/>
          </p:spPr>
          <p:txBody>
            <a:bodyPr wrap="none" rtlCol="0">
              <a:spAutoFit/>
            </a:bodyPr>
            <a:lstStyle/>
            <a:p>
              <a:r>
                <a:rPr lang="en-US" b="1"/>
                <a:t>X</a:t>
              </a:r>
              <a:r>
                <a:rPr lang="en-US" b="1" baseline="30000"/>
                <a:t>(3)</a:t>
              </a:r>
              <a:r>
                <a:rPr lang="en-US" b="1">
                  <a:sym typeface="Symbol"/>
                </a:rPr>
                <a:t>&lt;</a:t>
              </a:r>
              <a:r>
                <a:rPr lang="en-US" b="1"/>
                <a:t>v</a:t>
              </a:r>
              <a:r>
                <a:rPr lang="en-US" b="1" baseline="30000"/>
                <a:t>(4)</a:t>
              </a:r>
            </a:p>
          </p:txBody>
        </p:sp>
        <p:sp>
          <p:nvSpPr>
            <p:cNvPr id="69" name="TextBox 68"/>
            <p:cNvSpPr txBox="1"/>
            <p:nvPr/>
          </p:nvSpPr>
          <p:spPr>
            <a:xfrm>
              <a:off x="5580316" y="4414232"/>
              <a:ext cx="1226986" cy="510030"/>
            </a:xfrm>
            <a:prstGeom prst="rect">
              <a:avLst/>
            </a:prstGeom>
            <a:noFill/>
          </p:spPr>
          <p:txBody>
            <a:bodyPr wrap="none" rtlCol="0">
              <a:spAutoFit/>
            </a:bodyPr>
            <a:lstStyle/>
            <a:p>
              <a:r>
                <a:rPr lang="en-US" b="1"/>
                <a:t>X</a:t>
              </a:r>
              <a:r>
                <a:rPr lang="en-US" b="1" baseline="30000"/>
                <a:t>(2)</a:t>
              </a:r>
              <a:r>
                <a:rPr lang="en-US" b="1">
                  <a:sym typeface="Symbol"/>
                </a:rPr>
                <a:t>&lt;</a:t>
              </a:r>
              <a:r>
                <a:rPr lang="en-US" b="1"/>
                <a:t>v</a:t>
              </a:r>
              <a:r>
                <a:rPr lang="en-US" b="1" baseline="30000"/>
                <a:t>(5)</a:t>
              </a:r>
            </a:p>
          </p:txBody>
        </p:sp>
        <p:sp>
          <p:nvSpPr>
            <p:cNvPr id="70" name="TextBox 69"/>
            <p:cNvSpPr txBox="1"/>
            <p:nvPr/>
          </p:nvSpPr>
          <p:spPr>
            <a:xfrm>
              <a:off x="5259165" y="3276600"/>
              <a:ext cx="762275" cy="382522"/>
            </a:xfrm>
            <a:prstGeom prst="rect">
              <a:avLst/>
            </a:prstGeom>
            <a:noFill/>
          </p:spPr>
          <p:txBody>
            <a:bodyPr wrap="none" rtlCol="0">
              <a:spAutoFit/>
            </a:bodyPr>
            <a:lstStyle/>
            <a:p>
              <a:r>
                <a:rPr lang="en-US" sz="1200"/>
                <a:t>|D|=45</a:t>
              </a:r>
              <a:endParaRPr lang="en-US" sz="1200" baseline="-25000"/>
            </a:p>
          </p:txBody>
        </p:sp>
        <p:sp>
          <p:nvSpPr>
            <p:cNvPr id="71" name="TextBox 70"/>
            <p:cNvSpPr txBox="1"/>
            <p:nvPr/>
          </p:nvSpPr>
          <p:spPr>
            <a:xfrm>
              <a:off x="3568941" y="3288268"/>
              <a:ext cx="762275" cy="382522"/>
            </a:xfrm>
            <a:prstGeom prst="rect">
              <a:avLst/>
            </a:prstGeom>
            <a:noFill/>
          </p:spPr>
          <p:txBody>
            <a:bodyPr wrap="none" rtlCol="0">
              <a:spAutoFit/>
            </a:bodyPr>
            <a:lstStyle/>
            <a:p>
              <a:r>
                <a:rPr lang="en-US" sz="1200"/>
                <a:t>|D|=45</a:t>
              </a:r>
              <a:endParaRPr lang="en-US" sz="1200" baseline="-25000"/>
            </a:p>
          </p:txBody>
        </p:sp>
        <p:sp>
          <p:nvSpPr>
            <p:cNvPr id="72" name="Hexagon 71"/>
            <p:cNvSpPr/>
            <p:nvPr/>
          </p:nvSpPr>
          <p:spPr>
            <a:xfrm>
              <a:off x="2646005" y="2971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600"/>
                <a:t>.42</a:t>
              </a:r>
            </a:p>
          </p:txBody>
        </p:sp>
        <p:sp>
          <p:nvSpPr>
            <p:cNvPr id="73" name="TextBox 72"/>
            <p:cNvSpPr txBox="1"/>
            <p:nvPr/>
          </p:nvSpPr>
          <p:spPr>
            <a:xfrm>
              <a:off x="3919371" y="4114800"/>
              <a:ext cx="754407" cy="382522"/>
            </a:xfrm>
            <a:prstGeom prst="rect">
              <a:avLst/>
            </a:prstGeom>
            <a:noFill/>
          </p:spPr>
          <p:txBody>
            <a:bodyPr wrap="none" rtlCol="0">
              <a:spAutoFit/>
            </a:bodyPr>
            <a:lstStyle/>
            <a:p>
              <a:r>
                <a:rPr lang="en-US" sz="1200"/>
                <a:t>|D|=25</a:t>
              </a:r>
              <a:endParaRPr lang="en-US" sz="1200" baseline="-25000"/>
            </a:p>
          </p:txBody>
        </p:sp>
        <p:sp>
          <p:nvSpPr>
            <p:cNvPr id="74" name="TextBox 73"/>
            <p:cNvSpPr txBox="1"/>
            <p:nvPr/>
          </p:nvSpPr>
          <p:spPr>
            <a:xfrm>
              <a:off x="2588637" y="4126468"/>
              <a:ext cx="762523" cy="382522"/>
            </a:xfrm>
            <a:prstGeom prst="rect">
              <a:avLst/>
            </a:prstGeom>
            <a:noFill/>
          </p:spPr>
          <p:txBody>
            <a:bodyPr wrap="none" rtlCol="0">
              <a:spAutoFit/>
            </a:bodyPr>
            <a:lstStyle/>
            <a:p>
              <a:r>
                <a:rPr lang="en-US" sz="1200"/>
                <a:t>|D|=20</a:t>
              </a:r>
              <a:endParaRPr lang="en-US" sz="1200" baseline="-25000"/>
            </a:p>
          </p:txBody>
        </p:sp>
        <p:sp>
          <p:nvSpPr>
            <p:cNvPr id="75" name="TextBox 74"/>
            <p:cNvSpPr txBox="1"/>
            <p:nvPr/>
          </p:nvSpPr>
          <p:spPr>
            <a:xfrm>
              <a:off x="6510171" y="4114800"/>
              <a:ext cx="756064" cy="382522"/>
            </a:xfrm>
            <a:prstGeom prst="rect">
              <a:avLst/>
            </a:prstGeom>
            <a:noFill/>
          </p:spPr>
          <p:txBody>
            <a:bodyPr wrap="none" rtlCol="0">
              <a:spAutoFit/>
            </a:bodyPr>
            <a:lstStyle/>
            <a:p>
              <a:r>
                <a:rPr lang="en-US" sz="1200"/>
                <a:t>|D|=30</a:t>
              </a:r>
              <a:endParaRPr lang="en-US" sz="1200" baseline="-25000"/>
            </a:p>
          </p:txBody>
        </p:sp>
        <p:sp>
          <p:nvSpPr>
            <p:cNvPr id="76" name="TextBox 75"/>
            <p:cNvSpPr txBox="1"/>
            <p:nvPr/>
          </p:nvSpPr>
          <p:spPr>
            <a:xfrm>
              <a:off x="5100352" y="4126468"/>
              <a:ext cx="747783" cy="382522"/>
            </a:xfrm>
            <a:prstGeom prst="rect">
              <a:avLst/>
            </a:prstGeom>
            <a:noFill/>
          </p:spPr>
          <p:txBody>
            <a:bodyPr wrap="none" rtlCol="0">
              <a:spAutoFit/>
            </a:bodyPr>
            <a:lstStyle/>
            <a:p>
              <a:r>
                <a:rPr lang="en-US" sz="1200"/>
                <a:t>|D|=15</a:t>
              </a:r>
              <a:endParaRPr lang="en-US" sz="1200" baseline="-25000"/>
            </a:p>
          </p:txBody>
        </p:sp>
      </p:grpSp>
    </p:spTree>
    <p:extLst>
      <p:ext uri="{BB962C8B-B14F-4D97-AF65-F5344CB8AC3E}">
        <p14:creationId xmlns:p14="http://schemas.microsoft.com/office/powerpoint/2010/main" val="2156646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predict?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118872" indent="0">
                  <a:buNone/>
                </a:pPr>
                <a:r>
                  <a:rPr lang="en-US" b="1" dirty="0">
                    <a:solidFill>
                      <a:srgbClr val="D60093"/>
                    </a:solidFill>
                  </a:rPr>
                  <a:t>(3) How to predict?</a:t>
                </a:r>
              </a:p>
              <a:p>
                <a:r>
                  <a:rPr lang="en-US" b="1" dirty="0">
                    <a:solidFill>
                      <a:srgbClr val="0000FF"/>
                    </a:solidFill>
                  </a:rPr>
                  <a:t>Many options</a:t>
                </a:r>
                <a:r>
                  <a:rPr lang="en-US" dirty="0">
                    <a:solidFill>
                      <a:srgbClr val="0000FF"/>
                    </a:solidFill>
                  </a:rPr>
                  <a:t> </a:t>
                </a:r>
              </a:p>
              <a:p>
                <a:pPr lvl="1"/>
                <a:r>
                  <a:rPr lang="en-US" b="1" dirty="0">
                    <a:solidFill>
                      <a:srgbClr val="008000"/>
                    </a:solidFill>
                  </a:rPr>
                  <a:t>Regression:</a:t>
                </a:r>
                <a:endParaRPr lang="en-US" dirty="0">
                  <a:solidFill>
                    <a:srgbClr val="008000"/>
                  </a:solidFill>
                </a:endParaRPr>
              </a:p>
              <a:p>
                <a:pPr lvl="2"/>
                <a:r>
                  <a:rPr lang="en-US" dirty="0"/>
                  <a:t>Predict average </a:t>
                </a:r>
                <a14:m>
                  <m:oMath xmlns:m="http://schemas.openxmlformats.org/officeDocument/2006/math">
                    <m:r>
                      <a:rPr lang="en-US" b="1" i="1" dirty="0" smtClean="0">
                        <a:latin typeface="Cambria Math" panose="02040503050406030204" pitchFamily="18" charset="0"/>
                      </a:rPr>
                      <m:t>𝒚</m:t>
                    </m:r>
                    <m:r>
                      <a:rPr lang="en-US" b="1" i="1" baseline="-25000" dirty="0" err="1">
                        <a:latin typeface="Cambria Math" panose="02040503050406030204" pitchFamily="18" charset="0"/>
                      </a:rPr>
                      <m:t>𝒊</m:t>
                    </m:r>
                  </m:oMath>
                </a14:m>
                <a:r>
                  <a:rPr lang="en-US" dirty="0"/>
                  <a:t> of the </a:t>
                </a:r>
                <a:br>
                  <a:rPr lang="en-US" dirty="0"/>
                </a:br>
                <a:r>
                  <a:rPr lang="en-US" dirty="0"/>
                  <a:t>examples in the leaf</a:t>
                </a:r>
              </a:p>
              <a:p>
                <a:pPr lvl="2"/>
                <a:r>
                  <a:rPr lang="en-US" dirty="0"/>
                  <a:t>Build a linear regression model</a:t>
                </a:r>
                <a:br>
                  <a:rPr lang="en-US" dirty="0"/>
                </a:br>
                <a:r>
                  <a:rPr lang="en-US" dirty="0"/>
                  <a:t>on the examples in the leaf</a:t>
                </a:r>
              </a:p>
              <a:p>
                <a:pPr lvl="1"/>
                <a:r>
                  <a:rPr lang="en-US" b="1" dirty="0">
                    <a:solidFill>
                      <a:srgbClr val="008000"/>
                    </a:solidFill>
                  </a:rPr>
                  <a:t>Classification:</a:t>
                </a:r>
                <a:r>
                  <a:rPr lang="en-US" dirty="0">
                    <a:solidFill>
                      <a:srgbClr val="008000"/>
                    </a:solidFill>
                  </a:rPr>
                  <a:t> </a:t>
                </a:r>
              </a:p>
              <a:p>
                <a:pPr lvl="2"/>
                <a:r>
                  <a:rPr lang="en-US" dirty="0"/>
                  <a:t>Predict most common </a:t>
                </a:r>
                <a14:m>
                  <m:oMath xmlns:m="http://schemas.openxmlformats.org/officeDocument/2006/math">
                    <m:r>
                      <a:rPr lang="en-US" b="1" i="1" dirty="0" smtClean="0">
                        <a:latin typeface="Cambria Math" panose="02040503050406030204" pitchFamily="18" charset="0"/>
                      </a:rPr>
                      <m:t>𝒚</m:t>
                    </m:r>
                    <m:r>
                      <a:rPr lang="en-US" b="1" i="1" baseline="-25000" dirty="0" err="1">
                        <a:latin typeface="Cambria Math" panose="02040503050406030204" pitchFamily="18" charset="0"/>
                      </a:rPr>
                      <m:t>𝒊</m:t>
                    </m:r>
                    <m:r>
                      <a:rPr lang="en-US" i="1" dirty="0">
                        <a:latin typeface="Cambria Math" panose="02040503050406030204" pitchFamily="18" charset="0"/>
                      </a:rPr>
                      <m:t> </m:t>
                    </m:r>
                  </m:oMath>
                </a14:m>
                <a:r>
                  <a:rPr lang="en-US" dirty="0"/>
                  <a:t>of the </a:t>
                </a:r>
                <a:br>
                  <a:rPr lang="en-US" dirty="0"/>
                </a:br>
                <a:r>
                  <a:rPr lang="en-US" dirty="0"/>
                  <a:t>examples in the leaf</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696"/>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29</a:t>
            </a:fld>
            <a:endParaRPr lang="en-US"/>
          </a:p>
        </p:txBody>
      </p:sp>
      <p:sp>
        <p:nvSpPr>
          <p:cNvPr id="4" name="Date Placeholder 3"/>
          <p:cNvSpPr>
            <a:spLocks noGrp="1"/>
          </p:cNvSpPr>
          <p:nvPr>
            <p:ph type="dt" sz="half" idx="10"/>
          </p:nvPr>
        </p:nvSpPr>
        <p:spPr/>
        <p:txBody>
          <a:bodyPr/>
          <a:lstStyle/>
          <a:p>
            <a:fld id="{30F7A7D9-FE89-1E4E-91E3-29496730C476}"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grpSp>
        <p:nvGrpSpPr>
          <p:cNvPr id="42" name="Group 41"/>
          <p:cNvGrpSpPr/>
          <p:nvPr/>
        </p:nvGrpSpPr>
        <p:grpSpPr>
          <a:xfrm>
            <a:off x="5410200" y="1295400"/>
            <a:ext cx="3545649" cy="2676196"/>
            <a:chOff x="2588637" y="2133600"/>
            <a:chExt cx="4677598" cy="3695699"/>
          </a:xfrm>
        </p:grpSpPr>
        <p:sp>
          <p:nvSpPr>
            <p:cNvPr id="43" name="Oval 42"/>
            <p:cNvSpPr/>
            <p:nvPr/>
          </p:nvSpPr>
          <p:spPr>
            <a:xfrm>
              <a:off x="3614571" y="21336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A</a:t>
              </a:r>
            </a:p>
          </p:txBody>
        </p:sp>
        <p:sp>
          <p:nvSpPr>
            <p:cNvPr id="44" name="Oval 43"/>
            <p:cNvSpPr/>
            <p:nvPr/>
          </p:nvSpPr>
          <p:spPr>
            <a:xfrm>
              <a:off x="27001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B</a:t>
              </a:r>
            </a:p>
          </p:txBody>
        </p:sp>
        <p:sp>
          <p:nvSpPr>
            <p:cNvPr id="45" name="TextBox 44"/>
            <p:cNvSpPr txBox="1"/>
            <p:nvPr/>
          </p:nvSpPr>
          <p:spPr>
            <a:xfrm>
              <a:off x="3273778" y="2659743"/>
              <a:ext cx="1224870" cy="510030"/>
            </a:xfrm>
            <a:prstGeom prst="rect">
              <a:avLst/>
            </a:prstGeom>
            <a:noFill/>
          </p:spPr>
          <p:txBody>
            <a:bodyPr wrap="none" rtlCol="0">
              <a:spAutoFit/>
            </a:bodyPr>
            <a:lstStyle/>
            <a:p>
              <a:r>
                <a:rPr lang="en-US" b="1"/>
                <a:t>X</a:t>
              </a:r>
              <a:r>
                <a:rPr lang="en-US" b="1" baseline="30000"/>
                <a:t>(1)</a:t>
              </a:r>
              <a:r>
                <a:rPr lang="en-US" b="1"/>
                <a:t>&lt;v</a:t>
              </a:r>
              <a:r>
                <a:rPr lang="en-US" b="1" baseline="30000"/>
                <a:t>(1)</a:t>
              </a:r>
            </a:p>
          </p:txBody>
        </p:sp>
        <p:cxnSp>
          <p:nvCxnSpPr>
            <p:cNvPr id="46" name="Straight Arrow Connector 45"/>
            <p:cNvCxnSpPr>
              <a:stCxn id="43" idx="3"/>
              <a:endCxn id="44" idx="7"/>
            </p:cNvCxnSpPr>
            <p:nvPr/>
          </p:nvCxnSpPr>
          <p:spPr>
            <a:xfrm rot="5400000">
              <a:off x="31285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a:stCxn id="43" idx="5"/>
              <a:endCxn id="48" idx="1"/>
            </p:cNvCxnSpPr>
            <p:nvPr/>
          </p:nvCxnSpPr>
          <p:spPr>
            <a:xfrm rot="16200000" flipH="1">
              <a:off x="4042916" y="2485745"/>
              <a:ext cx="514910" cy="5911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8" name="Oval 47"/>
            <p:cNvSpPr/>
            <p:nvPr/>
          </p:nvSpPr>
          <p:spPr>
            <a:xfrm>
              <a:off x="4528971" y="29718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C</a:t>
              </a:r>
            </a:p>
          </p:txBody>
        </p:sp>
        <p:sp>
          <p:nvSpPr>
            <p:cNvPr id="49" name="Oval 48"/>
            <p:cNvSpPr/>
            <p:nvPr/>
          </p:nvSpPr>
          <p:spPr>
            <a:xfrm>
              <a:off x="33859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D</a:t>
              </a:r>
            </a:p>
          </p:txBody>
        </p:sp>
        <p:sp>
          <p:nvSpPr>
            <p:cNvPr id="50" name="Oval 49"/>
            <p:cNvSpPr/>
            <p:nvPr/>
          </p:nvSpPr>
          <p:spPr>
            <a:xfrm>
              <a:off x="5900571" y="38100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E</a:t>
              </a:r>
            </a:p>
          </p:txBody>
        </p:sp>
        <p:cxnSp>
          <p:nvCxnSpPr>
            <p:cNvPr id="51" name="Straight Arrow Connector 50"/>
            <p:cNvCxnSpPr>
              <a:stCxn id="48" idx="3"/>
              <a:endCxn id="49" idx="7"/>
            </p:cNvCxnSpPr>
            <p:nvPr/>
          </p:nvCxnSpPr>
          <p:spPr>
            <a:xfrm rot="5400000">
              <a:off x="3928616" y="3209645"/>
              <a:ext cx="514910" cy="819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2" name="Straight Arrow Connector 51"/>
            <p:cNvCxnSpPr>
              <a:stCxn id="48" idx="5"/>
              <a:endCxn id="50" idx="1"/>
            </p:cNvCxnSpPr>
            <p:nvPr/>
          </p:nvCxnSpPr>
          <p:spPr>
            <a:xfrm rot="16200000" flipH="1">
              <a:off x="5185916" y="3095345"/>
              <a:ext cx="514910" cy="10483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3" name="Oval 52"/>
            <p:cNvSpPr/>
            <p:nvPr/>
          </p:nvSpPr>
          <p:spPr>
            <a:xfrm>
              <a:off x="27001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F</a:t>
              </a:r>
            </a:p>
          </p:txBody>
        </p:sp>
        <p:sp>
          <p:nvSpPr>
            <p:cNvPr id="54" name="Oval 53"/>
            <p:cNvSpPr/>
            <p:nvPr/>
          </p:nvSpPr>
          <p:spPr>
            <a:xfrm>
              <a:off x="41479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G</a:t>
              </a:r>
            </a:p>
          </p:txBody>
        </p:sp>
        <p:cxnSp>
          <p:nvCxnSpPr>
            <p:cNvPr id="55" name="Straight Arrow Connector 54"/>
            <p:cNvCxnSpPr>
              <a:endCxn id="53" idx="7"/>
            </p:cNvCxnSpPr>
            <p:nvPr/>
          </p:nvCxnSpPr>
          <p:spPr>
            <a:xfrm rot="5400000">
              <a:off x="30142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6" name="Straight Arrow Connector 55"/>
            <p:cNvCxnSpPr>
              <a:endCxn id="54" idx="1"/>
            </p:cNvCxnSpPr>
            <p:nvPr/>
          </p:nvCxnSpPr>
          <p:spPr>
            <a:xfrm rot="16200000" flipH="1">
              <a:off x="37381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7" name="Oval 56"/>
            <p:cNvSpPr/>
            <p:nvPr/>
          </p:nvSpPr>
          <p:spPr>
            <a:xfrm>
              <a:off x="52147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H</a:t>
              </a:r>
            </a:p>
          </p:txBody>
        </p:sp>
        <p:sp>
          <p:nvSpPr>
            <p:cNvPr id="58" name="Oval 57"/>
            <p:cNvSpPr/>
            <p:nvPr/>
          </p:nvSpPr>
          <p:spPr>
            <a:xfrm>
              <a:off x="6662571" y="4648200"/>
              <a:ext cx="457200" cy="457200"/>
            </a:xfrm>
            <a:prstGeom prst="ellipse">
              <a:avLst/>
            </a:prstGeom>
            <a:ln w="19050"/>
          </p:spPr>
          <p:style>
            <a:lnRef idx="1">
              <a:schemeClr val="dk1"/>
            </a:lnRef>
            <a:fillRef idx="2">
              <a:schemeClr val="dk1"/>
            </a:fillRef>
            <a:effectRef idx="1">
              <a:schemeClr val="dk1"/>
            </a:effectRef>
            <a:fontRef idx="minor">
              <a:schemeClr val="dk1"/>
            </a:fontRef>
          </p:style>
          <p:txBody>
            <a:bodyPr rtlCol="0" anchor="ctr"/>
            <a:lstStyle/>
            <a:p>
              <a:pPr algn="ctr"/>
              <a:r>
                <a:rPr lang="en-US"/>
                <a:t>I</a:t>
              </a:r>
            </a:p>
          </p:txBody>
        </p:sp>
        <p:cxnSp>
          <p:nvCxnSpPr>
            <p:cNvPr id="59" name="Straight Arrow Connector 58"/>
            <p:cNvCxnSpPr>
              <a:endCxn id="57" idx="7"/>
            </p:cNvCxnSpPr>
            <p:nvPr/>
          </p:nvCxnSpPr>
          <p:spPr>
            <a:xfrm rot="5400000">
              <a:off x="5528816" y="4276445"/>
              <a:ext cx="514910" cy="3625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60" name="Straight Arrow Connector 59"/>
            <p:cNvCxnSpPr>
              <a:endCxn id="58" idx="1"/>
            </p:cNvCxnSpPr>
            <p:nvPr/>
          </p:nvCxnSpPr>
          <p:spPr>
            <a:xfrm rot="16200000" flipH="1">
              <a:off x="6252716" y="4238345"/>
              <a:ext cx="514910" cy="43871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61" name="Isosceles Triangle 60"/>
            <p:cNvSpPr/>
            <p:nvPr/>
          </p:nvSpPr>
          <p:spPr>
            <a:xfrm>
              <a:off x="2623970"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p:cNvSpPr/>
            <p:nvPr/>
          </p:nvSpPr>
          <p:spPr>
            <a:xfrm>
              <a:off x="40717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p:cNvSpPr/>
            <p:nvPr/>
          </p:nvSpPr>
          <p:spPr>
            <a:xfrm>
              <a:off x="51385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p:cNvSpPr/>
            <p:nvPr/>
          </p:nvSpPr>
          <p:spPr>
            <a:xfrm>
              <a:off x="6586371" y="5105400"/>
              <a:ext cx="609600" cy="723899"/>
            </a:xfrm>
            <a:prstGeom prst="triangl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4150572" y="2373868"/>
              <a:ext cx="768484" cy="382522"/>
            </a:xfrm>
            <a:prstGeom prst="rect">
              <a:avLst/>
            </a:prstGeom>
            <a:noFill/>
          </p:spPr>
          <p:txBody>
            <a:bodyPr wrap="none" rtlCol="0">
              <a:spAutoFit/>
            </a:bodyPr>
            <a:lstStyle/>
            <a:p>
              <a:r>
                <a:rPr lang="en-US" sz="1200"/>
                <a:t>|D|=90</a:t>
              </a:r>
              <a:endParaRPr lang="en-US" sz="1200" baseline="-25000"/>
            </a:p>
          </p:txBody>
        </p:sp>
        <p:sp>
          <p:nvSpPr>
            <p:cNvPr id="66" name="TextBox 65"/>
            <p:cNvSpPr txBox="1"/>
            <p:nvPr/>
          </p:nvSpPr>
          <p:spPr>
            <a:xfrm>
              <a:off x="2700170" y="2438400"/>
              <a:ext cx="753992" cy="382522"/>
            </a:xfrm>
            <a:prstGeom prst="rect">
              <a:avLst/>
            </a:prstGeom>
            <a:noFill/>
          </p:spPr>
          <p:txBody>
            <a:bodyPr wrap="none" rtlCol="0">
              <a:spAutoFit/>
            </a:bodyPr>
            <a:lstStyle/>
            <a:p>
              <a:r>
                <a:rPr lang="en-US" sz="1200"/>
                <a:t>|D|=10</a:t>
              </a:r>
              <a:endParaRPr lang="en-US" sz="1200" baseline="-25000"/>
            </a:p>
          </p:txBody>
        </p:sp>
        <p:sp>
          <p:nvSpPr>
            <p:cNvPr id="67" name="TextBox 66"/>
            <p:cNvSpPr txBox="1"/>
            <p:nvPr/>
          </p:nvSpPr>
          <p:spPr>
            <a:xfrm>
              <a:off x="4197067" y="3517684"/>
              <a:ext cx="1229099" cy="510030"/>
            </a:xfrm>
            <a:prstGeom prst="rect">
              <a:avLst/>
            </a:prstGeom>
            <a:noFill/>
          </p:spPr>
          <p:txBody>
            <a:bodyPr wrap="none" rtlCol="0">
              <a:spAutoFit/>
            </a:bodyPr>
            <a:lstStyle/>
            <a:p>
              <a:r>
                <a:rPr lang="en-US" b="1"/>
                <a:t>X</a:t>
              </a:r>
              <a:r>
                <a:rPr lang="en-US" b="1" baseline="30000"/>
                <a:t>(2)</a:t>
              </a:r>
              <a:r>
                <a:rPr lang="en-US" b="1">
                  <a:sym typeface="Symbol"/>
                </a:rPr>
                <a:t>&lt;v</a:t>
              </a:r>
              <a:r>
                <a:rPr lang="en-US" b="1" baseline="30000">
                  <a:sym typeface="Symbol"/>
                </a:rPr>
                <a:t>(2)</a:t>
              </a:r>
              <a:endParaRPr lang="en-US" b="1" baseline="30000"/>
            </a:p>
          </p:txBody>
        </p:sp>
        <p:sp>
          <p:nvSpPr>
            <p:cNvPr id="68" name="TextBox 67"/>
            <p:cNvSpPr txBox="1"/>
            <p:nvPr/>
          </p:nvSpPr>
          <p:spPr>
            <a:xfrm>
              <a:off x="3076328" y="4452114"/>
              <a:ext cx="1233329" cy="510030"/>
            </a:xfrm>
            <a:prstGeom prst="rect">
              <a:avLst/>
            </a:prstGeom>
            <a:noFill/>
          </p:spPr>
          <p:txBody>
            <a:bodyPr wrap="none" rtlCol="0">
              <a:spAutoFit/>
            </a:bodyPr>
            <a:lstStyle/>
            <a:p>
              <a:r>
                <a:rPr lang="en-US" b="1"/>
                <a:t>X</a:t>
              </a:r>
              <a:r>
                <a:rPr lang="en-US" b="1" baseline="30000"/>
                <a:t>(3)</a:t>
              </a:r>
              <a:r>
                <a:rPr lang="en-US" b="1">
                  <a:sym typeface="Symbol"/>
                </a:rPr>
                <a:t>&lt;</a:t>
              </a:r>
              <a:r>
                <a:rPr lang="en-US" b="1"/>
                <a:t>v</a:t>
              </a:r>
              <a:r>
                <a:rPr lang="en-US" b="1" baseline="30000"/>
                <a:t>(4)</a:t>
              </a:r>
            </a:p>
          </p:txBody>
        </p:sp>
        <p:sp>
          <p:nvSpPr>
            <p:cNvPr id="69" name="TextBox 68"/>
            <p:cNvSpPr txBox="1"/>
            <p:nvPr/>
          </p:nvSpPr>
          <p:spPr>
            <a:xfrm>
              <a:off x="5580316" y="4414232"/>
              <a:ext cx="1226986" cy="510030"/>
            </a:xfrm>
            <a:prstGeom prst="rect">
              <a:avLst/>
            </a:prstGeom>
            <a:noFill/>
          </p:spPr>
          <p:txBody>
            <a:bodyPr wrap="none" rtlCol="0">
              <a:spAutoFit/>
            </a:bodyPr>
            <a:lstStyle/>
            <a:p>
              <a:r>
                <a:rPr lang="en-US" b="1"/>
                <a:t>X</a:t>
              </a:r>
              <a:r>
                <a:rPr lang="en-US" b="1" baseline="30000"/>
                <a:t>(2)</a:t>
              </a:r>
              <a:r>
                <a:rPr lang="en-US" b="1">
                  <a:sym typeface="Symbol"/>
                </a:rPr>
                <a:t>&lt;</a:t>
              </a:r>
              <a:r>
                <a:rPr lang="en-US" b="1"/>
                <a:t>v</a:t>
              </a:r>
              <a:r>
                <a:rPr lang="en-US" b="1" baseline="30000"/>
                <a:t>(5)</a:t>
              </a:r>
            </a:p>
          </p:txBody>
        </p:sp>
        <p:sp>
          <p:nvSpPr>
            <p:cNvPr id="70" name="TextBox 69"/>
            <p:cNvSpPr txBox="1"/>
            <p:nvPr/>
          </p:nvSpPr>
          <p:spPr>
            <a:xfrm>
              <a:off x="5259165" y="3276600"/>
              <a:ext cx="762275" cy="382522"/>
            </a:xfrm>
            <a:prstGeom prst="rect">
              <a:avLst/>
            </a:prstGeom>
            <a:noFill/>
          </p:spPr>
          <p:txBody>
            <a:bodyPr wrap="none" rtlCol="0">
              <a:spAutoFit/>
            </a:bodyPr>
            <a:lstStyle/>
            <a:p>
              <a:r>
                <a:rPr lang="en-US" sz="1200"/>
                <a:t>|D|=45</a:t>
              </a:r>
              <a:endParaRPr lang="en-US" sz="1200" baseline="-25000"/>
            </a:p>
          </p:txBody>
        </p:sp>
        <p:sp>
          <p:nvSpPr>
            <p:cNvPr id="71" name="TextBox 70"/>
            <p:cNvSpPr txBox="1"/>
            <p:nvPr/>
          </p:nvSpPr>
          <p:spPr>
            <a:xfrm>
              <a:off x="3568941" y="3288268"/>
              <a:ext cx="762275" cy="382522"/>
            </a:xfrm>
            <a:prstGeom prst="rect">
              <a:avLst/>
            </a:prstGeom>
            <a:noFill/>
          </p:spPr>
          <p:txBody>
            <a:bodyPr wrap="none" rtlCol="0">
              <a:spAutoFit/>
            </a:bodyPr>
            <a:lstStyle/>
            <a:p>
              <a:r>
                <a:rPr lang="en-US" sz="1200"/>
                <a:t>|D|=45</a:t>
              </a:r>
              <a:endParaRPr lang="en-US" sz="1200" baseline="-25000"/>
            </a:p>
          </p:txBody>
        </p:sp>
        <p:sp>
          <p:nvSpPr>
            <p:cNvPr id="72" name="Hexagon 71"/>
            <p:cNvSpPr/>
            <p:nvPr/>
          </p:nvSpPr>
          <p:spPr>
            <a:xfrm>
              <a:off x="2646005" y="2971800"/>
              <a:ext cx="533400" cy="457200"/>
            </a:xfrm>
            <a:prstGeom prst="hexagon">
              <a:avLst/>
            </a:prstGeom>
            <a:ln w="19050"/>
          </p:spPr>
          <p:style>
            <a:lnRef idx="1">
              <a:schemeClr val="dk1"/>
            </a:lnRef>
            <a:fillRef idx="2">
              <a:schemeClr val="dk1"/>
            </a:fillRef>
            <a:effectRef idx="1">
              <a:schemeClr val="dk1"/>
            </a:effectRef>
            <a:fontRef idx="minor">
              <a:schemeClr val="dk1"/>
            </a:fontRef>
          </p:style>
          <p:txBody>
            <a:bodyPr lIns="0" rIns="0" bIns="0" rtlCol="0" anchor="ctr"/>
            <a:lstStyle/>
            <a:p>
              <a:pPr algn="ctr">
                <a:lnSpc>
                  <a:spcPct val="80000"/>
                </a:lnSpc>
              </a:pPr>
              <a:r>
                <a:rPr lang="en-US" sz="1600"/>
                <a:t>.42</a:t>
              </a:r>
            </a:p>
          </p:txBody>
        </p:sp>
        <p:sp>
          <p:nvSpPr>
            <p:cNvPr id="73" name="TextBox 72"/>
            <p:cNvSpPr txBox="1"/>
            <p:nvPr/>
          </p:nvSpPr>
          <p:spPr>
            <a:xfrm>
              <a:off x="3919371" y="4114800"/>
              <a:ext cx="754407" cy="382522"/>
            </a:xfrm>
            <a:prstGeom prst="rect">
              <a:avLst/>
            </a:prstGeom>
            <a:noFill/>
          </p:spPr>
          <p:txBody>
            <a:bodyPr wrap="none" rtlCol="0">
              <a:spAutoFit/>
            </a:bodyPr>
            <a:lstStyle/>
            <a:p>
              <a:r>
                <a:rPr lang="en-US" sz="1200"/>
                <a:t>|D|=25</a:t>
              </a:r>
              <a:endParaRPr lang="en-US" sz="1200" baseline="-25000"/>
            </a:p>
          </p:txBody>
        </p:sp>
        <p:sp>
          <p:nvSpPr>
            <p:cNvPr id="74" name="TextBox 73"/>
            <p:cNvSpPr txBox="1"/>
            <p:nvPr/>
          </p:nvSpPr>
          <p:spPr>
            <a:xfrm>
              <a:off x="2588637" y="4126468"/>
              <a:ext cx="762523" cy="382522"/>
            </a:xfrm>
            <a:prstGeom prst="rect">
              <a:avLst/>
            </a:prstGeom>
            <a:noFill/>
          </p:spPr>
          <p:txBody>
            <a:bodyPr wrap="none" rtlCol="0">
              <a:spAutoFit/>
            </a:bodyPr>
            <a:lstStyle/>
            <a:p>
              <a:r>
                <a:rPr lang="en-US" sz="1200"/>
                <a:t>|D|=20</a:t>
              </a:r>
              <a:endParaRPr lang="en-US" sz="1200" baseline="-25000"/>
            </a:p>
          </p:txBody>
        </p:sp>
        <p:sp>
          <p:nvSpPr>
            <p:cNvPr id="75" name="TextBox 74"/>
            <p:cNvSpPr txBox="1"/>
            <p:nvPr/>
          </p:nvSpPr>
          <p:spPr>
            <a:xfrm>
              <a:off x="6510171" y="4114800"/>
              <a:ext cx="756064" cy="382522"/>
            </a:xfrm>
            <a:prstGeom prst="rect">
              <a:avLst/>
            </a:prstGeom>
            <a:noFill/>
          </p:spPr>
          <p:txBody>
            <a:bodyPr wrap="none" rtlCol="0">
              <a:spAutoFit/>
            </a:bodyPr>
            <a:lstStyle/>
            <a:p>
              <a:r>
                <a:rPr lang="en-US" sz="1200"/>
                <a:t>|D|=30</a:t>
              </a:r>
              <a:endParaRPr lang="en-US" sz="1200" baseline="-25000"/>
            </a:p>
          </p:txBody>
        </p:sp>
        <p:sp>
          <p:nvSpPr>
            <p:cNvPr id="76" name="TextBox 75"/>
            <p:cNvSpPr txBox="1"/>
            <p:nvPr/>
          </p:nvSpPr>
          <p:spPr>
            <a:xfrm>
              <a:off x="5100352" y="4126468"/>
              <a:ext cx="747783" cy="382522"/>
            </a:xfrm>
            <a:prstGeom prst="rect">
              <a:avLst/>
            </a:prstGeom>
            <a:noFill/>
          </p:spPr>
          <p:txBody>
            <a:bodyPr wrap="none" rtlCol="0">
              <a:spAutoFit/>
            </a:bodyPr>
            <a:lstStyle/>
            <a:p>
              <a:r>
                <a:rPr lang="en-US" sz="1200"/>
                <a:t>|D|=15</a:t>
              </a:r>
              <a:endParaRPr lang="en-US" sz="1200" baseline="-25000"/>
            </a:p>
          </p:txBody>
        </p:sp>
      </p:grpSp>
    </p:spTree>
    <p:extLst>
      <p:ext uri="{BB962C8B-B14F-4D97-AF65-F5344CB8AC3E}">
        <p14:creationId xmlns:p14="http://schemas.microsoft.com/office/powerpoint/2010/main" val="3591137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Trees</a:t>
            </a:r>
          </a:p>
        </p:txBody>
      </p:sp>
      <p:sp>
        <p:nvSpPr>
          <p:cNvPr id="3" name="Content Placeholder 2"/>
          <p:cNvSpPr>
            <a:spLocks noGrp="1"/>
          </p:cNvSpPr>
          <p:nvPr>
            <p:ph idx="1"/>
          </p:nvPr>
        </p:nvSpPr>
        <p:spPr/>
        <p:txBody>
          <a:bodyPr>
            <a:normAutofit/>
          </a:bodyPr>
          <a:lstStyle/>
          <a:p>
            <a:r>
              <a:rPr lang="en-US" b="1" dirty="0">
                <a:solidFill>
                  <a:srgbClr val="0000FF"/>
                </a:solidFill>
              </a:rPr>
              <a:t>Characteristics</a:t>
            </a:r>
          </a:p>
          <a:p>
            <a:pPr lvl="1"/>
            <a:r>
              <a:rPr lang="en-US" b="1" dirty="0"/>
              <a:t>Classification &amp; Regression</a:t>
            </a:r>
          </a:p>
          <a:p>
            <a:pPr lvl="2"/>
            <a:r>
              <a:rPr lang="en-US" dirty="0"/>
              <a:t>Multiple (~10) classes</a:t>
            </a:r>
          </a:p>
          <a:p>
            <a:pPr lvl="1"/>
            <a:r>
              <a:rPr lang="en-US" b="1" dirty="0"/>
              <a:t>Real valued and categorical features</a:t>
            </a:r>
          </a:p>
          <a:p>
            <a:pPr lvl="1"/>
            <a:r>
              <a:rPr lang="en-US" b="1" dirty="0"/>
              <a:t>Few (hundreds) of features</a:t>
            </a:r>
          </a:p>
          <a:p>
            <a:pPr lvl="1"/>
            <a:r>
              <a:rPr lang="en-US" b="1" dirty="0"/>
              <a:t>Easy to understand and interpret </a:t>
            </a:r>
          </a:p>
          <a:p>
            <a:pPr lvl="1"/>
            <a:r>
              <a:rPr lang="en-US" b="1" dirty="0"/>
              <a:t>Complicated decision boundaries</a:t>
            </a:r>
          </a:p>
          <a:p>
            <a:pPr lvl="2"/>
            <a:r>
              <a:rPr lang="en-US" dirty="0"/>
              <a:t>Early stopping to avoid overfitting!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30</a:t>
            </a:fld>
            <a:endParaRPr lang="en-US"/>
          </a:p>
        </p:txBody>
      </p:sp>
      <p:sp>
        <p:nvSpPr>
          <p:cNvPr id="4" name="Date Placeholder 3"/>
          <p:cNvSpPr>
            <a:spLocks noGrp="1"/>
          </p:cNvSpPr>
          <p:nvPr>
            <p:ph type="dt" sz="half" idx="10"/>
          </p:nvPr>
        </p:nvSpPr>
        <p:spPr/>
        <p:txBody>
          <a:bodyPr/>
          <a:lstStyle/>
          <a:p>
            <a:fld id="{9EC6DA73-04E5-3B4F-92E1-BFFF713B8D0A}"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1033293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Trees</a:t>
            </a:r>
          </a:p>
        </p:txBody>
      </p:sp>
      <p:sp>
        <p:nvSpPr>
          <p:cNvPr id="3" name="Content Placeholder 2"/>
          <p:cNvSpPr>
            <a:spLocks noGrp="1"/>
          </p:cNvSpPr>
          <p:nvPr>
            <p:ph idx="1"/>
          </p:nvPr>
        </p:nvSpPr>
        <p:spPr/>
        <p:txBody>
          <a:bodyPr/>
          <a:lstStyle/>
          <a:p>
            <a:r>
              <a:rPr lang="en-US" b="1" dirty="0">
                <a:solidFill>
                  <a:srgbClr val="0000FF"/>
                </a:solidFill>
              </a:rPr>
              <a:t>Decision trees are the single most popular data mining tool:</a:t>
            </a:r>
          </a:p>
          <a:p>
            <a:pPr lvl="1"/>
            <a:r>
              <a:rPr lang="en-US" dirty="0"/>
              <a:t>Easy to understand</a:t>
            </a:r>
          </a:p>
          <a:p>
            <a:pPr lvl="1"/>
            <a:r>
              <a:rPr lang="en-US" dirty="0"/>
              <a:t>Easy to implement</a:t>
            </a:r>
          </a:p>
          <a:p>
            <a:pPr lvl="1"/>
            <a:r>
              <a:rPr lang="en-US" dirty="0"/>
              <a:t>Easy to use</a:t>
            </a:r>
          </a:p>
          <a:p>
            <a:pPr lvl="1"/>
            <a:r>
              <a:rPr lang="en-US" dirty="0"/>
              <a:t>Computationally cheap</a:t>
            </a:r>
          </a:p>
          <a:p>
            <a:pPr lvl="1"/>
            <a:r>
              <a:rPr lang="en-US" dirty="0"/>
              <a:t>It’s possible to mitigate overfitting (i.e., with ensemble methods)</a:t>
            </a:r>
          </a:p>
          <a:p>
            <a:pPr lvl="1"/>
            <a:r>
              <a:rPr lang="en-US" b="1" dirty="0"/>
              <a:t>They do classification as well as regression!</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31</a:t>
            </a:fld>
            <a:endParaRPr lang="en-US"/>
          </a:p>
        </p:txBody>
      </p:sp>
      <p:sp>
        <p:nvSpPr>
          <p:cNvPr id="4" name="Date Placeholder 3"/>
          <p:cNvSpPr>
            <a:spLocks noGrp="1"/>
          </p:cNvSpPr>
          <p:nvPr>
            <p:ph type="dt" sz="half" idx="10"/>
          </p:nvPr>
        </p:nvSpPr>
        <p:spPr/>
        <p:txBody>
          <a:bodyPr/>
          <a:lstStyle/>
          <a:p>
            <a:fld id="{B1A0B9E6-BBC4-614C-967F-D83AB79257BC}" type="datetime1">
              <a:rPr lang="en-US" smtClean="0"/>
              <a:t>10/1/24</a:t>
            </a:fld>
            <a:endParaRPr lang="en-US"/>
          </a:p>
        </p:txBody>
      </p:sp>
      <p:sp>
        <p:nvSpPr>
          <p:cNvPr id="5" name="Footer Placeholder 4"/>
          <p:cNvSpPr>
            <a:spLocks noGrp="1"/>
          </p:cNvSpPr>
          <p:nvPr>
            <p:ph type="ftr" sz="quarter" idx="11"/>
          </p:nvPr>
        </p:nvSpPr>
        <p:spPr/>
        <p:txBody>
          <a:bodyPr/>
          <a:lstStyle/>
          <a:p>
            <a:r>
              <a:rPr lang="en-US"/>
              <a:t>Jure Leskovec &amp; Mina Ghashami, Stanford CS246: Mining Massive Datasets, http://cs246.stanford.edu</a:t>
            </a:r>
          </a:p>
        </p:txBody>
      </p:sp>
    </p:spTree>
    <p:extLst>
      <p:ext uri="{BB962C8B-B14F-4D97-AF65-F5344CB8AC3E}">
        <p14:creationId xmlns:p14="http://schemas.microsoft.com/office/powerpoint/2010/main" val="126801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1E4D-BD36-D3E8-8932-EFC722E1503A}"/>
              </a:ext>
            </a:extLst>
          </p:cNvPr>
          <p:cNvSpPr>
            <a:spLocks noGrp="1"/>
          </p:cNvSpPr>
          <p:nvPr>
            <p:ph type="title"/>
          </p:nvPr>
        </p:nvSpPr>
        <p:spPr/>
        <p:txBody>
          <a:bodyPr/>
          <a:lstStyle/>
          <a:p>
            <a:r>
              <a:rPr lang="en-US" dirty="0"/>
              <a:t>Avoiding overfitting</a:t>
            </a:r>
          </a:p>
        </p:txBody>
      </p:sp>
      <p:sp>
        <p:nvSpPr>
          <p:cNvPr id="3" name="Content Placeholder 2">
            <a:extLst>
              <a:ext uri="{FF2B5EF4-FFF2-40B4-BE49-F238E27FC236}">
                <a16:creationId xmlns:a16="http://schemas.microsoft.com/office/drawing/2014/main" id="{8DE6D067-7BB4-5A8B-AA0A-B529A9312B99}"/>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0A7EBE65-C608-9871-180E-B6F10408A9F0}"/>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3479444A-4BE7-B3FA-F382-95B8F81FAC30}"/>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87A1246-3CC5-075D-FE3D-DC6DB1BB536F}"/>
              </a:ext>
            </a:extLst>
          </p:cNvPr>
          <p:cNvSpPr>
            <a:spLocks noGrp="1"/>
          </p:cNvSpPr>
          <p:nvPr>
            <p:ph type="sldNum" sz="quarter" idx="12"/>
          </p:nvPr>
        </p:nvSpPr>
        <p:spPr/>
        <p:txBody>
          <a:bodyPr/>
          <a:lstStyle/>
          <a:p>
            <a:fld id="{19B12225-5612-419B-A8D5-4B8EEE4C217E}" type="slidenum">
              <a:rPr lang="en-US" smtClean="0"/>
              <a:pPr/>
              <a:t>32</a:t>
            </a:fld>
            <a:endParaRPr lang="en-US"/>
          </a:p>
        </p:txBody>
      </p:sp>
      <p:pic>
        <p:nvPicPr>
          <p:cNvPr id="7" name="Picture 6">
            <a:extLst>
              <a:ext uri="{FF2B5EF4-FFF2-40B4-BE49-F238E27FC236}">
                <a16:creationId xmlns:a16="http://schemas.microsoft.com/office/drawing/2014/main" id="{85A7EF08-D7A2-BA48-12E0-A35448649AA5}"/>
              </a:ext>
            </a:extLst>
          </p:cNvPr>
          <p:cNvPicPr>
            <a:picLocks noChangeAspect="1"/>
          </p:cNvPicPr>
          <p:nvPr/>
        </p:nvPicPr>
        <p:blipFill>
          <a:blip r:embed="rId2"/>
          <a:stretch>
            <a:fillRect/>
          </a:stretch>
        </p:blipFill>
        <p:spPr>
          <a:xfrm>
            <a:off x="431996" y="1145221"/>
            <a:ext cx="7772400" cy="5407980"/>
          </a:xfrm>
          <a:prstGeom prst="rect">
            <a:avLst/>
          </a:prstGeom>
        </p:spPr>
      </p:pic>
    </p:spTree>
    <p:extLst>
      <p:ext uri="{BB962C8B-B14F-4D97-AF65-F5344CB8AC3E}">
        <p14:creationId xmlns:p14="http://schemas.microsoft.com/office/powerpoint/2010/main" val="1609759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1E4D-BD36-D3E8-8932-EFC722E1503A}"/>
              </a:ext>
            </a:extLst>
          </p:cNvPr>
          <p:cNvSpPr>
            <a:spLocks noGrp="1"/>
          </p:cNvSpPr>
          <p:nvPr>
            <p:ph type="title"/>
          </p:nvPr>
        </p:nvSpPr>
        <p:spPr/>
        <p:txBody>
          <a:bodyPr/>
          <a:lstStyle/>
          <a:p>
            <a:r>
              <a:rPr lang="en-US" dirty="0"/>
              <a:t>Avoiding overfitting</a:t>
            </a:r>
          </a:p>
        </p:txBody>
      </p:sp>
      <p:sp>
        <p:nvSpPr>
          <p:cNvPr id="3" name="Content Placeholder 2">
            <a:extLst>
              <a:ext uri="{FF2B5EF4-FFF2-40B4-BE49-F238E27FC236}">
                <a16:creationId xmlns:a16="http://schemas.microsoft.com/office/drawing/2014/main" id="{8DE6D067-7BB4-5A8B-AA0A-B529A9312B99}"/>
              </a:ext>
            </a:extLst>
          </p:cNvPr>
          <p:cNvSpPr>
            <a:spLocks noGrp="1"/>
          </p:cNvSpPr>
          <p:nvPr>
            <p:ph idx="1"/>
          </p:nvPr>
        </p:nvSpPr>
        <p:spPr/>
        <p:txBody>
          <a:bodyPr>
            <a:normAutofit/>
          </a:bodyPr>
          <a:lstStyle/>
          <a:p>
            <a:r>
              <a:rPr lang="en-US" dirty="0"/>
              <a:t>Pruning:</a:t>
            </a:r>
          </a:p>
          <a:p>
            <a:pPr lvl="1"/>
            <a:r>
              <a:rPr lang="en-US" dirty="0"/>
              <a:t>Pre-pruning:</a:t>
            </a:r>
          </a:p>
          <a:p>
            <a:pPr lvl="2"/>
            <a:r>
              <a:rPr lang="en-US" dirty="0"/>
              <a:t>This involves stopping the tree from growing once it reaches a certain depth or has a minimum number of samples per leaf node. </a:t>
            </a:r>
          </a:p>
          <a:p>
            <a:pPr lvl="2"/>
            <a:r>
              <a:rPr lang="en-US" dirty="0"/>
              <a:t>Parameters to control:</a:t>
            </a:r>
          </a:p>
          <a:p>
            <a:pPr marL="1008126" lvl="2" indent="-285750">
              <a:buFont typeface="Arial" panose="020B0604020202020204" pitchFamily="34" charset="0"/>
              <a:buChar char="•"/>
            </a:pPr>
            <a:r>
              <a:rPr lang="en-US" i="1" dirty="0" err="1"/>
              <a:t>max_depth</a:t>
            </a:r>
            <a:r>
              <a:rPr lang="en-US" dirty="0"/>
              <a:t>: Maximum depth of the tree.</a:t>
            </a:r>
          </a:p>
          <a:p>
            <a:pPr marL="1008126" lvl="2" indent="-285750">
              <a:buFont typeface="Arial" panose="020B0604020202020204" pitchFamily="34" charset="0"/>
              <a:buChar char="•"/>
            </a:pPr>
            <a:r>
              <a:rPr lang="en-US" i="1" dirty="0" err="1"/>
              <a:t>min_samples_split</a:t>
            </a:r>
            <a:r>
              <a:rPr lang="en-US" dirty="0"/>
              <a:t>: Minimum number of samples required to split a node.</a:t>
            </a:r>
          </a:p>
          <a:p>
            <a:pPr marL="1008126" lvl="2" indent="-285750">
              <a:buFont typeface="Arial" panose="020B0604020202020204" pitchFamily="34" charset="0"/>
              <a:buChar char="•"/>
            </a:pPr>
            <a:r>
              <a:rPr lang="en-US" i="1" dirty="0" err="1"/>
              <a:t>min_samples_leaf</a:t>
            </a:r>
            <a:r>
              <a:rPr lang="en-US" dirty="0"/>
              <a:t>: Minimum number of samples required to be at a leaf node.</a:t>
            </a:r>
          </a:p>
          <a:p>
            <a:pPr lvl="1"/>
            <a:endParaRPr lang="en-US" dirty="0"/>
          </a:p>
          <a:p>
            <a:pPr lvl="1"/>
            <a:endParaRPr lang="en-US" dirty="0"/>
          </a:p>
        </p:txBody>
      </p:sp>
      <p:sp>
        <p:nvSpPr>
          <p:cNvPr id="4" name="Date Placeholder 3">
            <a:extLst>
              <a:ext uri="{FF2B5EF4-FFF2-40B4-BE49-F238E27FC236}">
                <a16:creationId xmlns:a16="http://schemas.microsoft.com/office/drawing/2014/main" id="{0A7EBE65-C608-9871-180E-B6F10408A9F0}"/>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3479444A-4BE7-B3FA-F382-95B8F81FAC30}"/>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87A1246-3CC5-075D-FE3D-DC6DB1BB536F}"/>
              </a:ext>
            </a:extLst>
          </p:cNvPr>
          <p:cNvSpPr>
            <a:spLocks noGrp="1"/>
          </p:cNvSpPr>
          <p:nvPr>
            <p:ph type="sldNum" sz="quarter" idx="12"/>
          </p:nvPr>
        </p:nvSpPr>
        <p:spPr/>
        <p:txBody>
          <a:bodyPr/>
          <a:lstStyle/>
          <a:p>
            <a:fld id="{19B12225-5612-419B-A8D5-4B8EEE4C217E}" type="slidenum">
              <a:rPr lang="en-US" smtClean="0"/>
              <a:pPr/>
              <a:t>33</a:t>
            </a:fld>
            <a:endParaRPr lang="en-US"/>
          </a:p>
        </p:txBody>
      </p:sp>
    </p:spTree>
    <p:extLst>
      <p:ext uri="{BB962C8B-B14F-4D97-AF65-F5344CB8AC3E}">
        <p14:creationId xmlns:p14="http://schemas.microsoft.com/office/powerpoint/2010/main" val="3213367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1E4D-BD36-D3E8-8932-EFC722E1503A}"/>
              </a:ext>
            </a:extLst>
          </p:cNvPr>
          <p:cNvSpPr>
            <a:spLocks noGrp="1"/>
          </p:cNvSpPr>
          <p:nvPr>
            <p:ph type="title"/>
          </p:nvPr>
        </p:nvSpPr>
        <p:spPr/>
        <p:txBody>
          <a:bodyPr/>
          <a:lstStyle/>
          <a:p>
            <a:r>
              <a:rPr lang="en-US" dirty="0"/>
              <a:t>Avoiding overfitting</a:t>
            </a:r>
          </a:p>
        </p:txBody>
      </p:sp>
      <p:sp>
        <p:nvSpPr>
          <p:cNvPr id="3" name="Content Placeholder 2">
            <a:extLst>
              <a:ext uri="{FF2B5EF4-FFF2-40B4-BE49-F238E27FC236}">
                <a16:creationId xmlns:a16="http://schemas.microsoft.com/office/drawing/2014/main" id="{8DE6D067-7BB4-5A8B-AA0A-B529A9312B99}"/>
              </a:ext>
            </a:extLst>
          </p:cNvPr>
          <p:cNvSpPr>
            <a:spLocks noGrp="1"/>
          </p:cNvSpPr>
          <p:nvPr>
            <p:ph idx="1"/>
          </p:nvPr>
        </p:nvSpPr>
        <p:spPr/>
        <p:txBody>
          <a:bodyPr>
            <a:normAutofit/>
          </a:bodyPr>
          <a:lstStyle/>
          <a:p>
            <a:r>
              <a:rPr lang="en-US" dirty="0"/>
              <a:t>Pruning:</a:t>
            </a:r>
          </a:p>
          <a:p>
            <a:pPr lvl="1"/>
            <a:r>
              <a:rPr lang="en-US" dirty="0"/>
              <a:t>Post-pruning:</a:t>
            </a:r>
          </a:p>
          <a:p>
            <a:pPr lvl="2"/>
            <a:r>
              <a:rPr lang="en-US" dirty="0"/>
              <a:t>Not common. Involves growing the tree fully and then trimming back branches that have little importance. </a:t>
            </a:r>
          </a:p>
          <a:p>
            <a:pPr lvl="2"/>
            <a:r>
              <a:rPr lang="en-US" dirty="0"/>
              <a:t>Computationally expensive</a:t>
            </a:r>
          </a:p>
          <a:p>
            <a:endParaRPr lang="en-US" dirty="0"/>
          </a:p>
          <a:p>
            <a:r>
              <a:rPr lang="en-US" dirty="0"/>
              <a:t>Limit number of features for split</a:t>
            </a:r>
          </a:p>
          <a:p>
            <a:pPr lvl="1"/>
            <a:r>
              <a:rPr lang="en-US" dirty="0"/>
              <a:t>Use </a:t>
            </a:r>
            <a:r>
              <a:rPr lang="en-US" i="1" dirty="0"/>
              <a:t>square root </a:t>
            </a:r>
            <a:r>
              <a:rPr lang="en-US" dirty="0"/>
              <a:t>number of features at each split</a:t>
            </a:r>
          </a:p>
        </p:txBody>
      </p:sp>
      <p:sp>
        <p:nvSpPr>
          <p:cNvPr id="4" name="Date Placeholder 3">
            <a:extLst>
              <a:ext uri="{FF2B5EF4-FFF2-40B4-BE49-F238E27FC236}">
                <a16:creationId xmlns:a16="http://schemas.microsoft.com/office/drawing/2014/main" id="{0A7EBE65-C608-9871-180E-B6F10408A9F0}"/>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3479444A-4BE7-B3FA-F382-95B8F81FAC30}"/>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87A1246-3CC5-075D-FE3D-DC6DB1BB536F}"/>
              </a:ext>
            </a:extLst>
          </p:cNvPr>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2804282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1E4D-BD36-D3E8-8932-EFC722E1503A}"/>
              </a:ext>
            </a:extLst>
          </p:cNvPr>
          <p:cNvSpPr>
            <a:spLocks noGrp="1"/>
          </p:cNvSpPr>
          <p:nvPr>
            <p:ph type="title"/>
          </p:nvPr>
        </p:nvSpPr>
        <p:spPr/>
        <p:txBody>
          <a:bodyPr/>
          <a:lstStyle/>
          <a:p>
            <a:r>
              <a:rPr lang="en-US" dirty="0"/>
              <a:t>Avoiding overfitting</a:t>
            </a:r>
          </a:p>
        </p:txBody>
      </p:sp>
      <p:sp>
        <p:nvSpPr>
          <p:cNvPr id="3" name="Content Placeholder 2">
            <a:extLst>
              <a:ext uri="{FF2B5EF4-FFF2-40B4-BE49-F238E27FC236}">
                <a16:creationId xmlns:a16="http://schemas.microsoft.com/office/drawing/2014/main" id="{8DE6D067-7BB4-5A8B-AA0A-B529A9312B99}"/>
              </a:ext>
            </a:extLst>
          </p:cNvPr>
          <p:cNvSpPr>
            <a:spLocks noGrp="1"/>
          </p:cNvSpPr>
          <p:nvPr>
            <p:ph idx="1"/>
          </p:nvPr>
        </p:nvSpPr>
        <p:spPr/>
        <p:txBody>
          <a:bodyPr/>
          <a:lstStyle/>
          <a:p>
            <a:r>
              <a:rPr lang="en-US" dirty="0"/>
              <a:t>Cross-Validation</a:t>
            </a:r>
          </a:p>
          <a:p>
            <a:pPr lvl="1"/>
            <a:r>
              <a:rPr lang="en-US" dirty="0"/>
              <a:t>Use </a:t>
            </a:r>
            <a:r>
              <a:rPr lang="en-US" b="1" dirty="0"/>
              <a:t>k-fold cross-validation</a:t>
            </a:r>
            <a:r>
              <a:rPr lang="en-US" dirty="0"/>
              <a:t> </a:t>
            </a:r>
          </a:p>
          <a:p>
            <a:pPr lvl="1"/>
            <a:r>
              <a:rPr lang="en-US" dirty="0"/>
              <a:t>Evaluate how well your model generalizes to unseen data. </a:t>
            </a:r>
          </a:p>
          <a:p>
            <a:pPr lvl="2"/>
            <a:r>
              <a:rPr lang="en-US" dirty="0"/>
              <a:t>This will help in selecting the best hyperparameters (such as depth, minimum samples, etc.)</a:t>
            </a:r>
          </a:p>
          <a:p>
            <a:endParaRPr lang="en-US" dirty="0"/>
          </a:p>
          <a:p>
            <a:r>
              <a:rPr lang="en-US" dirty="0"/>
              <a:t>Limit Leaf Nodes</a:t>
            </a:r>
          </a:p>
          <a:p>
            <a:pPr lvl="1"/>
            <a:r>
              <a:rPr lang="en-US" dirty="0"/>
              <a:t>to avoid the tree growing too large and capturing noise in the training data</a:t>
            </a:r>
          </a:p>
        </p:txBody>
      </p:sp>
      <p:sp>
        <p:nvSpPr>
          <p:cNvPr id="4" name="Date Placeholder 3">
            <a:extLst>
              <a:ext uri="{FF2B5EF4-FFF2-40B4-BE49-F238E27FC236}">
                <a16:creationId xmlns:a16="http://schemas.microsoft.com/office/drawing/2014/main" id="{0A7EBE65-C608-9871-180E-B6F10408A9F0}"/>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3479444A-4BE7-B3FA-F382-95B8F81FAC30}"/>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A87A1246-3CC5-075D-FE3D-DC6DB1BB536F}"/>
              </a:ext>
            </a:extLst>
          </p:cNvPr>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2990796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AB23-FA4C-52ED-4BB2-6E6B5283414F}"/>
              </a:ext>
            </a:extLst>
          </p:cNvPr>
          <p:cNvSpPr>
            <a:spLocks noGrp="1"/>
          </p:cNvSpPr>
          <p:nvPr>
            <p:ph type="title"/>
          </p:nvPr>
        </p:nvSpPr>
        <p:spPr/>
        <p:txBody>
          <a:bodyPr/>
          <a:lstStyle/>
          <a:p>
            <a:r>
              <a:rPr lang="en-US" dirty="0"/>
              <a:t>Avoid overfitting</a:t>
            </a:r>
          </a:p>
        </p:txBody>
      </p:sp>
      <p:sp>
        <p:nvSpPr>
          <p:cNvPr id="3" name="Content Placeholder 2">
            <a:extLst>
              <a:ext uri="{FF2B5EF4-FFF2-40B4-BE49-F238E27FC236}">
                <a16:creationId xmlns:a16="http://schemas.microsoft.com/office/drawing/2014/main" id="{174F8C69-48FF-C80E-8B43-DAD9D163F7A7}"/>
              </a:ext>
            </a:extLst>
          </p:cNvPr>
          <p:cNvSpPr>
            <a:spLocks noGrp="1"/>
          </p:cNvSpPr>
          <p:nvPr>
            <p:ph idx="1"/>
          </p:nvPr>
        </p:nvSpPr>
        <p:spPr/>
        <p:txBody>
          <a:bodyPr/>
          <a:lstStyle/>
          <a:p>
            <a:r>
              <a:rPr lang="en-US" dirty="0"/>
              <a:t>Use ensemble methods</a:t>
            </a:r>
          </a:p>
          <a:p>
            <a:pPr lvl="1"/>
            <a:r>
              <a:rPr lang="en-US" dirty="0"/>
              <a:t>Random Forest or Gradient Boosting</a:t>
            </a:r>
          </a:p>
          <a:p>
            <a:pPr lvl="1"/>
            <a:r>
              <a:rPr lang="en-US" dirty="0"/>
              <a:t>Decision stump = of depth 2  </a:t>
            </a:r>
          </a:p>
        </p:txBody>
      </p:sp>
      <p:sp>
        <p:nvSpPr>
          <p:cNvPr id="4" name="Date Placeholder 3">
            <a:extLst>
              <a:ext uri="{FF2B5EF4-FFF2-40B4-BE49-F238E27FC236}">
                <a16:creationId xmlns:a16="http://schemas.microsoft.com/office/drawing/2014/main" id="{F660A588-0092-EEB9-4EE2-4E9ADD5A4292}"/>
              </a:ext>
            </a:extLst>
          </p:cNvPr>
          <p:cNvSpPr>
            <a:spLocks noGrp="1"/>
          </p:cNvSpPr>
          <p:nvPr>
            <p:ph type="dt" sz="half" idx="10"/>
          </p:nvPr>
        </p:nvSpPr>
        <p:spPr/>
        <p:txBody>
          <a:bodyPr/>
          <a:lstStyle/>
          <a:p>
            <a:fld id="{02665C2A-0FCD-864C-B398-C650D71C6BA9}" type="datetime1">
              <a:rPr lang="en-US" smtClean="0"/>
              <a:t>10/1/24</a:t>
            </a:fld>
            <a:endParaRPr lang="en-US"/>
          </a:p>
        </p:txBody>
      </p:sp>
      <p:sp>
        <p:nvSpPr>
          <p:cNvPr id="5" name="Footer Placeholder 4">
            <a:extLst>
              <a:ext uri="{FF2B5EF4-FFF2-40B4-BE49-F238E27FC236}">
                <a16:creationId xmlns:a16="http://schemas.microsoft.com/office/drawing/2014/main" id="{967A5B28-F4B0-EF99-AE93-808F11BA9088}"/>
              </a:ext>
            </a:extLst>
          </p:cNvPr>
          <p:cNvSpPr>
            <a:spLocks noGrp="1"/>
          </p:cNvSpPr>
          <p:nvPr>
            <p:ph type="ftr" sz="quarter" idx="11"/>
          </p:nvPr>
        </p:nvSpPr>
        <p:spPr/>
        <p:txBody>
          <a:bodyPr/>
          <a:lstStyle/>
          <a:p>
            <a:r>
              <a:rPr lang="en-US"/>
              <a:t>Jure Leskovec &amp; Mina Ghashami, Stanford CS246: Mining Massive Datasets, http://cs246.stanford.edu</a:t>
            </a:r>
          </a:p>
        </p:txBody>
      </p:sp>
      <p:sp>
        <p:nvSpPr>
          <p:cNvPr id="6" name="Slide Number Placeholder 5">
            <a:extLst>
              <a:ext uri="{FF2B5EF4-FFF2-40B4-BE49-F238E27FC236}">
                <a16:creationId xmlns:a16="http://schemas.microsoft.com/office/drawing/2014/main" id="{9C8D1502-9891-DE4A-E7E9-972C361A217D}"/>
              </a:ext>
            </a:extLst>
          </p:cNvPr>
          <p:cNvSpPr>
            <a:spLocks noGrp="1"/>
          </p:cNvSpPr>
          <p:nvPr>
            <p:ph type="sldNum" sz="quarter" idx="12"/>
          </p:nvPr>
        </p:nvSpPr>
        <p:spPr/>
        <p:txBody>
          <a:bodyPr/>
          <a:lstStyle/>
          <a:p>
            <a:fld id="{19B12225-5612-419B-A8D5-4B8EEE4C217E}" type="slidenum">
              <a:rPr lang="en-US" smtClean="0"/>
              <a:pPr/>
              <a:t>36</a:t>
            </a:fld>
            <a:endParaRPr lang="en-US"/>
          </a:p>
        </p:txBody>
      </p:sp>
    </p:spTree>
    <p:extLst>
      <p:ext uri="{BB962C8B-B14F-4D97-AF65-F5344CB8AC3E}">
        <p14:creationId xmlns:p14="http://schemas.microsoft.com/office/powerpoint/2010/main" val="5429657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8614</TotalTime>
  <Words>4316</Words>
  <Application>Microsoft Macintosh PowerPoint</Application>
  <PresentationFormat>On-screen Show (4:3)</PresentationFormat>
  <Paragraphs>849</Paragraphs>
  <Slides>36</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36</vt:i4>
      </vt:variant>
    </vt:vector>
  </HeadingPairs>
  <TitlesOfParts>
    <vt:vector size="49" baseType="lpstr">
      <vt:lpstr>-apple-system</vt:lpstr>
      <vt:lpstr>Arial</vt:lpstr>
      <vt:lpstr>Calibri</vt:lpstr>
      <vt:lpstr>Cambria Math</vt:lpstr>
      <vt:lpstr>Corbel</vt:lpstr>
      <vt:lpstr>inherit</vt:lpstr>
      <vt:lpstr>STIXGeneral-Italic</vt:lpstr>
      <vt:lpstr>STIXGeneral-Regular</vt:lpstr>
      <vt:lpstr>Symbol</vt:lpstr>
      <vt:lpstr>Times New Roman</vt:lpstr>
      <vt:lpstr>Wingdings</vt:lpstr>
      <vt:lpstr>Wingdings 2</vt:lpstr>
      <vt:lpstr>Module</vt:lpstr>
      <vt:lpstr>Large Scale Machine Learning: Decision Trees</vt:lpstr>
      <vt:lpstr>Supervised Learning</vt:lpstr>
      <vt:lpstr>Supervised Learning</vt:lpstr>
      <vt:lpstr>Supervised Learning</vt:lpstr>
      <vt:lpstr>Decision Trees, Random Forests and GBDTs</vt:lpstr>
      <vt:lpstr>Preface: Decision Trees</vt:lpstr>
      <vt:lpstr>Decision Tree Learning</vt:lpstr>
      <vt:lpstr>Decision Trees</vt:lpstr>
      <vt:lpstr>Decision Trees</vt:lpstr>
      <vt:lpstr>How to make predictions?</vt:lpstr>
      <vt:lpstr>Decision Trees: feature space</vt:lpstr>
      <vt:lpstr>Decision Trees: feature space</vt:lpstr>
      <vt:lpstr>How to construct a tree?</vt:lpstr>
      <vt:lpstr>How to construct a tree?</vt:lpstr>
      <vt:lpstr>3 steps in constructing a tree</vt:lpstr>
      <vt:lpstr>How to construct a tree?</vt:lpstr>
      <vt:lpstr>How to construct a tree?</vt:lpstr>
      <vt:lpstr>PowerPoint Presentation</vt:lpstr>
      <vt:lpstr>Why Information Gain? Entropy</vt:lpstr>
      <vt:lpstr>Entropy</vt:lpstr>
      <vt:lpstr>Why Information Gain? Entropy</vt:lpstr>
      <vt:lpstr>Why Information Gain? Entropy</vt:lpstr>
      <vt:lpstr>Why Information Gain?</vt:lpstr>
      <vt:lpstr>Why Information Gain?</vt:lpstr>
      <vt:lpstr>Why Information Gain?</vt:lpstr>
      <vt:lpstr>What is Information Gain used for?</vt:lpstr>
      <vt:lpstr>3 steps in constructing a tree</vt:lpstr>
      <vt:lpstr>When to stop?</vt:lpstr>
      <vt:lpstr>How to predict?</vt:lpstr>
      <vt:lpstr>Decision Trees</vt:lpstr>
      <vt:lpstr>Decision Trees</vt:lpstr>
      <vt:lpstr>Avoiding overfitting</vt:lpstr>
      <vt:lpstr>Avoiding overfitting</vt:lpstr>
      <vt:lpstr>Avoiding overfitting</vt:lpstr>
      <vt:lpstr>Avoiding overfitting</vt:lpstr>
      <vt:lpstr>Avoid overfitting</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Microsoft Office User</cp:lastModifiedBy>
  <cp:revision>127</cp:revision>
  <cp:lastPrinted>2018-02-22T05:48:55Z</cp:lastPrinted>
  <dcterms:created xsi:type="dcterms:W3CDTF">2009-06-12T17:14:38Z</dcterms:created>
  <dcterms:modified xsi:type="dcterms:W3CDTF">2024-10-01T23:13:36Z</dcterms:modified>
</cp:coreProperties>
</file>