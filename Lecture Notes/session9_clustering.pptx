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9"/>
  </p:notesMasterIdLst>
  <p:handoutMasterIdLst>
    <p:handoutMasterId r:id="rId30"/>
  </p:handoutMasterIdLst>
  <p:sldIdLst>
    <p:sldId id="256" r:id="rId2"/>
    <p:sldId id="339" r:id="rId3"/>
    <p:sldId id="340" r:id="rId4"/>
    <p:sldId id="411" r:id="rId5"/>
    <p:sldId id="412" r:id="rId6"/>
    <p:sldId id="344" r:id="rId7"/>
    <p:sldId id="418" r:id="rId8"/>
    <p:sldId id="419" r:id="rId9"/>
    <p:sldId id="402" r:id="rId10"/>
    <p:sldId id="410" r:id="rId11"/>
    <p:sldId id="345" r:id="rId12"/>
    <p:sldId id="346" r:id="rId13"/>
    <p:sldId id="347" r:id="rId14"/>
    <p:sldId id="409" r:id="rId15"/>
    <p:sldId id="387" r:id="rId16"/>
    <p:sldId id="353" r:id="rId17"/>
    <p:sldId id="422" r:id="rId18"/>
    <p:sldId id="421" r:id="rId19"/>
    <p:sldId id="406" r:id="rId20"/>
    <p:sldId id="355" r:id="rId21"/>
    <p:sldId id="394" r:id="rId22"/>
    <p:sldId id="395" r:id="rId23"/>
    <p:sldId id="356" r:id="rId24"/>
    <p:sldId id="357" r:id="rId25"/>
    <p:sldId id="358" r:id="rId26"/>
    <p:sldId id="359" r:id="rId27"/>
    <p:sldId id="388" r:id="rId28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000FF"/>
    <a:srgbClr val="D60093"/>
    <a:srgbClr val="FF0066"/>
    <a:srgbClr val="33CC33"/>
    <a:srgbClr val="FF0000"/>
    <a:srgbClr val="CC0066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E64924-9D52-B749-A012-4CFA0014C963}" v="5" dt="2021-04-13T19:17:35.918"/>
  </p1510:revLst>
</p1510:revInfo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41"/>
    <p:restoredTop sz="91051"/>
  </p:normalViewPr>
  <p:slideViewPr>
    <p:cSldViewPr snapToGrid="0">
      <p:cViewPr varScale="1">
        <p:scale>
          <a:sx n="111" d="100"/>
          <a:sy n="111" d="100"/>
        </p:scale>
        <p:origin x="2384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170238" cy="479425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1"/>
            <a:ext cx="3170238" cy="479425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D3E28C4F-4FE9-4D22-93D8-487A4D01D983}" type="datetimeFigureOut">
              <a:rPr lang="en-US" smtClean="0"/>
              <a:pPr/>
              <a:t>10/26/24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189"/>
            <a:ext cx="3170238" cy="479425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9"/>
            <a:ext cx="3170238" cy="479425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BD5F390F-F66B-4732-9C46-6C80D0575F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4960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6651" tIns="48326" rIns="96651" bIns="48326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1"/>
            <a:ext cx="3169920" cy="480060"/>
          </a:xfrm>
          <a:prstGeom prst="rect">
            <a:avLst/>
          </a:prstGeom>
        </p:spPr>
        <p:txBody>
          <a:bodyPr vert="horz" lIns="96651" tIns="48326" rIns="96651" bIns="48326" rtlCol="0"/>
          <a:lstStyle>
            <a:lvl1pPr algn="r">
              <a:defRPr sz="1300"/>
            </a:lvl1pPr>
          </a:lstStyle>
          <a:p>
            <a:fld id="{EE18CB36-612C-4E4A-AC83-E89476AEC2BF}" type="datetimeFigureOut">
              <a:rPr lang="en-US" smtClean="0"/>
              <a:pPr/>
              <a:t>10/26/24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1" tIns="48326" rIns="96651" bIns="4832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560571"/>
            <a:ext cx="5852160" cy="4320540"/>
          </a:xfrm>
          <a:prstGeom prst="rect">
            <a:avLst/>
          </a:prstGeom>
        </p:spPr>
        <p:txBody>
          <a:bodyPr vert="horz" lIns="96651" tIns="48326" rIns="96651" bIns="4832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0060"/>
          </a:xfrm>
          <a:prstGeom prst="rect">
            <a:avLst/>
          </a:prstGeom>
        </p:spPr>
        <p:txBody>
          <a:bodyPr vert="horz" lIns="96651" tIns="48326" rIns="96651" bIns="48326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0060"/>
          </a:xfrm>
          <a:prstGeom prst="rect">
            <a:avLst/>
          </a:prstGeom>
        </p:spPr>
        <p:txBody>
          <a:bodyPr vert="horz" lIns="96651" tIns="48326" rIns="96651" bIns="48326" rtlCol="0" anchor="b"/>
          <a:lstStyle>
            <a:lvl1pPr algn="r">
              <a:defRPr sz="1300"/>
            </a:lvl1pPr>
          </a:lstStyle>
          <a:p>
            <a:fld id="{EE707532-839C-41A2-9E71-D5288AEAE6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649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707532-839C-41A2-9E71-D5288AEAE66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875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914400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2743200"/>
            <a:ext cx="8022336" cy="685800"/>
          </a:xfrm>
        </p:spPr>
        <p:txBody>
          <a:bodyPr lIns="146304" tIns="0" rIns="45720" bIns="0" anchor="t">
            <a:normAutofit/>
          </a:bodyPr>
          <a:lstStyle>
            <a:lvl1pPr marL="0" indent="0">
              <a:buNone/>
              <a:defRPr sz="4000" b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504688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504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023338"/>
            <a:ext cx="4040188" cy="43774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295400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023338"/>
            <a:ext cx="4041775" cy="43774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1/18/22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39826768-8FCE-4417-A22B-1D26CD2A846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975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02108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1"/>
            <a:ext cx="9143999" cy="1021079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229600" cy="5257801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83680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900">
                <a:solidFill>
                  <a:schemeClr val="tx1">
                    <a:tint val="95000"/>
                  </a:schemeClr>
                </a:solidFill>
                <a:latin typeface="Calibri" pitchFamily="34" charset="0"/>
                <a:cs typeface="Calibri" pitchFamily="34" charset="0"/>
              </a:defRPr>
            </a:lvl1pPr>
            <a:extLst/>
          </a:lstStyle>
          <a:p>
            <a:r>
              <a:rPr lang="en-US"/>
              <a:t>1/18/22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583680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900">
                <a:solidFill>
                  <a:schemeClr val="tx1">
                    <a:tint val="95000"/>
                  </a:schemeClr>
                </a:solidFill>
                <a:latin typeface="Calibri" pitchFamily="34" charset="0"/>
                <a:cs typeface="Calibri" pitchFamily="34" charset="0"/>
              </a:defRPr>
            </a:lvl1pPr>
            <a:extLst/>
          </a:lstStyle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583680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900">
                <a:solidFill>
                  <a:schemeClr val="tx1">
                    <a:tint val="95000"/>
                  </a:schemeClr>
                </a:solidFill>
                <a:latin typeface="Calibri" pitchFamily="34" charset="0"/>
                <a:cs typeface="Calibri" pitchFamily="34" charset="0"/>
              </a:defRPr>
            </a:lvl1pPr>
            <a:extLst/>
          </a:lstStyle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7" r:id="rId12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100000"/>
        <a:buFont typeface="Wingdings" pitchFamily="2" charset="2"/>
        <a:buChar char="§"/>
        <a:defRPr kumimoji="0" sz="28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SzPct val="100000"/>
        <a:buFont typeface="Wingdings" pitchFamily="2" charset="2"/>
        <a:buChar char="§"/>
        <a:defRPr kumimoji="0"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 pitchFamily="2" charset="2"/>
        <a:buChar char="§"/>
        <a:defRPr kumimoji="0" sz="20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SzPct val="100000"/>
        <a:buFont typeface="Wingdings" pitchFamily="2" charset="2"/>
        <a:buChar char="§"/>
        <a:defRPr kumimoji="0" lang="en-US" sz="2000" kern="1200" smtClean="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mmds.org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47800"/>
            <a:ext cx="8077200" cy="2408104"/>
          </a:xfrm>
        </p:spPr>
        <p:txBody>
          <a:bodyPr anchor="b">
            <a:normAutofit/>
          </a:bodyPr>
          <a:lstStyle/>
          <a:p>
            <a:r>
              <a:rPr lang="en-US" sz="6000" dirty="0"/>
              <a:t>Clustering</a:t>
            </a:r>
            <a:endParaRPr lang="en-US" sz="4800" dirty="0"/>
          </a:p>
        </p:txBody>
      </p:sp>
      <p:sp>
        <p:nvSpPr>
          <p:cNvPr id="7" name="TextBox 6"/>
          <p:cNvSpPr txBox="1"/>
          <p:nvPr/>
        </p:nvSpPr>
        <p:spPr>
          <a:xfrm>
            <a:off x="762000" y="5257800"/>
            <a:ext cx="67056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CS246: Mining Massive Datasets</a:t>
            </a:r>
          </a:p>
          <a:p>
            <a:r>
              <a:rPr lang="en-US" sz="2400" dirty="0"/>
              <a:t>Jure </a:t>
            </a:r>
            <a:r>
              <a:rPr lang="en-US" sz="2400" dirty="0" err="1"/>
              <a:t>Leskovec</a:t>
            </a:r>
            <a:r>
              <a:rPr lang="en-US" sz="2400" dirty="0"/>
              <a:t>, </a:t>
            </a:r>
            <a:r>
              <a:rPr lang="en-US" sz="2000" dirty="0"/>
              <a:t>Stanford University</a:t>
            </a:r>
          </a:p>
          <a:p>
            <a:r>
              <a:rPr lang="en-US" sz="2400" dirty="0"/>
              <a:t>Mina </a:t>
            </a:r>
            <a:r>
              <a:rPr lang="en-US" sz="2400" dirty="0" err="1"/>
              <a:t>Ghashami</a:t>
            </a:r>
            <a:r>
              <a:rPr lang="en-US" sz="2400" dirty="0"/>
              <a:t>, </a:t>
            </a:r>
            <a:r>
              <a:rPr lang="en-US" sz="2000" dirty="0"/>
              <a:t>Stanford University</a:t>
            </a:r>
          </a:p>
          <a:p>
            <a:r>
              <a:rPr lang="en-US" sz="3200" dirty="0"/>
              <a:t>http://cs246.stanford.edu</a:t>
            </a:r>
          </a:p>
        </p:txBody>
      </p:sp>
      <p:pic>
        <p:nvPicPr>
          <p:cNvPr id="5" name="Picture 6" descr="http://asia.stanford.edu/images/StanfordSealSmall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52360" y="5166360"/>
            <a:ext cx="1691640" cy="1691640"/>
          </a:xfrm>
          <a:prstGeom prst="rect">
            <a:avLst/>
          </a:prstGeom>
          <a:noFill/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72EEE1AB-F22B-2943-8003-E59E4634E56E}"/>
              </a:ext>
            </a:extLst>
          </p:cNvPr>
          <p:cNvSpPr txBox="1"/>
          <p:nvPr/>
        </p:nvSpPr>
        <p:spPr>
          <a:xfrm>
            <a:off x="1905000" y="141089"/>
            <a:ext cx="7239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/>
              <a:t>Note to other teachers and users of these slides: </a:t>
            </a:r>
            <a:r>
              <a:rPr lang="en-US" sz="1400"/>
              <a:t>We would be delighted if you found our </a:t>
            </a:r>
          </a:p>
          <a:p>
            <a:r>
              <a:rPr lang="en-US" sz="1400"/>
              <a:t>material useful for giving your own lectures. Feel free to use these slides verbatim, or to </a:t>
            </a:r>
          </a:p>
          <a:p>
            <a:r>
              <a:rPr lang="en-US" sz="1400"/>
              <a:t>modify them to fit your own needs. If you make use of a significant portion of these slides </a:t>
            </a:r>
          </a:p>
          <a:p>
            <a:r>
              <a:rPr lang="en-US" sz="1400"/>
              <a:t>in your own lecture, please include this message, or a link to our web site: </a:t>
            </a:r>
            <a:r>
              <a:rPr lang="en-US" sz="1400">
                <a:hlinkClick r:id="rId4"/>
              </a:rPr>
              <a:t>http://</a:t>
            </a:r>
            <a:r>
              <a:rPr lang="en-US" sz="1400" err="1">
                <a:hlinkClick r:id="rId4"/>
              </a:rPr>
              <a:t>www.mmds.org</a:t>
            </a:r>
            <a:r>
              <a:rPr lang="en-US" sz="1400">
                <a:hlinkClick r:id="rId4"/>
              </a:rPr>
              <a:t> </a:t>
            </a:r>
            <a:endParaRPr lang="en-US" sz="1400"/>
          </a:p>
          <a:p>
            <a:endParaRPr lang="en-US" sz="140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C4A1D-7D02-4084-97D7-BB005E217310}" type="slidenum">
              <a:rPr lang="en-US"/>
              <a:pPr/>
              <a:t>2</a:t>
            </a:fld>
            <a:endParaRPr lang="en-US"/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Problem of Clustering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610600" cy="5257801"/>
          </a:xfrm>
        </p:spPr>
        <p:txBody>
          <a:bodyPr>
            <a:normAutofit/>
          </a:bodyPr>
          <a:lstStyle/>
          <a:p>
            <a:r>
              <a:rPr lang="en-US"/>
              <a:t>Given a </a:t>
            </a:r>
            <a:r>
              <a:rPr lang="en-US" b="1"/>
              <a:t>set of points</a:t>
            </a:r>
            <a:r>
              <a:rPr lang="en-US"/>
              <a:t>, with a notion of </a:t>
            </a:r>
            <a:r>
              <a:rPr lang="en-US" b="1"/>
              <a:t>distance</a:t>
            </a:r>
            <a:r>
              <a:rPr lang="en-US"/>
              <a:t> between points, </a:t>
            </a:r>
            <a:r>
              <a:rPr lang="en-US" b="1"/>
              <a:t>group the points</a:t>
            </a:r>
            <a:r>
              <a:rPr lang="en-US"/>
              <a:t> into some number of </a:t>
            </a:r>
            <a:r>
              <a:rPr lang="en-US" b="1" i="1">
                <a:solidFill>
                  <a:srgbClr val="FF0066"/>
                </a:solidFill>
              </a:rPr>
              <a:t>clusters</a:t>
            </a:r>
            <a:r>
              <a:rPr lang="en-US"/>
              <a:t>, so that </a:t>
            </a:r>
          </a:p>
          <a:p>
            <a:pPr lvl="1"/>
            <a:r>
              <a:rPr lang="en-US"/>
              <a:t>Members of the same cluster are close/similar to each other</a:t>
            </a:r>
          </a:p>
          <a:p>
            <a:pPr lvl="1"/>
            <a:r>
              <a:rPr lang="en-US"/>
              <a:t>Members of different clusters are dissimilar</a:t>
            </a:r>
          </a:p>
          <a:p>
            <a:r>
              <a:rPr lang="en-US" b="1">
                <a:solidFill>
                  <a:srgbClr val="0000FF"/>
                </a:solidFill>
              </a:rPr>
              <a:t>Usually:</a:t>
            </a:r>
            <a:r>
              <a:rPr lang="en-US" b="1">
                <a:solidFill>
                  <a:schemeClr val="accent3"/>
                </a:solidFill>
              </a:rPr>
              <a:t> </a:t>
            </a:r>
          </a:p>
          <a:p>
            <a:pPr lvl="1"/>
            <a:r>
              <a:rPr lang="en-US"/>
              <a:t>Points are in a high-dimensional space</a:t>
            </a:r>
          </a:p>
          <a:p>
            <a:pPr lvl="1"/>
            <a:r>
              <a:rPr lang="en-US"/>
              <a:t>Similarity is defined using a distance measure</a:t>
            </a:r>
          </a:p>
          <a:p>
            <a:pPr lvl="2"/>
            <a:r>
              <a:rPr lang="en-US"/>
              <a:t>Euclidean, Cosine, </a:t>
            </a:r>
            <a:r>
              <a:rPr lang="en-US" err="1"/>
              <a:t>Jaccard</a:t>
            </a:r>
            <a:r>
              <a:rPr lang="en-US"/>
              <a:t>, edit distance, …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</p:spTree>
    <p:extLst>
      <p:ext uri="{BB962C8B-B14F-4D97-AF65-F5344CB8AC3E}">
        <p14:creationId xmlns:p14="http://schemas.microsoft.com/office/powerpoint/2010/main" val="1882948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9B369-B151-4430-9438-ABF4A0FC75CB}" type="slidenum">
              <a:rPr lang="en-US"/>
              <a:pPr/>
              <a:t>3</a:t>
            </a:fld>
            <a:endParaRPr lang="en-US"/>
          </a:p>
        </p:txBody>
      </p:sp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Clusters &amp; Outliers</a:t>
            </a:r>
          </a:p>
        </p:txBody>
      </p:sp>
      <p:sp>
        <p:nvSpPr>
          <p:cNvPr id="90115" name="Oval 3"/>
          <p:cNvSpPr>
            <a:spLocks noChangeArrowheads="1"/>
          </p:cNvSpPr>
          <p:nvPr/>
        </p:nvSpPr>
        <p:spPr bwMode="auto">
          <a:xfrm>
            <a:off x="2743200" y="2286000"/>
            <a:ext cx="1828800" cy="22860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charset="0"/>
              </a:rPr>
              <a:t>x        x</a:t>
            </a:r>
          </a:p>
          <a:p>
            <a:pPr algn="ctr"/>
            <a:r>
              <a:rPr lang="en-US">
                <a:latin typeface="Times New Roman" charset="0"/>
              </a:rPr>
              <a:t>x  x      x  x</a:t>
            </a:r>
          </a:p>
          <a:p>
            <a:pPr algn="ctr"/>
            <a:r>
              <a:rPr lang="en-US">
                <a:latin typeface="Times New Roman" charset="0"/>
              </a:rPr>
              <a:t>x   x x  x     </a:t>
            </a:r>
          </a:p>
          <a:p>
            <a:pPr algn="ctr"/>
            <a:r>
              <a:rPr lang="en-US">
                <a:latin typeface="Times New Roman" charset="0"/>
              </a:rPr>
              <a:t>x     x  x</a:t>
            </a:r>
          </a:p>
          <a:p>
            <a:pPr algn="ctr"/>
            <a:r>
              <a:rPr lang="en-US">
                <a:latin typeface="Times New Roman" charset="0"/>
              </a:rPr>
              <a:t>x   x</a:t>
            </a:r>
          </a:p>
        </p:txBody>
      </p:sp>
      <p:sp>
        <p:nvSpPr>
          <p:cNvPr id="90116" name="Oval 4"/>
          <p:cNvSpPr>
            <a:spLocks noChangeArrowheads="1"/>
          </p:cNvSpPr>
          <p:nvPr/>
        </p:nvSpPr>
        <p:spPr bwMode="auto">
          <a:xfrm>
            <a:off x="5486400" y="1524000"/>
            <a:ext cx="1752600" cy="2819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charset="0"/>
              </a:rPr>
              <a:t>x</a:t>
            </a:r>
          </a:p>
          <a:p>
            <a:pPr algn="ctr"/>
            <a:r>
              <a:rPr lang="en-US">
                <a:latin typeface="Times New Roman" charset="0"/>
              </a:rPr>
              <a:t>xx    x</a:t>
            </a:r>
          </a:p>
          <a:p>
            <a:pPr algn="ctr"/>
            <a:r>
              <a:rPr lang="en-US">
                <a:latin typeface="Times New Roman" charset="0"/>
              </a:rPr>
              <a:t>x  x        </a:t>
            </a:r>
          </a:p>
          <a:p>
            <a:pPr algn="ctr"/>
            <a:r>
              <a:rPr lang="en-US">
                <a:latin typeface="Times New Roman" charset="0"/>
              </a:rPr>
              <a:t>x    x  x   </a:t>
            </a:r>
          </a:p>
          <a:p>
            <a:pPr algn="ctr"/>
            <a:r>
              <a:rPr lang="en-US">
                <a:latin typeface="Times New Roman" charset="0"/>
              </a:rPr>
              <a:t>x</a:t>
            </a:r>
          </a:p>
          <a:p>
            <a:pPr algn="ctr"/>
            <a:r>
              <a:rPr lang="en-US">
                <a:latin typeface="Times New Roman" charset="0"/>
              </a:rPr>
              <a:t>x x   x</a:t>
            </a:r>
          </a:p>
          <a:p>
            <a:pPr algn="ctr"/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90117" name="Oval 5"/>
          <p:cNvSpPr>
            <a:spLocks noChangeArrowheads="1"/>
          </p:cNvSpPr>
          <p:nvPr/>
        </p:nvSpPr>
        <p:spPr bwMode="auto">
          <a:xfrm>
            <a:off x="4572000" y="4648200"/>
            <a:ext cx="1905000" cy="16002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charset="0"/>
              </a:rPr>
              <a:t>     x   x</a:t>
            </a:r>
          </a:p>
          <a:p>
            <a:pPr algn="ctr"/>
            <a:r>
              <a:rPr lang="en-US">
                <a:latin typeface="Times New Roman" charset="0"/>
              </a:rPr>
              <a:t>x  x    x    x</a:t>
            </a:r>
          </a:p>
          <a:p>
            <a:pPr algn="ctr"/>
            <a:r>
              <a:rPr lang="en-US">
                <a:latin typeface="Times New Roman" charset="0"/>
              </a:rPr>
              <a:t>  x    x     x</a:t>
            </a:r>
          </a:p>
          <a:p>
            <a:pPr algn="ctr"/>
            <a:r>
              <a:rPr lang="en-US">
                <a:latin typeface="Times New Roman" charset="0"/>
              </a:rPr>
              <a:t>x  </a:t>
            </a:r>
          </a:p>
        </p:txBody>
      </p:sp>
      <p:sp>
        <p:nvSpPr>
          <p:cNvPr id="90118" name="Text Box 6"/>
          <p:cNvSpPr txBox="1">
            <a:spLocks noChangeArrowheads="1"/>
          </p:cNvSpPr>
          <p:nvPr/>
        </p:nvSpPr>
        <p:spPr bwMode="auto">
          <a:xfrm>
            <a:off x="5013325" y="1717675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90119" name="Text Box 7"/>
          <p:cNvSpPr txBox="1">
            <a:spLocks noChangeArrowheads="1"/>
          </p:cNvSpPr>
          <p:nvPr/>
        </p:nvSpPr>
        <p:spPr bwMode="auto">
          <a:xfrm>
            <a:off x="3641725" y="4918075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14" name="Oval 3"/>
          <p:cNvSpPr>
            <a:spLocks noChangeArrowheads="1"/>
          </p:cNvSpPr>
          <p:nvPr/>
        </p:nvSpPr>
        <p:spPr bwMode="auto">
          <a:xfrm>
            <a:off x="2743200" y="2286000"/>
            <a:ext cx="1828800" cy="2286000"/>
          </a:xfrm>
          <a:prstGeom prst="ellipse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charset="0"/>
              </a:rPr>
              <a:t>x        x</a:t>
            </a:r>
          </a:p>
          <a:p>
            <a:pPr algn="ctr"/>
            <a:r>
              <a:rPr lang="en-US">
                <a:latin typeface="Times New Roman" charset="0"/>
              </a:rPr>
              <a:t>x  x      x  x</a:t>
            </a:r>
          </a:p>
          <a:p>
            <a:pPr algn="ctr"/>
            <a:r>
              <a:rPr lang="en-US">
                <a:latin typeface="Times New Roman" charset="0"/>
              </a:rPr>
              <a:t>x   x x  x     </a:t>
            </a:r>
          </a:p>
          <a:p>
            <a:pPr algn="ctr"/>
            <a:r>
              <a:rPr lang="en-US">
                <a:latin typeface="Times New Roman" charset="0"/>
              </a:rPr>
              <a:t>x     x  x</a:t>
            </a:r>
          </a:p>
          <a:p>
            <a:pPr algn="ctr"/>
            <a:r>
              <a:rPr lang="en-US">
                <a:latin typeface="Times New Roman" charset="0"/>
              </a:rPr>
              <a:t>x   x</a:t>
            </a:r>
          </a:p>
        </p:txBody>
      </p:sp>
      <p:sp>
        <p:nvSpPr>
          <p:cNvPr id="15" name="Oval 4"/>
          <p:cNvSpPr>
            <a:spLocks noChangeArrowheads="1"/>
          </p:cNvSpPr>
          <p:nvPr/>
        </p:nvSpPr>
        <p:spPr bwMode="auto">
          <a:xfrm>
            <a:off x="5486400" y="1524000"/>
            <a:ext cx="1752600" cy="2819400"/>
          </a:xfrm>
          <a:prstGeom prst="ellipse">
            <a:avLst/>
          </a:prstGeom>
          <a:solidFill>
            <a:srgbClr val="80800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charset="0"/>
              </a:rPr>
              <a:t>x</a:t>
            </a:r>
          </a:p>
          <a:p>
            <a:pPr algn="ctr"/>
            <a:r>
              <a:rPr lang="en-US">
                <a:latin typeface="Times New Roman" charset="0"/>
              </a:rPr>
              <a:t>xx    x</a:t>
            </a:r>
          </a:p>
          <a:p>
            <a:pPr algn="ctr"/>
            <a:r>
              <a:rPr lang="en-US">
                <a:latin typeface="Times New Roman" charset="0"/>
              </a:rPr>
              <a:t>x  </a:t>
            </a:r>
            <a:r>
              <a:rPr lang="en-US" err="1">
                <a:latin typeface="Times New Roman" charset="0"/>
              </a:rPr>
              <a:t>x</a:t>
            </a:r>
            <a:r>
              <a:rPr lang="en-US">
                <a:latin typeface="Times New Roman" charset="0"/>
              </a:rPr>
              <a:t>        </a:t>
            </a:r>
          </a:p>
          <a:p>
            <a:pPr algn="ctr"/>
            <a:r>
              <a:rPr lang="en-US">
                <a:latin typeface="Times New Roman" charset="0"/>
              </a:rPr>
              <a:t>x    </a:t>
            </a:r>
            <a:r>
              <a:rPr lang="en-US" err="1">
                <a:latin typeface="Times New Roman" charset="0"/>
              </a:rPr>
              <a:t>x</a:t>
            </a:r>
            <a:r>
              <a:rPr lang="en-US">
                <a:latin typeface="Times New Roman" charset="0"/>
              </a:rPr>
              <a:t>  </a:t>
            </a:r>
            <a:r>
              <a:rPr lang="en-US" err="1">
                <a:latin typeface="Times New Roman" charset="0"/>
              </a:rPr>
              <a:t>x</a:t>
            </a:r>
            <a:r>
              <a:rPr lang="en-US">
                <a:latin typeface="Times New Roman" charset="0"/>
              </a:rPr>
              <a:t>   </a:t>
            </a:r>
          </a:p>
          <a:p>
            <a:pPr algn="ctr"/>
            <a:r>
              <a:rPr lang="en-US">
                <a:latin typeface="Times New Roman" charset="0"/>
              </a:rPr>
              <a:t>x</a:t>
            </a:r>
          </a:p>
          <a:p>
            <a:pPr algn="ctr"/>
            <a:r>
              <a:rPr lang="en-US">
                <a:latin typeface="Times New Roman" charset="0"/>
              </a:rPr>
              <a:t>x </a:t>
            </a:r>
            <a:r>
              <a:rPr lang="en-US" err="1">
                <a:latin typeface="Times New Roman" charset="0"/>
              </a:rPr>
              <a:t>x</a:t>
            </a:r>
            <a:r>
              <a:rPr lang="en-US">
                <a:latin typeface="Times New Roman" charset="0"/>
              </a:rPr>
              <a:t>   </a:t>
            </a:r>
            <a:r>
              <a:rPr lang="en-US" err="1">
                <a:latin typeface="Times New Roman" charset="0"/>
              </a:rPr>
              <a:t>x</a:t>
            </a:r>
            <a:endParaRPr lang="en-US">
              <a:latin typeface="Times New Roman" charset="0"/>
            </a:endParaRPr>
          </a:p>
          <a:p>
            <a:pPr algn="ctr"/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16" name="Oval 5"/>
          <p:cNvSpPr>
            <a:spLocks noChangeArrowheads="1"/>
          </p:cNvSpPr>
          <p:nvPr/>
        </p:nvSpPr>
        <p:spPr bwMode="auto">
          <a:xfrm>
            <a:off x="4572000" y="4648200"/>
            <a:ext cx="1905000" cy="1600200"/>
          </a:xfrm>
          <a:prstGeom prst="ellipse">
            <a:avLst/>
          </a:prstGeom>
          <a:solidFill>
            <a:srgbClr val="FFFF00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charset="0"/>
              </a:rPr>
              <a:t>     x   x</a:t>
            </a:r>
          </a:p>
          <a:p>
            <a:pPr algn="ctr"/>
            <a:r>
              <a:rPr lang="en-US">
                <a:latin typeface="Times New Roman" charset="0"/>
              </a:rPr>
              <a:t>x  x    x    x</a:t>
            </a:r>
          </a:p>
          <a:p>
            <a:pPr algn="ctr"/>
            <a:r>
              <a:rPr lang="en-US">
                <a:latin typeface="Times New Roman" charset="0"/>
              </a:rPr>
              <a:t>  x    x     x</a:t>
            </a:r>
          </a:p>
          <a:p>
            <a:pPr algn="ctr"/>
            <a:r>
              <a:rPr lang="en-US">
                <a:latin typeface="Times New Roman" charset="0"/>
              </a:rPr>
              <a:t>x  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2971800" y="5257800"/>
            <a:ext cx="669925" cy="685800"/>
          </a:xfrm>
          <a:prstGeom prst="straightConnector1">
            <a:avLst/>
          </a:prstGeom>
          <a:ln w="28575">
            <a:solidFill>
              <a:srgbClr val="008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488461" y="5943600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Outlier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H="1" flipV="1">
            <a:off x="6553200" y="5600700"/>
            <a:ext cx="825947" cy="342900"/>
          </a:xfrm>
          <a:prstGeom prst="straightConnector1">
            <a:avLst/>
          </a:prstGeom>
          <a:ln w="28575">
            <a:solidFill>
              <a:srgbClr val="008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010400" y="5879068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Cluster</a:t>
            </a:r>
          </a:p>
        </p:txBody>
      </p:sp>
    </p:spTree>
    <p:extLst>
      <p:ext uri="{BB962C8B-B14F-4D97-AF65-F5344CB8AC3E}">
        <p14:creationId xmlns:p14="http://schemas.microsoft.com/office/powerpoint/2010/main" val="2408118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Clustering is a hard problem!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8" name="Picture 2" descr="http://tagc.univ-mrs.fr/tagc/images/dputhier/tb2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0" r="3893"/>
          <a:stretch/>
        </p:blipFill>
        <p:spPr bwMode="auto">
          <a:xfrm rot="16200000">
            <a:off x="1779308" y="735293"/>
            <a:ext cx="5562599" cy="6378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27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830CD-E0C7-4991-8DD6-1C56C1764778}" type="slidenum">
              <a:rPr lang="en-US"/>
              <a:pPr/>
              <a:t>5</a:t>
            </a:fld>
            <a:endParaRPr lang="en-US"/>
          </a:p>
        </p:txBody>
      </p:sp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is it hard?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481060" cy="5257801"/>
          </a:xfrm>
        </p:spPr>
        <p:txBody>
          <a:bodyPr/>
          <a:lstStyle/>
          <a:p>
            <a:r>
              <a:rPr lang="en-US" dirty="0"/>
              <a:t>Clustering in two dimensions looks easy</a:t>
            </a:r>
          </a:p>
          <a:p>
            <a:r>
              <a:rPr lang="en-US" dirty="0"/>
              <a:t>Clustering small amounts of data looks easy</a:t>
            </a:r>
          </a:p>
          <a:p>
            <a:endParaRPr lang="en-US" dirty="0"/>
          </a:p>
          <a:p>
            <a:pPr marL="118872" indent="0">
              <a:buNone/>
            </a:pPr>
            <a:endParaRPr lang="en-US" dirty="0"/>
          </a:p>
          <a:p>
            <a:r>
              <a:rPr lang="en-US" dirty="0"/>
              <a:t>Many applications involve not 2, but 10 or 10,000 dimensions</a:t>
            </a:r>
          </a:p>
          <a:p>
            <a:r>
              <a:rPr lang="en-US" b="1" dirty="0">
                <a:solidFill>
                  <a:srgbClr val="0000FF"/>
                </a:solidFill>
              </a:rPr>
              <a:t>High-dimensional spaces look different: </a:t>
            </a:r>
            <a:r>
              <a:rPr lang="en-US" dirty="0"/>
              <a:t>Almost all pairs of points are very far from each other --&gt; </a:t>
            </a:r>
            <a:r>
              <a:rPr lang="en-US" altLang="en-US" b="1" u="sng" dirty="0">
                <a:solidFill>
                  <a:srgbClr val="D60093"/>
                </a:solidFill>
              </a:rPr>
              <a:t>The Curse of Dimensionality!</a:t>
            </a:r>
            <a:endParaRPr lang="en-US" b="1" u="sng" dirty="0">
              <a:solidFill>
                <a:srgbClr val="D60093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</p:spTree>
    <p:extLst>
      <p:ext uri="{BB962C8B-B14F-4D97-AF65-F5344CB8AC3E}">
        <p14:creationId xmlns:p14="http://schemas.microsoft.com/office/powerpoint/2010/main" val="2099878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 uiExpand="1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29C3C-B3FC-4FA1-B456-3550CB5835C0}" type="slidenum">
              <a:rPr lang="en-US"/>
              <a:pPr/>
              <a:t>6</a:t>
            </a:fld>
            <a:endParaRPr lang="en-US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Overview: Clustering Strategies (1)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18872" indent="0">
              <a:buNone/>
            </a:pPr>
            <a:r>
              <a:rPr lang="en-US" dirty="0"/>
              <a:t>Two group of methods:</a:t>
            </a:r>
          </a:p>
          <a:p>
            <a:r>
              <a:rPr lang="en-US" b="1" dirty="0">
                <a:solidFill>
                  <a:srgbClr val="008000"/>
                </a:solidFill>
              </a:rPr>
              <a:t>Hierarchical:</a:t>
            </a:r>
          </a:p>
          <a:p>
            <a:pPr lvl="1"/>
            <a:r>
              <a:rPr lang="en-US" b="1" dirty="0">
                <a:solidFill>
                  <a:srgbClr val="D60093"/>
                </a:solidFill>
              </a:rPr>
              <a:t>Agglomerative</a:t>
            </a:r>
            <a:r>
              <a:rPr lang="en-US" dirty="0">
                <a:solidFill>
                  <a:srgbClr val="D60093"/>
                </a:solidFill>
              </a:rPr>
              <a:t> </a:t>
            </a:r>
            <a:r>
              <a:rPr lang="en-US" dirty="0"/>
              <a:t>(bottom up):</a:t>
            </a:r>
          </a:p>
          <a:p>
            <a:pPr lvl="2"/>
            <a:r>
              <a:rPr lang="en-US" dirty="0"/>
              <a:t>Initially, each point is a cluster</a:t>
            </a:r>
          </a:p>
          <a:p>
            <a:pPr lvl="2"/>
            <a:r>
              <a:rPr lang="en-US" dirty="0"/>
              <a:t>Repeatedly combine the two </a:t>
            </a:r>
            <a:br>
              <a:rPr lang="en-US" dirty="0"/>
            </a:br>
            <a:r>
              <a:rPr lang="en-US" dirty="0"/>
              <a:t>“nearest” clusters into one</a:t>
            </a:r>
          </a:p>
          <a:p>
            <a:pPr lvl="1"/>
            <a:r>
              <a:rPr lang="en-US" b="1" dirty="0">
                <a:solidFill>
                  <a:srgbClr val="D60093"/>
                </a:solidFill>
              </a:rPr>
              <a:t>Divisive</a:t>
            </a:r>
            <a:r>
              <a:rPr lang="en-US" dirty="0">
                <a:solidFill>
                  <a:srgbClr val="D60093"/>
                </a:solidFill>
              </a:rPr>
              <a:t> </a:t>
            </a:r>
            <a:r>
              <a:rPr lang="en-US" dirty="0"/>
              <a:t>(top down):</a:t>
            </a:r>
          </a:p>
          <a:p>
            <a:pPr lvl="2"/>
            <a:r>
              <a:rPr lang="en-US" dirty="0"/>
              <a:t>Start with one cluster and recursively split it</a:t>
            </a:r>
          </a:p>
          <a:p>
            <a:pPr lvl="8"/>
            <a:endParaRPr lang="en-US" dirty="0"/>
          </a:p>
          <a:p>
            <a:r>
              <a:rPr lang="en-US" b="1" dirty="0">
                <a:solidFill>
                  <a:srgbClr val="008000"/>
                </a:solidFill>
              </a:rPr>
              <a:t>Point assignment:</a:t>
            </a:r>
          </a:p>
          <a:p>
            <a:pPr lvl="1"/>
            <a:r>
              <a:rPr lang="en-US" dirty="0"/>
              <a:t>Maintain a set of clusters</a:t>
            </a:r>
          </a:p>
          <a:p>
            <a:pPr lvl="1"/>
            <a:r>
              <a:rPr lang="en-US" dirty="0"/>
              <a:t>Points belong to the “nearest” cluster</a:t>
            </a:r>
          </a:p>
        </p:txBody>
      </p:sp>
      <p:pic>
        <p:nvPicPr>
          <p:cNvPr id="40964" name="Picture 4" descr="http://www.mathworks.com/help/toolbox/stats/dendrogram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86924" y="1752600"/>
            <a:ext cx="3680876" cy="2209800"/>
          </a:xfrm>
          <a:prstGeom prst="rect">
            <a:avLst/>
          </a:prstGeom>
          <a:noFill/>
        </p:spPr>
      </p:pic>
      <p:pic>
        <p:nvPicPr>
          <p:cNvPr id="40966" name="Picture 6" descr="http://www.ima.umn.edu/~iwen/REU/2Ddat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1800" y="4827709"/>
            <a:ext cx="2325008" cy="1877891"/>
          </a:xfrm>
          <a:prstGeom prst="rect">
            <a:avLst/>
          </a:prstGeom>
          <a:noFill/>
        </p:spPr>
      </p:pic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</p:spTree>
    <p:extLst>
      <p:ext uri="{BB962C8B-B14F-4D97-AF65-F5344CB8AC3E}">
        <p14:creationId xmlns:p14="http://schemas.microsoft.com/office/powerpoint/2010/main" val="4290485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CED87-94D3-4F41-B6CB-FA0211BA7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Euclidean:</a:t>
            </a:r>
          </a:p>
          <a:p>
            <a:pPr lvl="1"/>
            <a:r>
              <a:rPr lang="en-US" dirty="0"/>
              <a:t>Points are vectors of real numbers, i.e. coordinates</a:t>
            </a:r>
          </a:p>
          <a:p>
            <a:pPr lvl="1"/>
            <a:r>
              <a:rPr lang="en-US" dirty="0"/>
              <a:t>It is possible to summarize a collection of points as their average. We call it </a:t>
            </a:r>
            <a:r>
              <a:rPr lang="en-US" i="1" dirty="0"/>
              <a:t>centroid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Distance measure: L2 norm, L1 norm</a:t>
            </a:r>
          </a:p>
          <a:p>
            <a:r>
              <a:rPr lang="en-US" dirty="0"/>
              <a:t>In non-Euclidean:</a:t>
            </a:r>
          </a:p>
          <a:p>
            <a:pPr lvl="1"/>
            <a:r>
              <a:rPr lang="en-US" dirty="0"/>
              <a:t>There is no notion of location, and centroid</a:t>
            </a:r>
          </a:p>
          <a:p>
            <a:pPr lvl="1"/>
            <a:r>
              <a:rPr lang="en-US" dirty="0"/>
              <a:t>We summarize a collection of points differently</a:t>
            </a:r>
          </a:p>
          <a:p>
            <a:pPr lvl="1"/>
            <a:r>
              <a:rPr lang="en-US" dirty="0"/>
              <a:t>Distance measures: Jaccard, Hamming, cosine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73132-2C60-0743-8486-3C7994CF7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4418D-32AA-434F-BD8B-7B6678B1A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0CFD0-E064-E44D-8F6B-0D993B3EB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FB5434B-8669-0C4D-A5BA-72548AA27A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87552"/>
          </a:xfrm>
        </p:spPr>
        <p:txBody>
          <a:bodyPr>
            <a:normAutofit fontScale="90000"/>
          </a:bodyPr>
          <a:lstStyle/>
          <a:p>
            <a:r>
              <a:rPr lang="en-US" dirty="0"/>
              <a:t>Overview: Clustering Strategies (2)</a:t>
            </a:r>
          </a:p>
        </p:txBody>
      </p:sp>
    </p:spTree>
    <p:extLst>
      <p:ext uri="{BB962C8B-B14F-4D97-AF65-F5344CB8AC3E}">
        <p14:creationId xmlns:p14="http://schemas.microsoft.com/office/powerpoint/2010/main" val="2257586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B95F9-3BE3-B84F-97F9-F168DAC39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 the data fit in memory or does it reside on disk?</a:t>
            </a:r>
          </a:p>
          <a:p>
            <a:pPr lvl="1"/>
            <a:r>
              <a:rPr lang="en-US" dirty="0"/>
              <a:t>In-memory clustering is more straightforward</a:t>
            </a:r>
          </a:p>
          <a:p>
            <a:pPr lvl="2"/>
            <a:r>
              <a:rPr lang="en-US" dirty="0"/>
              <a:t>Example: K-means</a:t>
            </a:r>
          </a:p>
          <a:p>
            <a:pPr marL="768096" lvl="2" indent="0">
              <a:buNone/>
            </a:pPr>
            <a:endParaRPr lang="en-US" dirty="0"/>
          </a:p>
          <a:p>
            <a:pPr lvl="1"/>
            <a:r>
              <a:rPr lang="en-US" dirty="0"/>
              <a:t>Large-data clustering requires loading one batch of data at a time, cluster them in memory and keep summaries of clusters</a:t>
            </a:r>
          </a:p>
          <a:p>
            <a:pPr lvl="2"/>
            <a:r>
              <a:rPr lang="en-US" dirty="0"/>
              <a:t>Example: BFR, CURE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F3774-BCAA-FB49-B8E6-2F11B0004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B6F77-5382-AE40-9C6D-2DB94CFA9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C07AA-6BD0-D844-865D-16FD64634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B8F1E82C-68D0-5D4A-9D1E-4453404226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87552"/>
          </a:xfrm>
        </p:spPr>
        <p:txBody>
          <a:bodyPr>
            <a:normAutofit fontScale="90000"/>
          </a:bodyPr>
          <a:lstStyle/>
          <a:p>
            <a:r>
              <a:rPr lang="en-US" dirty="0"/>
              <a:t>Overview: Clustering Strategies (3)</a:t>
            </a:r>
          </a:p>
        </p:txBody>
      </p:sp>
    </p:spTree>
    <p:extLst>
      <p:ext uri="{BB962C8B-B14F-4D97-AF65-F5344CB8AC3E}">
        <p14:creationId xmlns:p14="http://schemas.microsoft.com/office/powerpoint/2010/main" val="2915249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vs point-assignment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4698305" cy="5257801"/>
          </a:xfrm>
        </p:spPr>
        <p:txBody>
          <a:bodyPr/>
          <a:lstStyle/>
          <a:p>
            <a:r>
              <a:rPr lang="en-US" b="1" dirty="0"/>
              <a:t>Point assignment good when clusters are nice, convex shapes:</a:t>
            </a:r>
          </a:p>
          <a:p>
            <a:pPr lvl="7"/>
            <a:endParaRPr lang="en-US" dirty="0"/>
          </a:p>
          <a:p>
            <a:r>
              <a:rPr lang="en-US" b="1" dirty="0"/>
              <a:t>Hierarchical can win when shapes are weird:</a:t>
            </a:r>
          </a:p>
          <a:p>
            <a:pPr lvl="1"/>
            <a:r>
              <a:rPr lang="en-US" dirty="0"/>
              <a:t>Note both clusters have essentially the same centroid.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66599-523B-4641-9CCC-17D83CD935ED}" type="slidenum">
              <a:rPr lang="en-GB" smtClean="0"/>
              <a:pPr/>
              <a:t>9</a:t>
            </a:fld>
            <a:endParaRPr lang="en-GB"/>
          </a:p>
        </p:txBody>
      </p:sp>
      <p:grpSp>
        <p:nvGrpSpPr>
          <p:cNvPr id="22" name="Group 21"/>
          <p:cNvGrpSpPr/>
          <p:nvPr/>
        </p:nvGrpSpPr>
        <p:grpSpPr>
          <a:xfrm>
            <a:off x="5334000" y="1676400"/>
            <a:ext cx="3581400" cy="1125255"/>
            <a:chOff x="5517716" y="2040177"/>
            <a:chExt cx="2961361" cy="1125255"/>
          </a:xfrm>
        </p:grpSpPr>
        <p:sp>
          <p:nvSpPr>
            <p:cNvPr id="6" name="Oval 5"/>
            <p:cNvSpPr/>
            <p:nvPr/>
          </p:nvSpPr>
          <p:spPr>
            <a:xfrm>
              <a:off x="5517716" y="2286000"/>
              <a:ext cx="152400" cy="228600"/>
            </a:xfrm>
            <a:prstGeom prst="ellipse">
              <a:avLst/>
            </a:prstGeom>
            <a:solidFill>
              <a:schemeClr val="accent3"/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5966566" y="2056878"/>
              <a:ext cx="152400" cy="228600"/>
            </a:xfrm>
            <a:prstGeom prst="ellipse">
              <a:avLst/>
            </a:prstGeom>
            <a:solidFill>
              <a:schemeClr val="accent3"/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5822516" y="2349152"/>
              <a:ext cx="152400" cy="228600"/>
            </a:xfrm>
            <a:prstGeom prst="ellipse">
              <a:avLst/>
            </a:prstGeom>
            <a:solidFill>
              <a:schemeClr val="accent3"/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6203516" y="2350718"/>
              <a:ext cx="152400" cy="228600"/>
            </a:xfrm>
            <a:prstGeom prst="ellipse">
              <a:avLst/>
            </a:prstGeom>
            <a:solidFill>
              <a:schemeClr val="accent3"/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670116" y="2708232"/>
              <a:ext cx="152400" cy="228600"/>
            </a:xfrm>
            <a:prstGeom prst="ellipse">
              <a:avLst/>
            </a:prstGeom>
            <a:solidFill>
              <a:schemeClr val="accent3"/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5974916" y="2612721"/>
              <a:ext cx="152400" cy="228600"/>
            </a:xfrm>
            <a:prstGeom prst="ellipse">
              <a:avLst/>
            </a:prstGeom>
            <a:solidFill>
              <a:schemeClr val="accent3"/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6288066" y="2612721"/>
              <a:ext cx="152400" cy="228600"/>
            </a:xfrm>
            <a:prstGeom prst="ellipse">
              <a:avLst/>
            </a:prstGeom>
            <a:solidFill>
              <a:schemeClr val="accent3"/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5983266" y="2936832"/>
              <a:ext cx="152400" cy="228600"/>
            </a:xfrm>
            <a:prstGeom prst="ellipse">
              <a:avLst/>
            </a:prstGeom>
            <a:solidFill>
              <a:schemeClr val="accent3"/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6508316" y="2056878"/>
              <a:ext cx="152400" cy="228600"/>
            </a:xfrm>
            <a:prstGeom prst="ellipse">
              <a:avLst/>
            </a:prstGeom>
            <a:solidFill>
              <a:schemeClr val="accent3"/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7924800" y="2363766"/>
              <a:ext cx="152400" cy="228600"/>
            </a:xfrm>
            <a:prstGeom prst="ellipse">
              <a:avLst/>
            </a:prstGeom>
            <a:solidFill>
              <a:schemeClr val="accent2"/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8077200" y="2516166"/>
              <a:ext cx="152400" cy="228600"/>
            </a:xfrm>
            <a:prstGeom prst="ellipse">
              <a:avLst/>
            </a:prstGeom>
            <a:solidFill>
              <a:schemeClr val="accent2"/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326677" y="2349152"/>
              <a:ext cx="152400" cy="228600"/>
            </a:xfrm>
            <a:prstGeom prst="ellipse">
              <a:avLst/>
            </a:prstGeom>
            <a:solidFill>
              <a:schemeClr val="accent2"/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7847556" y="2062098"/>
              <a:ext cx="152400" cy="228600"/>
            </a:xfrm>
            <a:prstGeom prst="ellipse">
              <a:avLst/>
            </a:prstGeom>
            <a:solidFill>
              <a:schemeClr val="accent2"/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7771356" y="2636729"/>
              <a:ext cx="152400" cy="228600"/>
            </a:xfrm>
            <a:prstGeom prst="ellipse">
              <a:avLst/>
            </a:prstGeom>
            <a:solidFill>
              <a:schemeClr val="accent2"/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8224381" y="2040177"/>
              <a:ext cx="152400" cy="228600"/>
            </a:xfrm>
            <a:prstGeom prst="ellipse">
              <a:avLst/>
            </a:prstGeom>
            <a:solidFill>
              <a:schemeClr val="accent2"/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5455936" y="4052170"/>
            <a:ext cx="3535664" cy="2196230"/>
            <a:chOff x="5486400" y="3671170"/>
            <a:chExt cx="2865327" cy="2196230"/>
          </a:xfrm>
        </p:grpSpPr>
        <p:grpSp>
          <p:nvGrpSpPr>
            <p:cNvPr id="43" name="Group 42"/>
            <p:cNvGrpSpPr/>
            <p:nvPr/>
          </p:nvGrpSpPr>
          <p:grpSpPr>
            <a:xfrm>
              <a:off x="5486400" y="3671170"/>
              <a:ext cx="2865327" cy="2179532"/>
              <a:chOff x="5486400" y="3671170"/>
              <a:chExt cx="2865327" cy="2179532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5486400" y="4103840"/>
                <a:ext cx="152400" cy="228600"/>
              </a:xfrm>
              <a:prstGeom prst="ellipse">
                <a:avLst/>
              </a:prstGeom>
              <a:solidFill>
                <a:schemeClr val="accent1"/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5935250" y="3874718"/>
                <a:ext cx="152400" cy="228600"/>
              </a:xfrm>
              <a:prstGeom prst="ellipse">
                <a:avLst/>
              </a:prstGeom>
              <a:solidFill>
                <a:schemeClr val="accent1"/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7380961" y="3747368"/>
                <a:ext cx="152400" cy="228600"/>
              </a:xfrm>
              <a:prstGeom prst="ellipse">
                <a:avLst/>
              </a:prstGeom>
              <a:solidFill>
                <a:schemeClr val="accent1"/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6611131" y="5622102"/>
                <a:ext cx="152400" cy="228600"/>
              </a:xfrm>
              <a:prstGeom prst="ellipse">
                <a:avLst/>
              </a:prstGeom>
              <a:solidFill>
                <a:schemeClr val="accent1"/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5638800" y="4496847"/>
                <a:ext cx="152400" cy="228600"/>
              </a:xfrm>
              <a:prstGeom prst="ellipse">
                <a:avLst/>
              </a:prstGeom>
              <a:solidFill>
                <a:schemeClr val="accent1"/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7776574" y="5429514"/>
                <a:ext cx="152400" cy="228600"/>
              </a:xfrm>
              <a:prstGeom prst="ellipse">
                <a:avLst/>
              </a:prstGeom>
              <a:solidFill>
                <a:schemeClr val="accent1"/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7896093" y="5012502"/>
                <a:ext cx="152400" cy="228600"/>
              </a:xfrm>
              <a:prstGeom prst="ellipse">
                <a:avLst/>
              </a:prstGeom>
              <a:solidFill>
                <a:schemeClr val="accent1"/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5839216" y="5353314"/>
                <a:ext cx="152400" cy="228600"/>
              </a:xfrm>
              <a:prstGeom prst="ellipse">
                <a:avLst/>
              </a:prstGeom>
              <a:solidFill>
                <a:schemeClr val="accent1"/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6763531" y="3671170"/>
                <a:ext cx="152400" cy="228600"/>
              </a:xfrm>
              <a:prstGeom prst="ellipse">
                <a:avLst/>
              </a:prstGeom>
              <a:solidFill>
                <a:schemeClr val="accent1"/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6884618" y="4301645"/>
                <a:ext cx="152400" cy="228600"/>
              </a:xfrm>
              <a:prstGeom prst="ellipse">
                <a:avLst/>
              </a:prstGeom>
              <a:solidFill>
                <a:schemeClr val="accent4"/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/>
              <p:cNvSpPr/>
              <p:nvPr/>
            </p:nvSpPr>
            <p:spPr>
              <a:xfrm>
                <a:off x="6842865" y="4621582"/>
                <a:ext cx="152400" cy="228600"/>
              </a:xfrm>
              <a:prstGeom prst="ellipse">
                <a:avLst/>
              </a:prstGeom>
              <a:solidFill>
                <a:schemeClr val="accent4"/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7086600" y="4415945"/>
                <a:ext cx="152400" cy="228600"/>
              </a:xfrm>
              <a:prstGeom prst="ellipse">
                <a:avLst/>
              </a:prstGeom>
              <a:solidFill>
                <a:schemeClr val="accent4"/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6626269" y="4333483"/>
                <a:ext cx="152400" cy="228600"/>
              </a:xfrm>
              <a:prstGeom prst="ellipse">
                <a:avLst/>
              </a:prstGeom>
              <a:solidFill>
                <a:schemeClr val="accent4"/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6557898" y="4735882"/>
                <a:ext cx="152400" cy="228600"/>
              </a:xfrm>
              <a:prstGeom prst="ellipse">
                <a:avLst/>
              </a:prstGeom>
              <a:solidFill>
                <a:schemeClr val="accent4"/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Oval 37"/>
              <p:cNvSpPr/>
              <p:nvPr/>
            </p:nvSpPr>
            <p:spPr>
              <a:xfrm>
                <a:off x="7041716" y="4751017"/>
                <a:ext cx="152400" cy="228600"/>
              </a:xfrm>
              <a:prstGeom prst="ellipse">
                <a:avLst/>
              </a:prstGeom>
              <a:solidFill>
                <a:schemeClr val="accent4"/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7252047" y="5431602"/>
                <a:ext cx="152400" cy="228600"/>
              </a:xfrm>
              <a:prstGeom prst="ellipse">
                <a:avLst/>
              </a:prstGeom>
              <a:solidFill>
                <a:schemeClr val="accent1"/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8199327" y="4642984"/>
                <a:ext cx="152400" cy="228600"/>
              </a:xfrm>
              <a:prstGeom prst="ellipse">
                <a:avLst/>
              </a:prstGeom>
              <a:solidFill>
                <a:schemeClr val="accent1"/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6304766" y="5382542"/>
                <a:ext cx="152400" cy="228600"/>
              </a:xfrm>
              <a:prstGeom prst="ellipse">
                <a:avLst/>
              </a:prstGeom>
              <a:solidFill>
                <a:schemeClr val="accent1"/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/>
              <p:cNvSpPr/>
              <p:nvPr/>
            </p:nvSpPr>
            <p:spPr>
              <a:xfrm>
                <a:off x="7872606" y="4181086"/>
                <a:ext cx="152400" cy="228600"/>
              </a:xfrm>
              <a:prstGeom prst="ellipse">
                <a:avLst/>
              </a:prstGeom>
              <a:solidFill>
                <a:schemeClr val="accent1"/>
              </a:solidFill>
              <a:ln cmpd="sng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Oval 43"/>
            <p:cNvSpPr/>
            <p:nvPr/>
          </p:nvSpPr>
          <p:spPr>
            <a:xfrm>
              <a:off x="7053719" y="5638800"/>
              <a:ext cx="152400" cy="228600"/>
            </a:xfrm>
            <a:prstGeom prst="ellipse">
              <a:avLst/>
            </a:prstGeom>
            <a:solidFill>
              <a:schemeClr val="accent1"/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/>
            <p:cNvSpPr/>
            <p:nvPr/>
          </p:nvSpPr>
          <p:spPr>
            <a:xfrm>
              <a:off x="7746303" y="3907077"/>
              <a:ext cx="152400" cy="228600"/>
            </a:xfrm>
            <a:prstGeom prst="ellipse">
              <a:avLst/>
            </a:prstGeom>
            <a:solidFill>
              <a:schemeClr val="accent1"/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/>
            <p:cNvSpPr/>
            <p:nvPr/>
          </p:nvSpPr>
          <p:spPr>
            <a:xfrm>
              <a:off x="5763016" y="5020852"/>
              <a:ext cx="152400" cy="228600"/>
            </a:xfrm>
            <a:prstGeom prst="ellipse">
              <a:avLst/>
            </a:prstGeom>
            <a:solidFill>
              <a:schemeClr val="accent1"/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/>
            <p:cNvSpPr/>
            <p:nvPr/>
          </p:nvSpPr>
          <p:spPr>
            <a:xfrm>
              <a:off x="5487968" y="4871584"/>
              <a:ext cx="152400" cy="228600"/>
            </a:xfrm>
            <a:prstGeom prst="ellipse">
              <a:avLst/>
            </a:prstGeom>
            <a:solidFill>
              <a:schemeClr val="accent1"/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/>
            <p:cNvSpPr/>
            <p:nvPr/>
          </p:nvSpPr>
          <p:spPr>
            <a:xfrm>
              <a:off x="6508316" y="3792777"/>
              <a:ext cx="152400" cy="228600"/>
            </a:xfrm>
            <a:prstGeom prst="ellipse">
              <a:avLst/>
            </a:prstGeom>
            <a:solidFill>
              <a:schemeClr val="accent1"/>
            </a:solidFill>
            <a:ln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5F39CCE8-F250-C04B-B6E6-AD22D0DB1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49" name="Footer Placeholder 48">
            <a:extLst>
              <a:ext uri="{FF2B5EF4-FFF2-40B4-BE49-F238E27FC236}">
                <a16:creationId xmlns:a16="http://schemas.microsoft.com/office/drawing/2014/main" id="{9048C2BB-3DC0-6841-B662-9BB065CAE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</p:spTree>
    <p:extLst>
      <p:ext uri="{BB962C8B-B14F-4D97-AF65-F5344CB8AC3E}">
        <p14:creationId xmlns:p14="http://schemas.microsoft.com/office/powerpoint/2010/main" val="3622142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9F4199-6736-CF44-A5A4-C8E0651897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Hierarchical Clustering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71B8FBCB-2042-B344-906E-278DF64090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4" descr="http://www.mathworks.com/help/toolbox/stats/dendrogram.gif">
            <a:extLst>
              <a:ext uri="{FF2B5EF4-FFF2-40B4-BE49-F238E27FC236}">
                <a16:creationId xmlns:a16="http://schemas.microsoft.com/office/drawing/2014/main" id="{2FC4D5D3-5613-DF49-B713-C9A18BFFE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52760" y="274320"/>
            <a:ext cx="3985500" cy="23926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65589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Hierarchical Clustering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D60093"/>
                </a:solidFill>
              </a:rPr>
              <a:t>Key operation: </a:t>
            </a:r>
            <a:br>
              <a:rPr lang="en-US" b="1" dirty="0">
                <a:solidFill>
                  <a:schemeClr val="accent3"/>
                </a:solidFill>
              </a:rPr>
            </a:br>
            <a:r>
              <a:rPr lang="en-US" b="1" dirty="0"/>
              <a:t>Repeatedly merge two </a:t>
            </a:r>
          </a:p>
          <a:p>
            <a:pPr marL="118872" indent="0">
              <a:buNone/>
            </a:pPr>
            <a:r>
              <a:rPr lang="en-US" b="1" dirty="0"/>
              <a:t>   “</a:t>
            </a:r>
            <a:r>
              <a:rPr lang="en-US" b="1" i="1" dirty="0"/>
              <a:t>nearest”</a:t>
            </a:r>
            <a:r>
              <a:rPr lang="en-US" b="1" dirty="0"/>
              <a:t> clusters</a:t>
            </a:r>
          </a:p>
          <a:p>
            <a:pPr lvl="2"/>
            <a:endParaRPr lang="en-US" dirty="0"/>
          </a:p>
          <a:p>
            <a:r>
              <a:rPr lang="en-US" b="1" dirty="0">
                <a:solidFill>
                  <a:srgbClr val="0000FF"/>
                </a:solidFill>
              </a:rPr>
              <a:t>Three important questions:</a:t>
            </a:r>
          </a:p>
          <a:p>
            <a:pPr lvl="1"/>
            <a:r>
              <a:rPr lang="en-US" b="1" dirty="0"/>
              <a:t>1)</a:t>
            </a:r>
            <a:r>
              <a:rPr lang="en-US" dirty="0"/>
              <a:t> How to represent a cluster?</a:t>
            </a:r>
          </a:p>
          <a:p>
            <a:pPr lvl="1"/>
            <a:r>
              <a:rPr lang="en-US" b="1" dirty="0"/>
              <a:t>2)</a:t>
            </a:r>
            <a:r>
              <a:rPr lang="en-US" dirty="0"/>
              <a:t> How to determine the nearness of clusters?</a:t>
            </a:r>
          </a:p>
          <a:p>
            <a:pPr lvl="1"/>
            <a:r>
              <a:rPr lang="en-US" b="1" dirty="0"/>
              <a:t>3)</a:t>
            </a:r>
            <a:r>
              <a:rPr lang="en-US" dirty="0"/>
              <a:t> When to stop merging clusters?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5AAD7-AE9A-4B67-BF02-47A6EAD9A973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2" name="Picture 4" descr="http://www.mathworks.com/help/toolbox/stats/dendrogram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0" y="1218145"/>
            <a:ext cx="3048000" cy="18298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75275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Hierarchical Clustering: Euclidean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686800" cy="5410200"/>
          </a:xfrm>
        </p:spPr>
        <p:txBody>
          <a:bodyPr>
            <a:normAutofit/>
          </a:bodyPr>
          <a:lstStyle/>
          <a:p>
            <a:pPr marL="118872" indent="0">
              <a:buNone/>
            </a:pPr>
            <a:r>
              <a:rPr lang="en-US" b="1" dirty="0">
                <a:solidFill>
                  <a:srgbClr val="008000"/>
                </a:solidFill>
              </a:rPr>
              <a:t>In Euclidean case:</a:t>
            </a:r>
          </a:p>
          <a:p>
            <a:endParaRPr lang="en-US" b="1" dirty="0">
              <a:solidFill>
                <a:srgbClr val="008000"/>
              </a:solidFill>
            </a:endParaRPr>
          </a:p>
          <a:p>
            <a:r>
              <a:rPr lang="en-US" b="1" dirty="0">
                <a:solidFill>
                  <a:srgbClr val="0000FF"/>
                </a:solidFill>
              </a:rPr>
              <a:t>(1) How to represent a cluster of many points?</a:t>
            </a:r>
          </a:p>
          <a:p>
            <a:pPr lvl="1"/>
            <a:r>
              <a:rPr lang="en-US" dirty="0"/>
              <a:t>As we merge clusters, we represent the “location” of each cluster by its </a:t>
            </a:r>
          </a:p>
          <a:p>
            <a:pPr marL="457200" lvl="1" indent="0">
              <a:buNone/>
            </a:pPr>
            <a:r>
              <a:rPr lang="en-US" b="1" i="1" dirty="0">
                <a:solidFill>
                  <a:srgbClr val="FF0066"/>
                </a:solidFill>
              </a:rPr>
              <a:t>   centroid</a:t>
            </a:r>
            <a:r>
              <a:rPr lang="en-US" dirty="0">
                <a:solidFill>
                  <a:srgbClr val="FF0066"/>
                </a:solidFill>
              </a:rPr>
              <a:t> </a:t>
            </a:r>
            <a:r>
              <a:rPr lang="en-US" dirty="0"/>
              <a:t>= average of its (data)points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b="1" dirty="0">
                <a:solidFill>
                  <a:srgbClr val="0000FF"/>
                </a:solidFill>
              </a:rPr>
              <a:t>(2) How to determine the nearness of clusters?</a:t>
            </a:r>
          </a:p>
          <a:p>
            <a:pPr lvl="1"/>
            <a:r>
              <a:rPr lang="en-US" dirty="0"/>
              <a:t>Measure cluster distances by distances of centroids</a:t>
            </a:r>
          </a:p>
          <a:p>
            <a:pPr lvl="1"/>
            <a:r>
              <a:rPr lang="en-US" dirty="0"/>
              <a:t>Merge two clusters with the shortest distance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40D71-7600-4E70-9746-66CD11735245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244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B44CA-D531-47DB-9E33-B16569C64FBD}" type="slidenum">
              <a:rPr lang="en-US"/>
              <a:pPr/>
              <a:t>13</a:t>
            </a:fld>
            <a:endParaRPr lang="en-US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Hierarchical clustering</a:t>
            </a: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593725" y="1787525"/>
            <a:ext cx="5416868" cy="2585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					</a:t>
            </a:r>
            <a:r>
              <a:rPr lang="en-US">
                <a:solidFill>
                  <a:schemeClr val="accent3">
                    <a:lumMod val="75000"/>
                  </a:schemeClr>
                </a:solidFill>
              </a:rPr>
              <a:t>  </a:t>
            </a:r>
            <a:r>
              <a:rPr lang="en-US">
                <a:solidFill>
                  <a:schemeClr val="accent3">
                    <a:lumMod val="75000"/>
                  </a:schemeClr>
                </a:solidFill>
                <a:latin typeface="Times New Roman" charset="0"/>
              </a:rPr>
              <a:t>(5,3)</a:t>
            </a:r>
          </a:p>
          <a:p>
            <a:r>
              <a:rPr lang="en-US">
                <a:solidFill>
                  <a:schemeClr val="accent3">
                    <a:lumMod val="75000"/>
                  </a:schemeClr>
                </a:solidFill>
                <a:latin typeface="Times New Roman" charset="0"/>
              </a:rPr>
              <a:t>					o</a:t>
            </a:r>
          </a:p>
          <a:p>
            <a:r>
              <a:rPr lang="en-US">
                <a:latin typeface="Times New Roman" charset="0"/>
              </a:rPr>
              <a:t>	 </a:t>
            </a:r>
            <a:r>
              <a:rPr lang="en-US">
                <a:solidFill>
                  <a:srgbClr val="0070C0"/>
                </a:solidFill>
                <a:latin typeface="Times New Roman" charset="0"/>
              </a:rPr>
              <a:t> (1,2)</a:t>
            </a:r>
          </a:p>
          <a:p>
            <a:r>
              <a:rPr lang="en-US">
                <a:solidFill>
                  <a:srgbClr val="0070C0"/>
                </a:solidFill>
                <a:latin typeface="Times New Roman" charset="0"/>
              </a:rPr>
              <a:t>	o</a:t>
            </a:r>
          </a:p>
          <a:p>
            <a:endParaRPr lang="en-US">
              <a:latin typeface="Times New Roman" charset="0"/>
            </a:endParaRPr>
          </a:p>
          <a:p>
            <a:r>
              <a:rPr lang="en-US">
                <a:latin typeface="Times New Roman" charset="0"/>
              </a:rPr>
              <a:t>		</a:t>
            </a:r>
            <a:r>
              <a:rPr lang="en-US">
                <a:solidFill>
                  <a:srgbClr val="0070C0"/>
                </a:solidFill>
                <a:latin typeface="Times New Roman" charset="0"/>
              </a:rPr>
              <a:t>o  (2,1)	</a:t>
            </a:r>
            <a:r>
              <a:rPr lang="en-US">
                <a:latin typeface="Times New Roman" charset="0"/>
              </a:rPr>
              <a:t>	</a:t>
            </a:r>
            <a:r>
              <a:rPr lang="en-US">
                <a:solidFill>
                  <a:srgbClr val="00B050"/>
                </a:solidFill>
                <a:latin typeface="Times New Roman" charset="0"/>
              </a:rPr>
              <a:t>o  (4,1)</a:t>
            </a:r>
          </a:p>
          <a:p>
            <a:endParaRPr lang="en-US"/>
          </a:p>
          <a:p>
            <a:r>
              <a:rPr lang="en-US">
                <a:solidFill>
                  <a:srgbClr val="C00000"/>
                </a:solidFill>
                <a:latin typeface="Times New Roman" charset="0"/>
              </a:rPr>
              <a:t>       o  (0,0)</a:t>
            </a:r>
            <a:r>
              <a:rPr lang="en-US">
                <a:latin typeface="Times New Roman" charset="0"/>
              </a:rPr>
              <a:t>				</a:t>
            </a:r>
            <a:r>
              <a:rPr lang="en-US">
                <a:solidFill>
                  <a:srgbClr val="00B050"/>
                </a:solidFill>
                <a:latin typeface="Times New Roman" charset="0"/>
              </a:rPr>
              <a:t>o (5,0)</a:t>
            </a:r>
          </a:p>
          <a:p>
            <a:r>
              <a:rPr lang="en-US">
                <a:solidFill>
                  <a:srgbClr val="00B050"/>
                </a:solidFill>
                <a:latin typeface="Times New Roman" charset="0"/>
              </a:rPr>
              <a:t>					</a:t>
            </a:r>
            <a:endParaRPr lang="en-US">
              <a:solidFill>
                <a:srgbClr val="00B050"/>
              </a:solidFill>
            </a:endParaRPr>
          </a:p>
        </p:txBody>
      </p:sp>
      <p:sp>
        <p:nvSpPr>
          <p:cNvPr id="20489" name="Oval 9"/>
          <p:cNvSpPr>
            <a:spLocks noChangeArrowheads="1"/>
          </p:cNvSpPr>
          <p:nvPr/>
        </p:nvSpPr>
        <p:spPr bwMode="auto">
          <a:xfrm>
            <a:off x="1316515" y="2263966"/>
            <a:ext cx="1676400" cy="1676400"/>
          </a:xfrm>
          <a:prstGeom prst="ellipse">
            <a:avLst/>
          </a:prstGeom>
          <a:noFill/>
          <a:ln w="9525">
            <a:solidFill>
              <a:srgbClr val="0070C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>
              <a:latin typeface="Times New Roman" charset="0"/>
            </a:endParaRPr>
          </a:p>
        </p:txBody>
      </p:sp>
      <p:sp>
        <p:nvSpPr>
          <p:cNvPr id="20491" name="Text Box 11"/>
          <p:cNvSpPr txBox="1">
            <a:spLocks noChangeArrowheads="1"/>
          </p:cNvSpPr>
          <p:nvPr/>
        </p:nvSpPr>
        <p:spPr bwMode="auto">
          <a:xfrm>
            <a:off x="1944882" y="2863468"/>
            <a:ext cx="11464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70C0"/>
                </a:solidFill>
                <a:latin typeface="Times New Roman" charset="0"/>
              </a:rPr>
              <a:t>x</a:t>
            </a:r>
            <a:r>
              <a:rPr lang="en-US">
                <a:solidFill>
                  <a:srgbClr val="0070C0"/>
                </a:solidFill>
                <a:latin typeface="Times New Roman" charset="0"/>
              </a:rPr>
              <a:t> (1.5,1.5)</a:t>
            </a:r>
          </a:p>
        </p:txBody>
      </p:sp>
      <p:sp>
        <p:nvSpPr>
          <p:cNvPr id="20492" name="Oval 12"/>
          <p:cNvSpPr>
            <a:spLocks noChangeArrowheads="1"/>
          </p:cNvSpPr>
          <p:nvPr/>
        </p:nvSpPr>
        <p:spPr bwMode="auto">
          <a:xfrm>
            <a:off x="4114800" y="2971800"/>
            <a:ext cx="1676400" cy="1676400"/>
          </a:xfrm>
          <a:prstGeom prst="ellips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3" name="Text Box 13"/>
          <p:cNvSpPr txBox="1">
            <a:spLocks noChangeArrowheads="1"/>
          </p:cNvSpPr>
          <p:nvPr/>
        </p:nvSpPr>
        <p:spPr bwMode="auto">
          <a:xfrm>
            <a:off x="4762315" y="3471169"/>
            <a:ext cx="11464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B050"/>
                </a:solidFill>
                <a:latin typeface="Times New Roman" charset="0"/>
              </a:rPr>
              <a:t>x</a:t>
            </a:r>
            <a:r>
              <a:rPr lang="en-US">
                <a:solidFill>
                  <a:srgbClr val="00B050"/>
                </a:solidFill>
                <a:latin typeface="Times New Roman" charset="0"/>
              </a:rPr>
              <a:t> (4.5,0.5)</a:t>
            </a:r>
          </a:p>
        </p:txBody>
      </p:sp>
      <p:sp>
        <p:nvSpPr>
          <p:cNvPr id="20494" name="Oval 14"/>
          <p:cNvSpPr>
            <a:spLocks noChangeArrowheads="1"/>
          </p:cNvSpPr>
          <p:nvPr/>
        </p:nvSpPr>
        <p:spPr bwMode="auto">
          <a:xfrm>
            <a:off x="457200" y="2133600"/>
            <a:ext cx="3048000" cy="2743200"/>
          </a:xfrm>
          <a:prstGeom prst="ellipse">
            <a:avLst/>
          </a:prstGeom>
          <a:noFill/>
          <a:ln w="9525">
            <a:solidFill>
              <a:srgbClr val="C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6" name="Text Box 16"/>
          <p:cNvSpPr txBox="1">
            <a:spLocks noChangeArrowheads="1"/>
          </p:cNvSpPr>
          <p:nvPr/>
        </p:nvSpPr>
        <p:spPr bwMode="auto">
          <a:xfrm>
            <a:off x="1600200" y="3200400"/>
            <a:ext cx="80021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  <a:latin typeface="Times New Roman" charset="0"/>
              </a:rPr>
              <a:t>x (1,1)</a:t>
            </a:r>
          </a:p>
        </p:txBody>
      </p:sp>
      <p:sp>
        <p:nvSpPr>
          <p:cNvPr id="20497" name="Oval 17"/>
          <p:cNvSpPr>
            <a:spLocks noChangeArrowheads="1"/>
          </p:cNvSpPr>
          <p:nvPr/>
        </p:nvSpPr>
        <p:spPr bwMode="auto">
          <a:xfrm>
            <a:off x="4038600" y="1447800"/>
            <a:ext cx="2286000" cy="3581400"/>
          </a:xfrm>
          <a:prstGeom prst="ellipse">
            <a:avLst/>
          </a:prstGeom>
          <a:noFill/>
          <a:ln w="9525">
            <a:solidFill>
              <a:schemeClr val="accent3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98" name="Text Box 18"/>
          <p:cNvSpPr txBox="1">
            <a:spLocks noChangeArrowheads="1"/>
          </p:cNvSpPr>
          <p:nvPr/>
        </p:nvSpPr>
        <p:spPr bwMode="auto">
          <a:xfrm>
            <a:off x="4998353" y="2917567"/>
            <a:ext cx="11464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accent3">
                    <a:lumMod val="75000"/>
                  </a:schemeClr>
                </a:solidFill>
                <a:latin typeface="Times New Roman" charset="0"/>
              </a:rPr>
              <a:t>x</a:t>
            </a:r>
            <a:r>
              <a:rPr lang="en-US">
                <a:solidFill>
                  <a:schemeClr val="accent3">
                    <a:lumMod val="75000"/>
                  </a:schemeClr>
                </a:solidFill>
                <a:latin typeface="Times New Roman" charset="0"/>
              </a:rPr>
              <a:t> (4.7,1.3)</a:t>
            </a:r>
          </a:p>
        </p:txBody>
      </p:sp>
      <p:sp>
        <p:nvSpPr>
          <p:cNvPr id="13" name="Oval 12"/>
          <p:cNvSpPr/>
          <p:nvPr/>
        </p:nvSpPr>
        <p:spPr>
          <a:xfrm>
            <a:off x="6781800" y="6019801"/>
            <a:ext cx="152400" cy="1524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7216966" y="6019801"/>
            <a:ext cx="152400" cy="1524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400800" y="6019801"/>
            <a:ext cx="152400" cy="1524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8099234" y="6019801"/>
            <a:ext cx="152400" cy="152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8534400" y="6019801"/>
            <a:ext cx="152400" cy="1524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7718234" y="6019801"/>
            <a:ext cx="152400" cy="152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Elbow Connector 25"/>
          <p:cNvCxnSpPr>
            <a:stCxn id="15" idx="0"/>
          </p:cNvCxnSpPr>
          <p:nvPr/>
        </p:nvCxnSpPr>
        <p:spPr>
          <a:xfrm rot="5400000" flipH="1" flipV="1">
            <a:off x="6324600" y="5334001"/>
            <a:ext cx="838200" cy="53340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/>
          <p:cNvCxnSpPr>
            <a:stCxn id="13" idx="0"/>
          </p:cNvCxnSpPr>
          <p:nvPr/>
        </p:nvCxnSpPr>
        <p:spPr>
          <a:xfrm rot="5400000" flipH="1" flipV="1">
            <a:off x="6705600" y="5715001"/>
            <a:ext cx="457200" cy="152400"/>
          </a:xfrm>
          <a:prstGeom prst="bentConnector3">
            <a:avLst>
              <a:gd name="adj1" fmla="val 42771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/>
          <p:cNvCxnSpPr>
            <a:stCxn id="14" idx="0"/>
          </p:cNvCxnSpPr>
          <p:nvPr/>
        </p:nvCxnSpPr>
        <p:spPr>
          <a:xfrm rot="16200000" flipV="1">
            <a:off x="6961283" y="5687918"/>
            <a:ext cx="381000" cy="28276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/>
          <p:cNvCxnSpPr>
            <a:stCxn id="18" idx="0"/>
          </p:cNvCxnSpPr>
          <p:nvPr/>
        </p:nvCxnSpPr>
        <p:spPr>
          <a:xfrm rot="5400000" flipH="1" flipV="1">
            <a:off x="7669117" y="5764118"/>
            <a:ext cx="381000" cy="130366"/>
          </a:xfrm>
          <a:prstGeom prst="bentConnector3">
            <a:avLst>
              <a:gd name="adj1" fmla="val 76024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16" idx="0"/>
          </p:cNvCxnSpPr>
          <p:nvPr/>
        </p:nvCxnSpPr>
        <p:spPr>
          <a:xfrm rot="16200000" flipV="1">
            <a:off x="7745317" y="5589684"/>
            <a:ext cx="609600" cy="250634"/>
          </a:xfrm>
          <a:prstGeom prst="bentConnector3">
            <a:avLst>
              <a:gd name="adj1" fmla="val 48193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/>
          <p:cNvCxnSpPr>
            <a:stCxn id="17" idx="0"/>
          </p:cNvCxnSpPr>
          <p:nvPr/>
        </p:nvCxnSpPr>
        <p:spPr>
          <a:xfrm rot="16200000" flipV="1">
            <a:off x="7810500" y="5219701"/>
            <a:ext cx="914400" cy="685800"/>
          </a:xfrm>
          <a:prstGeom prst="bentConnector3">
            <a:avLst>
              <a:gd name="adj1" fmla="val 63253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/>
          <p:cNvCxnSpPr/>
          <p:nvPr/>
        </p:nvCxnSpPr>
        <p:spPr>
          <a:xfrm rot="5400000" flipH="1" flipV="1">
            <a:off x="6858000" y="4876801"/>
            <a:ext cx="762000" cy="45720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/>
          <p:cNvCxnSpPr/>
          <p:nvPr/>
        </p:nvCxnSpPr>
        <p:spPr>
          <a:xfrm rot="16200000" flipV="1">
            <a:off x="7391400" y="4800601"/>
            <a:ext cx="609600" cy="457200"/>
          </a:xfrm>
          <a:prstGeom prst="bentConnector3">
            <a:avLst>
              <a:gd name="adj1" fmla="val 3734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154692" y="5562600"/>
            <a:ext cx="183575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Data:</a:t>
            </a:r>
          </a:p>
          <a:p>
            <a:r>
              <a:rPr lang="en-US" sz="200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00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… data point</a:t>
            </a:r>
          </a:p>
          <a:p>
            <a:r>
              <a:rPr lang="en-US" sz="200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… centroid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19105" y="6320135"/>
            <a:ext cx="2015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err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Dendrogram</a:t>
            </a:r>
            <a:endParaRPr lang="en-US" sz="2400" b="1">
              <a:solidFill>
                <a:srgbClr val="008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1" name="Date Placeholder 5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52" name="Footer Placeholder 5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1676400" y="2819400"/>
            <a:ext cx="914400" cy="565666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4434838" y="3392758"/>
            <a:ext cx="822962" cy="493442"/>
          </a:xfrm>
          <a:prstGeom prst="line">
            <a:avLst/>
          </a:prstGeom>
          <a:ln w="12700">
            <a:solidFill>
              <a:srgbClr val="00B050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1676400" y="2863468"/>
            <a:ext cx="76200" cy="529290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1752600" y="3392758"/>
            <a:ext cx="765516" cy="0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H="1">
            <a:off x="1143000" y="3392758"/>
            <a:ext cx="609600" cy="493442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>
            <a:off x="5152398" y="2329739"/>
            <a:ext cx="150755" cy="780316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4434838" y="3128113"/>
            <a:ext cx="717560" cy="224688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H="1" flipV="1">
            <a:off x="5152398" y="3128113"/>
            <a:ext cx="183151" cy="712388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70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0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9" grpId="0" animBg="1" autoUpdateAnimBg="0"/>
      <p:bldP spid="20491" grpId="0" autoUpdateAnimBg="0"/>
      <p:bldP spid="20492" grpId="0" animBg="1"/>
      <p:bldP spid="20493" grpId="0" autoUpdateAnimBg="0"/>
      <p:bldP spid="20494" grpId="0" animBg="1"/>
      <p:bldP spid="20496" grpId="0" autoUpdateAnimBg="0"/>
      <p:bldP spid="20497" grpId="0" animBg="1"/>
      <p:bldP spid="20498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595E9-3ED6-BC44-976B-865B90A23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When to Stop?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159E60-40C8-6A48-9D63-15F8DC10EA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118872" indent="0">
                  <a:buNone/>
                </a:pPr>
                <a:r>
                  <a:rPr lang="en-US" b="1" dirty="0">
                    <a:solidFill>
                      <a:srgbClr val="0000FF"/>
                    </a:solidFill>
                  </a:rPr>
                  <a:t>(3)When do we stop merging clusters?</a:t>
                </a:r>
              </a:p>
              <a:p>
                <a:r>
                  <a:rPr lang="en-US" dirty="0"/>
                  <a:t>When some number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of clusters are found (assumes we know the number of clusters)</a:t>
                </a:r>
              </a:p>
              <a:p>
                <a:r>
                  <a:rPr lang="en-US" dirty="0"/>
                  <a:t>When stopping criterion is met</a:t>
                </a:r>
              </a:p>
              <a:p>
                <a:pPr lvl="1"/>
                <a:r>
                  <a:rPr lang="en-US" dirty="0"/>
                  <a:t>Stop if diameter exceeds threshold</a:t>
                </a:r>
              </a:p>
              <a:p>
                <a:pPr lvl="1"/>
                <a:r>
                  <a:rPr lang="en-US" dirty="0"/>
                  <a:t>Stop if merging clusters yields a bad cluster</a:t>
                </a:r>
              </a:p>
              <a:p>
                <a:pPr lvl="2"/>
                <a:r>
                  <a:rPr lang="en-US" dirty="0"/>
                  <a:t>E.g., diameter suddenly jumps</a:t>
                </a:r>
              </a:p>
              <a:p>
                <a:r>
                  <a:rPr lang="en-US" dirty="0"/>
                  <a:t>Keep merging until there is only 1 cluster left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159E60-40C8-6A48-9D63-15F8DC10EA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6" t="-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AB1BC-CDB5-AE44-A605-E4ED41EFA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1/18/22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35EE6-EC25-0D40-BB06-FC68191A2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F894D-D8A4-134D-8555-0D0CE9A4F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503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/>
            </a:br>
            <a:r>
              <a:rPr lang="en-US" i="1"/>
              <a:t>k</a:t>
            </a:r>
            <a:r>
              <a:rPr lang="en-US"/>
              <a:t>-means Clustering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6" descr="http://www.ima.umn.edu/~iwen/REU/2Ddata.jpg">
            <a:extLst>
              <a:ext uri="{FF2B5EF4-FFF2-40B4-BE49-F238E27FC236}">
                <a16:creationId xmlns:a16="http://schemas.microsoft.com/office/drawing/2014/main" id="{CC37AEF4-362B-CB4A-A051-1CA51C8DD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6894" y="152400"/>
            <a:ext cx="3773714" cy="304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9121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k</a:t>
            </a:r>
            <a:r>
              <a:rPr lang="en-US" dirty="0"/>
              <a:t>–means Algorithm(s)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is a problem formulation, not an algorithm.</a:t>
            </a:r>
          </a:p>
          <a:p>
            <a:pPr marL="118872" indent="0">
              <a:buNone/>
            </a:pPr>
            <a:endParaRPr lang="en-US" dirty="0"/>
          </a:p>
          <a:p>
            <a:r>
              <a:rPr lang="en-US" b="1" dirty="0"/>
              <a:t>Problem</a:t>
            </a:r>
            <a:r>
              <a:rPr lang="en-US" dirty="0"/>
              <a:t>: Given Euclidean space/distance and </a:t>
            </a:r>
            <a:r>
              <a:rPr lang="en-US" b="1" i="1" dirty="0"/>
              <a:t>k = </a:t>
            </a:r>
            <a:r>
              <a:rPr lang="en-US" dirty="0"/>
              <a:t>number of clusters, find cluster centers that minimizes sum of squared distances from each point to its cluster center</a:t>
            </a:r>
          </a:p>
          <a:p>
            <a:endParaRPr lang="en-US" dirty="0"/>
          </a:p>
          <a:p>
            <a:r>
              <a:rPr lang="en-US" dirty="0"/>
              <a:t>Finding an exact solution is NP-hard.</a:t>
            </a:r>
          </a:p>
          <a:p>
            <a:r>
              <a:rPr lang="en-US" dirty="0"/>
              <a:t>The approximate solution is </a:t>
            </a:r>
            <a:r>
              <a:rPr lang="en-US" dirty="0" err="1">
                <a:solidFill>
                  <a:srgbClr val="0000FF"/>
                </a:solidFill>
              </a:rPr>
              <a:t>LIoyd’s</a:t>
            </a:r>
            <a:r>
              <a:rPr lang="en-US" dirty="0">
                <a:solidFill>
                  <a:srgbClr val="0000FF"/>
                </a:solidFill>
              </a:rPr>
              <a:t> algorithm </a:t>
            </a:r>
            <a:r>
              <a:rPr lang="en-US" dirty="0"/>
              <a:t>or the </a:t>
            </a:r>
            <a:r>
              <a:rPr lang="en-US" dirty="0">
                <a:solidFill>
                  <a:srgbClr val="0000FF"/>
                </a:solidFill>
              </a:rPr>
              <a:t>k-means algorithm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B10C8-B221-4207-9C35-A8E660857709}" type="slidenum">
              <a:rPr lang="en-US"/>
              <a:pPr/>
              <a:t>16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</p:spTree>
    <p:extLst>
      <p:ext uri="{BB962C8B-B14F-4D97-AF65-F5344CB8AC3E}">
        <p14:creationId xmlns:p14="http://schemas.microsoft.com/office/powerpoint/2010/main" val="572676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90B9D-8D49-1541-91B7-1A7DC7567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Initialize clusters by picking k centers</a:t>
            </a:r>
          </a:p>
          <a:p>
            <a:endParaRPr lang="en-US" dirty="0"/>
          </a:p>
          <a:p>
            <a:pPr marL="118872" indent="0">
              <a:buNone/>
            </a:pPr>
            <a:r>
              <a:rPr lang="en-US" b="1" dirty="0">
                <a:solidFill>
                  <a:srgbClr val="008000"/>
                </a:solidFill>
              </a:rPr>
              <a:t>Until convergence:</a:t>
            </a:r>
            <a:endParaRPr lang="en-US" dirty="0"/>
          </a:p>
          <a:p>
            <a:r>
              <a:rPr lang="en-US" b="1" dirty="0"/>
              <a:t>1) </a:t>
            </a:r>
            <a:r>
              <a:rPr lang="en-US" dirty="0"/>
              <a:t>For each point, assign it to the cluster whose current centroid is the closest</a:t>
            </a:r>
          </a:p>
          <a:p>
            <a:pPr lvl="8"/>
            <a:endParaRPr lang="en-US" dirty="0"/>
          </a:p>
          <a:p>
            <a:r>
              <a:rPr lang="en-US" b="1" dirty="0"/>
              <a:t>2)</a:t>
            </a:r>
            <a:r>
              <a:rPr lang="en-US" dirty="0"/>
              <a:t> After all points are assigned, update the centroids of the </a:t>
            </a:r>
            <a:r>
              <a:rPr lang="en-US" b="1" i="1" dirty="0"/>
              <a:t>k</a:t>
            </a:r>
            <a:r>
              <a:rPr lang="en-US" dirty="0"/>
              <a:t> clusters as </a:t>
            </a:r>
            <a:r>
              <a:rPr lang="en-US" dirty="0">
                <a:solidFill>
                  <a:srgbClr val="0000FF"/>
                </a:solidFill>
              </a:rPr>
              <a:t>average of datapoints within each cluster</a:t>
            </a:r>
          </a:p>
          <a:p>
            <a:pPr marL="457200" lvl="1" indent="0">
              <a:buNone/>
            </a:pPr>
            <a:endParaRPr lang="en-US" b="1" dirty="0"/>
          </a:p>
          <a:p>
            <a:pPr marL="457200" lvl="1" indent="0">
              <a:buNone/>
            </a:pPr>
            <a:r>
              <a:rPr lang="en-US" b="1" dirty="0">
                <a:solidFill>
                  <a:srgbClr val="008000"/>
                </a:solidFill>
              </a:rPr>
              <a:t>Convergence means</a:t>
            </a:r>
            <a:r>
              <a:rPr lang="en-US" dirty="0"/>
              <a:t> Points don’t move between clusters and centroids stabilize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6525F-1ACA-944D-BD9E-F211EE32E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8A926-4438-BA47-8BAC-19419D8E1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F7A09-422B-3F43-96E8-0CC570C20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B353A7F-6F7F-064A-BFAB-C6D83FA94B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87552"/>
          </a:xfrm>
        </p:spPr>
        <p:txBody>
          <a:bodyPr/>
          <a:lstStyle/>
          <a:p>
            <a:r>
              <a:rPr lang="en-US" i="1" dirty="0"/>
              <a:t>k</a:t>
            </a:r>
            <a:r>
              <a:rPr lang="en-US" dirty="0"/>
              <a:t>–means Algorithm(s)</a:t>
            </a:r>
          </a:p>
        </p:txBody>
      </p:sp>
    </p:spTree>
    <p:extLst>
      <p:ext uri="{BB962C8B-B14F-4D97-AF65-F5344CB8AC3E}">
        <p14:creationId xmlns:p14="http://schemas.microsoft.com/office/powerpoint/2010/main" val="245934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76C8F-FCD2-0042-B80A-749700952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Shortcoming of k-means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2D0D5-D73B-364C-82CF-19E0DECBA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dirty="0"/>
              <a:t>Convergence of k-means heavily depends on the initial pick of centroids. It can perform arbitrarily bad.</a:t>
            </a:r>
          </a:p>
          <a:p>
            <a:pPr marL="457200" lvl="1" indent="0">
              <a:buNone/>
            </a:pPr>
            <a:endParaRPr lang="en-US" b="1" dirty="0">
              <a:solidFill>
                <a:srgbClr val="008000"/>
              </a:solidFill>
            </a:endParaRPr>
          </a:p>
          <a:p>
            <a:pPr marL="457200" lvl="1" indent="0">
              <a:buNone/>
            </a:pPr>
            <a:endParaRPr lang="en-US" b="1" dirty="0">
              <a:solidFill>
                <a:srgbClr val="008000"/>
              </a:solidFill>
            </a:endParaRPr>
          </a:p>
          <a:p>
            <a:pPr lvl="1"/>
            <a:endParaRPr lang="en-US" b="1" dirty="0">
              <a:solidFill>
                <a:srgbClr val="008000"/>
              </a:solidFill>
            </a:endParaRPr>
          </a:p>
          <a:p>
            <a:pPr marL="457200" lvl="1" indent="0">
              <a:buNone/>
            </a:pPr>
            <a:endParaRPr lang="en-US" b="1" dirty="0">
              <a:solidFill>
                <a:srgbClr val="008000"/>
              </a:solidFill>
            </a:endParaRPr>
          </a:p>
          <a:p>
            <a:pPr lvl="1"/>
            <a:r>
              <a:rPr lang="en-US" dirty="0"/>
              <a:t>Different strategies for picking k centers:</a:t>
            </a:r>
          </a:p>
          <a:p>
            <a:pPr lvl="2"/>
            <a:r>
              <a:rPr lang="en-US" dirty="0"/>
              <a:t>Pick k datapoints at random</a:t>
            </a:r>
          </a:p>
          <a:p>
            <a:pPr lvl="2"/>
            <a:r>
              <a:rPr lang="en-US" dirty="0"/>
              <a:t>K-means ++ </a:t>
            </a:r>
          </a:p>
          <a:p>
            <a:pPr marL="457200" lvl="1" indent="0">
              <a:buNone/>
            </a:pPr>
            <a:endParaRPr lang="en-US" b="1" dirty="0">
              <a:solidFill>
                <a:srgbClr val="008000"/>
              </a:solidFill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9E25F-171B-B64C-9CE1-4A366286A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4D8D9-B649-6346-9BB0-4C0BF7FB3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870B8-021F-204E-80BB-59BC3BFF2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E5740D-7DB1-904D-93C3-C29EFEDB7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371" y="2900679"/>
            <a:ext cx="5628640" cy="177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171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k-Means++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534400" cy="5562600"/>
              </a:xfrm>
            </p:spPr>
            <p:txBody>
              <a:bodyPr>
                <a:normAutofit/>
              </a:bodyPr>
              <a:lstStyle/>
              <a:p>
                <a:r>
                  <a:rPr lang="en-US" b="1">
                    <a:solidFill>
                      <a:srgbClr val="FF0066"/>
                    </a:solidFill>
                  </a:rPr>
                  <a:t>Basic idea:</a:t>
                </a:r>
                <a:r>
                  <a:rPr lang="en-US"/>
                  <a:t> Pick a small sample of points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/>
                  <a:t>, cluster them by any algorithm, and use the centroids as a seed</a:t>
                </a:r>
              </a:p>
              <a:p>
                <a:r>
                  <a:rPr lang="en-US"/>
                  <a:t>In </a:t>
                </a:r>
                <a:r>
                  <a:rPr lang="en-US" b="1"/>
                  <a:t>k-means++, </a:t>
                </a:r>
                <a:r>
                  <a:rPr lang="en-US"/>
                  <a:t>sample size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 </a:t>
                </a:r>
                <a:r>
                  <a:rPr lang="en-US" i="1"/>
                  <a:t>=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 times a factor that is logarithmic in the total number of points</a:t>
                </a:r>
              </a:p>
              <a:p>
                <a:pPr lvl="5"/>
                <a:endParaRPr lang="en-US"/>
              </a:p>
              <a:p>
                <a:r>
                  <a:rPr lang="en-US" b="1">
                    <a:solidFill>
                      <a:srgbClr val="FF0066"/>
                    </a:solidFill>
                  </a:rPr>
                  <a:t>How to pick sample points:</a:t>
                </a:r>
                <a:r>
                  <a:rPr lang="en-US"/>
                  <a:t> Visit points in random order, but the probability of adding a point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/>
                  <a:t> to the sample is proportional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/>
                  <a:t> </a:t>
                </a:r>
                <a:r>
                  <a:rPr lang="en-US"/>
                  <a:t>= distance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/>
                  <a:t> and the nearest already picked point.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534400" cy="5562600"/>
              </a:xfrm>
              <a:blipFill>
                <a:blip r:embed="rId2"/>
                <a:stretch>
                  <a:fillRect t="-685" r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4F7897-0764-3546-9F61-90B8C6D2D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991C3-CBE8-B44C-A8D4-676762B1A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</p:spTree>
    <p:extLst>
      <p:ext uri="{BB962C8B-B14F-4D97-AF65-F5344CB8AC3E}">
        <p14:creationId xmlns:p14="http://schemas.microsoft.com/office/powerpoint/2010/main" val="2713618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1371600" y="4068207"/>
            <a:ext cx="2258279" cy="808593"/>
          </a:xfrm>
          <a:prstGeom prst="ellipse">
            <a:avLst/>
          </a:prstGeom>
          <a:solidFill>
            <a:srgbClr val="D60093">
              <a:alpha val="30000"/>
            </a:srgbClr>
          </a:solidFill>
          <a:ln w="38100"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 rot="2616022">
            <a:off x="4341333" y="1890140"/>
            <a:ext cx="1324078" cy="3376820"/>
          </a:xfrm>
          <a:prstGeom prst="ellipse">
            <a:avLst/>
          </a:prstGeom>
          <a:solidFill>
            <a:srgbClr val="00B0F0">
              <a:alpha val="30000"/>
            </a:srgbClr>
          </a:solidFill>
          <a:ln w="38100"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Assigning Clusters</a:t>
            </a:r>
          </a:p>
        </p:txBody>
      </p:sp>
      <p:sp>
        <p:nvSpPr>
          <p:cNvPr id="23" name="Date Placeholder 2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2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C6CFC-3C83-4539-BD47-568CDB1B385E}" type="slidenum">
              <a:rPr lang="en-US"/>
              <a:pPr/>
              <a:t>20</a:t>
            </a:fld>
            <a:endParaRPr lang="en-US"/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3733800" y="4320143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5851525" y="2403475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3136895" y="4305308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5318125" y="3089275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26631" name="Text Box 7"/>
          <p:cNvSpPr txBox="1">
            <a:spLocks noChangeArrowheads="1"/>
          </p:cNvSpPr>
          <p:nvPr/>
        </p:nvSpPr>
        <p:spPr bwMode="auto">
          <a:xfrm>
            <a:off x="2671718" y="4267200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26632" name="Text Box 8"/>
          <p:cNvSpPr txBox="1">
            <a:spLocks noChangeArrowheads="1"/>
          </p:cNvSpPr>
          <p:nvPr/>
        </p:nvSpPr>
        <p:spPr bwMode="auto">
          <a:xfrm>
            <a:off x="4784725" y="3775075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26633" name="Text Box 9"/>
          <p:cNvSpPr txBox="1">
            <a:spLocks noChangeArrowheads="1"/>
          </p:cNvSpPr>
          <p:nvPr/>
        </p:nvSpPr>
        <p:spPr bwMode="auto">
          <a:xfrm>
            <a:off x="1757318" y="4267200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26634" name="Text Box 10"/>
          <p:cNvSpPr txBox="1">
            <a:spLocks noChangeArrowheads="1"/>
          </p:cNvSpPr>
          <p:nvPr/>
        </p:nvSpPr>
        <p:spPr bwMode="auto">
          <a:xfrm>
            <a:off x="4479925" y="4308475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26636" name="Text Box 12"/>
          <p:cNvSpPr txBox="1">
            <a:spLocks noChangeArrowheads="1"/>
          </p:cNvSpPr>
          <p:nvPr/>
        </p:nvSpPr>
        <p:spPr bwMode="auto">
          <a:xfrm>
            <a:off x="588843" y="5715000"/>
            <a:ext cx="162095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  <a:latin typeface="Times New Roman" charset="0"/>
              </a:rPr>
              <a:t>x  … data point</a:t>
            </a:r>
          </a:p>
          <a:p>
            <a:r>
              <a:rPr lang="en-US" b="1">
                <a:solidFill>
                  <a:srgbClr val="008000"/>
                </a:solidFill>
                <a:latin typeface="Times New Roman" charset="0"/>
              </a:rPr>
              <a:t>  </a:t>
            </a:r>
            <a:r>
              <a:rPr lang="en-US">
                <a:solidFill>
                  <a:srgbClr val="008000"/>
                </a:solidFill>
                <a:latin typeface="Times New Roman" charset="0"/>
              </a:rPr>
              <a:t>  … centroid</a:t>
            </a:r>
          </a:p>
        </p:txBody>
      </p: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5102340" y="3454497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27" name="Text Box 4"/>
          <p:cNvSpPr txBox="1">
            <a:spLocks noChangeArrowheads="1"/>
          </p:cNvSpPr>
          <p:nvPr/>
        </p:nvSpPr>
        <p:spPr bwMode="auto">
          <a:xfrm>
            <a:off x="5608065" y="2772807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096000"/>
            <a:ext cx="228600" cy="228600"/>
          </a:xfrm>
          <a:prstGeom prst="rect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4820466" y="3845441"/>
            <a:ext cx="228600" cy="228600"/>
          </a:xfrm>
          <a:prstGeom prst="rect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793059" y="4337566"/>
            <a:ext cx="228600" cy="228600"/>
          </a:xfrm>
          <a:prstGeom prst="rect">
            <a:avLst/>
          </a:prstGeom>
          <a:ln w="38100">
            <a:solidFill>
              <a:srgbClr val="D6009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4119518" y="4343400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62600" y="6096000"/>
            <a:ext cx="2582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Clusters after round 1</a:t>
            </a:r>
          </a:p>
        </p:txBody>
      </p:sp>
    </p:spTree>
    <p:extLst>
      <p:ext uri="{BB962C8B-B14F-4D97-AF65-F5344CB8AC3E}">
        <p14:creationId xmlns:p14="http://schemas.microsoft.com/office/powerpoint/2010/main" val="2163114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29" grpId="0" animBg="1"/>
      <p:bldP spid="3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 rot="2616022">
            <a:off x="4341333" y="1890140"/>
            <a:ext cx="1324078" cy="3376820"/>
          </a:xfrm>
          <a:prstGeom prst="ellipse">
            <a:avLst/>
          </a:prstGeom>
          <a:solidFill>
            <a:srgbClr val="00B0F0">
              <a:alpha val="30000"/>
            </a:srgbClr>
          </a:solidFill>
          <a:ln w="38100"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Assigning Clusters</a:t>
            </a:r>
          </a:p>
        </p:txBody>
      </p:sp>
      <p:sp>
        <p:nvSpPr>
          <p:cNvPr id="23" name="Date Placeholder 2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2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C6CFC-3C83-4539-BD47-568CDB1B385E}" type="slidenum">
              <a:rPr lang="en-US"/>
              <a:pPr/>
              <a:t>21</a:t>
            </a:fld>
            <a:endParaRPr lang="en-US"/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3733800" y="4320143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5851525" y="2403475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3136895" y="4305308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5318125" y="3089275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26631" name="Text Box 7"/>
          <p:cNvSpPr txBox="1">
            <a:spLocks noChangeArrowheads="1"/>
          </p:cNvSpPr>
          <p:nvPr/>
        </p:nvSpPr>
        <p:spPr bwMode="auto">
          <a:xfrm>
            <a:off x="2671718" y="4267200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26632" name="Text Box 8"/>
          <p:cNvSpPr txBox="1">
            <a:spLocks noChangeArrowheads="1"/>
          </p:cNvSpPr>
          <p:nvPr/>
        </p:nvSpPr>
        <p:spPr bwMode="auto">
          <a:xfrm>
            <a:off x="4784725" y="3775075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26633" name="Text Box 9"/>
          <p:cNvSpPr txBox="1">
            <a:spLocks noChangeArrowheads="1"/>
          </p:cNvSpPr>
          <p:nvPr/>
        </p:nvSpPr>
        <p:spPr bwMode="auto">
          <a:xfrm>
            <a:off x="1757318" y="4267200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26634" name="Text Box 10"/>
          <p:cNvSpPr txBox="1">
            <a:spLocks noChangeArrowheads="1"/>
          </p:cNvSpPr>
          <p:nvPr/>
        </p:nvSpPr>
        <p:spPr bwMode="auto">
          <a:xfrm>
            <a:off x="4479925" y="4308475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26636" name="Text Box 12"/>
          <p:cNvSpPr txBox="1">
            <a:spLocks noChangeArrowheads="1"/>
          </p:cNvSpPr>
          <p:nvPr/>
        </p:nvSpPr>
        <p:spPr bwMode="auto">
          <a:xfrm>
            <a:off x="588843" y="5715000"/>
            <a:ext cx="162095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  <a:latin typeface="Times New Roman" charset="0"/>
              </a:rPr>
              <a:t>x  … data point</a:t>
            </a:r>
          </a:p>
          <a:p>
            <a:r>
              <a:rPr lang="en-US" b="1">
                <a:solidFill>
                  <a:srgbClr val="008000"/>
                </a:solidFill>
                <a:latin typeface="Times New Roman" charset="0"/>
              </a:rPr>
              <a:t>  </a:t>
            </a:r>
            <a:r>
              <a:rPr lang="en-US">
                <a:solidFill>
                  <a:srgbClr val="008000"/>
                </a:solidFill>
                <a:latin typeface="Times New Roman" charset="0"/>
              </a:rPr>
              <a:t>  … centroid</a:t>
            </a:r>
          </a:p>
        </p:txBody>
      </p: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5102340" y="3454497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27" name="Text Box 4"/>
          <p:cNvSpPr txBox="1">
            <a:spLocks noChangeArrowheads="1"/>
          </p:cNvSpPr>
          <p:nvPr/>
        </p:nvSpPr>
        <p:spPr bwMode="auto">
          <a:xfrm>
            <a:off x="5608065" y="2772807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096000"/>
            <a:ext cx="228600" cy="228600"/>
          </a:xfrm>
          <a:prstGeom prst="rect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5105400" y="3352800"/>
            <a:ext cx="228600" cy="228600"/>
          </a:xfrm>
          <a:prstGeom prst="rect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2593159" y="4358203"/>
            <a:ext cx="228600" cy="228600"/>
          </a:xfrm>
          <a:prstGeom prst="rect">
            <a:avLst/>
          </a:prstGeom>
          <a:ln w="38100">
            <a:solidFill>
              <a:srgbClr val="D6009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4119518" y="4343400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25" name="Oval 24"/>
          <p:cNvSpPr/>
          <p:nvPr/>
        </p:nvSpPr>
        <p:spPr>
          <a:xfrm>
            <a:off x="1371600" y="4068207"/>
            <a:ext cx="2258279" cy="808593"/>
          </a:xfrm>
          <a:prstGeom prst="ellipse">
            <a:avLst/>
          </a:prstGeom>
          <a:solidFill>
            <a:srgbClr val="D60093">
              <a:alpha val="30000"/>
            </a:srgbClr>
          </a:solidFill>
          <a:ln w="38100"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1676401" y="4123769"/>
            <a:ext cx="2357482" cy="808593"/>
          </a:xfrm>
          <a:prstGeom prst="ellipse">
            <a:avLst/>
          </a:prstGeom>
          <a:solidFill>
            <a:srgbClr val="D60093">
              <a:alpha val="30000"/>
            </a:srgbClr>
          </a:solidFill>
          <a:ln w="38100"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 rot="2616022">
            <a:off x="4462074" y="1946844"/>
            <a:ext cx="1324078" cy="3007002"/>
          </a:xfrm>
          <a:prstGeom prst="ellipse">
            <a:avLst/>
          </a:prstGeom>
          <a:solidFill>
            <a:srgbClr val="00B0F0">
              <a:alpha val="30000"/>
            </a:srgbClr>
          </a:solidFill>
          <a:ln w="38100"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5562600" y="6096000"/>
            <a:ext cx="2582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Clusters after round 2</a:t>
            </a:r>
          </a:p>
        </p:txBody>
      </p:sp>
    </p:spTree>
    <p:extLst>
      <p:ext uri="{BB962C8B-B14F-4D97-AF65-F5344CB8AC3E}">
        <p14:creationId xmlns:p14="http://schemas.microsoft.com/office/powerpoint/2010/main" val="3513410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5" grpId="0" animBg="1"/>
      <p:bldP spid="31" grpId="0" animBg="1"/>
      <p:bldP spid="3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 rot="2616022">
            <a:off x="4461582" y="1938236"/>
            <a:ext cx="1324078" cy="3028081"/>
          </a:xfrm>
          <a:prstGeom prst="ellipse">
            <a:avLst/>
          </a:prstGeom>
          <a:solidFill>
            <a:srgbClr val="00B0F0">
              <a:alpha val="30000"/>
            </a:srgbClr>
          </a:solidFill>
          <a:ln w="38100"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Assigning Clusters</a:t>
            </a:r>
          </a:p>
        </p:txBody>
      </p:sp>
      <p:sp>
        <p:nvSpPr>
          <p:cNvPr id="23" name="Date Placeholder 2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2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C6CFC-3C83-4539-BD47-568CDB1B385E}" type="slidenum">
              <a:rPr lang="en-US"/>
              <a:pPr/>
              <a:t>22</a:t>
            </a:fld>
            <a:endParaRPr lang="en-US"/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3733800" y="4320143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5851525" y="2403475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3136895" y="4305308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5318125" y="3089275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26631" name="Text Box 7"/>
          <p:cNvSpPr txBox="1">
            <a:spLocks noChangeArrowheads="1"/>
          </p:cNvSpPr>
          <p:nvPr/>
        </p:nvSpPr>
        <p:spPr bwMode="auto">
          <a:xfrm>
            <a:off x="2671718" y="4267200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26632" name="Text Box 8"/>
          <p:cNvSpPr txBox="1">
            <a:spLocks noChangeArrowheads="1"/>
          </p:cNvSpPr>
          <p:nvPr/>
        </p:nvSpPr>
        <p:spPr bwMode="auto">
          <a:xfrm>
            <a:off x="4784725" y="3775075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26633" name="Text Box 9"/>
          <p:cNvSpPr txBox="1">
            <a:spLocks noChangeArrowheads="1"/>
          </p:cNvSpPr>
          <p:nvPr/>
        </p:nvSpPr>
        <p:spPr bwMode="auto">
          <a:xfrm>
            <a:off x="1757318" y="4267200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26634" name="Text Box 10"/>
          <p:cNvSpPr txBox="1">
            <a:spLocks noChangeArrowheads="1"/>
          </p:cNvSpPr>
          <p:nvPr/>
        </p:nvSpPr>
        <p:spPr bwMode="auto">
          <a:xfrm>
            <a:off x="4479925" y="4308475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26636" name="Text Box 12"/>
          <p:cNvSpPr txBox="1">
            <a:spLocks noChangeArrowheads="1"/>
          </p:cNvSpPr>
          <p:nvPr/>
        </p:nvSpPr>
        <p:spPr bwMode="auto">
          <a:xfrm>
            <a:off x="588843" y="5715000"/>
            <a:ext cx="162095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8000"/>
                </a:solidFill>
                <a:latin typeface="Times New Roman" charset="0"/>
              </a:rPr>
              <a:t>x  … data point</a:t>
            </a:r>
          </a:p>
          <a:p>
            <a:r>
              <a:rPr lang="en-US" b="1">
                <a:solidFill>
                  <a:srgbClr val="008000"/>
                </a:solidFill>
                <a:latin typeface="Times New Roman" charset="0"/>
              </a:rPr>
              <a:t>  </a:t>
            </a:r>
            <a:r>
              <a:rPr lang="en-US">
                <a:solidFill>
                  <a:srgbClr val="008000"/>
                </a:solidFill>
                <a:latin typeface="Times New Roman" charset="0"/>
              </a:rPr>
              <a:t>  … centroid</a:t>
            </a:r>
          </a:p>
        </p:txBody>
      </p:sp>
      <p:sp>
        <p:nvSpPr>
          <p:cNvPr id="26" name="Text Box 4"/>
          <p:cNvSpPr txBox="1">
            <a:spLocks noChangeArrowheads="1"/>
          </p:cNvSpPr>
          <p:nvPr/>
        </p:nvSpPr>
        <p:spPr bwMode="auto">
          <a:xfrm>
            <a:off x="5102340" y="3454497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27" name="Text Box 4"/>
          <p:cNvSpPr txBox="1">
            <a:spLocks noChangeArrowheads="1"/>
          </p:cNvSpPr>
          <p:nvPr/>
        </p:nvSpPr>
        <p:spPr bwMode="auto">
          <a:xfrm>
            <a:off x="5608065" y="2772807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096000"/>
            <a:ext cx="228600" cy="228600"/>
          </a:xfrm>
          <a:prstGeom prst="rect">
            <a:avLst/>
          </a:prstGeom>
          <a:ln w="38100">
            <a:solidFill>
              <a:srgbClr val="008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5318125" y="3045341"/>
            <a:ext cx="228600" cy="228600"/>
          </a:xfrm>
          <a:prstGeom prst="rect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3116261" y="4378841"/>
            <a:ext cx="228600" cy="228600"/>
          </a:xfrm>
          <a:prstGeom prst="rect">
            <a:avLst/>
          </a:prstGeom>
          <a:ln w="38100">
            <a:solidFill>
              <a:srgbClr val="D6009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4119518" y="4343400"/>
            <a:ext cx="30008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25" name="Oval 24"/>
          <p:cNvSpPr/>
          <p:nvPr/>
        </p:nvSpPr>
        <p:spPr>
          <a:xfrm>
            <a:off x="1676400" y="4144407"/>
            <a:ext cx="2357483" cy="808593"/>
          </a:xfrm>
          <a:prstGeom prst="ellipse">
            <a:avLst/>
          </a:prstGeom>
          <a:solidFill>
            <a:srgbClr val="D60093">
              <a:alpha val="30000"/>
            </a:srgbClr>
          </a:solidFill>
          <a:ln w="38100"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1676399" y="4123769"/>
            <a:ext cx="3108325" cy="808593"/>
          </a:xfrm>
          <a:prstGeom prst="ellipse">
            <a:avLst/>
          </a:prstGeom>
          <a:solidFill>
            <a:srgbClr val="D60093">
              <a:alpha val="30000"/>
            </a:srgbClr>
          </a:solidFill>
          <a:ln w="38100"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 rot="2616022">
            <a:off x="4731170" y="2054476"/>
            <a:ext cx="1324078" cy="2226588"/>
          </a:xfrm>
          <a:prstGeom prst="ellipse">
            <a:avLst/>
          </a:prstGeom>
          <a:solidFill>
            <a:srgbClr val="00B0F0">
              <a:alpha val="30000"/>
            </a:srgbClr>
          </a:solidFill>
          <a:ln w="38100"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5562600" y="609600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Clusters at the end</a:t>
            </a:r>
          </a:p>
        </p:txBody>
      </p:sp>
    </p:spTree>
    <p:extLst>
      <p:ext uri="{BB962C8B-B14F-4D97-AF65-F5344CB8AC3E}">
        <p14:creationId xmlns:p14="http://schemas.microsoft.com/office/powerpoint/2010/main" val="3642618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5" grpId="0" animBg="1"/>
      <p:bldP spid="31" grpId="0" animBg="1"/>
      <p:bldP spid="3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Getting the </a:t>
            </a:r>
            <a:r>
              <a:rPr lang="en-US" i="1"/>
              <a:t>k</a:t>
            </a:r>
            <a:r>
              <a:rPr lang="en-US"/>
              <a:t> right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18872" indent="0">
              <a:buNone/>
            </a:pPr>
            <a:r>
              <a:rPr lang="en-US" b="1">
                <a:solidFill>
                  <a:srgbClr val="0000FF"/>
                </a:solidFill>
              </a:rPr>
              <a:t>How to select </a:t>
            </a:r>
            <a:r>
              <a:rPr lang="en-US" b="1" i="1">
                <a:solidFill>
                  <a:srgbClr val="0000FF"/>
                </a:solidFill>
              </a:rPr>
              <a:t>k</a:t>
            </a:r>
            <a:r>
              <a:rPr lang="en-US" b="1">
                <a:solidFill>
                  <a:srgbClr val="0000FF"/>
                </a:solidFill>
              </a:rPr>
              <a:t>?</a:t>
            </a:r>
          </a:p>
          <a:p>
            <a:r>
              <a:rPr lang="en-US"/>
              <a:t>Try different </a:t>
            </a:r>
            <a:r>
              <a:rPr lang="en-US" b="1"/>
              <a:t>k</a:t>
            </a:r>
            <a:r>
              <a:rPr lang="en-US"/>
              <a:t>, looking at the change in the average distance to centroid as </a:t>
            </a:r>
            <a:r>
              <a:rPr lang="en-US" b="1"/>
              <a:t>k</a:t>
            </a:r>
            <a:r>
              <a:rPr lang="en-US"/>
              <a:t> increases</a:t>
            </a:r>
          </a:p>
          <a:p>
            <a:r>
              <a:rPr lang="en-US"/>
              <a:t>Average falls rapidly until right </a:t>
            </a:r>
            <a:r>
              <a:rPr lang="en-US" b="1"/>
              <a:t>k</a:t>
            </a:r>
            <a:r>
              <a:rPr lang="en-US"/>
              <a:t>, then changes little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EEE50B-4A6F-417A-9DBF-423D8456220C}" type="slidenum">
              <a:rPr lang="en-US"/>
              <a:pPr/>
              <a:t>23</a:t>
            </a:fld>
            <a:endParaRPr lang="en-US"/>
          </a:p>
        </p:txBody>
      </p: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3124200" y="4222749"/>
            <a:ext cx="3475038" cy="1720851"/>
            <a:chOff x="518" y="2962"/>
            <a:chExt cx="2189" cy="1084"/>
          </a:xfrm>
        </p:grpSpPr>
        <p:sp>
          <p:nvSpPr>
            <p:cNvPr id="43016" name="Text Box 8"/>
            <p:cNvSpPr txBox="1">
              <a:spLocks noChangeArrowheads="1"/>
            </p:cNvSpPr>
            <p:nvPr/>
          </p:nvSpPr>
          <p:spPr bwMode="auto">
            <a:xfrm>
              <a:off x="1814" y="3813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i="1">
                  <a:latin typeface="Arial" pitchFamily="34" charset="0"/>
                  <a:cs typeface="Arial" pitchFamily="34" charset="0"/>
                </a:rPr>
                <a:t>k</a:t>
              </a:r>
            </a:p>
          </p:txBody>
        </p:sp>
        <p:sp>
          <p:nvSpPr>
            <p:cNvPr id="43017" name="Text Box 9"/>
            <p:cNvSpPr txBox="1">
              <a:spLocks noChangeArrowheads="1"/>
            </p:cNvSpPr>
            <p:nvPr/>
          </p:nvSpPr>
          <p:spPr bwMode="auto">
            <a:xfrm>
              <a:off x="518" y="3408"/>
              <a:ext cx="819" cy="5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>
                  <a:latin typeface="Arial" pitchFamily="34" charset="0"/>
                  <a:cs typeface="Arial" pitchFamily="34" charset="0"/>
                </a:rPr>
                <a:t>Average</a:t>
              </a:r>
            </a:p>
            <a:p>
              <a:pPr algn="ctr"/>
              <a:r>
                <a:rPr lang="en-US">
                  <a:latin typeface="Arial" pitchFamily="34" charset="0"/>
                  <a:cs typeface="Arial" pitchFamily="34" charset="0"/>
                </a:rPr>
                <a:t>distance to</a:t>
              </a:r>
            </a:p>
            <a:p>
              <a:pPr algn="ctr"/>
              <a:r>
                <a:rPr lang="en-US">
                  <a:latin typeface="Arial" pitchFamily="34" charset="0"/>
                  <a:cs typeface="Arial" pitchFamily="34" charset="0"/>
                </a:rPr>
                <a:t>centroid</a:t>
              </a:r>
            </a:p>
          </p:txBody>
        </p:sp>
        <p:sp>
          <p:nvSpPr>
            <p:cNvPr id="43018" name="Line 10"/>
            <p:cNvSpPr>
              <a:spLocks noChangeShapeType="1"/>
            </p:cNvSpPr>
            <p:nvPr/>
          </p:nvSpPr>
          <p:spPr bwMode="auto">
            <a:xfrm flipV="1">
              <a:off x="912" y="2962"/>
              <a:ext cx="0" cy="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3019" name="Line 11"/>
            <p:cNvSpPr>
              <a:spLocks noChangeShapeType="1"/>
            </p:cNvSpPr>
            <p:nvPr/>
          </p:nvSpPr>
          <p:spPr bwMode="auto">
            <a:xfrm>
              <a:off x="2064" y="3936"/>
              <a:ext cx="6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5285112" y="4306013"/>
            <a:ext cx="1398588" cy="1109662"/>
            <a:chOff x="2544" y="2997"/>
            <a:chExt cx="881" cy="699"/>
          </a:xfrm>
        </p:grpSpPr>
        <p:sp>
          <p:nvSpPr>
            <p:cNvPr id="43020" name="Text Box 12"/>
            <p:cNvSpPr txBox="1">
              <a:spLocks noChangeArrowheads="1"/>
            </p:cNvSpPr>
            <p:nvPr/>
          </p:nvSpPr>
          <p:spPr bwMode="auto">
            <a:xfrm>
              <a:off x="2582" y="2997"/>
              <a:ext cx="843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008000"/>
                  </a:solidFill>
                  <a:latin typeface="Arial" pitchFamily="34" charset="0"/>
                  <a:cs typeface="Arial" pitchFamily="34" charset="0"/>
                </a:rPr>
                <a:t>Best value</a:t>
              </a:r>
            </a:p>
            <a:p>
              <a:r>
                <a:rPr lang="en-US" b="1">
                  <a:solidFill>
                    <a:srgbClr val="008000"/>
                  </a:solidFill>
                  <a:latin typeface="Arial" pitchFamily="34" charset="0"/>
                  <a:cs typeface="Arial" pitchFamily="34" charset="0"/>
                </a:rPr>
                <a:t>of </a:t>
              </a:r>
              <a:r>
                <a:rPr lang="en-US" b="1" i="1">
                  <a:solidFill>
                    <a:srgbClr val="008000"/>
                  </a:solidFill>
                  <a:latin typeface="Arial" pitchFamily="34" charset="0"/>
                  <a:cs typeface="Arial" pitchFamily="34" charset="0"/>
                </a:rPr>
                <a:t>k</a:t>
              </a:r>
            </a:p>
          </p:txBody>
        </p:sp>
        <p:sp>
          <p:nvSpPr>
            <p:cNvPr id="43021" name="Line 13"/>
            <p:cNvSpPr>
              <a:spLocks noChangeShapeType="1"/>
            </p:cNvSpPr>
            <p:nvPr/>
          </p:nvSpPr>
          <p:spPr bwMode="auto">
            <a:xfrm>
              <a:off x="2544" y="336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8" name="Freeform 7"/>
          <p:cNvSpPr/>
          <p:nvPr/>
        </p:nvSpPr>
        <p:spPr>
          <a:xfrm>
            <a:off x="4418687" y="4123013"/>
            <a:ext cx="2080671" cy="1401715"/>
          </a:xfrm>
          <a:custGeom>
            <a:avLst/>
            <a:gdLst>
              <a:gd name="connsiteX0" fmla="*/ 0 w 2080671"/>
              <a:gd name="connsiteY0" fmla="*/ 0 h 1401715"/>
              <a:gd name="connsiteX1" fmla="*/ 186166 w 2080671"/>
              <a:gd name="connsiteY1" fmla="*/ 865121 h 1401715"/>
              <a:gd name="connsiteX2" fmla="*/ 427085 w 2080671"/>
              <a:gd name="connsiteY2" fmla="*/ 1144369 h 1401715"/>
              <a:gd name="connsiteX3" fmla="*/ 848695 w 2080671"/>
              <a:gd name="connsiteY3" fmla="*/ 1357912 h 1401715"/>
              <a:gd name="connsiteX4" fmla="*/ 1226501 w 2080671"/>
              <a:gd name="connsiteY4" fmla="*/ 1401715 h 1401715"/>
              <a:gd name="connsiteX5" fmla="*/ 1768570 w 2080671"/>
              <a:gd name="connsiteY5" fmla="*/ 1401715 h 1401715"/>
              <a:gd name="connsiteX6" fmla="*/ 2080671 w 2080671"/>
              <a:gd name="connsiteY6" fmla="*/ 1401715 h 1401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0671" h="1401715">
                <a:moveTo>
                  <a:pt x="0" y="0"/>
                </a:moveTo>
                <a:lnTo>
                  <a:pt x="186166" y="865121"/>
                </a:lnTo>
                <a:lnTo>
                  <a:pt x="427085" y="1144369"/>
                </a:lnTo>
                <a:lnTo>
                  <a:pt x="848695" y="1357912"/>
                </a:lnTo>
                <a:lnTo>
                  <a:pt x="1226501" y="1401715"/>
                </a:lnTo>
                <a:lnTo>
                  <a:pt x="1768570" y="1401715"/>
                </a:lnTo>
                <a:lnTo>
                  <a:pt x="2080671" y="1401715"/>
                </a:lnTo>
              </a:path>
            </a:pathLst>
          </a:custGeom>
          <a:noFill/>
          <a:ln w="38100">
            <a:solidFill>
              <a:srgbClr val="008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8505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Picking </a:t>
            </a:r>
            <a:r>
              <a:rPr lang="en-US" i="1"/>
              <a:t>k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1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1FEFE-B5EF-4A0A-BC90-B389A674A5A2}" type="slidenum">
              <a:rPr lang="en-US"/>
              <a:pPr/>
              <a:t>24</a:t>
            </a:fld>
            <a:endParaRPr lang="en-US"/>
          </a:p>
        </p:txBody>
      </p:sp>
      <p:sp>
        <p:nvSpPr>
          <p:cNvPr id="44035" name="Oval 3"/>
          <p:cNvSpPr>
            <a:spLocks noChangeArrowheads="1"/>
          </p:cNvSpPr>
          <p:nvPr/>
        </p:nvSpPr>
        <p:spPr bwMode="auto">
          <a:xfrm>
            <a:off x="2743200" y="2286000"/>
            <a:ext cx="1828800" cy="22860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charset="0"/>
              </a:rPr>
              <a:t>x        x</a:t>
            </a:r>
          </a:p>
          <a:p>
            <a:pPr algn="ctr"/>
            <a:r>
              <a:rPr lang="en-US">
                <a:latin typeface="Times New Roman" charset="0"/>
              </a:rPr>
              <a:t>x  x      x  x</a:t>
            </a:r>
          </a:p>
          <a:p>
            <a:pPr algn="ctr"/>
            <a:r>
              <a:rPr lang="en-US">
                <a:latin typeface="Times New Roman" charset="0"/>
              </a:rPr>
              <a:t>x   x x  x     </a:t>
            </a:r>
          </a:p>
          <a:p>
            <a:pPr algn="ctr"/>
            <a:r>
              <a:rPr lang="en-US">
                <a:latin typeface="Times New Roman" charset="0"/>
              </a:rPr>
              <a:t>x     x  x</a:t>
            </a:r>
          </a:p>
          <a:p>
            <a:pPr algn="ctr"/>
            <a:r>
              <a:rPr lang="en-US">
                <a:latin typeface="Times New Roman" charset="0"/>
              </a:rPr>
              <a:t>x   x</a:t>
            </a:r>
          </a:p>
        </p:txBody>
      </p:sp>
      <p:sp>
        <p:nvSpPr>
          <p:cNvPr id="44036" name="Oval 4"/>
          <p:cNvSpPr>
            <a:spLocks noChangeArrowheads="1"/>
          </p:cNvSpPr>
          <p:nvPr/>
        </p:nvSpPr>
        <p:spPr bwMode="auto">
          <a:xfrm>
            <a:off x="5486400" y="1524000"/>
            <a:ext cx="1752600" cy="2819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charset="0"/>
              </a:rPr>
              <a:t>x</a:t>
            </a:r>
          </a:p>
          <a:p>
            <a:pPr algn="ctr"/>
            <a:r>
              <a:rPr lang="en-US">
                <a:latin typeface="Times New Roman" charset="0"/>
              </a:rPr>
              <a:t>xx    x</a:t>
            </a:r>
          </a:p>
          <a:p>
            <a:pPr algn="ctr"/>
            <a:r>
              <a:rPr lang="en-US">
                <a:latin typeface="Times New Roman" charset="0"/>
              </a:rPr>
              <a:t>x  x        </a:t>
            </a:r>
          </a:p>
          <a:p>
            <a:pPr algn="ctr"/>
            <a:r>
              <a:rPr lang="en-US">
                <a:latin typeface="Times New Roman" charset="0"/>
              </a:rPr>
              <a:t>x    x  x   </a:t>
            </a:r>
          </a:p>
          <a:p>
            <a:pPr algn="ctr"/>
            <a:r>
              <a:rPr lang="en-US">
                <a:latin typeface="Times New Roman" charset="0"/>
              </a:rPr>
              <a:t>x</a:t>
            </a:r>
          </a:p>
          <a:p>
            <a:pPr algn="ctr"/>
            <a:r>
              <a:rPr lang="en-US">
                <a:latin typeface="Times New Roman" charset="0"/>
              </a:rPr>
              <a:t>x x   x</a:t>
            </a:r>
          </a:p>
          <a:p>
            <a:pPr algn="ctr"/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44037" name="Oval 5"/>
          <p:cNvSpPr>
            <a:spLocks noChangeArrowheads="1"/>
          </p:cNvSpPr>
          <p:nvPr/>
        </p:nvSpPr>
        <p:spPr bwMode="auto">
          <a:xfrm>
            <a:off x="4572000" y="4648200"/>
            <a:ext cx="1905000" cy="16002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charset="0"/>
              </a:rPr>
              <a:t>     x   x</a:t>
            </a:r>
          </a:p>
          <a:p>
            <a:pPr algn="ctr"/>
            <a:r>
              <a:rPr lang="en-US">
                <a:latin typeface="Times New Roman" charset="0"/>
              </a:rPr>
              <a:t>x  x    x    x</a:t>
            </a:r>
          </a:p>
          <a:p>
            <a:pPr algn="ctr"/>
            <a:r>
              <a:rPr lang="en-US">
                <a:latin typeface="Times New Roman" charset="0"/>
              </a:rPr>
              <a:t>  x    x     x</a:t>
            </a:r>
          </a:p>
          <a:p>
            <a:pPr algn="ctr"/>
            <a:r>
              <a:rPr lang="en-US">
                <a:latin typeface="Times New Roman" charset="0"/>
              </a:rPr>
              <a:t>x  </a:t>
            </a:r>
          </a:p>
        </p:txBody>
      </p:sp>
      <p:sp>
        <p:nvSpPr>
          <p:cNvPr id="44038" name="Text Box 6"/>
          <p:cNvSpPr txBox="1">
            <a:spLocks noChangeArrowheads="1"/>
          </p:cNvSpPr>
          <p:nvPr/>
        </p:nvSpPr>
        <p:spPr bwMode="auto">
          <a:xfrm>
            <a:off x="5013325" y="1717675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44039" name="Text Box 7"/>
          <p:cNvSpPr txBox="1">
            <a:spLocks noChangeArrowheads="1"/>
          </p:cNvSpPr>
          <p:nvPr/>
        </p:nvSpPr>
        <p:spPr bwMode="auto">
          <a:xfrm>
            <a:off x="3641725" y="4918075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44040" name="Oval 8"/>
          <p:cNvSpPr>
            <a:spLocks noChangeArrowheads="1"/>
          </p:cNvSpPr>
          <p:nvPr/>
        </p:nvSpPr>
        <p:spPr bwMode="auto">
          <a:xfrm>
            <a:off x="2438400" y="1600200"/>
            <a:ext cx="5334000" cy="3048000"/>
          </a:xfrm>
          <a:prstGeom prst="ellipse">
            <a:avLst/>
          </a:prstGeom>
          <a:solidFill>
            <a:srgbClr val="CCFFCC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4041" name="Oval 9"/>
          <p:cNvSpPr>
            <a:spLocks noChangeArrowheads="1"/>
          </p:cNvSpPr>
          <p:nvPr/>
        </p:nvSpPr>
        <p:spPr bwMode="auto">
          <a:xfrm>
            <a:off x="3505200" y="4724400"/>
            <a:ext cx="3581400" cy="1676400"/>
          </a:xfrm>
          <a:prstGeom prst="ellipse">
            <a:avLst/>
          </a:prstGeom>
          <a:solidFill>
            <a:srgbClr val="FFFF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441325" y="1709738"/>
            <a:ext cx="5959475" cy="2328862"/>
            <a:chOff x="278" y="1077"/>
            <a:chExt cx="3754" cy="1467"/>
          </a:xfrm>
        </p:grpSpPr>
        <p:sp>
          <p:nvSpPr>
            <p:cNvPr id="44042" name="Line 10"/>
            <p:cNvSpPr>
              <a:spLocks noChangeShapeType="1"/>
            </p:cNvSpPr>
            <p:nvPr/>
          </p:nvSpPr>
          <p:spPr bwMode="auto">
            <a:xfrm flipH="1" flipV="1">
              <a:off x="2112" y="1728"/>
              <a:ext cx="105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4043" name="Line 11"/>
            <p:cNvSpPr>
              <a:spLocks noChangeShapeType="1"/>
            </p:cNvSpPr>
            <p:nvPr/>
          </p:nvSpPr>
          <p:spPr bwMode="auto">
            <a:xfrm flipH="1">
              <a:off x="2112" y="2016"/>
              <a:ext cx="105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4044" name="Line 12"/>
            <p:cNvSpPr>
              <a:spLocks noChangeShapeType="1"/>
            </p:cNvSpPr>
            <p:nvPr/>
          </p:nvSpPr>
          <p:spPr bwMode="auto">
            <a:xfrm>
              <a:off x="3168" y="2016"/>
              <a:ext cx="86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4045" name="Line 13"/>
            <p:cNvSpPr>
              <a:spLocks noChangeShapeType="1"/>
            </p:cNvSpPr>
            <p:nvPr/>
          </p:nvSpPr>
          <p:spPr bwMode="auto">
            <a:xfrm flipV="1">
              <a:off x="3168" y="1680"/>
              <a:ext cx="72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4046" name="Line 14"/>
            <p:cNvSpPr>
              <a:spLocks noChangeShapeType="1"/>
            </p:cNvSpPr>
            <p:nvPr/>
          </p:nvSpPr>
          <p:spPr bwMode="auto">
            <a:xfrm flipV="1">
              <a:off x="3168" y="1200"/>
              <a:ext cx="816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4047" name="Text Box 15"/>
            <p:cNvSpPr txBox="1">
              <a:spLocks noChangeArrowheads="1"/>
            </p:cNvSpPr>
            <p:nvPr/>
          </p:nvSpPr>
          <p:spPr bwMode="auto">
            <a:xfrm>
              <a:off x="278" y="1077"/>
              <a:ext cx="870" cy="8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b="1">
                  <a:solidFill>
                    <a:srgbClr val="008000"/>
                  </a:solidFill>
                  <a:latin typeface="Arial" pitchFamily="34" charset="0"/>
                  <a:cs typeface="Arial" pitchFamily="34" charset="0"/>
                </a:rPr>
                <a:t>Too few;</a:t>
              </a:r>
            </a:p>
            <a:p>
              <a:r>
                <a:rPr lang="en-US" sz="2000">
                  <a:solidFill>
                    <a:srgbClr val="008000"/>
                  </a:solidFill>
                  <a:latin typeface="Arial" pitchFamily="34" charset="0"/>
                  <a:cs typeface="Arial" pitchFamily="34" charset="0"/>
                </a:rPr>
                <a:t>many long</a:t>
              </a:r>
            </a:p>
            <a:p>
              <a:r>
                <a:rPr lang="en-US" sz="2000">
                  <a:solidFill>
                    <a:srgbClr val="008000"/>
                  </a:solidFill>
                  <a:latin typeface="Arial" pitchFamily="34" charset="0"/>
                  <a:cs typeface="Arial" pitchFamily="34" charset="0"/>
                </a:rPr>
                <a:t>distances</a:t>
              </a:r>
            </a:p>
            <a:p>
              <a:r>
                <a:rPr lang="en-US" sz="2000">
                  <a:solidFill>
                    <a:srgbClr val="008000"/>
                  </a:solidFill>
                  <a:latin typeface="Arial" pitchFamily="34" charset="0"/>
                  <a:cs typeface="Arial" pitchFamily="34" charset="0"/>
                </a:rPr>
                <a:t>to centroid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7306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Picking </a:t>
            </a:r>
            <a:r>
              <a:rPr lang="en-US" i="1"/>
              <a:t>k</a:t>
            </a:r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2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48728-C218-458F-B62F-E7308ADF4A87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7107" name="Oval 3"/>
          <p:cNvSpPr>
            <a:spLocks noChangeArrowheads="1"/>
          </p:cNvSpPr>
          <p:nvPr/>
        </p:nvSpPr>
        <p:spPr bwMode="auto">
          <a:xfrm>
            <a:off x="2743200" y="2286000"/>
            <a:ext cx="1828800" cy="22860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charset="0"/>
              </a:rPr>
              <a:t>x        x</a:t>
            </a:r>
          </a:p>
          <a:p>
            <a:pPr algn="ctr"/>
            <a:r>
              <a:rPr lang="en-US">
                <a:latin typeface="Times New Roman" charset="0"/>
              </a:rPr>
              <a:t>x  x      x  x</a:t>
            </a:r>
          </a:p>
          <a:p>
            <a:pPr algn="ctr"/>
            <a:r>
              <a:rPr lang="en-US">
                <a:latin typeface="Times New Roman" charset="0"/>
              </a:rPr>
              <a:t>x   x x  x     </a:t>
            </a:r>
          </a:p>
          <a:p>
            <a:pPr algn="ctr"/>
            <a:r>
              <a:rPr lang="en-US">
                <a:latin typeface="Times New Roman" charset="0"/>
              </a:rPr>
              <a:t>x     x  x</a:t>
            </a:r>
          </a:p>
          <a:p>
            <a:pPr algn="ctr"/>
            <a:r>
              <a:rPr lang="en-US">
                <a:latin typeface="Times New Roman" charset="0"/>
              </a:rPr>
              <a:t>x   x</a:t>
            </a:r>
          </a:p>
        </p:txBody>
      </p:sp>
      <p:sp>
        <p:nvSpPr>
          <p:cNvPr id="47108" name="Oval 4"/>
          <p:cNvSpPr>
            <a:spLocks noChangeArrowheads="1"/>
          </p:cNvSpPr>
          <p:nvPr/>
        </p:nvSpPr>
        <p:spPr bwMode="auto">
          <a:xfrm>
            <a:off x="5486400" y="1524000"/>
            <a:ext cx="1752600" cy="2819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charset="0"/>
              </a:rPr>
              <a:t>x</a:t>
            </a:r>
          </a:p>
          <a:p>
            <a:pPr algn="ctr"/>
            <a:r>
              <a:rPr lang="en-US">
                <a:latin typeface="Times New Roman" charset="0"/>
              </a:rPr>
              <a:t>xx    x</a:t>
            </a:r>
          </a:p>
          <a:p>
            <a:pPr algn="ctr"/>
            <a:r>
              <a:rPr lang="en-US">
                <a:latin typeface="Times New Roman" charset="0"/>
              </a:rPr>
              <a:t>x  x        </a:t>
            </a:r>
          </a:p>
          <a:p>
            <a:pPr algn="ctr"/>
            <a:r>
              <a:rPr lang="en-US">
                <a:latin typeface="Times New Roman" charset="0"/>
              </a:rPr>
              <a:t>x    x  x   </a:t>
            </a:r>
          </a:p>
          <a:p>
            <a:pPr algn="ctr"/>
            <a:r>
              <a:rPr lang="en-US">
                <a:latin typeface="Times New Roman" charset="0"/>
              </a:rPr>
              <a:t>x</a:t>
            </a:r>
          </a:p>
          <a:p>
            <a:pPr algn="ctr"/>
            <a:r>
              <a:rPr lang="en-US">
                <a:latin typeface="Times New Roman" charset="0"/>
              </a:rPr>
              <a:t>x x   x</a:t>
            </a:r>
          </a:p>
          <a:p>
            <a:pPr algn="ctr"/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47109" name="Oval 5"/>
          <p:cNvSpPr>
            <a:spLocks noChangeArrowheads="1"/>
          </p:cNvSpPr>
          <p:nvPr/>
        </p:nvSpPr>
        <p:spPr bwMode="auto">
          <a:xfrm>
            <a:off x="4572000" y="4648200"/>
            <a:ext cx="1905000" cy="16002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charset="0"/>
              </a:rPr>
              <a:t>     x   x</a:t>
            </a:r>
          </a:p>
          <a:p>
            <a:pPr algn="ctr"/>
            <a:r>
              <a:rPr lang="en-US">
                <a:latin typeface="Times New Roman" charset="0"/>
              </a:rPr>
              <a:t>x  x    x    x</a:t>
            </a:r>
          </a:p>
          <a:p>
            <a:pPr algn="ctr"/>
            <a:r>
              <a:rPr lang="en-US">
                <a:latin typeface="Times New Roman" charset="0"/>
              </a:rPr>
              <a:t>  x    x     x</a:t>
            </a:r>
          </a:p>
          <a:p>
            <a:pPr algn="ctr"/>
            <a:r>
              <a:rPr lang="en-US">
                <a:latin typeface="Times New Roman" charset="0"/>
              </a:rPr>
              <a:t>x  </a:t>
            </a:r>
          </a:p>
        </p:txBody>
      </p:sp>
      <p:sp>
        <p:nvSpPr>
          <p:cNvPr id="47110" name="Text Box 6"/>
          <p:cNvSpPr txBox="1">
            <a:spLocks noChangeArrowheads="1"/>
          </p:cNvSpPr>
          <p:nvPr/>
        </p:nvSpPr>
        <p:spPr bwMode="auto">
          <a:xfrm>
            <a:off x="5013325" y="1717675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47111" name="Text Box 7"/>
          <p:cNvSpPr txBox="1">
            <a:spLocks noChangeArrowheads="1"/>
          </p:cNvSpPr>
          <p:nvPr/>
        </p:nvSpPr>
        <p:spPr bwMode="auto">
          <a:xfrm>
            <a:off x="3641725" y="4918075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47113" name="Oval 9"/>
          <p:cNvSpPr>
            <a:spLocks noChangeArrowheads="1"/>
          </p:cNvSpPr>
          <p:nvPr/>
        </p:nvSpPr>
        <p:spPr bwMode="auto">
          <a:xfrm>
            <a:off x="3505200" y="4724400"/>
            <a:ext cx="3581400" cy="1676400"/>
          </a:xfrm>
          <a:prstGeom prst="ellipse">
            <a:avLst/>
          </a:prstGeom>
          <a:solidFill>
            <a:srgbClr val="FFFF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121" name="Oval 17"/>
          <p:cNvSpPr>
            <a:spLocks noChangeArrowheads="1"/>
          </p:cNvSpPr>
          <p:nvPr/>
        </p:nvSpPr>
        <p:spPr bwMode="auto">
          <a:xfrm>
            <a:off x="2743200" y="2514600"/>
            <a:ext cx="1905000" cy="1905000"/>
          </a:xfrm>
          <a:prstGeom prst="ellipse">
            <a:avLst/>
          </a:prstGeom>
          <a:solidFill>
            <a:srgbClr val="CCFFFF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7122" name="Oval 18"/>
          <p:cNvSpPr>
            <a:spLocks noChangeArrowheads="1"/>
          </p:cNvSpPr>
          <p:nvPr/>
        </p:nvSpPr>
        <p:spPr bwMode="auto">
          <a:xfrm>
            <a:off x="4648200" y="1447800"/>
            <a:ext cx="2819400" cy="2895600"/>
          </a:xfrm>
          <a:prstGeom prst="ellipse">
            <a:avLst/>
          </a:prstGeom>
          <a:solidFill>
            <a:srgbClr val="FF99CC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669925" y="1862138"/>
            <a:ext cx="5807075" cy="4081462"/>
            <a:chOff x="422" y="1173"/>
            <a:chExt cx="3658" cy="2571"/>
          </a:xfrm>
        </p:grpSpPr>
        <p:sp>
          <p:nvSpPr>
            <p:cNvPr id="47123" name="Line 19"/>
            <p:cNvSpPr>
              <a:spLocks noChangeShapeType="1"/>
            </p:cNvSpPr>
            <p:nvPr/>
          </p:nvSpPr>
          <p:spPr bwMode="auto">
            <a:xfrm flipH="1" flipV="1">
              <a:off x="2112" y="1968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7124" name="Line 20"/>
            <p:cNvSpPr>
              <a:spLocks noChangeShapeType="1"/>
            </p:cNvSpPr>
            <p:nvPr/>
          </p:nvSpPr>
          <p:spPr bwMode="auto">
            <a:xfrm flipV="1">
              <a:off x="2304" y="1968"/>
              <a:ext cx="33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7125" name="Line 21"/>
            <p:cNvSpPr>
              <a:spLocks noChangeShapeType="1"/>
            </p:cNvSpPr>
            <p:nvPr/>
          </p:nvSpPr>
          <p:spPr bwMode="auto">
            <a:xfrm flipH="1">
              <a:off x="2208" y="2160"/>
              <a:ext cx="96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7126" name="Line 22"/>
            <p:cNvSpPr>
              <a:spLocks noChangeShapeType="1"/>
            </p:cNvSpPr>
            <p:nvPr/>
          </p:nvSpPr>
          <p:spPr bwMode="auto">
            <a:xfrm flipH="1" flipV="1">
              <a:off x="3120" y="3408"/>
              <a:ext cx="192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7127" name="Line 23"/>
            <p:cNvSpPr>
              <a:spLocks noChangeShapeType="1"/>
            </p:cNvSpPr>
            <p:nvPr/>
          </p:nvSpPr>
          <p:spPr bwMode="auto">
            <a:xfrm flipV="1">
              <a:off x="3312" y="3168"/>
              <a:ext cx="3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7128" name="Line 24"/>
            <p:cNvSpPr>
              <a:spLocks noChangeShapeType="1"/>
            </p:cNvSpPr>
            <p:nvPr/>
          </p:nvSpPr>
          <p:spPr bwMode="auto">
            <a:xfrm>
              <a:off x="3312" y="3456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7129" name="Line 25"/>
            <p:cNvSpPr>
              <a:spLocks noChangeShapeType="1"/>
            </p:cNvSpPr>
            <p:nvPr/>
          </p:nvSpPr>
          <p:spPr bwMode="auto">
            <a:xfrm flipH="1" flipV="1">
              <a:off x="3312" y="1296"/>
              <a:ext cx="48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7130" name="Line 26"/>
            <p:cNvSpPr>
              <a:spLocks noChangeShapeType="1"/>
            </p:cNvSpPr>
            <p:nvPr/>
          </p:nvSpPr>
          <p:spPr bwMode="auto">
            <a:xfrm>
              <a:off x="3792" y="182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7131" name="Line 27"/>
            <p:cNvSpPr>
              <a:spLocks noChangeShapeType="1"/>
            </p:cNvSpPr>
            <p:nvPr/>
          </p:nvSpPr>
          <p:spPr bwMode="auto">
            <a:xfrm>
              <a:off x="3792" y="1824"/>
              <a:ext cx="14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7132" name="Text Box 28"/>
            <p:cNvSpPr txBox="1">
              <a:spLocks noChangeArrowheads="1"/>
            </p:cNvSpPr>
            <p:nvPr/>
          </p:nvSpPr>
          <p:spPr bwMode="auto">
            <a:xfrm>
              <a:off x="422" y="1173"/>
              <a:ext cx="940" cy="6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b="1">
                  <a:solidFill>
                    <a:srgbClr val="008000"/>
                  </a:solidFill>
                  <a:latin typeface="Arial" pitchFamily="34" charset="0"/>
                  <a:cs typeface="Arial" pitchFamily="34" charset="0"/>
                </a:rPr>
                <a:t>Just right;</a:t>
              </a:r>
            </a:p>
            <a:p>
              <a:r>
                <a:rPr lang="en-US" sz="2000">
                  <a:solidFill>
                    <a:srgbClr val="008000"/>
                  </a:solidFill>
                  <a:latin typeface="Arial" pitchFamily="34" charset="0"/>
                  <a:cs typeface="Arial" pitchFamily="34" charset="0"/>
                </a:rPr>
                <a:t>distances</a:t>
              </a:r>
            </a:p>
            <a:p>
              <a:r>
                <a:rPr lang="en-US" sz="2000">
                  <a:solidFill>
                    <a:srgbClr val="008000"/>
                  </a:solidFill>
                  <a:latin typeface="Arial" pitchFamily="34" charset="0"/>
                  <a:cs typeface="Arial" pitchFamily="34" charset="0"/>
                </a:rPr>
                <a:t>rather short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38036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Picking </a:t>
            </a:r>
            <a:r>
              <a:rPr lang="en-US" i="1"/>
              <a:t>k</a:t>
            </a:r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2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AE27D7-CC6A-4EDE-AD37-64C22A802CBE}" type="slidenum">
              <a:rPr lang="en-US"/>
              <a:pPr/>
              <a:t>26</a:t>
            </a:fld>
            <a:endParaRPr lang="en-US"/>
          </a:p>
        </p:txBody>
      </p:sp>
      <p:sp>
        <p:nvSpPr>
          <p:cNvPr id="48131" name="Oval 3"/>
          <p:cNvSpPr>
            <a:spLocks noChangeArrowheads="1"/>
          </p:cNvSpPr>
          <p:nvPr/>
        </p:nvSpPr>
        <p:spPr bwMode="auto">
          <a:xfrm>
            <a:off x="2743200" y="2286000"/>
            <a:ext cx="1828800" cy="22860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charset="0"/>
              </a:rPr>
              <a:t>x        x</a:t>
            </a:r>
          </a:p>
          <a:p>
            <a:pPr algn="ctr"/>
            <a:r>
              <a:rPr lang="en-US">
                <a:latin typeface="Times New Roman" charset="0"/>
              </a:rPr>
              <a:t>x  x      x  x</a:t>
            </a:r>
          </a:p>
          <a:p>
            <a:pPr algn="ctr"/>
            <a:r>
              <a:rPr lang="en-US">
                <a:latin typeface="Times New Roman" charset="0"/>
              </a:rPr>
              <a:t>x   x x  x     </a:t>
            </a:r>
          </a:p>
          <a:p>
            <a:pPr algn="ctr"/>
            <a:r>
              <a:rPr lang="en-US">
                <a:latin typeface="Times New Roman" charset="0"/>
              </a:rPr>
              <a:t>x     x  x</a:t>
            </a:r>
          </a:p>
          <a:p>
            <a:pPr algn="ctr"/>
            <a:r>
              <a:rPr lang="en-US">
                <a:latin typeface="Times New Roman" charset="0"/>
              </a:rPr>
              <a:t>x   x</a:t>
            </a:r>
          </a:p>
        </p:txBody>
      </p:sp>
      <p:sp>
        <p:nvSpPr>
          <p:cNvPr id="48132" name="Oval 4"/>
          <p:cNvSpPr>
            <a:spLocks noChangeArrowheads="1"/>
          </p:cNvSpPr>
          <p:nvPr/>
        </p:nvSpPr>
        <p:spPr bwMode="auto">
          <a:xfrm>
            <a:off x="5486400" y="1524000"/>
            <a:ext cx="1752600" cy="28194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charset="0"/>
              </a:rPr>
              <a:t>x</a:t>
            </a:r>
          </a:p>
          <a:p>
            <a:pPr algn="ctr"/>
            <a:r>
              <a:rPr lang="en-US">
                <a:latin typeface="Times New Roman" charset="0"/>
              </a:rPr>
              <a:t>xx    x</a:t>
            </a:r>
          </a:p>
          <a:p>
            <a:pPr algn="ctr"/>
            <a:r>
              <a:rPr lang="en-US">
                <a:latin typeface="Times New Roman" charset="0"/>
              </a:rPr>
              <a:t>x  x        </a:t>
            </a:r>
          </a:p>
          <a:p>
            <a:pPr algn="ctr"/>
            <a:r>
              <a:rPr lang="en-US">
                <a:latin typeface="Times New Roman" charset="0"/>
              </a:rPr>
              <a:t>x    x  x   </a:t>
            </a:r>
          </a:p>
          <a:p>
            <a:pPr algn="ctr"/>
            <a:r>
              <a:rPr lang="en-US">
                <a:latin typeface="Times New Roman" charset="0"/>
              </a:rPr>
              <a:t>x</a:t>
            </a:r>
          </a:p>
          <a:p>
            <a:pPr algn="ctr"/>
            <a:r>
              <a:rPr lang="en-US">
                <a:latin typeface="Times New Roman" charset="0"/>
              </a:rPr>
              <a:t>x x   x</a:t>
            </a:r>
          </a:p>
          <a:p>
            <a:pPr algn="ctr"/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48133" name="Oval 5"/>
          <p:cNvSpPr>
            <a:spLocks noChangeArrowheads="1"/>
          </p:cNvSpPr>
          <p:nvPr/>
        </p:nvSpPr>
        <p:spPr bwMode="auto">
          <a:xfrm>
            <a:off x="4572000" y="4648200"/>
            <a:ext cx="1905000" cy="1600200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latin typeface="Times New Roman" charset="0"/>
              </a:rPr>
              <a:t>     x   x</a:t>
            </a:r>
          </a:p>
          <a:p>
            <a:pPr algn="ctr"/>
            <a:r>
              <a:rPr lang="en-US">
                <a:latin typeface="Times New Roman" charset="0"/>
              </a:rPr>
              <a:t>x  x    x    x</a:t>
            </a:r>
          </a:p>
          <a:p>
            <a:pPr algn="ctr"/>
            <a:r>
              <a:rPr lang="en-US">
                <a:latin typeface="Times New Roman" charset="0"/>
              </a:rPr>
              <a:t>  x    x     x</a:t>
            </a:r>
          </a:p>
          <a:p>
            <a:pPr algn="ctr"/>
            <a:r>
              <a:rPr lang="en-US">
                <a:latin typeface="Times New Roman" charset="0"/>
              </a:rPr>
              <a:t>x  </a:t>
            </a:r>
          </a:p>
        </p:txBody>
      </p:sp>
      <p:sp>
        <p:nvSpPr>
          <p:cNvPr id="48134" name="Text Box 6"/>
          <p:cNvSpPr txBox="1">
            <a:spLocks noChangeArrowheads="1"/>
          </p:cNvSpPr>
          <p:nvPr/>
        </p:nvSpPr>
        <p:spPr bwMode="auto">
          <a:xfrm>
            <a:off x="5013325" y="1717675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48135" name="Text Box 7"/>
          <p:cNvSpPr txBox="1">
            <a:spLocks noChangeArrowheads="1"/>
          </p:cNvSpPr>
          <p:nvPr/>
        </p:nvSpPr>
        <p:spPr bwMode="auto">
          <a:xfrm>
            <a:off x="3641725" y="4918075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latin typeface="Times New Roman" charset="0"/>
              </a:rPr>
              <a:t>x</a:t>
            </a:r>
          </a:p>
        </p:txBody>
      </p:sp>
      <p:sp>
        <p:nvSpPr>
          <p:cNvPr id="48137" name="Oval 9"/>
          <p:cNvSpPr>
            <a:spLocks noChangeArrowheads="1"/>
          </p:cNvSpPr>
          <p:nvPr/>
        </p:nvSpPr>
        <p:spPr bwMode="auto">
          <a:xfrm>
            <a:off x="3505200" y="4724400"/>
            <a:ext cx="3581400" cy="1676400"/>
          </a:xfrm>
          <a:prstGeom prst="ellipse">
            <a:avLst/>
          </a:prstGeom>
          <a:solidFill>
            <a:srgbClr val="FFFF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145" name="Oval 17"/>
          <p:cNvSpPr>
            <a:spLocks noChangeArrowheads="1"/>
          </p:cNvSpPr>
          <p:nvPr/>
        </p:nvSpPr>
        <p:spPr bwMode="auto">
          <a:xfrm>
            <a:off x="2819400" y="2514600"/>
            <a:ext cx="1752600" cy="1905000"/>
          </a:xfrm>
          <a:prstGeom prst="ellipse">
            <a:avLst/>
          </a:prstGeom>
          <a:solidFill>
            <a:srgbClr val="CCFFCC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146" name="Oval 18"/>
          <p:cNvSpPr>
            <a:spLocks noChangeArrowheads="1"/>
          </p:cNvSpPr>
          <p:nvPr/>
        </p:nvSpPr>
        <p:spPr bwMode="auto">
          <a:xfrm>
            <a:off x="5029200" y="1524000"/>
            <a:ext cx="2133600" cy="1600200"/>
          </a:xfrm>
          <a:prstGeom prst="ellipse">
            <a:avLst/>
          </a:prstGeom>
          <a:solidFill>
            <a:srgbClr val="CC99FF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147" name="Oval 19"/>
          <p:cNvSpPr>
            <a:spLocks noChangeArrowheads="1"/>
          </p:cNvSpPr>
          <p:nvPr/>
        </p:nvSpPr>
        <p:spPr bwMode="auto">
          <a:xfrm>
            <a:off x="5867400" y="3200400"/>
            <a:ext cx="990600" cy="1066800"/>
          </a:xfrm>
          <a:prstGeom prst="ellipse">
            <a:avLst/>
          </a:prstGeom>
          <a:solidFill>
            <a:srgbClr val="99CCFF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593725" y="1633538"/>
            <a:ext cx="5959475" cy="2328862"/>
            <a:chOff x="374" y="1029"/>
            <a:chExt cx="3754" cy="1467"/>
          </a:xfrm>
        </p:grpSpPr>
        <p:sp>
          <p:nvSpPr>
            <p:cNvPr id="48148" name="Line 20"/>
            <p:cNvSpPr>
              <a:spLocks noChangeShapeType="1"/>
            </p:cNvSpPr>
            <p:nvPr/>
          </p:nvSpPr>
          <p:spPr bwMode="auto">
            <a:xfrm flipH="1" flipV="1">
              <a:off x="3360" y="1296"/>
              <a:ext cx="43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8149" name="Line 21"/>
            <p:cNvSpPr>
              <a:spLocks noChangeShapeType="1"/>
            </p:cNvSpPr>
            <p:nvPr/>
          </p:nvSpPr>
          <p:spPr bwMode="auto">
            <a:xfrm flipV="1">
              <a:off x="3792" y="1440"/>
              <a:ext cx="33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8150" name="Line 22"/>
            <p:cNvSpPr>
              <a:spLocks noChangeShapeType="1"/>
            </p:cNvSpPr>
            <p:nvPr/>
          </p:nvSpPr>
          <p:spPr bwMode="auto">
            <a:xfrm>
              <a:off x="3792" y="1488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8152" name="Line 24"/>
            <p:cNvSpPr>
              <a:spLocks noChangeShapeType="1"/>
            </p:cNvSpPr>
            <p:nvPr/>
          </p:nvSpPr>
          <p:spPr bwMode="auto">
            <a:xfrm flipV="1">
              <a:off x="3984" y="216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8153" name="Line 25"/>
            <p:cNvSpPr>
              <a:spLocks noChangeShapeType="1"/>
            </p:cNvSpPr>
            <p:nvPr/>
          </p:nvSpPr>
          <p:spPr bwMode="auto">
            <a:xfrm>
              <a:off x="3984" y="235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8154" name="Line 26"/>
            <p:cNvSpPr>
              <a:spLocks noChangeShapeType="1"/>
            </p:cNvSpPr>
            <p:nvPr/>
          </p:nvSpPr>
          <p:spPr bwMode="auto">
            <a:xfrm flipH="1">
              <a:off x="3936" y="2352"/>
              <a:ext cx="4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8155" name="Text Box 27"/>
            <p:cNvSpPr txBox="1">
              <a:spLocks noChangeArrowheads="1"/>
            </p:cNvSpPr>
            <p:nvPr/>
          </p:nvSpPr>
          <p:spPr bwMode="auto">
            <a:xfrm>
              <a:off x="374" y="1029"/>
              <a:ext cx="1382" cy="8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b="1">
                  <a:solidFill>
                    <a:srgbClr val="008000"/>
                  </a:solidFill>
                  <a:latin typeface="Arial" pitchFamily="34" charset="0"/>
                  <a:cs typeface="Arial" pitchFamily="34" charset="0"/>
                </a:rPr>
                <a:t>Too many;</a:t>
              </a:r>
            </a:p>
            <a:p>
              <a:r>
                <a:rPr lang="en-US" sz="2000">
                  <a:solidFill>
                    <a:srgbClr val="008000"/>
                  </a:solidFill>
                  <a:latin typeface="Arial" pitchFamily="34" charset="0"/>
                  <a:cs typeface="Arial" pitchFamily="34" charset="0"/>
                </a:rPr>
                <a:t>little improvement</a:t>
              </a:r>
            </a:p>
            <a:p>
              <a:r>
                <a:rPr lang="en-US" sz="2000">
                  <a:solidFill>
                    <a:srgbClr val="008000"/>
                  </a:solidFill>
                  <a:latin typeface="Arial" pitchFamily="34" charset="0"/>
                  <a:cs typeface="Arial" pitchFamily="34" charset="0"/>
                </a:rPr>
                <a:t>in average</a:t>
              </a:r>
            </a:p>
            <a:p>
              <a:r>
                <a:rPr lang="en-US" sz="2000">
                  <a:solidFill>
                    <a:srgbClr val="008000"/>
                  </a:solidFill>
                  <a:latin typeface="Arial" pitchFamily="34" charset="0"/>
                  <a:cs typeface="Arial" pitchFamily="34" charset="0"/>
                </a:rPr>
                <a:t>distance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54133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534400" cy="5257801"/>
          </a:xfrm>
        </p:spPr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Clustering:</a:t>
            </a:r>
            <a:r>
              <a:rPr lang="en-US" b="1" dirty="0"/>
              <a:t> </a:t>
            </a:r>
            <a:r>
              <a:rPr lang="en-US" dirty="0"/>
              <a:t>Given a </a:t>
            </a:r>
            <a:r>
              <a:rPr lang="en-US" b="1" dirty="0"/>
              <a:t>set of points</a:t>
            </a:r>
            <a:r>
              <a:rPr lang="en-US" dirty="0"/>
              <a:t>, with a notion of </a:t>
            </a:r>
            <a:r>
              <a:rPr lang="en-US" b="1" dirty="0"/>
              <a:t>distance</a:t>
            </a:r>
            <a:r>
              <a:rPr lang="en-US" dirty="0"/>
              <a:t> between points, </a:t>
            </a:r>
            <a:r>
              <a:rPr lang="en-US" b="1" dirty="0"/>
              <a:t>group the points</a:t>
            </a:r>
            <a:r>
              <a:rPr lang="en-US" dirty="0"/>
              <a:t> into some number of </a:t>
            </a:r>
            <a:r>
              <a:rPr lang="en-US" b="1" i="1" dirty="0">
                <a:solidFill>
                  <a:srgbClr val="FF0066"/>
                </a:solidFill>
              </a:rPr>
              <a:t>clusters</a:t>
            </a:r>
            <a:endParaRPr lang="en-US" dirty="0"/>
          </a:p>
          <a:p>
            <a:r>
              <a:rPr lang="en-US" b="1" dirty="0">
                <a:solidFill>
                  <a:srgbClr val="008000"/>
                </a:solidFill>
              </a:rPr>
              <a:t>Algorithms:</a:t>
            </a:r>
          </a:p>
          <a:p>
            <a:pPr lvl="1"/>
            <a:r>
              <a:rPr lang="en-US" dirty="0"/>
              <a:t>Agglomerative </a:t>
            </a:r>
            <a:r>
              <a:rPr lang="en-US" b="1" dirty="0"/>
              <a:t>hierarchical clustering</a:t>
            </a:r>
            <a:r>
              <a:rPr lang="en-US" dirty="0"/>
              <a:t>: </a:t>
            </a:r>
          </a:p>
          <a:p>
            <a:pPr lvl="2"/>
            <a:r>
              <a:rPr lang="en-US" dirty="0"/>
              <a:t>Centroid and </a:t>
            </a:r>
            <a:r>
              <a:rPr lang="en-US" dirty="0" err="1"/>
              <a:t>clustroid</a:t>
            </a:r>
            <a:endParaRPr lang="en-US" dirty="0"/>
          </a:p>
          <a:p>
            <a:pPr lvl="1"/>
            <a:r>
              <a:rPr lang="en-US" b="1" i="1" dirty="0"/>
              <a:t>k</a:t>
            </a:r>
            <a:r>
              <a:rPr lang="en-US" b="1" dirty="0"/>
              <a:t>-means: </a:t>
            </a:r>
          </a:p>
          <a:p>
            <a:pPr lvl="2"/>
            <a:r>
              <a:rPr lang="en-US" dirty="0"/>
              <a:t>Initialization, picking </a:t>
            </a:r>
            <a:r>
              <a:rPr lang="en-US" i="1" dirty="0"/>
              <a:t>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1/18/22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Jure Leskovec &amp; Mina Ghashami, Stanford CS246: Mining Massive Datasets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0525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>
    <a:spDef>
      <a:spPr>
        <a:ln w="38100">
          <a:solidFill>
            <a:srgbClr val="008000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spDef>
    <a:lnDef>
      <a:spPr>
        <a:ln w="28575"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smtClean="0">
            <a:latin typeface="Arial" pitchFamily="34" charset="0"/>
            <a:cs typeface="Arial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8317</TotalTime>
  <Words>1731</Words>
  <Application>Microsoft Macintosh PowerPoint</Application>
  <PresentationFormat>On-screen Show (4:3)</PresentationFormat>
  <Paragraphs>375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Calibri</vt:lpstr>
      <vt:lpstr>Cambria Math</vt:lpstr>
      <vt:lpstr>Corbel</vt:lpstr>
      <vt:lpstr>Times New Roman</vt:lpstr>
      <vt:lpstr>Wingdings</vt:lpstr>
      <vt:lpstr>Wingdings 2</vt:lpstr>
      <vt:lpstr>Module</vt:lpstr>
      <vt:lpstr>Clustering</vt:lpstr>
      <vt:lpstr>The Problem of Clustering</vt:lpstr>
      <vt:lpstr>Example: Clusters &amp; Outliers</vt:lpstr>
      <vt:lpstr>Clustering is a hard problem!</vt:lpstr>
      <vt:lpstr>Why is it hard?</vt:lpstr>
      <vt:lpstr>Overview: Clustering Strategies (1)</vt:lpstr>
      <vt:lpstr>Overview: Clustering Strategies (2)</vt:lpstr>
      <vt:lpstr>Overview: Clustering Strategies (3)</vt:lpstr>
      <vt:lpstr>Hierarchical vs point-assignment</vt:lpstr>
      <vt:lpstr>Hierarchical Clustering</vt:lpstr>
      <vt:lpstr>Hierarchical Clustering</vt:lpstr>
      <vt:lpstr>Hierarchical Clustering: Euclidean</vt:lpstr>
      <vt:lpstr>Example: Hierarchical clustering</vt:lpstr>
      <vt:lpstr>When to Stop?</vt:lpstr>
      <vt:lpstr> k-means Clustering</vt:lpstr>
      <vt:lpstr>k–means Algorithm(s)</vt:lpstr>
      <vt:lpstr>k–means Algorithm(s)</vt:lpstr>
      <vt:lpstr>Shortcoming of k-means</vt:lpstr>
      <vt:lpstr>k-Means++</vt:lpstr>
      <vt:lpstr>Example: Assigning Clusters</vt:lpstr>
      <vt:lpstr>Example: Assigning Clusters</vt:lpstr>
      <vt:lpstr>Example: Assigning Clusters</vt:lpstr>
      <vt:lpstr>Getting the k right</vt:lpstr>
      <vt:lpstr>Example: Picking k</vt:lpstr>
      <vt:lpstr>Example: Picking k</vt:lpstr>
      <vt:lpstr>Example: Picking k</vt:lpstr>
      <vt:lpstr>Summary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jure</dc:creator>
  <cp:lastModifiedBy>Microsoft Office User</cp:lastModifiedBy>
  <cp:revision>47</cp:revision>
  <cp:lastPrinted>2018-01-23T04:53:31Z</cp:lastPrinted>
  <dcterms:created xsi:type="dcterms:W3CDTF">2009-06-12T17:14:38Z</dcterms:created>
  <dcterms:modified xsi:type="dcterms:W3CDTF">2024-10-28T23:23:31Z</dcterms:modified>
</cp:coreProperties>
</file>