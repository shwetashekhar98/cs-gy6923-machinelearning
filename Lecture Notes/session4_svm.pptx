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20" r:id="rId3"/>
    <p:sldId id="257" r:id="rId4"/>
    <p:sldId id="258" r:id="rId5"/>
    <p:sldId id="259" r:id="rId6"/>
    <p:sldId id="260" r:id="rId7"/>
    <p:sldId id="261" r:id="rId8"/>
    <p:sldId id="262" r:id="rId9"/>
    <p:sldId id="32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322" r:id="rId31"/>
    <p:sldId id="283" r:id="rId32"/>
    <p:sldId id="291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2" r:id="rId41"/>
    <p:sldId id="293" r:id="rId42"/>
    <p:sldId id="294" r:id="rId43"/>
    <p:sldId id="295" r:id="rId44"/>
    <p:sldId id="296" r:id="rId45"/>
    <p:sldId id="297" r:id="rId46"/>
    <p:sldId id="323" r:id="rId47"/>
    <p:sldId id="298" r:id="rId48"/>
    <p:sldId id="299" r:id="rId49"/>
    <p:sldId id="300" r:id="rId50"/>
    <p:sldId id="304" r:id="rId51"/>
    <p:sldId id="305" r:id="rId52"/>
    <p:sldId id="306" r:id="rId53"/>
    <p:sldId id="318" r:id="rId54"/>
    <p:sldId id="319" r:id="rId55"/>
    <p:sldId id="307" r:id="rId56"/>
    <p:sldId id="308" r:id="rId57"/>
    <p:sldId id="309" r:id="rId58"/>
    <p:sldId id="310" r:id="rId59"/>
    <p:sldId id="311" r:id="rId60"/>
    <p:sldId id="31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95"/>
    <p:restoredTop sz="94663"/>
  </p:normalViewPr>
  <p:slideViewPr>
    <p:cSldViewPr snapToGrid="0">
      <p:cViewPr varScale="1">
        <p:scale>
          <a:sx n="148" d="100"/>
          <a:sy n="148" d="100"/>
        </p:scale>
        <p:origin x="11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9043-456F-979E-85BE-AF7EBF67C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19411-6194-264D-4C64-86E6B769F9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084F2-5864-57A9-EB3A-57410B1A7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92F2C-EDF3-ECC6-DACE-9D7E065D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DF868-EC51-9BDE-33A0-B672A6290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1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033A0-0843-DDA6-AB96-8CDD443A2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3EFA1-E68D-0561-F7A4-4F667FC18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7C495-B028-3A86-6C65-48450CC5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265A7-AF7E-F28C-73BC-7A39B346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32E08-3C5E-6353-58F2-BF3065189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44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659D-E88D-5EF8-C7C2-F3BBCEEA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B0653-0FCF-6331-10AD-8222BA89C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45DD7-E45F-7293-AAF2-826617B0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F9A9-03E6-2713-06CA-7C3ABCCBB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F74C2-341F-BB10-D1A7-1BCB7AC46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4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6604D-0FE9-BD67-3D0C-A1ED7B17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8EFCD-B2DE-A19D-D078-51408CC53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644E1-4771-7D5E-4ACA-4B7296EA9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A63D6-675C-BF12-8710-DCD479CFF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12303-64C9-400E-768B-59F5776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6B2505-0669-369A-A16B-2B7F9448C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74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93B2F-EA2F-61D9-50E8-633762573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47A51-3315-288C-6572-C481B0F52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6581C-02DE-0252-AA00-99E6E7BD5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A61E41-6EC3-2322-FF21-F36615DF7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471D2-7012-F650-4AE7-0C2569B31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AFC12-C04D-E38A-EF63-A0FC8FD05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CFDB0-0C38-49FB-A125-1E7416322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607D8F-F5E0-F504-7288-E026BC6D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69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1DF19-EBEB-1765-1B62-D1D2433A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C065AB-C5E6-4A7E-43B6-7D5A397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D6116-13A5-5D4C-ADE6-0A96086B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B624D-28E1-3AAE-2D90-40CF99093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1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6737C-C893-0EEC-0191-24BE66EF5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B0B92-7BD6-C6EE-0792-E81C4355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7B495-3DF3-3755-7F96-9E1CEB86F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35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D486-40BC-E939-40D8-23C0739C5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C701F-CDA5-5A6E-DBAD-DF2736240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7C3E6-D78E-2142-CFCE-F46DE1AEA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A1876-9B0D-5EE4-E531-DC57B1737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E6ACB-40E5-0EA2-02ED-69F249A2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2078A-7E3D-8D43-2162-12C79295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52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78D4-AD97-AA75-2C38-49ACFF06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834DDA-4149-4CD4-E83E-94ACEAF26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70813-F0C5-47E2-E652-43CA38EE4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63940-7B04-297F-CD79-299F2BF8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E535A-C970-0930-4979-FC0FB678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06CC1-C5D6-0367-A3B9-0B57639F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94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10290-6081-ED99-006A-45E64BFEF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91B930-E39F-A1C1-D8C7-1BEFC5926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31FE9-B750-0140-AF32-CD83B6DCA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263BE-657D-89D6-353E-09335B75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C6FD9-AEEE-D709-61FE-379AF8E1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6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EB71A1-D3B5-2AA2-5AE3-B6E723376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24A1D-AA54-015F-6C4B-3630BD7F1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DC019-43A3-1E14-6AC8-56BBF2291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F5088-8F38-EDDA-EFB5-BDFD976E4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CFB52-7A7B-AA4B-D6DE-44FF7278C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73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93EDBC-B831-0987-DB3D-5EAD1A34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A147F-F456-93E8-B6F8-9514A2DBE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F87B-B810-AD7E-5BBE-4CE7EA6F0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ADEC9-02DB-444A-A76D-01B2E937C8D5}" type="datetimeFigureOut">
              <a:rPr lang="en-US" smtClean="0"/>
              <a:t>9/24/24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E9485-6098-6841-8C6C-6E4AA8FB1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45380-BDB1-8776-0F7B-72132207A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97070-8642-0C4D-B5C9-1B3F4799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25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svivek.com/teaching/lectures/slides/svm/svm-intro.pdf" TargetMode="External"/><Relationship Id="rId2" Type="http://schemas.openxmlformats.org/officeDocument/2006/relationships/hyperlink" Target="https://svivek.com/teaching/lectures/slides/svm/svm-sgd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5D3A8-664A-535C-5C56-9AED7D4EA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068B8-4C90-3367-B854-3038101F6C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2899342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C1A8-C4AE-5E50-660B-EAC89C3D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– support vector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85914-C8F0-910A-29E6-42D2AA8E9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Perceptron</a:t>
            </a:r>
          </a:p>
          <a:p>
            <a:r>
              <a:rPr lang="en-US" dirty="0"/>
              <a:t>Adaline</a:t>
            </a:r>
          </a:p>
          <a:p>
            <a:r>
              <a:rPr lang="en-US" dirty="0"/>
              <a:t>Logistic regression</a:t>
            </a:r>
          </a:p>
          <a:p>
            <a:r>
              <a:rPr lang="en-US" dirty="0"/>
              <a:t>Linear classifier: 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endParaRPr lang="en-US" dirty="0"/>
          </a:p>
          <a:p>
            <a:r>
              <a:rPr lang="en-US" dirty="0"/>
              <a:t>Method: Gradient Descent </a:t>
            </a:r>
          </a:p>
          <a:p>
            <a:r>
              <a:rPr lang="en-US" dirty="0"/>
              <a:t>Logistic loss: log(1+exp(-</a:t>
            </a:r>
            <a:r>
              <a:rPr lang="en-US" dirty="0" err="1"/>
              <a:t>yW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))</a:t>
            </a:r>
          </a:p>
          <a:p>
            <a:r>
              <a:rPr lang="en-US" dirty="0"/>
              <a:t>Adaline loss: SME</a:t>
            </a:r>
          </a:p>
          <a:p>
            <a:r>
              <a:rPr lang="en-US" dirty="0"/>
              <a:t>Perceptron loss: max(0, -</a:t>
            </a:r>
            <a:r>
              <a:rPr lang="en-US" dirty="0" err="1"/>
              <a:t>yW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) </a:t>
            </a:r>
          </a:p>
          <a:p>
            <a:r>
              <a:rPr lang="en-US" dirty="0">
                <a:solidFill>
                  <a:srgbClr val="FF0000"/>
                </a:solidFill>
              </a:rPr>
              <a:t>Today: SVM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Linearly </a:t>
            </a:r>
            <a:r>
              <a:rPr lang="en-US" dirty="0" err="1">
                <a:solidFill>
                  <a:srgbClr val="FF0000"/>
                </a:solidFill>
              </a:rPr>
              <a:t>separabale</a:t>
            </a:r>
            <a:r>
              <a:rPr lang="en-US" dirty="0">
                <a:solidFill>
                  <a:srgbClr val="FF0000"/>
                </a:solidFill>
              </a:rPr>
              <a:t> | linearly non-separable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Hinge loss </a:t>
            </a:r>
          </a:p>
        </p:txBody>
      </p:sp>
    </p:spTree>
    <p:extLst>
      <p:ext uri="{BB962C8B-B14F-4D97-AF65-F5344CB8AC3E}">
        <p14:creationId xmlns:p14="http://schemas.microsoft.com/office/powerpoint/2010/main" val="1553564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AABCF-A7BE-F752-467A-7D73631F9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E148B-427E-B89B-5331-FC0D98381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9153C9-E505-DCF0-A062-AAF8292FE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6645"/>
            <a:ext cx="8871408" cy="582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8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2294-3BD1-2A2F-3653-6D58F061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AFFC-F601-B60D-A496-518860A5E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E340E-F7FE-8F19-1B84-74D558766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8" y="336840"/>
            <a:ext cx="8800707" cy="591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747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A63F-C27C-4ED6-50B6-05EE5274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291A-D442-FD73-DC43-53E106FEE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3B630B-4E8A-9066-4295-C6583393D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8399"/>
            <a:ext cx="8418922" cy="586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34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A63F-C27C-4ED6-50B6-05EE5274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291A-D442-FD73-DC43-53E106FEE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586A49-27F1-8240-409F-735FB6E58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2825"/>
            <a:ext cx="8371788" cy="5834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84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A63F-C27C-4ED6-50B6-05EE5274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291A-D442-FD73-DC43-53E106FEE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3F9BF3-90DB-4AB8-0642-6C0D9E11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8" y="325016"/>
            <a:ext cx="8593317" cy="585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6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CA63F-C27C-4ED6-50B6-05EE5274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1291A-D442-FD73-DC43-53E106FEE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6967A3-17A7-FD04-896C-7B40EECFA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8" y="331350"/>
            <a:ext cx="8612171" cy="584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61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25744-7901-7EB5-23E7-5217A63D8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875F-99E0-E41C-DCB8-314E2764D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Absolute value: |w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w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+ b| </a:t>
            </a:r>
          </a:p>
          <a:p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) as data point on the left side of hyperplane =&gt; </a:t>
            </a:r>
          </a:p>
          <a:p>
            <a:r>
              <a:rPr lang="en-US" dirty="0"/>
              <a:t>Sign(w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w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+ b) &lt; 0</a:t>
            </a:r>
          </a:p>
          <a:p>
            <a:r>
              <a:rPr lang="en-US" dirty="0"/>
              <a:t>Also we know that y = -1</a:t>
            </a:r>
          </a:p>
          <a:p>
            <a:r>
              <a:rPr lang="en-US" dirty="0"/>
              <a:t>Therefore y(w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w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+ b) is positive =&gt; </a:t>
            </a:r>
          </a:p>
          <a:p>
            <a:r>
              <a:rPr lang="en-US" dirty="0">
                <a:highlight>
                  <a:srgbClr val="FFFF00"/>
                </a:highlight>
              </a:rPr>
              <a:t>|w</a:t>
            </a:r>
            <a:r>
              <a:rPr lang="en-US" baseline="-25000" dirty="0">
                <a:highlight>
                  <a:srgbClr val="FFFF00"/>
                </a:highlight>
              </a:rPr>
              <a:t>1</a:t>
            </a:r>
            <a:r>
              <a:rPr lang="en-US" dirty="0">
                <a:highlight>
                  <a:srgbClr val="FFFF00"/>
                </a:highlight>
              </a:rPr>
              <a:t>x</a:t>
            </a:r>
            <a:r>
              <a:rPr lang="en-US" baseline="-25000" dirty="0">
                <a:highlight>
                  <a:srgbClr val="FFFF00"/>
                </a:highlight>
              </a:rPr>
              <a:t>1</a:t>
            </a:r>
            <a:r>
              <a:rPr lang="en-US" dirty="0">
                <a:highlight>
                  <a:srgbClr val="FFFF00"/>
                </a:highlight>
              </a:rPr>
              <a:t> + w</a:t>
            </a:r>
            <a:r>
              <a:rPr lang="en-US" baseline="-25000" dirty="0">
                <a:highlight>
                  <a:srgbClr val="FFFF00"/>
                </a:highlight>
              </a:rPr>
              <a:t>2</a:t>
            </a:r>
            <a:r>
              <a:rPr lang="en-US" dirty="0">
                <a:highlight>
                  <a:srgbClr val="FFFF00"/>
                </a:highlight>
              </a:rPr>
              <a:t>x</a:t>
            </a:r>
            <a:r>
              <a:rPr lang="en-US" baseline="-25000" dirty="0">
                <a:highlight>
                  <a:srgbClr val="FFFF00"/>
                </a:highlight>
              </a:rPr>
              <a:t>2</a:t>
            </a:r>
            <a:r>
              <a:rPr lang="en-US" dirty="0">
                <a:highlight>
                  <a:srgbClr val="FFFF00"/>
                </a:highlight>
              </a:rPr>
              <a:t> + b| = y(w</a:t>
            </a:r>
            <a:r>
              <a:rPr lang="en-US" baseline="-25000" dirty="0">
                <a:highlight>
                  <a:srgbClr val="FFFF00"/>
                </a:highlight>
              </a:rPr>
              <a:t>1</a:t>
            </a:r>
            <a:r>
              <a:rPr lang="en-US" dirty="0">
                <a:highlight>
                  <a:srgbClr val="FFFF00"/>
                </a:highlight>
              </a:rPr>
              <a:t>x</a:t>
            </a:r>
            <a:r>
              <a:rPr lang="en-US" baseline="-25000" dirty="0">
                <a:highlight>
                  <a:srgbClr val="FFFF00"/>
                </a:highlight>
              </a:rPr>
              <a:t>1</a:t>
            </a:r>
            <a:r>
              <a:rPr lang="en-US" dirty="0">
                <a:highlight>
                  <a:srgbClr val="FFFF00"/>
                </a:highlight>
              </a:rPr>
              <a:t> + w</a:t>
            </a:r>
            <a:r>
              <a:rPr lang="en-US" baseline="-25000" dirty="0">
                <a:highlight>
                  <a:srgbClr val="FFFF00"/>
                </a:highlight>
              </a:rPr>
              <a:t>2</a:t>
            </a:r>
            <a:r>
              <a:rPr lang="en-US" dirty="0">
                <a:highlight>
                  <a:srgbClr val="FFFF00"/>
                </a:highlight>
              </a:rPr>
              <a:t>x</a:t>
            </a:r>
            <a:r>
              <a:rPr lang="en-US" baseline="-25000" dirty="0">
                <a:highlight>
                  <a:srgbClr val="FFFF00"/>
                </a:highlight>
              </a:rPr>
              <a:t>2</a:t>
            </a:r>
            <a:r>
              <a:rPr lang="en-US" dirty="0">
                <a:highlight>
                  <a:srgbClr val="FFFF00"/>
                </a:highlight>
              </a:rPr>
              <a:t> + b) </a:t>
            </a:r>
          </a:p>
        </p:txBody>
      </p:sp>
    </p:spTree>
    <p:extLst>
      <p:ext uri="{BB962C8B-B14F-4D97-AF65-F5344CB8AC3E}">
        <p14:creationId xmlns:p14="http://schemas.microsoft.com/office/powerpoint/2010/main" val="2319176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90418-4762-37BF-6151-079EB7AF1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0208"/>
            <a:ext cx="8682872" cy="585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68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BE809-A320-81EA-6C53-6652B4218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46" y="287991"/>
            <a:ext cx="8631024" cy="588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16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6F557-1E32-CD43-6FFD-E74D99003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1" y="326796"/>
            <a:ext cx="7980575" cy="585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53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F84C24-09D5-EBAD-2DA8-D0A16F3A9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2598"/>
            <a:ext cx="7843887" cy="583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305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FFE788-527F-A011-4EF8-948AC74A0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6671"/>
            <a:ext cx="8013569" cy="586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59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FD83C-1A97-B0B6-0B84-9C09E31A5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2908"/>
            <a:ext cx="8041849" cy="585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88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98FF98-BBA5-375C-2F97-532B1907E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9" y="286897"/>
            <a:ext cx="8649878" cy="589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97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02AE8-EC75-5080-DEA2-5F65DF35A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8" y="297034"/>
            <a:ext cx="8565037" cy="587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682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FC0FA-5AE2-84C4-300C-9087E227C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5768"/>
            <a:ext cx="8569751" cy="585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013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8518C-6BFA-4126-4005-1132F94F5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6770"/>
            <a:ext cx="8343507" cy="576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6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3EE69-84E6-567F-C7AE-458821EF9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4454"/>
            <a:ext cx="8626311" cy="583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870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481430-7673-63FE-57F1-109A79D62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2" y="305922"/>
            <a:ext cx="8593318" cy="587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44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1992E-5A01-1128-2965-50528432C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5417"/>
            <a:ext cx="8494336" cy="593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28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0CB7F0-4899-F317-BE0F-4F345E9DC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9" y="265159"/>
            <a:ext cx="8527330" cy="591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86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989C96-F40A-CDB2-E9EB-3193FD2CA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646" y="300938"/>
            <a:ext cx="8725292" cy="58760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1DF6ED3-4A7D-0EA0-CDE4-F7A329520AA4}"/>
              </a:ext>
            </a:extLst>
          </p:cNvPr>
          <p:cNvSpPr/>
          <p:nvPr/>
        </p:nvSpPr>
        <p:spPr>
          <a:xfrm>
            <a:off x="3278038" y="1449238"/>
            <a:ext cx="2976113" cy="13457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56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BE2F67-47F7-9409-1741-CB03F5338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1" y="338444"/>
            <a:ext cx="8517903" cy="58385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20BAE5-BD1E-46FE-CA52-419195EFD731}"/>
              </a:ext>
            </a:extLst>
          </p:cNvPr>
          <p:cNvSpPr/>
          <p:nvPr/>
        </p:nvSpPr>
        <p:spPr>
          <a:xfrm>
            <a:off x="3355676" y="4225851"/>
            <a:ext cx="4071667" cy="1700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40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613A1A-E6BA-05C8-B58D-EA5F3ECE71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17879"/>
            <a:ext cx="9041091" cy="585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48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81A71-FE87-F180-7DF2-F6714F74B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9258"/>
            <a:ext cx="8381214" cy="583770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A4B43D-5A91-658E-9B65-E4F791796853}"/>
              </a:ext>
            </a:extLst>
          </p:cNvPr>
          <p:cNvSpPr/>
          <p:nvPr/>
        </p:nvSpPr>
        <p:spPr>
          <a:xfrm>
            <a:off x="3234906" y="2907102"/>
            <a:ext cx="2976113" cy="7936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3914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857FEB-1B48-D8BE-90D5-6535C7D11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71" y="339555"/>
            <a:ext cx="8583891" cy="58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2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FCC5-6841-BFDE-DB7A-53059173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4F0A-8E75-16A4-AAA0-D923C25E5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A92951-DF44-750F-FB1E-306606022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9646"/>
            <a:ext cx="8268093" cy="581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14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179C4-078F-0A71-671A-213113AD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set of loss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B9B74-04BC-8491-4825-127790020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C859C-DAEB-E769-E766-FEF6C7D5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76369"/>
            <a:ext cx="8789277" cy="47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35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DF644-2CDD-49CD-20E9-E7B0483BC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556"/>
            <a:ext cx="8701726" cy="586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48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5D3A8-664A-535C-5C56-9AED7D4EA2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 SVM</a:t>
            </a:r>
          </a:p>
        </p:txBody>
      </p:sp>
    </p:spTree>
    <p:extLst>
      <p:ext uri="{BB962C8B-B14F-4D97-AF65-F5344CB8AC3E}">
        <p14:creationId xmlns:p14="http://schemas.microsoft.com/office/powerpoint/2010/main" val="3696151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B991C2-CA5C-1AD5-2944-82B985A14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7506"/>
            <a:ext cx="8428348" cy="582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415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C36A86-F165-798E-57A8-DB2CBC4B4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9681"/>
            <a:ext cx="8381214" cy="5827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147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0E820-87C4-414D-B2B8-AB5E49D97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2547"/>
            <a:ext cx="8183252" cy="589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352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5FB62-BC9A-951C-714B-8884731FB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0492"/>
            <a:ext cx="8164398" cy="586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5345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BAA3A3-C5C2-F729-305E-4DC879D21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4753"/>
            <a:ext cx="8371788" cy="585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91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73596-068D-6463-6F49-F6D63CCDC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1219"/>
            <a:ext cx="8654592" cy="582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559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3F4FB7-88D6-B4DC-A2FD-539CA35B0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99" y="350238"/>
            <a:ext cx="8461342" cy="582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680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BCB204-8795-EA48-BDD0-606D1663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1604"/>
            <a:ext cx="8324654" cy="582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445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9743B-D34B-BBA9-B2F9-734C7C1A7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5577"/>
            <a:ext cx="8296373" cy="580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242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BC8063-8337-89CD-87CF-072900CB2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7316"/>
            <a:ext cx="8258666" cy="582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73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BA6E5-BAD1-5773-534E-18B412D7D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7951"/>
            <a:ext cx="8249239" cy="576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447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5C22F-AEA2-1E56-1DC5-33901E944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464"/>
            <a:ext cx="8371788" cy="585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048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FC5E52-E6BD-0240-D5A1-309243547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33764"/>
            <a:ext cx="8833701" cy="577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799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06A6A-4A25-AC3D-28CE-E0F18543F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of GD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92038-42EA-CC01-8D6F-25E2641FC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Batch GD = is also known as GD</a:t>
            </a:r>
          </a:p>
          <a:p>
            <a:pPr lvl="1"/>
            <a:r>
              <a:rPr lang="en-US" dirty="0"/>
              <a:t>Compute the GD </a:t>
            </a:r>
            <a:r>
              <a:rPr lang="en-US" dirty="0">
                <a:solidFill>
                  <a:srgbClr val="FF0000"/>
                </a:solidFill>
              </a:rPr>
              <a:t>over whole dataset</a:t>
            </a:r>
          </a:p>
          <a:p>
            <a:endParaRPr lang="en-US" dirty="0"/>
          </a:p>
          <a:p>
            <a:r>
              <a:rPr lang="en-US" dirty="0"/>
              <a:t>Stochastic GD</a:t>
            </a:r>
          </a:p>
          <a:p>
            <a:pPr lvl="1"/>
            <a:r>
              <a:rPr lang="en-US" dirty="0"/>
              <a:t>Compute GD over </a:t>
            </a:r>
            <a:r>
              <a:rPr lang="en-US" dirty="0">
                <a:solidFill>
                  <a:srgbClr val="FF0000"/>
                </a:solidFill>
              </a:rPr>
              <a:t>1 single example</a:t>
            </a:r>
          </a:p>
          <a:p>
            <a:endParaRPr lang="en-US" dirty="0"/>
          </a:p>
          <a:p>
            <a:r>
              <a:rPr lang="en-US" dirty="0"/>
              <a:t>Mini-batch GD</a:t>
            </a:r>
          </a:p>
          <a:p>
            <a:pPr lvl="1"/>
            <a:r>
              <a:rPr lang="en-US" dirty="0"/>
              <a:t>In between batch GD and stochastic GD</a:t>
            </a:r>
          </a:p>
          <a:p>
            <a:pPr lvl="1"/>
            <a:r>
              <a:rPr lang="en-US" dirty="0"/>
              <a:t>Lets take a sample of </a:t>
            </a:r>
            <a:r>
              <a:rPr lang="en-US" dirty="0">
                <a:solidFill>
                  <a:srgbClr val="FF0000"/>
                </a:solidFill>
              </a:rPr>
              <a:t>few data points </a:t>
            </a:r>
            <a:r>
              <a:rPr lang="en-US" dirty="0"/>
              <a:t>and compute GD over this sample</a:t>
            </a:r>
          </a:p>
        </p:txBody>
      </p:sp>
    </p:spTree>
    <p:extLst>
      <p:ext uri="{BB962C8B-B14F-4D97-AF65-F5344CB8AC3E}">
        <p14:creationId xmlns:p14="http://schemas.microsoft.com/office/powerpoint/2010/main" val="10588630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E29AD4-EA56-9310-8614-88FE3BE30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3311"/>
            <a:ext cx="8277520" cy="586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78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2A686-6015-BEBC-00F2-631277D5E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52060"/>
            <a:ext cx="8673445" cy="582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444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66E367-D336-97BF-2142-DB9BB10A6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18" y="365125"/>
            <a:ext cx="7772400" cy="581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782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12DD1-96AB-3F4F-CD24-72AC50BAC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8056"/>
            <a:ext cx="8183252" cy="583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681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71F8DD-867C-7A06-FF6C-1DC20A8D9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6533"/>
            <a:ext cx="8230386" cy="582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52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8BE48E-4135-73C1-D04A-5744A922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8133058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5587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EEF88-8B49-3444-EB3B-F113AE5B3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043AE-94E5-96EE-DA37-B15A84451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380AA-A2CD-5B3F-374A-D7BD0705D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1483"/>
            <a:ext cx="8277520" cy="585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555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C213-C8F4-CF24-8B85-396F3805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B9387-27A8-581C-BECE-EBCB3D7B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70376A-8322-9F46-3918-6EAA464A6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6484"/>
            <a:ext cx="8447202" cy="582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236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A085A-86BA-E47C-820D-AC742BBFB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9206"/>
            <a:ext cx="8324654" cy="585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797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FD15B5-4C6E-A247-9E9B-8DE710ECD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5125"/>
            <a:ext cx="8188663" cy="583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2691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2A0D2-2D1F-01BB-9F8D-B10CB7DA5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8373288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0032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E7754F-E063-DF1E-04B6-1514C9384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41078"/>
            <a:ext cx="8296373" cy="583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85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F2A6C-28D6-E19B-9AEF-F33E04F3F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23756"/>
            <a:ext cx="8456629" cy="585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804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6093-CB8A-3211-C586-FFF425ECE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0CB6E-140F-7386-5E87-ED82F5574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https://svivek.com/teaching/lectures/slides/svm/svm-sgd.pdf</a:t>
            </a:r>
            <a:endParaRPr lang="en-US" dirty="0"/>
          </a:p>
          <a:p>
            <a:r>
              <a:rPr lang="en-US" dirty="0">
                <a:hlinkClick r:id="rId3"/>
              </a:rPr>
              <a:t>https://svivek.com/teaching/lectures/slides/svm/svm-intro.pdf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543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5219</TotalTime>
  <Words>218</Words>
  <Application>Microsoft Macintosh PowerPoint</Application>
  <PresentationFormat>Widescreen</PresentationFormat>
  <Paragraphs>35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4" baseType="lpstr">
      <vt:lpstr>Arial</vt:lpstr>
      <vt:lpstr>Calibri</vt:lpstr>
      <vt:lpstr>Calibri Light</vt:lpstr>
      <vt:lpstr>Office Theme</vt:lpstr>
      <vt:lpstr>Machine Learning INET</vt:lpstr>
      <vt:lpstr>SVM – support vector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set of loss functions</vt:lpstr>
      <vt:lpstr>PowerPoint Presentation</vt:lpstr>
      <vt:lpstr>Training SVM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Variants of GD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8</cp:revision>
  <dcterms:created xsi:type="dcterms:W3CDTF">2024-09-20T01:04:20Z</dcterms:created>
  <dcterms:modified xsi:type="dcterms:W3CDTF">2024-09-24T23:06:16Z</dcterms:modified>
</cp:coreProperties>
</file>