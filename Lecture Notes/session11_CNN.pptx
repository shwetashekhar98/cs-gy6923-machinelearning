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51"/>
  </p:notesMasterIdLst>
  <p:sldIdLst>
    <p:sldId id="263" r:id="rId2"/>
    <p:sldId id="287" r:id="rId3"/>
    <p:sldId id="405" r:id="rId4"/>
    <p:sldId id="288" r:id="rId5"/>
    <p:sldId id="289" r:id="rId6"/>
    <p:sldId id="295" r:id="rId7"/>
    <p:sldId id="406" r:id="rId8"/>
    <p:sldId id="304" r:id="rId9"/>
    <p:sldId id="305" r:id="rId10"/>
    <p:sldId id="388" r:id="rId11"/>
    <p:sldId id="306" r:id="rId12"/>
    <p:sldId id="387" r:id="rId13"/>
    <p:sldId id="307" r:id="rId14"/>
    <p:sldId id="308" r:id="rId15"/>
    <p:sldId id="390" r:id="rId16"/>
    <p:sldId id="309" r:id="rId17"/>
    <p:sldId id="389" r:id="rId18"/>
    <p:sldId id="392" r:id="rId19"/>
    <p:sldId id="391" r:id="rId20"/>
    <p:sldId id="310" r:id="rId21"/>
    <p:sldId id="311" r:id="rId22"/>
    <p:sldId id="317" r:id="rId23"/>
    <p:sldId id="320" r:id="rId24"/>
    <p:sldId id="326" r:id="rId25"/>
    <p:sldId id="328" r:id="rId26"/>
    <p:sldId id="329" r:id="rId27"/>
    <p:sldId id="330" r:id="rId28"/>
    <p:sldId id="333" r:id="rId29"/>
    <p:sldId id="334" r:id="rId30"/>
    <p:sldId id="393" r:id="rId31"/>
    <p:sldId id="394" r:id="rId32"/>
    <p:sldId id="335" r:id="rId33"/>
    <p:sldId id="395" r:id="rId34"/>
    <p:sldId id="337" r:id="rId35"/>
    <p:sldId id="344" r:id="rId36"/>
    <p:sldId id="396" r:id="rId37"/>
    <p:sldId id="346" r:id="rId38"/>
    <p:sldId id="348" r:id="rId39"/>
    <p:sldId id="397" r:id="rId40"/>
    <p:sldId id="398" r:id="rId41"/>
    <p:sldId id="399" r:id="rId42"/>
    <p:sldId id="400" r:id="rId43"/>
    <p:sldId id="403" r:id="rId44"/>
    <p:sldId id="402" r:id="rId45"/>
    <p:sldId id="401" r:id="rId46"/>
    <p:sldId id="353" r:id="rId47"/>
    <p:sldId id="352" r:id="rId48"/>
    <p:sldId id="364" r:id="rId49"/>
    <p:sldId id="404" r:id="rId50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">
          <p15:clr>
            <a:srgbClr val="A4A3A4"/>
          </p15:clr>
        </p15:guide>
        <p15:guide id="3" pos="4608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bhinav Rawat" initials="" lastIdx="1" clrIdx="0"/>
  <p:cmAuthor id="1" name="Eric Brattain" initials="" lastIdx="12" clrIdx="1"/>
  <p:cmAuthor id="2" name="Rahul Nori" initials="" lastIdx="14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D9ABC3-9FB9-4517-B788-ABDCCCBEDBA0}">
  <a:tblStyle styleId="{3FD9ABC3-9FB9-4517-B788-ABDCCCBEDB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/>
    <p:restoredTop sz="90142"/>
  </p:normalViewPr>
  <p:slideViewPr>
    <p:cSldViewPr snapToGrid="0">
      <p:cViewPr varScale="1">
        <p:scale>
          <a:sx n="178" d="100"/>
          <a:sy n="178" d="100"/>
        </p:scale>
        <p:origin x="544" y="168"/>
      </p:cViewPr>
      <p:guideLst>
        <p:guide orient="horz" pos="1620"/>
        <p:guide pos="288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0-08T14:48:03.264" idx="11">
    <p:pos x="196" y="280"/>
    <p:text>We should define feature maps and subsampling before showing this diagram</p:text>
  </p:cm>
  <p:cm authorId="2" dt="2023-10-08T14:48:03.264" idx="13">
    <p:pos x="196" y="280"/>
    <p:text>Added a slide above this for the same.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4eff1cba7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24eff1cba7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82bcfd6d74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82bcfd6d74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algn="l">
              <a:buNone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What is an Image?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An image is a visual representation made up of a finite set of locations called pixels.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Each pixel is the smallest unit of an image and contains color information.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Together, the pixels create the entire picture seen in an image.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58750" indent="0" algn="l">
              <a:buNone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Pixels: The Building Blocks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Pixels are the individual building blocks that make up a digital image.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A pixel represents the smallest unit of an image and encodes color information.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The color of a pixel may be represented by RGB (red, green, blue) values or a grayscale intensity.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An image contains rows and columns of pixels, forming a 2D grid of points.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The number of pixels determines the resolution. Higher resolution means more, smaller pixels.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Changing pixel colors allows modifying parts of the image.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Pixels come together through the 2D grid structure to represent the entire visual information in an image.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82bcfd6d74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82bcfd6d74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algn="l">
              <a:buNone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What is an Image?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An image is a visual representation made up of a finite set of locations called pixels.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Each pixel is the smallest unit of an image and contains color information.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Together, the pixels create the entire picture seen in an image.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58750" indent="0" algn="l">
              <a:buNone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Pixels: The Building Blocks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Pixels are the individual building blocks that make up a digital image.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A pixel represents the smallest unit of an image and encodes color information.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The color of a pixel may be represented by RGB (red, green, blue) values or a grayscale intensity.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An image contains rows and columns of pixels, forming a 2D grid of points.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The number of pixels determines the resolution. Higher resolution means more, smaller pixels.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Changing pixel colors allows modifying parts of the image.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1917"/>
                </a:solidFill>
                <a:effectLst/>
                <a:latin typeface="-apple-system"/>
              </a:rPr>
              <a:t>Pixels come together through the 2D grid structure to represent the entire visual information in an image.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2519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60b55b6cf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60b55b6cf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82bcfd6d74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82bcfd6d74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e44f5c9a6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1e44f5c9a6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e44f5c9a6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1e44f5c9a6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749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e44f5c9a69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1e44f5c9a69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581d7df0c7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581d7df0c7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Convolutions play a crucial role in image manipulation, allowing us to enhance and transform images in various ways.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They involve applying filters or kernels to images, altering the pixel values and extracting meaningful features.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Talk about what are Convolutions to give the students a refresher?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Convolutions are mathematical operations performed on images using small matrices called filters or kernels.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Each filter consists of weights that determine how neighboring pixels contribute to the output.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581d7df0c7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581d7df0c7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Convolutions play a crucial role in image manipulation, allowing us to enhance and transform images in various ways.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They involve applying filters or kernels to images, altering the pixel values and extracting meaningful features.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Talk about what are Convolutions to give the students a refresher?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Convolutions are mathematical operations performed on images using small matrices called filters or kernels.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Each filter consists of weights that determine how neighboring pixels contribute to the output.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810235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581d7df0c7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2581d7df0c7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convolution operation involves sliding the filter over the image, computing a weighted sum of the pixel values at each position.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filter's weights are multiplied with the corresponding pixel values, and the resulting values are summed to obtain the output value at that position.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581d7df0c7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581d7df0c7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Convolutions play a crucial role in image manipulation, allowing us to enhance and transform images in various ways.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They involve applying filters or kernels to images, altering the pixel values and extracting meaningful features.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Talk about what are Convolutions to give the students a refresher?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Convolutions are mathematical operations performed on images using small matrices called filters or kernels.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Each filter consists of weights that determine how neighboring pixels contribute to the output.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44778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1e44f5c9a69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1e44f5c9a69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Talk about what is a convolution and how does it work. Also talk about why does it help.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Draw attention to the fact that this has been covered in one of the previous class “Neural Net Architectures” and give a refresher about what are the advantages.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Show how the filter being used works as shown in the example beside it.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581d7df0c7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2581d7df0c7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581d7df0c7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2581d7df0c7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89554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4c5c499bec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24c5c499bec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4c5c499bec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24c5c499bec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03826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4c5c499bec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24c5c499bec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48786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4c5c499bec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24c5c499bec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87960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3137f0d4fa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23137f0d4fa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4c5c499bec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24c5c499bec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4eff1cba7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g24eff1cba7f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282bcfd6d74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282bcfd6d74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282bcfd6d74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282bcfd6d74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Expand on the topics for Convolutions, Pooling, ReLU or other non-linear activation functions, Softmax and give a refresher on how they fit together referencing that they covered parts of it in Intro to Neural Nets and Neural Net Architecture (Previous lessons)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82bcfd6d74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282bcfd6d74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82bcfd6d74_0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282bcfd6d74_0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4c5c499bec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24c5c499bec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282bcfd6d74_0_7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7" name="Google Shape;727;g282bcfd6d74_0_7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1e44f5c9a69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1e44f5c9a69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1e44f5c9a69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1e44f5c9a69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13174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1e44f5c9a69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1e44f5c9a69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03366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282bcfd6d74_0_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282bcfd6d74_0_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282bcfd6d74_0_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282bcfd6d74_0_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Same padding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: Same padding is a padding technique to ensure the output volume of a convolutional operation has the same height and width as the input volume. It works by padding the input with zeros evenly on all sides such</a:t>
            </a:r>
            <a:r>
              <a:rPr lang="en-US" dirty="0"/>
              <a:t> that the spatial dimensions are unchanged after the convolution operation.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28590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84e6688080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84e6688080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1e44f5c9a69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1e44f5c9a69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1e44f5c9a69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1e44f5c9a69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36755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282bcfd6d74_0_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2" name="Google Shape;832;g282bcfd6d74_0_4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82bcfd6d74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82bcfd6d74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82bcfd6d74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82bcfd6d74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65541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82bcfd6d74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82bcfd6d74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204591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82bcfd6d74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82bcfd6d74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77402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82bcfd6d74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82bcfd6d74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39877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82bcfd6d74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82bcfd6d74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195921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82bcfd6d74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82bcfd6d74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85304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82bcfd6d74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82bcfd6d74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010954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284e6688080_1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284e6688080_1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284e6688080_1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284e6688080_1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282bcfd6d74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282bcfd6d74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Talk through shapes with whiteboard</a:t>
            </a:r>
            <a:endParaRPr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282bcfd6d74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282bcfd6d74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Talk through shapes with whiteboard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1234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4">
  <p:cSld name="TITLE_AND_BODY_4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(Centered)" type="secHead">
  <p:cSld name="SECTION_HEADER">
    <p:bg>
      <p:bgPr>
        <a:solidFill>
          <a:srgbClr val="324158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sz="6000" b="1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2F5CCC-063D-D4B2-EE25-E3B8B63B01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99519" y="4216400"/>
            <a:ext cx="3378200" cy="927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SECTION_HEADER_3">
    <p:bg>
      <p:bgPr>
        <a:solidFill>
          <a:srgbClr val="324158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/>
        </p:nvSpPr>
        <p:spPr>
          <a:xfrm>
            <a:off x="1132350" y="2061225"/>
            <a:ext cx="6879300" cy="9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" sz="6000" b="1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Thank You!</a:t>
            </a:r>
            <a:endParaRPr sz="6000" b="1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(White/Light Blue)(Centered)">
  <p:cSld name="SECTION_HEADER_2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sz="6000" b="1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&amp; Minimal Text (Centered)">
  <p:cSld name="SECTION_HEADER_2_1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sz="6000" b="1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096875" y="3649625"/>
            <a:ext cx="4923600" cy="4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/Title (Top)">
  <p:cSld name="SECTION_HEADER_1">
    <p:bg>
      <p:bgPr>
        <a:solidFill>
          <a:srgbClr val="324158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title"/>
          </p:nvPr>
        </p:nvSpPr>
        <p:spPr>
          <a:xfrm>
            <a:off x="311700" y="398275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sz="6000" b="1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(1 column) (Black text)" type="tx">
  <p:cSld name="TITLE_AND_BOD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" name="Google Shape;44;p11"/>
          <p:cNvSpPr txBox="1">
            <a:spLocks noGrp="1"/>
          </p:cNvSpPr>
          <p:nvPr>
            <p:ph type="subTitle" idx="1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2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93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lank (1 column) ">
  <p:cSld name="TITLE_AND_BODY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" name="Google Shape;49;p12"/>
          <p:cNvSpPr txBox="1">
            <a:spLocks noGrp="1"/>
          </p:cNvSpPr>
          <p:nvPr>
            <p:ph type="subTitle" idx="1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(1 column) (Light Blue text)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2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93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(Light blue/White)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93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93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title" idx="3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(Light blue/White) (Sides Flipped)">
  <p:cSld name="TITLE_AND_TWO_COLUMNS_2"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4584900" y="0"/>
            <a:ext cx="4572000" cy="5143500"/>
          </a:xfrm>
          <a:prstGeom prst="rect">
            <a:avLst/>
          </a:prstGeom>
          <a:solidFill>
            <a:srgbClr val="3896D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93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93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title" idx="3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(Light Blue/White) (Black Text)">
  <p:cSld name="TITLE_AND_TWO_COLUMNS_1"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ira Sans"/>
              <a:buNone/>
              <a:defRPr sz="3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93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937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93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title" idx="3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Fira Sans"/>
              <a:buNone/>
              <a:defRPr sz="3200"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Arrow (Light Blue Text)">
  <p:cSld name="TITLE_AND_TWO_COLUMNS_1_1"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 b="1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title" idx="2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 b="1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24158"/>
          </a:solidFill>
          <a:ln w="9525" cap="flat" cmpd="sng">
            <a:solidFill>
              <a:srgbClr val="3241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Arrow (Black Text)">
  <p:cSld name="TITLE_AND_TWO_COLUMNS_1_1_1">
    <p:bg>
      <p:bgPr>
        <a:solidFill>
          <a:schemeClr val="l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 b="1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title" idx="2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 b="1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8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24158"/>
          </a:solidFill>
          <a:ln w="9525" cap="flat" cmpd="sng">
            <a:solidFill>
              <a:srgbClr val="3241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Faded White)">
  <p:cSld name="BLANK_2">
    <p:bg>
      <p:bgPr>
        <a:solidFill>
          <a:srgbClr val="F0F3F6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Navy Blue)">
  <p:cSld name="BLANK_1">
    <p:bg>
      <p:bgPr>
        <a:solidFill>
          <a:srgbClr val="324158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Light Blue)">
  <p:cSld name="BLANK_1_1">
    <p:bg>
      <p:bgPr>
        <a:solidFill>
          <a:srgbClr val="3896D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ra Sans"/>
              <a:buNone/>
              <a:defRPr sz="52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2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324158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Font typeface="Fira Sans"/>
              <a:buNone/>
              <a:defRPr sz="2800" b="0" i="0" u="none" strike="noStrike" cap="non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"/>
              <a:buChar char="●"/>
              <a:defRPr sz="18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sz="14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sz="14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sz="14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sz="14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sz="14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sz="14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sz="14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Fira Sans"/>
              <a:buChar char="■"/>
              <a:defRPr sz="14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7407900" y="4678175"/>
            <a:ext cx="1650575" cy="42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0EDC7D0-AA68-E604-45EE-E867AEB56D0D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5718800" y="4214625"/>
            <a:ext cx="3378200" cy="9271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i.stanford.edu/~syyeung/cvweb/tutorial1.html" TargetMode="Externa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>
            <a:spLocks noGrp="1"/>
          </p:cNvSpPr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5000" dirty="0"/>
              <a:t>Machine Learning INET</a:t>
            </a:r>
            <a:br>
              <a:rPr lang="en" sz="5000" dirty="0"/>
            </a:br>
            <a:r>
              <a:rPr lang="en" sz="5000" dirty="0"/>
              <a:t>Fall 2024</a:t>
            </a:r>
            <a:endParaRPr sz="5000" dirty="0"/>
          </a:p>
        </p:txBody>
      </p:sp>
      <p:sp>
        <p:nvSpPr>
          <p:cNvPr id="163" name="Google Shape;163;p31"/>
          <p:cNvSpPr txBox="1">
            <a:spLocks noGrp="1"/>
          </p:cNvSpPr>
          <p:nvPr>
            <p:ph type="sldNum" idx="4294967295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 sz="13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fld>
            <a:endParaRPr sz="13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361" name="Google Shape;361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52499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Convolution operation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Convolutional Neural Networks</a:t>
            </a:r>
          </a:p>
          <a:p>
            <a:pPr lvl="1" indent="-342900">
              <a:spcBef>
                <a:spcPts val="0"/>
              </a:spcBef>
              <a:buSzPts val="1800"/>
              <a:buChar char="●"/>
            </a:pPr>
            <a:r>
              <a:rPr lang="en-US" dirty="0"/>
              <a:t>VGG</a:t>
            </a:r>
          </a:p>
          <a:p>
            <a:pPr lvl="1" indent="-342900">
              <a:spcBef>
                <a:spcPts val="0"/>
              </a:spcBef>
              <a:buSzPts val="1800"/>
              <a:buChar char="●"/>
            </a:pPr>
            <a:r>
              <a:rPr lang="en-US" dirty="0"/>
              <a:t>ResNet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2" name="Google Shape;362;p55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Images</a:t>
            </a:r>
            <a:endParaRPr/>
          </a:p>
        </p:txBody>
      </p:sp>
      <p:sp>
        <p:nvSpPr>
          <p:cNvPr id="361" name="Google Shape;361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841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What is an Image?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An image is a collection of finite locations or points.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Each location is called a "pixel."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Each pixel contains a color value.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Pixels: The Building Blocks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Pixels are the smallest units in an image.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2" name="Google Shape;362;p55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363" name="Google Shape;36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575" y="1323975"/>
            <a:ext cx="4012500" cy="3036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5582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Images</a:t>
            </a:r>
            <a:endParaRPr/>
          </a:p>
        </p:txBody>
      </p:sp>
      <p:sp>
        <p:nvSpPr>
          <p:cNvPr id="369" name="Google Shape;369;p56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370" name="Google Shape;37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075" y="1250863"/>
            <a:ext cx="7895225" cy="3240813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6"/>
          <p:cNvSpPr txBox="1"/>
          <p:nvPr/>
        </p:nvSpPr>
        <p:spPr>
          <a:xfrm>
            <a:off x="663275" y="4491675"/>
            <a:ext cx="732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Image Source: </a:t>
            </a:r>
            <a:endParaRPr sz="9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https://www.researchgate.net/publication/330902210_The_visual_digital_turn_Using_neural_networks_to_study_historical_images</a:t>
            </a:r>
            <a:endParaRPr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Images</a:t>
            </a:r>
            <a:endParaRPr/>
          </a:p>
        </p:txBody>
      </p:sp>
      <p:sp>
        <p:nvSpPr>
          <p:cNvPr id="377" name="Google Shape;377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51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Grayscale Images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use shades of gray to represent colors.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pixel in a grayscale image has a single value, typically ranging from 0 (black) to 255 (white).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Color Images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Uses a combination of colors to represent the full spectrum.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pixel in a color image typically has three values: Red, Green, and Blue (RGB).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57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379" name="Google Shape;37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9813" y="507649"/>
            <a:ext cx="2927576" cy="175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6025" y="2758525"/>
            <a:ext cx="2995174" cy="1704901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7"/>
          <p:cNvSpPr txBox="1"/>
          <p:nvPr/>
        </p:nvSpPr>
        <p:spPr>
          <a:xfrm>
            <a:off x="332747" y="4689800"/>
            <a:ext cx="6780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Image Source: </a:t>
            </a:r>
            <a:br>
              <a:rPr lang="en" sz="60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lang="en" sz="600" u="sng">
                <a:solidFill>
                  <a:schemeClr val="hlink"/>
                </a:solidFill>
                <a:latin typeface="Fira Sans"/>
                <a:ea typeface="Fira Sans"/>
                <a:cs typeface="Fira Sans"/>
                <a:sym typeface="Fira Sans"/>
                <a:hlinkClick r:id="rId5"/>
              </a:rPr>
              <a:t>https://ai.stanford.edu/~syyeung/cvweb/tutorial1.html</a:t>
            </a:r>
            <a:endParaRPr sz="6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https://victoriaprice135050.wordpress.com/2015/04/28/investigate-into-pixels-picture-element-and-image-resolution-intensity/</a:t>
            </a:r>
            <a:br>
              <a:rPr lang="en" sz="60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</a:br>
            <a:endParaRPr sz="6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RGB vs Grayscale vs Binary Image</a:t>
            </a:r>
            <a:endParaRPr/>
          </a:p>
        </p:txBody>
      </p:sp>
      <p:sp>
        <p:nvSpPr>
          <p:cNvPr id="428" name="Google Shape;428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Color Image: An RGB (Red, Green, Blue) image is a type of digital image that represents colors by combining three color channels, each corresponding to one of the primary colors. (Fig a)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Grayscale Image: A grayscale image is a single-channel image that represents variations in intensity using shades of gray. </a:t>
            </a:r>
            <a:r>
              <a:rPr lang="en" sz="1100">
                <a:solidFill>
                  <a:schemeClr val="lt1"/>
                </a:solidFill>
              </a:rPr>
              <a:t>(Fig b)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Binary Image: A binary image is a type of digital image that contains only two pixel values, typically representing objects as black and the background as white (or vice versa). </a:t>
            </a:r>
            <a:r>
              <a:rPr lang="en" sz="1100">
                <a:solidFill>
                  <a:schemeClr val="lt1"/>
                </a:solidFill>
              </a:rPr>
              <a:t>(Fig c)</a:t>
            </a:r>
            <a:endParaRPr sz="1100"/>
          </a:p>
        </p:txBody>
      </p:sp>
      <p:sp>
        <p:nvSpPr>
          <p:cNvPr id="429" name="Google Shape;429;p63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430" name="Google Shape;43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3776" y="2794074"/>
            <a:ext cx="6670102" cy="19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63"/>
          <p:cNvSpPr txBox="1"/>
          <p:nvPr/>
        </p:nvSpPr>
        <p:spPr>
          <a:xfrm>
            <a:off x="311700" y="4628200"/>
            <a:ext cx="56970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Image Source: https://www.researchgate.net/figure/Figure2-a-RGB-image-b-Gray-Scale-image-c-Binary-image_fig2_344249310</a:t>
            </a:r>
            <a:endParaRPr sz="9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Big Picture: Convolutional Neural Networks</a:t>
            </a:r>
            <a:endParaRPr dirty="0"/>
          </a:p>
        </p:txBody>
      </p:sp>
      <p:sp>
        <p:nvSpPr>
          <p:cNvPr id="429" name="Google Shape;429;p63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CF3C1-F31E-F0B4-7F83-36B3BC405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CNNs consist of :</a:t>
            </a:r>
          </a:p>
          <a:p>
            <a:pPr lvl="1"/>
            <a:r>
              <a:rPr lang="en-US" dirty="0"/>
              <a:t>convolutional layers for feature extraction</a:t>
            </a:r>
          </a:p>
          <a:p>
            <a:pPr lvl="1"/>
            <a:r>
              <a:rPr lang="en-US" dirty="0"/>
              <a:t>Pooling layers for down-sampling</a:t>
            </a:r>
          </a:p>
          <a:p>
            <a:pPr lvl="1"/>
            <a:r>
              <a:rPr lang="en-US" dirty="0"/>
              <a:t>Fully connected layers at the end for classification</a:t>
            </a:r>
          </a:p>
          <a:p>
            <a:endParaRPr lang="en-US" dirty="0"/>
          </a:p>
        </p:txBody>
      </p:sp>
      <p:pic>
        <p:nvPicPr>
          <p:cNvPr id="5" name="Google Shape;679;p94">
            <a:extLst>
              <a:ext uri="{FF2B5EF4-FFF2-40B4-BE49-F238E27FC236}">
                <a16:creationId xmlns:a16="http://schemas.microsoft.com/office/drawing/2014/main" id="{6604C28E-9D1A-56A8-BCED-A4BBB8A9F0C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708" y="3114675"/>
            <a:ext cx="7222330" cy="16430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4721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2"/>
          <p:cNvSpPr txBox="1">
            <a:spLocks noGrp="1"/>
          </p:cNvSpPr>
          <p:nvPr>
            <p:ph type="title"/>
          </p:nvPr>
        </p:nvSpPr>
        <p:spPr>
          <a:xfrm>
            <a:off x="234350" y="1943325"/>
            <a:ext cx="8520600" cy="8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Convolution Operation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5" name="Google Shape;505;p72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Understanding Convolutions</a:t>
            </a:r>
            <a:endParaRPr dirty="0"/>
          </a:p>
        </p:txBody>
      </p:sp>
      <p:sp>
        <p:nvSpPr>
          <p:cNvPr id="511" name="Google Shape;511;p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Convolution is the mathematical operation between a kernel (filter) and an input feature map.</a:t>
            </a:r>
          </a:p>
          <a:p>
            <a:pPr lvl="1" indent="-355600">
              <a:spcBef>
                <a:spcPts val="0"/>
              </a:spcBef>
              <a:buSzPts val="2000"/>
              <a:buChar char="●"/>
            </a:pPr>
            <a:r>
              <a:rPr lang="en-US" sz="1600" dirty="0"/>
              <a:t>The kernel is usually a small matrix e.g. 3*3 or 5*5</a:t>
            </a:r>
          </a:p>
          <a:p>
            <a:pPr lvl="1" indent="-355600">
              <a:spcBef>
                <a:spcPts val="0"/>
              </a:spcBef>
              <a:buSzPts val="2000"/>
              <a:buChar char="●"/>
            </a:pPr>
            <a:r>
              <a:rPr lang="en-US" sz="1600" dirty="0"/>
              <a:t>The input is always a feature map with height, width, and channels.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US" sz="2000" dirty="0"/>
          </a:p>
        </p:txBody>
      </p:sp>
      <p:sp>
        <p:nvSpPr>
          <p:cNvPr id="512" name="Google Shape;512;p73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D3975A-3080-1A27-68B9-6D736985A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620" y="2571750"/>
            <a:ext cx="4048760" cy="23370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Understanding Convolutions</a:t>
            </a:r>
            <a:endParaRPr dirty="0"/>
          </a:p>
        </p:txBody>
      </p:sp>
      <p:sp>
        <p:nvSpPr>
          <p:cNvPr id="512" name="Google Shape;512;p73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EEC0FC-1E64-0E23-F7E7-462C86875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223" y="1333153"/>
            <a:ext cx="4037767" cy="22432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E499A2-8B5A-137B-543D-A9494A14D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010" y="1337967"/>
            <a:ext cx="3886200" cy="224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6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do convolutions work?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7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358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Slide filter over image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Compute weighted sum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Weights x Pixel values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Sum for output value</a:t>
            </a:r>
            <a:endParaRPr sz="15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sp>
        <p:nvSpPr>
          <p:cNvPr id="520" name="Google Shape;520;p74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521" name="Google Shape;52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3375" y="1183825"/>
            <a:ext cx="3888925" cy="323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Convolutions in Image Manipulation</a:t>
            </a:r>
            <a:endParaRPr/>
          </a:p>
        </p:txBody>
      </p:sp>
      <p:sp>
        <p:nvSpPr>
          <p:cNvPr id="511" name="Google Shape;511;p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Enhance and transform images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Apply filters/kernels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Modify pixel values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Extract meaningful features</a:t>
            </a:r>
            <a:endParaRPr sz="2000"/>
          </a:p>
        </p:txBody>
      </p:sp>
      <p:sp>
        <p:nvSpPr>
          <p:cNvPr id="512" name="Google Shape;512;p73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513" name="Google Shape;51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4125" y="1063825"/>
            <a:ext cx="4457700" cy="3639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438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Filtering and Convolution</a:t>
            </a:r>
            <a:endParaRPr/>
          </a:p>
        </p:txBody>
      </p:sp>
      <p:sp>
        <p:nvSpPr>
          <p:cNvPr id="527" name="Google Shape;527;p75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528" name="Google Shape;52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35850"/>
            <a:ext cx="3882075" cy="26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75"/>
          <p:cNvSpPr txBox="1"/>
          <p:nvPr/>
        </p:nvSpPr>
        <p:spPr>
          <a:xfrm>
            <a:off x="153024" y="4558425"/>
            <a:ext cx="8466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Image Source: https://aigeekprogrammer.com/convolutional-neural-network-image-recognition-part-2/</a:t>
            </a:r>
            <a:endParaRPr sz="9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530" name="Google Shape;530;p75"/>
          <p:cNvPicPr preferRelativeResize="0"/>
          <p:nvPr/>
        </p:nvPicPr>
        <p:blipFill rotWithShape="1">
          <a:blip r:embed="rId4">
            <a:alphaModFix/>
          </a:blip>
          <a:srcRect b="50231"/>
          <a:stretch/>
        </p:blipFill>
        <p:spPr>
          <a:xfrm>
            <a:off x="4403900" y="1535850"/>
            <a:ext cx="4300200" cy="266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Applying Convolutions</a:t>
            </a:r>
            <a:endParaRPr sz="2600"/>
          </a:p>
        </p:txBody>
      </p:sp>
      <p:sp>
        <p:nvSpPr>
          <p:cNvPr id="536" name="Google Shape;536;p7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614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Convolution Parameters: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Stride: Determines the step size when sliding the filter over the image.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Padding: Adds additional pixels around the image to preserve spatial dimensions during convolution.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Size and Shape: Filters can vary in size and shape, allowing customization based on the desired effect.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76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538" name="Google Shape;53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8800" y="1170125"/>
            <a:ext cx="4912800" cy="196512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76"/>
          <p:cNvSpPr txBox="1"/>
          <p:nvPr/>
        </p:nvSpPr>
        <p:spPr>
          <a:xfrm>
            <a:off x="153024" y="4558425"/>
            <a:ext cx="8466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Image Source: http://makeyourownneuralnetwork.blogspot.com/2020/02/calculating-output-size-of-convolutions.html</a:t>
            </a:r>
            <a:endParaRPr sz="9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Applying Convolutions</a:t>
            </a:r>
            <a:endParaRPr sz="2600"/>
          </a:p>
        </p:txBody>
      </p:sp>
      <p:sp>
        <p:nvSpPr>
          <p:cNvPr id="536" name="Google Shape;536;p7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10235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Two main types of padding: </a:t>
            </a:r>
          </a:p>
          <a:p>
            <a:pPr lvl="1" indent="-342900">
              <a:spcBef>
                <a:spcPts val="0"/>
              </a:spcBef>
              <a:buSzPts val="1800"/>
              <a:buChar char="●"/>
            </a:pPr>
            <a:r>
              <a:rPr lang="en-US" dirty="0"/>
              <a:t>Same padding — Pad so that the output size matches the input size. </a:t>
            </a:r>
          </a:p>
          <a:p>
            <a:pPr lvl="1" indent="-342900">
              <a:spcBef>
                <a:spcPts val="0"/>
              </a:spcBef>
              <a:buSzPts val="1800"/>
              <a:buChar char="●"/>
            </a:pPr>
            <a:r>
              <a:rPr lang="en-US" dirty="0"/>
              <a:t>Valid padding — Use no padding. Output shrinks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7" name="Google Shape;537;p76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BA64EA-826D-CD0F-D776-2A786754B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8420" y="351065"/>
            <a:ext cx="3429780" cy="19598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E3D2DB-361E-E65B-A862-A49682A505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420" y="2571749"/>
            <a:ext cx="3433436" cy="198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152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Convolutional Layer</a:t>
            </a:r>
            <a:endParaRPr dirty="0"/>
          </a:p>
        </p:txBody>
      </p:sp>
      <p:sp>
        <p:nvSpPr>
          <p:cNvPr id="545" name="Google Shape;545;p7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 convolutional layer like any other layer consists of multiple neurons.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Each neuron in the convolutional layer has a set of weights defining its filter (kernel).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This filter is convolved with the input to generate a 2-D activation map.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The dimensions of output for each neuron is [height, width, 1].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If we stack together the output map of all neurons in one convolutional layer, then we will have an output of dimension [height, width, channel]; where channel is the number of neurons in the layer. Channel is the depth of the outcome.</a:t>
            </a:r>
            <a:endParaRPr dirty="0"/>
          </a:p>
        </p:txBody>
      </p:sp>
      <p:sp>
        <p:nvSpPr>
          <p:cNvPr id="546" name="Google Shape;546;p77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Convolutional Neural Network</a:t>
            </a:r>
            <a:endParaRPr dirty="0"/>
          </a:p>
        </p:txBody>
      </p:sp>
      <p:sp>
        <p:nvSpPr>
          <p:cNvPr id="545" name="Google Shape;545;p7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 Convolutional Neural Network (CNN) is a neural network that consists of multiple convolutional layers, pooling layers and fully connected layers. It is often to process grid-like topology, such as images.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The convolutional layers apply a convolution operation to the input using a set of learnable filters. They together build feature map hierarchies.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The pooling layers (max pooling or average pooling) down-sample the feature maps to reduce computation.</a:t>
            </a:r>
            <a:endParaRPr dirty="0"/>
          </a:p>
        </p:txBody>
      </p:sp>
      <p:sp>
        <p:nvSpPr>
          <p:cNvPr id="546" name="Google Shape;546;p77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9535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Convolutional Neural Network</a:t>
            </a:r>
            <a:endParaRPr dirty="0"/>
          </a:p>
        </p:txBody>
      </p:sp>
      <p:sp>
        <p:nvSpPr>
          <p:cNvPr id="546" name="Google Shape;546;p77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CE8BC0-9B4B-68D0-B16A-02A00907F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08993"/>
            <a:ext cx="7772400" cy="252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59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CNNs refresher</a:t>
            </a:r>
            <a:endParaRPr/>
          </a:p>
        </p:txBody>
      </p:sp>
      <p:sp>
        <p:nvSpPr>
          <p:cNvPr id="545" name="Google Shape;545;p7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Feature Maps in CNNs: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Output of convolutional filters detecting patterns like edges or textures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Multiple filters generate diverse feature maps capturing specific aspects of the input.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Subsampling (Pooling) in CNNs: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Reduces spatial dimensions of feature maps (width and height).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Max-pooling retains maximum values, emphasizing prominent features.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Average-pooling calculates averages, providing smoothed representations. 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Purposes of Subsampling: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Dimensionality Reduction: Fewer parameters enhance computational efficiency.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Translation Invariance: Makes the network less sensitive to position changes.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Focusing on Relevant Features: Retains essential information, discarding redundant details.</a:t>
            </a:r>
            <a:endParaRPr dirty="0"/>
          </a:p>
        </p:txBody>
      </p:sp>
      <p:sp>
        <p:nvSpPr>
          <p:cNvPr id="546" name="Google Shape;546;p77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5249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8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552" name="Google Shape;552;p78"/>
          <p:cNvSpPr txBox="1"/>
          <p:nvPr/>
        </p:nvSpPr>
        <p:spPr>
          <a:xfrm>
            <a:off x="153024" y="4558425"/>
            <a:ext cx="8466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Image Source: https://datalya.com/blog/machine-learning/why-convolution-is-useful-in-neural-networks</a:t>
            </a:r>
            <a:endParaRPr sz="9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553" name="Google Shape;55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2719754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7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CNNs refresher</a:t>
            </a:r>
            <a:endParaRPr sz="2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Enhancing Images with Filters</a:t>
            </a:r>
            <a:endParaRPr sz="2600"/>
          </a:p>
        </p:txBody>
      </p:sp>
      <p:sp>
        <p:nvSpPr>
          <p:cNvPr id="560" name="Google Shape;560;p7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54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Common Filter Operations: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Edge Detection: Using filters like the Sobel or Roberts operator to identify and highlight edges in images.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Blurring: Applying a Gaussian blur filter to reduce image noise or create a smoother appearance.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Sharpening: Using a sharpening filter to enhance image details and increase perceived clarity.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1" name="Google Shape;561;p79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562" name="Google Shape;56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850" y="266023"/>
            <a:ext cx="3615300" cy="4505126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79"/>
          <p:cNvSpPr txBox="1"/>
          <p:nvPr/>
        </p:nvSpPr>
        <p:spPr>
          <a:xfrm>
            <a:off x="153024" y="4558425"/>
            <a:ext cx="8466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Image Source: https://ujjwalkarn.me/2016/08/11/intuitive-explanation-convnets/</a:t>
            </a:r>
            <a:endParaRPr sz="9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5"/>
          <p:cNvSpPr txBox="1">
            <a:spLocks noGrp="1"/>
          </p:cNvSpPr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5000"/>
              <a:t>Image Classification</a:t>
            </a:r>
            <a:endParaRPr sz="5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Classification</a:t>
            </a:r>
            <a:endParaRPr/>
          </a:p>
        </p:txBody>
      </p:sp>
      <p:sp>
        <p:nvSpPr>
          <p:cNvPr id="625" name="Google Shape;625;p8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143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What does it do?</a:t>
            </a:r>
            <a:endParaRPr>
              <a:solidFill>
                <a:schemeClr val="lt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Assigning labels to input images.</a:t>
            </a:r>
            <a:endParaRPr>
              <a:solidFill>
                <a:schemeClr val="lt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Recognizes objects by putting them into predefined categories or classes.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6" name="Google Shape;626;p88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627" name="Google Shape;627;p88"/>
          <p:cNvSpPr txBox="1"/>
          <p:nvPr/>
        </p:nvSpPr>
        <p:spPr>
          <a:xfrm>
            <a:off x="381350" y="4592625"/>
            <a:ext cx="807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Image Source: https://www.superannotate.com/blog/image-classification-basics</a:t>
            </a:r>
            <a:endParaRPr sz="9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628" name="Google Shape;62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375" y="2194850"/>
            <a:ext cx="5427276" cy="226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9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Classification using Deep Learning</a:t>
            </a:r>
            <a:endParaRPr/>
          </a:p>
        </p:txBody>
      </p:sp>
      <p:sp>
        <p:nvSpPr>
          <p:cNvPr id="675" name="Google Shape;675;p94"/>
          <p:cNvSpPr txBox="1">
            <a:spLocks noGrp="1"/>
          </p:cNvSpPr>
          <p:nvPr>
            <p:ph type="body" idx="1"/>
          </p:nvPr>
        </p:nvSpPr>
        <p:spPr>
          <a:xfrm>
            <a:off x="119450" y="1152475"/>
            <a:ext cx="2712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Feature Extraction: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Convolution, max-pooling, ReLU (non-linear activations)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Extract meaningful features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Prediction: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Softmax function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N-dimensional output (N = classes)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94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pic>
        <p:nvPicPr>
          <p:cNvPr id="677" name="Google Shape;67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9988" y="2484776"/>
            <a:ext cx="6111725" cy="208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94"/>
          <p:cNvSpPr txBox="1"/>
          <p:nvPr/>
        </p:nvSpPr>
        <p:spPr>
          <a:xfrm>
            <a:off x="1647425" y="4635525"/>
            <a:ext cx="642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Image Source: https://medium.com/analytics-vidhya/image-classification-techniques-83fd87011cac</a:t>
            </a:r>
            <a:endParaRPr sz="9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https://www.learndatasci.com/tutorials/hands-on-transfer-learning-keras/</a:t>
            </a:r>
            <a:endParaRPr sz="9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679" name="Google Shape;679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6950" y="1270000"/>
            <a:ext cx="5037822" cy="89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9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Diverse Architectures for Image Classification</a:t>
            </a:r>
            <a:endParaRPr/>
          </a:p>
        </p:txBody>
      </p:sp>
      <p:sp>
        <p:nvSpPr>
          <p:cNvPr id="692" name="Google Shape;692;p9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AlexNet (2012):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Popularized deep learning in CV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ILSVRC winner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ZFNet (2013):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Refined AlexNet's architecture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Improved CNN performance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VGGNet (2014):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Simplicity and uniformity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Deep networks with 16 or 19 layers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GoogLeNet (Inception) (2014):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Inception modules with different filters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Enhanced efficiency and performance</a:t>
            </a:r>
            <a:endParaRPr/>
          </a:p>
        </p:txBody>
      </p:sp>
      <p:sp>
        <p:nvSpPr>
          <p:cNvPr id="693" name="Google Shape;693;p96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pic>
        <p:nvPicPr>
          <p:cNvPr id="694" name="Google Shape;69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2000" y="1152475"/>
            <a:ext cx="4857750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96"/>
          <p:cNvSpPr txBox="1"/>
          <p:nvPr/>
        </p:nvSpPr>
        <p:spPr>
          <a:xfrm>
            <a:off x="7087775" y="3697725"/>
            <a:ext cx="18525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Image Source: https://paperswithcode.com/sota/image-classification-on-imagenet</a:t>
            </a:r>
            <a:endParaRPr sz="9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9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Diverse Architectures for Image Classification</a:t>
            </a:r>
            <a:endParaRPr/>
          </a:p>
        </p:txBody>
      </p:sp>
      <p:sp>
        <p:nvSpPr>
          <p:cNvPr id="701" name="Google Shape;701;p9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128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ResNet (2015):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Very deep architectures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Addressed vanishing gradient with skip connections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 err="1"/>
              <a:t>DenseNet</a:t>
            </a:r>
            <a:r>
              <a:rPr lang="en" dirty="0"/>
              <a:t> (2016):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Dense connectivity between layers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Feed-forward connections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 err="1"/>
              <a:t>MobileNet</a:t>
            </a:r>
            <a:r>
              <a:rPr lang="en" dirty="0"/>
              <a:t> (2017):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Designed for mobile/embedded vision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Efficiency and low computational requirements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 err="1"/>
              <a:t>EfficientNet</a:t>
            </a:r>
            <a:r>
              <a:rPr lang="en" dirty="0"/>
              <a:t> (2019):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Efficient scaling across dimensions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Versatile applications, including mobile and edge devices</a:t>
            </a:r>
            <a:endParaRPr dirty="0"/>
          </a:p>
        </p:txBody>
      </p:sp>
      <p:sp>
        <p:nvSpPr>
          <p:cNvPr id="702" name="Google Shape;702;p97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pic>
        <p:nvPicPr>
          <p:cNvPr id="703" name="Google Shape;70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4550" y="1106925"/>
            <a:ext cx="3992375" cy="2419875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97"/>
          <p:cNvSpPr txBox="1"/>
          <p:nvPr/>
        </p:nvSpPr>
        <p:spPr>
          <a:xfrm>
            <a:off x="7087775" y="3697725"/>
            <a:ext cx="1852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Image Source: https://wikidocs.net/165403</a:t>
            </a:r>
            <a:endParaRPr sz="9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9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Diverse Architectures for Image Classification</a:t>
            </a:r>
            <a:endParaRPr/>
          </a:p>
        </p:txBody>
      </p:sp>
      <p:sp>
        <p:nvSpPr>
          <p:cNvPr id="710" name="Google Shape;710;p9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361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Vision Transformer (ViT - 2020):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Utilizes a transformer-based architecture for image processing.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MLP-Mixer (2021):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Utilizes a mixer-based architecture with multi-layer perceptrons (MLPs) for image processing.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Swin Transformer (2021):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Features a hierarchical architecture processing images at multiple scales.</a:t>
            </a:r>
            <a:endParaRPr/>
          </a:p>
        </p:txBody>
      </p:sp>
      <p:sp>
        <p:nvSpPr>
          <p:cNvPr id="711" name="Google Shape;711;p98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01"/>
          <p:cNvSpPr txBox="1">
            <a:spLocks noGrp="1"/>
          </p:cNvSpPr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4500"/>
              <a:t>VGG</a:t>
            </a:r>
            <a:endParaRPr sz="4500"/>
          </a:p>
        </p:txBody>
      </p:sp>
      <p:sp>
        <p:nvSpPr>
          <p:cNvPr id="730" name="Google Shape;730;p101"/>
          <p:cNvSpPr txBox="1">
            <a:spLocks noGrp="1"/>
          </p:cNvSpPr>
          <p:nvPr>
            <p:ph type="sldNum" idx="4294967295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 sz="13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28</a:t>
            </a:fld>
            <a:endParaRPr sz="13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102"/>
          <p:cNvSpPr txBox="1">
            <a:spLocks noGrp="1"/>
          </p:cNvSpPr>
          <p:nvPr>
            <p:ph type="title"/>
          </p:nvPr>
        </p:nvSpPr>
        <p:spPr>
          <a:xfrm>
            <a:off x="311700" y="3163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Unveiling VGG</a:t>
            </a:r>
            <a:endParaRPr/>
          </a:p>
        </p:txBody>
      </p:sp>
      <p:sp>
        <p:nvSpPr>
          <p:cNvPr id="736" name="Google Shape;736;p102"/>
          <p:cNvSpPr txBox="1">
            <a:spLocks noGrp="1"/>
          </p:cNvSpPr>
          <p:nvPr>
            <p:ph type="body" idx="1"/>
          </p:nvPr>
        </p:nvSpPr>
        <p:spPr>
          <a:xfrm>
            <a:off x="311700" y="972275"/>
            <a:ext cx="4716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 dirty="0"/>
              <a:t>What is VGG?</a:t>
            </a:r>
            <a:endParaRPr sz="19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dirty="0"/>
              <a:t>VGG = </a:t>
            </a:r>
            <a:r>
              <a:rPr lang="en" sz="1500" b="1" dirty="0"/>
              <a:t>Visual Geometry Group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dirty="0"/>
              <a:t>a research group at University of Oxford.</a:t>
            </a:r>
            <a:endParaRPr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dirty="0"/>
              <a:t>VGG is a deep convolutional neural network for image classification tasks.</a:t>
            </a:r>
            <a:endParaRPr sz="1500" dirty="0"/>
          </a:p>
        </p:txBody>
      </p:sp>
      <p:sp>
        <p:nvSpPr>
          <p:cNvPr id="737" name="Google Shape;737;p102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pic>
        <p:nvPicPr>
          <p:cNvPr id="738" name="Google Shape;738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1000" y="1041425"/>
            <a:ext cx="3810600" cy="2588375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102"/>
          <p:cNvSpPr txBox="1"/>
          <p:nvPr/>
        </p:nvSpPr>
        <p:spPr>
          <a:xfrm>
            <a:off x="7087775" y="3782200"/>
            <a:ext cx="1852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Image Source: https://pub.towardsai.net/do-you-know-vgg-16-f7b8f9a5e550</a:t>
            </a:r>
            <a:endParaRPr sz="9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102"/>
          <p:cNvSpPr txBox="1">
            <a:spLocks noGrp="1"/>
          </p:cNvSpPr>
          <p:nvPr>
            <p:ph type="title"/>
          </p:nvPr>
        </p:nvSpPr>
        <p:spPr>
          <a:xfrm>
            <a:off x="311700" y="3163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Unveiling VGG</a:t>
            </a:r>
            <a:endParaRPr/>
          </a:p>
        </p:txBody>
      </p:sp>
      <p:sp>
        <p:nvSpPr>
          <p:cNvPr id="737" name="Google Shape;737;p102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3E463-D15D-FB64-6474-AF9C7A14B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641107" cy="3469401"/>
          </a:xfrm>
        </p:spPr>
        <p:txBody>
          <a:bodyPr/>
          <a:lstStyle/>
          <a:p>
            <a:r>
              <a:rPr lang="en-US" dirty="0"/>
              <a:t>VGG comes in few configurations; </a:t>
            </a:r>
          </a:p>
          <a:p>
            <a:r>
              <a:rPr lang="en-US" dirty="0"/>
              <a:t>all have the same architecture just the number of layers are different. </a:t>
            </a:r>
          </a:p>
          <a:p>
            <a:r>
              <a:rPr lang="en-US" dirty="0"/>
              <a:t>The most famous ones are VGG16 and VGG19. </a:t>
            </a:r>
          </a:p>
          <a:p>
            <a:r>
              <a:rPr lang="en-US" dirty="0"/>
              <a:t>The VGG19 is deeper and has better performance than VGG16.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F34F8E-6B0A-DE3F-E156-A4C9BDF53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92095"/>
            <a:ext cx="7772400" cy="145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03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102"/>
          <p:cNvSpPr txBox="1">
            <a:spLocks noGrp="1"/>
          </p:cNvSpPr>
          <p:nvPr>
            <p:ph type="title"/>
          </p:nvPr>
        </p:nvSpPr>
        <p:spPr>
          <a:xfrm>
            <a:off x="311700" y="3163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Unveiling VGG</a:t>
            </a:r>
            <a:endParaRPr/>
          </a:p>
        </p:txBody>
      </p:sp>
      <p:sp>
        <p:nvSpPr>
          <p:cNvPr id="737" name="Google Shape;737;p102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3E463-D15D-FB64-6474-AF9C7A14B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641107" cy="3469401"/>
          </a:xfrm>
        </p:spPr>
        <p:txBody>
          <a:bodyPr/>
          <a:lstStyle/>
          <a:p>
            <a:r>
              <a:rPr lang="en-US" dirty="0"/>
              <a:t>6 blocks:</a:t>
            </a:r>
          </a:p>
          <a:p>
            <a:pPr lvl="1"/>
            <a:r>
              <a:rPr lang="en-US" dirty="0"/>
              <a:t>First 5 blocks are convolutional + pooling</a:t>
            </a:r>
          </a:p>
          <a:p>
            <a:pPr lvl="1"/>
            <a:r>
              <a:rPr lang="en-US" dirty="0"/>
              <a:t>6-th block is fully connected layers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F34F8E-6B0A-DE3F-E156-A4C9BDF53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92095"/>
            <a:ext cx="7772400" cy="145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5220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Unveiling VGG</a:t>
            </a:r>
            <a:endParaRPr dirty="0"/>
          </a:p>
        </p:txBody>
      </p:sp>
      <p:sp>
        <p:nvSpPr>
          <p:cNvPr id="745" name="Google Shape;745;p103"/>
          <p:cNvSpPr txBox="1">
            <a:spLocks noGrp="1"/>
          </p:cNvSpPr>
          <p:nvPr>
            <p:ph type="body" idx="1"/>
          </p:nvPr>
        </p:nvSpPr>
        <p:spPr>
          <a:xfrm>
            <a:off x="311700" y="10883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All convolutional layers use 3x3 filters with a stride=1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All max pooling layers are 2x2 with a stride=2 </a:t>
            </a:r>
            <a:r>
              <a:rPr lang="en-US" dirty="0">
                <a:sym typeface="Wingdings" pitchFamily="2" charset="2"/>
              </a:rPr>
              <a:t> </a:t>
            </a:r>
          </a:p>
          <a:p>
            <a:pPr lvl="1" indent="-342900">
              <a:spcBef>
                <a:spcPts val="0"/>
              </a:spcBef>
              <a:buSzPts val="1800"/>
              <a:buChar char="●"/>
            </a:pPr>
            <a:r>
              <a:rPr lang="en-US" dirty="0">
                <a:sym typeface="Wingdings" pitchFamily="2" charset="2"/>
              </a:rPr>
              <a:t>They halve width &amp; height of input feature map</a:t>
            </a:r>
          </a:p>
          <a:p>
            <a:pPr lvl="1" indent="-342900">
              <a:spcBef>
                <a:spcPts val="0"/>
              </a:spcBef>
              <a:buSzPts val="1800"/>
              <a:buChar char="●"/>
            </a:pPr>
            <a:r>
              <a:rPr lang="en-US" dirty="0">
                <a:sym typeface="Wingdings" pitchFamily="2" charset="2"/>
              </a:rPr>
              <a:t>This is called down sampling</a:t>
            </a:r>
            <a:endParaRPr dirty="0"/>
          </a:p>
        </p:txBody>
      </p:sp>
      <p:sp>
        <p:nvSpPr>
          <p:cNvPr id="746" name="Google Shape;746;p103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8B83A8-2EBB-A7C1-AE3C-58A8FFB12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92095"/>
            <a:ext cx="7772400" cy="145461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Unveiling VGG</a:t>
            </a:r>
            <a:endParaRPr dirty="0"/>
          </a:p>
        </p:txBody>
      </p:sp>
      <p:sp>
        <p:nvSpPr>
          <p:cNvPr id="745" name="Google Shape;745;p103"/>
          <p:cNvSpPr txBox="1">
            <a:spLocks noGrp="1"/>
          </p:cNvSpPr>
          <p:nvPr>
            <p:ph type="body" idx="1"/>
          </p:nvPr>
        </p:nvSpPr>
        <p:spPr>
          <a:xfrm>
            <a:off x="311700" y="10883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convolutional layers start with 64 filters and doubles after every pooling until it reaches 512 filters.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All convolutional layers use “same” padding to maintain the same size between input and output, and they all use RELU activation function.</a:t>
            </a:r>
            <a:endParaRPr dirty="0"/>
          </a:p>
        </p:txBody>
      </p:sp>
      <p:sp>
        <p:nvSpPr>
          <p:cNvPr id="746" name="Google Shape;746;p103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8B83A8-2EBB-A7C1-AE3C-58A8FFB12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92095"/>
            <a:ext cx="7772400" cy="145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022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0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Convolutional Layers</a:t>
            </a:r>
            <a:endParaRPr dirty="0"/>
          </a:p>
        </p:txBody>
      </p:sp>
      <p:sp>
        <p:nvSpPr>
          <p:cNvPr id="761" name="Google Shape;761;p10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Layer Composition: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16 layers, 13 convolutional layers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Filter Channels: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Block 1: 64 channels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Block 2: 128 channels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Block 3: 256 channels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Block 4: 512 channels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Block 5: 512 channels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105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pic>
        <p:nvPicPr>
          <p:cNvPr id="763" name="Google Shape;763;p105"/>
          <p:cNvPicPr preferRelativeResize="0"/>
          <p:nvPr/>
        </p:nvPicPr>
        <p:blipFill rotWithShape="1">
          <a:blip r:embed="rId3">
            <a:alphaModFix/>
          </a:blip>
          <a:srcRect b="18433"/>
          <a:stretch/>
        </p:blipFill>
        <p:spPr>
          <a:xfrm>
            <a:off x="6198425" y="537800"/>
            <a:ext cx="1728826" cy="4387348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105"/>
          <p:cNvSpPr txBox="1"/>
          <p:nvPr/>
        </p:nvSpPr>
        <p:spPr>
          <a:xfrm>
            <a:off x="557175" y="4568875"/>
            <a:ext cx="633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Image Source: https://www.kaggle.com/code/blurredmachine/vggnet-16-architecture-a-complete-guide</a:t>
            </a:r>
            <a:endParaRPr sz="9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12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pic>
        <p:nvPicPr>
          <p:cNvPr id="821" name="Google Shape;821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025" y="152400"/>
            <a:ext cx="7237509" cy="4551225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112"/>
          <p:cNvSpPr txBox="1"/>
          <p:nvPr/>
        </p:nvSpPr>
        <p:spPr>
          <a:xfrm>
            <a:off x="535375" y="4669575"/>
            <a:ext cx="788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Image Source: https://medium.com/nerd-for-tech/vgg-16-easiest-explanation-12453b599526</a:t>
            </a:r>
            <a:endParaRPr sz="9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12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E872B0-A0EE-EDB2-C737-A4546BF7C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082" y="1017725"/>
            <a:ext cx="5998995" cy="4037601"/>
          </a:xfrm>
          <a:prstGeom prst="rect">
            <a:avLst/>
          </a:prstGeom>
        </p:spPr>
      </p:pic>
      <p:sp>
        <p:nvSpPr>
          <p:cNvPr id="3" name="Google Shape;760;p105">
            <a:extLst>
              <a:ext uri="{FF2B5EF4-FFF2-40B4-BE49-F238E27FC236}">
                <a16:creationId xmlns:a16="http://schemas.microsoft.com/office/drawing/2014/main" id="{CEE0CD0C-C070-0152-5615-4A33174368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Cost vs Accuracy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50210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14"/>
          <p:cNvSpPr txBox="1">
            <a:spLocks noGrp="1"/>
          </p:cNvSpPr>
          <p:nvPr>
            <p:ph type="title"/>
          </p:nvPr>
        </p:nvSpPr>
        <p:spPr>
          <a:xfrm>
            <a:off x="204150" y="1289575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5000" dirty="0"/>
              <a:t>ResNet</a:t>
            </a:r>
            <a:endParaRPr sz="5000" dirty="0"/>
          </a:p>
        </p:txBody>
      </p:sp>
      <p:sp>
        <p:nvSpPr>
          <p:cNvPr id="835" name="Google Shape;835;p114"/>
          <p:cNvSpPr txBox="1">
            <a:spLocks noGrp="1"/>
          </p:cNvSpPr>
          <p:nvPr>
            <p:ph type="sldNum" idx="4294967295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05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Short for Residual Network, introduced in 2015 by Microsoft Research </a:t>
            </a:r>
            <a:r>
              <a:rPr lang="en" dirty="0">
                <a:solidFill>
                  <a:schemeClr val="lt1"/>
                </a:solidFill>
              </a:rPr>
              <a:t>in their paper titled "Deep Residual Learning for Image Recognition" in 2015.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 err="1"/>
              <a:t>ResNets</a:t>
            </a:r>
            <a:r>
              <a:rPr lang="en" dirty="0"/>
              <a:t>, introduces concept of Residual and skip connections. </a:t>
            </a:r>
            <a:endParaRPr dirty="0"/>
          </a:p>
        </p:txBody>
      </p:sp>
      <p:sp>
        <p:nvSpPr>
          <p:cNvPr id="850" name="Google Shape;850;p1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 ResNet?</a:t>
            </a:r>
            <a:endParaRPr dirty="0"/>
          </a:p>
        </p:txBody>
      </p:sp>
      <p:sp>
        <p:nvSpPr>
          <p:cNvPr id="851" name="Google Shape;851;p116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pic>
        <p:nvPicPr>
          <p:cNvPr id="852" name="Google Shape;852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9700" y="1170125"/>
            <a:ext cx="3621900" cy="1955826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116"/>
          <p:cNvSpPr txBox="1"/>
          <p:nvPr/>
        </p:nvSpPr>
        <p:spPr>
          <a:xfrm>
            <a:off x="5651025" y="4225525"/>
            <a:ext cx="2815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Image Source: https://</a:t>
            </a:r>
            <a:r>
              <a:rPr lang="en" sz="900" dirty="0" err="1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huggingface.co</a:t>
            </a:r>
            <a:r>
              <a:rPr lang="en" sz="900" dirty="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/spaces/</a:t>
            </a:r>
            <a:r>
              <a:rPr lang="en" sz="900" dirty="0" err="1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pytorch</a:t>
            </a:r>
            <a:r>
              <a:rPr lang="en" sz="900" dirty="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/ResNet</a:t>
            </a:r>
            <a:endParaRPr sz="900" dirty="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16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458227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when we train shallow neural networks, the training loss starts decreasing in early epochs.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But in deep neural networks the training loss decreases very minimal in early epochs, and after first few epochs it suddenly drops.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This is a big obstacle in practical training in deep neural networks.</a:t>
            </a:r>
            <a:endParaRPr dirty="0"/>
          </a:p>
        </p:txBody>
      </p:sp>
      <p:sp>
        <p:nvSpPr>
          <p:cNvPr id="850" name="Google Shape;850;p1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ResNet?</a:t>
            </a:r>
            <a:endParaRPr dirty="0"/>
          </a:p>
        </p:txBody>
      </p:sp>
      <p:sp>
        <p:nvSpPr>
          <p:cNvPr id="851" name="Google Shape;851;p116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83B7E6-E451-301E-C6AA-AD17ECF16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226" y="2965634"/>
            <a:ext cx="3339061" cy="193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7816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16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65773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In </a:t>
            </a:r>
            <a:r>
              <a:rPr lang="en-US" b="1" dirty="0"/>
              <a:t>early layers </a:t>
            </a:r>
            <a:r>
              <a:rPr lang="en-US" dirty="0"/>
              <a:t>of a deep NN, </a:t>
            </a:r>
            <a:r>
              <a:rPr lang="en-US" dirty="0">
                <a:solidFill>
                  <a:srgbClr val="FF0000"/>
                </a:solidFill>
              </a:rPr>
              <a:t>vanishing gradient descent </a:t>
            </a:r>
            <a:r>
              <a:rPr lang="en-US" dirty="0"/>
              <a:t>problem kicks in; i.e. the gradient of the loss vanishes by the time it reaches early layers of the networks and so the parameters of these layers receive very little update.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In </a:t>
            </a:r>
            <a:r>
              <a:rPr lang="en-US" b="1" dirty="0"/>
              <a:t>late layers </a:t>
            </a:r>
            <a:r>
              <a:rPr lang="en-US" dirty="0"/>
              <a:t>of a deep NN, </a:t>
            </a:r>
            <a:r>
              <a:rPr lang="en-US" dirty="0">
                <a:solidFill>
                  <a:srgbClr val="FF0000"/>
                </a:solidFill>
              </a:rPr>
              <a:t>very little of the original signal </a:t>
            </a:r>
            <a:r>
              <a:rPr lang="en-US" dirty="0"/>
              <a:t>arrives. </a:t>
            </a:r>
            <a:endParaRPr dirty="0"/>
          </a:p>
        </p:txBody>
      </p:sp>
      <p:sp>
        <p:nvSpPr>
          <p:cNvPr id="850" name="Google Shape;850;p1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ResNet?</a:t>
            </a:r>
            <a:endParaRPr dirty="0"/>
          </a:p>
        </p:txBody>
      </p:sp>
      <p:sp>
        <p:nvSpPr>
          <p:cNvPr id="851" name="Google Shape;851;p116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1E54C1-04BC-CD57-2698-2516D263D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996" y="2999211"/>
            <a:ext cx="6953596" cy="198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5423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16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65773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The idea of skip connection, is to group layers of the network into blocks, and for each block make the input to both go through and around the block. </a:t>
            </a:r>
            <a:endParaRPr dirty="0"/>
          </a:p>
        </p:txBody>
      </p:sp>
      <p:sp>
        <p:nvSpPr>
          <p:cNvPr id="850" name="Google Shape;850;p1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Skip Connection</a:t>
            </a:r>
            <a:endParaRPr dirty="0"/>
          </a:p>
        </p:txBody>
      </p:sp>
      <p:sp>
        <p:nvSpPr>
          <p:cNvPr id="851" name="Google Shape;851;p116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9166C1-54F5-C4D9-2327-F9AAA6679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42" y="2149556"/>
            <a:ext cx="7772400" cy="234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869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16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65773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The “+” sign means combining. It is often implemented as element-wise addition. </a:t>
            </a:r>
            <a:endParaRPr dirty="0"/>
          </a:p>
        </p:txBody>
      </p:sp>
      <p:sp>
        <p:nvSpPr>
          <p:cNvPr id="850" name="Google Shape;850;p1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Residual Block</a:t>
            </a:r>
            <a:endParaRPr dirty="0"/>
          </a:p>
        </p:txBody>
      </p:sp>
      <p:sp>
        <p:nvSpPr>
          <p:cNvPr id="851" name="Google Shape;851;p116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A7460C-1D29-2F8F-37BA-7905AF7E7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673" y="2439336"/>
            <a:ext cx="2797695" cy="22591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A68AF8-0044-BD05-FBB5-354C4507B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408" y="2439336"/>
            <a:ext cx="3307774" cy="225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2424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16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65773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Each residual block consists of a convolutional layer, batch normalization and and RELU activation functions. </a:t>
            </a:r>
            <a:endParaRPr dirty="0"/>
          </a:p>
        </p:txBody>
      </p:sp>
      <p:sp>
        <p:nvSpPr>
          <p:cNvPr id="850" name="Google Shape;850;p1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Residual Block</a:t>
            </a:r>
            <a:endParaRPr dirty="0"/>
          </a:p>
        </p:txBody>
      </p:sp>
      <p:sp>
        <p:nvSpPr>
          <p:cNvPr id="851" name="Google Shape;851;p116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A243BE-4A7A-28E8-B3B6-C4C8FAF11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571" y="1753716"/>
            <a:ext cx="2422813" cy="314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2235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16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65773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ResNet is built by stacking multiple residual blocks.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Original ResNet has various architectures from 18 layers to 152 layers.</a:t>
            </a:r>
          </a:p>
        </p:txBody>
      </p:sp>
      <p:sp>
        <p:nvSpPr>
          <p:cNvPr id="850" name="Google Shape;850;p1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ResNet</a:t>
            </a:r>
            <a:endParaRPr dirty="0"/>
          </a:p>
        </p:txBody>
      </p:sp>
      <p:sp>
        <p:nvSpPr>
          <p:cNvPr id="851" name="Google Shape;851;p116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B935E5-DE16-A0EE-EC39-4343F01C4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556" y="2279202"/>
            <a:ext cx="7772400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3564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16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65773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 network made of residual blocks is called a residual networks or ResNet.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They have couple advantages that make them faster and easier to train.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The network has shorter gradient paths. </a:t>
            </a:r>
            <a:endParaRPr dirty="0"/>
          </a:p>
        </p:txBody>
      </p:sp>
      <p:sp>
        <p:nvSpPr>
          <p:cNvPr id="850" name="Google Shape;850;p1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ResNet</a:t>
            </a:r>
            <a:endParaRPr dirty="0"/>
          </a:p>
        </p:txBody>
      </p:sp>
      <p:sp>
        <p:nvSpPr>
          <p:cNvPr id="851" name="Google Shape;851;p116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45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61AD1C-664B-7368-26B7-5DDD299C1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556" y="2279202"/>
            <a:ext cx="7772400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355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1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ResNet-18 Convolutional Layers</a:t>
            </a:r>
            <a:endParaRPr/>
          </a:p>
        </p:txBody>
      </p:sp>
      <p:sp>
        <p:nvSpPr>
          <p:cNvPr id="894" name="Google Shape;894;p1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Layer Composition: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8 residual layers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4 blocks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block : 4 convolutional layers with 3x3 filters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Each stage halves the resolution(stride-2) and doubles the channels.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Filter Channels: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Block 1: 64 channels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Block 2: 128 channels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Block 3: 256 channels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Block 4: 512 channels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Intuition:</a:t>
            </a:r>
            <a:endParaRPr>
              <a:solidFill>
                <a:schemeClr val="lt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Element-wise multiplications and additions between input pixels and filter values.</a:t>
            </a:r>
            <a:endParaRPr>
              <a:solidFill>
                <a:schemeClr val="lt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Capture localized patterns in the data.</a:t>
            </a:r>
            <a:endParaRPr>
              <a:solidFill>
                <a:schemeClr val="lt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">
                <a:solidFill>
                  <a:schemeClr val="lt1"/>
                </a:solidFill>
              </a:rPr>
              <a:t>Number of Filters: Determines the number of unique features extracted.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95" name="Google Shape;895;p121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46</a:t>
            </a:fld>
            <a:endParaRPr/>
          </a:p>
        </p:txBody>
      </p:sp>
      <p:pic>
        <p:nvPicPr>
          <p:cNvPr id="896" name="Google Shape;896;p121"/>
          <p:cNvPicPr preferRelativeResize="0"/>
          <p:nvPr/>
        </p:nvPicPr>
        <p:blipFill rotWithShape="1">
          <a:blip r:embed="rId3">
            <a:alphaModFix/>
          </a:blip>
          <a:srcRect t="13960" b="7607"/>
          <a:stretch/>
        </p:blipFill>
        <p:spPr>
          <a:xfrm>
            <a:off x="6904750" y="626800"/>
            <a:ext cx="1972000" cy="310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Residual Blocks</a:t>
            </a:r>
            <a:endParaRPr/>
          </a:p>
        </p:txBody>
      </p:sp>
      <p:sp>
        <p:nvSpPr>
          <p:cNvPr id="885" name="Google Shape;885;p120"/>
          <p:cNvSpPr txBox="1">
            <a:spLocks noGrp="1"/>
          </p:cNvSpPr>
          <p:nvPr>
            <p:ph type="body" idx="1"/>
          </p:nvPr>
        </p:nvSpPr>
        <p:spPr>
          <a:xfrm>
            <a:off x="311700" y="10971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Block 1:</a:t>
            </a:r>
            <a:endParaRPr sz="16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2 residual layers with 64 channels each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1x1 and 3x3 convolutions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Identity shortcut connection</a:t>
            </a:r>
            <a:endParaRPr sz="12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Block 2:</a:t>
            </a:r>
            <a:endParaRPr sz="16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2 residual layers with 128 channels each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1x1 and 3x3 convolutions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Identity shortcut connection</a:t>
            </a:r>
            <a:endParaRPr sz="12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Block 3:</a:t>
            </a:r>
            <a:endParaRPr sz="16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2 residual layers with 256 channels each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1x1 and 3x3 convolutions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Identity shortcut connection</a:t>
            </a:r>
            <a:endParaRPr sz="12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Block 4:</a:t>
            </a:r>
            <a:endParaRPr sz="16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2 residual layers with 512 channels each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1x1 and 3x3 convolutions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Identity shortcut connection</a:t>
            </a:r>
            <a:endParaRPr sz="1600"/>
          </a:p>
        </p:txBody>
      </p:sp>
      <p:sp>
        <p:nvSpPr>
          <p:cNvPr id="886" name="Google Shape;886;p120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47</a:t>
            </a:fld>
            <a:endParaRPr/>
          </a:p>
        </p:txBody>
      </p:sp>
      <p:pic>
        <p:nvPicPr>
          <p:cNvPr id="887" name="Google Shape;887;p120"/>
          <p:cNvPicPr preferRelativeResize="0"/>
          <p:nvPr/>
        </p:nvPicPr>
        <p:blipFill rotWithShape="1">
          <a:blip r:embed="rId3">
            <a:alphaModFix/>
          </a:blip>
          <a:srcRect t="15784" r="10346" b="9760"/>
          <a:stretch/>
        </p:blipFill>
        <p:spPr>
          <a:xfrm>
            <a:off x="6387900" y="445025"/>
            <a:ext cx="1437975" cy="3816149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120"/>
          <p:cNvSpPr txBox="1"/>
          <p:nvPr/>
        </p:nvSpPr>
        <p:spPr>
          <a:xfrm>
            <a:off x="4175625" y="4513575"/>
            <a:ext cx="4290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Image Source: https://</a:t>
            </a:r>
            <a:r>
              <a:rPr lang="en" sz="900" dirty="0" err="1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www.researchgate.net</a:t>
            </a:r>
            <a:r>
              <a:rPr lang="en" sz="900" dirty="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/figure/ResNet-with-18-layers-depicted-in-five-blocks_fig4_333787753</a:t>
            </a:r>
            <a:endParaRPr sz="900" dirty="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1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Tying it all together </a:t>
            </a:r>
            <a:endParaRPr/>
          </a:p>
        </p:txBody>
      </p:sp>
      <p:sp>
        <p:nvSpPr>
          <p:cNvPr id="987" name="Google Shape;987;p1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097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Root: 1 conv layer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1: (C = 64), 2 residual block = 4 conv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2:  ( C = 128), </a:t>
            </a:r>
            <a:r>
              <a:rPr lang="en">
                <a:solidFill>
                  <a:schemeClr val="lt1"/>
                </a:solidFill>
              </a:rPr>
              <a:t>2 residual block = 4 conv 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3: (C = 256), </a:t>
            </a:r>
            <a:r>
              <a:rPr lang="en">
                <a:solidFill>
                  <a:schemeClr val="lt1"/>
                </a:solidFill>
              </a:rPr>
              <a:t> 2 residual block = 4 conv 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4: (</a:t>
            </a:r>
            <a:r>
              <a:rPr lang="en">
                <a:solidFill>
                  <a:schemeClr val="lt1"/>
                </a:solidFill>
              </a:rPr>
              <a:t>C = 512),  2 residual block = 4 conv 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Linear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132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48</a:t>
            </a:fld>
            <a:endParaRPr/>
          </a:p>
        </p:txBody>
      </p:sp>
      <p:pic>
        <p:nvPicPr>
          <p:cNvPr id="989" name="Google Shape;989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7075" y="197400"/>
            <a:ext cx="4288099" cy="481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1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Summary</a:t>
            </a:r>
            <a:endParaRPr dirty="0"/>
          </a:p>
        </p:txBody>
      </p:sp>
      <p:sp>
        <p:nvSpPr>
          <p:cNvPr id="987" name="Google Shape;987;p1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6938186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-US" dirty="0"/>
              <a:t>Convolution operation</a:t>
            </a:r>
          </a:p>
          <a:p>
            <a:pPr marL="285750" indent="-285750"/>
            <a:r>
              <a:rPr lang="en-US" dirty="0"/>
              <a:t>Pooling layer</a:t>
            </a:r>
          </a:p>
          <a:p>
            <a:pPr marL="285750" indent="-285750"/>
            <a:r>
              <a:rPr lang="en-US" dirty="0"/>
              <a:t>VGG Network</a:t>
            </a:r>
          </a:p>
          <a:p>
            <a:pPr marL="285750" indent="-285750"/>
            <a:r>
              <a:rPr lang="en-US" dirty="0"/>
              <a:t>ResNet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8" name="Google Shape;988;p132"/>
          <p:cNvSpPr txBox="1">
            <a:spLocks noGrp="1"/>
          </p:cNvSpPr>
          <p:nvPr>
            <p:ph type="sldNum" idx="12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1251457"/>
      </p:ext>
    </p:extLst>
  </p:cSld>
  <p:clrMapOvr>
    <a:masterClrMapping/>
  </p:clrMapOvr>
</p:sld>
</file>

<file path=ppt/theme/theme1.xml><?xml version="1.0" encoding="utf-8"?>
<a:theme xmlns:a="http://schemas.openxmlformats.org/drawingml/2006/main" name="IK.Presentation.Theme.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10911</TotalTime>
  <Words>2879</Words>
  <Application>Microsoft Macintosh PowerPoint</Application>
  <PresentationFormat>On-screen Show (16:9)</PresentationFormat>
  <Paragraphs>359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Calibri</vt:lpstr>
      <vt:lpstr>Wingdings</vt:lpstr>
      <vt:lpstr>-apple-system</vt:lpstr>
      <vt:lpstr>source-serif-pro</vt:lpstr>
      <vt:lpstr>Fira Sans</vt:lpstr>
      <vt:lpstr>Arial</vt:lpstr>
      <vt:lpstr>IK.Presentation.Theme.1</vt:lpstr>
      <vt:lpstr>Machine Learning INET Fall 2024</vt:lpstr>
      <vt:lpstr>Agenda</vt:lpstr>
      <vt:lpstr>Digital Images</vt:lpstr>
      <vt:lpstr>Digital Images</vt:lpstr>
      <vt:lpstr>Digital Images</vt:lpstr>
      <vt:lpstr>RGB vs Grayscale vs Binary Image</vt:lpstr>
      <vt:lpstr>Big Picture: Convolutional Neural Networks</vt:lpstr>
      <vt:lpstr>Convolution Operation </vt:lpstr>
      <vt:lpstr>Understanding Convolutions</vt:lpstr>
      <vt:lpstr>Understanding Convolutions</vt:lpstr>
      <vt:lpstr>How do convolutions work? </vt:lpstr>
      <vt:lpstr>Understanding Convolutions in Image Manipulation</vt:lpstr>
      <vt:lpstr>Filtering and Convolution</vt:lpstr>
      <vt:lpstr>Applying Convolutions</vt:lpstr>
      <vt:lpstr>Applying Convolutions</vt:lpstr>
      <vt:lpstr>Convolutional Layer</vt:lpstr>
      <vt:lpstr>Convolutional Neural Network</vt:lpstr>
      <vt:lpstr>Convolutional Neural Network</vt:lpstr>
      <vt:lpstr>CNNs refresher</vt:lpstr>
      <vt:lpstr>CNNs refresher</vt:lpstr>
      <vt:lpstr>Enhancing Images with Filters</vt:lpstr>
      <vt:lpstr>Image Classification</vt:lpstr>
      <vt:lpstr>Image Classification</vt:lpstr>
      <vt:lpstr>Image Classification using Deep Learning</vt:lpstr>
      <vt:lpstr>Diverse Architectures for Image Classification</vt:lpstr>
      <vt:lpstr>Diverse Architectures for Image Classification</vt:lpstr>
      <vt:lpstr>Diverse Architectures for Image Classification</vt:lpstr>
      <vt:lpstr>VGG</vt:lpstr>
      <vt:lpstr>Unveiling VGG</vt:lpstr>
      <vt:lpstr>Unveiling VGG</vt:lpstr>
      <vt:lpstr>Unveiling VGG</vt:lpstr>
      <vt:lpstr>Unveiling VGG</vt:lpstr>
      <vt:lpstr>Unveiling VGG</vt:lpstr>
      <vt:lpstr>Convolutional Layers</vt:lpstr>
      <vt:lpstr>PowerPoint Presentation</vt:lpstr>
      <vt:lpstr>Cost vs Accuracy</vt:lpstr>
      <vt:lpstr>ResNet</vt:lpstr>
      <vt:lpstr>What is a ResNet?</vt:lpstr>
      <vt:lpstr>Why ResNet?</vt:lpstr>
      <vt:lpstr>Why ResNet?</vt:lpstr>
      <vt:lpstr>Skip Connection</vt:lpstr>
      <vt:lpstr>A Residual Block</vt:lpstr>
      <vt:lpstr>A Residual Block</vt:lpstr>
      <vt:lpstr>ResNet</vt:lpstr>
      <vt:lpstr>ResNet</vt:lpstr>
      <vt:lpstr>ResNet-18 Convolutional Layers</vt:lpstr>
      <vt:lpstr>Residual Blocks</vt:lpstr>
      <vt:lpstr>Tying it all together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1</dc:title>
  <cp:lastModifiedBy>Microsoft Office User</cp:lastModifiedBy>
  <cp:revision>29</cp:revision>
  <dcterms:modified xsi:type="dcterms:W3CDTF">2024-11-12T21:02:26Z</dcterms:modified>
</cp:coreProperties>
</file>