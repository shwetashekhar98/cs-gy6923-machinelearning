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handoutMasterIdLst>
    <p:handoutMasterId r:id="rId44"/>
  </p:handoutMasterIdLst>
  <p:sldIdLst>
    <p:sldId id="256" r:id="rId2"/>
    <p:sldId id="436" r:id="rId3"/>
    <p:sldId id="341" r:id="rId4"/>
    <p:sldId id="435" r:id="rId5"/>
    <p:sldId id="447" r:id="rId6"/>
    <p:sldId id="448" r:id="rId7"/>
    <p:sldId id="344" r:id="rId8"/>
    <p:sldId id="345" r:id="rId9"/>
    <p:sldId id="346" r:id="rId10"/>
    <p:sldId id="396" r:id="rId11"/>
    <p:sldId id="408" r:id="rId12"/>
    <p:sldId id="404" r:id="rId13"/>
    <p:sldId id="405" r:id="rId14"/>
    <p:sldId id="406" r:id="rId15"/>
    <p:sldId id="407" r:id="rId16"/>
    <p:sldId id="353" r:id="rId17"/>
    <p:sldId id="425" r:id="rId18"/>
    <p:sldId id="354" r:id="rId19"/>
    <p:sldId id="355" r:id="rId20"/>
    <p:sldId id="410" r:id="rId21"/>
    <p:sldId id="411" r:id="rId22"/>
    <p:sldId id="450" r:id="rId23"/>
    <p:sldId id="451" r:id="rId24"/>
    <p:sldId id="358" r:id="rId25"/>
    <p:sldId id="412" r:id="rId26"/>
    <p:sldId id="413" r:id="rId27"/>
    <p:sldId id="414" r:id="rId28"/>
    <p:sldId id="415" r:id="rId29"/>
    <p:sldId id="452" r:id="rId30"/>
    <p:sldId id="417" r:id="rId31"/>
    <p:sldId id="394" r:id="rId32"/>
    <p:sldId id="369" r:id="rId33"/>
    <p:sldId id="440" r:id="rId34"/>
    <p:sldId id="453" r:id="rId35"/>
    <p:sldId id="441" r:id="rId36"/>
    <p:sldId id="442" r:id="rId37"/>
    <p:sldId id="443" r:id="rId38"/>
    <p:sldId id="444" r:id="rId39"/>
    <p:sldId id="445" r:id="rId40"/>
    <p:sldId id="446" r:id="rId41"/>
    <p:sldId id="449" r:id="rId4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60093"/>
    <a:srgbClr val="008000"/>
    <a:srgbClr val="FF0066"/>
    <a:srgbClr val="FF0000"/>
    <a:srgbClr val="CC00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9C29F-C0BB-0000-D46A-8880C0556CC5}" v="65" dt="2021-04-28T17:13:14.999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8" autoAdjust="0"/>
    <p:restoredTop sz="91742" autoAdjust="0"/>
  </p:normalViewPr>
  <p:slideViewPr>
    <p:cSldViewPr>
      <p:cViewPr varScale="1">
        <p:scale>
          <a:sx n="143" d="100"/>
          <a:sy n="143" d="100"/>
        </p:scale>
        <p:origin x="308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3768"/>
    </p:cViewPr>
  </p:sorterViewPr>
  <p:notesViewPr>
    <p:cSldViewPr>
      <p:cViewPr varScale="1">
        <p:scale>
          <a:sx n="53" d="100"/>
          <a:sy n="53" d="100"/>
        </p:scale>
        <p:origin x="-1836" y="-84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jun Chen" userId="S::yanjunc@stanford.edu::69a9feac-3f92-4fa0-a42e-ddd57595d648" providerId="AD" clId="Web-{57B9C29F-C0BB-0000-D46A-8880C0556CC5}"/>
    <pc:docChg chg="modSld">
      <pc:chgData name="Yanjun Chen" userId="S::yanjunc@stanford.edu::69a9feac-3f92-4fa0-a42e-ddd57595d648" providerId="AD" clId="Web-{57B9C29F-C0BB-0000-D46A-8880C0556CC5}" dt="2021-04-28T17:13:07.296" v="33" actId="20577"/>
      <pc:docMkLst>
        <pc:docMk/>
      </pc:docMkLst>
      <pc:sldChg chg="addSp modSp">
        <pc:chgData name="Yanjun Chen" userId="S::yanjunc@stanford.edu::69a9feac-3f92-4fa0-a42e-ddd57595d648" providerId="AD" clId="Web-{57B9C29F-C0BB-0000-D46A-8880C0556CC5}" dt="2021-04-28T17:13:07.296" v="33" actId="20577"/>
        <pc:sldMkLst>
          <pc:docMk/>
          <pc:sldMk cId="3295625504" sldId="380"/>
        </pc:sldMkLst>
        <pc:spChg chg="add mod">
          <ac:chgData name="Yanjun Chen" userId="S::yanjunc@stanford.edu::69a9feac-3f92-4fa0-a42e-ddd57595d648" providerId="AD" clId="Web-{57B9C29F-C0BB-0000-D46A-8880C0556CC5}" dt="2021-04-28T17:13:07.296" v="33" actId="20577"/>
          <ac:spMkLst>
            <pc:docMk/>
            <pc:sldMk cId="3295625504" sldId="380"/>
            <ac:spMk id="27" creationId="{55E9BFAF-703A-4987-83F1-804D395FB8F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10/29/24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10/29/24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6" rIns="96651" bIns="483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1" tIns="48326" rIns="96651" bIns="483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Faloutsos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D1660F-E8BB-4AFA-AF58-39DB8CCF09FC}" type="slidenum">
              <a:rPr lang="en-US"/>
              <a:pPr/>
              <a:t>7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Faloutsos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33D358-4D76-46D6-9782-08150E55FE91}" type="slidenum">
              <a:rPr lang="en-US"/>
              <a:pPr/>
              <a:t>8</a:t>
            </a:fld>
            <a:endParaRPr lang="en-US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875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914400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2743200"/>
            <a:ext cx="8022336" cy="685800"/>
          </a:xfrm>
        </p:spPr>
        <p:txBody>
          <a:bodyPr lIns="146304" tIns="0" rIns="45720" bIns="0" anchor="t">
            <a:normAutofit/>
          </a:bodyPr>
          <a:lstStyle>
            <a:lvl1pPr marL="0" indent="0">
              <a:buNone/>
              <a:defRPr sz="4000" b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504688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50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23338"/>
            <a:ext cx="4040188" cy="43774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23338"/>
            <a:ext cx="4041775" cy="43774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8226720" cy="1143480"/>
          </a:xfrm>
        </p:spPr>
        <p:txBody>
          <a:bodyPr tIns="41473" bIns="414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920" y="1604329"/>
            <a:ext cx="4043520" cy="4524955"/>
          </a:xfrm>
        </p:spPr>
        <p:txBody>
          <a:bodyPr rIns="82945" bIns="414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39680" y="1604329"/>
            <a:ext cx="4044960" cy="4524955"/>
          </a:xfrm>
        </p:spPr>
        <p:txBody>
          <a:bodyPr rIns="82945" bIns="41473"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457920" y="6247376"/>
            <a:ext cx="2126880" cy="472370"/>
          </a:xfrm>
        </p:spPr>
        <p:txBody>
          <a:bodyPr tIns="41473"/>
          <a:lstStyle>
            <a:lvl1pPr>
              <a:defRPr/>
            </a:lvl1pPr>
          </a:lstStyle>
          <a:p>
            <a:r>
              <a:rPr lang="en-US"/>
              <a:t>1/20/22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3126240" y="6247376"/>
            <a:ext cx="2897280" cy="472370"/>
          </a:xfrm>
        </p:spPr>
        <p:txBody>
          <a:bodyPr tIns="41473"/>
          <a:lstStyle>
            <a:lvl1pPr>
              <a:defRPr/>
            </a:lvl1pPr>
          </a:lstStyle>
          <a:p>
            <a:r>
              <a:rPr lang="en-US"/>
              <a:t>Jure Leskovec &amp; Mina Ghashami, Stanford CS246: Mining Massive Datasets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>
          <a:xfrm>
            <a:off x="6554880" y="6247376"/>
            <a:ext cx="2128320" cy="472370"/>
          </a:xfrm>
        </p:spPr>
        <p:txBody>
          <a:bodyPr lIns="82945" tIns="41473" rIns="82945"/>
          <a:lstStyle>
            <a:lvl1pPr>
              <a:defRPr/>
            </a:lvl1pPr>
          </a:lstStyle>
          <a:p>
            <a:fld id="{10066599-523B-4641-9CCC-17D83CD935E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1/20/22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9826768-8FCE-4417-A22B-1D26CD2A84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7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02108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1"/>
            <a:ext cx="9143999" cy="1021079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3680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583680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r>
              <a:rPr lang="en-US"/>
              <a:t>Jure Leskovec &amp; Mina Ghashami, Stanford CS246: Mining Massive Datasets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583680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  <p:sldLayoutId id="2147483677" r:id="rId13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100000"/>
        <a:buFont typeface="Wingdings" pitchFamily="2" charset="2"/>
        <a:buChar char="§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Wingdings" pitchFamily="2" charset="2"/>
        <a:buChar char="§"/>
        <a:defRPr kumimoji="0"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itchFamily="2" charset="2"/>
        <a:buChar char="§"/>
        <a:defRPr kumimoji="0"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SzPct val="100000"/>
        <a:buFont typeface="Wingdings" pitchFamily="2" charset="2"/>
        <a:buChar char="§"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mmds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cornell.edu/courses/cs322/2008sp/stuff/TrefethenBau_Lec4_SVD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8077200" cy="3581400"/>
          </a:xfrm>
        </p:spPr>
        <p:txBody>
          <a:bodyPr anchor="b">
            <a:normAutofit/>
          </a:bodyPr>
          <a:lstStyle/>
          <a:p>
            <a:r>
              <a:rPr lang="en-US" sz="4800" dirty="0"/>
              <a:t>Dimensionality Reduction:</a:t>
            </a:r>
            <a:br>
              <a:rPr lang="en-US" sz="4800" dirty="0"/>
            </a:br>
            <a:r>
              <a:rPr lang="en-US" sz="4800" dirty="0"/>
              <a:t>SVD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257800"/>
            <a:ext cx="6705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CS246: Mining Massive Datasets</a:t>
            </a:r>
          </a:p>
          <a:p>
            <a:r>
              <a:rPr lang="en-US" sz="2400" dirty="0"/>
              <a:t>Jure Leskovec, </a:t>
            </a:r>
            <a:r>
              <a:rPr lang="en-US" sz="2000" dirty="0"/>
              <a:t>Stanford University</a:t>
            </a:r>
          </a:p>
          <a:p>
            <a:r>
              <a:rPr lang="en-US" sz="2400" dirty="0"/>
              <a:t>Mina Ghashami, </a:t>
            </a:r>
            <a:r>
              <a:rPr lang="en-US" sz="2000" dirty="0"/>
              <a:t>Amazon</a:t>
            </a:r>
          </a:p>
          <a:p>
            <a:r>
              <a:rPr lang="en-US" sz="3200" dirty="0"/>
              <a:t>http://cs246.stanford.edu</a:t>
            </a:r>
          </a:p>
        </p:txBody>
      </p:sp>
      <p:pic>
        <p:nvPicPr>
          <p:cNvPr id="5" name="Picture 6" descr="http://asia.stanford.edu/images/StanfordSealSmal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60" y="5166360"/>
            <a:ext cx="1691640" cy="1691640"/>
          </a:xfrm>
          <a:prstGeom prst="rect">
            <a:avLst/>
          </a:prstGeom>
          <a:noFill/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67F5CEAA-783B-664B-AC3E-3A688A0B2156}"/>
              </a:ext>
            </a:extLst>
          </p:cNvPr>
          <p:cNvSpPr txBox="1"/>
          <p:nvPr/>
        </p:nvSpPr>
        <p:spPr>
          <a:xfrm>
            <a:off x="1905000" y="130203"/>
            <a:ext cx="7239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Note to other teachers and users of these slides: </a:t>
            </a:r>
            <a:r>
              <a:rPr lang="en-US" sz="1400" dirty="0"/>
              <a:t>We would be delighted if you found our </a:t>
            </a:r>
          </a:p>
          <a:p>
            <a:r>
              <a:rPr lang="en-US" sz="1400" dirty="0"/>
              <a:t>material useful for giving your own lectures. Feel free to use these slides verbatim, or to </a:t>
            </a:r>
          </a:p>
          <a:p>
            <a:r>
              <a:rPr lang="en-US" sz="1400" dirty="0"/>
              <a:t>modify them to fit your own needs. If you make use of a significant portion of these slides </a:t>
            </a:r>
          </a:p>
          <a:p>
            <a:r>
              <a:rPr lang="en-US" sz="1400" dirty="0"/>
              <a:t>in your own lecture, please include this message, or a link to our web site: </a:t>
            </a:r>
            <a:r>
              <a:rPr lang="en-US" sz="1400" dirty="0">
                <a:hlinkClick r:id="rId4"/>
              </a:rPr>
              <a:t>http://</a:t>
            </a:r>
            <a:r>
              <a:rPr lang="en-US" sz="1400" dirty="0" err="1">
                <a:hlinkClick r:id="rId4"/>
              </a:rPr>
              <a:t>www.mmds.org</a:t>
            </a:r>
            <a:r>
              <a:rPr lang="en-US" sz="1400" dirty="0">
                <a:hlinkClick r:id="rId4"/>
              </a:rPr>
              <a:t> </a:t>
            </a:r>
            <a:endParaRPr lang="en-US" sz="1400" dirty="0"/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991600" cy="987552"/>
          </a:xfrm>
        </p:spPr>
        <p:txBody>
          <a:bodyPr/>
          <a:lstStyle/>
          <a:p>
            <a:r>
              <a:rPr lang="en-US" dirty="0"/>
              <a:t>Reducing  Matrix Dimension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Often, our data can be represented by an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-by-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</a:t>
                </a:r>
              </a:p>
              <a:p>
                <a:r>
                  <a:rPr lang="en-US" dirty="0"/>
                  <a:t>And this matrix can be closely approximated by the product of three matrices that share a small common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725" r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56C2971-1C3C-1847-A1B5-0BAFBCD09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7EDF4BA7-0B0B-1D4E-B500-C14ED5BD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Jure </a:t>
            </a:r>
            <a:r>
              <a:rPr lang="en-US" dirty="0" err="1"/>
              <a:t>Leskovec</a:t>
            </a:r>
            <a:r>
              <a:rPr lang="en-US" dirty="0"/>
              <a:t> &amp; Mina Ghashami, Stanford CS246: Mining Massive Datasets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18C71F-28EB-5748-8DB9-DAA0071D9B68}"/>
              </a:ext>
            </a:extLst>
          </p:cNvPr>
          <p:cNvSpPr/>
          <p:nvPr/>
        </p:nvSpPr>
        <p:spPr>
          <a:xfrm>
            <a:off x="1676400" y="4419600"/>
            <a:ext cx="1160542" cy="1752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cmpd="sng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3772F-37C7-E540-8FBD-83E03F180E40}"/>
              </a:ext>
            </a:extLst>
          </p:cNvPr>
          <p:cNvSpPr/>
          <p:nvPr/>
        </p:nvSpPr>
        <p:spPr>
          <a:xfrm>
            <a:off x="3972924" y="4419600"/>
            <a:ext cx="464217" cy="1752600"/>
          </a:xfrm>
          <a:prstGeom prst="rect">
            <a:avLst/>
          </a:prstGeom>
          <a:ln cmpd="sng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1298CE-8B3A-5D4F-AD6B-85A8F109A009}"/>
              </a:ext>
            </a:extLst>
          </p:cNvPr>
          <p:cNvSpPr txBox="1"/>
          <p:nvPr/>
        </p:nvSpPr>
        <p:spPr>
          <a:xfrm>
            <a:off x="1161469" y="5052034"/>
            <a:ext cx="334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D1D6A5-3D8B-3942-AB51-1A0054D1A7E3}"/>
              </a:ext>
            </a:extLst>
          </p:cNvPr>
          <p:cNvSpPr txBox="1"/>
          <p:nvPr/>
        </p:nvSpPr>
        <p:spPr>
          <a:xfrm>
            <a:off x="4027565" y="4000731"/>
            <a:ext cx="218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2F1626-6CDD-5B4A-BD6F-1AA73321D2A5}"/>
              </a:ext>
            </a:extLst>
          </p:cNvPr>
          <p:cNvSpPr txBox="1"/>
          <p:nvPr/>
        </p:nvSpPr>
        <p:spPr>
          <a:xfrm>
            <a:off x="1937822" y="4005196"/>
            <a:ext cx="263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FE2FA9-5F63-7F4D-AC34-191FCAA8190A}"/>
              </a:ext>
            </a:extLst>
          </p:cNvPr>
          <p:cNvGrpSpPr/>
          <p:nvPr/>
        </p:nvGrpSpPr>
        <p:grpSpPr>
          <a:xfrm>
            <a:off x="7082050" y="3916725"/>
            <a:ext cx="1442499" cy="919296"/>
            <a:chOff x="5027066" y="1664026"/>
            <a:chExt cx="1894260" cy="107917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5B561A-CF34-4B4E-94CC-A6447EEB0277}"/>
                </a:ext>
              </a:extLst>
            </p:cNvPr>
            <p:cNvSpPr/>
            <p:nvPr/>
          </p:nvSpPr>
          <p:spPr>
            <a:xfrm>
              <a:off x="5027066" y="2136266"/>
              <a:ext cx="1524000" cy="606934"/>
            </a:xfrm>
            <a:prstGeom prst="rect">
              <a:avLst/>
            </a:prstGeom>
            <a:ln cmpd="sng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V</a:t>
              </a:r>
              <a:r>
                <a:rPr lang="en-US" sz="2400" baseline="30000" dirty="0">
                  <a:solidFill>
                    <a:schemeClr val="tx1"/>
                  </a:solidFill>
                </a:rPr>
                <a:t>T</a:t>
              </a:r>
              <a:endParaRPr lang="en-US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8D745C7-6278-604D-A252-C54A83BCEE7A}"/>
                </a:ext>
              </a:extLst>
            </p:cNvPr>
            <p:cNvSpPr txBox="1"/>
            <p:nvPr/>
          </p:nvSpPr>
          <p:spPr>
            <a:xfrm>
              <a:off x="5615781" y="1664026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49171F-D4A2-1345-B3C4-1D42577EF740}"/>
                </a:ext>
              </a:extLst>
            </p:cNvPr>
            <p:cNvSpPr txBox="1"/>
            <p:nvPr/>
          </p:nvSpPr>
          <p:spPr>
            <a:xfrm>
              <a:off x="6634068" y="2200740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33581F-5BEF-8F43-8B16-E4F4D7D90F62}"/>
                  </a:ext>
                </a:extLst>
              </p:cNvPr>
              <p:cNvSpPr txBox="1"/>
              <p:nvPr/>
            </p:nvSpPr>
            <p:spPr>
              <a:xfrm>
                <a:off x="3184514" y="4946738"/>
                <a:ext cx="5518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33581F-5BEF-8F43-8B16-E4F4D7D90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514" y="4946738"/>
                <a:ext cx="55182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B0F2B9E-CED9-724F-9081-942B804B5B4D}"/>
              </a:ext>
            </a:extLst>
          </p:cNvPr>
          <p:cNvSpPr txBox="1"/>
          <p:nvPr/>
        </p:nvSpPr>
        <p:spPr>
          <a:xfrm>
            <a:off x="4673724" y="4392895"/>
            <a:ext cx="26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Symbol"/>
              </a:rPr>
              <a:t></a:t>
            </a:r>
            <a:endParaRPr lang="en-US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00462D-5034-7C46-BF6A-C93EFCFD39B3}"/>
              </a:ext>
            </a:extLst>
          </p:cNvPr>
          <p:cNvSpPr txBox="1"/>
          <p:nvPr/>
        </p:nvSpPr>
        <p:spPr>
          <a:xfrm>
            <a:off x="6079891" y="4392895"/>
            <a:ext cx="26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Symbol"/>
              </a:rPr>
              <a:t></a:t>
            </a:r>
            <a:endParaRPr lang="en-US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08EA0F-A7DB-2A4E-956A-5BDB734A2049}"/>
              </a:ext>
            </a:extLst>
          </p:cNvPr>
          <p:cNvSpPr/>
          <p:nvPr/>
        </p:nvSpPr>
        <p:spPr>
          <a:xfrm>
            <a:off x="5326982" y="4419600"/>
            <a:ext cx="464217" cy="511683"/>
          </a:xfrm>
          <a:prstGeom prst="rect">
            <a:avLst/>
          </a:prstGeom>
          <a:ln cmpd="sng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sym typeface="Symbol"/>
              </a:rPr>
              <a:t>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9C0EFF-6A3A-524F-B6EA-B7BE8E70B840}"/>
              </a:ext>
            </a:extLst>
          </p:cNvPr>
          <p:cNvSpPr txBox="1"/>
          <p:nvPr/>
        </p:nvSpPr>
        <p:spPr>
          <a:xfrm>
            <a:off x="5411279" y="4000731"/>
            <a:ext cx="218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4D7774-E092-BA4C-BB41-2970379F4EF5}"/>
              </a:ext>
            </a:extLst>
          </p:cNvPr>
          <p:cNvSpPr txBox="1"/>
          <p:nvPr/>
        </p:nvSpPr>
        <p:spPr>
          <a:xfrm>
            <a:off x="4437141" y="5011383"/>
            <a:ext cx="334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10418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19600"/>
            <a:ext cx="7848600" cy="2286000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en-US" dirty="0"/>
              <a:t>There are hidden, or </a:t>
            </a:r>
            <a:r>
              <a:rPr lang="en-US" b="1" dirty="0">
                <a:solidFill>
                  <a:srgbClr val="0000FF"/>
                </a:solidFill>
              </a:rPr>
              <a:t>latent factors, latent dimensions</a:t>
            </a:r>
            <a:r>
              <a:rPr lang="en-US" dirty="0"/>
              <a:t> that – to a close approximation – explain why the values are as they appear in the data matrix</a:t>
            </a:r>
          </a:p>
          <a:p>
            <a:endParaRPr lang="en-US" b="1" dirty="0">
              <a:solidFill>
                <a:srgbClr val="FF0066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198188"/>
            <a:ext cx="7272338" cy="322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0777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839200" cy="5410201"/>
          </a:xfrm>
        </p:spPr>
        <p:txBody>
          <a:bodyPr/>
          <a:lstStyle/>
          <a:p>
            <a:pPr marL="118872" indent="0">
              <a:buNone/>
            </a:pPr>
            <a:r>
              <a:rPr lang="en-US" b="1" dirty="0">
                <a:solidFill>
                  <a:srgbClr val="0000FF"/>
                </a:solidFill>
              </a:rPr>
              <a:t>The axes of these dimensions can be chosen by:</a:t>
            </a:r>
          </a:p>
          <a:p>
            <a:pPr lvl="1"/>
            <a:r>
              <a:rPr lang="en-US" dirty="0"/>
              <a:t>The first dimension is the direction in which </a:t>
            </a:r>
            <a:br>
              <a:rPr lang="en-US" dirty="0"/>
            </a:br>
            <a:r>
              <a:rPr lang="en-US" dirty="0"/>
              <a:t>the points exhibit the greatest variance</a:t>
            </a:r>
          </a:p>
          <a:p>
            <a:pPr lvl="1"/>
            <a:r>
              <a:rPr lang="en-US" dirty="0"/>
              <a:t>The second dimension is the direction, orthogonal to the first, in which points show the 2</a:t>
            </a:r>
            <a:r>
              <a:rPr lang="en-US" baseline="30000" dirty="0"/>
              <a:t>nd</a:t>
            </a:r>
            <a:r>
              <a:rPr lang="en-US" dirty="0"/>
              <a:t> greatest variance</a:t>
            </a:r>
          </a:p>
          <a:p>
            <a:pPr lvl="1"/>
            <a:r>
              <a:rPr lang="en-US" dirty="0"/>
              <a:t>And so on…, until you have enough dimensions that variance is really 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572000"/>
            <a:ext cx="5257800" cy="200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1865A8-A42A-4C4D-ABDA-3D3A9255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717ED2-A8FA-4E45-844C-00931428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245989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58724B-6D15-9241-A7B9-0DE595867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SVD: Singular Value Decomposition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3393478-6088-C54F-A92F-801BB4AA06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3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991600" cy="987552"/>
          </a:xfrm>
        </p:spPr>
        <p:txBody>
          <a:bodyPr/>
          <a:lstStyle/>
          <a:p>
            <a:r>
              <a:rPr lang="en-US" dirty="0"/>
              <a:t>Reducing Matrix Dimension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686800" cy="55626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>
                    <a:solidFill>
                      <a:srgbClr val="0000FF"/>
                    </a:solidFill>
                  </a:rPr>
                  <a:t>Gives a decomposition of any matrix into a </a:t>
                </a:r>
                <a:br>
                  <a:rPr lang="en-US" b="1" dirty="0">
                    <a:solidFill>
                      <a:srgbClr val="0000FF"/>
                    </a:solidFill>
                  </a:rPr>
                </a:br>
                <a:r>
                  <a:rPr lang="en-US" b="1" dirty="0">
                    <a:solidFill>
                      <a:srgbClr val="0000FF"/>
                    </a:solidFill>
                  </a:rPr>
                  <a:t>product of three matrices: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D60093"/>
                    </a:solidFill>
                  </a:rPr>
                  <a:t>There are strong constraints on the form of each </a:t>
                </a:r>
                <a:br>
                  <a:rPr lang="en-US" dirty="0">
                    <a:solidFill>
                      <a:srgbClr val="D60093"/>
                    </a:solidFill>
                  </a:rPr>
                </a:br>
                <a:r>
                  <a:rPr lang="en-US" dirty="0">
                    <a:solidFill>
                      <a:srgbClr val="D60093"/>
                    </a:solidFill>
                  </a:rPr>
                  <a:t>of these matrices</a:t>
                </a:r>
              </a:p>
              <a:p>
                <a:pPr lvl="1"/>
                <a:r>
                  <a:rPr lang="en-US" dirty="0"/>
                  <a:t>Results in a unique decomposition</a:t>
                </a:r>
              </a:p>
              <a:p>
                <a:r>
                  <a:rPr lang="en-US" dirty="0"/>
                  <a:t>From this decomposition, you can choose any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of intermediate concepts (latent factors) in a way that minimizes the reconstruction error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686800" cy="5562600"/>
              </a:xfrm>
              <a:blipFill>
                <a:blip r:embed="rId2"/>
                <a:stretch>
                  <a:fillRect t="-1139" b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5B8D980-E9DC-FF4D-A2A3-0D6B4BC8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0C2F080-1D81-1341-BC0D-7C4B966F4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3EBD-151A-C74E-980F-5A59D6B70F4A}"/>
              </a:ext>
            </a:extLst>
          </p:cNvPr>
          <p:cNvSpPr/>
          <p:nvPr/>
        </p:nvSpPr>
        <p:spPr>
          <a:xfrm>
            <a:off x="1676400" y="2484075"/>
            <a:ext cx="1160542" cy="1752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cmpd="sng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F92D04-EFAA-CC44-AC43-A8270C590132}"/>
              </a:ext>
            </a:extLst>
          </p:cNvPr>
          <p:cNvSpPr/>
          <p:nvPr/>
        </p:nvSpPr>
        <p:spPr>
          <a:xfrm>
            <a:off x="3972924" y="2484075"/>
            <a:ext cx="464217" cy="1752600"/>
          </a:xfrm>
          <a:prstGeom prst="rect">
            <a:avLst/>
          </a:prstGeom>
          <a:ln cmpd="sng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C3E9F-8B27-8840-B758-5BB968ABB929}"/>
              </a:ext>
            </a:extLst>
          </p:cNvPr>
          <p:cNvSpPr txBox="1"/>
          <p:nvPr/>
        </p:nvSpPr>
        <p:spPr>
          <a:xfrm>
            <a:off x="1161469" y="3116509"/>
            <a:ext cx="334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77B8BC-0AB9-CF42-AB9E-597E6BBFF373}"/>
              </a:ext>
            </a:extLst>
          </p:cNvPr>
          <p:cNvSpPr txBox="1"/>
          <p:nvPr/>
        </p:nvSpPr>
        <p:spPr>
          <a:xfrm>
            <a:off x="4027565" y="2065206"/>
            <a:ext cx="218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EB0BA4-51C5-274C-8B6B-53CBDCE9FBB5}"/>
              </a:ext>
            </a:extLst>
          </p:cNvPr>
          <p:cNvSpPr txBox="1"/>
          <p:nvPr/>
        </p:nvSpPr>
        <p:spPr>
          <a:xfrm>
            <a:off x="1937822" y="2069671"/>
            <a:ext cx="263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7533A5-981C-9A45-9BED-59E39D4C2CDD}"/>
              </a:ext>
            </a:extLst>
          </p:cNvPr>
          <p:cNvGrpSpPr/>
          <p:nvPr/>
        </p:nvGrpSpPr>
        <p:grpSpPr>
          <a:xfrm>
            <a:off x="6858000" y="2052504"/>
            <a:ext cx="1442499" cy="919296"/>
            <a:chOff x="5027066" y="1664026"/>
            <a:chExt cx="1894260" cy="107917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C1EC138-9AD4-DB49-8F4E-3F36684A2005}"/>
                </a:ext>
              </a:extLst>
            </p:cNvPr>
            <p:cNvSpPr/>
            <p:nvPr/>
          </p:nvSpPr>
          <p:spPr>
            <a:xfrm>
              <a:off x="5027066" y="2136266"/>
              <a:ext cx="1524000" cy="606934"/>
            </a:xfrm>
            <a:prstGeom prst="rect">
              <a:avLst/>
            </a:prstGeom>
            <a:ln cmpd="sng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  <a:r>
                <a:rPr lang="en-US" baseline="30000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B6AF805-E850-834D-B64E-9B7C7F0A1688}"/>
                </a:ext>
              </a:extLst>
            </p:cNvPr>
            <p:cNvSpPr txBox="1"/>
            <p:nvPr/>
          </p:nvSpPr>
          <p:spPr>
            <a:xfrm>
              <a:off x="5615781" y="1664026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276D6F-F656-A543-B58C-67C655F41941}"/>
                </a:ext>
              </a:extLst>
            </p:cNvPr>
            <p:cNvSpPr txBox="1"/>
            <p:nvPr/>
          </p:nvSpPr>
          <p:spPr>
            <a:xfrm>
              <a:off x="6634068" y="2200740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41FDDB5-C16D-3E4B-B7EB-C3A285A16A5F}"/>
              </a:ext>
            </a:extLst>
          </p:cNvPr>
          <p:cNvSpPr txBox="1"/>
          <p:nvPr/>
        </p:nvSpPr>
        <p:spPr>
          <a:xfrm>
            <a:off x="3184514" y="3011213"/>
            <a:ext cx="37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8BA7F4-A226-774A-873D-4E251D72F25E}"/>
              </a:ext>
            </a:extLst>
          </p:cNvPr>
          <p:cNvSpPr txBox="1"/>
          <p:nvPr/>
        </p:nvSpPr>
        <p:spPr>
          <a:xfrm>
            <a:off x="4673724" y="2457370"/>
            <a:ext cx="26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Symbol"/>
              </a:rPr>
              <a:t></a:t>
            </a:r>
            <a:endParaRPr lang="en-US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68F2E8-AF6F-474E-81D9-1B32B80A2008}"/>
              </a:ext>
            </a:extLst>
          </p:cNvPr>
          <p:cNvSpPr txBox="1"/>
          <p:nvPr/>
        </p:nvSpPr>
        <p:spPr>
          <a:xfrm>
            <a:off x="6079891" y="2457370"/>
            <a:ext cx="26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Symbol"/>
              </a:rPr>
              <a:t></a:t>
            </a:r>
            <a:endParaRPr lang="en-US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E8AB38-1396-2F4E-8E86-3032C7E6174E}"/>
              </a:ext>
            </a:extLst>
          </p:cNvPr>
          <p:cNvSpPr/>
          <p:nvPr/>
        </p:nvSpPr>
        <p:spPr>
          <a:xfrm>
            <a:off x="5326982" y="2484075"/>
            <a:ext cx="464217" cy="511683"/>
          </a:xfrm>
          <a:prstGeom prst="rect">
            <a:avLst/>
          </a:prstGeom>
          <a:ln cmpd="sng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sym typeface="Symbol"/>
              </a:rPr>
              <a:t>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664C7-BEEE-264B-A764-67E2409A87BE}"/>
              </a:ext>
            </a:extLst>
          </p:cNvPr>
          <p:cNvSpPr txBox="1"/>
          <p:nvPr/>
        </p:nvSpPr>
        <p:spPr>
          <a:xfrm>
            <a:off x="5411279" y="2065206"/>
            <a:ext cx="218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AD1821-216E-0843-923B-D909ED28AC19}"/>
              </a:ext>
            </a:extLst>
          </p:cNvPr>
          <p:cNvSpPr txBox="1"/>
          <p:nvPr/>
        </p:nvSpPr>
        <p:spPr>
          <a:xfrm>
            <a:off x="4405454" y="3414529"/>
            <a:ext cx="334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52963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Definition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4203574"/>
            <a:ext cx="8229600" cy="265442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A</a:t>
            </a:r>
            <a:r>
              <a:rPr lang="en-US" dirty="0"/>
              <a:t>: </a:t>
            </a:r>
            <a:r>
              <a:rPr lang="en-US" b="1" dirty="0">
                <a:solidFill>
                  <a:srgbClr val="FF0066"/>
                </a:solidFill>
              </a:rPr>
              <a:t>Input data matrix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m</a:t>
            </a:r>
            <a:r>
              <a:rPr lang="en-US" dirty="0"/>
              <a:t> x </a:t>
            </a:r>
            <a:r>
              <a:rPr lang="en-US" i="1" dirty="0"/>
              <a:t>n</a:t>
            </a:r>
            <a:r>
              <a:rPr lang="en-US" dirty="0"/>
              <a:t> matrix (e.g., </a:t>
            </a:r>
            <a:r>
              <a:rPr lang="en-US" i="1" dirty="0"/>
              <a:t>m</a:t>
            </a:r>
            <a:r>
              <a:rPr lang="en-US" dirty="0"/>
              <a:t> documents, </a:t>
            </a:r>
            <a:r>
              <a:rPr lang="en-US" i="1" dirty="0"/>
              <a:t>n</a:t>
            </a:r>
            <a:r>
              <a:rPr lang="en-US" dirty="0"/>
              <a:t> terms)</a:t>
            </a:r>
          </a:p>
          <a:p>
            <a:pPr>
              <a:lnSpc>
                <a:spcPct val="90000"/>
              </a:lnSpc>
            </a:pPr>
            <a:r>
              <a:rPr lang="en-US" b="1" dirty="0"/>
              <a:t> U</a:t>
            </a:r>
            <a:r>
              <a:rPr lang="en-US" dirty="0"/>
              <a:t>: </a:t>
            </a:r>
            <a:r>
              <a:rPr lang="en-US" b="1" dirty="0">
                <a:solidFill>
                  <a:srgbClr val="FF0066"/>
                </a:solidFill>
              </a:rPr>
              <a:t>Left singular vectors 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m</a:t>
            </a:r>
            <a:r>
              <a:rPr lang="en-US" dirty="0"/>
              <a:t> x </a:t>
            </a:r>
            <a:r>
              <a:rPr lang="en-US" i="1" dirty="0"/>
              <a:t>r</a:t>
            </a:r>
            <a:r>
              <a:rPr lang="en-US" dirty="0"/>
              <a:t> matrix  (</a:t>
            </a:r>
            <a:r>
              <a:rPr lang="en-US" i="1" dirty="0"/>
              <a:t>m</a:t>
            </a:r>
            <a:r>
              <a:rPr lang="en-US" dirty="0"/>
              <a:t> documents, </a:t>
            </a:r>
            <a:r>
              <a:rPr lang="en-US" i="1" dirty="0"/>
              <a:t>r</a:t>
            </a:r>
            <a:r>
              <a:rPr lang="en-US" dirty="0"/>
              <a:t> concepts)</a:t>
            </a:r>
          </a:p>
          <a:p>
            <a:pPr>
              <a:lnSpc>
                <a:spcPct val="90000"/>
              </a:lnSpc>
            </a:pPr>
            <a:r>
              <a:rPr lang="en-US" dirty="0"/>
              <a:t> </a:t>
            </a:r>
            <a:r>
              <a:rPr lang="en-US" b="1" dirty="0">
                <a:latin typeface="Symbol" pitchFamily="18" charset="2"/>
                <a:sym typeface="Symbol"/>
              </a:rPr>
              <a:t></a:t>
            </a:r>
            <a:r>
              <a:rPr lang="en-US" dirty="0"/>
              <a:t>: </a:t>
            </a:r>
            <a:r>
              <a:rPr lang="en-US" b="1" dirty="0">
                <a:solidFill>
                  <a:srgbClr val="FF0066"/>
                </a:solidFill>
              </a:rPr>
              <a:t>Singular values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r</a:t>
            </a:r>
            <a:r>
              <a:rPr lang="en-US" dirty="0"/>
              <a:t> x </a:t>
            </a:r>
            <a:r>
              <a:rPr lang="en-US" i="1" dirty="0"/>
              <a:t>r</a:t>
            </a:r>
            <a:r>
              <a:rPr lang="en-US" dirty="0"/>
              <a:t> diagonal matrix (strength of each ‘concept’) </a:t>
            </a:r>
            <a:br>
              <a:rPr lang="en-US" dirty="0"/>
            </a:b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: rank of the matrix </a:t>
            </a:r>
            <a:r>
              <a:rPr lang="en-US" b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b="1" dirty="0"/>
              <a:t> V</a:t>
            </a:r>
            <a:r>
              <a:rPr lang="en-US" dirty="0"/>
              <a:t>: </a:t>
            </a:r>
            <a:r>
              <a:rPr lang="en-US" b="1" dirty="0">
                <a:solidFill>
                  <a:srgbClr val="FF0066"/>
                </a:solidFill>
              </a:rPr>
              <a:t>Right singular vectors</a:t>
            </a:r>
          </a:p>
          <a:p>
            <a:pPr lvl="1">
              <a:lnSpc>
                <a:spcPct val="90000"/>
              </a:lnSpc>
            </a:pPr>
            <a:r>
              <a:rPr lang="en-US" i="1" dirty="0"/>
              <a:t>n</a:t>
            </a:r>
            <a:r>
              <a:rPr lang="en-US" dirty="0"/>
              <a:t> x </a:t>
            </a:r>
            <a:r>
              <a:rPr lang="en-US" i="1" dirty="0"/>
              <a:t>r</a:t>
            </a:r>
            <a:r>
              <a:rPr lang="en-US" dirty="0"/>
              <a:t> matrix (</a:t>
            </a:r>
            <a:r>
              <a:rPr lang="en-US" i="1" dirty="0"/>
              <a:t>n</a:t>
            </a:r>
            <a:r>
              <a:rPr lang="en-US" dirty="0"/>
              <a:t> terms, </a:t>
            </a:r>
            <a:r>
              <a:rPr lang="en-US" i="1" dirty="0"/>
              <a:t>r</a:t>
            </a:r>
            <a:r>
              <a:rPr lang="en-US" dirty="0"/>
              <a:t> concepts)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29" name="Date Placeholder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  <a:endParaRPr lang="en-US" dirty="0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 dirty="0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AE5C-D0F4-4E39-91A4-622A0C787404}" type="slidenum">
              <a:rPr lang="en-US"/>
              <a:pPr/>
              <a:t>7</a:t>
            </a:fld>
            <a:endParaRPr lang="en-US"/>
          </a:p>
        </p:txBody>
      </p:sp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4786313" y="2228850"/>
            <a:ext cx="328612" cy="3206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57" name="AutoShape 5"/>
          <p:cNvSpPr>
            <a:spLocks noChangeArrowheads="1"/>
          </p:cNvSpPr>
          <p:nvPr/>
        </p:nvSpPr>
        <p:spPr bwMode="auto">
          <a:xfrm rot="16200000">
            <a:off x="1495425" y="2565400"/>
            <a:ext cx="1828800" cy="1143000"/>
          </a:xfrm>
          <a:prstGeom prst="flowChartProcess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kumimoji="0" lang="en-US" sz="2400" b="1" dirty="0">
                <a:latin typeface="Sylfaen" pitchFamily="18" charset="0"/>
              </a:rPr>
              <a:t>A</a:t>
            </a:r>
            <a:endParaRPr kumimoji="0" lang="en-US" sz="2400" b="1" baseline="30000" dirty="0">
              <a:latin typeface="Sylfaen" pitchFamily="18" charset="0"/>
            </a:endParaRPr>
          </a:p>
        </p:txBody>
      </p:sp>
      <p:sp>
        <p:nvSpPr>
          <p:cNvPr id="151559" name="Text Box 7"/>
          <p:cNvSpPr txBox="1">
            <a:spLocks noChangeArrowheads="1"/>
          </p:cNvSpPr>
          <p:nvPr/>
        </p:nvSpPr>
        <p:spPr bwMode="auto">
          <a:xfrm>
            <a:off x="1295400" y="2889250"/>
            <a:ext cx="3921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en-US" sz="2000" dirty="0">
                <a:latin typeface="Sylfaen" pitchFamily="18" charset="0"/>
              </a:rPr>
              <a:t>m</a:t>
            </a:r>
          </a:p>
        </p:txBody>
      </p:sp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2247900" y="1828800"/>
            <a:ext cx="328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en-US" sz="2000" dirty="0">
                <a:latin typeface="Sylfaen" pitchFamily="18" charset="0"/>
              </a:rPr>
              <a:t>n</a:t>
            </a:r>
          </a:p>
        </p:txBody>
      </p:sp>
      <p:sp>
        <p:nvSpPr>
          <p:cNvPr id="151562" name="Rectangle 10"/>
          <p:cNvSpPr>
            <a:spLocks noChangeArrowheads="1"/>
          </p:cNvSpPr>
          <p:nvPr/>
        </p:nvSpPr>
        <p:spPr bwMode="auto">
          <a:xfrm>
            <a:off x="4783138" y="2586037"/>
            <a:ext cx="395287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sz="2800" b="1">
                <a:latin typeface="Sylfaen" pitchFamily="18" charset="0"/>
                <a:sym typeface="Symbol" pitchFamily="18" charset="2"/>
              </a:rPr>
              <a:t></a:t>
            </a:r>
          </a:p>
        </p:txBody>
      </p:sp>
      <p:sp>
        <p:nvSpPr>
          <p:cNvPr id="151565" name="Text Box 13"/>
          <p:cNvSpPr txBox="1">
            <a:spLocks noChangeArrowheads="1"/>
          </p:cNvSpPr>
          <p:nvPr/>
        </p:nvSpPr>
        <p:spPr bwMode="auto">
          <a:xfrm>
            <a:off x="4027488" y="2863850"/>
            <a:ext cx="3921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en-US" sz="2000" dirty="0">
                <a:latin typeface="Sylfaen" pitchFamily="18" charset="0"/>
              </a:rPr>
              <a:t>m</a:t>
            </a:r>
          </a:p>
        </p:txBody>
      </p:sp>
      <p:sp>
        <p:nvSpPr>
          <p:cNvPr id="151567" name="Text Box 15"/>
          <p:cNvSpPr txBox="1">
            <a:spLocks noChangeArrowheads="1"/>
          </p:cNvSpPr>
          <p:nvPr/>
        </p:nvSpPr>
        <p:spPr bwMode="auto">
          <a:xfrm>
            <a:off x="5662613" y="1828800"/>
            <a:ext cx="328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en-US" sz="2000">
                <a:latin typeface="Sylfaen" pitchFamily="18" charset="0"/>
              </a:rPr>
              <a:t>n</a:t>
            </a:r>
          </a:p>
        </p:txBody>
      </p:sp>
      <p:sp>
        <p:nvSpPr>
          <p:cNvPr id="151569" name="Rectangle 17"/>
          <p:cNvSpPr>
            <a:spLocks noChangeArrowheads="1"/>
          </p:cNvSpPr>
          <p:nvPr/>
        </p:nvSpPr>
        <p:spPr bwMode="auto">
          <a:xfrm>
            <a:off x="4318000" y="3970337"/>
            <a:ext cx="439738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sz="2800" b="1">
                <a:latin typeface="Sylfaen" pitchFamily="18" charset="0"/>
              </a:rPr>
              <a:t>U</a:t>
            </a:r>
            <a:endParaRPr kumimoji="0" lang="en-US" sz="2800" b="1" baseline="30000">
              <a:latin typeface="Sylfaen" pitchFamily="18" charset="0"/>
            </a:endParaRPr>
          </a:p>
        </p:txBody>
      </p:sp>
      <p:sp>
        <p:nvSpPr>
          <p:cNvPr id="151570" name="AutoShape 18"/>
          <p:cNvSpPr>
            <a:spLocks noChangeArrowheads="1"/>
          </p:cNvSpPr>
          <p:nvPr/>
        </p:nvSpPr>
        <p:spPr bwMode="auto">
          <a:xfrm rot="16200000">
            <a:off x="3520282" y="3055143"/>
            <a:ext cx="1828800" cy="163513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kumimoji="0" lang="en-US" sz="2400" b="1" baseline="30000">
              <a:latin typeface="Sylfaen" pitchFamily="18" charset="0"/>
            </a:endParaRPr>
          </a:p>
        </p:txBody>
      </p:sp>
      <p:sp>
        <p:nvSpPr>
          <p:cNvPr id="151571" name="AutoShape 19"/>
          <p:cNvSpPr>
            <a:spLocks noChangeArrowheads="1"/>
          </p:cNvSpPr>
          <p:nvPr/>
        </p:nvSpPr>
        <p:spPr bwMode="auto">
          <a:xfrm rot="16200000">
            <a:off x="4775200" y="2233612"/>
            <a:ext cx="174625" cy="161925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kumimoji="0" lang="en-US" sz="2400" b="1">
              <a:latin typeface="Symbol" pitchFamily="18" charset="2"/>
              <a:sym typeface="Symbol" pitchFamily="18" charset="2"/>
            </a:endParaRPr>
          </a:p>
        </p:txBody>
      </p:sp>
      <p:sp>
        <p:nvSpPr>
          <p:cNvPr id="151572" name="Rectangle 20"/>
          <p:cNvSpPr>
            <a:spLocks noChangeArrowheads="1"/>
          </p:cNvSpPr>
          <p:nvPr/>
        </p:nvSpPr>
        <p:spPr bwMode="auto">
          <a:xfrm>
            <a:off x="5548313" y="2547937"/>
            <a:ext cx="584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sz="2800" b="1">
                <a:latin typeface="Sylfaen" pitchFamily="18" charset="0"/>
              </a:rPr>
              <a:t>V</a:t>
            </a:r>
            <a:r>
              <a:rPr kumimoji="0" lang="en-US" sz="2800" b="1" baseline="30000">
                <a:latin typeface="Sylfaen" pitchFamily="18" charset="0"/>
              </a:rPr>
              <a:t>T</a:t>
            </a:r>
          </a:p>
        </p:txBody>
      </p:sp>
      <p:sp>
        <p:nvSpPr>
          <p:cNvPr id="151573" name="Rectangle 21"/>
          <p:cNvSpPr>
            <a:spLocks noChangeArrowheads="1"/>
          </p:cNvSpPr>
          <p:nvPr/>
        </p:nvSpPr>
        <p:spPr bwMode="auto">
          <a:xfrm>
            <a:off x="2946400" y="2578100"/>
            <a:ext cx="977900" cy="1006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sz="6000">
                <a:latin typeface="Symbol" pitchFamily="18" charset="2"/>
                <a:sym typeface="Symbol" pitchFamily="18" charset="2"/>
              </a:rPr>
              <a:t></a:t>
            </a:r>
            <a:r>
              <a:rPr kumimoji="0" lang="en-US" sz="4400">
                <a:latin typeface="Symbol" pitchFamily="18" charset="2"/>
              </a:rPr>
              <a:t> </a:t>
            </a:r>
          </a:p>
        </p:txBody>
      </p:sp>
      <p:sp>
        <p:nvSpPr>
          <p:cNvPr id="151574" name="Rectangle 22"/>
          <p:cNvSpPr>
            <a:spLocks noChangeArrowheads="1"/>
          </p:cNvSpPr>
          <p:nvPr/>
        </p:nvSpPr>
        <p:spPr bwMode="auto">
          <a:xfrm>
            <a:off x="4511675" y="2219325"/>
            <a:ext cx="171450" cy="1831975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75" name="Rectangle 23"/>
          <p:cNvSpPr>
            <a:spLocks noChangeArrowheads="1"/>
          </p:cNvSpPr>
          <p:nvPr/>
        </p:nvSpPr>
        <p:spPr bwMode="auto">
          <a:xfrm>
            <a:off x="4951413" y="2398712"/>
            <a:ext cx="158750" cy="157163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76" name="AutoShape 24"/>
          <p:cNvSpPr>
            <a:spLocks noChangeArrowheads="1"/>
          </p:cNvSpPr>
          <p:nvPr/>
        </p:nvSpPr>
        <p:spPr bwMode="auto">
          <a:xfrm>
            <a:off x="5235575" y="2239962"/>
            <a:ext cx="1149350" cy="163513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0" lang="en-US" sz="2400" b="1" baseline="30000">
              <a:latin typeface="Sylfaen" pitchFamily="18" charset="0"/>
            </a:endParaRPr>
          </a:p>
        </p:txBody>
      </p:sp>
      <p:sp>
        <p:nvSpPr>
          <p:cNvPr id="151577" name="Rectangle 25"/>
          <p:cNvSpPr>
            <a:spLocks noChangeArrowheads="1"/>
          </p:cNvSpPr>
          <p:nvPr/>
        </p:nvSpPr>
        <p:spPr bwMode="auto">
          <a:xfrm>
            <a:off x="5233988" y="2408237"/>
            <a:ext cx="1150937" cy="169863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51582" name="Picture 30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10482" y="1211262"/>
            <a:ext cx="6248400" cy="635000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294270" y="121920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469BA-6E14-B344-A795-4ED4003BB341}"/>
              </a:ext>
            </a:extLst>
          </p:cNvPr>
          <p:cNvSpPr/>
          <p:nvPr/>
        </p:nvSpPr>
        <p:spPr>
          <a:xfrm>
            <a:off x="4800600" y="190500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11BE15-DF27-C445-BB95-D05972865C34}"/>
              </a:ext>
            </a:extLst>
          </p:cNvPr>
          <p:cNvSpPr/>
          <p:nvPr/>
        </p:nvSpPr>
        <p:spPr>
          <a:xfrm>
            <a:off x="4343400" y="190500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5998B4D-8E68-134E-9339-A4CD83D73362}"/>
              </a:ext>
            </a:extLst>
          </p:cNvPr>
          <p:cNvSpPr/>
          <p:nvPr/>
        </p:nvSpPr>
        <p:spPr>
          <a:xfrm>
            <a:off x="6367790" y="220980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2527435"/>
      </p:ext>
    </p:extLst>
  </p:cSld>
  <p:clrMapOvr>
    <a:masterClrMapping/>
  </p:clrMapOvr>
  <p:transition advTm="63359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75999-92DF-4821-995D-90B0EE284B4E}" type="slidenum">
              <a:rPr lang="en-US"/>
              <a:pPr/>
              <a:t>8</a:t>
            </a:fld>
            <a:endParaRPr lang="en-US"/>
          </a:p>
        </p:txBody>
      </p:sp>
      <p:sp>
        <p:nvSpPr>
          <p:cNvPr id="146437" name="AutoShape 5"/>
          <p:cNvSpPr>
            <a:spLocks noChangeArrowheads="1"/>
          </p:cNvSpPr>
          <p:nvPr/>
        </p:nvSpPr>
        <p:spPr bwMode="auto">
          <a:xfrm rot="16200000">
            <a:off x="1495425" y="3424238"/>
            <a:ext cx="1828800" cy="1143000"/>
          </a:xfrm>
          <a:prstGeom prst="flowChartProcess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kumimoji="0" lang="en-US" sz="2400" b="1" dirty="0">
                <a:latin typeface="Sylfaen" pitchFamily="18" charset="0"/>
              </a:rPr>
              <a:t>A</a:t>
            </a:r>
            <a:endParaRPr kumimoji="0" lang="en-US" sz="2400" b="1" baseline="30000" dirty="0">
              <a:latin typeface="Sylfaen" pitchFamily="18" charset="0"/>
            </a:endParaRPr>
          </a:p>
        </p:txBody>
      </p:sp>
      <p:sp>
        <p:nvSpPr>
          <p:cNvPr id="146438" name="AutoShape 6"/>
          <p:cNvSpPr>
            <a:spLocks/>
          </p:cNvSpPr>
          <p:nvPr/>
        </p:nvSpPr>
        <p:spPr bwMode="auto">
          <a:xfrm>
            <a:off x="1638300" y="3081338"/>
            <a:ext cx="152400" cy="1752600"/>
          </a:xfrm>
          <a:prstGeom prst="leftBrace">
            <a:avLst>
              <a:gd name="adj1" fmla="val 9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39" name="Text Box 7"/>
          <p:cNvSpPr txBox="1">
            <a:spLocks noChangeArrowheads="1"/>
          </p:cNvSpPr>
          <p:nvPr/>
        </p:nvSpPr>
        <p:spPr bwMode="auto">
          <a:xfrm>
            <a:off x="1381125" y="3767138"/>
            <a:ext cx="3921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en-US" sz="2000">
                <a:latin typeface="Sylfaen" pitchFamily="18" charset="0"/>
              </a:rPr>
              <a:t>m</a:t>
            </a:r>
          </a:p>
        </p:txBody>
      </p:sp>
      <p:sp>
        <p:nvSpPr>
          <p:cNvPr id="146440" name="Text Box 8"/>
          <p:cNvSpPr txBox="1">
            <a:spLocks noChangeArrowheads="1"/>
          </p:cNvSpPr>
          <p:nvPr/>
        </p:nvSpPr>
        <p:spPr bwMode="auto">
          <a:xfrm>
            <a:off x="2247900" y="2405063"/>
            <a:ext cx="328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en-US" sz="2000">
                <a:latin typeface="Sylfaen" pitchFamily="18" charset="0"/>
              </a:rPr>
              <a:t>n</a:t>
            </a:r>
          </a:p>
        </p:txBody>
      </p:sp>
      <p:sp>
        <p:nvSpPr>
          <p:cNvPr id="146441" name="AutoShape 9"/>
          <p:cNvSpPr>
            <a:spLocks/>
          </p:cNvSpPr>
          <p:nvPr/>
        </p:nvSpPr>
        <p:spPr bwMode="auto">
          <a:xfrm rot="5400000">
            <a:off x="2247900" y="2328863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50" name="AutoShape 18"/>
          <p:cNvSpPr>
            <a:spLocks noChangeArrowheads="1"/>
          </p:cNvSpPr>
          <p:nvPr/>
        </p:nvSpPr>
        <p:spPr bwMode="auto">
          <a:xfrm rot="16200000">
            <a:off x="3205957" y="3913981"/>
            <a:ext cx="1828800" cy="163513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kumimoji="0" lang="en-US" sz="2400" b="1" baseline="30000">
              <a:latin typeface="Sylfaen" pitchFamily="18" charset="0"/>
            </a:endParaRPr>
          </a:p>
        </p:txBody>
      </p:sp>
      <p:sp>
        <p:nvSpPr>
          <p:cNvPr id="146451" name="AutoShape 19"/>
          <p:cNvSpPr>
            <a:spLocks noChangeArrowheads="1"/>
          </p:cNvSpPr>
          <p:nvPr/>
        </p:nvSpPr>
        <p:spPr bwMode="auto">
          <a:xfrm rot="16200000">
            <a:off x="4260850" y="3092450"/>
            <a:ext cx="174625" cy="161925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kumimoji="0" lang="en-US" sz="2400" b="1">
              <a:latin typeface="Symbol" pitchFamily="18" charset="2"/>
              <a:sym typeface="Symbol" pitchFamily="18" charset="2"/>
            </a:endParaRPr>
          </a:p>
        </p:txBody>
      </p:sp>
      <p:sp>
        <p:nvSpPr>
          <p:cNvPr id="146453" name="Rectangle 21"/>
          <p:cNvSpPr>
            <a:spLocks noChangeArrowheads="1"/>
          </p:cNvSpPr>
          <p:nvPr/>
        </p:nvSpPr>
        <p:spPr bwMode="auto">
          <a:xfrm>
            <a:off x="2946400" y="3436938"/>
            <a:ext cx="977900" cy="1006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sz="6000">
                <a:latin typeface="Symbol" pitchFamily="18" charset="2"/>
                <a:sym typeface="Symbol" pitchFamily="18" charset="2"/>
              </a:rPr>
              <a:t></a:t>
            </a:r>
            <a:r>
              <a:rPr kumimoji="0" lang="en-US" sz="4400">
                <a:latin typeface="Symbol" pitchFamily="18" charset="2"/>
              </a:rPr>
              <a:t> </a:t>
            </a:r>
          </a:p>
        </p:txBody>
      </p:sp>
      <p:sp>
        <p:nvSpPr>
          <p:cNvPr id="146454" name="Rectangle 22"/>
          <p:cNvSpPr>
            <a:spLocks noChangeArrowheads="1"/>
          </p:cNvSpPr>
          <p:nvPr/>
        </p:nvSpPr>
        <p:spPr bwMode="auto">
          <a:xfrm>
            <a:off x="6229350" y="3121025"/>
            <a:ext cx="171450" cy="1831975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55" name="Rectangle 23"/>
          <p:cNvSpPr>
            <a:spLocks noChangeArrowheads="1"/>
          </p:cNvSpPr>
          <p:nvPr/>
        </p:nvSpPr>
        <p:spPr bwMode="auto">
          <a:xfrm>
            <a:off x="6477000" y="3121025"/>
            <a:ext cx="158750" cy="157163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56" name="AutoShape 24"/>
          <p:cNvSpPr>
            <a:spLocks noChangeArrowheads="1"/>
          </p:cNvSpPr>
          <p:nvPr/>
        </p:nvSpPr>
        <p:spPr bwMode="auto">
          <a:xfrm>
            <a:off x="4572000" y="3098800"/>
            <a:ext cx="1149350" cy="163513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0" lang="en-US" sz="2400" b="1" baseline="30000">
              <a:latin typeface="Sylfaen" pitchFamily="18" charset="0"/>
            </a:endParaRPr>
          </a:p>
        </p:txBody>
      </p:sp>
      <p:sp>
        <p:nvSpPr>
          <p:cNvPr id="146457" name="Rectangle 25"/>
          <p:cNvSpPr>
            <a:spLocks noChangeArrowheads="1"/>
          </p:cNvSpPr>
          <p:nvPr/>
        </p:nvSpPr>
        <p:spPr bwMode="auto">
          <a:xfrm>
            <a:off x="6781800" y="3121025"/>
            <a:ext cx="1150938" cy="169863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58" name="Text Box 26"/>
          <p:cNvSpPr txBox="1">
            <a:spLocks noChangeArrowheads="1"/>
          </p:cNvSpPr>
          <p:nvPr/>
        </p:nvSpPr>
        <p:spPr bwMode="auto">
          <a:xfrm>
            <a:off x="5795963" y="3635375"/>
            <a:ext cx="452437" cy="76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sz="4400">
                <a:latin typeface="Comic Sans MS" pitchFamily="66" charset="0"/>
              </a:rPr>
              <a:t>+</a:t>
            </a:r>
          </a:p>
        </p:txBody>
      </p:sp>
      <p:sp>
        <p:nvSpPr>
          <p:cNvPr id="146459" name="Text Box 27"/>
          <p:cNvSpPr txBox="1">
            <a:spLocks noChangeArrowheads="1"/>
          </p:cNvSpPr>
          <p:nvPr/>
        </p:nvSpPr>
        <p:spPr bwMode="auto">
          <a:xfrm>
            <a:off x="3833813" y="2555875"/>
            <a:ext cx="78258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b="1" dirty="0"/>
              <a:t>u</a:t>
            </a:r>
            <a:r>
              <a:rPr kumimoji="0" lang="en-US" b="1" baseline="-25000" dirty="0"/>
              <a:t>1</a:t>
            </a:r>
            <a:r>
              <a:rPr kumimoji="0" lang="en-US" dirty="0">
                <a:sym typeface="Symbol" pitchFamily="18" charset="2"/>
              </a:rPr>
              <a:t></a:t>
            </a:r>
            <a:r>
              <a:rPr kumimoji="0" lang="en-US" baseline="-25000" dirty="0">
                <a:sym typeface="Symbol" pitchFamily="18" charset="2"/>
              </a:rPr>
              <a:t>1</a:t>
            </a:r>
            <a:r>
              <a:rPr kumimoji="0" lang="en-US" b="1" dirty="0"/>
              <a:t>v</a:t>
            </a:r>
            <a:r>
              <a:rPr kumimoji="0" lang="en-US" b="1" baseline="-25000" dirty="0"/>
              <a:t>1</a:t>
            </a:r>
          </a:p>
        </p:txBody>
      </p:sp>
      <p:sp>
        <p:nvSpPr>
          <p:cNvPr id="146460" name="Text Box 28"/>
          <p:cNvSpPr txBox="1">
            <a:spLocks noChangeArrowheads="1"/>
          </p:cNvSpPr>
          <p:nvPr/>
        </p:nvSpPr>
        <p:spPr bwMode="auto">
          <a:xfrm>
            <a:off x="6216650" y="2603500"/>
            <a:ext cx="79541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b="1" dirty="0"/>
              <a:t>u</a:t>
            </a:r>
            <a:r>
              <a:rPr kumimoji="0" lang="en-US" b="1" baseline="-25000" dirty="0"/>
              <a:t>2</a:t>
            </a:r>
            <a:r>
              <a:rPr kumimoji="0" lang="en-US" dirty="0">
                <a:sym typeface="Symbol" pitchFamily="18" charset="2"/>
              </a:rPr>
              <a:t></a:t>
            </a:r>
            <a:r>
              <a:rPr kumimoji="0" lang="en-US" baseline="-25000" dirty="0">
                <a:sym typeface="Symbol" pitchFamily="18" charset="2"/>
              </a:rPr>
              <a:t>2</a:t>
            </a:r>
            <a:r>
              <a:rPr kumimoji="0" lang="en-US" b="1" dirty="0"/>
              <a:t>v</a:t>
            </a:r>
            <a:r>
              <a:rPr kumimoji="0" lang="en-US" b="1" baseline="-25000" dirty="0"/>
              <a:t>2</a:t>
            </a:r>
            <a:endParaRPr kumimoji="0" lang="en-US" baseline="-25000" dirty="0"/>
          </a:p>
        </p:txBody>
      </p:sp>
      <p:pic>
        <p:nvPicPr>
          <p:cNvPr id="146462" name="Picture 30" descr="TP_tmp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1520825"/>
            <a:ext cx="6248400" cy="635000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/>
          </a:ln>
          <a:effectLst/>
        </p:spPr>
      </p:pic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  <a:endParaRPr 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934200" y="5257800"/>
            <a:ext cx="19447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σ</a:t>
            </a:r>
            <a:r>
              <a:rPr lang="en-US" sz="2800" b="1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i</a:t>
            </a:r>
            <a:r>
              <a:rPr lang="en-US" sz="2800" b="1" baseline="-25000" dirty="0">
                <a:solidFill>
                  <a:srgbClr val="008000"/>
                </a:solidFill>
                <a:latin typeface="Times New Roman"/>
                <a:cs typeface="Times New Roman"/>
              </a:rPr>
              <a:t>  </a:t>
            </a:r>
            <a:r>
              <a:rPr lang="en-US"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… scalar</a:t>
            </a:r>
          </a:p>
          <a:p>
            <a:r>
              <a:rPr lang="en-US" sz="2800" b="1" dirty="0" err="1">
                <a:solidFill>
                  <a:srgbClr val="008000"/>
                </a:solidFill>
                <a:latin typeface="Times New Roman"/>
                <a:cs typeface="Times New Roman"/>
              </a:rPr>
              <a:t>u</a:t>
            </a:r>
            <a:r>
              <a:rPr lang="en-US" sz="2800" b="1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i</a:t>
            </a:r>
            <a:r>
              <a:rPr lang="en-US"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 … vector</a:t>
            </a:r>
          </a:p>
          <a:p>
            <a:r>
              <a:rPr lang="en-US"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v</a:t>
            </a:r>
            <a:r>
              <a:rPr lang="en-US" sz="2800" b="1" baseline="-25000" dirty="0">
                <a:solidFill>
                  <a:srgbClr val="008000"/>
                </a:solidFill>
                <a:latin typeface="Times New Roman"/>
                <a:cs typeface="Times New Roman"/>
              </a:rPr>
              <a:t>i</a:t>
            </a:r>
            <a:r>
              <a:rPr lang="en-US"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 … vector</a:t>
            </a:r>
            <a:endParaRPr lang="en-US" sz="2800" b="1" dirty="0">
              <a:solidFill>
                <a:srgbClr val="008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46126" y="152472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ACEE88-8FA3-2A4E-948C-52245E09BCC1}"/>
              </a:ext>
            </a:extLst>
          </p:cNvPr>
          <p:cNvSpPr txBox="1"/>
          <p:nvPr/>
        </p:nvSpPr>
        <p:spPr>
          <a:xfrm>
            <a:off x="1714500" y="5874603"/>
            <a:ext cx="40398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we set </a:t>
            </a:r>
            <a:r>
              <a:rPr lang="en-US" sz="2400" dirty="0">
                <a:sym typeface="Symbol"/>
              </a:rPr>
              <a:t></a:t>
            </a:r>
            <a:r>
              <a:rPr lang="en-US" sz="2400" baseline="-25000" dirty="0"/>
              <a:t>2</a:t>
            </a:r>
            <a:r>
              <a:rPr lang="en-US" sz="2400" dirty="0"/>
              <a:t> = 0, then the green</a:t>
            </a:r>
          </a:p>
          <a:p>
            <a:r>
              <a:rPr lang="en-US" sz="2400" dirty="0"/>
              <a:t>columns may as well not exist.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2948441"/>
      </p:ext>
    </p:extLst>
  </p:cSld>
  <p:clrMapOvr>
    <a:masterClrMapping/>
  </p:clrMapOvr>
  <p:transition advTm="63359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Properties</a:t>
            </a:r>
          </a:p>
        </p:txBody>
      </p:sp>
      <p:sp>
        <p:nvSpPr>
          <p:cNvPr id="1376259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>
                <a:solidFill>
                  <a:srgbClr val="0000FF"/>
                </a:solidFill>
              </a:rPr>
              <a:t>It is </a:t>
            </a:r>
            <a:r>
              <a:rPr lang="en-US" b="1" dirty="0">
                <a:solidFill>
                  <a:srgbClr val="0000FF"/>
                </a:solidFill>
              </a:rPr>
              <a:t>always</a:t>
            </a:r>
            <a:r>
              <a:rPr lang="en-US" dirty="0">
                <a:solidFill>
                  <a:srgbClr val="0000FF"/>
                </a:solidFill>
              </a:rPr>
              <a:t> possible to decompose a real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matrix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 into </a:t>
            </a:r>
            <a:r>
              <a:rPr lang="en-US" b="1" i="1" dirty="0">
                <a:solidFill>
                  <a:srgbClr val="0000FF"/>
                </a:solidFill>
              </a:rPr>
              <a:t>A = U </a:t>
            </a:r>
            <a:r>
              <a:rPr lang="en-US" b="1" dirty="0">
                <a:solidFill>
                  <a:srgbClr val="0000FF"/>
                </a:solidFill>
                <a:sym typeface="Symbol"/>
              </a:rPr>
              <a:t>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i="1" dirty="0">
                <a:solidFill>
                  <a:srgbClr val="0000FF"/>
                </a:solidFill>
              </a:rPr>
              <a:t>V</a:t>
            </a:r>
            <a:r>
              <a:rPr lang="en-US" b="1" baseline="30000" dirty="0">
                <a:solidFill>
                  <a:srgbClr val="0000FF"/>
                </a:solidFill>
              </a:rPr>
              <a:t>T</a:t>
            </a:r>
            <a:r>
              <a:rPr lang="en-US" dirty="0">
                <a:solidFill>
                  <a:srgbClr val="0000FF"/>
                </a:solidFill>
              </a:rPr>
              <a:t> , where</a:t>
            </a:r>
          </a:p>
          <a:p>
            <a:r>
              <a:rPr lang="en-US" b="1" i="1" dirty="0"/>
              <a:t>U, </a:t>
            </a:r>
            <a:r>
              <a:rPr lang="en-US" b="1" dirty="0">
                <a:sym typeface="Symbol"/>
              </a:rPr>
              <a:t></a:t>
            </a:r>
            <a:r>
              <a:rPr lang="en-US" b="1" i="1" dirty="0"/>
              <a:t>, V</a:t>
            </a:r>
            <a:r>
              <a:rPr lang="en-US" dirty="0"/>
              <a:t>: </a:t>
            </a:r>
            <a:r>
              <a:rPr lang="en-US" dirty="0">
                <a:solidFill>
                  <a:srgbClr val="D60093"/>
                </a:solidFill>
              </a:rPr>
              <a:t>unique</a:t>
            </a:r>
          </a:p>
          <a:p>
            <a:r>
              <a:rPr lang="en-US" b="1" i="1" dirty="0"/>
              <a:t>U, V</a:t>
            </a:r>
            <a:r>
              <a:rPr lang="en-US" dirty="0"/>
              <a:t>: </a:t>
            </a:r>
            <a:r>
              <a:rPr lang="en-US" dirty="0">
                <a:solidFill>
                  <a:srgbClr val="D60093"/>
                </a:solidFill>
              </a:rPr>
              <a:t>column orthonormal</a:t>
            </a:r>
          </a:p>
          <a:p>
            <a:pPr lvl="1"/>
            <a:r>
              <a:rPr lang="en-US" b="1" i="1" dirty="0"/>
              <a:t>U</a:t>
            </a:r>
            <a:r>
              <a:rPr lang="en-US" b="1" i="1" baseline="30000" dirty="0"/>
              <a:t>T</a:t>
            </a:r>
            <a:r>
              <a:rPr lang="en-US" b="1" i="1" dirty="0"/>
              <a:t> U = I</a:t>
            </a:r>
            <a:r>
              <a:rPr lang="en-US" i="1" dirty="0"/>
              <a:t>; </a:t>
            </a:r>
            <a:r>
              <a:rPr lang="en-US" b="1" i="1" dirty="0"/>
              <a:t>V</a:t>
            </a:r>
            <a:r>
              <a:rPr lang="en-US" b="1" i="1" baseline="30000" dirty="0"/>
              <a:t>T</a:t>
            </a:r>
            <a:r>
              <a:rPr lang="en-US" b="1" i="1" dirty="0"/>
              <a:t> V = I</a:t>
            </a:r>
            <a:r>
              <a:rPr lang="en-US" i="1" dirty="0"/>
              <a:t>  </a:t>
            </a:r>
            <a:r>
              <a:rPr lang="en-US" dirty="0"/>
              <a:t>(</a:t>
            </a:r>
            <a:r>
              <a:rPr lang="en-US" b="1" i="1" dirty="0"/>
              <a:t>I</a:t>
            </a:r>
            <a:r>
              <a:rPr lang="en-US" dirty="0"/>
              <a:t>: identity matrix)</a:t>
            </a:r>
          </a:p>
          <a:p>
            <a:pPr lvl="1"/>
            <a:r>
              <a:rPr lang="en-US" dirty="0"/>
              <a:t>(Columns are orthogonal unit vectors)</a:t>
            </a:r>
          </a:p>
          <a:p>
            <a:r>
              <a:rPr lang="en-US" b="1" dirty="0">
                <a:sym typeface="Symbol"/>
              </a:rPr>
              <a:t></a:t>
            </a:r>
            <a:r>
              <a:rPr lang="en-US" dirty="0"/>
              <a:t>: </a:t>
            </a:r>
            <a:r>
              <a:rPr lang="en-US" dirty="0">
                <a:solidFill>
                  <a:srgbClr val="D60093"/>
                </a:solidFill>
              </a:rPr>
              <a:t>diagonal</a:t>
            </a:r>
          </a:p>
          <a:p>
            <a:pPr lvl="1"/>
            <a:r>
              <a:rPr lang="en-US" dirty="0"/>
              <a:t>Entries (</a:t>
            </a:r>
            <a:r>
              <a:rPr lang="en-US" b="1" dirty="0">
                <a:solidFill>
                  <a:srgbClr val="008000"/>
                </a:solidFill>
              </a:rPr>
              <a:t>singular values</a:t>
            </a:r>
            <a:r>
              <a:rPr lang="en-US" dirty="0"/>
              <a:t>) are </a:t>
            </a:r>
            <a:r>
              <a:rPr lang="en-US" dirty="0">
                <a:solidFill>
                  <a:srgbClr val="008000"/>
                </a:solidFill>
              </a:rPr>
              <a:t>non-negative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and sorted in decreasing order (</a:t>
            </a:r>
            <a:r>
              <a:rPr lang="el-GR" b="1" dirty="0">
                <a:latin typeface="Times New Roman"/>
                <a:cs typeface="Times New Roman"/>
              </a:rPr>
              <a:t>σ</a:t>
            </a:r>
            <a:r>
              <a:rPr lang="en-US" b="1" baseline="-25000" dirty="0"/>
              <a:t>1</a:t>
            </a:r>
            <a:r>
              <a:rPr lang="en-US" b="1" dirty="0"/>
              <a:t> </a:t>
            </a:r>
            <a:r>
              <a:rPr lang="en-US" b="1" dirty="0">
                <a:sym typeface="Symbol"/>
              </a:rPr>
              <a:t></a:t>
            </a:r>
            <a:r>
              <a:rPr lang="en-US" b="1" dirty="0"/>
              <a:t> </a:t>
            </a:r>
            <a:r>
              <a:rPr lang="el-GR" b="1" dirty="0">
                <a:latin typeface="Times New Roman"/>
                <a:cs typeface="Times New Roman"/>
              </a:rPr>
              <a:t>σ</a:t>
            </a:r>
            <a:r>
              <a:rPr lang="en-US" b="1" baseline="-25000" dirty="0"/>
              <a:t>2</a:t>
            </a:r>
            <a:r>
              <a:rPr lang="en-US" b="1" dirty="0"/>
              <a:t> </a:t>
            </a:r>
            <a:r>
              <a:rPr lang="en-US" b="1" dirty="0">
                <a:sym typeface="Symbol"/>
              </a:rPr>
              <a:t> </a:t>
            </a:r>
            <a:r>
              <a:rPr lang="en-US" b="1" dirty="0"/>
              <a:t>... </a:t>
            </a:r>
            <a:r>
              <a:rPr lang="en-US" b="1" dirty="0">
                <a:sym typeface="Symbol"/>
              </a:rPr>
              <a:t> </a:t>
            </a:r>
            <a:r>
              <a:rPr lang="en-US" b="1" dirty="0"/>
              <a:t>0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1C96C-E71B-41BA-8399-68A08BB3010E}" type="slidenum">
              <a:rPr lang="en-US"/>
              <a:pPr/>
              <a:t>9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2400" y="6245423"/>
            <a:ext cx="8915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Nice proof of uniqueness: </a:t>
            </a:r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hlinkClick r:id="rId2"/>
              </a:rPr>
              <a:t>https://</a:t>
            </a:r>
            <a:r>
              <a:rPr lang="en-US" sz="14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hlinkClick r:id="rId2"/>
              </a:rPr>
              <a:t>www.cs.cornell.edu</a:t>
            </a:r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hlinkClick r:id="rId2"/>
              </a:rPr>
              <a:t>/courses/cs322/2008sp/stuff/TrefethenBau_Lec4_SVD.pdf</a:t>
            </a:r>
            <a:endParaRPr lang="en-US" sz="14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7417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Example: Users-to-Movies</a:t>
            </a:r>
          </a:p>
        </p:txBody>
      </p:sp>
      <p:sp>
        <p:nvSpPr>
          <p:cNvPr id="140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1"/>
            <a:ext cx="8686800" cy="116754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66"/>
                </a:solidFill>
              </a:rPr>
              <a:t>Consider a matrix. What does SVD do?</a:t>
            </a:r>
            <a:endParaRPr lang="en-US" sz="3600" b="1" dirty="0"/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BEF0-3123-4184-98D7-FBB99C137BD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04936" name="Freeform 8"/>
          <p:cNvSpPr>
            <a:spLocks/>
          </p:cNvSpPr>
          <p:nvPr/>
        </p:nvSpPr>
        <p:spPr bwMode="auto">
          <a:xfrm>
            <a:off x="795248" y="3018528"/>
            <a:ext cx="228600" cy="2590800"/>
          </a:xfrm>
          <a:custGeom>
            <a:avLst/>
            <a:gdLst/>
            <a:ahLst/>
            <a:cxnLst>
              <a:cxn ang="0">
                <a:pos x="264" y="0"/>
              </a:cxn>
              <a:cxn ang="0">
                <a:pos x="0" y="12"/>
              </a:cxn>
              <a:cxn ang="0">
                <a:pos x="0" y="2220"/>
              </a:cxn>
              <a:cxn ang="0">
                <a:pos x="228" y="2220"/>
              </a:cxn>
            </a:cxnLst>
            <a:rect l="0" t="0" r="r" b="b"/>
            <a:pathLst>
              <a:path w="264" h="2220">
                <a:moveTo>
                  <a:pt x="264" y="0"/>
                </a:moveTo>
                <a:lnTo>
                  <a:pt x="0" y="12"/>
                </a:lnTo>
                <a:lnTo>
                  <a:pt x="0" y="2220"/>
                </a:lnTo>
                <a:lnTo>
                  <a:pt x="228" y="222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4939" name="Freeform 11"/>
          <p:cNvSpPr>
            <a:spLocks/>
          </p:cNvSpPr>
          <p:nvPr/>
        </p:nvSpPr>
        <p:spPr bwMode="auto">
          <a:xfrm flipH="1">
            <a:off x="2456408" y="3018528"/>
            <a:ext cx="228600" cy="2590800"/>
          </a:xfrm>
          <a:custGeom>
            <a:avLst/>
            <a:gdLst/>
            <a:ahLst/>
            <a:cxnLst>
              <a:cxn ang="0">
                <a:pos x="264" y="0"/>
              </a:cxn>
              <a:cxn ang="0">
                <a:pos x="0" y="12"/>
              </a:cxn>
              <a:cxn ang="0">
                <a:pos x="0" y="2220"/>
              </a:cxn>
              <a:cxn ang="0">
                <a:pos x="228" y="2220"/>
              </a:cxn>
            </a:cxnLst>
            <a:rect l="0" t="0" r="r" b="b"/>
            <a:pathLst>
              <a:path w="264" h="2220">
                <a:moveTo>
                  <a:pt x="264" y="0"/>
                </a:moveTo>
                <a:lnTo>
                  <a:pt x="0" y="12"/>
                </a:lnTo>
                <a:lnTo>
                  <a:pt x="0" y="2220"/>
                </a:lnTo>
                <a:lnTo>
                  <a:pt x="228" y="222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4949" name="Text Box 21"/>
          <p:cNvSpPr txBox="1">
            <a:spLocks noChangeArrowheads="1"/>
          </p:cNvSpPr>
          <p:nvPr/>
        </p:nvSpPr>
        <p:spPr bwMode="auto">
          <a:xfrm>
            <a:off x="2679192" y="3941426"/>
            <a:ext cx="401072" cy="584775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3200" b="1" dirty="0">
                <a:solidFill>
                  <a:srgbClr val="008000"/>
                </a:solidFill>
              </a:rPr>
              <a:t>=</a:t>
            </a:r>
          </a:p>
        </p:txBody>
      </p:sp>
      <p:sp>
        <p:nvSpPr>
          <p:cNvPr id="1404950" name="Line 22"/>
          <p:cNvSpPr>
            <a:spLocks noChangeShapeType="1"/>
          </p:cNvSpPr>
          <p:nvPr/>
        </p:nvSpPr>
        <p:spPr bwMode="auto">
          <a:xfrm flipV="1">
            <a:off x="304800" y="3018528"/>
            <a:ext cx="0" cy="533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8000"/>
              </a:solidFill>
            </a:endParaRPr>
          </a:p>
        </p:txBody>
      </p:sp>
      <p:sp>
        <p:nvSpPr>
          <p:cNvPr id="1404951" name="Text Box 23"/>
          <p:cNvSpPr txBox="1">
            <a:spLocks noChangeArrowheads="1"/>
          </p:cNvSpPr>
          <p:nvPr/>
        </p:nvSpPr>
        <p:spPr bwMode="auto">
          <a:xfrm>
            <a:off x="0" y="3596656"/>
            <a:ext cx="635110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dirty="0" err="1">
                <a:solidFill>
                  <a:srgbClr val="008000"/>
                </a:solidFill>
              </a:rPr>
              <a:t>SciFi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1404953" name="Text Box 25"/>
          <p:cNvSpPr txBox="1">
            <a:spLocks noChangeArrowheads="1"/>
          </p:cNvSpPr>
          <p:nvPr/>
        </p:nvSpPr>
        <p:spPr bwMode="auto">
          <a:xfrm>
            <a:off x="-69331" y="5029195"/>
            <a:ext cx="883255" cy="30777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</a:rPr>
              <a:t>Romance</a:t>
            </a:r>
          </a:p>
        </p:txBody>
      </p:sp>
      <p:sp>
        <p:nvSpPr>
          <p:cNvPr id="1404954" name="Line 26"/>
          <p:cNvSpPr>
            <a:spLocks noChangeShapeType="1"/>
          </p:cNvSpPr>
          <p:nvPr/>
        </p:nvSpPr>
        <p:spPr bwMode="auto">
          <a:xfrm>
            <a:off x="304800" y="4085328"/>
            <a:ext cx="0" cy="228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 type="none" w="sm" len="sm"/>
            <a:tailEnd type="arrow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8000"/>
              </a:solidFill>
            </a:endParaRPr>
          </a:p>
        </p:txBody>
      </p:sp>
      <p:sp>
        <p:nvSpPr>
          <p:cNvPr id="1404955" name="Line 27"/>
          <p:cNvSpPr>
            <a:spLocks noChangeShapeType="1"/>
          </p:cNvSpPr>
          <p:nvPr/>
        </p:nvSpPr>
        <p:spPr bwMode="auto">
          <a:xfrm flipV="1">
            <a:off x="304800" y="4542528"/>
            <a:ext cx="0" cy="4572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 type="none" w="sm" len="sm"/>
            <a:tailEnd type="arrow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8000"/>
              </a:solidFill>
            </a:endParaRPr>
          </a:p>
        </p:txBody>
      </p:sp>
      <p:sp>
        <p:nvSpPr>
          <p:cNvPr id="1404956" name="Line 28"/>
          <p:cNvSpPr>
            <a:spLocks noChangeShapeType="1"/>
          </p:cNvSpPr>
          <p:nvPr/>
        </p:nvSpPr>
        <p:spPr bwMode="auto">
          <a:xfrm>
            <a:off x="304800" y="5380728"/>
            <a:ext cx="0" cy="228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 type="none" w="sm" len="sm"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 rot="16200000">
            <a:off x="1063987" y="1447286"/>
            <a:ext cx="12682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008000"/>
                </a:solidFill>
              </a:rPr>
              <a:t> Matrix</a:t>
            </a:r>
          </a:p>
          <a:p>
            <a:pPr>
              <a:lnSpc>
                <a:spcPct val="140000"/>
              </a:lnSpc>
            </a:pPr>
            <a:r>
              <a:rPr lang="en-US" dirty="0">
                <a:solidFill>
                  <a:srgbClr val="008000"/>
                </a:solidFill>
              </a:rPr>
              <a:t>Alien</a:t>
            </a:r>
          </a:p>
          <a:p>
            <a:pPr>
              <a:lnSpc>
                <a:spcPct val="140000"/>
              </a:lnSpc>
            </a:pPr>
            <a:r>
              <a:rPr lang="en-US" dirty="0">
                <a:solidFill>
                  <a:srgbClr val="008000"/>
                </a:solidFill>
              </a:rPr>
              <a:t>Serenity</a:t>
            </a:r>
          </a:p>
          <a:p>
            <a:pPr>
              <a:lnSpc>
                <a:spcPct val="140000"/>
              </a:lnSpc>
            </a:pPr>
            <a:r>
              <a:rPr lang="en-US" dirty="0">
                <a:solidFill>
                  <a:srgbClr val="008000"/>
                </a:solidFill>
              </a:rPr>
              <a:t>Casablanca</a:t>
            </a:r>
          </a:p>
          <a:p>
            <a:pPr>
              <a:lnSpc>
                <a:spcPct val="140000"/>
              </a:lnSpc>
            </a:pP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 err="1">
                <a:solidFill>
                  <a:srgbClr val="008000"/>
                </a:solidFill>
              </a:rPr>
              <a:t>Amelie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8672" y="3018528"/>
            <a:ext cx="19845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1   1   1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0   0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3   3   3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0   0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4   4   4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0   0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5   5   5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0   0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4   4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0   0   0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5   5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2   2</a:t>
            </a:r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>
            <a:off x="4178300" y="3454400"/>
            <a:ext cx="328612" cy="3206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Rectangle 10"/>
          <p:cNvSpPr>
            <a:spLocks noChangeArrowheads="1"/>
          </p:cNvSpPr>
          <p:nvPr/>
        </p:nvSpPr>
        <p:spPr bwMode="auto">
          <a:xfrm>
            <a:off x="4175125" y="3811587"/>
            <a:ext cx="395287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sz="2800" b="1">
                <a:latin typeface="Sylfaen" pitchFamily="18" charset="0"/>
                <a:sym typeface="Symbol" pitchFamily="18" charset="2"/>
              </a:rPr>
              <a:t></a:t>
            </a:r>
          </a:p>
        </p:txBody>
      </p:sp>
      <p:grpSp>
        <p:nvGrpSpPr>
          <p:cNvPr id="56" name="Group 11"/>
          <p:cNvGrpSpPr>
            <a:grpSpLocks/>
          </p:cNvGrpSpPr>
          <p:nvPr/>
        </p:nvGrpSpPr>
        <p:grpSpPr bwMode="auto">
          <a:xfrm>
            <a:off x="3200400" y="3448050"/>
            <a:ext cx="468312" cy="1752600"/>
            <a:chOff x="1663" y="1551"/>
            <a:chExt cx="295" cy="1104"/>
          </a:xfrm>
        </p:grpSpPr>
        <p:sp>
          <p:nvSpPr>
            <p:cNvPr id="57" name="AutoShape 12"/>
            <p:cNvSpPr>
              <a:spLocks/>
            </p:cNvSpPr>
            <p:nvPr/>
          </p:nvSpPr>
          <p:spPr bwMode="auto">
            <a:xfrm>
              <a:off x="1862" y="1551"/>
              <a:ext cx="96" cy="1104"/>
            </a:xfrm>
            <a:prstGeom prst="leftBrace">
              <a:avLst>
                <a:gd name="adj1" fmla="val 9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13"/>
            <p:cNvSpPr txBox="1">
              <a:spLocks noChangeArrowheads="1"/>
            </p:cNvSpPr>
            <p:nvPr/>
          </p:nvSpPr>
          <p:spPr bwMode="auto">
            <a:xfrm>
              <a:off x="1663" y="1955"/>
              <a:ext cx="2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kumimoji="0" lang="en-US" sz="2000">
                  <a:latin typeface="Sylfaen" pitchFamily="18" charset="0"/>
                </a:rPr>
                <a:t>m</a:t>
              </a:r>
            </a:p>
          </p:txBody>
        </p:sp>
      </p:grpSp>
      <p:grpSp>
        <p:nvGrpSpPr>
          <p:cNvPr id="59" name="Group 14"/>
          <p:cNvGrpSpPr>
            <a:grpSpLocks/>
          </p:cNvGrpSpPr>
          <p:nvPr/>
        </p:nvGrpSpPr>
        <p:grpSpPr bwMode="auto">
          <a:xfrm>
            <a:off x="4670425" y="2749550"/>
            <a:ext cx="1066800" cy="660400"/>
            <a:chOff x="2589" y="1111"/>
            <a:chExt cx="672" cy="416"/>
          </a:xfrm>
        </p:grpSpPr>
        <p:sp>
          <p:nvSpPr>
            <p:cNvPr id="60" name="Text Box 15"/>
            <p:cNvSpPr txBox="1">
              <a:spLocks noChangeArrowheads="1"/>
            </p:cNvSpPr>
            <p:nvPr/>
          </p:nvSpPr>
          <p:spPr bwMode="auto">
            <a:xfrm>
              <a:off x="2831" y="1111"/>
              <a:ext cx="2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kumimoji="0" lang="en-US" sz="2000">
                  <a:latin typeface="Sylfaen" pitchFamily="18" charset="0"/>
                </a:rPr>
                <a:t>n</a:t>
              </a:r>
            </a:p>
          </p:txBody>
        </p:sp>
        <p:sp>
          <p:nvSpPr>
            <p:cNvPr id="61" name="AutoShape 16"/>
            <p:cNvSpPr>
              <a:spLocks/>
            </p:cNvSpPr>
            <p:nvPr/>
          </p:nvSpPr>
          <p:spPr bwMode="auto">
            <a:xfrm rot="5400000">
              <a:off x="2829" y="1095"/>
              <a:ext cx="192" cy="672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" name="Rectangle 17"/>
          <p:cNvSpPr>
            <a:spLocks noChangeArrowheads="1"/>
          </p:cNvSpPr>
          <p:nvPr/>
        </p:nvSpPr>
        <p:spPr bwMode="auto">
          <a:xfrm>
            <a:off x="3709987" y="5195887"/>
            <a:ext cx="439738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sz="2800" b="1">
                <a:latin typeface="Sylfaen" pitchFamily="18" charset="0"/>
              </a:rPr>
              <a:t>U</a:t>
            </a:r>
            <a:endParaRPr kumimoji="0" lang="en-US" sz="2800" b="1" baseline="30000">
              <a:latin typeface="Sylfaen" pitchFamily="18" charset="0"/>
            </a:endParaRPr>
          </a:p>
        </p:txBody>
      </p:sp>
      <p:sp>
        <p:nvSpPr>
          <p:cNvPr id="63" name="AutoShape 18"/>
          <p:cNvSpPr>
            <a:spLocks noChangeArrowheads="1"/>
          </p:cNvSpPr>
          <p:nvPr/>
        </p:nvSpPr>
        <p:spPr bwMode="auto">
          <a:xfrm rot="16200000">
            <a:off x="2912269" y="4280693"/>
            <a:ext cx="1828800" cy="163513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kumimoji="0" lang="en-US" sz="2400" b="1" baseline="30000">
              <a:latin typeface="Sylfaen" pitchFamily="18" charset="0"/>
            </a:endParaRPr>
          </a:p>
        </p:txBody>
      </p:sp>
      <p:sp>
        <p:nvSpPr>
          <p:cNvPr id="64" name="AutoShape 19"/>
          <p:cNvSpPr>
            <a:spLocks noChangeArrowheads="1"/>
          </p:cNvSpPr>
          <p:nvPr/>
        </p:nvSpPr>
        <p:spPr bwMode="auto">
          <a:xfrm rot="16200000">
            <a:off x="4167187" y="3459162"/>
            <a:ext cx="174625" cy="161925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kumimoji="0" lang="en-US" sz="2400" b="1">
              <a:latin typeface="Symbol" pitchFamily="18" charset="2"/>
              <a:sym typeface="Symbol" pitchFamily="18" charset="2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4940300" y="3773487"/>
            <a:ext cx="584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sz="2800" b="1">
                <a:latin typeface="Sylfaen" pitchFamily="18" charset="0"/>
              </a:rPr>
              <a:t>V</a:t>
            </a:r>
            <a:r>
              <a:rPr kumimoji="0" lang="en-US" sz="2800" b="1" baseline="30000">
                <a:latin typeface="Sylfaen" pitchFamily="18" charset="0"/>
              </a:rPr>
              <a:t>T</a:t>
            </a:r>
          </a:p>
        </p:txBody>
      </p:sp>
      <p:sp>
        <p:nvSpPr>
          <p:cNvPr id="66" name="Rectangle 22"/>
          <p:cNvSpPr>
            <a:spLocks noChangeArrowheads="1"/>
          </p:cNvSpPr>
          <p:nvPr/>
        </p:nvSpPr>
        <p:spPr bwMode="auto">
          <a:xfrm>
            <a:off x="3903662" y="3444875"/>
            <a:ext cx="171450" cy="1831975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Rectangle 23"/>
          <p:cNvSpPr>
            <a:spLocks noChangeArrowheads="1"/>
          </p:cNvSpPr>
          <p:nvPr/>
        </p:nvSpPr>
        <p:spPr bwMode="auto">
          <a:xfrm>
            <a:off x="4343400" y="3624262"/>
            <a:ext cx="158750" cy="157163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AutoShape 24"/>
          <p:cNvSpPr>
            <a:spLocks noChangeArrowheads="1"/>
          </p:cNvSpPr>
          <p:nvPr/>
        </p:nvSpPr>
        <p:spPr bwMode="auto">
          <a:xfrm>
            <a:off x="4627562" y="3465512"/>
            <a:ext cx="1149350" cy="163513"/>
          </a:xfrm>
          <a:prstGeom prst="flowChart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0" lang="en-US" sz="2400" b="1" baseline="30000">
              <a:latin typeface="Sylfaen" pitchFamily="18" charset="0"/>
            </a:endParaRPr>
          </a:p>
        </p:txBody>
      </p:sp>
      <p:sp>
        <p:nvSpPr>
          <p:cNvPr id="69" name="Rectangle 25"/>
          <p:cNvSpPr>
            <a:spLocks noChangeArrowheads="1"/>
          </p:cNvSpPr>
          <p:nvPr/>
        </p:nvSpPr>
        <p:spPr bwMode="auto">
          <a:xfrm>
            <a:off x="4625975" y="3633787"/>
            <a:ext cx="1150937" cy="169863"/>
          </a:xfrm>
          <a:prstGeom prst="rect">
            <a:avLst/>
          </a:prstGeom>
          <a:solidFill>
            <a:srgbClr val="99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Text Box 31"/>
          <p:cNvSpPr txBox="1">
            <a:spLocks noChangeArrowheads="1"/>
          </p:cNvSpPr>
          <p:nvPr/>
        </p:nvSpPr>
        <p:spPr bwMode="auto">
          <a:xfrm>
            <a:off x="5381773" y="5352871"/>
            <a:ext cx="3315331" cy="1200329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“Concepts” </a:t>
            </a:r>
            <a:br>
              <a:rPr lang="en-US" sz="2400" b="1" dirty="0">
                <a:solidFill>
                  <a:srgbClr val="0000FF"/>
                </a:solidFill>
              </a:rPr>
            </a:br>
            <a:r>
              <a:rPr lang="en-US" sz="2400" b="1" dirty="0">
                <a:solidFill>
                  <a:srgbClr val="0000FF"/>
                </a:solidFill>
              </a:rPr>
              <a:t>AKA Latent dimensions</a:t>
            </a:r>
            <a:br>
              <a:rPr lang="en-US" sz="2400" b="1" dirty="0">
                <a:solidFill>
                  <a:srgbClr val="0000FF"/>
                </a:solidFill>
              </a:rPr>
            </a:br>
            <a:r>
              <a:rPr lang="en-US" sz="2400" b="1" dirty="0">
                <a:solidFill>
                  <a:srgbClr val="0000FF"/>
                </a:solidFill>
              </a:rPr>
              <a:t>AKA Latent factors</a:t>
            </a:r>
          </a:p>
        </p:txBody>
      </p:sp>
      <p:sp>
        <p:nvSpPr>
          <p:cNvPr id="71" name="Line 33"/>
          <p:cNvSpPr>
            <a:spLocks noChangeShapeType="1"/>
          </p:cNvSpPr>
          <p:nvPr/>
        </p:nvSpPr>
        <p:spPr bwMode="auto">
          <a:xfrm flipH="1" flipV="1">
            <a:off x="4149725" y="4648200"/>
            <a:ext cx="1262276" cy="88346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72" name="Line 33"/>
          <p:cNvSpPr>
            <a:spLocks noChangeShapeType="1"/>
          </p:cNvSpPr>
          <p:nvPr/>
        </p:nvSpPr>
        <p:spPr bwMode="auto">
          <a:xfrm flipH="1" flipV="1">
            <a:off x="5638800" y="3811586"/>
            <a:ext cx="228600" cy="1589684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pic>
        <p:nvPicPr>
          <p:cNvPr id="73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36826"/>
          <a:stretch/>
        </p:blipFill>
        <p:spPr bwMode="auto">
          <a:xfrm>
            <a:off x="6248400" y="3201651"/>
            <a:ext cx="2796275" cy="196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" name="Line 33"/>
          <p:cNvSpPr>
            <a:spLocks noChangeShapeType="1"/>
          </p:cNvSpPr>
          <p:nvPr/>
        </p:nvSpPr>
        <p:spPr bwMode="auto">
          <a:xfrm flipV="1">
            <a:off x="6248400" y="4199628"/>
            <a:ext cx="381000" cy="120164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75" name="Line 33"/>
          <p:cNvSpPr>
            <a:spLocks noChangeShapeType="1"/>
          </p:cNvSpPr>
          <p:nvPr/>
        </p:nvSpPr>
        <p:spPr bwMode="auto">
          <a:xfrm flipV="1">
            <a:off x="7086600" y="4868019"/>
            <a:ext cx="559936" cy="58742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40" name="Text Box 35">
            <a:extLst>
              <a:ext uri="{FF2B5EF4-FFF2-40B4-BE49-F238E27FC236}">
                <a16:creationId xmlns:a16="http://schemas.microsoft.com/office/drawing/2014/main" id="{353861A4-D2D5-3040-A63C-AE9160378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07" y="5638800"/>
            <a:ext cx="3077093" cy="95410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Ratings matrix where each column corresponds to a movie and each row to a user. First 4 users prefer </a:t>
            </a:r>
            <a:r>
              <a:rPr lang="en-US" sz="1400" dirty="0" err="1">
                <a:solidFill>
                  <a:srgbClr val="0000FF"/>
                </a:solidFill>
              </a:rPr>
              <a:t>SciFi</a:t>
            </a:r>
            <a:r>
              <a:rPr lang="en-US" sz="1400" dirty="0">
                <a:solidFill>
                  <a:srgbClr val="0000FF"/>
                </a:solidFill>
              </a:rPr>
              <a:t>, while others prefer Romance.</a:t>
            </a:r>
            <a:endParaRPr 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084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 animBg="1"/>
      <p:bldP spid="72" grpId="0" animBg="1"/>
      <p:bldP spid="74" grpId="0" animBg="1"/>
      <p:bldP spid="7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Example: Users-to-Movies</a:t>
            </a:r>
          </a:p>
        </p:txBody>
      </p:sp>
      <p:sp>
        <p:nvSpPr>
          <p:cNvPr id="140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1"/>
            <a:ext cx="8229600" cy="1167548"/>
          </a:xfrm>
        </p:spPr>
        <p:txBody>
          <a:bodyPr/>
          <a:lstStyle/>
          <a:p>
            <a:r>
              <a:rPr lang="en-US" sz="3600" b="1" dirty="0">
                <a:solidFill>
                  <a:srgbClr val="FF0066"/>
                </a:solidFill>
              </a:rPr>
              <a:t>A = U </a:t>
            </a:r>
            <a:r>
              <a:rPr lang="en-US" sz="3600" b="1" dirty="0">
                <a:solidFill>
                  <a:srgbClr val="FF0066"/>
                </a:solidFill>
                <a:sym typeface="Symbol"/>
              </a:rPr>
              <a:t></a:t>
            </a:r>
            <a:r>
              <a:rPr lang="en-US" sz="3600" b="1" dirty="0">
                <a:solidFill>
                  <a:srgbClr val="FF0066"/>
                </a:solidFill>
              </a:rPr>
              <a:t> V</a:t>
            </a:r>
            <a:r>
              <a:rPr lang="en-US" sz="3600" b="1" baseline="30000" dirty="0">
                <a:solidFill>
                  <a:srgbClr val="FF0066"/>
                </a:solidFill>
              </a:rPr>
              <a:t>T</a:t>
            </a:r>
            <a:r>
              <a:rPr lang="en-US" sz="3600" b="1" dirty="0">
                <a:solidFill>
                  <a:srgbClr val="FF0066"/>
                </a:solidFill>
              </a:rPr>
              <a:t> - example: </a:t>
            </a:r>
            <a:r>
              <a:rPr lang="en-US" sz="3600" b="1" dirty="0"/>
              <a:t>Users to Movies</a:t>
            </a:r>
            <a:endParaRPr lang="en-US" sz="3600" b="1" dirty="0">
              <a:solidFill>
                <a:srgbClr val="FF0066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BEF0-3123-4184-98D7-FBB99C137BD3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0" y="1828801"/>
            <a:ext cx="9144000" cy="4934128"/>
            <a:chOff x="0" y="1828801"/>
            <a:chExt cx="9144000" cy="4934128"/>
          </a:xfrm>
        </p:grpSpPr>
        <p:sp>
          <p:nvSpPr>
            <p:cNvPr id="1404936" name="Freeform 8"/>
            <p:cNvSpPr>
              <a:spLocks/>
            </p:cNvSpPr>
            <p:nvPr/>
          </p:nvSpPr>
          <p:spPr bwMode="auto">
            <a:xfrm>
              <a:off x="79524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4939" name="Freeform 11"/>
            <p:cNvSpPr>
              <a:spLocks/>
            </p:cNvSpPr>
            <p:nvPr/>
          </p:nvSpPr>
          <p:spPr bwMode="auto">
            <a:xfrm flipH="1">
              <a:off x="245640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4949" name="Text Box 21"/>
            <p:cNvSpPr txBox="1">
              <a:spLocks noChangeArrowheads="1"/>
            </p:cNvSpPr>
            <p:nvPr/>
          </p:nvSpPr>
          <p:spPr bwMode="auto">
            <a:xfrm>
              <a:off x="2679192" y="3941426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1404950" name="Line 22"/>
            <p:cNvSpPr>
              <a:spLocks noChangeShapeType="1"/>
            </p:cNvSpPr>
            <p:nvPr/>
          </p:nvSpPr>
          <p:spPr bwMode="auto">
            <a:xfrm flipV="1">
              <a:off x="304800" y="3018528"/>
              <a:ext cx="0" cy="5334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1404951" name="Text Box 23"/>
            <p:cNvSpPr txBox="1">
              <a:spLocks noChangeArrowheads="1"/>
            </p:cNvSpPr>
            <p:nvPr/>
          </p:nvSpPr>
          <p:spPr bwMode="auto">
            <a:xfrm>
              <a:off x="0" y="3596656"/>
              <a:ext cx="635110" cy="369332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dirty="0" err="1">
                  <a:solidFill>
                    <a:srgbClr val="008000"/>
                  </a:solidFill>
                </a:rPr>
                <a:t>SciFi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1404954" name="Line 26"/>
            <p:cNvSpPr>
              <a:spLocks noChangeShapeType="1"/>
            </p:cNvSpPr>
            <p:nvPr/>
          </p:nvSpPr>
          <p:spPr bwMode="auto">
            <a:xfrm>
              <a:off x="304800" y="40853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1404955" name="Line 27"/>
            <p:cNvSpPr>
              <a:spLocks noChangeShapeType="1"/>
            </p:cNvSpPr>
            <p:nvPr/>
          </p:nvSpPr>
          <p:spPr bwMode="auto">
            <a:xfrm flipV="1">
              <a:off x="304800" y="4542528"/>
              <a:ext cx="0" cy="4572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1404956" name="Line 28"/>
            <p:cNvSpPr>
              <a:spLocks noChangeShapeType="1"/>
            </p:cNvSpPr>
            <p:nvPr/>
          </p:nvSpPr>
          <p:spPr bwMode="auto">
            <a:xfrm>
              <a:off x="304800" y="53807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4958" name="Freeform 30"/>
            <p:cNvSpPr>
              <a:spLocks/>
            </p:cNvSpPr>
            <p:nvPr/>
          </p:nvSpPr>
          <p:spPr bwMode="auto">
            <a:xfrm>
              <a:off x="6096000" y="36764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4959" name="Freeform 31"/>
            <p:cNvSpPr>
              <a:spLocks/>
            </p:cNvSpPr>
            <p:nvPr/>
          </p:nvSpPr>
          <p:spPr bwMode="auto">
            <a:xfrm flipH="1">
              <a:off x="7620000" y="36764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4960" name="Text Box 32"/>
            <p:cNvSpPr txBox="1">
              <a:spLocks noChangeArrowheads="1"/>
            </p:cNvSpPr>
            <p:nvPr/>
          </p:nvSpPr>
          <p:spPr bwMode="auto">
            <a:xfrm>
              <a:off x="5467932" y="40135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1404963" name="Text Box 35"/>
            <p:cNvSpPr txBox="1">
              <a:spLocks noChangeArrowheads="1"/>
            </p:cNvSpPr>
            <p:nvPr/>
          </p:nvSpPr>
          <p:spPr bwMode="auto">
            <a:xfrm>
              <a:off x="8204353" y="40209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1404964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4965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 rot="16200000">
              <a:off x="1063987" y="1447286"/>
              <a:ext cx="1268296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Matrix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Alien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Serenity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Casablanca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</a:t>
              </a:r>
              <a:r>
                <a:rPr lang="en-US" dirty="0" err="1">
                  <a:solidFill>
                    <a:srgbClr val="008000"/>
                  </a:solidFill>
                </a:rPr>
                <a:t>Amelie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58672" y="3018528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2895600" y="3018528"/>
              <a:ext cx="2514600" cy="2677656"/>
              <a:chOff x="2971800" y="3018528"/>
              <a:chExt cx="2514600" cy="2677656"/>
            </a:xfrm>
          </p:grpSpPr>
          <p:sp>
            <p:nvSpPr>
              <p:cNvPr id="1404947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4948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6076950" y="36764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  <p:sp>
        <p:nvSpPr>
          <p:cNvPr id="38" name="Text Box 25">
            <a:extLst>
              <a:ext uri="{FF2B5EF4-FFF2-40B4-BE49-F238E27FC236}">
                <a16:creationId xmlns:a16="http://schemas.microsoft.com/office/drawing/2014/main" id="{3E595D53-77FD-214B-A666-35327986D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9331" y="5029195"/>
            <a:ext cx="883255" cy="30777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</a:rPr>
              <a:t>Romance</a:t>
            </a:r>
          </a:p>
        </p:txBody>
      </p:sp>
    </p:spTree>
    <p:extLst>
      <p:ext uri="{BB962C8B-B14F-4D97-AF65-F5344CB8AC3E}">
        <p14:creationId xmlns:p14="http://schemas.microsoft.com/office/powerpoint/2010/main" val="161508284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Example: Users-to-Movies</a:t>
            </a:r>
          </a:p>
        </p:txBody>
      </p:sp>
      <p:sp>
        <p:nvSpPr>
          <p:cNvPr id="140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1"/>
            <a:ext cx="8229600" cy="1167548"/>
          </a:xfrm>
        </p:spPr>
        <p:txBody>
          <a:bodyPr/>
          <a:lstStyle/>
          <a:p>
            <a:r>
              <a:rPr lang="en-US" sz="3600" b="1" dirty="0">
                <a:solidFill>
                  <a:srgbClr val="FF0066"/>
                </a:solidFill>
              </a:rPr>
              <a:t>A = U </a:t>
            </a:r>
            <a:r>
              <a:rPr lang="en-US" sz="3600" b="1" dirty="0">
                <a:solidFill>
                  <a:srgbClr val="FF0066"/>
                </a:solidFill>
                <a:sym typeface="Symbol"/>
              </a:rPr>
              <a:t></a:t>
            </a:r>
            <a:r>
              <a:rPr lang="en-US" sz="3600" b="1" dirty="0">
                <a:solidFill>
                  <a:srgbClr val="FF0066"/>
                </a:solidFill>
              </a:rPr>
              <a:t> V</a:t>
            </a:r>
            <a:r>
              <a:rPr lang="en-US" sz="3600" b="1" baseline="30000" dirty="0">
                <a:solidFill>
                  <a:srgbClr val="FF0066"/>
                </a:solidFill>
              </a:rPr>
              <a:t>T</a:t>
            </a:r>
            <a:r>
              <a:rPr lang="en-US" sz="3600" b="1" dirty="0">
                <a:solidFill>
                  <a:srgbClr val="FF0066"/>
                </a:solidFill>
              </a:rPr>
              <a:t> - example: </a:t>
            </a:r>
            <a:r>
              <a:rPr lang="en-US" sz="3600" b="1" dirty="0"/>
              <a:t>Users to Movies</a:t>
            </a: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BEF0-3123-4184-98D7-FBB99C137BD3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0" y="1828801"/>
            <a:ext cx="9144000" cy="4934128"/>
            <a:chOff x="0" y="1828801"/>
            <a:chExt cx="9144000" cy="4934128"/>
          </a:xfrm>
        </p:grpSpPr>
        <p:sp>
          <p:nvSpPr>
            <p:cNvPr id="43" name="Freeform 8"/>
            <p:cNvSpPr>
              <a:spLocks/>
            </p:cNvSpPr>
            <p:nvPr/>
          </p:nvSpPr>
          <p:spPr bwMode="auto">
            <a:xfrm>
              <a:off x="79524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11"/>
            <p:cNvSpPr>
              <a:spLocks/>
            </p:cNvSpPr>
            <p:nvPr/>
          </p:nvSpPr>
          <p:spPr bwMode="auto">
            <a:xfrm flipH="1">
              <a:off x="245640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2679192" y="3941426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V="1">
              <a:off x="304800" y="3018528"/>
              <a:ext cx="0" cy="5334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0" y="3596656"/>
              <a:ext cx="635110" cy="369332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dirty="0" err="1">
                  <a:solidFill>
                    <a:srgbClr val="008000"/>
                  </a:solidFill>
                </a:rPr>
                <a:t>SciFi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49" name="Line 26"/>
            <p:cNvSpPr>
              <a:spLocks noChangeShapeType="1"/>
            </p:cNvSpPr>
            <p:nvPr/>
          </p:nvSpPr>
          <p:spPr bwMode="auto">
            <a:xfrm>
              <a:off x="304800" y="40853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0" name="Line 27"/>
            <p:cNvSpPr>
              <a:spLocks noChangeShapeType="1"/>
            </p:cNvSpPr>
            <p:nvPr/>
          </p:nvSpPr>
          <p:spPr bwMode="auto">
            <a:xfrm flipV="1">
              <a:off x="304800" y="4542528"/>
              <a:ext cx="0" cy="4572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1" name="Line 28"/>
            <p:cNvSpPr>
              <a:spLocks noChangeShapeType="1"/>
            </p:cNvSpPr>
            <p:nvPr/>
          </p:nvSpPr>
          <p:spPr bwMode="auto">
            <a:xfrm>
              <a:off x="304800" y="53807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30"/>
            <p:cNvSpPr>
              <a:spLocks/>
            </p:cNvSpPr>
            <p:nvPr/>
          </p:nvSpPr>
          <p:spPr bwMode="auto">
            <a:xfrm>
              <a:off x="6096000" y="36764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31"/>
            <p:cNvSpPr>
              <a:spLocks/>
            </p:cNvSpPr>
            <p:nvPr/>
          </p:nvSpPr>
          <p:spPr bwMode="auto">
            <a:xfrm flipH="1">
              <a:off x="7620000" y="36764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Text Box 32"/>
            <p:cNvSpPr txBox="1">
              <a:spLocks noChangeArrowheads="1"/>
            </p:cNvSpPr>
            <p:nvPr/>
          </p:nvSpPr>
          <p:spPr bwMode="auto">
            <a:xfrm>
              <a:off x="5467932" y="40135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5" name="Text Box 35"/>
            <p:cNvSpPr txBox="1">
              <a:spLocks noChangeArrowheads="1"/>
            </p:cNvSpPr>
            <p:nvPr/>
          </p:nvSpPr>
          <p:spPr bwMode="auto">
            <a:xfrm>
              <a:off x="8204353" y="40209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6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Box 57"/>
            <p:cNvSpPr txBox="1"/>
            <p:nvPr/>
          </p:nvSpPr>
          <p:spPr>
            <a:xfrm rot="16200000">
              <a:off x="1063987" y="1447286"/>
              <a:ext cx="1268296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Matrix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Alien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Serenity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Casablanca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</a:t>
              </a:r>
              <a:r>
                <a:rPr lang="en-US" dirty="0" err="1">
                  <a:solidFill>
                    <a:srgbClr val="008000"/>
                  </a:solidFill>
                </a:rPr>
                <a:t>Amelie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58672" y="3018528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2895600" y="3018528"/>
              <a:ext cx="2514600" cy="2677656"/>
              <a:chOff x="2971800" y="3018528"/>
              <a:chExt cx="2514600" cy="2677656"/>
            </a:xfrm>
          </p:grpSpPr>
          <p:sp>
            <p:nvSpPr>
              <p:cNvPr id="63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61" name="Rectangle 60"/>
            <p:cNvSpPr/>
            <p:nvPr/>
          </p:nvSpPr>
          <p:spPr>
            <a:xfrm>
              <a:off x="6076950" y="36764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  <p:sp>
        <p:nvSpPr>
          <p:cNvPr id="35" name="Text Box 25">
            <a:extLst>
              <a:ext uri="{FF2B5EF4-FFF2-40B4-BE49-F238E27FC236}">
                <a16:creationId xmlns:a16="http://schemas.microsoft.com/office/drawing/2014/main" id="{D077C224-5806-3044-9B64-310D79542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9331" y="5029195"/>
            <a:ext cx="883255" cy="30777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</a:rPr>
              <a:t>Romance</a:t>
            </a:r>
          </a:p>
        </p:txBody>
      </p:sp>
    </p:spTree>
    <p:extLst>
      <p:ext uri="{BB962C8B-B14F-4D97-AF65-F5344CB8AC3E}">
        <p14:creationId xmlns:p14="http://schemas.microsoft.com/office/powerpoint/2010/main" val="402329949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Example: Users-to-Movies</a:t>
            </a:r>
          </a:p>
        </p:txBody>
      </p:sp>
      <p:sp>
        <p:nvSpPr>
          <p:cNvPr id="140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1"/>
            <a:ext cx="8229600" cy="1167548"/>
          </a:xfrm>
        </p:spPr>
        <p:txBody>
          <a:bodyPr/>
          <a:lstStyle/>
          <a:p>
            <a:r>
              <a:rPr lang="en-US" sz="3600" b="1" dirty="0">
                <a:solidFill>
                  <a:srgbClr val="FF0066"/>
                </a:solidFill>
              </a:rPr>
              <a:t>A = U </a:t>
            </a:r>
            <a:r>
              <a:rPr lang="en-US" sz="3600" b="1" dirty="0">
                <a:solidFill>
                  <a:srgbClr val="FF0066"/>
                </a:solidFill>
                <a:sym typeface="Symbol"/>
              </a:rPr>
              <a:t></a:t>
            </a:r>
            <a:r>
              <a:rPr lang="en-US" sz="3600" b="1" dirty="0">
                <a:solidFill>
                  <a:srgbClr val="FF0066"/>
                </a:solidFill>
              </a:rPr>
              <a:t> V</a:t>
            </a:r>
            <a:r>
              <a:rPr lang="en-US" sz="3600" b="1" baseline="30000" dirty="0">
                <a:solidFill>
                  <a:srgbClr val="FF0066"/>
                </a:solidFill>
              </a:rPr>
              <a:t>T</a:t>
            </a:r>
            <a:r>
              <a:rPr lang="en-US" sz="3600" b="1" dirty="0">
                <a:solidFill>
                  <a:srgbClr val="FF0066"/>
                </a:solidFill>
              </a:rPr>
              <a:t> - example: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BEF0-3123-4184-98D7-FBB99C137B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2" name="Text Box 36"/>
          <p:cNvSpPr txBox="1">
            <a:spLocks noChangeArrowheads="1"/>
          </p:cNvSpPr>
          <p:nvPr/>
        </p:nvSpPr>
        <p:spPr bwMode="auto">
          <a:xfrm>
            <a:off x="5486400" y="1295400"/>
            <a:ext cx="3666388" cy="95410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2800" b="1" i="1" dirty="0">
                <a:solidFill>
                  <a:srgbClr val="008000"/>
                </a:solidFill>
              </a:rPr>
              <a:t>U</a:t>
            </a:r>
            <a:r>
              <a:rPr lang="en-US" sz="2800" b="1" dirty="0">
                <a:solidFill>
                  <a:srgbClr val="008000"/>
                </a:solidFill>
              </a:rPr>
              <a:t> is “user-to-concept” </a:t>
            </a:r>
          </a:p>
          <a:p>
            <a:pPr algn="l"/>
            <a:r>
              <a:rPr lang="en-US" sz="2800" b="1" dirty="0">
                <a:solidFill>
                  <a:srgbClr val="008000"/>
                </a:solidFill>
              </a:rPr>
              <a:t>factor matrix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0" y="1828801"/>
            <a:ext cx="9144000" cy="4934128"/>
            <a:chOff x="0" y="1828801"/>
            <a:chExt cx="9144000" cy="4934128"/>
          </a:xfrm>
        </p:grpSpPr>
        <p:sp>
          <p:nvSpPr>
            <p:cNvPr id="70" name="Freeform 8"/>
            <p:cNvSpPr>
              <a:spLocks/>
            </p:cNvSpPr>
            <p:nvPr/>
          </p:nvSpPr>
          <p:spPr bwMode="auto">
            <a:xfrm>
              <a:off x="79524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11"/>
            <p:cNvSpPr>
              <a:spLocks/>
            </p:cNvSpPr>
            <p:nvPr/>
          </p:nvSpPr>
          <p:spPr bwMode="auto">
            <a:xfrm flipH="1">
              <a:off x="245640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Text Box 21"/>
            <p:cNvSpPr txBox="1">
              <a:spLocks noChangeArrowheads="1"/>
            </p:cNvSpPr>
            <p:nvPr/>
          </p:nvSpPr>
          <p:spPr bwMode="auto">
            <a:xfrm>
              <a:off x="2679192" y="3941426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73" name="Line 22"/>
            <p:cNvSpPr>
              <a:spLocks noChangeShapeType="1"/>
            </p:cNvSpPr>
            <p:nvPr/>
          </p:nvSpPr>
          <p:spPr bwMode="auto">
            <a:xfrm flipV="1">
              <a:off x="304800" y="3018528"/>
              <a:ext cx="0" cy="5334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74" name="Text Box 23"/>
            <p:cNvSpPr txBox="1">
              <a:spLocks noChangeArrowheads="1"/>
            </p:cNvSpPr>
            <p:nvPr/>
          </p:nvSpPr>
          <p:spPr bwMode="auto">
            <a:xfrm>
              <a:off x="0" y="3596656"/>
              <a:ext cx="635110" cy="369332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dirty="0" err="1">
                  <a:solidFill>
                    <a:srgbClr val="008000"/>
                  </a:solidFill>
                </a:rPr>
                <a:t>SciFi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76" name="Line 26"/>
            <p:cNvSpPr>
              <a:spLocks noChangeShapeType="1"/>
            </p:cNvSpPr>
            <p:nvPr/>
          </p:nvSpPr>
          <p:spPr bwMode="auto">
            <a:xfrm>
              <a:off x="304800" y="40853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77" name="Line 27"/>
            <p:cNvSpPr>
              <a:spLocks noChangeShapeType="1"/>
            </p:cNvSpPr>
            <p:nvPr/>
          </p:nvSpPr>
          <p:spPr bwMode="auto">
            <a:xfrm flipV="1">
              <a:off x="304800" y="4542528"/>
              <a:ext cx="0" cy="4572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78" name="Line 28"/>
            <p:cNvSpPr>
              <a:spLocks noChangeShapeType="1"/>
            </p:cNvSpPr>
            <p:nvPr/>
          </p:nvSpPr>
          <p:spPr bwMode="auto">
            <a:xfrm>
              <a:off x="304800" y="53807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Freeform 30"/>
            <p:cNvSpPr>
              <a:spLocks/>
            </p:cNvSpPr>
            <p:nvPr/>
          </p:nvSpPr>
          <p:spPr bwMode="auto">
            <a:xfrm>
              <a:off x="6096000" y="36764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Freeform 31"/>
            <p:cNvSpPr>
              <a:spLocks/>
            </p:cNvSpPr>
            <p:nvPr/>
          </p:nvSpPr>
          <p:spPr bwMode="auto">
            <a:xfrm flipH="1">
              <a:off x="7620000" y="36764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Text Box 32"/>
            <p:cNvSpPr txBox="1">
              <a:spLocks noChangeArrowheads="1"/>
            </p:cNvSpPr>
            <p:nvPr/>
          </p:nvSpPr>
          <p:spPr bwMode="auto">
            <a:xfrm>
              <a:off x="5467932" y="40135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82" name="Text Box 35"/>
            <p:cNvSpPr txBox="1">
              <a:spLocks noChangeArrowheads="1"/>
            </p:cNvSpPr>
            <p:nvPr/>
          </p:nvSpPr>
          <p:spPr bwMode="auto">
            <a:xfrm>
              <a:off x="8204353" y="40209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83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TextBox 84"/>
            <p:cNvSpPr txBox="1"/>
            <p:nvPr/>
          </p:nvSpPr>
          <p:spPr>
            <a:xfrm rot="16200000">
              <a:off x="1063987" y="1447286"/>
              <a:ext cx="1268296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Matrix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Alien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Serenity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Casablanca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</a:t>
              </a:r>
              <a:r>
                <a:rPr lang="en-US" dirty="0" err="1">
                  <a:solidFill>
                    <a:srgbClr val="008000"/>
                  </a:solidFill>
                </a:rPr>
                <a:t>Amelie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758672" y="3018528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3029712" y="3044952"/>
              <a:ext cx="2228088" cy="2600952"/>
              <a:chOff x="3105912" y="3044952"/>
              <a:chExt cx="2228088" cy="2600952"/>
            </a:xfrm>
          </p:grpSpPr>
          <p:sp>
            <p:nvSpPr>
              <p:cNvPr id="90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8" name="Rectangle 87"/>
            <p:cNvSpPr/>
            <p:nvPr/>
          </p:nvSpPr>
          <p:spPr>
            <a:xfrm>
              <a:off x="6076950" y="36764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  <p:sp>
        <p:nvSpPr>
          <p:cNvPr id="37" name="Text Box 25">
            <a:extLst>
              <a:ext uri="{FF2B5EF4-FFF2-40B4-BE49-F238E27FC236}">
                <a16:creationId xmlns:a16="http://schemas.microsoft.com/office/drawing/2014/main" id="{8BB67341-5075-2540-8A5C-112BB3B8A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9331" y="5029195"/>
            <a:ext cx="883255" cy="30777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</a:rPr>
              <a:t>Romance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8FE61F-5DE5-47EC-BA46-5F2DD26461C0}"/>
              </a:ext>
            </a:extLst>
          </p:cNvPr>
          <p:cNvSpPr/>
          <p:nvPr/>
        </p:nvSpPr>
        <p:spPr>
          <a:xfrm>
            <a:off x="2895600" y="3018528"/>
            <a:ext cx="2514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0.13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0.02  -0.01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0.41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0.07  -0.03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0.55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0.09  -0.04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0.68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0.11  -0.05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0.15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-0.59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0.65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0.07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-0.73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-0.67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0.07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-0.29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0.32</a:t>
            </a:r>
          </a:p>
        </p:txBody>
      </p:sp>
    </p:spTree>
    <p:extLst>
      <p:ext uri="{BB962C8B-B14F-4D97-AF65-F5344CB8AC3E}">
        <p14:creationId xmlns:p14="http://schemas.microsoft.com/office/powerpoint/2010/main" val="267818843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Example: Users-to-Movies</a:t>
            </a:r>
          </a:p>
        </p:txBody>
      </p:sp>
      <p:sp>
        <p:nvSpPr>
          <p:cNvPr id="140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1"/>
            <a:ext cx="8229600" cy="1167548"/>
          </a:xfrm>
        </p:spPr>
        <p:txBody>
          <a:bodyPr/>
          <a:lstStyle/>
          <a:p>
            <a:r>
              <a:rPr lang="en-US" sz="3600" b="1" dirty="0">
                <a:solidFill>
                  <a:srgbClr val="FF0066"/>
                </a:solidFill>
              </a:rPr>
              <a:t>A = U </a:t>
            </a:r>
            <a:r>
              <a:rPr lang="en-US" sz="3600" b="1" dirty="0">
                <a:solidFill>
                  <a:srgbClr val="FF0066"/>
                </a:solidFill>
                <a:sym typeface="Symbol"/>
              </a:rPr>
              <a:t></a:t>
            </a:r>
            <a:r>
              <a:rPr lang="en-US" sz="3600" b="1" dirty="0">
                <a:solidFill>
                  <a:srgbClr val="FF0066"/>
                </a:solidFill>
              </a:rPr>
              <a:t> V</a:t>
            </a:r>
            <a:r>
              <a:rPr lang="en-US" sz="3600" b="1" baseline="30000" dirty="0">
                <a:solidFill>
                  <a:srgbClr val="FF0066"/>
                </a:solidFill>
              </a:rPr>
              <a:t>T</a:t>
            </a:r>
            <a:r>
              <a:rPr lang="en-US" sz="3600" b="1" dirty="0">
                <a:solidFill>
                  <a:srgbClr val="FF0066"/>
                </a:solidFill>
              </a:rPr>
              <a:t> - example: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BEF0-3123-4184-98D7-FBB99C137BD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04951" name="Text Box 23"/>
          <p:cNvSpPr txBox="1">
            <a:spLocks noChangeArrowheads="1"/>
          </p:cNvSpPr>
          <p:nvPr/>
        </p:nvSpPr>
        <p:spPr bwMode="auto">
          <a:xfrm>
            <a:off x="0" y="3596656"/>
            <a:ext cx="635110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dirty="0" err="1"/>
              <a:t>SciFi</a:t>
            </a:r>
            <a:endParaRPr lang="en-US" dirty="0"/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2815441" y="2373868"/>
            <a:ext cx="1523174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SciFi</a:t>
            </a:r>
            <a:r>
              <a:rPr lang="en-US" b="1" dirty="0">
                <a:solidFill>
                  <a:srgbClr val="0000FF"/>
                </a:solidFill>
              </a:rPr>
              <a:t>-concept</a:t>
            </a:r>
          </a:p>
        </p:txBody>
      </p:sp>
      <p:sp>
        <p:nvSpPr>
          <p:cNvPr id="40" name="Line 33"/>
          <p:cNvSpPr>
            <a:spLocks noChangeShapeType="1"/>
          </p:cNvSpPr>
          <p:nvPr/>
        </p:nvSpPr>
        <p:spPr bwMode="auto">
          <a:xfrm>
            <a:off x="3505200" y="2706410"/>
            <a:ext cx="0" cy="342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43" name="Text Box 35"/>
          <p:cNvSpPr txBox="1">
            <a:spLocks noChangeArrowheads="1"/>
          </p:cNvSpPr>
          <p:nvPr/>
        </p:nvSpPr>
        <p:spPr bwMode="auto">
          <a:xfrm>
            <a:off x="5627026" y="2731532"/>
            <a:ext cx="3271217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“strength” of the </a:t>
            </a:r>
            <a:r>
              <a:rPr lang="en-US" b="1" dirty="0" err="1">
                <a:solidFill>
                  <a:srgbClr val="0000FF"/>
                </a:solidFill>
              </a:rPr>
              <a:t>SciFi</a:t>
            </a:r>
            <a:r>
              <a:rPr lang="en-US" b="1" dirty="0">
                <a:solidFill>
                  <a:srgbClr val="0000FF"/>
                </a:solidFill>
              </a:rPr>
              <a:t>-concept</a:t>
            </a:r>
          </a:p>
        </p:txBody>
      </p:sp>
      <p:sp>
        <p:nvSpPr>
          <p:cNvPr id="44" name="Oval 37"/>
          <p:cNvSpPr>
            <a:spLocks noChangeArrowheads="1"/>
          </p:cNvSpPr>
          <p:nvPr/>
        </p:nvSpPr>
        <p:spPr bwMode="auto">
          <a:xfrm>
            <a:off x="6128290" y="3608832"/>
            <a:ext cx="729710" cy="5334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accent3"/>
              </a:solidFill>
            </a:endParaRPr>
          </a:p>
        </p:txBody>
      </p:sp>
      <p:sp>
        <p:nvSpPr>
          <p:cNvPr id="45" name="Line 36"/>
          <p:cNvSpPr>
            <a:spLocks noChangeShapeType="1"/>
          </p:cNvSpPr>
          <p:nvPr/>
        </p:nvSpPr>
        <p:spPr bwMode="auto">
          <a:xfrm flipH="1">
            <a:off x="6585490" y="3097096"/>
            <a:ext cx="272510" cy="484303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0" y="1828801"/>
            <a:ext cx="9144000" cy="4934128"/>
            <a:chOff x="0" y="1828801"/>
            <a:chExt cx="9144000" cy="4934128"/>
          </a:xfrm>
        </p:grpSpPr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79524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11"/>
            <p:cNvSpPr>
              <a:spLocks/>
            </p:cNvSpPr>
            <p:nvPr/>
          </p:nvSpPr>
          <p:spPr bwMode="auto">
            <a:xfrm flipH="1">
              <a:off x="245640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21"/>
            <p:cNvSpPr txBox="1">
              <a:spLocks noChangeArrowheads="1"/>
            </p:cNvSpPr>
            <p:nvPr/>
          </p:nvSpPr>
          <p:spPr bwMode="auto">
            <a:xfrm>
              <a:off x="2679192" y="3941426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50" name="Line 22"/>
            <p:cNvSpPr>
              <a:spLocks noChangeShapeType="1"/>
            </p:cNvSpPr>
            <p:nvPr/>
          </p:nvSpPr>
          <p:spPr bwMode="auto">
            <a:xfrm flipV="1">
              <a:off x="304800" y="3018528"/>
              <a:ext cx="0" cy="5334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0" y="3596656"/>
              <a:ext cx="635110" cy="369332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dirty="0" err="1">
                  <a:solidFill>
                    <a:srgbClr val="008000"/>
                  </a:solidFill>
                </a:rPr>
                <a:t>SciFi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53" name="Line 26"/>
            <p:cNvSpPr>
              <a:spLocks noChangeShapeType="1"/>
            </p:cNvSpPr>
            <p:nvPr/>
          </p:nvSpPr>
          <p:spPr bwMode="auto">
            <a:xfrm>
              <a:off x="304800" y="40853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 flipV="1">
              <a:off x="304800" y="4542528"/>
              <a:ext cx="0" cy="4572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>
              <a:off x="304800" y="53807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30"/>
            <p:cNvSpPr>
              <a:spLocks/>
            </p:cNvSpPr>
            <p:nvPr/>
          </p:nvSpPr>
          <p:spPr bwMode="auto">
            <a:xfrm>
              <a:off x="6096000" y="36764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31"/>
            <p:cNvSpPr>
              <a:spLocks/>
            </p:cNvSpPr>
            <p:nvPr/>
          </p:nvSpPr>
          <p:spPr bwMode="auto">
            <a:xfrm flipH="1">
              <a:off x="7620000" y="36764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32"/>
            <p:cNvSpPr txBox="1">
              <a:spLocks noChangeArrowheads="1"/>
            </p:cNvSpPr>
            <p:nvPr/>
          </p:nvSpPr>
          <p:spPr bwMode="auto">
            <a:xfrm>
              <a:off x="5467932" y="40135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9" name="Text Box 35"/>
            <p:cNvSpPr txBox="1">
              <a:spLocks noChangeArrowheads="1"/>
            </p:cNvSpPr>
            <p:nvPr/>
          </p:nvSpPr>
          <p:spPr bwMode="auto">
            <a:xfrm>
              <a:off x="8204353" y="40209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60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 rot="16200000">
              <a:off x="1063987" y="1447286"/>
              <a:ext cx="1268296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Matrix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Alien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Serenity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Casablanca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</a:t>
              </a:r>
              <a:r>
                <a:rPr lang="en-US" dirty="0" err="1">
                  <a:solidFill>
                    <a:srgbClr val="008000"/>
                  </a:solidFill>
                </a:rPr>
                <a:t>Amelie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58672" y="3018528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2895600" y="3018528"/>
              <a:ext cx="2514600" cy="2677656"/>
              <a:chOff x="2971800" y="3018528"/>
              <a:chExt cx="2514600" cy="2677656"/>
            </a:xfrm>
          </p:grpSpPr>
          <p:sp>
            <p:nvSpPr>
              <p:cNvPr id="67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6076950" y="36764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  <p:sp>
        <p:nvSpPr>
          <p:cNvPr id="41" name="Text Box 25">
            <a:extLst>
              <a:ext uri="{FF2B5EF4-FFF2-40B4-BE49-F238E27FC236}">
                <a16:creationId xmlns:a16="http://schemas.microsoft.com/office/drawing/2014/main" id="{A73E5529-B38F-504E-81D2-DE2287678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9331" y="5029195"/>
            <a:ext cx="883255" cy="30777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</a:rPr>
              <a:t>Romance</a:t>
            </a:r>
          </a:p>
        </p:txBody>
      </p:sp>
    </p:spTree>
    <p:extLst>
      <p:ext uri="{BB962C8B-B14F-4D97-AF65-F5344CB8AC3E}">
        <p14:creationId xmlns:p14="http://schemas.microsoft.com/office/powerpoint/2010/main" val="31647985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Example: Users-to-Movies</a:t>
            </a:r>
          </a:p>
        </p:txBody>
      </p:sp>
      <p:sp>
        <p:nvSpPr>
          <p:cNvPr id="140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1"/>
            <a:ext cx="8229600" cy="1167548"/>
          </a:xfrm>
        </p:spPr>
        <p:txBody>
          <a:bodyPr/>
          <a:lstStyle/>
          <a:p>
            <a:r>
              <a:rPr lang="en-US" sz="3600" b="1" dirty="0">
                <a:solidFill>
                  <a:srgbClr val="FF0066"/>
                </a:solidFill>
              </a:rPr>
              <a:t>A = U </a:t>
            </a:r>
            <a:r>
              <a:rPr lang="en-US" sz="3600" b="1" dirty="0">
                <a:solidFill>
                  <a:srgbClr val="FF0066"/>
                </a:solidFill>
                <a:sym typeface="Symbol"/>
              </a:rPr>
              <a:t></a:t>
            </a:r>
            <a:r>
              <a:rPr lang="en-US" sz="3600" b="1" dirty="0">
                <a:solidFill>
                  <a:srgbClr val="FF0066"/>
                </a:solidFill>
              </a:rPr>
              <a:t> V</a:t>
            </a:r>
            <a:r>
              <a:rPr lang="en-US" sz="3600" b="1" baseline="30000" dirty="0">
                <a:solidFill>
                  <a:srgbClr val="FF0066"/>
                </a:solidFill>
              </a:rPr>
              <a:t>T</a:t>
            </a:r>
            <a:r>
              <a:rPr lang="en-US" sz="3600" b="1" dirty="0">
                <a:solidFill>
                  <a:srgbClr val="FF0066"/>
                </a:solidFill>
              </a:rPr>
              <a:t> - example: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 dirty="0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BEF0-3123-4184-98D7-FBB99C137BD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2815441" y="2373868"/>
            <a:ext cx="1523174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SciFi</a:t>
            </a:r>
            <a:r>
              <a:rPr lang="en-US" b="1" dirty="0">
                <a:solidFill>
                  <a:srgbClr val="0000FF"/>
                </a:solidFill>
              </a:rPr>
              <a:t>-concept</a:t>
            </a:r>
          </a:p>
        </p:txBody>
      </p:sp>
      <p:sp>
        <p:nvSpPr>
          <p:cNvPr id="40" name="Line 33"/>
          <p:cNvSpPr>
            <a:spLocks noChangeShapeType="1"/>
          </p:cNvSpPr>
          <p:nvPr/>
        </p:nvSpPr>
        <p:spPr bwMode="auto">
          <a:xfrm>
            <a:off x="3505200" y="2706410"/>
            <a:ext cx="0" cy="342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9" name="Text Box 31"/>
          <p:cNvSpPr txBox="1">
            <a:spLocks noChangeArrowheads="1"/>
          </p:cNvSpPr>
          <p:nvPr/>
        </p:nvSpPr>
        <p:spPr bwMode="auto">
          <a:xfrm>
            <a:off x="5275633" y="1865293"/>
            <a:ext cx="3868367" cy="95410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2800" b="1" i="1" dirty="0">
                <a:solidFill>
                  <a:srgbClr val="0000FF"/>
                </a:solidFill>
              </a:rPr>
              <a:t>V</a:t>
            </a:r>
            <a:r>
              <a:rPr lang="en-US" sz="2800" b="1" dirty="0">
                <a:solidFill>
                  <a:srgbClr val="0000FF"/>
                </a:solidFill>
              </a:rPr>
              <a:t> is “movie-to-concept”</a:t>
            </a:r>
          </a:p>
          <a:p>
            <a:pPr algn="l"/>
            <a:r>
              <a:rPr lang="en-US" sz="2800" b="1" dirty="0">
                <a:solidFill>
                  <a:srgbClr val="0000FF"/>
                </a:solidFill>
              </a:rPr>
              <a:t>factor matrix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0" y="1828801"/>
            <a:ext cx="9067800" cy="4868584"/>
            <a:chOff x="0" y="1828801"/>
            <a:chExt cx="9067800" cy="4868584"/>
          </a:xfrm>
        </p:grpSpPr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79524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 flipH="1">
              <a:off x="2456408" y="3018528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21"/>
            <p:cNvSpPr txBox="1">
              <a:spLocks noChangeArrowheads="1"/>
            </p:cNvSpPr>
            <p:nvPr/>
          </p:nvSpPr>
          <p:spPr bwMode="auto">
            <a:xfrm>
              <a:off x="2679192" y="3941426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53" name="Line 22"/>
            <p:cNvSpPr>
              <a:spLocks noChangeShapeType="1"/>
            </p:cNvSpPr>
            <p:nvPr/>
          </p:nvSpPr>
          <p:spPr bwMode="auto">
            <a:xfrm flipV="1">
              <a:off x="304800" y="3018528"/>
              <a:ext cx="0" cy="5334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0" y="3596656"/>
              <a:ext cx="635110" cy="369332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dirty="0" err="1">
                  <a:solidFill>
                    <a:srgbClr val="008000"/>
                  </a:solidFill>
                </a:rPr>
                <a:t>SciFi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56" name="Line 26"/>
            <p:cNvSpPr>
              <a:spLocks noChangeShapeType="1"/>
            </p:cNvSpPr>
            <p:nvPr/>
          </p:nvSpPr>
          <p:spPr bwMode="auto">
            <a:xfrm>
              <a:off x="304800" y="40853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7" name="Line 27"/>
            <p:cNvSpPr>
              <a:spLocks noChangeShapeType="1"/>
            </p:cNvSpPr>
            <p:nvPr/>
          </p:nvSpPr>
          <p:spPr bwMode="auto">
            <a:xfrm flipV="1">
              <a:off x="304800" y="4542528"/>
              <a:ext cx="0" cy="4572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58" name="Line 28"/>
            <p:cNvSpPr>
              <a:spLocks noChangeShapeType="1"/>
            </p:cNvSpPr>
            <p:nvPr/>
          </p:nvSpPr>
          <p:spPr bwMode="auto">
            <a:xfrm>
              <a:off x="304800" y="5380728"/>
              <a:ext cx="0" cy="22860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 type="none" w="sm" len="sm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Freeform 30"/>
            <p:cNvSpPr>
              <a:spLocks/>
            </p:cNvSpPr>
            <p:nvPr/>
          </p:nvSpPr>
          <p:spPr bwMode="auto">
            <a:xfrm>
              <a:off x="6096000" y="36764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31"/>
            <p:cNvSpPr>
              <a:spLocks/>
            </p:cNvSpPr>
            <p:nvPr/>
          </p:nvSpPr>
          <p:spPr bwMode="auto">
            <a:xfrm flipH="1">
              <a:off x="7620000" y="36764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Text Box 32"/>
            <p:cNvSpPr txBox="1">
              <a:spLocks noChangeArrowheads="1"/>
            </p:cNvSpPr>
            <p:nvPr/>
          </p:nvSpPr>
          <p:spPr bwMode="auto">
            <a:xfrm>
              <a:off x="5467932" y="40135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62" name="Text Box 35"/>
            <p:cNvSpPr txBox="1">
              <a:spLocks noChangeArrowheads="1"/>
            </p:cNvSpPr>
            <p:nvPr/>
          </p:nvSpPr>
          <p:spPr bwMode="auto">
            <a:xfrm>
              <a:off x="8204353" y="40209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63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 rot="16200000">
              <a:off x="1063987" y="1447286"/>
              <a:ext cx="1268296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Matrix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Alien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Serenity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Casablanca</a:t>
              </a:r>
            </a:p>
            <a:p>
              <a:pPr>
                <a:lnSpc>
                  <a:spcPct val="140000"/>
                </a:lnSpc>
              </a:pPr>
              <a:r>
                <a:rPr lang="en-US" dirty="0">
                  <a:solidFill>
                    <a:srgbClr val="008000"/>
                  </a:solidFill>
                </a:rPr>
                <a:t> </a:t>
              </a:r>
              <a:r>
                <a:rPr lang="en-US" dirty="0" err="1">
                  <a:solidFill>
                    <a:srgbClr val="008000"/>
                  </a:solidFill>
                </a:rPr>
                <a:t>Amelie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58672" y="3018528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2895600" y="3018528"/>
              <a:ext cx="2514600" cy="2677656"/>
              <a:chOff x="2971800" y="3018528"/>
              <a:chExt cx="2514600" cy="2677656"/>
            </a:xfrm>
          </p:grpSpPr>
          <p:sp>
            <p:nvSpPr>
              <p:cNvPr id="70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68" name="Rectangle 67"/>
            <p:cNvSpPr/>
            <p:nvPr/>
          </p:nvSpPr>
          <p:spPr>
            <a:xfrm>
              <a:off x="6076950" y="36764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</p:grpSp>
      <p:sp>
        <p:nvSpPr>
          <p:cNvPr id="43" name="Text Box 25">
            <a:extLst>
              <a:ext uri="{FF2B5EF4-FFF2-40B4-BE49-F238E27FC236}">
                <a16:creationId xmlns:a16="http://schemas.microsoft.com/office/drawing/2014/main" id="{F285B4CD-5D4A-9E4D-8F9D-609831B9A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9331" y="5029195"/>
            <a:ext cx="883255" cy="307777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</a:rPr>
              <a:t>Romance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50DBCA-2B48-4202-DB66-A93FACB69A18}"/>
              </a:ext>
            </a:extLst>
          </p:cNvPr>
          <p:cNvSpPr/>
          <p:nvPr/>
        </p:nvSpPr>
        <p:spPr>
          <a:xfrm>
            <a:off x="5334000" y="5562600"/>
            <a:ext cx="381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0.56   0.59  0.56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0.09    0.09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0.12  -0.02  0.12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-0.69  -0.69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0.40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-0.80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0.40   0.09    0.09</a:t>
            </a:r>
          </a:p>
        </p:txBody>
      </p:sp>
    </p:spTree>
    <p:extLst>
      <p:ext uri="{BB962C8B-B14F-4D97-AF65-F5344CB8AC3E}">
        <p14:creationId xmlns:p14="http://schemas.microsoft.com/office/powerpoint/2010/main" val="102917908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76BA-728A-4B72-824D-A8F7CD9C9268}" type="slidenum">
              <a:rPr lang="en-US"/>
              <a:pPr/>
              <a:t>16</a:t>
            </a:fld>
            <a:endParaRPr lang="en-US"/>
          </a:p>
        </p:txBody>
      </p:sp>
      <p:sp>
        <p:nvSpPr>
          <p:cNvPr id="13772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Interpretation #1</a:t>
            </a:r>
          </a:p>
        </p:txBody>
      </p:sp>
      <p:sp>
        <p:nvSpPr>
          <p:cNvPr id="13772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3600" b="1" dirty="0">
                <a:solidFill>
                  <a:srgbClr val="D60093"/>
                </a:solidFill>
              </a:rPr>
              <a:t>Movies</a:t>
            </a:r>
            <a:r>
              <a:rPr lang="en-US" sz="3600" dirty="0"/>
              <a:t>, </a:t>
            </a:r>
            <a:r>
              <a:rPr lang="en-US" sz="3600" b="1" dirty="0">
                <a:solidFill>
                  <a:srgbClr val="D60093"/>
                </a:solidFill>
              </a:rPr>
              <a:t>users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D60093"/>
                </a:solidFill>
              </a:rPr>
              <a:t>concepts</a:t>
            </a:r>
            <a:r>
              <a:rPr lang="en-US" sz="3600" dirty="0"/>
              <a:t>:</a:t>
            </a:r>
          </a:p>
          <a:p>
            <a:pPr>
              <a:lnSpc>
                <a:spcPct val="90000"/>
              </a:lnSpc>
            </a:pPr>
            <a:r>
              <a:rPr lang="en-US" b="1" i="1" dirty="0"/>
              <a:t>U</a:t>
            </a:r>
            <a:r>
              <a:rPr lang="en-US" dirty="0"/>
              <a:t>: user-to-concept matrix</a:t>
            </a:r>
          </a:p>
          <a:p>
            <a:pPr lvl="6">
              <a:lnSpc>
                <a:spcPct val="90000"/>
              </a:lnSpc>
            </a:pPr>
            <a:endParaRPr lang="en-US" b="1" i="1" dirty="0"/>
          </a:p>
          <a:p>
            <a:pPr>
              <a:lnSpc>
                <a:spcPct val="90000"/>
              </a:lnSpc>
            </a:pPr>
            <a:r>
              <a:rPr lang="en-US" b="1" i="1" dirty="0"/>
              <a:t>V</a:t>
            </a:r>
            <a:r>
              <a:rPr lang="en-US" dirty="0"/>
              <a:t>: movie-to-concept matrix</a:t>
            </a:r>
          </a:p>
          <a:p>
            <a:pPr lvl="5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latin typeface="Symbol" pitchFamily="18" charset="2"/>
                <a:sym typeface="Symbol"/>
              </a:rPr>
              <a:t></a:t>
            </a:r>
            <a:r>
              <a:rPr lang="en-US" dirty="0"/>
              <a:t>: its diagonal elements: </a:t>
            </a:r>
            <a:br>
              <a:rPr lang="en-US" dirty="0"/>
            </a:br>
            <a:r>
              <a:rPr lang="en-US" dirty="0"/>
              <a:t>	‘strength’ of each concept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53902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Dimensionality Reduction </a:t>
            </a:r>
            <a:br>
              <a:rPr lang="en-US" dirty="0"/>
            </a:br>
            <a:r>
              <a:rPr lang="en-US" dirty="0"/>
              <a:t>with SVD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57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534400" cy="987552"/>
          </a:xfrm>
        </p:spPr>
        <p:txBody>
          <a:bodyPr/>
          <a:lstStyle/>
          <a:p>
            <a:r>
              <a:rPr lang="en-US" dirty="0"/>
              <a:t>SVD – Dimensionality Reduction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D959-DF3F-42BB-B129-B95AC761CD3A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12432" y="1202871"/>
            <a:ext cx="3983038" cy="3695700"/>
            <a:chOff x="1104" y="1248"/>
            <a:chExt cx="2509" cy="2328"/>
          </a:xfrm>
        </p:grpSpPr>
        <p:pic>
          <p:nvPicPr>
            <p:cNvPr id="1400837" name="Picture 5" descr="img54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r="23748"/>
            <a:stretch/>
          </p:blipFill>
          <p:spPr bwMode="auto">
            <a:xfrm>
              <a:off x="1104" y="1248"/>
              <a:ext cx="2509" cy="2328"/>
            </a:xfrm>
            <a:prstGeom prst="rect">
              <a:avLst/>
            </a:prstGeom>
            <a:noFill/>
          </p:spPr>
        </p:pic>
        <p:sp>
          <p:nvSpPr>
            <p:cNvPr id="1400838" name="Line 6"/>
            <p:cNvSpPr>
              <a:spLocks noChangeShapeType="1"/>
            </p:cNvSpPr>
            <p:nvPr/>
          </p:nvSpPr>
          <p:spPr bwMode="auto">
            <a:xfrm flipV="1">
              <a:off x="1296" y="2877"/>
              <a:ext cx="468" cy="43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400839" name="Line 7"/>
          <p:cNvSpPr>
            <a:spLocks noChangeShapeType="1"/>
          </p:cNvSpPr>
          <p:nvPr/>
        </p:nvSpPr>
        <p:spPr bwMode="auto">
          <a:xfrm>
            <a:off x="4319032" y="2082800"/>
            <a:ext cx="381000" cy="3810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400840" name="Oval 8"/>
          <p:cNvSpPr>
            <a:spLocks noChangeArrowheads="1"/>
          </p:cNvSpPr>
          <p:nvPr/>
        </p:nvSpPr>
        <p:spPr bwMode="auto">
          <a:xfrm>
            <a:off x="4623832" y="2387600"/>
            <a:ext cx="152400" cy="152400"/>
          </a:xfrm>
          <a:prstGeom prst="ellips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400843" name="Text Box 11"/>
          <p:cNvSpPr txBox="1">
            <a:spLocks noChangeArrowheads="1"/>
          </p:cNvSpPr>
          <p:nvPr/>
        </p:nvSpPr>
        <p:spPr bwMode="auto">
          <a:xfrm>
            <a:off x="2541032" y="3869871"/>
            <a:ext cx="397866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b="1" baseline="-25000" dirty="0"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400844" name="Text Box 12"/>
          <p:cNvSpPr txBox="1">
            <a:spLocks noChangeArrowheads="1"/>
          </p:cNvSpPr>
          <p:nvPr/>
        </p:nvSpPr>
        <p:spPr bwMode="auto">
          <a:xfrm>
            <a:off x="5457270" y="2209800"/>
            <a:ext cx="1828800" cy="646331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 type="none" w="sm" len="sm"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  <a:cs typeface="Arial" pitchFamily="34" charset="0"/>
              </a:rPr>
              <a:t>first right </a:t>
            </a:r>
            <a:br>
              <a:rPr lang="en-US" b="1" dirty="0">
                <a:latin typeface="Arial" pitchFamily="34" charset="0"/>
                <a:cs typeface="Arial" pitchFamily="34" charset="0"/>
              </a:rPr>
            </a:br>
            <a:r>
              <a:rPr lang="en-US" b="1" dirty="0">
                <a:latin typeface="Arial" pitchFamily="34" charset="0"/>
                <a:cs typeface="Arial" pitchFamily="34" charset="0"/>
              </a:rPr>
              <a:t>singular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3904" y="4583668"/>
            <a:ext cx="22261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1 rating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1357601" y="2055069"/>
            <a:ext cx="20737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2 rating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876800"/>
                <a:ext cx="8610600" cy="1981200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Instead of using two coordinates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/>
                      </a:rPr>
                      <m:t>(</m:t>
                    </m:r>
                    <m:r>
                      <a:rPr lang="en-US" sz="2800" b="1" i="1" dirty="0" err="1" smtClean="0">
                        <a:latin typeface="Cambria Math"/>
                      </a:rPr>
                      <m:t>𝒙</m:t>
                    </m:r>
                    <m:r>
                      <a:rPr lang="en-US" sz="2800" b="1" i="1" dirty="0" err="1" smtClean="0">
                        <a:latin typeface="Cambria Math"/>
                      </a:rPr>
                      <m:t>,</m:t>
                    </m:r>
                    <m:r>
                      <a:rPr lang="en-US" sz="2800" b="1" i="1" dirty="0" err="1" smtClean="0">
                        <a:latin typeface="Cambria Math"/>
                      </a:rPr>
                      <m:t>𝒚</m:t>
                    </m:r>
                    <m:r>
                      <a:rPr lang="en-US" sz="28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to describe point positions, let’s use only one coordinate</a:t>
                </a:r>
                <a:endParaRPr lang="en-US" sz="2800" b="1" dirty="0"/>
              </a:p>
              <a:p>
                <a:r>
                  <a:rPr lang="en-US" sz="2800" dirty="0"/>
                  <a:t>Point’s position is its location along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2800" b="1" i="1" dirty="0" smtClean="0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876800"/>
                <a:ext cx="8610600" cy="1981200"/>
              </a:xfrm>
              <a:blipFill>
                <a:blip r:embed="rId3"/>
                <a:stretch>
                  <a:fillRect t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094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76200"/>
            <a:ext cx="8643937" cy="987552"/>
          </a:xfrm>
        </p:spPr>
        <p:txBody>
          <a:bodyPr/>
          <a:lstStyle/>
          <a:p>
            <a:r>
              <a:rPr lang="en-US" dirty="0"/>
              <a:t>SVD – Dimensionality Reduction</a:t>
            </a:r>
          </a:p>
        </p:txBody>
      </p:sp>
      <p:sp>
        <p:nvSpPr>
          <p:cNvPr id="1419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1"/>
            <a:ext cx="8229600" cy="283827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00FF"/>
                </a:solidFill>
              </a:rPr>
              <a:t>A = U </a:t>
            </a:r>
            <a:r>
              <a:rPr lang="en-US" sz="3600" b="1" dirty="0">
                <a:solidFill>
                  <a:srgbClr val="0000FF"/>
                </a:solidFill>
                <a:latin typeface="Symbol" pitchFamily="18" charset="2"/>
                <a:sym typeface="Symbol"/>
              </a:rPr>
              <a:t></a:t>
            </a:r>
            <a:r>
              <a:rPr lang="en-US" sz="3600" b="1" dirty="0">
                <a:solidFill>
                  <a:srgbClr val="0000FF"/>
                </a:solidFill>
              </a:rPr>
              <a:t> V</a:t>
            </a:r>
            <a:r>
              <a:rPr lang="en-US" sz="3600" b="1" baseline="30000" dirty="0">
                <a:solidFill>
                  <a:srgbClr val="0000FF"/>
                </a:solidFill>
              </a:rPr>
              <a:t>T </a:t>
            </a:r>
            <a:r>
              <a:rPr lang="en-US" sz="3600" b="1" dirty="0">
                <a:solidFill>
                  <a:srgbClr val="0000FF"/>
                </a:solidFill>
              </a:rPr>
              <a:t>- example:</a:t>
            </a:r>
          </a:p>
          <a:p>
            <a:pPr lvl="1"/>
            <a:r>
              <a:rPr lang="en-US" b="1" dirty="0"/>
              <a:t>U</a:t>
            </a:r>
            <a:r>
              <a:rPr lang="en-US" dirty="0"/>
              <a:t>: “user-to-concept” matrix</a:t>
            </a:r>
          </a:p>
          <a:p>
            <a:pPr lvl="1"/>
            <a:r>
              <a:rPr lang="en-US" b="1" dirty="0"/>
              <a:t>V</a:t>
            </a:r>
            <a:r>
              <a:rPr lang="en-US" dirty="0"/>
              <a:t>: “movie-to-concept” matrix</a:t>
            </a:r>
          </a:p>
          <a:p>
            <a:pPr lvl="1">
              <a:lnSpc>
                <a:spcPct val="90000"/>
              </a:lnSpc>
            </a:pPr>
            <a:endParaRPr lang="en-US" b="1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71C-DAD0-4A05-938C-1D2D7308A692}" type="slidenum">
              <a:rPr lang="en-US"/>
              <a:pPr/>
              <a:t>19</a:t>
            </a:fld>
            <a:endParaRPr lang="en-US"/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6053137" y="1143000"/>
            <a:ext cx="3548063" cy="2586038"/>
            <a:chOff x="1104" y="1248"/>
            <a:chExt cx="3291" cy="2328"/>
          </a:xfrm>
        </p:grpSpPr>
        <p:pic>
          <p:nvPicPr>
            <p:cNvPr id="27" name="Picture 5" descr="img5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04" y="1248"/>
              <a:ext cx="3291" cy="2328"/>
            </a:xfrm>
            <a:prstGeom prst="rect">
              <a:avLst/>
            </a:prstGeom>
            <a:noFill/>
          </p:spPr>
        </p:pic>
        <p:sp>
          <p:nvSpPr>
            <p:cNvPr id="28" name="Line 6"/>
            <p:cNvSpPr>
              <a:spLocks noChangeShapeType="1"/>
            </p:cNvSpPr>
            <p:nvPr/>
          </p:nvSpPr>
          <p:spPr bwMode="auto">
            <a:xfrm flipV="1">
              <a:off x="1289" y="2891"/>
              <a:ext cx="468" cy="43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7433490" y="1768929"/>
            <a:ext cx="258747" cy="26660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Oval 8"/>
          <p:cNvSpPr>
            <a:spLocks noChangeArrowheads="1"/>
          </p:cNvSpPr>
          <p:nvPr/>
        </p:nvSpPr>
        <p:spPr bwMode="auto">
          <a:xfrm>
            <a:off x="7634137" y="1982210"/>
            <a:ext cx="103499" cy="106641"/>
          </a:xfrm>
          <a:prstGeom prst="ellips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6172944" y="2872252"/>
            <a:ext cx="405736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en-US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077200" y="1921329"/>
            <a:ext cx="1219200" cy="830997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 type="none" w="sm" len="sm"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first right </a:t>
            </a:r>
            <a:br>
              <a:rPr lang="en-US" sz="1600" b="1" dirty="0"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latin typeface="Arial" pitchFamily="34" charset="0"/>
                <a:cs typeface="Arial" pitchFamily="34" charset="0"/>
              </a:rPr>
              <a:t>singular 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5637" y="3505200"/>
            <a:ext cx="20955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1 rating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5040252" y="1999308"/>
            <a:ext cx="20511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2 rating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3494544"/>
            <a:ext cx="8915400" cy="3268385"/>
            <a:chOff x="228600" y="3494544"/>
            <a:chExt cx="8915400" cy="3268385"/>
          </a:xfrm>
        </p:grpSpPr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21"/>
            <p:cNvSpPr txBox="1">
              <a:spLocks noChangeArrowheads="1"/>
            </p:cNvSpPr>
            <p:nvPr/>
          </p:nvSpPr>
          <p:spPr bwMode="auto">
            <a:xfrm>
              <a:off x="2149120" y="4417442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43" name="Freeform 30"/>
            <p:cNvSpPr>
              <a:spLocks/>
            </p:cNvSpPr>
            <p:nvPr/>
          </p:nvSpPr>
          <p:spPr bwMode="auto">
            <a:xfrm>
              <a:off x="5428668" y="41336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31"/>
            <p:cNvSpPr>
              <a:spLocks/>
            </p:cNvSpPr>
            <p:nvPr/>
          </p:nvSpPr>
          <p:spPr bwMode="auto">
            <a:xfrm flipH="1">
              <a:off x="6952668" y="41336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Text Box 32"/>
            <p:cNvSpPr txBox="1">
              <a:spLocks noChangeArrowheads="1"/>
            </p:cNvSpPr>
            <p:nvPr/>
          </p:nvSpPr>
          <p:spPr bwMode="auto">
            <a:xfrm>
              <a:off x="4800600" y="44707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46" name="Text Box 35"/>
            <p:cNvSpPr txBox="1">
              <a:spLocks noChangeArrowheads="1"/>
            </p:cNvSpPr>
            <p:nvPr/>
          </p:nvSpPr>
          <p:spPr bwMode="auto">
            <a:xfrm>
              <a:off x="7537021" y="44781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47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2365528" y="3494544"/>
              <a:ext cx="2514600" cy="2677656"/>
              <a:chOff x="2971800" y="3018528"/>
              <a:chExt cx="2514600" cy="2677656"/>
            </a:xfrm>
          </p:grpSpPr>
          <p:sp>
            <p:nvSpPr>
              <p:cNvPr id="51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5409618" y="41336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5330672" y="5638800"/>
            <a:ext cx="3737128" cy="370927"/>
          </a:xfrm>
          <a:prstGeom prst="rect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4" idx="0"/>
          </p:cNvCxnSpPr>
          <p:nvPr/>
        </p:nvCxnSpPr>
        <p:spPr>
          <a:xfrm flipH="1" flipV="1">
            <a:off x="6401882" y="3352800"/>
            <a:ext cx="797354" cy="228600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5183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Dimensionality Reduction</a:t>
            </a:r>
          </a:p>
        </p:txBody>
      </p:sp>
      <p:sp>
        <p:nvSpPr>
          <p:cNvPr id="1419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1"/>
            <a:ext cx="8229600" cy="283827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00FF"/>
                </a:solidFill>
              </a:rPr>
              <a:t>A = U </a:t>
            </a:r>
            <a:r>
              <a:rPr lang="en-US" sz="3600" b="1" dirty="0">
                <a:solidFill>
                  <a:srgbClr val="0000FF"/>
                </a:solidFill>
                <a:latin typeface="Symbol" pitchFamily="18" charset="2"/>
                <a:sym typeface="Symbol"/>
              </a:rPr>
              <a:t></a:t>
            </a:r>
            <a:r>
              <a:rPr lang="en-US" sz="3600" b="1" dirty="0">
                <a:solidFill>
                  <a:srgbClr val="0000FF"/>
                </a:solidFill>
              </a:rPr>
              <a:t> V</a:t>
            </a:r>
            <a:r>
              <a:rPr lang="en-US" sz="3600" b="1" baseline="30000" dirty="0">
                <a:solidFill>
                  <a:srgbClr val="0000FF"/>
                </a:solidFill>
              </a:rPr>
              <a:t>T </a:t>
            </a:r>
            <a:r>
              <a:rPr lang="en-US" sz="3600" b="1" dirty="0">
                <a:solidFill>
                  <a:srgbClr val="0000FF"/>
                </a:solidFill>
              </a:rPr>
              <a:t>- example:</a:t>
            </a:r>
          </a:p>
          <a:p>
            <a:pPr lvl="1">
              <a:lnSpc>
                <a:spcPct val="90000"/>
              </a:lnSpc>
            </a:pPr>
            <a:endParaRPr lang="en-US" b="1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71C-DAD0-4A05-938C-1D2D7308A692}" type="slidenum">
              <a:rPr lang="en-US"/>
              <a:pPr/>
              <a:t>20</a:t>
            </a:fld>
            <a:endParaRPr lang="en-US"/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6053137" y="1143000"/>
            <a:ext cx="3548063" cy="2586038"/>
            <a:chOff x="1104" y="1248"/>
            <a:chExt cx="3291" cy="2328"/>
          </a:xfrm>
        </p:grpSpPr>
        <p:pic>
          <p:nvPicPr>
            <p:cNvPr id="27" name="Picture 5" descr="img5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04" y="1248"/>
              <a:ext cx="3291" cy="2328"/>
            </a:xfrm>
            <a:prstGeom prst="rect">
              <a:avLst/>
            </a:prstGeom>
            <a:noFill/>
          </p:spPr>
        </p:pic>
        <p:sp>
          <p:nvSpPr>
            <p:cNvPr id="28" name="Line 6"/>
            <p:cNvSpPr>
              <a:spLocks noChangeShapeType="1"/>
            </p:cNvSpPr>
            <p:nvPr/>
          </p:nvSpPr>
          <p:spPr bwMode="auto">
            <a:xfrm flipV="1">
              <a:off x="1289" y="2891"/>
              <a:ext cx="468" cy="43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7433490" y="1768929"/>
            <a:ext cx="258747" cy="26660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Oval 8"/>
          <p:cNvSpPr>
            <a:spLocks noChangeArrowheads="1"/>
          </p:cNvSpPr>
          <p:nvPr/>
        </p:nvSpPr>
        <p:spPr bwMode="auto">
          <a:xfrm>
            <a:off x="7634137" y="1982210"/>
            <a:ext cx="103499" cy="106641"/>
          </a:xfrm>
          <a:prstGeom prst="ellips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6172944" y="2872252"/>
            <a:ext cx="405736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en-US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077200" y="1921329"/>
            <a:ext cx="1219200" cy="830997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 type="none" w="sm" len="sm"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first right </a:t>
            </a:r>
            <a:br>
              <a:rPr lang="en-US" sz="1600" b="1" dirty="0"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latin typeface="Arial" pitchFamily="34" charset="0"/>
                <a:cs typeface="Arial" pitchFamily="34" charset="0"/>
              </a:rPr>
              <a:t>singular 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5637" y="3505200"/>
            <a:ext cx="20955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1 rating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5040252" y="1999308"/>
            <a:ext cx="20511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2 rating</a:t>
            </a:r>
          </a:p>
        </p:txBody>
      </p: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448730" y="4114800"/>
            <a:ext cx="762000" cy="5334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 type="none" w="sm" len="sm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Text Box 22"/>
          <p:cNvSpPr txBox="1">
            <a:spLocks noChangeArrowheads="1"/>
          </p:cNvSpPr>
          <p:nvPr/>
        </p:nvSpPr>
        <p:spPr bwMode="auto">
          <a:xfrm>
            <a:off x="3402954" y="2436019"/>
            <a:ext cx="2287807" cy="646331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variance (‘spread’) </a:t>
            </a:r>
            <a:b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on the v</a:t>
            </a:r>
            <a:r>
              <a:rPr lang="en-US" b="1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axis</a:t>
            </a:r>
          </a:p>
        </p:txBody>
      </p:sp>
      <p:sp>
        <p:nvSpPr>
          <p:cNvPr id="40" name="Line 23"/>
          <p:cNvSpPr>
            <a:spLocks noChangeShapeType="1"/>
          </p:cNvSpPr>
          <p:nvPr/>
        </p:nvSpPr>
        <p:spPr bwMode="auto">
          <a:xfrm>
            <a:off x="5029200" y="3082350"/>
            <a:ext cx="648165" cy="94346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28600" y="3494544"/>
            <a:ext cx="8915400" cy="3268385"/>
            <a:chOff x="228600" y="3494544"/>
            <a:chExt cx="8915400" cy="3268385"/>
          </a:xfrm>
        </p:grpSpPr>
        <p:sp>
          <p:nvSpPr>
            <p:cNvPr id="42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Text Box 21"/>
            <p:cNvSpPr txBox="1">
              <a:spLocks noChangeArrowheads="1"/>
            </p:cNvSpPr>
            <p:nvPr/>
          </p:nvSpPr>
          <p:spPr bwMode="auto">
            <a:xfrm>
              <a:off x="2149120" y="4417442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58" name="Freeform 30"/>
            <p:cNvSpPr>
              <a:spLocks/>
            </p:cNvSpPr>
            <p:nvPr/>
          </p:nvSpPr>
          <p:spPr bwMode="auto">
            <a:xfrm>
              <a:off x="5428668" y="41336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Freeform 31"/>
            <p:cNvSpPr>
              <a:spLocks/>
            </p:cNvSpPr>
            <p:nvPr/>
          </p:nvSpPr>
          <p:spPr bwMode="auto">
            <a:xfrm flipH="1">
              <a:off x="6952668" y="41336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Text Box 32"/>
            <p:cNvSpPr txBox="1">
              <a:spLocks noChangeArrowheads="1"/>
            </p:cNvSpPr>
            <p:nvPr/>
          </p:nvSpPr>
          <p:spPr bwMode="auto">
            <a:xfrm>
              <a:off x="4800600" y="44707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61" name="Text Box 35"/>
            <p:cNvSpPr txBox="1">
              <a:spLocks noChangeArrowheads="1"/>
            </p:cNvSpPr>
            <p:nvPr/>
          </p:nvSpPr>
          <p:spPr bwMode="auto">
            <a:xfrm>
              <a:off x="7537021" y="44781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62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2365528" y="3494544"/>
              <a:ext cx="2514600" cy="2677656"/>
              <a:chOff x="2971800" y="3018528"/>
              <a:chExt cx="2514600" cy="2677656"/>
            </a:xfrm>
          </p:grpSpPr>
          <p:sp>
            <p:nvSpPr>
              <p:cNvPr id="68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66" name="Rectangle 65"/>
            <p:cNvSpPr/>
            <p:nvPr/>
          </p:nvSpPr>
          <p:spPr>
            <a:xfrm>
              <a:off x="5409618" y="41336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671271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Dimensionality Reduction</a:t>
            </a:r>
          </a:p>
        </p:txBody>
      </p:sp>
      <p:sp>
        <p:nvSpPr>
          <p:cNvPr id="1419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1"/>
            <a:ext cx="8229600" cy="2838270"/>
          </a:xfrm>
        </p:spPr>
        <p:txBody>
          <a:bodyPr/>
          <a:lstStyle/>
          <a:p>
            <a:pPr marL="118872" indent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0000FF"/>
                </a:solidFill>
              </a:rPr>
              <a:t>A = U </a:t>
            </a:r>
            <a:r>
              <a:rPr lang="en-US" sz="3600" b="1" dirty="0">
                <a:solidFill>
                  <a:srgbClr val="0000FF"/>
                </a:solidFill>
                <a:latin typeface="Symbol" pitchFamily="18" charset="2"/>
                <a:sym typeface="Symbol"/>
              </a:rPr>
              <a:t></a:t>
            </a:r>
            <a:r>
              <a:rPr lang="en-US" sz="3600" b="1" dirty="0">
                <a:solidFill>
                  <a:srgbClr val="0000FF"/>
                </a:solidFill>
              </a:rPr>
              <a:t> V</a:t>
            </a:r>
            <a:r>
              <a:rPr lang="en-US" sz="3600" b="1" baseline="30000" dirty="0">
                <a:solidFill>
                  <a:srgbClr val="0000FF"/>
                </a:solidFill>
              </a:rPr>
              <a:t>T </a:t>
            </a:r>
            <a:r>
              <a:rPr lang="en-US" sz="3600" b="1" dirty="0">
                <a:solidFill>
                  <a:srgbClr val="0000FF"/>
                </a:solidFill>
              </a:rPr>
              <a:t>- example: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66"/>
                </a:solidFill>
              </a:rPr>
              <a:t>U </a:t>
            </a:r>
            <a:r>
              <a:rPr lang="en-US" b="1" dirty="0">
                <a:solidFill>
                  <a:srgbClr val="FF0066"/>
                </a:solidFill>
                <a:latin typeface="Symbol" pitchFamily="18" charset="2"/>
                <a:sym typeface="Symbol"/>
              </a:rPr>
              <a:t></a:t>
            </a:r>
            <a:r>
              <a:rPr lang="en-US" dirty="0">
                <a:solidFill>
                  <a:srgbClr val="FF0066"/>
                </a:solidFill>
                <a:latin typeface="Symbol" pitchFamily="18" charset="2"/>
                <a:sym typeface="Symbol"/>
              </a:rPr>
              <a:t>:</a:t>
            </a:r>
            <a:r>
              <a:rPr lang="en-US" dirty="0">
                <a:solidFill>
                  <a:srgbClr val="FF0066"/>
                </a:solidFill>
              </a:rPr>
              <a:t>  </a:t>
            </a:r>
            <a:r>
              <a:rPr lang="en-US" dirty="0"/>
              <a:t>Gives the coordinates </a:t>
            </a:r>
            <a:br>
              <a:rPr lang="en-US" dirty="0"/>
            </a:br>
            <a:r>
              <a:rPr lang="en-US" dirty="0"/>
              <a:t>of the points in the </a:t>
            </a:r>
            <a:br>
              <a:rPr lang="en-US" dirty="0"/>
            </a:br>
            <a:r>
              <a:rPr lang="en-US" dirty="0"/>
              <a:t>projection axis</a:t>
            </a:r>
          </a:p>
          <a:p>
            <a:pPr lvl="1">
              <a:lnSpc>
                <a:spcPct val="90000"/>
              </a:lnSpc>
            </a:pPr>
            <a:endParaRPr lang="en-US" b="1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endParaRPr lang="en-US" b="1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71C-DAD0-4A05-938C-1D2D7308A692}" type="slidenum">
              <a:rPr lang="en-US"/>
              <a:pPr/>
              <a:t>21</a:t>
            </a:fld>
            <a:endParaRPr lang="en-US"/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6053137" y="1143000"/>
            <a:ext cx="3548063" cy="2586038"/>
            <a:chOff x="1104" y="1248"/>
            <a:chExt cx="3291" cy="2328"/>
          </a:xfrm>
        </p:grpSpPr>
        <p:pic>
          <p:nvPicPr>
            <p:cNvPr id="27" name="Picture 5" descr="img5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04" y="1248"/>
              <a:ext cx="3291" cy="2328"/>
            </a:xfrm>
            <a:prstGeom prst="rect">
              <a:avLst/>
            </a:prstGeom>
            <a:noFill/>
          </p:spPr>
        </p:pic>
        <p:sp>
          <p:nvSpPr>
            <p:cNvPr id="28" name="Line 6"/>
            <p:cNvSpPr>
              <a:spLocks noChangeShapeType="1"/>
            </p:cNvSpPr>
            <p:nvPr/>
          </p:nvSpPr>
          <p:spPr bwMode="auto">
            <a:xfrm flipV="1">
              <a:off x="1289" y="2891"/>
              <a:ext cx="468" cy="43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7433490" y="1768929"/>
            <a:ext cx="258747" cy="26660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Oval 8"/>
          <p:cNvSpPr>
            <a:spLocks noChangeArrowheads="1"/>
          </p:cNvSpPr>
          <p:nvPr/>
        </p:nvSpPr>
        <p:spPr bwMode="auto">
          <a:xfrm>
            <a:off x="7634137" y="1982210"/>
            <a:ext cx="103499" cy="106641"/>
          </a:xfrm>
          <a:prstGeom prst="ellipse">
            <a:avLst/>
          </a:prstGeom>
          <a:noFill/>
          <a:ln w="57150">
            <a:solidFill>
              <a:srgbClr val="00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6172944" y="2872252"/>
            <a:ext cx="405736" cy="369332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en-US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077200" y="1921329"/>
            <a:ext cx="1219200" cy="830997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 type="none" w="sm" len="sm"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first right </a:t>
            </a:r>
            <a:br>
              <a:rPr lang="en-US" sz="1600" b="1" dirty="0"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latin typeface="Arial" pitchFamily="34" charset="0"/>
                <a:cs typeface="Arial" pitchFamily="34" charset="0"/>
              </a:rPr>
              <a:t>singular 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5637" y="3505200"/>
            <a:ext cx="20955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1 rating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5040252" y="1999308"/>
            <a:ext cx="20511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Movie 2 rating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3494544"/>
            <a:ext cx="8763000" cy="3297912"/>
            <a:chOff x="228600" y="3494544"/>
            <a:chExt cx="8763000" cy="3297912"/>
          </a:xfrm>
        </p:grpSpPr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36"/>
            <p:cNvSpPr>
              <a:spLocks/>
            </p:cNvSpPr>
            <p:nvPr/>
          </p:nvSpPr>
          <p:spPr bwMode="auto">
            <a:xfrm>
              <a:off x="6019800" y="4160823"/>
              <a:ext cx="135047" cy="2536562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48" name="Freeform 37"/>
            <p:cNvSpPr>
              <a:spLocks/>
            </p:cNvSpPr>
            <p:nvPr/>
          </p:nvSpPr>
          <p:spPr bwMode="auto">
            <a:xfrm flipH="1">
              <a:off x="8382000" y="4160823"/>
              <a:ext cx="152400" cy="2536562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19800" y="4114800"/>
              <a:ext cx="2971800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1.61    0.19   -0.01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5.08    0.66   -0.03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6.82    0.85   -0.05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8.43    1.04   -0.06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1.86   -5.60    0.84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0.86   -6.93   -0.87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0.86   -2.75    0.41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896184" y="3524071"/>
            <a:ext cx="3000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Projection of users on the “Sci-Fi” axis </a:t>
            </a:r>
            <a:r>
              <a:rPr lang="en-US" sz="2400" b="1" dirty="0"/>
              <a:t>U </a:t>
            </a:r>
            <a:r>
              <a:rPr lang="en-US" sz="2400" b="1" dirty="0">
                <a:latin typeface="Symbol" pitchFamily="18" charset="2"/>
                <a:sym typeface="Symbol"/>
              </a:rPr>
              <a:t></a:t>
            </a:r>
            <a:r>
              <a:rPr lang="en-US" sz="24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:</a:t>
            </a:r>
            <a:endParaRPr lang="en-US" sz="24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0" y="4160823"/>
            <a:ext cx="636488" cy="2536562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029200" y="4419600"/>
            <a:ext cx="1036636" cy="53340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0164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EDE9-1F83-6B9A-C623-9A8C8D0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61EA8-5646-A9D9-9303-8297B5DD3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USV</a:t>
            </a:r>
            <a:r>
              <a:rPr lang="en-US" baseline="30000" dirty="0"/>
              <a:t>T</a:t>
            </a:r>
          </a:p>
          <a:p>
            <a:r>
              <a:rPr lang="en-US" dirty="0"/>
              <a:t>A is 7*5 (7 data points in 5-dim space)</a:t>
            </a:r>
          </a:p>
          <a:p>
            <a:r>
              <a:rPr lang="en-US" dirty="0"/>
              <a:t>U is 7*3, S is 3*3 and V is 5*3</a:t>
            </a:r>
          </a:p>
          <a:p>
            <a:r>
              <a:rPr lang="en-US" dirty="0"/>
              <a:t>Project data points onto V: </a:t>
            </a:r>
          </a:p>
          <a:p>
            <a:pPr lvl="1"/>
            <a:r>
              <a:rPr lang="en-US" dirty="0"/>
              <a:t>AV = USV</a:t>
            </a:r>
            <a:r>
              <a:rPr lang="en-US" baseline="30000" dirty="0"/>
              <a:t>T </a:t>
            </a:r>
            <a:r>
              <a:rPr lang="en-US" dirty="0"/>
              <a:t>V = US </a:t>
            </a:r>
            <a:r>
              <a:rPr lang="en-US" dirty="0">
                <a:sym typeface="Wingdings" pitchFamily="2" charset="2"/>
              </a:rPr>
              <a:t> AV is 7*3  reduced dim from 5 to 3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99D9D-22BD-003C-3A33-FAABDDCC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05FF7-0C61-0258-620D-5FA62CA9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B5232-F46B-47DD-06B2-469680CC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21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EF39-9582-D103-F3A3-6980CBEAA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D346-DB4A-302B-1246-310DECF75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SVD : </a:t>
            </a:r>
          </a:p>
          <a:p>
            <a:r>
              <a:rPr lang="en-US" dirty="0"/>
              <a:t>A = USV</a:t>
            </a:r>
            <a:r>
              <a:rPr lang="en-US" baseline="30000" dirty="0"/>
              <a:t>T</a:t>
            </a:r>
          </a:p>
          <a:p>
            <a:r>
              <a:rPr lang="en-US" dirty="0"/>
              <a:t>A is m*n </a:t>
            </a:r>
            <a:r>
              <a:rPr lang="en-US" dirty="0">
                <a:sym typeface="Wingdings" pitchFamily="2" charset="2"/>
              </a:rPr>
              <a:t> U is m*m, V is n*n and S is m*n</a:t>
            </a:r>
          </a:p>
          <a:p>
            <a:r>
              <a:rPr lang="en-US" dirty="0">
                <a:sym typeface="Wingdings" pitchFamily="2" charset="2"/>
              </a:rPr>
              <a:t>If A is full rank , above holds</a:t>
            </a:r>
          </a:p>
          <a:p>
            <a:r>
              <a:rPr lang="en-US" dirty="0">
                <a:sym typeface="Wingdings" pitchFamily="2" charset="2"/>
              </a:rPr>
              <a:t>If A is not full rank, A = US</a:t>
            </a:r>
            <a:r>
              <a:rPr lang="en-US" dirty="0"/>
              <a:t>V</a:t>
            </a:r>
            <a:r>
              <a:rPr lang="en-US" baseline="30000" dirty="0"/>
              <a:t>T </a:t>
            </a:r>
          </a:p>
          <a:p>
            <a:r>
              <a:rPr lang="en-US" dirty="0"/>
              <a:t>U is m*r , V is r*n and S is r*r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1B446-E86D-E859-8F7B-D7F1688A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136C1-D295-A54C-4E95-F69B6E49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2E3CA-86FC-C133-820C-F5D87849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93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Interpretation #2</a:t>
            </a:r>
          </a:p>
        </p:txBody>
      </p:sp>
      <p:sp>
        <p:nvSpPr>
          <p:cNvPr id="142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b="1" dirty="0">
                <a:solidFill>
                  <a:srgbClr val="0000FF"/>
                </a:solidFill>
              </a:rPr>
              <a:t>More details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Q:</a:t>
            </a:r>
            <a:r>
              <a:rPr lang="en-US" b="1" dirty="0"/>
              <a:t> How is dim. reduction done?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FEB7-45B7-4865-8B6A-776BB49F2829}" type="slidenum">
              <a:rPr lang="en-US"/>
              <a:pPr/>
              <a:t>24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28600" y="3494544"/>
            <a:ext cx="8915400" cy="3268385"/>
            <a:chOff x="228600" y="3494544"/>
            <a:chExt cx="8915400" cy="3268385"/>
          </a:xfrm>
        </p:grpSpPr>
        <p:sp>
          <p:nvSpPr>
            <p:cNvPr id="42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Text Box 21"/>
            <p:cNvSpPr txBox="1">
              <a:spLocks noChangeArrowheads="1"/>
            </p:cNvSpPr>
            <p:nvPr/>
          </p:nvSpPr>
          <p:spPr bwMode="auto">
            <a:xfrm>
              <a:off x="2149120" y="4417442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45" name="Freeform 30"/>
            <p:cNvSpPr>
              <a:spLocks/>
            </p:cNvSpPr>
            <p:nvPr/>
          </p:nvSpPr>
          <p:spPr bwMode="auto">
            <a:xfrm>
              <a:off x="5428668" y="41336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31"/>
            <p:cNvSpPr>
              <a:spLocks/>
            </p:cNvSpPr>
            <p:nvPr/>
          </p:nvSpPr>
          <p:spPr bwMode="auto">
            <a:xfrm flipH="1">
              <a:off x="6952668" y="41336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32"/>
            <p:cNvSpPr txBox="1">
              <a:spLocks noChangeArrowheads="1"/>
            </p:cNvSpPr>
            <p:nvPr/>
          </p:nvSpPr>
          <p:spPr bwMode="auto">
            <a:xfrm>
              <a:off x="4800600" y="44707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48" name="Text Box 35"/>
            <p:cNvSpPr txBox="1">
              <a:spLocks noChangeArrowheads="1"/>
            </p:cNvSpPr>
            <p:nvPr/>
          </p:nvSpPr>
          <p:spPr bwMode="auto">
            <a:xfrm>
              <a:off x="7537021" y="44781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49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365528" y="3494544"/>
              <a:ext cx="2514600" cy="2677656"/>
              <a:chOff x="2971800" y="3018528"/>
              <a:chExt cx="2514600" cy="2677656"/>
            </a:xfrm>
          </p:grpSpPr>
          <p:sp>
            <p:nvSpPr>
              <p:cNvPr id="55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5409618" y="41336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601159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Interpretation #2</a:t>
            </a:r>
          </a:p>
        </p:txBody>
      </p:sp>
      <p:sp>
        <p:nvSpPr>
          <p:cNvPr id="142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b="1" dirty="0">
                <a:solidFill>
                  <a:srgbClr val="0000FF"/>
                </a:solidFill>
              </a:rPr>
              <a:t>More details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Q:</a:t>
            </a:r>
            <a:r>
              <a:rPr lang="en-US" b="1" dirty="0"/>
              <a:t> How exactly is dim. reduction done?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8000"/>
                </a:solidFill>
              </a:rPr>
              <a:t>A: Set smallest singular values to zero</a:t>
            </a:r>
          </a:p>
          <a:p>
            <a:pPr marL="118872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FEB7-45B7-4865-8B6A-776BB49F2829}" type="slidenum">
              <a:rPr lang="en-US"/>
              <a:pPr/>
              <a:t>25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6629400" y="4876800"/>
            <a:ext cx="342900" cy="424428"/>
            <a:chOff x="6629400" y="4876800"/>
            <a:chExt cx="342900" cy="424428"/>
          </a:xfrm>
        </p:grpSpPr>
        <p:sp>
          <p:nvSpPr>
            <p:cNvPr id="44" name="Line 19"/>
            <p:cNvSpPr>
              <a:spLocks noChangeShapeType="1"/>
            </p:cNvSpPr>
            <p:nvPr/>
          </p:nvSpPr>
          <p:spPr bwMode="auto">
            <a:xfrm flipV="1">
              <a:off x="6705600" y="4876800"/>
              <a:ext cx="266700" cy="4244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21"/>
            <p:cNvSpPr>
              <a:spLocks noChangeShapeType="1"/>
            </p:cNvSpPr>
            <p:nvPr/>
          </p:nvSpPr>
          <p:spPr bwMode="auto">
            <a:xfrm>
              <a:off x="6629400" y="4920228"/>
              <a:ext cx="342900" cy="3375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28600" y="3494544"/>
            <a:ext cx="8915400" cy="3268385"/>
            <a:chOff x="228600" y="3494544"/>
            <a:chExt cx="8915400" cy="3268385"/>
          </a:xfrm>
        </p:grpSpPr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21"/>
            <p:cNvSpPr txBox="1">
              <a:spLocks noChangeArrowheads="1"/>
            </p:cNvSpPr>
            <p:nvPr/>
          </p:nvSpPr>
          <p:spPr bwMode="auto">
            <a:xfrm>
              <a:off x="2149120" y="4417442"/>
              <a:ext cx="401072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=</a:t>
              </a:r>
            </a:p>
          </p:txBody>
        </p:sp>
        <p:sp>
          <p:nvSpPr>
            <p:cNvPr id="50" name="Freeform 30"/>
            <p:cNvSpPr>
              <a:spLocks/>
            </p:cNvSpPr>
            <p:nvPr/>
          </p:nvSpPr>
          <p:spPr bwMode="auto">
            <a:xfrm>
              <a:off x="5428668" y="41336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31"/>
            <p:cNvSpPr>
              <a:spLocks/>
            </p:cNvSpPr>
            <p:nvPr/>
          </p:nvSpPr>
          <p:spPr bwMode="auto">
            <a:xfrm flipH="1">
              <a:off x="6952668" y="41336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32"/>
            <p:cNvSpPr txBox="1">
              <a:spLocks noChangeArrowheads="1"/>
            </p:cNvSpPr>
            <p:nvPr/>
          </p:nvSpPr>
          <p:spPr bwMode="auto">
            <a:xfrm>
              <a:off x="4800600" y="44707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3" name="Text Box 35"/>
            <p:cNvSpPr txBox="1">
              <a:spLocks noChangeArrowheads="1"/>
            </p:cNvSpPr>
            <p:nvPr/>
          </p:nvSpPr>
          <p:spPr bwMode="auto">
            <a:xfrm>
              <a:off x="7537021" y="44781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4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365528" y="3494544"/>
              <a:ext cx="2514600" cy="2677656"/>
              <a:chOff x="2971800" y="3018528"/>
              <a:chExt cx="2514600" cy="2677656"/>
            </a:xfrm>
          </p:grpSpPr>
          <p:sp>
            <p:nvSpPr>
              <p:cNvPr id="60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58" name="Rectangle 57"/>
            <p:cNvSpPr/>
            <p:nvPr/>
          </p:nvSpPr>
          <p:spPr>
            <a:xfrm>
              <a:off x="5409618" y="41336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427129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Interpretation #2</a:t>
            </a:r>
          </a:p>
        </p:txBody>
      </p:sp>
      <p:sp>
        <p:nvSpPr>
          <p:cNvPr id="142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b="1" dirty="0">
                <a:solidFill>
                  <a:srgbClr val="0000FF"/>
                </a:solidFill>
              </a:rPr>
              <a:t>More details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Q:</a:t>
            </a:r>
            <a:r>
              <a:rPr lang="en-US" b="1" dirty="0"/>
              <a:t> How exactly is dim. reduction done?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8000"/>
                </a:solidFill>
              </a:rPr>
              <a:t>A: Set smallest singular values to zero</a:t>
            </a:r>
          </a:p>
          <a:p>
            <a:pPr marL="118872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FEB7-45B7-4865-8B6A-776BB49F2829}" type="slidenum">
              <a:rPr lang="en-US"/>
              <a:pPr/>
              <a:t>26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6629400" y="4876800"/>
            <a:ext cx="342900" cy="424428"/>
            <a:chOff x="6629400" y="4876800"/>
            <a:chExt cx="342900" cy="424428"/>
          </a:xfrm>
        </p:grpSpPr>
        <p:sp>
          <p:nvSpPr>
            <p:cNvPr id="47" name="Line 19"/>
            <p:cNvSpPr>
              <a:spLocks noChangeShapeType="1"/>
            </p:cNvSpPr>
            <p:nvPr/>
          </p:nvSpPr>
          <p:spPr bwMode="auto">
            <a:xfrm flipV="1">
              <a:off x="6705600" y="4876800"/>
              <a:ext cx="266700" cy="4244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>
              <a:off x="6629400" y="4920228"/>
              <a:ext cx="342900" cy="3375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28600" y="3494544"/>
            <a:ext cx="8915400" cy="3268385"/>
            <a:chOff x="228600" y="3494544"/>
            <a:chExt cx="8915400" cy="3268385"/>
          </a:xfrm>
        </p:grpSpPr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30"/>
            <p:cNvSpPr>
              <a:spLocks/>
            </p:cNvSpPr>
            <p:nvPr/>
          </p:nvSpPr>
          <p:spPr bwMode="auto">
            <a:xfrm>
              <a:off x="5428668" y="41336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31"/>
            <p:cNvSpPr>
              <a:spLocks/>
            </p:cNvSpPr>
            <p:nvPr/>
          </p:nvSpPr>
          <p:spPr bwMode="auto">
            <a:xfrm flipH="1">
              <a:off x="6952668" y="41336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 Box 32"/>
            <p:cNvSpPr txBox="1">
              <a:spLocks noChangeArrowheads="1"/>
            </p:cNvSpPr>
            <p:nvPr/>
          </p:nvSpPr>
          <p:spPr bwMode="auto">
            <a:xfrm>
              <a:off x="4800600" y="44707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6" name="Text Box 35"/>
            <p:cNvSpPr txBox="1">
              <a:spLocks noChangeArrowheads="1"/>
            </p:cNvSpPr>
            <p:nvPr/>
          </p:nvSpPr>
          <p:spPr bwMode="auto">
            <a:xfrm>
              <a:off x="7537021" y="44781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7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2365528" y="3494544"/>
              <a:ext cx="2514600" cy="2677656"/>
              <a:chOff x="2971800" y="3018528"/>
              <a:chExt cx="2514600" cy="2677656"/>
            </a:xfrm>
          </p:grpSpPr>
          <p:sp>
            <p:nvSpPr>
              <p:cNvPr id="63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61" name="Rectangle 60"/>
            <p:cNvSpPr/>
            <p:nvPr/>
          </p:nvSpPr>
          <p:spPr>
            <a:xfrm>
              <a:off x="5409618" y="41336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  <p:sp>
        <p:nvSpPr>
          <p:cNvPr id="66" name="Text Box 21"/>
          <p:cNvSpPr txBox="1">
            <a:spLocks noChangeArrowheads="1"/>
          </p:cNvSpPr>
          <p:nvPr/>
        </p:nvSpPr>
        <p:spPr bwMode="auto">
          <a:xfrm>
            <a:off x="2096574" y="4355887"/>
            <a:ext cx="466794" cy="707886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sym typeface="Symbol"/>
              </a:rPr>
              <a:t>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88636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Interpretation #2</a:t>
            </a:r>
          </a:p>
        </p:txBody>
      </p:sp>
      <p:sp>
        <p:nvSpPr>
          <p:cNvPr id="142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b="1" dirty="0">
                <a:solidFill>
                  <a:srgbClr val="0000FF"/>
                </a:solidFill>
              </a:rPr>
              <a:t>More details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Q:</a:t>
            </a:r>
            <a:r>
              <a:rPr lang="en-US" b="1" dirty="0"/>
              <a:t> How exactly is dim. reduction done?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8000"/>
                </a:solidFill>
              </a:rPr>
              <a:t>A: Set smallest singular values to zero</a:t>
            </a:r>
          </a:p>
          <a:p>
            <a:pPr marL="118872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FEB7-45B7-4865-8B6A-776BB49F2829}" type="slidenum">
              <a:rPr lang="en-US"/>
              <a:pPr/>
              <a:t>27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6629400" y="4876800"/>
            <a:ext cx="342900" cy="424428"/>
            <a:chOff x="6629400" y="4876800"/>
            <a:chExt cx="342900" cy="424428"/>
          </a:xfrm>
        </p:grpSpPr>
        <p:sp>
          <p:nvSpPr>
            <p:cNvPr id="42" name="Line 19"/>
            <p:cNvSpPr>
              <a:spLocks noChangeShapeType="1"/>
            </p:cNvSpPr>
            <p:nvPr/>
          </p:nvSpPr>
          <p:spPr bwMode="auto">
            <a:xfrm flipV="1">
              <a:off x="6705600" y="4876800"/>
              <a:ext cx="266700" cy="4244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21"/>
            <p:cNvSpPr>
              <a:spLocks noChangeShapeType="1"/>
            </p:cNvSpPr>
            <p:nvPr/>
          </p:nvSpPr>
          <p:spPr bwMode="auto">
            <a:xfrm>
              <a:off x="6629400" y="4920228"/>
              <a:ext cx="342900" cy="3375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191000" y="3606368"/>
            <a:ext cx="460528" cy="2498300"/>
            <a:chOff x="6613700" y="4876800"/>
            <a:chExt cx="533400" cy="424428"/>
          </a:xfrm>
        </p:grpSpPr>
        <p:sp>
          <p:nvSpPr>
            <p:cNvPr id="45" name="Line 19"/>
            <p:cNvSpPr>
              <a:spLocks noChangeShapeType="1"/>
            </p:cNvSpPr>
            <p:nvPr/>
          </p:nvSpPr>
          <p:spPr bwMode="auto">
            <a:xfrm flipV="1">
              <a:off x="6629400" y="4876800"/>
              <a:ext cx="419100" cy="4211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21"/>
            <p:cNvSpPr>
              <a:spLocks noChangeShapeType="1"/>
            </p:cNvSpPr>
            <p:nvPr/>
          </p:nvSpPr>
          <p:spPr bwMode="auto">
            <a:xfrm>
              <a:off x="6613700" y="4885504"/>
              <a:ext cx="533400" cy="4157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 rot="16200000">
            <a:off x="7108893" y="4672157"/>
            <a:ext cx="230265" cy="3687552"/>
            <a:chOff x="6613700" y="4876800"/>
            <a:chExt cx="533400" cy="424428"/>
          </a:xfrm>
        </p:grpSpPr>
        <p:sp>
          <p:nvSpPr>
            <p:cNvPr id="48" name="Line 19"/>
            <p:cNvSpPr>
              <a:spLocks noChangeShapeType="1"/>
            </p:cNvSpPr>
            <p:nvPr/>
          </p:nvSpPr>
          <p:spPr bwMode="auto">
            <a:xfrm flipV="1">
              <a:off x="6629400" y="4876800"/>
              <a:ext cx="419100" cy="4211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21"/>
            <p:cNvSpPr>
              <a:spLocks noChangeShapeType="1"/>
            </p:cNvSpPr>
            <p:nvPr/>
          </p:nvSpPr>
          <p:spPr bwMode="auto">
            <a:xfrm>
              <a:off x="6613700" y="4885504"/>
              <a:ext cx="533400" cy="4157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228600" y="3494544"/>
            <a:ext cx="8915400" cy="3268385"/>
            <a:chOff x="228600" y="3494544"/>
            <a:chExt cx="8915400" cy="3268385"/>
          </a:xfrm>
        </p:grpSpPr>
        <p:sp>
          <p:nvSpPr>
            <p:cNvPr id="51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30"/>
            <p:cNvSpPr>
              <a:spLocks/>
            </p:cNvSpPr>
            <p:nvPr/>
          </p:nvSpPr>
          <p:spPr bwMode="auto">
            <a:xfrm>
              <a:off x="5428668" y="41336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31"/>
            <p:cNvSpPr>
              <a:spLocks/>
            </p:cNvSpPr>
            <p:nvPr/>
          </p:nvSpPr>
          <p:spPr bwMode="auto">
            <a:xfrm flipH="1">
              <a:off x="6952668" y="41336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 Box 32"/>
            <p:cNvSpPr txBox="1">
              <a:spLocks noChangeArrowheads="1"/>
            </p:cNvSpPr>
            <p:nvPr/>
          </p:nvSpPr>
          <p:spPr bwMode="auto">
            <a:xfrm>
              <a:off x="4800600" y="44707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6" name="Text Box 35"/>
            <p:cNvSpPr txBox="1">
              <a:spLocks noChangeArrowheads="1"/>
            </p:cNvSpPr>
            <p:nvPr/>
          </p:nvSpPr>
          <p:spPr bwMode="auto">
            <a:xfrm>
              <a:off x="7537021" y="44781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57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2365528" y="3494544"/>
              <a:ext cx="2514600" cy="2677656"/>
              <a:chOff x="2971800" y="3018528"/>
              <a:chExt cx="2514600" cy="2677656"/>
            </a:xfrm>
          </p:grpSpPr>
          <p:sp>
            <p:nvSpPr>
              <p:cNvPr id="63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971800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  -0.01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  -0.03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  -0.04</a:t>
                </a:r>
              </a:p>
              <a:p>
                <a:pPr algn="ctr"/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  -0.05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0.65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-0.67</a:t>
                </a:r>
              </a:p>
              <a:p>
                <a:pPr algn="ctr"/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0.32</a:t>
                </a:r>
              </a:p>
            </p:txBody>
          </p:sp>
        </p:grpSp>
        <p:sp>
          <p:nvSpPr>
            <p:cNvPr id="61" name="Rectangle 60"/>
            <p:cNvSpPr/>
            <p:nvPr/>
          </p:nvSpPr>
          <p:spPr>
            <a:xfrm>
              <a:off x="5409618" y="4133671"/>
              <a:ext cx="19845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0       0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1.3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334000" y="5562600"/>
              <a:ext cx="3810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0.40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-0.80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0.40   0.09    0.09</a:t>
              </a:r>
            </a:p>
          </p:txBody>
        </p:sp>
      </p:grpSp>
      <p:sp>
        <p:nvSpPr>
          <p:cNvPr id="66" name="Text Box 21"/>
          <p:cNvSpPr txBox="1">
            <a:spLocks noChangeArrowheads="1"/>
          </p:cNvSpPr>
          <p:nvPr/>
        </p:nvSpPr>
        <p:spPr bwMode="auto">
          <a:xfrm>
            <a:off x="2096574" y="4355887"/>
            <a:ext cx="466794" cy="707886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sym typeface="Symbol"/>
              </a:rPr>
              <a:t>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39000" y="0"/>
            <a:ext cx="1905000" cy="16004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This is Rank 2 approximation to A. We could  also do Rank 1 approx.</a:t>
            </a:r>
          </a:p>
          <a:p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The larger the rank the more accurate the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106002045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Interpretation #2</a:t>
            </a:r>
          </a:p>
        </p:txBody>
      </p:sp>
      <p:sp>
        <p:nvSpPr>
          <p:cNvPr id="142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b="1" dirty="0">
                <a:solidFill>
                  <a:srgbClr val="0000FF"/>
                </a:solidFill>
              </a:rPr>
              <a:t>More details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Q:</a:t>
            </a:r>
            <a:r>
              <a:rPr lang="en-US" b="1" dirty="0"/>
              <a:t> How exactly is dim. reduction done?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8000"/>
                </a:solidFill>
              </a:rPr>
              <a:t>A: Set smallest singular values to zero</a:t>
            </a:r>
          </a:p>
          <a:p>
            <a:pPr marL="118872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FEB7-45B7-4865-8B6A-776BB49F2829}" type="slidenum">
              <a:rPr lang="en-US"/>
              <a:pPr/>
              <a:t>28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228600" y="3494544"/>
            <a:ext cx="8915400" cy="3202841"/>
            <a:chOff x="228600" y="3494544"/>
            <a:chExt cx="8915400" cy="3202841"/>
          </a:xfrm>
        </p:grpSpPr>
        <p:sp>
          <p:nvSpPr>
            <p:cNvPr id="25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2096574" y="4355887"/>
              <a:ext cx="466794" cy="707886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4000" b="1" dirty="0">
                  <a:solidFill>
                    <a:srgbClr val="FF0000"/>
                  </a:solidFill>
                  <a:sym typeface="Symbol"/>
                </a:rPr>
                <a:t>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Freeform 30"/>
            <p:cNvSpPr>
              <a:spLocks/>
            </p:cNvSpPr>
            <p:nvPr/>
          </p:nvSpPr>
          <p:spPr bwMode="auto">
            <a:xfrm>
              <a:off x="5428668" y="4133670"/>
              <a:ext cx="228600" cy="1200329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31"/>
            <p:cNvSpPr>
              <a:spLocks/>
            </p:cNvSpPr>
            <p:nvPr/>
          </p:nvSpPr>
          <p:spPr bwMode="auto">
            <a:xfrm flipH="1">
              <a:off x="6952668" y="4133670"/>
              <a:ext cx="228600" cy="120033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4800600" y="447076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31" name="Text Box 35"/>
            <p:cNvSpPr txBox="1">
              <a:spLocks noChangeArrowheads="1"/>
            </p:cNvSpPr>
            <p:nvPr/>
          </p:nvSpPr>
          <p:spPr bwMode="auto">
            <a:xfrm>
              <a:off x="7537021" y="4478122"/>
              <a:ext cx="399468" cy="584775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3200" b="1" dirty="0">
                  <a:solidFill>
                    <a:srgbClr val="008000"/>
                  </a:solidFill>
                </a:rPr>
                <a:t>x</a:t>
              </a: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auto">
            <a:xfrm>
              <a:off x="5330672" y="5648873"/>
              <a:ext cx="155728" cy="1037856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auto">
            <a:xfrm flipH="1">
              <a:off x="8915400" y="5590457"/>
              <a:ext cx="152400" cy="1106928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496312" y="3494544"/>
              <a:ext cx="2514600" cy="2677656"/>
              <a:chOff x="3102584" y="3018528"/>
              <a:chExt cx="2514600" cy="2677656"/>
            </a:xfrm>
          </p:grpSpPr>
          <p:sp>
            <p:nvSpPr>
              <p:cNvPr id="38" name="Freeform 19"/>
              <p:cNvSpPr>
                <a:spLocks/>
              </p:cNvSpPr>
              <p:nvPr/>
            </p:nvSpPr>
            <p:spPr bwMode="auto">
              <a:xfrm flipH="1">
                <a:off x="5181600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Freeform 20"/>
              <p:cNvSpPr>
                <a:spLocks/>
              </p:cNvSpPr>
              <p:nvPr/>
            </p:nvSpPr>
            <p:spPr bwMode="auto">
              <a:xfrm>
                <a:off x="3105912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3102584" y="3018528"/>
                <a:ext cx="2514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0.13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0.02</a:t>
                </a:r>
              </a:p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0.41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0.07</a:t>
                </a:r>
              </a:p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0.55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0.09</a:t>
                </a:r>
              </a:p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0.68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0.11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0.15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-0.59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-0.73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0.07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-0.29</a:t>
                </a:r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5409618" y="4133671"/>
              <a:ext cx="198452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12.4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0     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 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9.5  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334000" y="5562600"/>
              <a:ext cx="38100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0.56   0.59  0.56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0.09    0.09</a:t>
              </a:r>
            </a:p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0.12  -0.02  0.12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-0.69  -0.69</a:t>
              </a:r>
            </a:p>
          </p:txBody>
        </p:sp>
      </p:grpSp>
      <p:sp>
        <p:nvSpPr>
          <p:cNvPr id="42" name="Rectangle 41"/>
          <p:cNvSpPr/>
          <p:nvPr/>
        </p:nvSpPr>
        <p:spPr>
          <a:xfrm>
            <a:off x="7239000" y="0"/>
            <a:ext cx="1905000" cy="16004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This is Rank 2 approximation to A. We could  also do Rank 1 approx.</a:t>
            </a:r>
          </a:p>
          <a:p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The larger the rank the more accurate the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247119254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D61B-050E-CE7E-EFD5-31889CE4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A8979-2E4A-E47C-C763-D72BAD4C3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~ US</a:t>
            </a:r>
            <a:r>
              <a:rPr lang="en-US" dirty="0">
                <a:sym typeface="Wingdings" pitchFamily="2" charset="2"/>
              </a:rPr>
              <a:t>V</a:t>
            </a:r>
            <a:r>
              <a:rPr lang="en-US" baseline="30000" dirty="0">
                <a:sym typeface="Wingdings" pitchFamily="2" charset="2"/>
              </a:rPr>
              <a:t>T</a:t>
            </a:r>
          </a:p>
          <a:p>
            <a:r>
              <a:rPr lang="en-US" dirty="0">
                <a:sym typeface="Wingdings" pitchFamily="2" charset="2"/>
              </a:rPr>
              <a:t>Projection into 2-dim: AV</a:t>
            </a:r>
            <a:r>
              <a:rPr lang="en-US" baseline="30000" dirty="0">
                <a:sym typeface="Wingdings" pitchFamily="2" charset="2"/>
              </a:rPr>
              <a:t>T </a:t>
            </a:r>
            <a:r>
              <a:rPr lang="en-US" dirty="0">
                <a:sym typeface="Wingdings" pitchFamily="2" charset="2"/>
              </a:rPr>
              <a:t> 7*2</a:t>
            </a:r>
          </a:p>
          <a:p>
            <a:r>
              <a:rPr lang="en-US" dirty="0">
                <a:sym typeface="Wingdings" pitchFamily="2" charset="2"/>
              </a:rPr>
              <a:t>Or you can do: U</a:t>
            </a:r>
            <a:r>
              <a:rPr lang="en-US" baseline="30000" dirty="0">
                <a:sym typeface="Wingdings" pitchFamily="2" charset="2"/>
              </a:rPr>
              <a:t>T</a:t>
            </a:r>
            <a:r>
              <a:rPr lang="en-US" dirty="0">
                <a:sym typeface="Wingdings" pitchFamily="2" charset="2"/>
              </a:rPr>
              <a:t>A  2*5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5C32B-B692-D52B-8CA6-961BF69C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A867-4388-F7A3-3C9A-935F4CC4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561EF-5065-E6DF-F5D6-91212EA1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60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Interpretation #2</a:t>
            </a:r>
          </a:p>
        </p:txBody>
      </p:sp>
      <p:sp>
        <p:nvSpPr>
          <p:cNvPr id="142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b="1" dirty="0">
                <a:solidFill>
                  <a:srgbClr val="0000FF"/>
                </a:solidFill>
              </a:rPr>
              <a:t>More details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Q:</a:t>
            </a:r>
            <a:r>
              <a:rPr lang="en-US" b="1" dirty="0"/>
              <a:t> How exactly is dim. reduction done?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8000"/>
                </a:solidFill>
              </a:rPr>
              <a:t>A: Set smallest singular values to zero</a:t>
            </a:r>
          </a:p>
          <a:p>
            <a:pPr marL="118872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EFEB7-45B7-4865-8B6A-776BB49F2829}" type="slidenum">
              <a:rPr lang="en-US"/>
              <a:pPr/>
              <a:t>30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228600" y="2819400"/>
            <a:ext cx="7162800" cy="2677656"/>
            <a:chOff x="228600" y="3494544"/>
            <a:chExt cx="7162800" cy="2677656"/>
          </a:xfrm>
        </p:grpSpPr>
        <p:sp>
          <p:nvSpPr>
            <p:cNvPr id="25" name="Freeform 8"/>
            <p:cNvSpPr>
              <a:spLocks/>
            </p:cNvSpPr>
            <p:nvPr/>
          </p:nvSpPr>
          <p:spPr bwMode="auto">
            <a:xfrm>
              <a:off x="26517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auto">
            <a:xfrm flipH="1">
              <a:off x="1926336" y="3494544"/>
              <a:ext cx="228600" cy="2590800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12"/>
                </a:cxn>
                <a:cxn ang="0">
                  <a:pos x="0" y="2220"/>
                </a:cxn>
                <a:cxn ang="0">
                  <a:pos x="228" y="2220"/>
                </a:cxn>
              </a:cxnLst>
              <a:rect l="0" t="0" r="r" b="b"/>
              <a:pathLst>
                <a:path w="264" h="2220">
                  <a:moveTo>
                    <a:pt x="264" y="0"/>
                  </a:moveTo>
                  <a:lnTo>
                    <a:pt x="0" y="12"/>
                  </a:lnTo>
                  <a:lnTo>
                    <a:pt x="0" y="2220"/>
                  </a:lnTo>
                  <a:lnTo>
                    <a:pt x="228" y="22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2352606" y="4355887"/>
              <a:ext cx="466794" cy="707886"/>
            </a:xfrm>
            <a:prstGeom prst="rect">
              <a:avLst/>
            </a:prstGeom>
            <a:noFill/>
            <a:ln w="15875">
              <a:noFill/>
              <a:miter lim="800000"/>
              <a:headEnd type="none" w="sm" len="sm"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4000" b="1" dirty="0">
                  <a:solidFill>
                    <a:srgbClr val="FF0000"/>
                  </a:solidFill>
                  <a:sym typeface="Symbol"/>
                </a:rPr>
                <a:t>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8600" y="3494544"/>
              <a:ext cx="1984528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1   1   1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3   3   3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4   4   4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5   5   5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0   0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4   4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0   0   0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5   5</a:t>
              </a:r>
            </a:p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  0   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2   2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048000" y="3494544"/>
              <a:ext cx="4343400" cy="2677656"/>
              <a:chOff x="3654272" y="3018528"/>
              <a:chExt cx="4343400" cy="2677656"/>
            </a:xfrm>
          </p:grpSpPr>
          <p:sp>
            <p:nvSpPr>
              <p:cNvPr id="38" name="Freeform 19"/>
              <p:cNvSpPr>
                <a:spLocks/>
              </p:cNvSpPr>
              <p:nvPr/>
            </p:nvSpPr>
            <p:spPr bwMode="auto">
              <a:xfrm flipH="1">
                <a:off x="7311872" y="3055104"/>
                <a:ext cx="1524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Freeform 20"/>
              <p:cNvSpPr>
                <a:spLocks/>
              </p:cNvSpPr>
              <p:nvPr/>
            </p:nvSpPr>
            <p:spPr bwMode="auto">
              <a:xfrm>
                <a:off x="3657600" y="3044952"/>
                <a:ext cx="228600" cy="2590800"/>
              </a:xfrm>
              <a:custGeom>
                <a:avLst/>
                <a:gdLst/>
                <a:ahLst/>
                <a:cxnLst>
                  <a:cxn ang="0">
                    <a:pos x="264" y="0"/>
                  </a:cxn>
                  <a:cxn ang="0">
                    <a:pos x="0" y="12"/>
                  </a:cxn>
                  <a:cxn ang="0">
                    <a:pos x="0" y="2220"/>
                  </a:cxn>
                  <a:cxn ang="0">
                    <a:pos x="228" y="2220"/>
                  </a:cxn>
                </a:cxnLst>
                <a:rect l="0" t="0" r="r" b="b"/>
                <a:pathLst>
                  <a:path w="264" h="2220">
                    <a:moveTo>
                      <a:pt x="264" y="0"/>
                    </a:moveTo>
                    <a:lnTo>
                      <a:pt x="0" y="12"/>
                    </a:lnTo>
                    <a:lnTo>
                      <a:pt x="0" y="2220"/>
                    </a:lnTo>
                    <a:lnTo>
                      <a:pt x="228" y="22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3654272" y="3018528"/>
                <a:ext cx="43434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0.92  0.95   0.92  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0.01   0.01</a:t>
                </a:r>
              </a:p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2.91  3.01   2.91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-0.01  -0.01</a:t>
                </a:r>
              </a:p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3.90  4.04   3.90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0.01   0.01</a:t>
                </a:r>
              </a:p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4.82  5.00   4.82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0.03   0.03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0.70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0.53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0.70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4.11   4.11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-0.69  1.34  -0.69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4.78   4.78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0.32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0.23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0.32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2.01   2.01</a:t>
                </a: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693612" y="5675293"/>
            <a:ext cx="77191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</a:rPr>
              <a:t>Reconstruction Error is quantified by the </a:t>
            </a:r>
            <a:r>
              <a:rPr lang="en-US" sz="2400" b="1" dirty="0" err="1">
                <a:solidFill>
                  <a:srgbClr val="008000"/>
                </a:solidFill>
              </a:rPr>
              <a:t>Frobenius</a:t>
            </a:r>
            <a:r>
              <a:rPr lang="en-US" sz="2400" b="1" dirty="0">
                <a:solidFill>
                  <a:srgbClr val="008000"/>
                </a:solidFill>
              </a:rPr>
              <a:t> norm:</a:t>
            </a:r>
          </a:p>
          <a:p>
            <a:r>
              <a:rPr lang="en-US" sz="3200" dirty="0" err="1">
                <a:solidFill>
                  <a:srgbClr val="008000"/>
                </a:solidFill>
                <a:latin typeface="Times New Roman"/>
                <a:cs typeface="Times New Roman"/>
              </a:rPr>
              <a:t>ǁ</a:t>
            </a:r>
            <a:r>
              <a:rPr lang="en-US" sz="3200" dirty="0" err="1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dirty="0" err="1">
                <a:solidFill>
                  <a:srgbClr val="008000"/>
                </a:solidFill>
                <a:latin typeface="Times New Roman"/>
                <a:cs typeface="Times New Roman"/>
              </a:rPr>
              <a:t>ǁ</a:t>
            </a:r>
            <a:r>
              <a:rPr lang="en-US" sz="3200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F</a:t>
            </a:r>
            <a:r>
              <a:rPr lang="en-US" sz="3200" baseline="-2500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008000"/>
                </a:solidFill>
              </a:rPr>
              <a:t>= </a:t>
            </a:r>
            <a:r>
              <a:rPr lang="en-US" sz="3200" dirty="0">
                <a:solidFill>
                  <a:srgbClr val="008000"/>
                </a:solidFill>
                <a:sym typeface="Symbol"/>
              </a:rPr>
              <a:t></a:t>
            </a:r>
            <a:r>
              <a:rPr lang="el-GR" sz="3200" dirty="0">
                <a:solidFill>
                  <a:srgbClr val="008000"/>
                </a:solidFill>
                <a:latin typeface="Times New Roman"/>
                <a:cs typeface="Times New Roman"/>
              </a:rPr>
              <a:t>Σ</a:t>
            </a:r>
            <a:r>
              <a:rPr lang="en-US" sz="3200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ij</a:t>
            </a:r>
            <a:r>
              <a:rPr lang="en-US" sz="3200" dirty="0">
                <a:solidFill>
                  <a:srgbClr val="008000"/>
                </a:solidFill>
                <a:latin typeface="Times New Roman"/>
                <a:cs typeface="Times New Roman"/>
              </a:rPr>
              <a:t> M</a:t>
            </a:r>
            <a:r>
              <a:rPr lang="en-US" sz="3200" baseline="-25000" dirty="0">
                <a:solidFill>
                  <a:srgbClr val="008000"/>
                </a:solidFill>
                <a:latin typeface="Times New Roman"/>
                <a:cs typeface="Times New Roman"/>
              </a:rPr>
              <a:t>ij</a:t>
            </a:r>
            <a:r>
              <a:rPr lang="en-US" sz="3200" baseline="30000" dirty="0">
                <a:solidFill>
                  <a:srgbClr val="008000"/>
                </a:solidFill>
                <a:latin typeface="Times New Roman"/>
                <a:cs typeface="Times New Roman"/>
              </a:rPr>
              <a:t>2</a:t>
            </a:r>
            <a:endParaRPr lang="en-US" sz="3200" baseline="30000" dirty="0">
              <a:solidFill>
                <a:srgbClr val="008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715000" y="6056293"/>
            <a:ext cx="342914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8000"/>
                </a:solidFill>
                <a:latin typeface="Times New Roman"/>
                <a:cs typeface="Times New Roman"/>
              </a:rPr>
              <a:t>ǁ</a:t>
            </a:r>
            <a:r>
              <a:rPr lang="en-US" sz="2800" dirty="0" err="1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A-B</a:t>
            </a:r>
            <a:r>
              <a:rPr lang="en-US" sz="2800" dirty="0" err="1">
                <a:solidFill>
                  <a:srgbClr val="008000"/>
                </a:solidFill>
                <a:latin typeface="Times New Roman"/>
                <a:cs typeface="Times New Roman"/>
              </a:rPr>
              <a:t>ǁ</a:t>
            </a:r>
            <a:r>
              <a:rPr lang="en-US" sz="2800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F</a:t>
            </a:r>
            <a:r>
              <a:rPr lang="en-US" sz="2800" baseline="-2500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008000"/>
                </a:solidFill>
              </a:rPr>
              <a:t>= </a:t>
            </a:r>
            <a:r>
              <a:rPr lang="en-US" sz="2800" dirty="0">
                <a:solidFill>
                  <a:srgbClr val="008000"/>
                </a:solidFill>
                <a:sym typeface="Symbol"/>
              </a:rPr>
              <a:t> </a:t>
            </a:r>
            <a:r>
              <a:rPr lang="el-GR" sz="2800" dirty="0">
                <a:solidFill>
                  <a:srgbClr val="008000"/>
                </a:solidFill>
                <a:latin typeface="Times New Roman"/>
                <a:cs typeface="Times New Roman"/>
              </a:rPr>
              <a:t>Σ</a:t>
            </a:r>
            <a:r>
              <a:rPr lang="en-US" sz="2800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ij</a:t>
            </a:r>
            <a:r>
              <a:rPr lang="en-US" sz="2800" dirty="0">
                <a:solidFill>
                  <a:srgbClr val="008000"/>
                </a:solidFill>
                <a:latin typeface="Times New Roman"/>
                <a:cs typeface="Times New Roman"/>
              </a:rPr>
              <a:t> (</a:t>
            </a:r>
            <a:r>
              <a:rPr lang="en-US" sz="2800" dirty="0" err="1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lang="en-US" sz="2800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ij</a:t>
            </a:r>
            <a:r>
              <a:rPr lang="en-US" sz="2800" dirty="0" err="1">
                <a:solidFill>
                  <a:srgbClr val="008000"/>
                </a:solidFill>
                <a:latin typeface="Times New Roman"/>
                <a:cs typeface="Times New Roman"/>
              </a:rPr>
              <a:t>-B</a:t>
            </a:r>
            <a:r>
              <a:rPr lang="en-US" sz="2800" baseline="-25000" dirty="0" err="1">
                <a:solidFill>
                  <a:srgbClr val="008000"/>
                </a:solidFill>
                <a:latin typeface="Times New Roman"/>
                <a:cs typeface="Times New Roman"/>
              </a:rPr>
              <a:t>ij</a:t>
            </a:r>
            <a:r>
              <a:rPr lang="en-US" sz="2800" dirty="0">
                <a:solidFill>
                  <a:srgbClr val="008000"/>
                </a:solidFill>
                <a:latin typeface="Times New Roman"/>
                <a:cs typeface="Times New Roman"/>
              </a:rPr>
              <a:t>)</a:t>
            </a:r>
            <a:r>
              <a:rPr lang="en-US" sz="2800" baseline="30000" dirty="0">
                <a:solidFill>
                  <a:srgbClr val="008000"/>
                </a:solidFill>
                <a:latin typeface="Times New Roman"/>
                <a:cs typeface="Times New Roman"/>
              </a:rPr>
              <a:t>2</a:t>
            </a:r>
          </a:p>
          <a:p>
            <a:r>
              <a:rPr lang="en-US" sz="2800" baseline="30000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is “small”</a:t>
            </a:r>
            <a:endParaRPr lang="en-US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2111081" y="6096000"/>
            <a:ext cx="1010692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239000" y="6096000"/>
            <a:ext cx="1739079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239000" y="0"/>
            <a:ext cx="1905000" cy="16004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This is Rank 2 approximation to A. We could  also do Rank 1 approx.</a:t>
            </a:r>
          </a:p>
          <a:p>
            <a:r>
              <a:rPr lang="en-US" sz="1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The larger the rank the more accurate the approximation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C2A56-6843-3E48-9957-A6F0FDEF9E89}"/>
              </a:ext>
            </a:extLst>
          </p:cNvPr>
          <p:cNvSpPr txBox="1"/>
          <p:nvPr/>
        </p:nvSpPr>
        <p:spPr>
          <a:xfrm>
            <a:off x="7010400" y="3620869"/>
            <a:ext cx="1907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Reconstructed </a:t>
            </a:r>
            <a:b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data matrix B</a:t>
            </a:r>
          </a:p>
        </p:txBody>
      </p:sp>
    </p:spTree>
    <p:extLst>
      <p:ext uri="{BB962C8B-B14F-4D97-AF65-F5344CB8AC3E}">
        <p14:creationId xmlns:p14="http://schemas.microsoft.com/office/powerpoint/2010/main" val="407008661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5029200" y="6248400"/>
            <a:ext cx="28956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200400" y="4898136"/>
            <a:ext cx="381000" cy="1807464"/>
          </a:xfrm>
          <a:prstGeom prst="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038600" y="5281613"/>
            <a:ext cx="381000" cy="342900"/>
          </a:xfrm>
          <a:prstGeom prst="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419600" y="4938713"/>
            <a:ext cx="381000" cy="685800"/>
          </a:xfrm>
          <a:prstGeom prst="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Best Low Rank Approx.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DB9DAE-1A82-E849-93C4-4F681C45C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02393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D60093"/>
                </a:solidFill>
              </a:rPr>
              <a:t>Fact: SVD gives ‘best’ axis to project on:</a:t>
            </a:r>
          </a:p>
          <a:p>
            <a:pPr lvl="1"/>
            <a:r>
              <a:rPr lang="en-US" dirty="0"/>
              <a:t>‘</a:t>
            </a:r>
            <a:r>
              <a:rPr lang="en-US" b="1" dirty="0"/>
              <a:t>best</a:t>
            </a:r>
            <a:r>
              <a:rPr lang="en-US" dirty="0"/>
              <a:t>’ = minimizing the sum of reconstruction errors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2319338"/>
            <a:ext cx="1524000" cy="18288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2257425"/>
            <a:ext cx="762000" cy="18288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600" y="2319338"/>
            <a:ext cx="762000" cy="6858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Sigma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171825"/>
            <a:ext cx="2895600" cy="9144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3200" dirty="0"/>
              <a:t>V</a:t>
            </a:r>
            <a:r>
              <a:rPr lang="en-US" sz="3200" baseline="30000" dirty="0"/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9082" y="3048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" y="4833938"/>
            <a:ext cx="1524000" cy="18288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400" y="4876800"/>
            <a:ext cx="762000" cy="18288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38600" y="4938713"/>
            <a:ext cx="762000" cy="6858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Sigma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791200"/>
            <a:ext cx="2895600" cy="9144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3200" dirty="0"/>
              <a:t>V</a:t>
            </a:r>
            <a:r>
              <a:rPr lang="en-US" sz="3200" baseline="30000" dirty="0"/>
              <a:t>T</a:t>
            </a:r>
          </a:p>
        </p:txBody>
      </p:sp>
      <p:cxnSp>
        <p:nvCxnSpPr>
          <p:cNvPr id="18" name="Straight Connector 17"/>
          <p:cNvCxnSpPr>
            <a:stCxn id="14" idx="0"/>
            <a:endCxn id="14" idx="2"/>
          </p:cNvCxnSpPr>
          <p:nvPr/>
        </p:nvCxnSpPr>
        <p:spPr>
          <a:xfrm>
            <a:off x="3200400" y="4876800"/>
            <a:ext cx="0" cy="18288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6" idx="3"/>
            <a:endCxn id="16" idx="1"/>
          </p:cNvCxnSpPr>
          <p:nvPr/>
        </p:nvCxnSpPr>
        <p:spPr>
          <a:xfrm flipH="1">
            <a:off x="5029200" y="6248400"/>
            <a:ext cx="28956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5" idx="0"/>
          </p:cNvCxnSpPr>
          <p:nvPr/>
        </p:nvCxnSpPr>
        <p:spPr>
          <a:xfrm>
            <a:off x="4419600" y="4938713"/>
            <a:ext cx="0" cy="3429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1"/>
          </p:cNvCxnSpPr>
          <p:nvPr/>
        </p:nvCxnSpPr>
        <p:spPr>
          <a:xfrm>
            <a:off x="4038600" y="5281613"/>
            <a:ext cx="381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11823" y="562451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4224338"/>
            <a:ext cx="5264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 is best approximation of 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AA52C36-14C0-D44A-A1FE-9855D2A77223}"/>
                  </a:ext>
                </a:extLst>
              </p:cNvPr>
              <p:cNvSpPr/>
              <p:nvPr/>
            </p:nvSpPr>
            <p:spPr>
              <a:xfrm>
                <a:off x="5898753" y="2137301"/>
                <a:ext cx="3245247" cy="91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AA52C36-14C0-D44A-A1FE-9855D2A772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753" y="2137301"/>
                <a:ext cx="3245247" cy="910699"/>
              </a:xfrm>
              <a:prstGeom prst="rect">
                <a:avLst/>
              </a:prstGeom>
              <a:blipFill>
                <a:blip r:embed="rId2"/>
                <a:stretch>
                  <a:fillRect t="-94444" b="-1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694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Conclusions so 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589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295400"/>
                <a:ext cx="8229600" cy="556260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b="1" dirty="0">
                    <a:solidFill>
                      <a:schemeClr val="accent3"/>
                    </a:solidFill>
                  </a:rPr>
                  <a:t>SVD:</a:t>
                </a:r>
                <a:r>
                  <a:rPr lang="en-US" dirty="0"/>
                  <a:t> </a:t>
                </a:r>
                <a:r>
                  <a:rPr lang="en-US" b="1" dirty="0"/>
                  <a:t>A= U </a:t>
                </a:r>
                <a:r>
                  <a:rPr lang="en-US" b="1" dirty="0">
                    <a:latin typeface="Symbol" pitchFamily="18" charset="2"/>
                    <a:sym typeface="Symbol"/>
                  </a:rPr>
                  <a:t></a:t>
                </a:r>
                <a:r>
                  <a:rPr lang="en-US" b="1" dirty="0"/>
                  <a:t> V</a:t>
                </a:r>
                <a:r>
                  <a:rPr lang="en-US" baseline="30000" dirty="0"/>
                  <a:t>T</a:t>
                </a:r>
                <a:r>
                  <a:rPr lang="en-US" dirty="0"/>
                  <a:t>: </a:t>
                </a:r>
                <a:r>
                  <a:rPr lang="en-US" b="1" dirty="0">
                    <a:solidFill>
                      <a:srgbClr val="0000FF"/>
                    </a:solidFill>
                  </a:rPr>
                  <a:t>unique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b="1" dirty="0"/>
                  <a:t>U</a:t>
                </a:r>
                <a:r>
                  <a:rPr lang="en-US" dirty="0"/>
                  <a:t>: user-to-concept factors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b="1" dirty="0"/>
                  <a:t>V</a:t>
                </a:r>
                <a:r>
                  <a:rPr lang="en-US" dirty="0"/>
                  <a:t>: movie-to-concept factors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b="1" dirty="0">
                    <a:latin typeface="Symbol" pitchFamily="18" charset="2"/>
                    <a:sym typeface="Symbol"/>
                  </a:rPr>
                  <a:t> </a:t>
                </a:r>
                <a:r>
                  <a:rPr lang="en-US" dirty="0"/>
                  <a:t>: strength of each concept</a:t>
                </a:r>
              </a:p>
              <a:p>
                <a:pPr lvl="8">
                  <a:lnSpc>
                    <a:spcPct val="90000"/>
                  </a:lnSpc>
                </a:pPr>
                <a:endParaRPr lang="en-US" dirty="0"/>
              </a:p>
              <a:p>
                <a:r>
                  <a:rPr lang="en-US" b="1" dirty="0">
                    <a:solidFill>
                      <a:srgbClr val="D60093"/>
                    </a:solidFill>
                  </a:rPr>
                  <a:t>Q: </a:t>
                </a:r>
                <a:r>
                  <a:rPr lang="en-US" b="1" dirty="0"/>
                  <a:t>So what’s a good value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/>
                  <a:t>(# of latent factors)?</a:t>
                </a:r>
                <a:endParaRPr lang="en-US" b="1" dirty="0"/>
              </a:p>
              <a:p>
                <a:r>
                  <a:rPr lang="en-US" dirty="0"/>
                  <a:t>Let the </a:t>
                </a:r>
                <a:r>
                  <a:rPr lang="en-US" i="1" dirty="0">
                    <a:solidFill>
                      <a:srgbClr val="FF0000"/>
                    </a:solidFill>
                  </a:rPr>
                  <a:t>energy</a:t>
                </a:r>
                <a:r>
                  <a:rPr lang="en-US" dirty="0"/>
                  <a:t> of a set of singular values be the sum of their squares.</a:t>
                </a:r>
              </a:p>
              <a:p>
                <a:r>
                  <a:rPr lang="en-US" dirty="0"/>
                  <a:t>Pick r so the retained singular values have at least 90% of the total energy.</a:t>
                </a:r>
              </a:p>
              <a:p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b="1" dirty="0">
                    <a:solidFill>
                      <a:srgbClr val="0000FF"/>
                    </a:solidFill>
                  </a:rPr>
                  <a:t>Back to our example:</a:t>
                </a:r>
              </a:p>
              <a:p>
                <a:pPr lvl="1"/>
                <a:r>
                  <a:rPr lang="en-US" dirty="0"/>
                  <a:t>With singular values 12.4, 9.5, and 1.3, total energy = 245.7  </a:t>
                </a:r>
              </a:p>
              <a:p>
                <a:pPr lvl="1"/>
                <a:r>
                  <a:rPr lang="en-US" dirty="0"/>
                  <a:t>If we drop 1.3, whose square is only 1.7, we are left with energy 244, or over 99% of the total</a:t>
                </a:r>
                <a:endParaRPr lang="en-US" b="1" dirty="0">
                  <a:solidFill>
                    <a:srgbClr val="D60093"/>
                  </a:solidFill>
                </a:endParaRPr>
              </a:p>
            </p:txBody>
          </p:sp>
        </mc:Choice>
        <mc:Fallback xmlns="">
          <p:sp>
            <p:nvSpPr>
              <p:cNvPr id="1445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562600"/>
              </a:xfrm>
              <a:blipFill>
                <a:blip r:embed="rId2"/>
                <a:stretch>
                  <a:fillRect t="-1822" r="-2160" b="-1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96CA-9847-47E0-8922-F42289D54C99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3363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61768E-594F-D246-A112-F445D1F51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Compute SVD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6F66A50-038E-A64F-8261-25174B7E6C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30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D72F-4127-0356-33E9-2451B181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92DC5-D7BC-9822-11AD-7DDFB0303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is symmetric </a:t>
            </a:r>
            <a:r>
              <a:rPr lang="en-US" dirty="0">
                <a:sym typeface="Wingdings" pitchFamily="2" charset="2"/>
              </a:rPr>
              <a:t> SVD : A= USU</a:t>
            </a:r>
            <a:r>
              <a:rPr lang="en-US" baseline="30000" dirty="0">
                <a:sym typeface="Wingdings" pitchFamily="2" charset="2"/>
              </a:rPr>
              <a:t>T</a:t>
            </a:r>
          </a:p>
          <a:p>
            <a:r>
              <a:rPr lang="en-US" dirty="0">
                <a:sym typeface="Wingdings" pitchFamily="2" charset="2"/>
              </a:rPr>
              <a:t>Eigen Decomposition = SVD for symmetric matrices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A= USU</a:t>
            </a:r>
            <a:r>
              <a:rPr lang="en-US" baseline="30000" dirty="0">
                <a:sym typeface="Wingdings" pitchFamily="2" charset="2"/>
              </a:rPr>
              <a:t>T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AU =  USU</a:t>
            </a:r>
            <a:r>
              <a:rPr lang="en-US" baseline="30000" dirty="0">
                <a:solidFill>
                  <a:srgbClr val="FF0000"/>
                </a:solidFill>
                <a:sym typeface="Wingdings" pitchFamily="2" charset="2"/>
              </a:rPr>
              <a:t>T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U = US </a:t>
            </a:r>
            <a:r>
              <a:rPr lang="en-US" dirty="0">
                <a:sym typeface="Wingdings" pitchFamily="2" charset="2"/>
              </a:rPr>
              <a:t>--&gt; U</a:t>
            </a:r>
            <a:r>
              <a:rPr lang="en-US" baseline="30000" dirty="0">
                <a:sym typeface="Wingdings" pitchFamily="2" charset="2"/>
              </a:rPr>
              <a:t>T</a:t>
            </a:r>
            <a:r>
              <a:rPr lang="en-US" dirty="0">
                <a:sym typeface="Wingdings" pitchFamily="2" charset="2"/>
              </a:rPr>
              <a:t>AU =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U</a:t>
            </a:r>
            <a:r>
              <a:rPr lang="en-US" baseline="30000" dirty="0">
                <a:solidFill>
                  <a:srgbClr val="FF0000"/>
                </a:solidFill>
                <a:sym typeface="Wingdings" pitchFamily="2" charset="2"/>
              </a:rPr>
              <a:t>T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US = S</a:t>
            </a:r>
          </a:p>
          <a:p>
            <a:r>
              <a:rPr lang="en-US" dirty="0">
                <a:sym typeface="Wingdings" pitchFamily="2" charset="2"/>
              </a:rPr>
              <a:t> U</a:t>
            </a:r>
            <a:r>
              <a:rPr lang="en-US" baseline="30000" dirty="0">
                <a:sym typeface="Wingdings" pitchFamily="2" charset="2"/>
              </a:rPr>
              <a:t>T</a:t>
            </a:r>
            <a:r>
              <a:rPr lang="en-US" dirty="0">
                <a:sym typeface="Wingdings" pitchFamily="2" charset="2"/>
              </a:rPr>
              <a:t>AU = S  eigen values</a:t>
            </a:r>
            <a:endParaRPr lang="en-US" baseline="30000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E13BE-6C63-0028-3D44-B7AA1F7E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90D6E-E651-EB0C-9BF4-446099BC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F7336-0D0A-4EC4-DE68-46B65EDA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21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</a:t>
            </a:r>
            <a:r>
              <a:rPr lang="en-US" dirty="0" err="1"/>
              <a:t>Eigenpairs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915400" cy="5562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How do we actually compute SVD?</a:t>
                </a:r>
              </a:p>
              <a:p>
                <a:pPr lvl="7"/>
                <a:endParaRPr lang="en-US" b="1" dirty="0"/>
              </a:p>
              <a:p>
                <a:r>
                  <a:rPr lang="en-US" dirty="0"/>
                  <a:t>First we need a method for finding the </a:t>
                </a:r>
                <a:r>
                  <a:rPr lang="en-US" b="1" dirty="0">
                    <a:solidFill>
                      <a:srgbClr val="0000FF"/>
                    </a:solidFill>
                  </a:rPr>
                  <a:t>principal eigenvalue</a:t>
                </a:r>
                <a:r>
                  <a:rPr lang="en-US" dirty="0"/>
                  <a:t> (the largest one) and the corresponding </a:t>
                </a:r>
                <a:r>
                  <a:rPr lang="en-US" b="1" dirty="0">
                    <a:solidFill>
                      <a:srgbClr val="0000FF"/>
                    </a:solidFill>
                  </a:rPr>
                  <a:t>eigenvector</a:t>
                </a:r>
                <a:r>
                  <a:rPr lang="en-US" dirty="0"/>
                  <a:t> of a symmetric matrix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FF0000"/>
                    </a:solidFill>
                  </a:rPr>
                  <a:t>symmetric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𝑗𝑖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Method:</a:t>
                </a:r>
              </a:p>
              <a:p>
                <a:pPr lvl="1"/>
                <a:r>
                  <a:rPr lang="en-US" dirty="0"/>
                  <a:t>Start with any “guess eigenvector”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baseline="-25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/>
                  <a:t>Construct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dirty="0"/>
                  <a:t>  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0, 1,…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||…||</m:t>
                    </m:r>
                  </m:oMath>
                </a14:m>
                <a:r>
                  <a:rPr lang="en-US" dirty="0"/>
                  <a:t> denotes the </a:t>
                </a:r>
                <a:r>
                  <a:rPr lang="en-US" dirty="0" err="1"/>
                  <a:t>Frobenius</a:t>
                </a:r>
                <a:r>
                  <a:rPr lang="en-US" dirty="0"/>
                  <a:t> norm</a:t>
                </a:r>
              </a:p>
              <a:p>
                <a:pPr lvl="1"/>
                <a:r>
                  <a:rPr lang="en-US" dirty="0"/>
                  <a:t>Stop when consecutive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baseline="-25000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show little change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915400" cy="5562600"/>
              </a:xfrm>
              <a:blipFill>
                <a:blip r:embed="rId2"/>
                <a:stretch>
                  <a:fillRect t="-1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604FE-262E-A142-BDDA-5706410A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E848A-22B6-504B-84D1-6EBA6E68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3876015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Example</a:t>
            </a:r>
            <a:r>
              <a:rPr lang="en-US" dirty="0"/>
              <a:t>: Iterative Eigenvector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1676400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0349" y="1491733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lai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0227" y="1676400"/>
            <a:ext cx="73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29000" y="1491733"/>
            <a:ext cx="356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73335" y="2743200"/>
            <a:ext cx="4964896" cy="957311"/>
            <a:chOff x="773335" y="2743200"/>
            <a:chExt cx="4964896" cy="957311"/>
          </a:xfrm>
        </p:grpSpPr>
        <p:grpSp>
          <p:nvGrpSpPr>
            <p:cNvPr id="19" name="Group 18"/>
            <p:cNvGrpSpPr/>
            <p:nvPr/>
          </p:nvGrpSpPr>
          <p:grpSpPr>
            <a:xfrm>
              <a:off x="773335" y="2743200"/>
              <a:ext cx="1047082" cy="957311"/>
              <a:chOff x="773335" y="2743200"/>
              <a:chExt cx="1047082" cy="957311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914400" y="2743200"/>
                <a:ext cx="726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914399" y="3238268"/>
                <a:ext cx="655949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773335" y="3238846"/>
                <a:ext cx="10470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||M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||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1807126" y="3008013"/>
              <a:ext cx="4491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14301" y="2823347"/>
              <a:ext cx="3561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2648016" y="3008013"/>
              <a:ext cx="780983" cy="461665"/>
              <a:chOff x="2760227" y="3238846"/>
              <a:chExt cx="780983" cy="461665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2760227" y="3238846"/>
                <a:ext cx="7809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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34</a:t>
                </a:r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3094613" y="3259723"/>
                <a:ext cx="334387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/>
            <p:cNvSpPr txBox="1"/>
            <p:nvPr/>
          </p:nvSpPr>
          <p:spPr>
            <a:xfrm>
              <a:off x="3521348" y="3008013"/>
              <a:ext cx="4491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9727" y="2822769"/>
              <a:ext cx="7841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0.51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0.86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00600" y="3008013"/>
              <a:ext cx="4491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68231" y="3007434"/>
              <a:ext cx="4700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87172" y="4385968"/>
            <a:ext cx="5427547" cy="957311"/>
            <a:chOff x="773335" y="2743200"/>
            <a:chExt cx="5427547" cy="957311"/>
          </a:xfrm>
        </p:grpSpPr>
        <p:grpSp>
          <p:nvGrpSpPr>
            <p:cNvPr id="26" name="Group 25"/>
            <p:cNvGrpSpPr/>
            <p:nvPr/>
          </p:nvGrpSpPr>
          <p:grpSpPr>
            <a:xfrm>
              <a:off x="773335" y="2743200"/>
              <a:ext cx="1047082" cy="957311"/>
              <a:chOff x="773335" y="2743200"/>
              <a:chExt cx="1047082" cy="957311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914400" y="2743200"/>
                <a:ext cx="726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" name="Straight Connector 36"/>
              <p:cNvCxnSpPr/>
              <p:nvPr/>
            </p:nvCxnSpPr>
            <p:spPr>
              <a:xfrm>
                <a:off x="914399" y="3238268"/>
                <a:ext cx="655949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773335" y="3238846"/>
                <a:ext cx="10470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||M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||</a:t>
                </a: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1807126" y="3008013"/>
              <a:ext cx="4491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14301" y="2823347"/>
              <a:ext cx="7841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2.23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3.60</a:t>
              </a: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2940782" y="3008013"/>
              <a:ext cx="1208985" cy="461665"/>
              <a:chOff x="3052993" y="3238846"/>
              <a:chExt cx="1208985" cy="461665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3052993" y="3238846"/>
                <a:ext cx="1208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17.93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5" name="Straight Connector 34"/>
              <p:cNvCxnSpPr/>
              <p:nvPr/>
            </p:nvCxnSpPr>
            <p:spPr>
              <a:xfrm flipV="1">
                <a:off x="3385335" y="3276741"/>
                <a:ext cx="564563" cy="1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/>
            <p:cNvSpPr txBox="1"/>
            <p:nvPr/>
          </p:nvSpPr>
          <p:spPr>
            <a:xfrm>
              <a:off x="4157411" y="3007434"/>
              <a:ext cx="4491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54054" y="2822769"/>
              <a:ext cx="7841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0.53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0.85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94544" y="3008013"/>
              <a:ext cx="4491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30882" y="2968202"/>
              <a:ext cx="4700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66B0190-141E-2943-9EE2-A192A3F6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AE3B48-7648-C948-BDA5-BDEFCF94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F372622B-75B3-9941-8ECB-C1638CBAB8E7}"/>
              </a:ext>
            </a:extLst>
          </p:cNvPr>
          <p:cNvSpPr/>
          <p:nvPr/>
        </p:nvSpPr>
        <p:spPr>
          <a:xfrm>
            <a:off x="1554718" y="1491733"/>
            <a:ext cx="883176" cy="830997"/>
          </a:xfrm>
          <a:prstGeom prst="bracketPair">
            <a:avLst>
              <a:gd name="adj" fmla="val 11755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ouble Bracket 38">
            <a:extLst>
              <a:ext uri="{FF2B5EF4-FFF2-40B4-BE49-F238E27FC236}">
                <a16:creationId xmlns:a16="http://schemas.microsoft.com/office/drawing/2014/main" id="{400A8396-F423-A344-A090-6F16E0A4B98C}"/>
              </a:ext>
            </a:extLst>
          </p:cNvPr>
          <p:cNvSpPr/>
          <p:nvPr/>
        </p:nvSpPr>
        <p:spPr>
          <a:xfrm>
            <a:off x="2133600" y="2826603"/>
            <a:ext cx="495947" cy="830997"/>
          </a:xfrm>
          <a:prstGeom prst="bracketPair">
            <a:avLst>
              <a:gd name="adj" fmla="val 11755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ouble Bracket 39">
            <a:extLst>
              <a:ext uri="{FF2B5EF4-FFF2-40B4-BE49-F238E27FC236}">
                <a16:creationId xmlns:a16="http://schemas.microsoft.com/office/drawing/2014/main" id="{C29CC86C-48E6-4441-9CCE-57980B551724}"/>
              </a:ext>
            </a:extLst>
          </p:cNvPr>
          <p:cNvSpPr/>
          <p:nvPr/>
        </p:nvSpPr>
        <p:spPr>
          <a:xfrm>
            <a:off x="3923653" y="2819400"/>
            <a:ext cx="722374" cy="830997"/>
          </a:xfrm>
          <a:prstGeom prst="bracketPair">
            <a:avLst>
              <a:gd name="adj" fmla="val 11755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uble Bracket 40">
            <a:extLst>
              <a:ext uri="{FF2B5EF4-FFF2-40B4-BE49-F238E27FC236}">
                <a16:creationId xmlns:a16="http://schemas.microsoft.com/office/drawing/2014/main" id="{EA8A5ECD-2E4C-BD42-9571-153BC02DA080}"/>
              </a:ext>
            </a:extLst>
          </p:cNvPr>
          <p:cNvSpPr/>
          <p:nvPr/>
        </p:nvSpPr>
        <p:spPr>
          <a:xfrm>
            <a:off x="2095261" y="4462859"/>
            <a:ext cx="759358" cy="830997"/>
          </a:xfrm>
          <a:prstGeom prst="bracketPair">
            <a:avLst>
              <a:gd name="adj" fmla="val 11755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uble Bracket 41">
            <a:extLst>
              <a:ext uri="{FF2B5EF4-FFF2-40B4-BE49-F238E27FC236}">
                <a16:creationId xmlns:a16="http://schemas.microsoft.com/office/drawing/2014/main" id="{969BA76A-2FF0-204C-99A7-BA231D2257D4}"/>
              </a:ext>
            </a:extLst>
          </p:cNvPr>
          <p:cNvSpPr/>
          <p:nvPr/>
        </p:nvSpPr>
        <p:spPr>
          <a:xfrm>
            <a:off x="4387051" y="4462859"/>
            <a:ext cx="759358" cy="830997"/>
          </a:xfrm>
          <a:prstGeom prst="bracketPair">
            <a:avLst>
              <a:gd name="adj" fmla="val 11755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29423C-3FC7-2142-9594-F2AD6810E3E6}"/>
              </a:ext>
            </a:extLst>
          </p:cNvPr>
          <p:cNvSpPr txBox="1"/>
          <p:nvPr/>
        </p:nvSpPr>
        <p:spPr>
          <a:xfrm>
            <a:off x="753137" y="617117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379010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Principal Eigenvalue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610600" cy="5257801"/>
              </a:xfrm>
            </p:spPr>
            <p:txBody>
              <a:bodyPr/>
              <a:lstStyle/>
              <a:p>
                <a:r>
                  <a:rPr lang="en-US" dirty="0"/>
                  <a:t>Once you have the principal eigenvector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, you find its eigenvalue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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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1" i="1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baseline="30000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1" i="1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In proof</a:t>
                </a:r>
                <a:r>
                  <a:rPr lang="en-US" dirty="0"/>
                  <a:t>: We know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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1" i="1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</m:t>
                    </m:r>
                  </m:oMath>
                </a14:m>
                <a:r>
                  <a:rPr lang="en-US" dirty="0">
                    <a:sym typeface="Symbol"/>
                  </a:rPr>
                  <a:t> is the eigenvalue; multiply both sides 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baseline="30000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ym typeface="Symbol"/>
                  </a:rPr>
                  <a:t> on the left.</a:t>
                </a:r>
              </a:p>
              <a:p>
                <a:pPr lvl="1"/>
                <a:r>
                  <a:rPr lang="en-US" dirty="0">
                    <a:sym typeface="Symbol"/>
                  </a:rPr>
                  <a:t>Since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baseline="3000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1" i="1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 1 </m:t>
                    </m:r>
                  </m:oMath>
                </a14:m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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1" i="1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baseline="3000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1" i="1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/>
              </a:p>
              <a:p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b="1" dirty="0">
                    <a:solidFill>
                      <a:srgbClr val="D60093"/>
                    </a:solidFill>
                  </a:rPr>
                  <a:t>Example:</a:t>
                </a:r>
                <a:r>
                  <a:rPr lang="en-US" dirty="0"/>
                  <a:t> If we take </a:t>
                </a:r>
                <a:r>
                  <a:rPr lang="en-US" b="1" dirty="0" err="1"/>
                  <a:t>x</a:t>
                </a:r>
                <a:r>
                  <a:rPr lang="en-US" baseline="30000" dirty="0" err="1"/>
                  <a:t>T</a:t>
                </a:r>
                <a:r>
                  <a:rPr lang="en-US" dirty="0"/>
                  <a:t> = [0.53, 0.85], then </a:t>
                </a:r>
              </a:p>
              <a:p>
                <a:endParaRPr lang="en-US" dirty="0">
                  <a:sym typeface="Symbol"/>
                </a:endParaRPr>
              </a:p>
              <a:p>
                <a:pPr marL="118872" indent="0">
                  <a:buNone/>
                </a:pPr>
                <a:r>
                  <a:rPr lang="en-US" dirty="0">
                    <a:sym typeface="Symbol"/>
                  </a:rPr>
                  <a:t>	 </a:t>
                </a:r>
                <a:r>
                  <a:rPr lang="en-US" dirty="0"/>
                  <a:t>=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610600" cy="5257801"/>
              </a:xfrm>
              <a:blipFill>
                <a:blip r:embed="rId2"/>
                <a:stretch>
                  <a:fillRect t="-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38846" y="5038607"/>
            <a:ext cx="4267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040" y="5048013"/>
            <a:ext cx="4267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[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335054" y="5029200"/>
            <a:ext cx="1256450" cy="1021934"/>
            <a:chOff x="3337560" y="4066398"/>
            <a:chExt cx="1256450" cy="1021934"/>
          </a:xfrm>
        </p:grpSpPr>
        <p:sp>
          <p:nvSpPr>
            <p:cNvPr id="11" name="TextBox 10"/>
            <p:cNvSpPr txBox="1"/>
            <p:nvPr/>
          </p:nvSpPr>
          <p:spPr>
            <a:xfrm>
              <a:off x="3337560" y="4066398"/>
              <a:ext cx="4267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[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67290" y="4072669"/>
              <a:ext cx="4267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]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969381" y="5134076"/>
            <a:ext cx="4667012" cy="837268"/>
            <a:chOff x="1989214" y="4158733"/>
            <a:chExt cx="4667012" cy="837268"/>
          </a:xfrm>
        </p:grpSpPr>
        <p:sp>
          <p:nvSpPr>
            <p:cNvPr id="6" name="TextBox 5"/>
            <p:cNvSpPr txBox="1"/>
            <p:nvPr/>
          </p:nvSpPr>
          <p:spPr>
            <a:xfrm>
              <a:off x="1989214" y="4340264"/>
              <a:ext cx="15138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[0.53 0.85]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81400" y="4158733"/>
              <a:ext cx="8034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AutoNum type="arabicPlain"/>
              </a:pPr>
              <a:r>
                <a:rPr lang="en-US" sz="2400" dirty="0"/>
                <a:t>2</a:t>
              </a:r>
            </a:p>
            <a:p>
              <a:r>
                <a:rPr lang="en-US" sz="2400" dirty="0"/>
                <a:t>2     3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40749" y="4165004"/>
              <a:ext cx="7312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0.53</a:t>
              </a:r>
            </a:p>
            <a:p>
              <a:r>
                <a:rPr lang="en-US" sz="2400" dirty="0"/>
                <a:t>0.85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17571" y="4349669"/>
              <a:ext cx="9386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= 4.25</a:t>
              </a: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2BCAA-F754-E44E-93A4-EDF6E4C8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5E3C1-6EB8-0741-A6BD-21CCCDAB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1404520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More </a:t>
            </a:r>
            <a:r>
              <a:rPr lang="en-US" dirty="0" err="1"/>
              <a:t>Eigenpairs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534400" cy="5257801"/>
              </a:xfrm>
            </p:spPr>
            <p:txBody>
              <a:bodyPr/>
              <a:lstStyle/>
              <a:p>
                <a:r>
                  <a:rPr lang="en-US" dirty="0"/>
                  <a:t>Eliminate the portion of the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that can be generated by the first </a:t>
                </a:r>
                <a:r>
                  <a:rPr lang="en-US" dirty="0" err="1"/>
                  <a:t>eigenpair</a:t>
                </a:r>
                <a:r>
                  <a:rPr lang="en-US" dirty="0"/>
                  <a:t>, </a:t>
                </a:r>
                <a:r>
                  <a:rPr lang="en-US" dirty="0">
                    <a:sym typeface="Symbol"/>
                  </a:rPr>
                  <a:t>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11887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:= </m:t>
                      </m:r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r>
                        <a:rPr lang="en-US" i="1" dirty="0" err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30000" dirty="0" err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Recursively find the principal</a:t>
                </a:r>
                <a:r>
                  <a:rPr lang="en-US" b="1" dirty="0"/>
                  <a:t> </a:t>
                </a:r>
                <a:r>
                  <a:rPr lang="en-US" dirty="0" err="1"/>
                  <a:t>eigenpair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eliminate the effect of that pair, and so on</a:t>
                </a:r>
              </a:p>
              <a:p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b="1" dirty="0">
                    <a:solidFill>
                      <a:srgbClr val="D60093"/>
                    </a:solidFill>
                  </a:rPr>
                  <a:t>Example: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534400" cy="5257801"/>
              </a:xfrm>
              <a:blipFill>
                <a:blip r:embed="rId2"/>
                <a:stretch>
                  <a:fillRect t="-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5167735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M* =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61858" y="4887600"/>
            <a:ext cx="1256450" cy="1021934"/>
            <a:chOff x="3337560" y="4066398"/>
            <a:chExt cx="1256450" cy="1021934"/>
          </a:xfrm>
        </p:grpSpPr>
        <p:sp>
          <p:nvSpPr>
            <p:cNvPr id="8" name="TextBox 7"/>
            <p:cNvSpPr txBox="1"/>
            <p:nvPr/>
          </p:nvSpPr>
          <p:spPr>
            <a:xfrm>
              <a:off x="3337560" y="4066398"/>
              <a:ext cx="4267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[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67290" y="4072669"/>
              <a:ext cx="4267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]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857999" y="4979932"/>
            <a:ext cx="1449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-0.19 0.09</a:t>
            </a:r>
          </a:p>
          <a:p>
            <a:r>
              <a:rPr lang="en-US" sz="2400" dirty="0"/>
              <a:t>0.09  0.07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4200" y="5170868"/>
            <a:ext cx="99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– 4.25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884656" y="4893871"/>
            <a:ext cx="1256450" cy="1021934"/>
            <a:chOff x="3337560" y="4066398"/>
            <a:chExt cx="1256450" cy="1021934"/>
          </a:xfrm>
        </p:grpSpPr>
        <p:sp>
          <p:nvSpPr>
            <p:cNvPr id="13" name="TextBox 12"/>
            <p:cNvSpPr txBox="1"/>
            <p:nvPr/>
          </p:nvSpPr>
          <p:spPr>
            <a:xfrm>
              <a:off x="3337560" y="4066398"/>
              <a:ext cx="4267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[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67290" y="4072669"/>
              <a:ext cx="4267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]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140023" y="4986203"/>
            <a:ext cx="7312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0.53</a:t>
            </a:r>
          </a:p>
          <a:p>
            <a:r>
              <a:rPr lang="en-US" sz="2400" dirty="0"/>
              <a:t>0.85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535" y="5167735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[0.53 0.85]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218" y="4983068"/>
            <a:ext cx="8034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lain"/>
            </a:pPr>
            <a:r>
              <a:rPr lang="en-US" sz="2400" dirty="0"/>
              <a:t>2</a:t>
            </a:r>
          </a:p>
          <a:p>
            <a:r>
              <a:rPr lang="en-US" sz="2400" dirty="0"/>
              <a:t>2     3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7427" y="5177140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639" y="4887598"/>
            <a:ext cx="4267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[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5293" y="4876800"/>
            <a:ext cx="4267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]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74EC04-0C4F-764E-A0B3-9E3555D8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A5CBA17E-3B4D-0549-B5D1-5B0E14779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2018406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Compute the SVD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534400" cy="556260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Start by supposing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 (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𝑇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𝑈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𝑇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𝑈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sym typeface="Symbol"/>
                </a:endParaRPr>
              </a:p>
              <a:p>
                <a:pPr lvl="1"/>
                <a:r>
                  <a:rPr lang="en-US" b="1" dirty="0">
                    <a:solidFill>
                      <a:srgbClr val="00B050"/>
                    </a:solidFill>
                    <a:sym typeface="Symbol"/>
                  </a:rPr>
                  <a:t>Why?</a:t>
                </a:r>
                <a:r>
                  <a:rPr lang="en-US" dirty="0">
                    <a:sym typeface="Symbol"/>
                  </a:rPr>
                  <a:t> (1) Rule for transpose of a product; (2) the transpose of the transpose and the transpose of a diagonal matrix are both the identity functions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𝑨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𝑻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𝑨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𝑼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𝑻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00B050"/>
                    </a:solidFill>
                  </a:rPr>
                  <a:t>Why?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is orthonormal,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is an identity matrix</a:t>
                </a:r>
              </a:p>
              <a:p>
                <a:pPr lvl="1"/>
                <a:r>
                  <a:rPr lang="en-US" dirty="0"/>
                  <a:t>Also 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2</m:t>
                    </m:r>
                  </m:oMath>
                </a14:m>
                <a:r>
                  <a:rPr lang="en-US" dirty="0"/>
                  <a:t> is a diagonal matrix whose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-th</a:t>
                </a:r>
                <a:r>
                  <a:rPr lang="en-US" dirty="0"/>
                  <a:t> element is the square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-th</a:t>
                </a:r>
                <a:r>
                  <a:rPr lang="en-US" dirty="0"/>
                  <a:t>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𝑨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𝑻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𝑨𝑽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</m:oMath>
                </a14:m>
                <a:endParaRPr lang="en-US" dirty="0">
                  <a:solidFill>
                    <a:srgbClr val="0000FF"/>
                  </a:solidFill>
                  <a:sym typeface="Symbol"/>
                </a:endParaRPr>
              </a:p>
              <a:p>
                <a:pPr lvl="1"/>
                <a:r>
                  <a:rPr lang="en-US" b="1" dirty="0">
                    <a:solidFill>
                      <a:srgbClr val="00B050"/>
                    </a:solidFill>
                    <a:sym typeface="Symbol"/>
                  </a:rPr>
                  <a:t>Why?</a:t>
                </a:r>
                <a:r>
                  <a:rPr lang="en-US" dirty="0"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en-US" dirty="0">
                    <a:sym typeface="Symbol"/>
                  </a:rPr>
                  <a:t> is also orthonormal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534400" cy="5562600"/>
              </a:xfrm>
              <a:blipFill>
                <a:blip r:embed="rId2"/>
                <a:stretch>
                  <a:fillRect t="-456" r="-149" b="-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43AFB-CACF-B242-AE43-205E9A62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76188-288C-1F48-AB15-A4BCBC6B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1218935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SVD –(2)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686800" cy="55626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𝑨</m:t>
                    </m:r>
                    <m:r>
                      <a:rPr lang="en-US" b="1" i="1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𝑻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𝑨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→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𝑨𝑻𝑨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𝑽</m:t>
                    </m:r>
                    <m:r>
                      <a:rPr lang="en-US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b="1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𝟐</m:t>
                    </m:r>
                  </m:oMath>
                </a14:m>
                <a:r>
                  <a:rPr lang="en-US" dirty="0">
                    <a:sym typeface="Symbol"/>
                  </a:rPr>
                  <a:t> </a:t>
                </a:r>
              </a:p>
              <a:p>
                <a:pPr lvl="1"/>
                <a:r>
                  <a:rPr lang="en-US" b="1" dirty="0">
                    <a:sym typeface="Symbol"/>
                  </a:rPr>
                  <a:t>Note</a:t>
                </a:r>
                <a:r>
                  <a:rPr lang="en-US" dirty="0">
                    <a:sym typeface="Symbol"/>
                  </a:rPr>
                  <a:t> that therefore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</m:oMath>
                </a14:m>
                <a:r>
                  <a:rPr lang="en-US" dirty="0" err="1">
                    <a:sym typeface="Symbol"/>
                  </a:rPr>
                  <a:t>-th</a:t>
                </a:r>
                <a:r>
                  <a:rPr lang="en-US" dirty="0">
                    <a:sym typeface="Symbol"/>
                  </a:rPr>
                  <a:t> column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en-US" dirty="0">
                    <a:sym typeface="Symbol"/>
                  </a:rPr>
                  <a:t> is an eigenvector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𝑇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</m:oMath>
                </a14:m>
                <a:r>
                  <a:rPr lang="en-US" dirty="0">
                    <a:sym typeface="Symbol"/>
                  </a:rPr>
                  <a:t>, and its eigenvalue is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</m:oMath>
                </a14:m>
                <a:r>
                  <a:rPr lang="en-US" dirty="0" err="1">
                    <a:sym typeface="Symbol"/>
                  </a:rPr>
                  <a:t>-th</a:t>
                </a:r>
                <a:r>
                  <a:rPr lang="en-US" dirty="0">
                    <a:sym typeface="Symbol"/>
                  </a:rPr>
                  <a:t>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</m:t>
                    </m:r>
                    <m:r>
                      <a:rPr lang="en-US" i="1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2</m:t>
                    </m:r>
                  </m:oMath>
                </a14:m>
                <a:endParaRPr lang="en-US" dirty="0">
                  <a:sym typeface="Symbol"/>
                </a:endParaRPr>
              </a:p>
              <a:p>
                <a:r>
                  <a:rPr lang="en-US" dirty="0">
                    <a:sym typeface="Symbol"/>
                  </a:rPr>
                  <a:t>Thus, we can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en-US" dirty="0">
                    <a:sym typeface="Symbol"/>
                  </a:rPr>
                  <a:t> and </a:t>
                </a:r>
                <a:r>
                  <a:rPr lang="en-US" dirty="0">
                    <a:solidFill>
                      <a:srgbClr val="0000FF"/>
                    </a:solidFill>
                    <a:sym typeface="Symbol"/>
                  </a:rPr>
                  <a:t></a:t>
                </a:r>
                <a:r>
                  <a:rPr lang="en-US" dirty="0">
                    <a:sym typeface="Symbol"/>
                  </a:rPr>
                  <a:t> by finding the </a:t>
                </a:r>
                <a:r>
                  <a:rPr lang="en-US" dirty="0" err="1">
                    <a:sym typeface="Symbol"/>
                  </a:rPr>
                  <a:t>eigenpairs</a:t>
                </a:r>
                <a:r>
                  <a:rPr lang="en-US" dirty="0">
                    <a:sym typeface="Symbol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b="0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𝑇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</m:oMath>
                </a14:m>
                <a:endParaRPr lang="en-US" dirty="0">
                  <a:sym typeface="Symbol"/>
                </a:endParaRPr>
              </a:p>
              <a:p>
                <a:pPr lvl="1"/>
                <a:r>
                  <a:rPr lang="en-US" dirty="0">
                    <a:sym typeface="Symbol"/>
                  </a:rPr>
                  <a:t>Once we have the eigenvalues in </a:t>
                </a:r>
                <a:r>
                  <a:rPr lang="en-US" dirty="0">
                    <a:solidFill>
                      <a:srgbClr val="0000FF"/>
                    </a:solidFill>
                    <a:sym typeface="Symbol"/>
                  </a:rPr>
                  <a:t></a:t>
                </a:r>
                <a:r>
                  <a:rPr lang="en-US" baseline="30000" dirty="0">
                    <a:solidFill>
                      <a:srgbClr val="0000FF"/>
                    </a:solidFill>
                    <a:sym typeface="Symbol"/>
                  </a:rPr>
                  <a:t>2</a:t>
                </a:r>
                <a:r>
                  <a:rPr lang="en-US" dirty="0">
                    <a:sym typeface="Symbol"/>
                  </a:rPr>
                  <a:t>, we can find the singular values by taking the square root of these eigenvalues</a:t>
                </a:r>
              </a:p>
              <a:p>
                <a:pPr lvl="4"/>
                <a:endParaRPr lang="en-US" dirty="0">
                  <a:sym typeface="Symbol"/>
                </a:endParaRPr>
              </a:p>
              <a:p>
                <a:r>
                  <a:rPr lang="en-US" dirty="0">
                    <a:sym typeface="Symbol"/>
                  </a:rPr>
                  <a:t>Symmetric argument,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𝐴𝐴</m:t>
                    </m:r>
                    <m:r>
                      <a:rPr lang="en-US" i="1" baseline="300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𝑇</m:t>
                    </m:r>
                  </m:oMath>
                </a14:m>
                <a:r>
                  <a:rPr lang="en-US" dirty="0">
                    <a:sym typeface="Symbol"/>
                  </a:rPr>
                  <a:t>gives us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𝑈</m:t>
                    </m:r>
                  </m:oMath>
                </a14:m>
                <a:endParaRPr lang="en-US" dirty="0">
                  <a:solidFill>
                    <a:srgbClr val="0000FF"/>
                  </a:solidFill>
                  <a:sym typeface="Symbol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686800" cy="5562600"/>
              </a:xfrm>
              <a:blipFill>
                <a:blip r:embed="rId2"/>
                <a:stretch>
                  <a:fillRect t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BD1FB-604D-D04D-8DE5-093D7686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37A53-5945-C24A-93FA-FDBDF304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33986352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– Complexity</a:t>
            </a:r>
          </a:p>
        </p:txBody>
      </p:sp>
      <p:sp>
        <p:nvSpPr>
          <p:cNvPr id="13803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00FF"/>
                </a:solidFill>
              </a:rPr>
              <a:t>To compute the full SVD using specialized methods: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O(nm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  <a:r>
              <a:rPr lang="en-US" dirty="0"/>
              <a:t> or </a:t>
            </a:r>
            <a:r>
              <a:rPr lang="en-US" b="1" dirty="0"/>
              <a:t>O(n</a:t>
            </a:r>
            <a:r>
              <a:rPr lang="en-US" b="1" baseline="30000" dirty="0"/>
              <a:t>2</a:t>
            </a:r>
            <a:r>
              <a:rPr lang="en-US" b="1" dirty="0"/>
              <a:t>m)</a:t>
            </a:r>
            <a:r>
              <a:rPr lang="en-US" dirty="0"/>
              <a:t> (whichever is less)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00FF"/>
                </a:solidFill>
              </a:rPr>
              <a:t>But: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Less work, if we just want singular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or if we want the first </a:t>
            </a:r>
            <a:r>
              <a:rPr lang="en-US" i="1" dirty="0"/>
              <a:t>k</a:t>
            </a:r>
            <a:r>
              <a:rPr lang="en-US" dirty="0"/>
              <a:t> singular vectors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or if the matrix is sparse</a:t>
            </a:r>
          </a:p>
          <a:p>
            <a:pPr lvl="8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D60093"/>
                </a:solidFill>
              </a:rPr>
              <a:t>Implemented in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linear algebra packages like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LINPACK, </a:t>
            </a:r>
            <a:r>
              <a:rPr lang="en-US" dirty="0" err="1"/>
              <a:t>Matlab</a:t>
            </a:r>
            <a:r>
              <a:rPr lang="en-US" dirty="0"/>
              <a:t>, </a:t>
            </a:r>
            <a:r>
              <a:rPr lang="en-US" dirty="0" err="1"/>
              <a:t>SPlus</a:t>
            </a:r>
            <a:r>
              <a:rPr lang="en-US" dirty="0"/>
              <a:t>, </a:t>
            </a:r>
            <a:r>
              <a:rPr lang="en-US" dirty="0" err="1"/>
              <a:t>Mathematica</a:t>
            </a:r>
            <a:r>
              <a:rPr lang="en-US" dirty="0"/>
              <a:t> 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Jure Leskovec &amp; Mina Ghashami, Stanford CS246: Mining Massive Datasets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BF01-E894-45CF-9BD9-03DE398C1E7A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4314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usepackage[usenames]{color}&#10;\pagestyle{empty}&#10;\begin{document}&#10;&#10;\color[rgb]{0,0,0}&#10;$\mathbf{X} \approx \mathbf{U} \mathbf{\Sigma} \mathbf{V}^T = \sum_i \sigma_i \mathbf{u}_i \circ\mathbf{v}_i$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46"/>
  <p:tag name="PICTUREFILESIZE" val="1156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usepackage[usenames]{color}&#10;\pagestyle{empty}&#10;\begin{document}&#10;&#10;\color[rgb]{0,0,0}&#10;$\mathbf{X} \approx \mathbf{U} \mathbf{\Sigma} \mathbf{V}^T = \sum_i \sigma_i \mathbf{u}_i \circ\mathbf{v}_i$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46"/>
  <p:tag name="PICTUREFILESIZE" val="1156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38358</TotalTime>
  <Words>3965</Words>
  <Application>Microsoft Macintosh PowerPoint</Application>
  <PresentationFormat>On-screen Show (4:3)</PresentationFormat>
  <Paragraphs>832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Calibri</vt:lpstr>
      <vt:lpstr>Cambria Math</vt:lpstr>
      <vt:lpstr>Comic Sans MS</vt:lpstr>
      <vt:lpstr>Corbel</vt:lpstr>
      <vt:lpstr>Sylfaen</vt:lpstr>
      <vt:lpstr>Symbol</vt:lpstr>
      <vt:lpstr>Times New Roman</vt:lpstr>
      <vt:lpstr>Wingdings</vt:lpstr>
      <vt:lpstr>Wingdings 2</vt:lpstr>
      <vt:lpstr>Module</vt:lpstr>
      <vt:lpstr>Dimensionality Reduction: SVD</vt:lpstr>
      <vt:lpstr>Reducing  Matrix Dimension</vt:lpstr>
      <vt:lpstr>Dimensionality Reduction</vt:lpstr>
      <vt:lpstr>Dimensionality Reduction</vt:lpstr>
      <vt:lpstr>SVD: Singular Value Decomposition</vt:lpstr>
      <vt:lpstr>Reducing Matrix Dimension</vt:lpstr>
      <vt:lpstr>SVD – Definition</vt:lpstr>
      <vt:lpstr>SVD</vt:lpstr>
      <vt:lpstr>SVD – Properties</vt:lpstr>
      <vt:lpstr>SVD – Example: Users-to-Movies</vt:lpstr>
      <vt:lpstr>SVD – Example: Users-to-Movies</vt:lpstr>
      <vt:lpstr>SVD – Example: Users-to-Movies</vt:lpstr>
      <vt:lpstr>SVD – Example: Users-to-Movies</vt:lpstr>
      <vt:lpstr>SVD – Example: Users-to-Movies</vt:lpstr>
      <vt:lpstr>SVD – Example: Users-to-Movies</vt:lpstr>
      <vt:lpstr>SVD – Interpretation #1</vt:lpstr>
      <vt:lpstr>Dimensionality Reduction  with SVD</vt:lpstr>
      <vt:lpstr>SVD – Dimensionality Reduction</vt:lpstr>
      <vt:lpstr>SVD – Dimensionality Reduction</vt:lpstr>
      <vt:lpstr>SVD – Dimensionality Reduction</vt:lpstr>
      <vt:lpstr>SVD – Dimensionality Reduction</vt:lpstr>
      <vt:lpstr>PowerPoint Presentation</vt:lpstr>
      <vt:lpstr>PowerPoint Presentation</vt:lpstr>
      <vt:lpstr>SVD – Interpretation #2</vt:lpstr>
      <vt:lpstr>SVD – Interpretation #2</vt:lpstr>
      <vt:lpstr>SVD – Interpretation #2</vt:lpstr>
      <vt:lpstr>SVD – Interpretation #2</vt:lpstr>
      <vt:lpstr>SVD – Interpretation #2</vt:lpstr>
      <vt:lpstr>PowerPoint Presentation</vt:lpstr>
      <vt:lpstr>SVD – Interpretation #2</vt:lpstr>
      <vt:lpstr>SVD – Best Low Rank Approx.</vt:lpstr>
      <vt:lpstr>SVD – Conclusions so far</vt:lpstr>
      <vt:lpstr>How to Compute SVD</vt:lpstr>
      <vt:lpstr>PowerPoint Presentation</vt:lpstr>
      <vt:lpstr>Finding Eigenpairs</vt:lpstr>
      <vt:lpstr>Example: Iterative Eigenvector</vt:lpstr>
      <vt:lpstr>Finding the Principal Eigenvalue</vt:lpstr>
      <vt:lpstr>Finding More Eigenpairs</vt:lpstr>
      <vt:lpstr>How to Compute the SVD</vt:lpstr>
      <vt:lpstr>Computing the SVD –(2)</vt:lpstr>
      <vt:lpstr>SVD – Complexity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Microsoft Office User</cp:lastModifiedBy>
  <cp:revision>1452</cp:revision>
  <cp:lastPrinted>2018-01-26T00:17:21Z</cp:lastPrinted>
  <dcterms:created xsi:type="dcterms:W3CDTF">2009-06-12T17:14:38Z</dcterms:created>
  <dcterms:modified xsi:type="dcterms:W3CDTF">2024-10-29T22:34:30Z</dcterms:modified>
</cp:coreProperties>
</file>