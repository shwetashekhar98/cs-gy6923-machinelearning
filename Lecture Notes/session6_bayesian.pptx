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73" r:id="rId3"/>
    <p:sldId id="355" r:id="rId4"/>
    <p:sldId id="356" r:id="rId5"/>
    <p:sldId id="360" r:id="rId6"/>
    <p:sldId id="361" r:id="rId7"/>
    <p:sldId id="362" r:id="rId8"/>
    <p:sldId id="363" r:id="rId9"/>
    <p:sldId id="364" r:id="rId10"/>
    <p:sldId id="365" r:id="rId11"/>
    <p:sldId id="366" r:id="rId12"/>
    <p:sldId id="367" r:id="rId13"/>
    <p:sldId id="374" r:id="rId14"/>
    <p:sldId id="259" r:id="rId15"/>
    <p:sldId id="260" r:id="rId16"/>
    <p:sldId id="345" r:id="rId17"/>
    <p:sldId id="346" r:id="rId18"/>
    <p:sldId id="347" r:id="rId19"/>
    <p:sldId id="348" r:id="rId20"/>
    <p:sldId id="349" r:id="rId21"/>
    <p:sldId id="350" r:id="rId22"/>
    <p:sldId id="351" r:id="rId23"/>
    <p:sldId id="375" r:id="rId24"/>
    <p:sldId id="353" r:id="rId25"/>
    <p:sldId id="258" r:id="rId26"/>
    <p:sldId id="257" r:id="rId27"/>
    <p:sldId id="263" r:id="rId28"/>
    <p:sldId id="264" r:id="rId29"/>
    <p:sldId id="265" r:id="rId30"/>
    <p:sldId id="266" r:id="rId31"/>
    <p:sldId id="268" r:id="rId32"/>
    <p:sldId id="269" r:id="rId33"/>
    <p:sldId id="377" r:id="rId34"/>
    <p:sldId id="376" r:id="rId35"/>
    <p:sldId id="343" r:id="rId36"/>
    <p:sldId id="270" r:id="rId37"/>
    <p:sldId id="271" r:id="rId38"/>
    <p:sldId id="272" r:id="rId39"/>
    <p:sldId id="273" r:id="rId40"/>
    <p:sldId id="274" r:id="rId41"/>
    <p:sldId id="275" r:id="rId42"/>
    <p:sldId id="276" r:id="rId43"/>
    <p:sldId id="277" r:id="rId44"/>
    <p:sldId id="278" r:id="rId45"/>
    <p:sldId id="279" r:id="rId46"/>
    <p:sldId id="280" r:id="rId47"/>
    <p:sldId id="281" r:id="rId48"/>
    <p:sldId id="282" r:id="rId49"/>
    <p:sldId id="283" r:id="rId50"/>
    <p:sldId id="284" r:id="rId51"/>
    <p:sldId id="285" r:id="rId52"/>
    <p:sldId id="372" r:id="rId53"/>
    <p:sldId id="286" r:id="rId54"/>
    <p:sldId id="287" r:id="rId55"/>
    <p:sldId id="288" r:id="rId56"/>
    <p:sldId id="378" r:id="rId57"/>
    <p:sldId id="289" r:id="rId58"/>
    <p:sldId id="290" r:id="rId59"/>
    <p:sldId id="291" r:id="rId60"/>
    <p:sldId id="370" r:id="rId61"/>
    <p:sldId id="371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89"/>
    <p:restoredTop sz="94645"/>
  </p:normalViewPr>
  <p:slideViewPr>
    <p:cSldViewPr snapToGrid="0">
      <p:cViewPr varScale="1">
        <p:scale>
          <a:sx n="143" d="100"/>
          <a:sy n="143" d="100"/>
        </p:scale>
        <p:origin x="12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16C39-0612-B2B9-C4EB-09EBD9DA5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BE7E7-2171-C40A-B482-7F7F681E77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CC03D-4E41-B393-808D-483D291A5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53555-5863-BA49-B757-146501DE3BB3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F57A3-0823-1152-8022-34D947260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114FE-7A4F-8783-3CC0-B162A4F05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1118-9632-DA4E-8EC8-E4F57490D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307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E60AD-3045-A87E-B263-5786E9913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87942-5866-D76D-90C9-CAABA1F7D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4164E-2AFC-9BA1-FEBD-24DDACE65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53555-5863-BA49-B757-146501DE3BB3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216C9-A24E-9190-DA58-86CAFE01E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0ED4D-8650-5B05-618E-3EDE484B1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1118-9632-DA4E-8EC8-E4F57490D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489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F49ED-C3F8-7317-AF17-CF2CDC0C0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AA382-E74A-549A-818B-95B92BE67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1817F-FAE3-540D-15C7-AE54FC9B7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53555-5863-BA49-B757-146501DE3BB3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70737-CB56-E6F5-0062-C5B4D9D56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3732C-AE13-BE09-A2BD-ACCEB1662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1118-9632-DA4E-8EC8-E4F57490D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19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0C48A-F8D4-2EDC-5578-97E319C84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0E1BB-2B94-EE0C-BE17-74F6265AD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29AFE-0A20-49E4-22BA-66896EE4F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EBD9C-5C5F-BD31-E59B-B9A4487F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53555-5863-BA49-B757-146501DE3BB3}" type="datetimeFigureOut">
              <a:rPr lang="en-US" smtClean="0"/>
              <a:t>10/4/24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6D6A4B-4A90-8B4E-46EA-2CC722DF3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C057D-A9FF-828D-0D87-9CBD5283D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1118-9632-DA4E-8EC8-E4F57490D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0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88EA-EBC4-AED6-6541-C85395C82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DFDE8-1C54-1A04-5AD1-FA0A58FD4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DB1BC-A2BD-2D9E-3BAD-EB14D3535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D895D-E4FF-FD9E-A763-4BD58D4AA0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60DA20-9958-FF52-8DB4-2E0A043F0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288699-8168-66EE-D694-0D513416C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53555-5863-BA49-B757-146501DE3BB3}" type="datetimeFigureOut">
              <a:rPr lang="en-US" smtClean="0"/>
              <a:t>10/4/24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096FE-E6CE-6B08-084C-BC2FF8C9B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516ADA-3C95-EDC1-48FA-6A0478CCD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1118-9632-DA4E-8EC8-E4F57490D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98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EF7B1-01C1-33FB-D5D0-E0525FC0E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FB66BA-65AB-78A3-8CF7-A3ED4584A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53555-5863-BA49-B757-146501DE3BB3}" type="datetimeFigureOut">
              <a:rPr lang="en-US" smtClean="0"/>
              <a:t>10/4/24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9C538B-626C-2D99-A780-B4E4D26CF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CEB5BB-B775-E0AC-F398-B869D710D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1118-9632-DA4E-8EC8-E4F57490D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83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800978-A6A9-F837-BC0E-A5B893C04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53555-5863-BA49-B757-146501DE3BB3}" type="datetimeFigureOut">
              <a:rPr lang="en-US" smtClean="0"/>
              <a:t>10/4/24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52392C-25FF-5544-0EB0-5158D9A9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B1635-5BB5-C7ED-1E6E-B097140AD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1118-9632-DA4E-8EC8-E4F57490D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26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168CC-C4F9-00EB-E500-97013CDE5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C1FA5-E275-940C-7771-54E112CDE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1D204-8320-EF29-416F-7432C0BAF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624AC-6805-B18B-A971-8F268F16E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53555-5863-BA49-B757-146501DE3BB3}" type="datetimeFigureOut">
              <a:rPr lang="en-US" smtClean="0"/>
              <a:t>10/4/24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70F88-B272-7E19-3832-0AA5AB5B6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453D0-D6C2-EB67-0F83-4410460FD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1118-9632-DA4E-8EC8-E4F57490D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316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E6005-5E47-A720-C6E5-032D7A187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9FE27E-D07D-E4A8-501B-64C68A0B9E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FE342F-55E8-506D-E286-514CE29A6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BD89A-95A2-59B3-EAE6-36DD25548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53555-5863-BA49-B757-146501DE3BB3}" type="datetimeFigureOut">
              <a:rPr lang="en-US" smtClean="0"/>
              <a:t>10/4/24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46117-AAAA-D104-1168-50B769688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69C75-F071-668A-EB7A-8F9FA4C7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1118-9632-DA4E-8EC8-E4F57490D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685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F7D45-659C-3E23-89F4-AC09254DB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C26845-0F4F-CDBA-8086-E95421A4D1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7F8D2-75F9-7167-8561-64CCF3E0E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53555-5863-BA49-B757-146501DE3BB3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6D0CA-BF33-29D2-F804-F98002A3F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3921F-F29A-0080-D271-1844CD8DA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1118-9632-DA4E-8EC8-E4F57490D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949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32E8D1-2042-C270-8F56-C345CAB648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E6FB16-52F8-195D-6FFA-51A7546E2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C5641-C52D-A81C-053E-07FD5EF79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53555-5863-BA49-B757-146501DE3BB3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C2CA1-4271-A29F-F361-E9509DE62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8CDC6-77D6-0518-4078-DBBD93E7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1118-9632-DA4E-8EC8-E4F57490D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91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FE6AA7-B190-A671-1AE0-2A1C49BFF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6F9C5-3EDD-9DA0-3AA2-F8400AD77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2F55B-11D1-F7CB-E52A-FD0173F95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53555-5863-BA49-B757-146501DE3BB3}" type="datetimeFigureOut">
              <a:rPr lang="en-US" smtClean="0"/>
              <a:t>10/4/24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E8C39-DDFD-BCC7-C4BD-3B35B4F07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27147-9B58-9554-407C-8853499BEE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61118-9632-DA4E-8EC8-E4F57490D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89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svivek.com/teaching/lectures/slides/prob-learning/bayes-optimal-classifier.pdf" TargetMode="External"/><Relationship Id="rId2" Type="http://schemas.openxmlformats.org/officeDocument/2006/relationships/hyperlink" Target="https://svivek.com/teaching/lectures/slides/prob-learning/probabilistic-learning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vivek.com/teaching/lectures/slides/naive-bayes/naive-baye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D6970-CBCB-37D2-B3B3-32A69C0335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630B4-C6F9-74E0-59A0-81EAF7068F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2024</a:t>
            </a:r>
          </a:p>
        </p:txBody>
      </p:sp>
    </p:spTree>
    <p:extLst>
      <p:ext uri="{BB962C8B-B14F-4D97-AF65-F5344CB8AC3E}">
        <p14:creationId xmlns:p14="http://schemas.microsoft.com/office/powerpoint/2010/main" val="494636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223BC-BF57-3557-16DA-45AE6F129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37260-E2CE-83A3-24E7-C423DB07C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Bayesian Learning</a:t>
            </a:r>
          </a:p>
          <a:p>
            <a:pPr lvl="1"/>
            <a:r>
              <a:rPr lang="en-US" dirty="0"/>
              <a:t>a probabilistic approach to machine learning that relies on </a:t>
            </a:r>
            <a:r>
              <a:rPr lang="en-US" b="1" dirty="0"/>
              <a:t>Bayes' theorem</a:t>
            </a:r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r>
              <a:rPr lang="en-US" dirty="0"/>
              <a:t>Naive Bayes</a:t>
            </a:r>
          </a:p>
          <a:p>
            <a:pPr lvl="1"/>
            <a:r>
              <a:rPr lang="en-US" dirty="0"/>
              <a:t>a classification algorithm that applies Bayes' theorem with the </a:t>
            </a:r>
            <a:r>
              <a:rPr lang="en-US" b="1" dirty="0"/>
              <a:t>naive assumption</a:t>
            </a:r>
            <a:r>
              <a:rPr lang="en-US" dirty="0"/>
              <a:t> that features are conditionally independent given the class</a:t>
            </a:r>
          </a:p>
        </p:txBody>
      </p:sp>
    </p:spTree>
    <p:extLst>
      <p:ext uri="{BB962C8B-B14F-4D97-AF65-F5344CB8AC3E}">
        <p14:creationId xmlns:p14="http://schemas.microsoft.com/office/powerpoint/2010/main" val="3926638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555C8-5A7E-F0D8-5D56-F1EF34818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487BC-0182-C0AA-6D3E-92730592F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0232EF-1F3F-2B35-E93F-B262C7826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772400" cy="435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70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90FE-E7CE-57A9-2907-50B83576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FB897-FC55-074C-C8F1-A124F7522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Bayesian Learning: </a:t>
            </a:r>
          </a:p>
          <a:p>
            <a:pPr lvl="1"/>
            <a:r>
              <a:rPr lang="en-US" dirty="0"/>
              <a:t>Use of a </a:t>
            </a:r>
            <a:r>
              <a:rPr lang="en-US" dirty="0">
                <a:solidFill>
                  <a:srgbClr val="FF0000"/>
                </a:solidFill>
              </a:rPr>
              <a:t>probabilistic criterion </a:t>
            </a:r>
            <a:r>
              <a:rPr lang="en-US" dirty="0"/>
              <a:t>in selecting a hypothesis </a:t>
            </a:r>
          </a:p>
          <a:p>
            <a:pPr lvl="1"/>
            <a:r>
              <a:rPr lang="en-US" dirty="0"/>
              <a:t>The hypothesis can be deterministic, a Boolean function (e.g. </a:t>
            </a:r>
            <a:r>
              <a:rPr lang="en-US" dirty="0" err="1"/>
              <a:t>W</a:t>
            </a:r>
            <a:r>
              <a:rPr lang="en-US" baseline="30000" dirty="0" err="1"/>
              <a:t>T</a:t>
            </a:r>
            <a:r>
              <a:rPr lang="en-US" dirty="0" err="1"/>
              <a:t>x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The criterion for selecting the hypothesis is probabilistic</a:t>
            </a:r>
          </a:p>
        </p:txBody>
      </p:sp>
    </p:spTree>
    <p:extLst>
      <p:ext uri="{BB962C8B-B14F-4D97-AF65-F5344CB8AC3E}">
        <p14:creationId xmlns:p14="http://schemas.microsoft.com/office/powerpoint/2010/main" val="1577353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90FE-E7CE-57A9-2907-50B83576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FB897-FC55-074C-C8F1-A124F7522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152B9A-8489-3AB6-07AB-866B779DF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9091"/>
            <a:ext cx="8506522" cy="582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096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90FE-E7CE-57A9-2907-50B83576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FB897-FC55-074C-C8F1-A124F7522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94F616F-4D0B-6121-C9B9-34D3760640C3}"/>
              </a:ext>
            </a:extLst>
          </p:cNvPr>
          <p:cNvGrpSpPr/>
          <p:nvPr/>
        </p:nvGrpSpPr>
        <p:grpSpPr>
          <a:xfrm>
            <a:off x="726687" y="352772"/>
            <a:ext cx="7859751" cy="5824191"/>
            <a:chOff x="726687" y="352772"/>
            <a:chExt cx="7859751" cy="582419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5C538D8-8297-EF01-9B05-3DC065FCE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6687" y="352772"/>
              <a:ext cx="7859751" cy="582419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5FEE3B3-AE99-62E9-4CF2-4F7034455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93308" y="5726770"/>
              <a:ext cx="419100" cy="355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2583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90FE-E7CE-57A9-2907-50B83576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FB897-FC55-074C-C8F1-A124F7522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73F0A5-211A-4F05-1F86-D19E0DE56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4154"/>
            <a:ext cx="8250044" cy="581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79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90FE-E7CE-57A9-2907-50B83576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FB897-FC55-074C-C8F1-A124F7522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1ACA79-3E30-16ED-BD31-D5E2F95D0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20466"/>
            <a:ext cx="8629185" cy="585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20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90FE-E7CE-57A9-2907-50B83576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FB897-FC55-074C-C8F1-A124F7522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942D2D-90AA-FE1A-8370-4C0B9E27B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67402"/>
            <a:ext cx="8640337" cy="580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689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90FE-E7CE-57A9-2907-50B83576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FB897-FC55-074C-C8F1-A124F7522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5B4AF3-E013-43CB-985A-BCB983E31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24180"/>
            <a:ext cx="8696093" cy="585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036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90FE-E7CE-57A9-2907-50B83576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FB897-FC55-074C-C8F1-A124F7522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34388D-B7E8-8015-728A-D6213ED99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15165"/>
            <a:ext cx="8372707" cy="58617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8E83E4-5A60-3963-4565-E37A987B5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129" y="4001294"/>
            <a:ext cx="4386650" cy="88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700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90FE-E7CE-57A9-2907-50B83576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FB897-FC55-074C-C8F1-A124F7522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4CC4D6-0B2C-7DB1-2722-ED70E7B9C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27085"/>
            <a:ext cx="8461917" cy="584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29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42BA-96F5-FA29-4819-9CC406D30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D84B7-1001-3419-B025-6D97F20A1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Probabilistic approach towards ML </a:t>
            </a:r>
          </a:p>
          <a:p>
            <a:pPr lvl="1"/>
            <a:r>
              <a:rPr lang="en-US" dirty="0"/>
              <a:t>MLE</a:t>
            </a:r>
          </a:p>
          <a:p>
            <a:pPr lvl="1"/>
            <a:r>
              <a:rPr lang="en-US" dirty="0"/>
              <a:t>MAP</a:t>
            </a:r>
          </a:p>
          <a:p>
            <a:r>
              <a:rPr lang="en-US" dirty="0"/>
              <a:t>h* = argmax P(</a:t>
            </a:r>
            <a:r>
              <a:rPr lang="en-US" dirty="0" err="1"/>
              <a:t>h|D</a:t>
            </a:r>
            <a:r>
              <a:rPr lang="en-US" dirty="0"/>
              <a:t>) = argmax P(</a:t>
            </a:r>
            <a:r>
              <a:rPr lang="en-US" dirty="0" err="1"/>
              <a:t>D|h</a:t>
            </a:r>
            <a:r>
              <a:rPr lang="en-US" dirty="0"/>
              <a:t>) P(h)</a:t>
            </a:r>
          </a:p>
          <a:p>
            <a:r>
              <a:rPr lang="en-US" dirty="0"/>
              <a:t>In MLE: h* = argmax P(</a:t>
            </a:r>
            <a:r>
              <a:rPr lang="en-US" dirty="0" err="1"/>
              <a:t>D|h</a:t>
            </a:r>
            <a:r>
              <a:rPr lang="en-US" dirty="0"/>
              <a:t>) </a:t>
            </a:r>
            <a:r>
              <a:rPr lang="en-US" dirty="0">
                <a:sym typeface="Wingdings" pitchFamily="2" charset="2"/>
              </a:rPr>
              <a:t> because P(h) is uniform</a:t>
            </a:r>
          </a:p>
          <a:p>
            <a:r>
              <a:rPr lang="en-US" dirty="0">
                <a:sym typeface="Wingdings" pitchFamily="2" charset="2"/>
              </a:rPr>
              <a:t>In MAP: h* = </a:t>
            </a:r>
            <a:r>
              <a:rPr lang="en-US" dirty="0"/>
              <a:t>argmax P(</a:t>
            </a:r>
            <a:r>
              <a:rPr lang="en-US" dirty="0" err="1"/>
              <a:t>D|h</a:t>
            </a:r>
            <a:r>
              <a:rPr lang="en-US" dirty="0"/>
              <a:t>) P(h)</a:t>
            </a:r>
          </a:p>
        </p:txBody>
      </p:sp>
    </p:spTree>
    <p:extLst>
      <p:ext uri="{BB962C8B-B14F-4D97-AF65-F5344CB8AC3E}">
        <p14:creationId xmlns:p14="http://schemas.microsoft.com/office/powerpoint/2010/main" val="2159836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9164AE-1DB3-7ABF-C0AA-75F1279E0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20779"/>
            <a:ext cx="8461917" cy="58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84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766BA5-FB84-166C-B15C-2B28561D5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3312"/>
            <a:ext cx="8417312" cy="581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576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D6970-CBCB-37D2-B3B3-32A69C0335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Maximum a posteriori (MAP) </a:t>
            </a:r>
            <a:r>
              <a:rPr lang="en-US" b="1" dirty="0">
                <a:solidFill>
                  <a:srgbClr val="FF0000"/>
                </a:solidFill>
              </a:rPr>
              <a:t>prediction</a:t>
            </a:r>
          </a:p>
        </p:txBody>
      </p:sp>
    </p:spTree>
    <p:extLst>
      <p:ext uri="{BB962C8B-B14F-4D97-AF65-F5344CB8AC3E}">
        <p14:creationId xmlns:p14="http://schemas.microsoft.com/office/powerpoint/2010/main" val="1019980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3AD4-8232-A4AD-4647-A47E3120B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5B88F-1765-E126-2A63-8621C7EF8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E099F0-2BAF-EBC3-5FC0-DCE322C8B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4696"/>
            <a:ext cx="8651488" cy="588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775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3AD4-8232-A4AD-4647-A47E3120B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5B88F-1765-E126-2A63-8621C7EF8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EE40A3-728C-0195-53B0-40C5C1E0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0078"/>
            <a:ext cx="8584580" cy="582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080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3AD4-8232-A4AD-4647-A47E3120B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5B88F-1765-E126-2A63-8621C7EF8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D1CFA6-94FD-058F-A56E-F254F695E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9961"/>
            <a:ext cx="8473068" cy="583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219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3AD4-8232-A4AD-4647-A47E3120B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5B88F-1765-E126-2A63-8621C7EF8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CDC9BA-989A-01A2-B1CB-32BB26E23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47694"/>
            <a:ext cx="8495371" cy="582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794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3AD4-8232-A4AD-4647-A47E3120B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5B88F-1765-E126-2A63-8621C7EF8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FB9975-C64E-570B-E953-A1655FE58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31502"/>
            <a:ext cx="8406161" cy="584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080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3AD4-8232-A4AD-4647-A47E3120B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5B88F-1765-E126-2A63-8621C7EF8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63ECD6-5CD1-6F79-072E-7D708AD9E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32211"/>
            <a:ext cx="8294649" cy="58447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4FD12B-F62B-285E-3228-05EECD6E20DB}"/>
              </a:ext>
            </a:extLst>
          </p:cNvPr>
          <p:cNvSpPr txBox="1"/>
          <p:nvPr/>
        </p:nvSpPr>
        <p:spPr>
          <a:xfrm>
            <a:off x="6311153" y="2572871"/>
            <a:ext cx="47781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Posterior: </a:t>
            </a:r>
            <a:r>
              <a:rPr lang="en-US" dirty="0">
                <a:highlight>
                  <a:srgbClr val="FFFF00"/>
                </a:highlight>
              </a:rPr>
              <a:t>P(play=</a:t>
            </a:r>
            <a:r>
              <a:rPr lang="en-US" dirty="0" err="1">
                <a:highlight>
                  <a:srgbClr val="FFFF00"/>
                </a:highlight>
              </a:rPr>
              <a:t>yes|hot</a:t>
            </a:r>
            <a:r>
              <a:rPr lang="en-US" dirty="0">
                <a:highlight>
                  <a:srgbClr val="FFFF00"/>
                </a:highlight>
              </a:rPr>
              <a:t>, weak) </a:t>
            </a:r>
            <a:r>
              <a:rPr lang="en-US" dirty="0"/>
              <a:t>=</a:t>
            </a:r>
          </a:p>
          <a:p>
            <a:r>
              <a:rPr lang="en-US" dirty="0"/>
              <a:t>P(</a:t>
            </a:r>
            <a:r>
              <a:rPr lang="en-US" dirty="0" err="1"/>
              <a:t>hot,weak|play</a:t>
            </a:r>
            <a:r>
              <a:rPr lang="en-US" dirty="0"/>
              <a:t>=yes) . p(play=yes) =</a:t>
            </a:r>
          </a:p>
          <a:p>
            <a:r>
              <a:rPr lang="en-US" dirty="0"/>
              <a:t>0.4 * 0.3 = 0.12</a:t>
            </a:r>
          </a:p>
          <a:p>
            <a:endParaRPr lang="en-US" dirty="0"/>
          </a:p>
          <a:p>
            <a:r>
              <a:rPr lang="en-US" dirty="0"/>
              <a:t>Posterior ~ likelihood. Prior </a:t>
            </a:r>
            <a:r>
              <a:rPr lang="en-US" dirty="0">
                <a:sym typeface="Wingdings" pitchFamily="2" charset="2"/>
              </a:rPr>
              <a:t> bayes rule</a:t>
            </a:r>
            <a:endParaRPr lang="en-US" dirty="0"/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P(play=</a:t>
            </a:r>
            <a:r>
              <a:rPr lang="en-US" dirty="0" err="1">
                <a:highlight>
                  <a:srgbClr val="FFFF00"/>
                </a:highlight>
              </a:rPr>
              <a:t>no|hot</a:t>
            </a:r>
            <a:r>
              <a:rPr lang="en-US" dirty="0">
                <a:highlight>
                  <a:srgbClr val="FFFF00"/>
                </a:highlight>
              </a:rPr>
              <a:t>, weak)=</a:t>
            </a:r>
          </a:p>
          <a:p>
            <a:r>
              <a:rPr lang="en-US" dirty="0">
                <a:highlight>
                  <a:srgbClr val="FFFF00"/>
                </a:highlight>
              </a:rPr>
              <a:t>P(</a:t>
            </a:r>
            <a:r>
              <a:rPr lang="en-US" dirty="0" err="1">
                <a:highlight>
                  <a:srgbClr val="FFFF00"/>
                </a:highlight>
              </a:rPr>
              <a:t>hot,weak|play</a:t>
            </a:r>
            <a:r>
              <a:rPr lang="en-US" dirty="0">
                <a:highlight>
                  <a:srgbClr val="FFFF00"/>
                </a:highlight>
              </a:rPr>
              <a:t>=no) . p(play=no) =</a:t>
            </a:r>
          </a:p>
          <a:p>
            <a:r>
              <a:rPr lang="en-US" dirty="0"/>
              <a:t>0.1 * 0.7 = 0.07</a:t>
            </a:r>
          </a:p>
          <a:p>
            <a:endParaRPr lang="en-US" dirty="0"/>
          </a:p>
          <a:p>
            <a:r>
              <a:rPr lang="en-US" dirty="0"/>
              <a:t>MAP prediction is play=yes</a:t>
            </a:r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6537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BBD3-E929-4283-DE5F-C6BC8CB4E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8A12C-6D5E-7C2C-21B8-FD2847F34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Bayesian learning : an umbrella term. A regime in learning</a:t>
            </a:r>
          </a:p>
          <a:p>
            <a:r>
              <a:rPr lang="en-US" dirty="0"/>
              <a:t>Bayes rule: p(</a:t>
            </a:r>
            <a:r>
              <a:rPr lang="en-US" dirty="0" err="1"/>
              <a:t>y|x</a:t>
            </a:r>
            <a:r>
              <a:rPr lang="en-US" dirty="0"/>
              <a:t>) = p(</a:t>
            </a:r>
            <a:r>
              <a:rPr lang="en-US" dirty="0" err="1"/>
              <a:t>x|y</a:t>
            </a:r>
            <a:r>
              <a:rPr lang="en-US" dirty="0"/>
              <a:t>)p(y)/P(x)</a:t>
            </a:r>
          </a:p>
          <a:p>
            <a:r>
              <a:rPr lang="en-US" dirty="0"/>
              <a:t>Naive bayes: classification algorithm based on </a:t>
            </a:r>
            <a:r>
              <a:rPr lang="en-US" dirty="0" err="1"/>
              <a:t>bayesian</a:t>
            </a:r>
            <a:r>
              <a:rPr lang="en-US" dirty="0"/>
              <a:t> learning and uses bayes rule</a:t>
            </a:r>
          </a:p>
        </p:txBody>
      </p:sp>
    </p:spTree>
    <p:extLst>
      <p:ext uri="{BB962C8B-B14F-4D97-AF65-F5344CB8AC3E}">
        <p14:creationId xmlns:p14="http://schemas.microsoft.com/office/powerpoint/2010/main" val="20202508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3AD4-8232-A4AD-4647-A47E3120B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5B88F-1765-E126-2A63-8621C7EF8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A8CA0-7972-6C67-EAEB-F14C495AD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6868"/>
            <a:ext cx="8417312" cy="583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5999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D6970-CBCB-37D2-B3B3-32A69C0335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hard is it to learn probabilistic models?</a:t>
            </a:r>
          </a:p>
        </p:txBody>
      </p:sp>
    </p:spTree>
    <p:extLst>
      <p:ext uri="{BB962C8B-B14F-4D97-AF65-F5344CB8AC3E}">
        <p14:creationId xmlns:p14="http://schemas.microsoft.com/office/powerpoint/2010/main" val="1842274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E1A6B-19F7-99C9-93EA-624ACA153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52DCE-FB6D-09DA-6B68-B3C0494F6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AD3F7B-80EF-D9CB-1068-3041C4113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03310"/>
            <a:ext cx="8807605" cy="605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547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CF4D9C-95AF-2239-2F1F-A1D3C8646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28" y="318928"/>
            <a:ext cx="8565995" cy="585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8235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BDF1E3-253C-468A-56C4-D0B50570A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41" y="286218"/>
            <a:ext cx="8261196" cy="589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4818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054868-201B-DE45-2701-028B52D8E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5304"/>
            <a:ext cx="8127380" cy="583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2275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deal with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152" y="1690688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4400" dirty="0"/>
              <a:t>Make independence assumptions</a:t>
            </a:r>
          </a:p>
        </p:txBody>
      </p:sp>
    </p:spTree>
    <p:extLst>
      <p:ext uri="{BB962C8B-B14F-4D97-AF65-F5344CB8AC3E}">
        <p14:creationId xmlns:p14="http://schemas.microsoft.com/office/powerpoint/2010/main" val="29518989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C81CDA-99BA-72ED-6034-409E3E33B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34320"/>
            <a:ext cx="8406161" cy="584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7362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79750C-21CE-EEC0-C9CE-269630CD1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9752"/>
            <a:ext cx="8395010" cy="57772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7F81DA-E3CB-88F4-CFF7-FE5A3AD587CD}"/>
              </a:ext>
            </a:extLst>
          </p:cNvPr>
          <p:cNvSpPr txBox="1"/>
          <p:nvPr/>
        </p:nvSpPr>
        <p:spPr>
          <a:xfrm>
            <a:off x="3200400" y="3899647"/>
            <a:ext cx="6266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Goal: for a given data point x, predict the label using naive bayes</a:t>
            </a:r>
          </a:p>
        </p:txBody>
      </p:sp>
    </p:spTree>
    <p:extLst>
      <p:ext uri="{BB962C8B-B14F-4D97-AF65-F5344CB8AC3E}">
        <p14:creationId xmlns:p14="http://schemas.microsoft.com/office/powerpoint/2010/main" val="22289320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8914D-A81C-85F1-006B-452E0CB20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83212-19BC-E1CF-F61D-095D067F8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i.i.d</a:t>
            </a:r>
            <a:r>
              <a:rPr lang="en-US" dirty="0"/>
              <a:t> dataset -&gt; P(D) = P(x1).P(x2)....P(x100)</a:t>
            </a:r>
          </a:p>
          <a:p>
            <a:endParaRPr lang="en-US" dirty="0"/>
          </a:p>
          <a:p>
            <a:r>
              <a:rPr lang="en-US" dirty="0"/>
              <a:t>Independent features -&gt; P(x) = P(x</a:t>
            </a:r>
            <a:r>
              <a:rPr lang="en-US" baseline="-25000" dirty="0"/>
              <a:t>1</a:t>
            </a:r>
            <a:r>
              <a:rPr lang="en-US" dirty="0"/>
              <a:t>). P(x</a:t>
            </a:r>
            <a:r>
              <a:rPr lang="en-US" baseline="-25000" dirty="0"/>
              <a:t>2</a:t>
            </a:r>
            <a:r>
              <a:rPr lang="en-US" dirty="0"/>
              <a:t>).... P(x</a:t>
            </a:r>
            <a:r>
              <a:rPr lang="en-US" baseline="-25000" dirty="0"/>
              <a:t>1000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76100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BCB8C-E879-4C5C-E523-026DBE5F8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Naive assumption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30946-A1BA-1981-11DE-76EADFEDB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Naive bayes takes a naive assumption that features are </a:t>
            </a:r>
            <a:r>
              <a:rPr lang="en-US" dirty="0" err="1"/>
              <a:t>indpt</a:t>
            </a:r>
            <a:r>
              <a:rPr lang="en-US" dirty="0"/>
              <a:t> </a:t>
            </a:r>
          </a:p>
          <a:p>
            <a:r>
              <a:rPr lang="en-US" dirty="0"/>
              <a:t>Data: is about housing</a:t>
            </a:r>
          </a:p>
          <a:p>
            <a:pPr lvl="1"/>
            <a:r>
              <a:rPr lang="en-US" dirty="0"/>
              <a:t>Feature: area, #bedrooms, #bathrooms, #neighborhood, etc.</a:t>
            </a:r>
          </a:p>
          <a:p>
            <a:pPr lvl="1"/>
            <a:r>
              <a:rPr lang="en-US" dirty="0"/>
              <a:t>Target: price </a:t>
            </a:r>
          </a:p>
          <a:p>
            <a:r>
              <a:rPr lang="en-US" dirty="0"/>
              <a:t>All features are independent from each other</a:t>
            </a:r>
          </a:p>
          <a:p>
            <a:r>
              <a:rPr lang="en-US" dirty="0"/>
              <a:t>It uses MAP, or ML to find the best prediction (MAP prediction)</a:t>
            </a:r>
          </a:p>
        </p:txBody>
      </p:sp>
    </p:spTree>
    <p:extLst>
      <p:ext uri="{BB962C8B-B14F-4D97-AF65-F5344CB8AC3E}">
        <p14:creationId xmlns:p14="http://schemas.microsoft.com/office/powerpoint/2010/main" val="15138480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D6970-CBCB-37D2-B3B3-32A69C0335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Learning the Naive Bayes Classifier</a:t>
            </a:r>
          </a:p>
        </p:txBody>
      </p:sp>
    </p:spTree>
    <p:extLst>
      <p:ext uri="{BB962C8B-B14F-4D97-AF65-F5344CB8AC3E}">
        <p14:creationId xmlns:p14="http://schemas.microsoft.com/office/powerpoint/2010/main" val="2460579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59E525-6B4F-ABA3-D64E-1F18E98D6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3423"/>
            <a:ext cx="8049322" cy="584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2324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B2339D-92BE-EA37-11BA-B064178BF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24420"/>
            <a:ext cx="8383859" cy="585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796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E65301-D371-9882-6521-CC9792009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0638"/>
            <a:ext cx="8473068" cy="58463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C35921-4B11-37D2-3B1A-C7A67252FC78}"/>
              </a:ext>
            </a:extLst>
          </p:cNvPr>
          <p:cNvSpPr txBox="1"/>
          <p:nvPr/>
        </p:nvSpPr>
        <p:spPr>
          <a:xfrm>
            <a:off x="6096000" y="2330824"/>
            <a:ext cx="4554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Based on the assumption of IID of dataset</a:t>
            </a:r>
          </a:p>
        </p:txBody>
      </p:sp>
    </p:spTree>
    <p:extLst>
      <p:ext uri="{BB962C8B-B14F-4D97-AF65-F5344CB8AC3E}">
        <p14:creationId xmlns:p14="http://schemas.microsoft.com/office/powerpoint/2010/main" val="30826385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0A2060-50D1-1690-6523-30F3FCA80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45406"/>
            <a:ext cx="8551127" cy="58315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0A9670-B9AC-9B8D-F80A-982AA9668EA9}"/>
              </a:ext>
            </a:extLst>
          </p:cNvPr>
          <p:cNvSpPr txBox="1"/>
          <p:nvPr/>
        </p:nvSpPr>
        <p:spPr>
          <a:xfrm>
            <a:off x="6355976" y="2375647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Since: P(</a:t>
            </a:r>
            <a:r>
              <a:rPr lang="en-US" dirty="0" err="1">
                <a:solidFill>
                  <a:srgbClr val="FF0000"/>
                </a:solidFill>
              </a:rPr>
              <a:t>a,b</a:t>
            </a:r>
            <a:r>
              <a:rPr lang="en-US" dirty="0">
                <a:solidFill>
                  <a:srgbClr val="FF0000"/>
                </a:solidFill>
              </a:rPr>
              <a:t>) = P(</a:t>
            </a:r>
            <a:r>
              <a:rPr lang="en-US" dirty="0" err="1">
                <a:solidFill>
                  <a:srgbClr val="FF0000"/>
                </a:solidFill>
              </a:rPr>
              <a:t>a|b</a:t>
            </a:r>
            <a:r>
              <a:rPr lang="en-US" dirty="0">
                <a:solidFill>
                  <a:srgbClr val="FF0000"/>
                </a:solidFill>
              </a:rPr>
              <a:t>).P(b)</a:t>
            </a:r>
          </a:p>
        </p:txBody>
      </p:sp>
    </p:spTree>
    <p:extLst>
      <p:ext uri="{BB962C8B-B14F-4D97-AF65-F5344CB8AC3E}">
        <p14:creationId xmlns:p14="http://schemas.microsoft.com/office/powerpoint/2010/main" val="30714106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649023-E665-10EB-F2AB-2AAB554D3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5127"/>
            <a:ext cx="8305800" cy="57767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CFF61B-FA72-6997-E0A4-36DC9D6A91B6}"/>
              </a:ext>
            </a:extLst>
          </p:cNvPr>
          <p:cNvSpPr txBox="1"/>
          <p:nvPr/>
        </p:nvSpPr>
        <p:spPr>
          <a:xfrm>
            <a:off x="7342094" y="4150659"/>
            <a:ext cx="4011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Based on naive assumption</a:t>
            </a:r>
          </a:p>
        </p:txBody>
      </p:sp>
    </p:spTree>
    <p:extLst>
      <p:ext uri="{BB962C8B-B14F-4D97-AF65-F5344CB8AC3E}">
        <p14:creationId xmlns:p14="http://schemas.microsoft.com/office/powerpoint/2010/main" val="16323327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D42723-5472-367A-992F-E139E0F49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1188"/>
            <a:ext cx="8305800" cy="583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2607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EDFE75-135F-0B38-D12B-A51E0DF4A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6236"/>
            <a:ext cx="8361556" cy="577838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D91C84F-DFEF-D7FC-139E-3B3B7341BD90}"/>
              </a:ext>
            </a:extLst>
          </p:cNvPr>
          <p:cNvSpPr/>
          <p:nvPr/>
        </p:nvSpPr>
        <p:spPr>
          <a:xfrm>
            <a:off x="1918447" y="2214282"/>
            <a:ext cx="6660777" cy="8068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5936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9809CF-594D-3049-E8CB-A467B7228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27001"/>
            <a:ext cx="8316951" cy="582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9852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418ED0-E2CB-BC41-427C-01CA1FA93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94660"/>
            <a:ext cx="8551127" cy="588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6649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51BFB8-9016-09B9-0327-A43B073A7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55734"/>
            <a:ext cx="8495371" cy="583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1910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3C42A8-A502-750D-BB16-75A882B8F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19870"/>
            <a:ext cx="8383859" cy="585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5056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22BFB8-ACDF-8E22-1352-FDAC5649B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9416"/>
            <a:ext cx="8539976" cy="585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975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E2527F-117E-FC66-B965-A0BD13E36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7620"/>
            <a:ext cx="8328102" cy="583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6279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FB3F27-7D41-FE2E-60E9-F6F7DCE08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52504"/>
            <a:ext cx="8406161" cy="582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0237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0D6DBC-EF21-7BF8-7D1B-2C23824B16A5}"/>
              </a:ext>
            </a:extLst>
          </p:cNvPr>
          <p:cNvGrpSpPr/>
          <p:nvPr/>
        </p:nvGrpSpPr>
        <p:grpSpPr>
          <a:xfrm>
            <a:off x="838200" y="342163"/>
            <a:ext cx="8473068" cy="5834800"/>
            <a:chOff x="838200" y="342163"/>
            <a:chExt cx="8473068" cy="58348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5E80BF8-259B-5DD7-5D53-8D8CD4D3A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342163"/>
              <a:ext cx="8473068" cy="58348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F64AF86-7EA1-3352-4ED8-158B71F74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0666" y="1328710"/>
              <a:ext cx="3025153" cy="4561144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5537730-D400-7D07-C221-44867D261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2097" y="4859370"/>
            <a:ext cx="4207809" cy="103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0388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0B4996-4882-DCEA-F1D6-8506C2D66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9691"/>
            <a:ext cx="8484220" cy="582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14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D6970-CBCB-37D2-B3B3-32A69C0335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Naive Bayes Caveats</a:t>
            </a:r>
          </a:p>
        </p:txBody>
      </p:sp>
    </p:spTree>
    <p:extLst>
      <p:ext uri="{BB962C8B-B14F-4D97-AF65-F5344CB8AC3E}">
        <p14:creationId xmlns:p14="http://schemas.microsoft.com/office/powerpoint/2010/main" val="11079711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EA138B-27C4-0959-49EE-9E743D079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40390"/>
            <a:ext cx="8439615" cy="583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5931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EFF3E5-F162-D0C2-647C-ED9D57F8C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28341"/>
            <a:ext cx="8517673" cy="584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0112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FA84F3-40A9-DF14-BACC-4BD593064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01774"/>
            <a:ext cx="8629185" cy="587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7541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FD554-CC3D-19BC-6E2C-E545C71FF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vector for text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98B90-EADD-6C97-A850-232607802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Document: (I, 300), (am 300) (are, 20) (computer 250)..... </a:t>
            </a:r>
            <a:r>
              <a:rPr lang="en-US" dirty="0">
                <a:sym typeface="Wingdings" pitchFamily="2" charset="2"/>
              </a:rPr>
              <a:t></a:t>
            </a:r>
          </a:p>
          <a:p>
            <a:r>
              <a:rPr lang="en-US" dirty="0">
                <a:sym typeface="Wingdings" pitchFamily="2" charset="2"/>
              </a:rPr>
              <a:t>Feature vector: (300, 300, 20, 250, ....)</a:t>
            </a:r>
          </a:p>
          <a:p>
            <a:r>
              <a:rPr lang="en-US" dirty="0">
                <a:sym typeface="Wingdings" pitchFamily="2" charset="2"/>
              </a:rPr>
              <a:t>Bag of words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0594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AA06C2-D355-5B07-23E4-6126449B5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4378"/>
            <a:ext cx="8361556" cy="582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430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ED294A-2662-1300-4FAC-2E857B140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0987"/>
            <a:ext cx="8618034" cy="583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7983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BF5E7-E4A7-B98B-09F9-F1A3F90A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C2900-F95F-41E6-36EC-C550CDF5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792675-1254-E6CA-2652-B8B531E58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32672"/>
            <a:ext cx="8606883" cy="584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9467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206E1-34FA-BB7E-8891-C6C20707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12899-5B9C-BA49-F543-E3A38DEAC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25F636-9AD2-A7C9-B5D9-25CF17682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3984"/>
            <a:ext cx="8473068" cy="58229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50871F-474A-2329-2D3D-0BED3CD769F4}"/>
              </a:ext>
            </a:extLst>
          </p:cNvPr>
          <p:cNvSpPr txBox="1"/>
          <p:nvPr/>
        </p:nvSpPr>
        <p:spPr>
          <a:xfrm>
            <a:off x="7198658" y="4491318"/>
            <a:ext cx="390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P(y=1|w,x) / P(y=0|w,x) = </a:t>
            </a:r>
            <a:r>
              <a:rPr lang="en-US" dirty="0" err="1"/>
              <a:t>w</a:t>
            </a:r>
            <a:r>
              <a:rPr lang="en-US" baseline="30000" dirty="0" err="1"/>
              <a:t>T</a:t>
            </a:r>
            <a:r>
              <a:rPr lang="en-US" dirty="0" err="1"/>
              <a:t>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8186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CEEFA-CE64-F1AF-2F98-604AAAE58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F2DAA-77E3-559D-1D7A-F1B7DF9E2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https://svivek.com/teaching/lectures/slides/prob-learning/probabilistic-learning.pdf</a:t>
            </a:r>
            <a:endParaRPr lang="en-US" dirty="0"/>
          </a:p>
          <a:p>
            <a:r>
              <a:rPr lang="en-US" dirty="0">
                <a:hlinkClick r:id="rId3"/>
              </a:rPr>
              <a:t>https://svivek.com/teaching/lectures/slides/prob-learning/bayes-optimal-classifier.pdf</a:t>
            </a:r>
            <a:endParaRPr lang="en-US" dirty="0"/>
          </a:p>
          <a:p>
            <a:r>
              <a:rPr lang="en-US" dirty="0">
                <a:hlinkClick r:id="rId4"/>
              </a:rPr>
              <a:t>https://svivek.com/teaching/lectures/slides/naive-bayes/naive-bayes.pdf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402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5829</TotalTime>
  <Words>582</Words>
  <Application>Microsoft Macintosh PowerPoint</Application>
  <PresentationFormat>Widescreen</PresentationFormat>
  <Paragraphs>68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6" baseType="lpstr">
      <vt:lpstr>Arial</vt:lpstr>
      <vt:lpstr>Calibri</vt:lpstr>
      <vt:lpstr>Calibri Light</vt:lpstr>
      <vt:lpstr>Wingdings</vt:lpstr>
      <vt:lpstr>Office Theme</vt:lpstr>
      <vt:lpstr>Machine Learning INET</vt:lpstr>
      <vt:lpstr>Today</vt:lpstr>
      <vt:lpstr>Bayesian Learning</vt:lpstr>
      <vt:lpstr>Bayesian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Bayesian Learning</vt:lpstr>
      <vt:lpstr>PowerPoint Presentation</vt:lpstr>
      <vt:lpstr>PowerPoint Presentation</vt:lpstr>
      <vt:lpstr>Maximum a posteriori (MAP) prediction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hard is it to learn probabilistic models?</vt:lpstr>
      <vt:lpstr>PowerPoint Presentation</vt:lpstr>
      <vt:lpstr>PowerPoint Presentation</vt:lpstr>
      <vt:lpstr>PowerPoint Presentation</vt:lpstr>
      <vt:lpstr>PowerPoint Presentation</vt:lpstr>
      <vt:lpstr>How can we deal with this?</vt:lpstr>
      <vt:lpstr>PowerPoint Presentation</vt:lpstr>
      <vt:lpstr>PowerPoint Presentation</vt:lpstr>
      <vt:lpstr>Two assumptions</vt:lpstr>
      <vt:lpstr>Naive assumption</vt:lpstr>
      <vt:lpstr>Learning the Naive Bayes Classifier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Naive Bayes Caveats</vt:lpstr>
      <vt:lpstr>PowerPoint Presentation</vt:lpstr>
      <vt:lpstr>PowerPoint Presentation</vt:lpstr>
      <vt:lpstr>PowerPoint Presentation</vt:lpstr>
      <vt:lpstr>Feature vector for text documents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24</cp:revision>
  <dcterms:created xsi:type="dcterms:W3CDTF">2024-10-04T22:07:24Z</dcterms:created>
  <dcterms:modified xsi:type="dcterms:W3CDTF">2024-10-08T23:17:08Z</dcterms:modified>
</cp:coreProperties>
</file>