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0"/>
  </p:notesMasterIdLst>
  <p:handoutMasterIdLst>
    <p:handoutMasterId r:id="rId51"/>
  </p:handoutMasterIdLst>
  <p:sldIdLst>
    <p:sldId id="256" r:id="rId2"/>
    <p:sldId id="363" r:id="rId3"/>
    <p:sldId id="365" r:id="rId4"/>
    <p:sldId id="469" r:id="rId5"/>
    <p:sldId id="434" r:id="rId6"/>
    <p:sldId id="387" r:id="rId7"/>
    <p:sldId id="388" r:id="rId8"/>
    <p:sldId id="470" r:id="rId9"/>
    <p:sldId id="435" r:id="rId10"/>
    <p:sldId id="408" r:id="rId11"/>
    <p:sldId id="428" r:id="rId12"/>
    <p:sldId id="437" r:id="rId13"/>
    <p:sldId id="420" r:id="rId14"/>
    <p:sldId id="419" r:id="rId15"/>
    <p:sldId id="421" r:id="rId16"/>
    <p:sldId id="423" r:id="rId17"/>
    <p:sldId id="431" r:id="rId18"/>
    <p:sldId id="432" r:id="rId19"/>
    <p:sldId id="425" r:id="rId20"/>
    <p:sldId id="468" r:id="rId21"/>
    <p:sldId id="438" r:id="rId22"/>
    <p:sldId id="439" r:id="rId23"/>
    <p:sldId id="440" r:id="rId24"/>
    <p:sldId id="448" r:id="rId25"/>
    <p:sldId id="441" r:id="rId26"/>
    <p:sldId id="442" r:id="rId27"/>
    <p:sldId id="449" r:id="rId28"/>
    <p:sldId id="450" r:id="rId29"/>
    <p:sldId id="444" r:id="rId30"/>
    <p:sldId id="445" r:id="rId31"/>
    <p:sldId id="451" r:id="rId32"/>
    <p:sldId id="446" r:id="rId33"/>
    <p:sldId id="447" r:id="rId34"/>
    <p:sldId id="460" r:id="rId35"/>
    <p:sldId id="384" r:id="rId36"/>
    <p:sldId id="385" r:id="rId37"/>
    <p:sldId id="386" r:id="rId38"/>
    <p:sldId id="427" r:id="rId39"/>
    <p:sldId id="391" r:id="rId40"/>
    <p:sldId id="392" r:id="rId41"/>
    <p:sldId id="464" r:id="rId42"/>
    <p:sldId id="466" r:id="rId43"/>
    <p:sldId id="465" r:id="rId44"/>
    <p:sldId id="393" r:id="rId45"/>
    <p:sldId id="394" r:id="rId46"/>
    <p:sldId id="422" r:id="rId47"/>
    <p:sldId id="395" r:id="rId48"/>
    <p:sldId id="409" r:id="rId4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FF"/>
    <a:srgbClr val="CC0066"/>
    <a:srgbClr val="D60093"/>
    <a:srgbClr val="FF0000"/>
    <a:srgbClr val="33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8C69F-500A-0000-D79D-5CEF45FE653D}" v="928" dt="2021-05-11T03:38:42.757"/>
    <p1510:client id="{22C0B364-C95C-A74B-8FD8-013B025908F9}" v="1975" dt="2021-05-11T16:35:42.817"/>
    <p1510:client id="{4B208F83-0ED0-8193-A343-6369CAE97B3A}" v="7" dt="2021-05-11T06:08:46.072"/>
    <p1510:client id="{A2A8C69F-2006-0000-D46A-8C918A84E3E0}" v="4207" dt="2021-05-11T01:05:32.238"/>
    <p1510:client id="{B77FF953-5FC4-4F48-8875-F193F0146EB8}" v="2235" dt="2021-05-11T03:12:16.238"/>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02"/>
    <p:restoredTop sz="96824"/>
  </p:normalViewPr>
  <p:slideViewPr>
    <p:cSldViewPr snapToGrid="0" snapToObjects="1">
      <p:cViewPr varScale="1">
        <p:scale>
          <a:sx n="157" d="100"/>
          <a:sy n="157" d="100"/>
        </p:scale>
        <p:origin x="1856" y="168"/>
      </p:cViewPr>
      <p:guideLst>
        <p:guide orient="horz" pos="216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10/15/24</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10/15/24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Building large scale machine learning models</a:t>
            </a:r>
          </a:p>
          <a:p>
            <a:r>
              <a:rPr lang="en-US" dirty="0"/>
              <a:t>Why it is a very useful model to know</a:t>
            </a:r>
          </a:p>
          <a:p>
            <a:r>
              <a:rPr lang="en-US" dirty="0"/>
              <a:t>DT are predictive models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Usually we </a:t>
            </a:r>
            <a:r>
              <a:rPr lang="en-US" baseline="0" dirty="0" err="1"/>
              <a:t>dont</a:t>
            </a:r>
            <a:r>
              <a:rPr lang="en-US" baseline="0" dirty="0"/>
              <a:t> learn one DT. But we learn multiple DT</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saw this in </a:t>
            </a:r>
            <a:r>
              <a:rPr lang="en-US" dirty="0" err="1"/>
              <a:t>netflix</a:t>
            </a:r>
            <a:r>
              <a:rPr lang="en-US" dirty="0"/>
              <a:t> challenge. Two ensemble approach:</a:t>
            </a:r>
          </a:p>
          <a:p>
            <a:pPr marL="228600" indent="-228600">
              <a:buAutoNum type="arabicPeriod"/>
            </a:pPr>
            <a:r>
              <a:rPr lang="en-US" dirty="0"/>
              <a:t>Bagging</a:t>
            </a:r>
          </a:p>
          <a:p>
            <a:pPr marL="228600" indent="-228600">
              <a:buAutoNum type="arabicPeriod"/>
            </a:pPr>
            <a:r>
              <a:rPr lang="en-US" dirty="0"/>
              <a:t>Boosting </a:t>
            </a:r>
          </a:p>
          <a:p>
            <a:pPr marL="228600" indent="-228600">
              <a:buAutoNum type="arabicPeriod"/>
            </a:pPr>
            <a:endParaRPr lang="en-US" dirty="0"/>
          </a:p>
          <a:p>
            <a:pPr marL="228600" indent="-228600">
              <a:buAutoNum type="arabicPeriod"/>
            </a:pPr>
            <a:endParaRPr lang="en-US" dirty="0"/>
          </a:p>
          <a:p>
            <a:pPr marL="0" indent="0">
              <a:buNone/>
            </a:pPr>
            <a:r>
              <a:rPr lang="en-US" b="0" i="0" dirty="0">
                <a:solidFill>
                  <a:srgbClr val="161616"/>
                </a:solidFill>
                <a:effectLst/>
                <a:latin typeface="IBM Plex Sans" panose="020F0502020204030204" pitchFamily="34" charset="0"/>
              </a:rPr>
              <a:t>Bagging, also known as bootstrap aggregation, is the ensemble learning method that is commonly used to reduce variance within a noisy dataset. In bagging, a random sample of data in a training set is selected with replacement—meaning that the individual data points can be chosen more than once. After several data samples are generated, these weak models are then trained independently, and depending on the type of task—regression or classification, for example—the average or majority of those predictions yield a more accurate estimate. </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a:t>
            </a:fld>
            <a:endParaRPr lang="en-US"/>
          </a:p>
        </p:txBody>
      </p:sp>
    </p:spTree>
    <p:extLst>
      <p:ext uri="{BB962C8B-B14F-4D97-AF65-F5344CB8AC3E}">
        <p14:creationId xmlns:p14="http://schemas.microsoft.com/office/powerpoint/2010/main" val="425400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saw this in </a:t>
            </a:r>
            <a:r>
              <a:rPr lang="en-US" dirty="0" err="1"/>
              <a:t>netflix</a:t>
            </a:r>
            <a:r>
              <a:rPr lang="en-US" dirty="0"/>
              <a:t> challenge. Two ensemble approach:</a:t>
            </a:r>
          </a:p>
          <a:p>
            <a:pPr marL="228600" indent="-228600">
              <a:buAutoNum type="arabicPeriod"/>
            </a:pPr>
            <a:r>
              <a:rPr lang="en-US" dirty="0"/>
              <a:t>Bagging</a:t>
            </a:r>
          </a:p>
          <a:p>
            <a:pPr marL="228600" indent="-228600">
              <a:buAutoNum type="arabicPeriod"/>
            </a:pPr>
            <a:r>
              <a:rPr lang="en-US" dirty="0"/>
              <a:t>Boosting </a:t>
            </a:r>
          </a:p>
          <a:p>
            <a:pPr marL="228600" indent="-228600">
              <a:buAutoNum type="arabicPeriod"/>
            </a:pPr>
            <a:endParaRPr lang="en-US" dirty="0"/>
          </a:p>
          <a:p>
            <a:pPr marL="228600" indent="-228600">
              <a:buAutoNum type="arabicPeriod"/>
            </a:pPr>
            <a:endParaRPr lang="en-US" dirty="0"/>
          </a:p>
          <a:p>
            <a:pPr marL="0" indent="0">
              <a:buNone/>
            </a:pPr>
            <a:r>
              <a:rPr lang="en-US" b="0" i="0" dirty="0">
                <a:solidFill>
                  <a:srgbClr val="161616"/>
                </a:solidFill>
                <a:effectLst/>
                <a:latin typeface="IBM Plex Sans" panose="020F0502020204030204" pitchFamily="34" charset="0"/>
              </a:rPr>
              <a:t>Bagging, also known as bootstrap aggregation, is the ensemble learning method that is commonly used to reduce variance within a noisy dataset. In bagging, a random sample of data in a training set is selected with replacement—meaning that the individual data points can be chosen more than once. After several data samples are generated, these weak models are then trained independently, and depending on the type of task—regression or classification, for example—the average or majority of those predictions yield a more accurate estimate. </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a:t>
            </a:fld>
            <a:endParaRPr lang="en-US"/>
          </a:p>
        </p:txBody>
      </p:sp>
    </p:spTree>
    <p:extLst>
      <p:ext uri="{BB962C8B-B14F-4D97-AF65-F5344CB8AC3E}">
        <p14:creationId xmlns:p14="http://schemas.microsoft.com/office/powerpoint/2010/main" val="1152469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bagging leads to very robust models as </a:t>
            </a:r>
            <a:r>
              <a:rPr lang="en-US" dirty="0" err="1"/>
              <a:t>invididual</a:t>
            </a:r>
            <a:r>
              <a:rPr lang="en-US" dirty="0"/>
              <a:t> models are uncorrelated.</a:t>
            </a:r>
          </a:p>
        </p:txBody>
      </p:sp>
      <p:sp>
        <p:nvSpPr>
          <p:cNvPr id="4" name="Slide Number Placeholder 3"/>
          <p:cNvSpPr>
            <a:spLocks noGrp="1"/>
          </p:cNvSpPr>
          <p:nvPr>
            <p:ph type="sldNum" sz="quarter" idx="5"/>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3129841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bagging leads to very robust models as </a:t>
            </a:r>
            <a:r>
              <a:rPr lang="en-US" dirty="0" err="1"/>
              <a:t>invididual</a:t>
            </a:r>
            <a:r>
              <a:rPr lang="en-US" dirty="0"/>
              <a:t> models are uncorrelated.</a:t>
            </a:r>
          </a:p>
        </p:txBody>
      </p:sp>
      <p:sp>
        <p:nvSpPr>
          <p:cNvPr id="4" name="Slide Number Placeholder 3"/>
          <p:cNvSpPr>
            <a:spLocks noGrp="1"/>
          </p:cNvSpPr>
          <p:nvPr>
            <p:ph type="sldNum" sz="quarter" idx="5"/>
          </p:nvPr>
        </p:nvSpPr>
        <p:spPr/>
        <p:txBody>
          <a:bodyPr/>
          <a:lstStyle/>
          <a:p>
            <a:fld id="{EE707532-839C-41A2-9E71-D5288AEAE66A}" type="slidenum">
              <a:rPr lang="en-US" smtClean="0"/>
              <a:pPr/>
              <a:t>9</a:t>
            </a:fld>
            <a:endParaRPr lang="en-US"/>
          </a:p>
        </p:txBody>
      </p:sp>
    </p:spTree>
    <p:extLst>
      <p:ext uri="{BB962C8B-B14F-4D97-AF65-F5344CB8AC3E}">
        <p14:creationId xmlns:p14="http://schemas.microsoft.com/office/powerpoint/2010/main" val="3239491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next tree improves over mistakes of the </a:t>
            </a:r>
            <a:r>
              <a:rPr lang="en-US" dirty="0" err="1"/>
              <a:t>previuos</a:t>
            </a:r>
            <a:r>
              <a:rPr lang="en-US" dirty="0"/>
              <a:t> tree</a:t>
            </a:r>
          </a:p>
        </p:txBody>
      </p:sp>
      <p:sp>
        <p:nvSpPr>
          <p:cNvPr id="4" name="Slide Number Placeholder 3"/>
          <p:cNvSpPr>
            <a:spLocks noGrp="1"/>
          </p:cNvSpPr>
          <p:nvPr>
            <p:ph type="sldNum" sz="quarter" idx="5"/>
          </p:nvPr>
        </p:nvSpPr>
        <p:spPr/>
        <p:txBody>
          <a:bodyPr/>
          <a:lstStyle/>
          <a:p>
            <a:fld id="{EE707532-839C-41A2-9E71-D5288AEAE66A}" type="slidenum">
              <a:rPr lang="en-US" smtClean="0"/>
              <a:pPr/>
              <a:t>10</a:t>
            </a:fld>
            <a:endParaRPr lang="en-US"/>
          </a:p>
        </p:txBody>
      </p:sp>
    </p:spTree>
    <p:extLst>
      <p:ext uri="{BB962C8B-B14F-4D97-AF65-F5344CB8AC3E}">
        <p14:creationId xmlns:p14="http://schemas.microsoft.com/office/powerpoint/2010/main" val="588667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GBDT is the state of the art.</a:t>
            </a:r>
          </a:p>
        </p:txBody>
      </p:sp>
      <p:sp>
        <p:nvSpPr>
          <p:cNvPr id="4" name="Slide Number Placeholder 3"/>
          <p:cNvSpPr>
            <a:spLocks noGrp="1"/>
          </p:cNvSpPr>
          <p:nvPr>
            <p:ph type="sldNum" sz="quarter" idx="5"/>
          </p:nvPr>
        </p:nvSpPr>
        <p:spPr/>
        <p:txBody>
          <a:bodyPr/>
          <a:lstStyle/>
          <a:p>
            <a:fld id="{EE707532-839C-41A2-9E71-D5288AEAE66A}" type="slidenum">
              <a:rPr lang="en-US" smtClean="0"/>
              <a:pPr/>
              <a:t>11</a:t>
            </a:fld>
            <a:endParaRPr lang="en-US"/>
          </a:p>
        </p:txBody>
      </p:sp>
    </p:spTree>
    <p:extLst>
      <p:ext uri="{BB962C8B-B14F-4D97-AF65-F5344CB8AC3E}">
        <p14:creationId xmlns:p14="http://schemas.microsoft.com/office/powerpoint/2010/main" val="4107604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Developped</a:t>
            </a:r>
            <a:r>
              <a:rPr lang="en-US" dirty="0"/>
              <a:t> in theoretical ML community, so it is theoretically very well understood </a:t>
            </a:r>
          </a:p>
        </p:txBody>
      </p:sp>
      <p:sp>
        <p:nvSpPr>
          <p:cNvPr id="4" name="Slide Number Placeholder 3"/>
          <p:cNvSpPr>
            <a:spLocks noGrp="1"/>
          </p:cNvSpPr>
          <p:nvPr>
            <p:ph type="sldNum" sz="quarter" idx="5"/>
          </p:nvPr>
        </p:nvSpPr>
        <p:spPr/>
        <p:txBody>
          <a:bodyPr/>
          <a:lstStyle/>
          <a:p>
            <a:fld id="{EE707532-839C-41A2-9E71-D5288AEAE66A}" type="slidenum">
              <a:rPr lang="en-US" smtClean="0"/>
              <a:pPr/>
              <a:t>13</a:t>
            </a:fld>
            <a:endParaRPr lang="en-US"/>
          </a:p>
        </p:txBody>
      </p:sp>
    </p:spTree>
    <p:extLst>
      <p:ext uri="{BB962C8B-B14F-4D97-AF65-F5344CB8AC3E}">
        <p14:creationId xmlns:p14="http://schemas.microsoft.com/office/powerpoint/2010/main" val="2090874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W_i</a:t>
            </a:r>
            <a:r>
              <a:rPr lang="en-US" dirty="0"/>
              <a:t> is the importance of each datapoint. The idea is </a:t>
            </a:r>
            <a:r>
              <a:rPr lang="en-US" dirty="0" err="1"/>
              <a:t>ithat</a:t>
            </a:r>
            <a:r>
              <a:rPr lang="en-US" dirty="0"/>
              <a:t> if a point is </a:t>
            </a:r>
            <a:r>
              <a:rPr lang="en-US" dirty="0" err="1"/>
              <a:t>missclassified</a:t>
            </a:r>
            <a:r>
              <a:rPr lang="en-US" dirty="0"/>
              <a:t> we increase its weight so that next iteration the algorithm corrects for it.</a:t>
            </a:r>
          </a:p>
        </p:txBody>
      </p:sp>
      <p:sp>
        <p:nvSpPr>
          <p:cNvPr id="4" name="Slide Number Placeholder 3"/>
          <p:cNvSpPr>
            <a:spLocks noGrp="1"/>
          </p:cNvSpPr>
          <p:nvPr>
            <p:ph type="sldNum" sz="quarter" idx="5"/>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2683637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of </a:t>
            </a:r>
            <a:r>
              <a:rPr lang="en-US" dirty="0" err="1"/>
              <a:t>correclty</a:t>
            </a:r>
            <a:r>
              <a:rPr lang="en-US" dirty="0"/>
              <a:t> classified instances remain the same</a:t>
            </a:r>
          </a:p>
        </p:txBody>
      </p:sp>
      <p:sp>
        <p:nvSpPr>
          <p:cNvPr id="4" name="Slide Number Placeholder 3"/>
          <p:cNvSpPr>
            <a:spLocks noGrp="1"/>
          </p:cNvSpPr>
          <p:nvPr>
            <p:ph type="sldNum" sz="quarter" idx="5"/>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4157475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accurate trees have higher weight</a:t>
            </a:r>
          </a:p>
        </p:txBody>
      </p:sp>
      <p:sp>
        <p:nvSpPr>
          <p:cNvPr id="4" name="Slide Number Placeholder 3"/>
          <p:cNvSpPr>
            <a:spLocks noGrp="1"/>
          </p:cNvSpPr>
          <p:nvPr>
            <p:ph type="sldNum" sz="quarter" idx="5"/>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2162575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Usually we </a:t>
            </a:r>
            <a:r>
              <a:rPr lang="en-US" baseline="0" dirty="0" err="1"/>
              <a:t>dont</a:t>
            </a:r>
            <a:r>
              <a:rPr lang="en-US" baseline="0" dirty="0"/>
              <a:t> learn one DT. But we learn multiple DT</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2375213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0.5+0.3*(-7.5)</a:t>
            </a:r>
          </a:p>
        </p:txBody>
      </p:sp>
      <p:sp>
        <p:nvSpPr>
          <p:cNvPr id="4" name="Slide Number Placeholder 3"/>
          <p:cNvSpPr>
            <a:spLocks noGrp="1"/>
          </p:cNvSpPr>
          <p:nvPr>
            <p:ph type="sldNum" sz="quarter" idx="5"/>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3339619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homes.cs.washington.edu</a:t>
            </a:r>
            <a:r>
              <a:rPr lang="en-US" dirty="0"/>
              <a:t>/~</a:t>
            </a:r>
            <a:r>
              <a:rPr lang="en-US" dirty="0" err="1"/>
              <a:t>tqchen</a:t>
            </a:r>
            <a:r>
              <a:rPr lang="en-US" dirty="0"/>
              <a:t>/pdf/</a:t>
            </a:r>
            <a:r>
              <a:rPr lang="en-US" dirty="0" err="1"/>
              <a:t>BoostedTree.pdf</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xgboost</a:t>
            </a:r>
            <a:endParaRPr lang="en-US"/>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35</a:t>
            </a:fld>
            <a:endParaRPr lang="en-US"/>
          </a:p>
        </p:txBody>
      </p:sp>
    </p:spTree>
    <p:extLst>
      <p:ext uri="{BB962C8B-B14F-4D97-AF65-F5344CB8AC3E}">
        <p14:creationId xmlns:p14="http://schemas.microsoft.com/office/powerpoint/2010/main" val="3843337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E0F3328A-A558-E744-B947-C9CD6A04FA92}" type="datetime1">
              <a:rPr lang="en-US" smtClean="0"/>
              <a:t>10/15/24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4C38FDE-789B-7F4A-9D65-DEFB3792D203}" type="datetime1">
              <a:rPr lang="en-US" smtClean="0"/>
              <a:t>10/15/24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E0D4786-38A4-D14D-A0C6-A12267D32605}" type="datetime1">
              <a:rPr lang="en-US" smtClean="0"/>
              <a:t>10/15/24</a:t>
            </a:fld>
            <a:endParaRPr lang="en-US"/>
          </a:p>
        </p:txBody>
      </p:sp>
      <p:sp>
        <p:nvSpPr>
          <p:cNvPr id="6" name="Footer Placeholder 5"/>
          <p:cNvSpPr>
            <a:spLocks noGrp="1"/>
          </p:cNvSpPr>
          <p:nvPr>
            <p:ph type="ftr" sz="quarter" idx="11"/>
          </p:nvPr>
        </p:nvSpPr>
        <p:spPr/>
        <p:txBody>
          <a:bodyPr/>
          <a:lstStyle/>
          <a:p>
            <a:r>
              <a:rPr lang="en-US"/>
              <a:t>Jure Leskovec &amp; Mina Ghashami, Stanford CS246: Mining Massive Datasets, http://cs246.stanford.edu</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832B17-2C68-FE4E-BB46-A4B081462332}" type="datetime1">
              <a:rPr lang="en-US" smtClean="0"/>
              <a:t>10/15/24</a:t>
            </a:fld>
            <a:endParaRPr lang="en-US"/>
          </a:p>
        </p:txBody>
      </p:sp>
      <p:sp>
        <p:nvSpPr>
          <p:cNvPr id="8" name="Footer Placeholder 7"/>
          <p:cNvSpPr>
            <a:spLocks noGrp="1"/>
          </p:cNvSpPr>
          <p:nvPr>
            <p:ph type="ftr" sz="quarter" idx="11"/>
          </p:nvPr>
        </p:nvSpPr>
        <p:spPr/>
        <p:txBody>
          <a:bodyPr/>
          <a:lstStyle/>
          <a:p>
            <a:r>
              <a:rPr lang="en-US"/>
              <a:t>Jure Leskovec &amp; Mina Ghashami, Stanford CS246: Mining Massive Datasets, http://cs246.stanford.edu</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E62F7CD-74FF-BD46-9004-F98941651B7E}" type="datetime1">
              <a:rPr lang="en-US" smtClean="0"/>
              <a:t>10/15/24</a:t>
            </a:fld>
            <a:endParaRPr lang="en-US"/>
          </a:p>
        </p:txBody>
      </p:sp>
      <p:sp>
        <p:nvSpPr>
          <p:cNvPr id="4" name="Footer Placeholder 3"/>
          <p:cNvSpPr>
            <a:spLocks noGrp="1"/>
          </p:cNvSpPr>
          <p:nvPr>
            <p:ph type="ftr" sz="quarter" idx="11"/>
          </p:nvPr>
        </p:nvSpPr>
        <p:spPr/>
        <p:txBody>
          <a:bodyPr/>
          <a:lstStyle/>
          <a:p>
            <a:r>
              <a:rPr lang="en-US"/>
              <a:t>Jure Leskovec &amp; Mina Ghashami, Stanford CS246: Mining Massive Datasets, http://cs246.stanford.edu</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0E24E7-62D9-5F41-9188-A87288B7A443}" type="datetime1">
              <a:rPr lang="en-US" smtClean="0"/>
              <a:t>10/15/24</a:t>
            </a:fld>
            <a:endParaRPr lang="en-US"/>
          </a:p>
        </p:txBody>
      </p:sp>
      <p:sp>
        <p:nvSpPr>
          <p:cNvPr id="3" name="Footer Placeholder 2"/>
          <p:cNvSpPr>
            <a:spLocks noGrp="1"/>
          </p:cNvSpPr>
          <p:nvPr>
            <p:ph type="ftr" sz="quarter" idx="11"/>
          </p:nvPr>
        </p:nvSpPr>
        <p:spPr/>
        <p:txBody>
          <a:bodyPr/>
          <a:lstStyle/>
          <a:p>
            <a:r>
              <a:rPr lang="en-US"/>
              <a:t>Jure Leskovec &amp; Mina Ghashami, Stanford CS246: Mining Massive Datasets, http://cs246.stanford.edu</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59893D7-2AB8-2D43-9075-DC22D156001D}" type="datetime1">
              <a:rPr lang="en-US" smtClean="0"/>
              <a:t>10/15/24</a:t>
            </a:fld>
            <a:endParaRPr lang="en-US"/>
          </a:p>
        </p:txBody>
      </p:sp>
      <p:sp>
        <p:nvSpPr>
          <p:cNvPr id="6" name="Footer Placeholder 5"/>
          <p:cNvSpPr>
            <a:spLocks noGrp="1"/>
          </p:cNvSpPr>
          <p:nvPr>
            <p:ph type="ftr" sz="quarter" idx="11"/>
          </p:nvPr>
        </p:nvSpPr>
        <p:spPr/>
        <p:txBody>
          <a:bodyPr/>
          <a:lstStyle/>
          <a:p>
            <a:r>
              <a:rPr lang="en-US"/>
              <a:t>Jure Leskovec &amp; Mina Ghashami, Stanford CS246: Mining Massive Datasets, http://cs246.stanford.edu</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186EAC21-6DAC-A148-AAB7-EC887FBE63FD}" type="datetime1">
              <a:rPr lang="en-US" smtClean="0"/>
              <a:t>10/15/24</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Jure Leskovec &amp; Mina Ghashami, Stanford CS246: Mining Massive Datasets, http://cs246.stanford.edu</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341213E-2657-2845-902C-B2C0030F6D84}" type="datetime1">
              <a:rPr lang="en-US" smtClean="0"/>
              <a:t>10/15/24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BC173D8-5AB6-9442-8042-1A266B2679D0}" type="datetime1">
              <a:rPr lang="en-US" smtClean="0"/>
              <a:t>10/15/24</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E31ADAD7-B395-F341-BF1D-631FC092504B}" type="datetime1">
              <a:rPr lang="en-US" smtClean="0"/>
              <a:t>10/15/24</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Jure Leskovec &amp; Mina Ghashami, Stanford CS246: Mining Massive Datasets, http://cs246.stanford.edu</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D94DDB40-7242-9A40-8D46-787E35DD6EE5}" type="datetime1">
              <a:rPr lang="en-US" smtClean="0"/>
              <a:t>10/15/24</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Jure Leskovec &amp; Mina Ghashami, Stanford CS246: Mining Massive Datasets, http://cs246.stanford.edu</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ECAA1E06-1B15-604E-8134-CEDED9BB0AEF}" type="datetime1">
              <a:rPr lang="en-US" smtClean="0"/>
              <a:t>10/15/24</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Jure Leskovec &amp; Mina Ghashami, Stanford CS246: Mining Massive Datasets, http://cs246.stanford.edu</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machinelearningmastery.com/how-to-use-correlation-to-understand-the-relationship-between-variable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58.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590.png"/></Relationships>
</file>

<file path=ppt/slides/_rels/slide24.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590.png"/></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61.png"/><Relationship Id="rId7"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590.png"/></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65.png"/><Relationship Id="rId7" Type="http://schemas.openxmlformats.org/officeDocument/2006/relationships/image" Target="../media/image29.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590.png"/><Relationship Id="rId9" Type="http://schemas.openxmlformats.org/officeDocument/2006/relationships/image" Target="../media/image33.png"/></Relationships>
</file>

<file path=ppt/slides/_rels/slide2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65.png"/><Relationship Id="rId7" Type="http://schemas.openxmlformats.org/officeDocument/2006/relationships/image" Target="../media/image26.png"/><Relationship Id="rId12" Type="http://schemas.openxmlformats.org/officeDocument/2006/relationships/image" Target="../media/image3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7.png"/><Relationship Id="rId5" Type="http://schemas.openxmlformats.org/officeDocument/2006/relationships/image" Target="../media/image21.png"/><Relationship Id="rId10" Type="http://schemas.openxmlformats.org/officeDocument/2006/relationships/image" Target="../media/image36.png"/><Relationship Id="rId4" Type="http://schemas.openxmlformats.org/officeDocument/2006/relationships/image" Target="../media/image590.png"/><Relationship Id="rId9"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4.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9.png"/><Relationship Id="rId7" Type="http://schemas.openxmlformats.org/officeDocument/2006/relationships/image" Target="../media/image82.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4.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21.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4.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8.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7" Type="http://schemas.openxmlformats.org/officeDocument/2006/relationships/image" Target="../media/image91.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540.png"/><Relationship Id="rId4" Type="http://schemas.openxmlformats.org/officeDocument/2006/relationships/image" Target="../media/image530.png"/></Relationships>
</file>

<file path=ppt/slides/_rels/slide3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101.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99.png"/><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720.png"/><Relationship Id="rId7"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103.pn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07.png"/><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07.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07.png"/><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63.png"/></Relationships>
</file>

<file path=ppt/slides/_rels/slide44.xml.rels><?xml version="1.0" encoding="UTF-8" standalone="yes"?>
<Relationships xmlns="http://schemas.openxmlformats.org/package/2006/relationships"><Relationship Id="rId3" Type="http://schemas.openxmlformats.org/officeDocument/2006/relationships/image" Target="../media/image770.png"/><Relationship Id="rId2" Type="http://schemas.openxmlformats.org/officeDocument/2006/relationships/image" Target="../media/image760.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4.png"/></Relationships>
</file>

<file path=ppt/slides/_rels/slide4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10.png"/><Relationship Id="rId7" Type="http://schemas.openxmlformats.org/officeDocument/2006/relationships/image" Target="../media/image121.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1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Large Scale Machine Learning: Decision Trees</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CS246: Mining Massive Datasets</a:t>
            </a:r>
          </a:p>
          <a:p>
            <a:r>
              <a:rPr lang="en-US" sz="2400" dirty="0"/>
              <a:t>Jure </a:t>
            </a:r>
            <a:r>
              <a:rPr lang="en-US" sz="2400" dirty="0" err="1"/>
              <a:t>Leskovec</a:t>
            </a:r>
            <a:r>
              <a:rPr lang="en-US" sz="2400" dirty="0"/>
              <a:t>, </a:t>
            </a:r>
            <a:r>
              <a:rPr lang="en-US" sz="2000" dirty="0"/>
              <a:t>Stanford University</a:t>
            </a:r>
          </a:p>
          <a:p>
            <a:r>
              <a:rPr lang="en-US" sz="2400" dirty="0"/>
              <a:t>Mina </a:t>
            </a:r>
            <a:r>
              <a:rPr lang="en-US" sz="2400" dirty="0" err="1"/>
              <a:t>Ghashami</a:t>
            </a:r>
            <a:r>
              <a:rPr lang="en-US" sz="2400" dirty="0"/>
              <a:t>, </a:t>
            </a:r>
            <a:r>
              <a:rPr lang="en-US" sz="2000" dirty="0"/>
              <a:t>Amazon</a:t>
            </a:r>
          </a:p>
          <a:p>
            <a:r>
              <a:rPr lang="en-US" sz="3200" dirty="0"/>
              <a:t>http://cs246.stanford.edu</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6" name="TextBox 2">
            <a:extLst>
              <a:ext uri="{FF2B5EF4-FFF2-40B4-BE49-F238E27FC236}">
                <a16:creationId xmlns:a16="http://schemas.microsoft.com/office/drawing/2014/main" id="{D67065EE-57DE-574D-A7E7-83EF6381508E}"/>
              </a:ext>
            </a:extLst>
          </p:cNvPr>
          <p:cNvSpPr txBox="1"/>
          <p:nvPr/>
        </p:nvSpPr>
        <p:spPr>
          <a:xfrm>
            <a:off x="1905000" y="128016"/>
            <a:ext cx="7239000" cy="116955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a:t>Note to other teachers and users of these slides: </a:t>
            </a:r>
            <a:r>
              <a:rPr lang="en-US" sz="1400"/>
              <a:t>We would be delighted if you found our </a:t>
            </a:r>
          </a:p>
          <a:p>
            <a:r>
              <a:rPr lang="en-US" sz="1400"/>
              <a:t>material useful for giving your own lectures. Feel free to use these slides verbatim, or to </a:t>
            </a:r>
          </a:p>
          <a:p>
            <a:r>
              <a:rPr lang="en-US" sz="1400"/>
              <a:t>modify them to fit your own needs. If you make use of a significant portion of these slides </a:t>
            </a:r>
          </a:p>
          <a:p>
            <a:r>
              <a:rPr lang="en-US" sz="1400"/>
              <a:t>in your own lecture, please include this message, or a link to our web site: </a:t>
            </a:r>
            <a:r>
              <a:rPr lang="en-US" sz="1400">
                <a:hlinkClick r:id="rId4"/>
              </a:rPr>
              <a:t>http://</a:t>
            </a:r>
            <a:r>
              <a:rPr lang="en-US" sz="1400" err="1">
                <a:hlinkClick r:id="rId4"/>
              </a:rPr>
              <a:t>www.mmds.org</a:t>
            </a:r>
            <a:r>
              <a:rPr lang="en-US" sz="1400">
                <a:hlinkClick r:id="rId4"/>
              </a:rPr>
              <a:t> </a:t>
            </a:r>
            <a:endParaRPr lang="en-US" sz="1400"/>
          </a:p>
          <a:p>
            <a:endParaRPr lang="en-US" sz="1400">
              <a:latin typeface="Arial" pitchFamily="34" charset="0"/>
              <a:cs typeface="Arial"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200"/>
            <a:ext cx="8077200" cy="2590800"/>
          </a:xfrm>
        </p:spPr>
        <p:txBody>
          <a:bodyPr anchor="b">
            <a:normAutofit/>
          </a:bodyPr>
          <a:lstStyle/>
          <a:p>
            <a:r>
              <a:rPr lang="en-US" sz="4800"/>
              <a:t>Decision Trees: </a:t>
            </a:r>
            <a:br>
              <a:rPr lang="en-US" sz="4800"/>
            </a:br>
            <a:r>
              <a:rPr lang="en-US" sz="4800"/>
              <a:t>Learning Ensembles</a:t>
            </a:r>
          </a:p>
        </p:txBody>
      </p:sp>
    </p:spTree>
    <p:extLst>
      <p:ext uri="{BB962C8B-B14F-4D97-AF65-F5344CB8AC3E}">
        <p14:creationId xmlns:p14="http://schemas.microsoft.com/office/powerpoint/2010/main" val="320488756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Ensembles</a:t>
            </a:r>
          </a:p>
        </p:txBody>
      </p:sp>
      <p:sp>
        <p:nvSpPr>
          <p:cNvPr id="3" name="Content Placeholder 2"/>
          <p:cNvSpPr>
            <a:spLocks noGrp="1"/>
          </p:cNvSpPr>
          <p:nvPr>
            <p:ph idx="1"/>
          </p:nvPr>
        </p:nvSpPr>
        <p:spPr>
          <a:xfrm>
            <a:off x="457200" y="1295400"/>
            <a:ext cx="8534400" cy="5257801"/>
          </a:xfrm>
        </p:spPr>
        <p:txBody>
          <a:bodyPr>
            <a:normAutofit lnSpcReduction="10000"/>
          </a:bodyPr>
          <a:lstStyle/>
          <a:p>
            <a:r>
              <a:rPr lang="en-US" b="1" dirty="0">
                <a:solidFill>
                  <a:srgbClr val="D60093"/>
                </a:solidFill>
              </a:rPr>
              <a:t>Learn multiple trees and combine their predictions</a:t>
            </a:r>
          </a:p>
          <a:p>
            <a:pPr lvl="1"/>
            <a:r>
              <a:rPr lang="en-US" dirty="0">
                <a:solidFill>
                  <a:srgbClr val="161616"/>
                </a:solidFill>
              </a:rPr>
              <a:t>The </a:t>
            </a:r>
            <a:r>
              <a:rPr lang="en-US" b="0" i="0" dirty="0">
                <a:solidFill>
                  <a:srgbClr val="161616"/>
                </a:solidFill>
                <a:effectLst/>
              </a:rPr>
              <a:t>“wisdom of crowds”</a:t>
            </a:r>
            <a:endParaRPr lang="en-US" dirty="0"/>
          </a:p>
          <a:p>
            <a:pPr lvl="1"/>
            <a:r>
              <a:rPr lang="en-US" dirty="0">
                <a:solidFill>
                  <a:srgbClr val="161616"/>
                </a:solidFill>
              </a:rPr>
              <a:t>A</a:t>
            </a:r>
            <a:r>
              <a:rPr lang="en-US" b="0" i="0" dirty="0">
                <a:solidFill>
                  <a:srgbClr val="161616"/>
                </a:solidFill>
                <a:effectLst/>
              </a:rPr>
              <a:t> group/ ensemble of base learners that collectively achieve a better final prediction.</a:t>
            </a:r>
          </a:p>
          <a:p>
            <a:pPr lvl="1"/>
            <a:r>
              <a:rPr lang="en-US" b="0" i="0" dirty="0">
                <a:solidFill>
                  <a:srgbClr val="161616"/>
                </a:solidFill>
                <a:effectLst/>
              </a:rPr>
              <a:t>Decision trees are prone to</a:t>
            </a:r>
          </a:p>
          <a:p>
            <a:pPr lvl="2"/>
            <a:r>
              <a:rPr lang="en-US" b="0" i="0" dirty="0">
                <a:solidFill>
                  <a:srgbClr val="161616"/>
                </a:solidFill>
                <a:effectLst/>
              </a:rPr>
              <a:t>Overfitting (high variance and low bias) when it hasn’t been pruned </a:t>
            </a:r>
          </a:p>
          <a:p>
            <a:pPr lvl="2"/>
            <a:r>
              <a:rPr lang="en-US" dirty="0">
                <a:solidFill>
                  <a:srgbClr val="161616"/>
                </a:solidFill>
              </a:rPr>
              <a:t>U</a:t>
            </a:r>
            <a:r>
              <a:rPr lang="en-US" b="0" i="0" dirty="0">
                <a:solidFill>
                  <a:srgbClr val="161616"/>
                </a:solidFill>
                <a:effectLst/>
              </a:rPr>
              <a:t>nderfitting (low variance and high bias) when it’s very small, i.e. a decision stump.</a:t>
            </a:r>
          </a:p>
          <a:p>
            <a:pPr lvl="1"/>
            <a:r>
              <a:rPr lang="en-US" b="0" i="0" dirty="0">
                <a:solidFill>
                  <a:srgbClr val="161616"/>
                </a:solidFill>
                <a:effectLst/>
              </a:rPr>
              <a:t>Ensemble reduces bias or variance, yielding better model performance.</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a:t>
            </a:fld>
            <a:endParaRPr lang="en-US"/>
          </a:p>
        </p:txBody>
      </p:sp>
      <p:sp>
        <p:nvSpPr>
          <p:cNvPr id="4" name="Date Placeholder 3"/>
          <p:cNvSpPr>
            <a:spLocks noGrp="1"/>
          </p:cNvSpPr>
          <p:nvPr>
            <p:ph type="dt" sz="half" idx="10"/>
          </p:nvPr>
        </p:nvSpPr>
        <p:spPr/>
        <p:txBody>
          <a:bodyPr/>
          <a:lstStyle/>
          <a:p>
            <a:fld id="{C686DA80-4197-9644-8FC9-D8214573D93E}" type="datetime1">
              <a:rPr lang="en-US" smtClean="0"/>
              <a:t>10/15/24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3640400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1C3AA-44EA-1238-2A3C-7632D3A19FA5}"/>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B8ABDB8B-13FF-765D-FA47-C2CECB38627A}"/>
              </a:ext>
            </a:extLst>
          </p:cNvPr>
          <p:cNvSpPr>
            <a:spLocks noGrp="1"/>
          </p:cNvSpPr>
          <p:nvPr>
            <p:ph idx="1"/>
          </p:nvPr>
        </p:nvSpPr>
        <p:spPr/>
        <p:txBody>
          <a:bodyPr/>
          <a:lstStyle/>
          <a:p>
            <a:r>
              <a:rPr lang="en-US" dirty="0"/>
              <a:t>Two techniques in ensemble learning:</a:t>
            </a:r>
          </a:p>
          <a:p>
            <a:pPr lvl="1"/>
            <a:r>
              <a:rPr lang="en-US" dirty="0"/>
              <a:t>Bagging</a:t>
            </a:r>
          </a:p>
          <a:p>
            <a:pPr lvl="2"/>
            <a:r>
              <a:rPr lang="en-US" dirty="0"/>
              <a:t>Instance bagging (bootstraps on instances)</a:t>
            </a:r>
          </a:p>
          <a:p>
            <a:pPr lvl="2"/>
            <a:r>
              <a:rPr lang="en-US" dirty="0"/>
              <a:t>Feature bagging (bootstraps on features) --&gt; random forest</a:t>
            </a:r>
          </a:p>
          <a:p>
            <a:pPr lvl="1"/>
            <a:r>
              <a:rPr lang="en-US" dirty="0"/>
              <a:t>Boosting</a:t>
            </a:r>
          </a:p>
          <a:p>
            <a:pPr lvl="2"/>
            <a:r>
              <a:rPr lang="en-US" dirty="0" err="1"/>
              <a:t>Adaboost</a:t>
            </a:r>
            <a:r>
              <a:rPr lang="en-US" dirty="0"/>
              <a:t> </a:t>
            </a:r>
          </a:p>
          <a:p>
            <a:pPr lvl="2"/>
            <a:r>
              <a:rPr lang="en-US" dirty="0"/>
              <a:t>GBDT </a:t>
            </a:r>
          </a:p>
          <a:p>
            <a:pPr lvl="2"/>
            <a:endParaRPr lang="en-US" dirty="0"/>
          </a:p>
        </p:txBody>
      </p:sp>
      <p:sp>
        <p:nvSpPr>
          <p:cNvPr id="4" name="Date Placeholder 3">
            <a:extLst>
              <a:ext uri="{FF2B5EF4-FFF2-40B4-BE49-F238E27FC236}">
                <a16:creationId xmlns:a16="http://schemas.microsoft.com/office/drawing/2014/main" id="{9BFC9F3A-0B54-76B6-6057-7A31E9360B25}"/>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A05B2853-E142-A5FD-9545-2666CC6D23FA}"/>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B7DC2F5F-ED3D-68D5-5CFE-798ED1904776}"/>
              </a:ext>
            </a:extLst>
          </p:cNvPr>
          <p:cNvSpPr>
            <a:spLocks noGrp="1"/>
          </p:cNvSpPr>
          <p:nvPr>
            <p:ph type="sldNum" sz="quarter" idx="12"/>
          </p:nvPr>
        </p:nvSpPr>
        <p:spPr/>
        <p:txBody>
          <a:bodyPr/>
          <a:lstStyle/>
          <a:p>
            <a:fld id="{19B12225-5612-419B-A8D5-4B8EEE4C217E}" type="slidenum">
              <a:rPr lang="en-US" smtClean="0"/>
              <a:pPr/>
              <a:t>4</a:t>
            </a:fld>
            <a:endParaRPr lang="en-US"/>
          </a:p>
        </p:txBody>
      </p:sp>
    </p:spTree>
    <p:extLst>
      <p:ext uri="{BB962C8B-B14F-4D97-AF65-F5344CB8AC3E}">
        <p14:creationId xmlns:p14="http://schemas.microsoft.com/office/powerpoint/2010/main" val="1926005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Learning Ensembles</a:t>
            </a:r>
          </a:p>
        </p:txBody>
      </p:sp>
      <p:sp>
        <p:nvSpPr>
          <p:cNvPr id="3" name="Content Placeholder 2"/>
          <p:cNvSpPr>
            <a:spLocks noGrp="1"/>
          </p:cNvSpPr>
          <p:nvPr>
            <p:ph idx="1"/>
          </p:nvPr>
        </p:nvSpPr>
        <p:spPr>
          <a:xfrm>
            <a:off x="457199" y="1295400"/>
            <a:ext cx="8806543" cy="5257801"/>
          </a:xfrm>
        </p:spPr>
        <p:txBody>
          <a:bodyPr>
            <a:normAutofit fontScale="85000" lnSpcReduction="20000"/>
          </a:bodyPr>
          <a:lstStyle/>
          <a:p>
            <a:r>
              <a:rPr lang="en-US" sz="3000" b="1" dirty="0">
                <a:solidFill>
                  <a:srgbClr val="D60093"/>
                </a:solidFill>
              </a:rPr>
              <a:t>There are two main types of ensemble learning: </a:t>
            </a:r>
          </a:p>
          <a:p>
            <a:pPr lvl="1"/>
            <a:r>
              <a:rPr lang="en-US" dirty="0"/>
              <a:t>Bagging and Boosting</a:t>
            </a:r>
          </a:p>
          <a:p>
            <a:r>
              <a:rPr lang="en-US" b="1" dirty="0">
                <a:solidFill>
                  <a:srgbClr val="0000FF"/>
                </a:solidFill>
              </a:rPr>
              <a:t>Bagging (bootstrap aggregation):</a:t>
            </a:r>
            <a:r>
              <a:rPr lang="en-US" dirty="0">
                <a:solidFill>
                  <a:srgbClr val="0000FF"/>
                </a:solidFill>
              </a:rPr>
              <a:t> </a:t>
            </a:r>
          </a:p>
          <a:p>
            <a:pPr lvl="1"/>
            <a:r>
              <a:rPr lang="en-US" dirty="0"/>
              <a:t>Learns multiple trees in </a:t>
            </a:r>
            <a:r>
              <a:rPr lang="en-US" u="sng" dirty="0"/>
              <a:t>parallel</a:t>
            </a:r>
            <a:r>
              <a:rPr lang="en-US" dirty="0"/>
              <a:t> over independent </a:t>
            </a:r>
            <a:br>
              <a:rPr lang="en-US" dirty="0"/>
            </a:br>
            <a:r>
              <a:rPr lang="en-US" dirty="0"/>
              <a:t>samples of the training data</a:t>
            </a:r>
          </a:p>
          <a:p>
            <a:pPr lvl="1" fontAlgn="base"/>
            <a:r>
              <a:rPr lang="en-US" b="1" dirty="0">
                <a:solidFill>
                  <a:srgbClr val="FF0000"/>
                </a:solidFill>
              </a:rPr>
              <a:t>1) Bootstrapping</a:t>
            </a:r>
            <a:r>
              <a:rPr lang="en-US" b="1" dirty="0"/>
              <a:t>: </a:t>
            </a:r>
            <a:r>
              <a:rPr lang="en-US" dirty="0"/>
              <a:t> Given a dataset, create multiple datasets by sampling data points randomly  and with replacement.</a:t>
            </a:r>
          </a:p>
          <a:p>
            <a:pPr lvl="1" fontAlgn="base"/>
            <a:r>
              <a:rPr lang="en-US" b="1" dirty="0">
                <a:solidFill>
                  <a:srgbClr val="FF0000"/>
                </a:solidFill>
              </a:rPr>
              <a:t>2) Parallel training</a:t>
            </a:r>
            <a:r>
              <a:rPr lang="en-US" b="1" dirty="0"/>
              <a:t>:</a:t>
            </a:r>
            <a:r>
              <a:rPr lang="en-US" dirty="0"/>
              <a:t> Train decision trees on samples independently and in parallel with each other </a:t>
            </a:r>
          </a:p>
          <a:p>
            <a:pPr lvl="1" fontAlgn="base"/>
            <a:r>
              <a:rPr lang="en-US" b="1" dirty="0">
                <a:solidFill>
                  <a:srgbClr val="FF0000"/>
                </a:solidFill>
              </a:rPr>
              <a:t>3) Aggregation</a:t>
            </a:r>
            <a:r>
              <a:rPr lang="en-US" b="1" dirty="0"/>
              <a:t>: </a:t>
            </a:r>
            <a:r>
              <a:rPr lang="en-US" dirty="0"/>
              <a:t>Depending on the task (i.e. regression or classification), an average or a majority of the predictions are computed for a more accurate estimate. </a:t>
            </a:r>
          </a:p>
          <a:p>
            <a:pPr lvl="2" fontAlgn="base"/>
            <a:r>
              <a:rPr lang="en-US" dirty="0"/>
              <a:t>Regression, an average is taken of all the outputs predicted by the individual classifiers; this is known as “soft voting”. </a:t>
            </a:r>
          </a:p>
          <a:p>
            <a:pPr lvl="2" fontAlgn="base"/>
            <a:r>
              <a:rPr lang="en-US" dirty="0"/>
              <a:t>Classification, the class with the highest majority of votes is accepted; this is “hard voting” or majority voting.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a:t>
            </a:fld>
            <a:endParaRPr lang="en-US"/>
          </a:p>
        </p:txBody>
      </p:sp>
      <p:sp>
        <p:nvSpPr>
          <p:cNvPr id="4" name="Date Placeholder 3"/>
          <p:cNvSpPr>
            <a:spLocks noGrp="1"/>
          </p:cNvSpPr>
          <p:nvPr>
            <p:ph type="dt" sz="half" idx="10"/>
          </p:nvPr>
        </p:nvSpPr>
        <p:spPr/>
        <p:txBody>
          <a:bodyPr/>
          <a:lstStyle/>
          <a:p>
            <a:fld id="{C686DA80-4197-9644-8FC9-D8214573D93E}" type="datetime1">
              <a:rPr lang="en-US" smtClean="0"/>
              <a:t>10/15/24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225664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3ED8-885D-E141-821A-2A456584BEA2}"/>
              </a:ext>
            </a:extLst>
          </p:cNvPr>
          <p:cNvSpPr>
            <a:spLocks noGrp="1"/>
          </p:cNvSpPr>
          <p:nvPr>
            <p:ph type="title"/>
          </p:nvPr>
        </p:nvSpPr>
        <p:spPr/>
        <p:txBody>
          <a:bodyPr/>
          <a:lstStyle/>
          <a:p>
            <a:r>
              <a:rPr lang="en-US"/>
              <a:t>(1): Bagging Decision Trees</a:t>
            </a:r>
          </a:p>
        </p:txBody>
      </p:sp>
      <p:sp>
        <p:nvSpPr>
          <p:cNvPr id="3" name="Content Placeholder 2">
            <a:extLst>
              <a:ext uri="{FF2B5EF4-FFF2-40B4-BE49-F238E27FC236}">
                <a16:creationId xmlns:a16="http://schemas.microsoft.com/office/drawing/2014/main" id="{E67D3961-95F1-F04F-B275-53D5FDAF205C}"/>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413E0667-36F2-B04F-94FF-146CEF2153EE}"/>
              </a:ext>
            </a:extLst>
          </p:cNvPr>
          <p:cNvSpPr>
            <a:spLocks noGrp="1"/>
          </p:cNvSpPr>
          <p:nvPr>
            <p:ph type="dt" sz="half" idx="10"/>
          </p:nvPr>
        </p:nvSpPr>
        <p:spPr/>
        <p:txBody>
          <a:bodyPr/>
          <a:lstStyle/>
          <a:p>
            <a:fld id="{D29036B7-E887-964F-913C-E49AB9655405}" type="datetime1">
              <a:rPr lang="en-US" smtClean="0"/>
              <a:t>10/15/24</a:t>
            </a:fld>
            <a:endParaRPr lang="en-US"/>
          </a:p>
        </p:txBody>
      </p:sp>
      <p:sp>
        <p:nvSpPr>
          <p:cNvPr id="5" name="Footer Placeholder 4">
            <a:extLst>
              <a:ext uri="{FF2B5EF4-FFF2-40B4-BE49-F238E27FC236}">
                <a16:creationId xmlns:a16="http://schemas.microsoft.com/office/drawing/2014/main" id="{31AC3BF6-A620-314B-8137-9B8EA4BAFE5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F8E681E7-BA5E-D94E-BF82-13BEBB130732}"/>
              </a:ext>
            </a:extLst>
          </p:cNvPr>
          <p:cNvSpPr>
            <a:spLocks noGrp="1"/>
          </p:cNvSpPr>
          <p:nvPr>
            <p:ph type="sldNum" sz="quarter" idx="12"/>
          </p:nvPr>
        </p:nvSpPr>
        <p:spPr/>
        <p:txBody>
          <a:bodyPr/>
          <a:lstStyle/>
          <a:p>
            <a:fld id="{19B12225-5612-419B-A8D5-4B8EEE4C217E}" type="slidenum">
              <a:rPr lang="en-US" smtClean="0"/>
              <a:pPr/>
              <a:t>6</a:t>
            </a:fld>
            <a:endParaRPr lang="en-US"/>
          </a:p>
        </p:txBody>
      </p:sp>
      <p:pic>
        <p:nvPicPr>
          <p:cNvPr id="8" name="Picture 7">
            <a:extLst>
              <a:ext uri="{FF2B5EF4-FFF2-40B4-BE49-F238E27FC236}">
                <a16:creationId xmlns:a16="http://schemas.microsoft.com/office/drawing/2014/main" id="{0B203BC8-D90B-0343-88A4-6E38002ADC07}"/>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2500" t="11376" r="2500" b="8624"/>
          <a:stretch/>
        </p:blipFill>
        <p:spPr>
          <a:xfrm>
            <a:off x="457199" y="1295400"/>
            <a:ext cx="8324849" cy="5257801"/>
          </a:xfrm>
          <a:prstGeom prst="rect">
            <a:avLst/>
          </a:prstGeom>
        </p:spPr>
      </p:pic>
      <p:sp>
        <p:nvSpPr>
          <p:cNvPr id="7" name="Rectangle 6">
            <a:extLst>
              <a:ext uri="{FF2B5EF4-FFF2-40B4-BE49-F238E27FC236}">
                <a16:creationId xmlns:a16="http://schemas.microsoft.com/office/drawing/2014/main" id="{835CB960-0C20-EC4F-A3A6-57286E47A7B7}"/>
              </a:ext>
            </a:extLst>
          </p:cNvPr>
          <p:cNvSpPr/>
          <p:nvPr/>
        </p:nvSpPr>
        <p:spPr>
          <a:xfrm>
            <a:off x="457199" y="1828800"/>
            <a:ext cx="2286001" cy="4572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87163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4B4FD-7932-D348-8AAF-6AF5247D4870}"/>
              </a:ext>
            </a:extLst>
          </p:cNvPr>
          <p:cNvSpPr>
            <a:spLocks noGrp="1"/>
          </p:cNvSpPr>
          <p:nvPr>
            <p:ph type="title"/>
          </p:nvPr>
        </p:nvSpPr>
        <p:spPr>
          <a:xfrm>
            <a:off x="457200" y="76200"/>
            <a:ext cx="8686800" cy="987552"/>
          </a:xfrm>
        </p:spPr>
        <p:txBody>
          <a:bodyPr>
            <a:normAutofit/>
          </a:bodyPr>
          <a:lstStyle/>
          <a:p>
            <a:r>
              <a:rPr lang="en-US"/>
              <a:t>(2) Improvement: Random Forests</a:t>
            </a:r>
          </a:p>
        </p:txBody>
      </p:sp>
      <p:sp>
        <p:nvSpPr>
          <p:cNvPr id="3" name="Content Placeholder 2">
            <a:extLst>
              <a:ext uri="{FF2B5EF4-FFF2-40B4-BE49-F238E27FC236}">
                <a16:creationId xmlns:a16="http://schemas.microsoft.com/office/drawing/2014/main" id="{AA2C8B64-3DFC-1C41-8F12-A1C0DB498EDC}"/>
              </a:ext>
            </a:extLst>
          </p:cNvPr>
          <p:cNvSpPr>
            <a:spLocks noGrp="1"/>
          </p:cNvSpPr>
          <p:nvPr>
            <p:ph idx="1"/>
          </p:nvPr>
        </p:nvSpPr>
        <p:spPr>
          <a:xfrm>
            <a:off x="457200" y="1295400"/>
            <a:ext cx="8001000" cy="5257801"/>
          </a:xfrm>
        </p:spPr>
        <p:txBody>
          <a:bodyPr>
            <a:normAutofit fontScale="92500" lnSpcReduction="10000"/>
          </a:bodyPr>
          <a:lstStyle/>
          <a:p>
            <a:r>
              <a:rPr lang="en-US" dirty="0"/>
              <a:t>So far we did </a:t>
            </a:r>
            <a:r>
              <a:rPr lang="en-US" i="1" dirty="0"/>
              <a:t>instance bagging</a:t>
            </a:r>
            <a:r>
              <a:rPr lang="en-US" dirty="0"/>
              <a:t>.</a:t>
            </a:r>
            <a:endParaRPr lang="en-US" b="0" i="0" dirty="0">
              <a:effectLst/>
            </a:endParaRPr>
          </a:p>
          <a:p>
            <a:pPr lvl="1"/>
            <a:r>
              <a:rPr lang="en-US" b="1" dirty="0"/>
              <a:t>D</a:t>
            </a:r>
            <a:r>
              <a:rPr lang="en-US" b="1" i="0" dirty="0">
                <a:effectLst/>
              </a:rPr>
              <a:t>ecision trees are greedy </a:t>
            </a:r>
          </a:p>
          <a:p>
            <a:pPr lvl="1"/>
            <a:r>
              <a:rPr lang="en-US" b="0" i="0" dirty="0">
                <a:effectLst/>
              </a:rPr>
              <a:t>They choose which variable to split on using a greedy algorithm that minimizes error. </a:t>
            </a:r>
          </a:p>
          <a:p>
            <a:pPr lvl="1"/>
            <a:r>
              <a:rPr lang="en-US" b="0" i="0" dirty="0">
                <a:effectLst/>
              </a:rPr>
              <a:t>Even with Bagging, the decision trees can have a lot of structural similarities and in turn have </a:t>
            </a:r>
            <a:r>
              <a:rPr lang="en-US" b="0" i="0" u="none" strike="noStrike" dirty="0">
                <a:effectLst/>
                <a:hlinkClick r:id="rId3">
                  <a:extLst>
                    <a:ext uri="{A12FA001-AC4F-418D-AE19-62706E023703}">
                      <ahyp:hlinkClr xmlns:ahyp="http://schemas.microsoft.com/office/drawing/2018/hyperlinkcolor" val="tx"/>
                    </a:ext>
                  </a:extLst>
                </a:hlinkClick>
              </a:rPr>
              <a:t>high correlation</a:t>
            </a:r>
            <a:r>
              <a:rPr lang="en-US" b="0" i="0" dirty="0">
                <a:effectLst/>
              </a:rPr>
              <a:t> in their predictions.</a:t>
            </a:r>
          </a:p>
          <a:p>
            <a:pPr lvl="1"/>
            <a:endParaRPr lang="en-US" dirty="0"/>
          </a:p>
          <a:p>
            <a:r>
              <a:rPr lang="en-US" b="1" dirty="0"/>
              <a:t>Feature Bagging </a:t>
            </a:r>
          </a:p>
          <a:p>
            <a:pPr lvl="1"/>
            <a:r>
              <a:rPr lang="en-US" dirty="0"/>
              <a:t>Pick a </a:t>
            </a:r>
            <a:r>
              <a:rPr lang="en-US" i="0" dirty="0">
                <a:effectLst/>
              </a:rPr>
              <a:t>random sample of features at each split</a:t>
            </a:r>
            <a:endParaRPr lang="en-US" dirty="0"/>
          </a:p>
          <a:p>
            <a:pPr lvl="1"/>
            <a:r>
              <a:rPr lang="en-US" b="0" i="0" dirty="0">
                <a:effectLst/>
              </a:rPr>
              <a:t>less correlation among trees</a:t>
            </a:r>
          </a:p>
          <a:p>
            <a:pPr lvl="1"/>
            <a:r>
              <a:rPr lang="en-US" b="1" dirty="0"/>
              <a:t>Random forest</a:t>
            </a:r>
          </a:p>
        </p:txBody>
      </p:sp>
      <p:sp>
        <p:nvSpPr>
          <p:cNvPr id="4" name="Date Placeholder 3">
            <a:extLst>
              <a:ext uri="{FF2B5EF4-FFF2-40B4-BE49-F238E27FC236}">
                <a16:creationId xmlns:a16="http://schemas.microsoft.com/office/drawing/2014/main" id="{3014C66A-7FD2-3E43-96D5-E3F7E27E1A31}"/>
              </a:ext>
            </a:extLst>
          </p:cNvPr>
          <p:cNvSpPr>
            <a:spLocks noGrp="1"/>
          </p:cNvSpPr>
          <p:nvPr>
            <p:ph type="dt" sz="half" idx="10"/>
          </p:nvPr>
        </p:nvSpPr>
        <p:spPr/>
        <p:txBody>
          <a:bodyPr/>
          <a:lstStyle/>
          <a:p>
            <a:fld id="{FDB1D9F0-6AB5-9A48-9FDA-F410EB1B5E17}" type="datetime1">
              <a:rPr lang="en-US" smtClean="0"/>
              <a:t>10/15/24</a:t>
            </a:fld>
            <a:endParaRPr lang="en-US"/>
          </a:p>
        </p:txBody>
      </p:sp>
      <p:sp>
        <p:nvSpPr>
          <p:cNvPr id="5" name="Footer Placeholder 4">
            <a:extLst>
              <a:ext uri="{FF2B5EF4-FFF2-40B4-BE49-F238E27FC236}">
                <a16:creationId xmlns:a16="http://schemas.microsoft.com/office/drawing/2014/main" id="{DA4A054B-6290-B049-AFAC-D274663D48B3}"/>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F4C13E90-4261-1141-A856-48C555854DFB}"/>
              </a:ext>
            </a:extLst>
          </p:cNvPr>
          <p:cNvSpPr>
            <a:spLocks noGrp="1"/>
          </p:cNvSpPr>
          <p:nvPr>
            <p:ph type="sldNum" sz="quarter" idx="12"/>
          </p:nvPr>
        </p:nvSpPr>
        <p:spPr/>
        <p:txBody>
          <a:bodyPr/>
          <a:lstStyle/>
          <a:p>
            <a:fld id="{19B12225-5612-419B-A8D5-4B8EEE4C217E}" type="slidenum">
              <a:rPr lang="en-US" smtClean="0"/>
              <a:pPr/>
              <a:t>7</a:t>
            </a:fld>
            <a:endParaRPr lang="en-US"/>
          </a:p>
        </p:txBody>
      </p:sp>
    </p:spTree>
    <p:extLst>
      <p:ext uri="{BB962C8B-B14F-4D97-AF65-F5344CB8AC3E}">
        <p14:creationId xmlns:p14="http://schemas.microsoft.com/office/powerpoint/2010/main" val="428363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F8EAF-ADAD-8C44-352A-B86366AC8C02}"/>
              </a:ext>
            </a:extLst>
          </p:cNvPr>
          <p:cNvSpPr>
            <a:spLocks noGrp="1"/>
          </p:cNvSpPr>
          <p:nvPr>
            <p:ph type="title"/>
          </p:nvPr>
        </p:nvSpPr>
        <p:spPr/>
        <p:txBody>
          <a:bodyPr/>
          <a:lstStyle/>
          <a:p>
            <a:r>
              <a:rPr lang="en-US" dirty="0"/>
              <a:t>Ensemble learning</a:t>
            </a:r>
          </a:p>
        </p:txBody>
      </p:sp>
      <p:sp>
        <p:nvSpPr>
          <p:cNvPr id="3" name="Content Placeholder 2">
            <a:extLst>
              <a:ext uri="{FF2B5EF4-FFF2-40B4-BE49-F238E27FC236}">
                <a16:creationId xmlns:a16="http://schemas.microsoft.com/office/drawing/2014/main" id="{324FB64C-9DD1-9640-EC10-0692B3FD7594}"/>
              </a:ext>
            </a:extLst>
          </p:cNvPr>
          <p:cNvSpPr>
            <a:spLocks noGrp="1"/>
          </p:cNvSpPr>
          <p:nvPr>
            <p:ph idx="1"/>
          </p:nvPr>
        </p:nvSpPr>
        <p:spPr/>
        <p:txBody>
          <a:bodyPr/>
          <a:lstStyle/>
          <a:p>
            <a:r>
              <a:rPr lang="en-US" dirty="0"/>
              <a:t>Assumption: Low/zero correlations</a:t>
            </a:r>
          </a:p>
          <a:p>
            <a:r>
              <a:rPr lang="en-US" dirty="0"/>
              <a:t>Bagging helps with less correlation</a:t>
            </a:r>
          </a:p>
          <a:p>
            <a:pPr lvl="1"/>
            <a:r>
              <a:rPr lang="en-US" dirty="0"/>
              <a:t>Instance &amp; feature </a:t>
            </a:r>
          </a:p>
        </p:txBody>
      </p:sp>
      <p:sp>
        <p:nvSpPr>
          <p:cNvPr id="4" name="Date Placeholder 3">
            <a:extLst>
              <a:ext uri="{FF2B5EF4-FFF2-40B4-BE49-F238E27FC236}">
                <a16:creationId xmlns:a16="http://schemas.microsoft.com/office/drawing/2014/main" id="{9D79DD87-AD1B-2E98-F9EA-DC7B9A6A41DD}"/>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32C6E3E6-DEF0-9CFF-03E2-9C9987DA0A6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E6358B2A-1324-6761-EA2E-ABB46E3F6B44}"/>
              </a:ext>
            </a:extLst>
          </p:cNvPr>
          <p:cNvSpPr>
            <a:spLocks noGrp="1"/>
          </p:cNvSpPr>
          <p:nvPr>
            <p:ph type="sldNum" sz="quarter" idx="12"/>
          </p:nvPr>
        </p:nvSpPr>
        <p:spPr/>
        <p:txBody>
          <a:bodyPr/>
          <a:lstStyle/>
          <a:p>
            <a:fld id="{19B12225-5612-419B-A8D5-4B8EEE4C217E}" type="slidenum">
              <a:rPr lang="en-US" smtClean="0"/>
              <a:pPr/>
              <a:t>8</a:t>
            </a:fld>
            <a:endParaRPr lang="en-US"/>
          </a:p>
        </p:txBody>
      </p:sp>
    </p:spTree>
    <p:extLst>
      <p:ext uri="{BB962C8B-B14F-4D97-AF65-F5344CB8AC3E}">
        <p14:creationId xmlns:p14="http://schemas.microsoft.com/office/powerpoint/2010/main" val="409034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4B4FD-7932-D348-8AAF-6AF5247D4870}"/>
              </a:ext>
            </a:extLst>
          </p:cNvPr>
          <p:cNvSpPr>
            <a:spLocks noGrp="1"/>
          </p:cNvSpPr>
          <p:nvPr>
            <p:ph type="title"/>
          </p:nvPr>
        </p:nvSpPr>
        <p:spPr>
          <a:xfrm>
            <a:off x="457200" y="76200"/>
            <a:ext cx="8686800" cy="987552"/>
          </a:xfrm>
        </p:spPr>
        <p:txBody>
          <a:bodyPr>
            <a:normAutofit/>
          </a:bodyPr>
          <a:lstStyle/>
          <a:p>
            <a:r>
              <a:rPr lang="en-US"/>
              <a:t>(2) Improvement: Random Forests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2C8B64-3DFC-1C41-8F12-A1C0DB498EDC}"/>
                  </a:ext>
                </a:extLst>
              </p:cNvPr>
              <p:cNvSpPr>
                <a:spLocks noGrp="1"/>
              </p:cNvSpPr>
              <p:nvPr>
                <p:ph idx="1"/>
              </p:nvPr>
            </p:nvSpPr>
            <p:spPr>
              <a:xfrm>
                <a:off x="457200" y="1295400"/>
                <a:ext cx="8001000" cy="5257801"/>
              </a:xfrm>
            </p:spPr>
            <p:txBody>
              <a:bodyPr>
                <a:normAutofit fontScale="92500" lnSpcReduction="20000"/>
              </a:bodyPr>
              <a:lstStyle/>
              <a:p>
                <a:r>
                  <a:rPr lang="en-US" dirty="0"/>
                  <a:t>Train a </a:t>
                </a:r>
                <a:r>
                  <a:rPr lang="en-US" b="1" dirty="0">
                    <a:solidFill>
                      <a:srgbClr val="0000FF"/>
                    </a:solidFill>
                  </a:rPr>
                  <a:t>Bagged Decision Tree</a:t>
                </a:r>
              </a:p>
              <a:p>
                <a:r>
                  <a:rPr lang="en-US" dirty="0"/>
                  <a:t>But use a modified tree learning algorithm that selects (at each candidate split) </a:t>
                </a:r>
                <a:r>
                  <a:rPr lang="en-US" b="1" dirty="0">
                    <a:solidFill>
                      <a:srgbClr val="D60093"/>
                    </a:solidFill>
                  </a:rPr>
                  <a:t>a random subset of features</a:t>
                </a:r>
              </a:p>
              <a:p>
                <a:pPr lvl="1"/>
                <a:r>
                  <a:rPr lang="en-US" dirty="0"/>
                  <a:t>If we have </a:t>
                </a:r>
                <a14:m>
                  <m:oMath xmlns:m="http://schemas.openxmlformats.org/officeDocument/2006/math">
                    <m:r>
                      <a:rPr lang="en-US" i="1" dirty="0" smtClean="0">
                        <a:latin typeface="Cambria Math" panose="02040503050406030204" pitchFamily="18" charset="0"/>
                      </a:rPr>
                      <m:t>𝑑</m:t>
                    </m:r>
                  </m:oMath>
                </a14:m>
                <a:r>
                  <a:rPr lang="en-US" dirty="0"/>
                  <a:t> features, consider </a:t>
                </a:r>
                <a14:m>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𝑑</m:t>
                        </m:r>
                      </m:e>
                    </m:rad>
                  </m:oMath>
                </a14:m>
                <a:r>
                  <a:rPr lang="en-US" dirty="0"/>
                  <a:t> random features</a:t>
                </a:r>
              </a:p>
              <a:p>
                <a:endParaRPr lang="en-US" dirty="0"/>
              </a:p>
              <a:p>
                <a:r>
                  <a:rPr lang="en-US" b="1" dirty="0">
                    <a:solidFill>
                      <a:srgbClr val="0000FF"/>
                    </a:solidFill>
                  </a:rPr>
                  <a:t>This is called: </a:t>
                </a:r>
                <a:r>
                  <a:rPr lang="en-US" b="1" u="sng" dirty="0">
                    <a:solidFill>
                      <a:srgbClr val="0000FF"/>
                    </a:solidFill>
                  </a:rPr>
                  <a:t>Feature bagging</a:t>
                </a:r>
              </a:p>
              <a:p>
                <a:pPr lvl="1"/>
                <a:r>
                  <a:rPr lang="en-US" b="1" dirty="0"/>
                  <a:t>Benefit:</a:t>
                </a:r>
                <a:r>
                  <a:rPr lang="en-US" dirty="0"/>
                  <a:t> Breaks correlation between trees</a:t>
                </a:r>
              </a:p>
              <a:p>
                <a:pPr lvl="2"/>
                <a:r>
                  <a:rPr lang="en-US" dirty="0"/>
                  <a:t>If one feature is very strong predictor, then every tree will </a:t>
                </a:r>
                <a:br>
                  <a:rPr lang="en-US" dirty="0"/>
                </a:br>
                <a:r>
                  <a:rPr lang="en-US" dirty="0"/>
                  <a:t>select it, causing trees to be correlated.</a:t>
                </a:r>
              </a:p>
              <a:p>
                <a:pPr lvl="2"/>
                <a:endParaRPr lang="en-US" dirty="0"/>
              </a:p>
              <a:p>
                <a:r>
                  <a:rPr lang="en-US" b="1" dirty="0">
                    <a:solidFill>
                      <a:srgbClr val="008000"/>
                    </a:solidFill>
                  </a:rPr>
                  <a:t>Random Forests achieve state-of-the-art results in many classification problems!</a:t>
                </a:r>
              </a:p>
            </p:txBody>
          </p:sp>
        </mc:Choice>
        <mc:Fallback xmlns="">
          <p:sp>
            <p:nvSpPr>
              <p:cNvPr id="3" name="Content Placeholder 2">
                <a:extLst>
                  <a:ext uri="{FF2B5EF4-FFF2-40B4-BE49-F238E27FC236}">
                    <a16:creationId xmlns:a16="http://schemas.microsoft.com/office/drawing/2014/main" id="{AA2C8B64-3DFC-1C41-8F12-A1C0DB498EDC}"/>
                  </a:ext>
                </a:extLst>
              </p:cNvPr>
              <p:cNvSpPr>
                <a:spLocks noGrp="1" noRot="1" noChangeAspect="1" noMove="1" noResize="1" noEditPoints="1" noAdjustHandles="1" noChangeArrowheads="1" noChangeShapeType="1" noTextEdit="1"/>
              </p:cNvSpPr>
              <p:nvPr>
                <p:ph idx="1"/>
              </p:nvPr>
            </p:nvSpPr>
            <p:spPr>
              <a:xfrm>
                <a:off x="457200" y="1295400"/>
                <a:ext cx="8001000" cy="5257801"/>
              </a:xfrm>
              <a:blipFill>
                <a:blip r:embed="rId3"/>
                <a:stretch>
                  <a:fillRect t="-1932" r="-79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014C66A-7FD2-3E43-96D5-E3F7E27E1A31}"/>
              </a:ext>
            </a:extLst>
          </p:cNvPr>
          <p:cNvSpPr>
            <a:spLocks noGrp="1"/>
          </p:cNvSpPr>
          <p:nvPr>
            <p:ph type="dt" sz="half" idx="10"/>
          </p:nvPr>
        </p:nvSpPr>
        <p:spPr/>
        <p:txBody>
          <a:bodyPr/>
          <a:lstStyle/>
          <a:p>
            <a:fld id="{FDB1D9F0-6AB5-9A48-9FDA-F410EB1B5E17}" type="datetime1">
              <a:rPr lang="en-US" smtClean="0"/>
              <a:t>10/15/24</a:t>
            </a:fld>
            <a:endParaRPr lang="en-US"/>
          </a:p>
        </p:txBody>
      </p:sp>
      <p:sp>
        <p:nvSpPr>
          <p:cNvPr id="5" name="Footer Placeholder 4">
            <a:extLst>
              <a:ext uri="{FF2B5EF4-FFF2-40B4-BE49-F238E27FC236}">
                <a16:creationId xmlns:a16="http://schemas.microsoft.com/office/drawing/2014/main" id="{DA4A054B-6290-B049-AFAC-D274663D48B3}"/>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F4C13E90-4261-1141-A856-48C555854DFB}"/>
              </a:ext>
            </a:extLst>
          </p:cNvPr>
          <p:cNvSpPr>
            <a:spLocks noGrp="1"/>
          </p:cNvSpPr>
          <p:nvPr>
            <p:ph type="sldNum" sz="quarter" idx="12"/>
          </p:nvPr>
        </p:nvSpPr>
        <p:spPr/>
        <p:txBody>
          <a:bodyPr/>
          <a:lstStyle/>
          <a:p>
            <a:fld id="{19B12225-5612-419B-A8D5-4B8EEE4C217E}" type="slidenum">
              <a:rPr lang="en-US" smtClean="0"/>
              <a:pPr/>
              <a:t>9</a:t>
            </a:fld>
            <a:endParaRPr lang="en-US"/>
          </a:p>
        </p:txBody>
      </p:sp>
    </p:spTree>
    <p:extLst>
      <p:ext uri="{BB962C8B-B14F-4D97-AF65-F5344CB8AC3E}">
        <p14:creationId xmlns:p14="http://schemas.microsoft.com/office/powerpoint/2010/main" val="3351306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699D-C78B-4993-9508-4D6F8EDB8DDF}"/>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a:t>(3): Boosting</a:t>
            </a:r>
          </a:p>
        </p:txBody>
      </p:sp>
      <p:sp>
        <p:nvSpPr>
          <p:cNvPr id="3" name="Content Placeholder 2">
            <a:extLst>
              <a:ext uri="{FF2B5EF4-FFF2-40B4-BE49-F238E27FC236}">
                <a16:creationId xmlns:a16="http://schemas.microsoft.com/office/drawing/2014/main" id="{6D9BC003-D2B9-4E2B-87A7-5BCECE39B8E4}"/>
              </a:ext>
            </a:extLst>
          </p:cNvPr>
          <p:cNvSpPr>
            <a:spLocks noGrp="1"/>
          </p:cNvSpPr>
          <p:nvPr>
            <p:ph idx="1"/>
          </p:nvPr>
        </p:nvSpPr>
        <p:spPr>
          <a:xfrm>
            <a:off x="379163" y="1321282"/>
            <a:ext cx="8716391" cy="2963828"/>
          </a:xfrm>
        </p:spPr>
        <p:txBody>
          <a:bodyPr vert="horz" lIns="54864" tIns="91440" rIns="91440" bIns="45720" rtlCol="0" anchor="t">
            <a:normAutofit/>
          </a:bodyPr>
          <a:lstStyle/>
          <a:p>
            <a:pPr marL="438785"/>
            <a:r>
              <a:rPr lang="en-US" b="1" dirty="0">
                <a:solidFill>
                  <a:srgbClr val="D60093"/>
                </a:solidFill>
                <a:latin typeface="Calibri"/>
                <a:cs typeface="Calibri"/>
              </a:rPr>
              <a:t>Boosting: </a:t>
            </a:r>
            <a:r>
              <a:rPr lang="en-US" dirty="0">
                <a:solidFill>
                  <a:srgbClr val="D60093"/>
                </a:solidFill>
                <a:latin typeface="Calibri"/>
                <a:cs typeface="Calibri"/>
              </a:rPr>
              <a:t>Another ensemble learning algorithm</a:t>
            </a:r>
            <a:endParaRPr lang="en-US" dirty="0">
              <a:solidFill>
                <a:srgbClr val="D60093"/>
              </a:solidFill>
            </a:endParaRPr>
          </a:p>
          <a:p>
            <a:pPr lvl="1"/>
            <a:r>
              <a:rPr lang="en-US" sz="2400" dirty="0">
                <a:solidFill>
                  <a:srgbClr val="000000"/>
                </a:solidFill>
                <a:latin typeface="Calibri"/>
                <a:cs typeface="Calibri"/>
              </a:rPr>
              <a:t>Combines the outputs of many “weak” classifiers to produce a powerful “committee” </a:t>
            </a:r>
          </a:p>
          <a:p>
            <a:pPr lvl="1">
              <a:buClr>
                <a:srgbClr val="60B5CC"/>
              </a:buClr>
            </a:pPr>
            <a:r>
              <a:rPr lang="en-US" sz="2400" dirty="0">
                <a:latin typeface="Calibri"/>
                <a:cs typeface="Calibri"/>
              </a:rPr>
              <a:t>Learns multiple trees </a:t>
            </a:r>
            <a:r>
              <a:rPr lang="en-US" sz="2400" b="1" dirty="0">
                <a:latin typeface="Calibri"/>
                <a:cs typeface="Calibri"/>
              </a:rPr>
              <a:t>sequentially</a:t>
            </a:r>
            <a:r>
              <a:rPr lang="en-US" sz="2400" dirty="0">
                <a:latin typeface="Calibri"/>
                <a:cs typeface="Calibri"/>
              </a:rPr>
              <a:t>, each trying to improve upon its predecessor</a:t>
            </a:r>
          </a:p>
          <a:p>
            <a:pPr lvl="1">
              <a:buClr>
                <a:srgbClr val="60B5CC"/>
              </a:buClr>
            </a:pPr>
            <a:r>
              <a:rPr lang="en-US" sz="2400" dirty="0">
                <a:latin typeface="Calibri"/>
                <a:cs typeface="Calibri"/>
              </a:rPr>
              <a:t>Final classifier is weighted sum of the individual classifiers</a:t>
            </a:r>
            <a:endParaRPr lang="en-US" sz="2400" dirty="0">
              <a:solidFill>
                <a:srgbClr val="000000"/>
              </a:solidFill>
              <a:latin typeface="Calibri"/>
              <a:cs typeface="Calibri"/>
            </a:endParaRPr>
          </a:p>
          <a:p>
            <a:pPr lvl="1">
              <a:buClr>
                <a:srgbClr val="60B5CC"/>
              </a:buClr>
            </a:pPr>
            <a:endParaRPr lang="en-US" sz="2400" dirty="0">
              <a:solidFill>
                <a:srgbClr val="000000"/>
              </a:solidFill>
              <a:latin typeface="Calibri"/>
              <a:cs typeface="Calibri"/>
            </a:endParaRPr>
          </a:p>
          <a:p>
            <a:pPr lvl="1">
              <a:buClr>
                <a:srgbClr val="60B5CC"/>
              </a:buClr>
            </a:pPr>
            <a:endParaRPr lang="en-US" sz="2400" dirty="0">
              <a:solidFill>
                <a:srgbClr val="000000"/>
              </a:solidFill>
              <a:latin typeface="Calibri"/>
              <a:cs typeface="Calibri"/>
            </a:endParaRPr>
          </a:p>
          <a:p>
            <a:pPr lvl="1">
              <a:buClr>
                <a:srgbClr val="60B5CC"/>
              </a:buClr>
            </a:pPr>
            <a:endParaRPr lang="en-US" sz="2400" dirty="0">
              <a:solidFill>
                <a:srgbClr val="000000"/>
              </a:solidFill>
            </a:endParaRPr>
          </a:p>
          <a:p>
            <a:pPr lvl="1">
              <a:buClr>
                <a:srgbClr val="60B5CC"/>
              </a:buClr>
            </a:pPr>
            <a:endParaRPr lang="en-US" sz="2400" dirty="0"/>
          </a:p>
          <a:p>
            <a:pPr marL="457200" lvl="1" indent="0">
              <a:buClr>
                <a:srgbClr val="60B5CC"/>
              </a:buClr>
              <a:buNone/>
            </a:pPr>
            <a:endParaRPr lang="en-US" dirty="0"/>
          </a:p>
          <a:p>
            <a:pPr marL="457200" lvl="1" indent="0">
              <a:buClr>
                <a:srgbClr val="60B5CC"/>
              </a:buClr>
              <a:buNone/>
            </a:pPr>
            <a:endParaRPr lang="en-US" sz="2400" dirty="0"/>
          </a:p>
          <a:p>
            <a:pPr marL="438785">
              <a:buClr>
                <a:srgbClr val="F0AD00"/>
              </a:buClr>
            </a:pPr>
            <a:endParaRPr lang="en-US" dirty="0"/>
          </a:p>
        </p:txBody>
      </p:sp>
      <p:sp>
        <p:nvSpPr>
          <p:cNvPr id="4" name="Date Placeholder 3">
            <a:extLst>
              <a:ext uri="{FF2B5EF4-FFF2-40B4-BE49-F238E27FC236}">
                <a16:creationId xmlns:a16="http://schemas.microsoft.com/office/drawing/2014/main" id="{D835A256-905D-434B-A646-609EDBAE1261}"/>
              </a:ext>
            </a:extLst>
          </p:cNvPr>
          <p:cNvSpPr>
            <a:spLocks noGrp="1"/>
          </p:cNvSpPr>
          <p:nvPr>
            <p:ph type="dt" sz="half" idx="10"/>
          </p:nvPr>
        </p:nvSpPr>
        <p:spPr/>
        <p:txBody>
          <a:bodyPr/>
          <a:lstStyle/>
          <a:p>
            <a:fld id="{CC6E3376-2367-B441-BC50-D087F997D1A3}" type="datetime1">
              <a:rPr lang="en-US" smtClean="0"/>
              <a:t>10/15/24</a:t>
            </a:fld>
            <a:endParaRPr lang="en-US"/>
          </a:p>
        </p:txBody>
      </p:sp>
      <p:sp>
        <p:nvSpPr>
          <p:cNvPr id="5" name="Footer Placeholder 4">
            <a:extLst>
              <a:ext uri="{FF2B5EF4-FFF2-40B4-BE49-F238E27FC236}">
                <a16:creationId xmlns:a16="http://schemas.microsoft.com/office/drawing/2014/main" id="{2E4292BE-CD63-4B81-9936-A3925C8DA454}"/>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C051575E-46BC-4AFF-9ED4-BC4840A6DAE9}"/>
              </a:ext>
            </a:extLst>
          </p:cNvPr>
          <p:cNvSpPr>
            <a:spLocks noGrp="1"/>
          </p:cNvSpPr>
          <p:nvPr>
            <p:ph type="sldNum" sz="quarter" idx="12"/>
          </p:nvPr>
        </p:nvSpPr>
        <p:spPr/>
        <p:txBody>
          <a:bodyPr/>
          <a:lstStyle/>
          <a:p>
            <a:fld id="{19B12225-5612-419B-A8D5-4B8EEE4C217E}" type="slidenum">
              <a:rPr lang="en-US" smtClean="0"/>
              <a:pPr/>
              <a:t>10</a:t>
            </a:fld>
            <a:endParaRPr lang="en-US"/>
          </a:p>
        </p:txBody>
      </p:sp>
      <p:cxnSp>
        <p:nvCxnSpPr>
          <p:cNvPr id="10" name="Straight Arrow Connector 9">
            <a:extLst>
              <a:ext uri="{FF2B5EF4-FFF2-40B4-BE49-F238E27FC236}">
                <a16:creationId xmlns:a16="http://schemas.microsoft.com/office/drawing/2014/main" id="{904F90B4-E757-43A9-82AB-0F3BFE9C8D87}"/>
              </a:ext>
            </a:extLst>
          </p:cNvPr>
          <p:cNvCxnSpPr>
            <a:cxnSpLocks/>
          </p:cNvCxnSpPr>
          <p:nvPr/>
        </p:nvCxnSpPr>
        <p:spPr>
          <a:xfrm flipV="1">
            <a:off x="1429979" y="5058002"/>
            <a:ext cx="379454"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E98D4254-44E4-4852-A3CC-A3EA234179B8}"/>
              </a:ext>
            </a:extLst>
          </p:cNvPr>
          <p:cNvCxnSpPr>
            <a:cxnSpLocks/>
          </p:cNvCxnSpPr>
          <p:nvPr/>
        </p:nvCxnSpPr>
        <p:spPr>
          <a:xfrm>
            <a:off x="2878174" y="5044091"/>
            <a:ext cx="300477"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Flowchart: Process 11">
            <a:extLst>
              <a:ext uri="{FF2B5EF4-FFF2-40B4-BE49-F238E27FC236}">
                <a16:creationId xmlns:a16="http://schemas.microsoft.com/office/drawing/2014/main" id="{146EED08-7788-422E-80F7-01D17E40666C}"/>
              </a:ext>
            </a:extLst>
          </p:cNvPr>
          <p:cNvSpPr/>
          <p:nvPr/>
        </p:nvSpPr>
        <p:spPr>
          <a:xfrm>
            <a:off x="3381365" y="4351061"/>
            <a:ext cx="979449" cy="1364500"/>
          </a:xfrm>
          <a:prstGeom prst="flowChartProcess">
            <a:avLst/>
          </a:prstGeom>
          <a:ln/>
        </p:spPr>
        <p:style>
          <a:lnRef idx="2">
            <a:schemeClr val="accent3">
              <a:shade val="50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en-US" sz="1400"/>
              <a:t>Data re-weighting based on residual</a:t>
            </a:r>
          </a:p>
        </p:txBody>
      </p:sp>
      <p:cxnSp>
        <p:nvCxnSpPr>
          <p:cNvPr id="13" name="Straight Arrow Connector 12">
            <a:extLst>
              <a:ext uri="{FF2B5EF4-FFF2-40B4-BE49-F238E27FC236}">
                <a16:creationId xmlns:a16="http://schemas.microsoft.com/office/drawing/2014/main" id="{E33064C1-8EDB-4068-9681-069603D07A87}"/>
              </a:ext>
            </a:extLst>
          </p:cNvPr>
          <p:cNvCxnSpPr>
            <a:cxnSpLocks/>
          </p:cNvCxnSpPr>
          <p:nvPr/>
        </p:nvCxnSpPr>
        <p:spPr>
          <a:xfrm>
            <a:off x="4521984" y="5044091"/>
            <a:ext cx="24865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4" name="Flowchart: Predefined Process 13">
            <a:extLst>
              <a:ext uri="{FF2B5EF4-FFF2-40B4-BE49-F238E27FC236}">
                <a16:creationId xmlns:a16="http://schemas.microsoft.com/office/drawing/2014/main" id="{A1D13D50-A828-4C26-A151-4457667E4211}"/>
              </a:ext>
            </a:extLst>
          </p:cNvPr>
          <p:cNvSpPr/>
          <p:nvPr/>
        </p:nvSpPr>
        <p:spPr>
          <a:xfrm rot="5400000">
            <a:off x="108529" y="4603525"/>
            <a:ext cx="1382615" cy="924791"/>
          </a:xfrm>
          <a:prstGeom prst="flowChartPredefinedProcess">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8E479D5-1779-4915-A90B-DDC686D75DBA}"/>
              </a:ext>
            </a:extLst>
          </p:cNvPr>
          <p:cNvSpPr/>
          <p:nvPr/>
        </p:nvSpPr>
        <p:spPr>
          <a:xfrm>
            <a:off x="2188813" y="4361032"/>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CA3AD50D-83AA-40A3-AF57-7F03BD8FAAF0}"/>
              </a:ext>
            </a:extLst>
          </p:cNvPr>
          <p:cNvCxnSpPr/>
          <p:nvPr/>
        </p:nvCxnSpPr>
        <p:spPr>
          <a:xfrm flipH="1">
            <a:off x="2051154" y="4563827"/>
            <a:ext cx="197907" cy="544208"/>
          </a:xfrm>
          <a:prstGeom prst="straightConnector1">
            <a:avLst/>
          </a:prstGeom>
          <a:ln w="28575"/>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FDBECB4A-4844-4EAD-A0B3-9A018009F87F}"/>
              </a:ext>
            </a:extLst>
          </p:cNvPr>
          <p:cNvCxnSpPr>
            <a:cxnSpLocks/>
          </p:cNvCxnSpPr>
          <p:nvPr/>
        </p:nvCxnSpPr>
        <p:spPr>
          <a:xfrm>
            <a:off x="2368410" y="4570589"/>
            <a:ext cx="224378" cy="577537"/>
          </a:xfrm>
          <a:prstGeom prst="straightConnector1">
            <a:avLst/>
          </a:prstGeom>
          <a:ln w="28575"/>
        </p:spPr>
        <p:style>
          <a:lnRef idx="1">
            <a:schemeClr val="dk1"/>
          </a:lnRef>
          <a:fillRef idx="0">
            <a:schemeClr val="dk1"/>
          </a:fillRef>
          <a:effectRef idx="0">
            <a:schemeClr val="dk1"/>
          </a:effectRef>
          <a:fontRef idx="minor">
            <a:schemeClr val="tx1"/>
          </a:fontRef>
        </p:style>
      </p:cxnSp>
      <p:sp>
        <p:nvSpPr>
          <p:cNvPr id="27" name="Oval 26">
            <a:extLst>
              <a:ext uri="{FF2B5EF4-FFF2-40B4-BE49-F238E27FC236}">
                <a16:creationId xmlns:a16="http://schemas.microsoft.com/office/drawing/2014/main" id="{E0A10291-CACE-4E8C-94A0-6B0B16B068FD}"/>
              </a:ext>
            </a:extLst>
          </p:cNvPr>
          <p:cNvSpPr/>
          <p:nvPr/>
        </p:nvSpPr>
        <p:spPr>
          <a:xfrm>
            <a:off x="2516413" y="5113307"/>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28" name="Oval 27">
            <a:extLst>
              <a:ext uri="{FF2B5EF4-FFF2-40B4-BE49-F238E27FC236}">
                <a16:creationId xmlns:a16="http://schemas.microsoft.com/office/drawing/2014/main" id="{EFAF4F75-6D40-4FD4-B16D-207381932C30}"/>
              </a:ext>
            </a:extLst>
          </p:cNvPr>
          <p:cNvSpPr/>
          <p:nvPr/>
        </p:nvSpPr>
        <p:spPr>
          <a:xfrm>
            <a:off x="1910023" y="5107034"/>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33" name="TextBox 32">
            <a:extLst>
              <a:ext uri="{FF2B5EF4-FFF2-40B4-BE49-F238E27FC236}">
                <a16:creationId xmlns:a16="http://schemas.microsoft.com/office/drawing/2014/main" id="{AFED546D-F696-408B-BC43-A9D919256716}"/>
              </a:ext>
            </a:extLst>
          </p:cNvPr>
          <p:cNvSpPr txBox="1"/>
          <p:nvPr/>
        </p:nvSpPr>
        <p:spPr>
          <a:xfrm>
            <a:off x="458772" y="4853389"/>
            <a:ext cx="8346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latin typeface="Arial"/>
                <a:cs typeface="Arial"/>
              </a:rPr>
              <a:t>Data</a:t>
            </a:r>
          </a:p>
        </p:txBody>
      </p:sp>
      <p:sp>
        <p:nvSpPr>
          <p:cNvPr id="34" name="TextBox 33">
            <a:extLst>
              <a:ext uri="{FF2B5EF4-FFF2-40B4-BE49-F238E27FC236}">
                <a16:creationId xmlns:a16="http://schemas.microsoft.com/office/drawing/2014/main" id="{7E1D754C-8B28-4101-AF6D-9B412A38B3DA}"/>
              </a:ext>
            </a:extLst>
          </p:cNvPr>
          <p:cNvSpPr txBox="1"/>
          <p:nvPr/>
        </p:nvSpPr>
        <p:spPr>
          <a:xfrm>
            <a:off x="3223021" y="4793903"/>
            <a:ext cx="184731"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endParaRPr lang="en-US">
              <a:latin typeface="Arial" pitchFamily="34" charset="0"/>
              <a:cs typeface="Arial" pitchFamily="34" charset="0"/>
            </a:endParaRPr>
          </a:p>
        </p:txBody>
      </p:sp>
      <p:sp>
        <p:nvSpPr>
          <p:cNvPr id="44" name="Oval 43">
            <a:extLst>
              <a:ext uri="{FF2B5EF4-FFF2-40B4-BE49-F238E27FC236}">
                <a16:creationId xmlns:a16="http://schemas.microsoft.com/office/drawing/2014/main" id="{5A6CCAFE-528D-40B3-A97A-BB8F88215DFF}"/>
              </a:ext>
            </a:extLst>
          </p:cNvPr>
          <p:cNvSpPr/>
          <p:nvPr/>
        </p:nvSpPr>
        <p:spPr>
          <a:xfrm>
            <a:off x="5217324" y="4332471"/>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98E7A0F3-FF9E-42C7-AFF2-2C1030575A1A}"/>
              </a:ext>
            </a:extLst>
          </p:cNvPr>
          <p:cNvCxnSpPr>
            <a:cxnSpLocks/>
          </p:cNvCxnSpPr>
          <p:nvPr/>
        </p:nvCxnSpPr>
        <p:spPr>
          <a:xfrm flipH="1">
            <a:off x="5068068" y="4539611"/>
            <a:ext cx="238486" cy="517156"/>
          </a:xfrm>
          <a:prstGeom prst="straightConnector1">
            <a:avLst/>
          </a:prstGeom>
          <a:ln w="28575"/>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1CE18CF6-3E5C-4CF3-BE02-3CDCA9BF48AE}"/>
              </a:ext>
            </a:extLst>
          </p:cNvPr>
          <p:cNvCxnSpPr>
            <a:cxnSpLocks/>
          </p:cNvCxnSpPr>
          <p:nvPr/>
        </p:nvCxnSpPr>
        <p:spPr>
          <a:xfrm>
            <a:off x="5357807" y="4516120"/>
            <a:ext cx="237905" cy="570774"/>
          </a:xfrm>
          <a:prstGeom prst="straightConnector1">
            <a:avLst/>
          </a:prstGeom>
          <a:ln w="28575"/>
        </p:spPr>
        <p:style>
          <a:lnRef idx="1">
            <a:schemeClr val="dk1"/>
          </a:lnRef>
          <a:fillRef idx="0">
            <a:schemeClr val="dk1"/>
          </a:fillRef>
          <a:effectRef idx="0">
            <a:schemeClr val="dk1"/>
          </a:effectRef>
          <a:fontRef idx="minor">
            <a:schemeClr val="tx1"/>
          </a:fontRef>
        </p:style>
      </p:cxnSp>
      <p:sp>
        <p:nvSpPr>
          <p:cNvPr id="50" name="Oval 49">
            <a:extLst>
              <a:ext uri="{FF2B5EF4-FFF2-40B4-BE49-F238E27FC236}">
                <a16:creationId xmlns:a16="http://schemas.microsoft.com/office/drawing/2014/main" id="{3495B362-7A83-4403-B066-98117B92A3C1}"/>
              </a:ext>
            </a:extLst>
          </p:cNvPr>
          <p:cNvSpPr/>
          <p:nvPr/>
        </p:nvSpPr>
        <p:spPr>
          <a:xfrm>
            <a:off x="5540089" y="5075565"/>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51" name="Oval 50">
            <a:extLst>
              <a:ext uri="{FF2B5EF4-FFF2-40B4-BE49-F238E27FC236}">
                <a16:creationId xmlns:a16="http://schemas.microsoft.com/office/drawing/2014/main" id="{1C8A5774-08AC-4E1A-83E2-907DE1B079EB}"/>
              </a:ext>
            </a:extLst>
          </p:cNvPr>
          <p:cNvSpPr/>
          <p:nvPr/>
        </p:nvSpPr>
        <p:spPr>
          <a:xfrm>
            <a:off x="4940463" y="5082817"/>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C933ECD9-6A9C-4771-9191-472197046683}"/>
              </a:ext>
            </a:extLst>
          </p:cNvPr>
          <p:cNvCxnSpPr>
            <a:cxnSpLocks/>
          </p:cNvCxnSpPr>
          <p:nvPr/>
        </p:nvCxnSpPr>
        <p:spPr>
          <a:xfrm>
            <a:off x="5918512" y="5036476"/>
            <a:ext cx="299917"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6" name="TextBox 55">
            <a:extLst>
              <a:ext uri="{FF2B5EF4-FFF2-40B4-BE49-F238E27FC236}">
                <a16:creationId xmlns:a16="http://schemas.microsoft.com/office/drawing/2014/main" id="{58821BE8-D51E-4799-BAE9-90895647614C}"/>
              </a:ext>
            </a:extLst>
          </p:cNvPr>
          <p:cNvSpPr txBox="1"/>
          <p:nvPr/>
        </p:nvSpPr>
        <p:spPr>
          <a:xfrm>
            <a:off x="5801105" y="4454681"/>
            <a:ext cx="8070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latin typeface="Arial"/>
                <a:cs typeface="Arial"/>
              </a:rPr>
              <a:t>...</a:t>
            </a:r>
            <a:endParaRPr lang="en-US" sz="2800"/>
          </a:p>
        </p:txBody>
      </p:sp>
      <p:cxnSp>
        <p:nvCxnSpPr>
          <p:cNvPr id="59" name="Straight Arrow Connector 58">
            <a:extLst>
              <a:ext uri="{FF2B5EF4-FFF2-40B4-BE49-F238E27FC236}">
                <a16:creationId xmlns:a16="http://schemas.microsoft.com/office/drawing/2014/main" id="{B409B967-7D61-4811-B3B0-891D3DC94FAB}"/>
              </a:ext>
            </a:extLst>
          </p:cNvPr>
          <p:cNvCxnSpPr>
            <a:cxnSpLocks/>
          </p:cNvCxnSpPr>
          <p:nvPr/>
        </p:nvCxnSpPr>
        <p:spPr>
          <a:xfrm>
            <a:off x="7472579" y="5088459"/>
            <a:ext cx="30300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0" name="Flowchart: Process 59">
            <a:extLst>
              <a:ext uri="{FF2B5EF4-FFF2-40B4-BE49-F238E27FC236}">
                <a16:creationId xmlns:a16="http://schemas.microsoft.com/office/drawing/2014/main" id="{899EB122-8224-4B4A-8AC5-477E183CFEE9}"/>
              </a:ext>
            </a:extLst>
          </p:cNvPr>
          <p:cNvSpPr/>
          <p:nvPr/>
        </p:nvSpPr>
        <p:spPr>
          <a:xfrm>
            <a:off x="8002967" y="4482311"/>
            <a:ext cx="944308" cy="943153"/>
          </a:xfrm>
          <a:prstGeom prst="flowChartProcess">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t>Final Model</a:t>
            </a:r>
          </a:p>
        </p:txBody>
      </p:sp>
      <p:sp>
        <p:nvSpPr>
          <p:cNvPr id="7" name="TextBox 6">
            <a:extLst>
              <a:ext uri="{FF2B5EF4-FFF2-40B4-BE49-F238E27FC236}">
                <a16:creationId xmlns:a16="http://schemas.microsoft.com/office/drawing/2014/main" id="{15C7928F-6FAF-4E73-B8C6-62B8E2A27B2C}"/>
              </a:ext>
            </a:extLst>
          </p:cNvPr>
          <p:cNvSpPr txBox="1"/>
          <p:nvPr/>
        </p:nvSpPr>
        <p:spPr>
          <a:xfrm>
            <a:off x="1947992" y="5430283"/>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G</a:t>
            </a:r>
            <a:r>
              <a:rPr lang="en-US" baseline="-25000" dirty="0">
                <a:latin typeface="Arial"/>
                <a:cs typeface="Arial"/>
              </a:rPr>
              <a:t>1</a:t>
            </a:r>
            <a:r>
              <a:rPr lang="en-US" dirty="0">
                <a:latin typeface="Arial"/>
                <a:cs typeface="Arial"/>
              </a:rPr>
              <a:t>(x)</a:t>
            </a:r>
          </a:p>
        </p:txBody>
      </p:sp>
      <p:sp>
        <p:nvSpPr>
          <p:cNvPr id="61" name="TextBox 60">
            <a:extLst>
              <a:ext uri="{FF2B5EF4-FFF2-40B4-BE49-F238E27FC236}">
                <a16:creationId xmlns:a16="http://schemas.microsoft.com/office/drawing/2014/main" id="{7D933F53-5B55-46DD-B9CE-8F2A45BDC369}"/>
              </a:ext>
            </a:extLst>
          </p:cNvPr>
          <p:cNvSpPr txBox="1"/>
          <p:nvPr/>
        </p:nvSpPr>
        <p:spPr>
          <a:xfrm>
            <a:off x="5009102" y="5448467"/>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G</a:t>
            </a:r>
            <a:r>
              <a:rPr lang="en-US" baseline="-25000" dirty="0">
                <a:latin typeface="Arial"/>
                <a:cs typeface="Arial"/>
              </a:rPr>
              <a:t>2</a:t>
            </a:r>
            <a:r>
              <a:rPr lang="en-US" dirty="0">
                <a:latin typeface="Arial"/>
                <a:cs typeface="Arial"/>
              </a:rPr>
              <a:t>(x)</a:t>
            </a:r>
          </a:p>
        </p:txBody>
      </p:sp>
      <p:sp>
        <p:nvSpPr>
          <p:cNvPr id="62" name="TextBox 61">
            <a:extLst>
              <a:ext uri="{FF2B5EF4-FFF2-40B4-BE49-F238E27FC236}">
                <a16:creationId xmlns:a16="http://schemas.microsoft.com/office/drawing/2014/main" id="{480C7DE9-C61E-4647-818E-3D1CC75EB0E3}"/>
              </a:ext>
            </a:extLst>
          </p:cNvPr>
          <p:cNvSpPr txBox="1"/>
          <p:nvPr/>
        </p:nvSpPr>
        <p:spPr>
          <a:xfrm>
            <a:off x="6457583" y="5441458"/>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G</a:t>
            </a:r>
            <a:r>
              <a:rPr lang="en-US" baseline="-25000" dirty="0">
                <a:latin typeface="Arial"/>
                <a:cs typeface="Arial"/>
              </a:rPr>
              <a:t>t</a:t>
            </a:r>
            <a:r>
              <a:rPr lang="en-US" dirty="0">
                <a:latin typeface="Arial"/>
                <a:cs typeface="Arial"/>
              </a:rPr>
              <a:t>(x)</a:t>
            </a:r>
          </a:p>
        </p:txBody>
      </p:sp>
      <p:sp>
        <p:nvSpPr>
          <p:cNvPr id="63" name="TextBox 62">
            <a:extLst>
              <a:ext uri="{FF2B5EF4-FFF2-40B4-BE49-F238E27FC236}">
                <a16:creationId xmlns:a16="http://schemas.microsoft.com/office/drawing/2014/main" id="{A25A8405-23B0-4649-B01C-6FFD5CCB3C6F}"/>
              </a:ext>
            </a:extLst>
          </p:cNvPr>
          <p:cNvSpPr txBox="1"/>
          <p:nvPr/>
        </p:nvSpPr>
        <p:spPr>
          <a:xfrm>
            <a:off x="553957" y="5853604"/>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cs typeface="Arial"/>
              </a:rPr>
              <a:t>x</a:t>
            </a:r>
          </a:p>
        </p:txBody>
      </p:sp>
      <p:sp>
        <p:nvSpPr>
          <p:cNvPr id="66" name="Oval 65">
            <a:extLst>
              <a:ext uri="{FF2B5EF4-FFF2-40B4-BE49-F238E27FC236}">
                <a16:creationId xmlns:a16="http://schemas.microsoft.com/office/drawing/2014/main" id="{508897AD-EDE1-44F8-A9A8-7B35E8E75A23}"/>
              </a:ext>
            </a:extLst>
          </p:cNvPr>
          <p:cNvSpPr/>
          <p:nvPr/>
        </p:nvSpPr>
        <p:spPr>
          <a:xfrm>
            <a:off x="6719860" y="4327065"/>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A25C2EDD-D992-4D10-AEA9-65CA50B63317}"/>
              </a:ext>
            </a:extLst>
          </p:cNvPr>
          <p:cNvCxnSpPr>
            <a:cxnSpLocks/>
          </p:cNvCxnSpPr>
          <p:nvPr/>
        </p:nvCxnSpPr>
        <p:spPr>
          <a:xfrm flipH="1">
            <a:off x="6570604" y="4534204"/>
            <a:ext cx="238486" cy="517156"/>
          </a:xfrm>
          <a:prstGeom prst="straightConnector1">
            <a:avLst/>
          </a:prstGeom>
          <a:ln w="28575"/>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33546813-3CE4-40A0-932C-474018D92579}"/>
              </a:ext>
            </a:extLst>
          </p:cNvPr>
          <p:cNvCxnSpPr>
            <a:cxnSpLocks/>
          </p:cNvCxnSpPr>
          <p:nvPr/>
        </p:nvCxnSpPr>
        <p:spPr>
          <a:xfrm>
            <a:off x="6894622" y="4527440"/>
            <a:ext cx="237905" cy="570774"/>
          </a:xfrm>
          <a:prstGeom prst="straightConnector1">
            <a:avLst/>
          </a:prstGeom>
          <a:ln w="28575"/>
        </p:spPr>
        <p:style>
          <a:lnRef idx="1">
            <a:schemeClr val="dk1"/>
          </a:lnRef>
          <a:fillRef idx="0">
            <a:schemeClr val="dk1"/>
          </a:fillRef>
          <a:effectRef idx="0">
            <a:schemeClr val="dk1"/>
          </a:effectRef>
          <a:fontRef idx="minor">
            <a:schemeClr val="tx1"/>
          </a:fontRef>
        </p:style>
      </p:cxnSp>
      <p:sp>
        <p:nvSpPr>
          <p:cNvPr id="69" name="Oval 68">
            <a:extLst>
              <a:ext uri="{FF2B5EF4-FFF2-40B4-BE49-F238E27FC236}">
                <a16:creationId xmlns:a16="http://schemas.microsoft.com/office/drawing/2014/main" id="{44847D4E-88D9-4675-8F08-E18EB7EC54E0}"/>
              </a:ext>
            </a:extLst>
          </p:cNvPr>
          <p:cNvSpPr/>
          <p:nvPr/>
        </p:nvSpPr>
        <p:spPr>
          <a:xfrm>
            <a:off x="7049388" y="5110738"/>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0" name="Oval 69">
            <a:extLst>
              <a:ext uri="{FF2B5EF4-FFF2-40B4-BE49-F238E27FC236}">
                <a16:creationId xmlns:a16="http://schemas.microsoft.com/office/drawing/2014/main" id="{7A49D852-D90A-4138-A10D-0FF67CE02B95}"/>
              </a:ext>
            </a:extLst>
          </p:cNvPr>
          <p:cNvSpPr/>
          <p:nvPr/>
        </p:nvSpPr>
        <p:spPr>
          <a:xfrm>
            <a:off x="6442999" y="5077410"/>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1" name="TextBox 70">
            <a:extLst>
              <a:ext uri="{FF2B5EF4-FFF2-40B4-BE49-F238E27FC236}">
                <a16:creationId xmlns:a16="http://schemas.microsoft.com/office/drawing/2014/main" id="{72966BC7-FAA5-465E-BA0A-88225A764950}"/>
              </a:ext>
            </a:extLst>
          </p:cNvPr>
          <p:cNvSpPr txBox="1"/>
          <p:nvPr/>
        </p:nvSpPr>
        <p:spPr>
          <a:xfrm>
            <a:off x="8204396" y="5441458"/>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cs typeface="Arial"/>
              </a:rPr>
              <a:t>G(x)</a:t>
            </a:r>
          </a:p>
        </p:txBody>
      </p:sp>
      <p:sp>
        <p:nvSpPr>
          <p:cNvPr id="47" name="TextBox 46">
            <a:extLst>
              <a:ext uri="{FF2B5EF4-FFF2-40B4-BE49-F238E27FC236}">
                <a16:creationId xmlns:a16="http://schemas.microsoft.com/office/drawing/2014/main" id="{E99F19DF-8CA4-144D-8489-E1321F1041FD}"/>
              </a:ext>
            </a:extLst>
          </p:cNvPr>
          <p:cNvSpPr txBox="1"/>
          <p:nvPr/>
        </p:nvSpPr>
        <p:spPr>
          <a:xfrm>
            <a:off x="2882146" y="5957958"/>
            <a:ext cx="251138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solidFill>
                  <a:schemeClr val="accent6"/>
                </a:solidFill>
                <a:latin typeface="Arial"/>
                <a:cs typeface="Arial"/>
              </a:rPr>
              <a:t>Residual: Difference between prediction and ground truth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8CCB9E3-E31B-A7B5-2D29-FD4FEB157608}"/>
                  </a:ext>
                </a:extLst>
              </p:cNvPr>
              <p:cNvSpPr txBox="1"/>
              <p:nvPr/>
            </p:nvSpPr>
            <p:spPr>
              <a:xfrm>
                <a:off x="6128901" y="5780649"/>
                <a:ext cx="2346220" cy="861583"/>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itchFamily="34" charset="0"/>
                        </a:rPr>
                        <m:t>𝐺</m:t>
                      </m:r>
                      <m:d>
                        <m:dPr>
                          <m:ctrlPr>
                            <a:rPr lang="en-US" sz="2000" b="0" i="1" smtClean="0">
                              <a:latin typeface="Cambria Math" panose="02040503050406030204" pitchFamily="18" charset="0"/>
                              <a:cs typeface="Arial" pitchFamily="34" charset="0"/>
                            </a:rPr>
                          </m:ctrlPr>
                        </m:dPr>
                        <m:e>
                          <m:r>
                            <a:rPr lang="en-US" sz="2000" b="0" i="1" smtClean="0">
                              <a:latin typeface="Cambria Math" panose="02040503050406030204" pitchFamily="18" charset="0"/>
                              <a:cs typeface="Arial" pitchFamily="34" charset="0"/>
                            </a:rPr>
                            <m:t>𝑥</m:t>
                          </m:r>
                        </m:e>
                      </m:d>
                      <m:r>
                        <a:rPr lang="en-US" sz="2000" b="0" i="1" smtClean="0">
                          <a:latin typeface="Cambria Math" panose="02040503050406030204" pitchFamily="18" charset="0"/>
                          <a:cs typeface="Arial" pitchFamily="34" charset="0"/>
                        </a:rPr>
                        <m:t>= </m:t>
                      </m:r>
                      <m:nary>
                        <m:naryPr>
                          <m:chr m:val="∑"/>
                          <m:ctrlPr>
                            <a:rPr lang="en-US" sz="2000" b="0" i="1" smtClean="0">
                              <a:latin typeface="Cambria Math" panose="02040503050406030204" pitchFamily="18" charset="0"/>
                              <a:cs typeface="Arial" pitchFamily="34" charset="0"/>
                            </a:rPr>
                          </m:ctrlPr>
                        </m:naryPr>
                        <m:sub>
                          <m:r>
                            <m:rPr>
                              <m:brk m:alnAt="23"/>
                            </m:rPr>
                            <a:rPr lang="en-US" sz="2000" b="0" i="1" smtClean="0">
                              <a:latin typeface="Cambria Math" panose="02040503050406030204" pitchFamily="18" charset="0"/>
                              <a:cs typeface="Arial" pitchFamily="34" charset="0"/>
                            </a:rPr>
                            <m:t>𝑖</m:t>
                          </m:r>
                          <m:r>
                            <a:rPr lang="en-US" sz="2000" b="0" i="1" smtClean="0">
                              <a:latin typeface="Cambria Math" panose="02040503050406030204" pitchFamily="18" charset="0"/>
                              <a:cs typeface="Arial" pitchFamily="34" charset="0"/>
                            </a:rPr>
                            <m:t>=1</m:t>
                          </m:r>
                        </m:sub>
                        <m:sup>
                          <m:r>
                            <a:rPr lang="en-US" sz="2000" b="0" i="1" smtClean="0">
                              <a:latin typeface="Cambria Math" panose="02040503050406030204" pitchFamily="18" charset="0"/>
                              <a:cs typeface="Arial" pitchFamily="34" charset="0"/>
                            </a:rPr>
                            <m:t>𝑡</m:t>
                          </m:r>
                        </m:sup>
                        <m:e>
                          <m:r>
                            <a:rPr lang="en-US" sz="2000" b="0" i="1" smtClean="0">
                              <a:latin typeface="Cambria Math" panose="02040503050406030204" pitchFamily="18" charset="0"/>
                              <a:cs typeface="Arial" pitchFamily="34" charset="0"/>
                            </a:rPr>
                            <m:t>𝐺</m:t>
                          </m:r>
                          <m:r>
                            <a:rPr lang="en-US" sz="2000" b="0" i="1" baseline="-25000" smtClean="0">
                              <a:latin typeface="Cambria Math" panose="02040503050406030204" pitchFamily="18" charset="0"/>
                              <a:cs typeface="Arial" pitchFamily="34" charset="0"/>
                            </a:rPr>
                            <m:t>𝑖</m:t>
                          </m:r>
                          <m:r>
                            <a:rPr lang="en-US" sz="2000" b="0" i="1" smtClean="0">
                              <a:latin typeface="Cambria Math" panose="02040503050406030204" pitchFamily="18" charset="0"/>
                              <a:cs typeface="Arial" pitchFamily="34" charset="0"/>
                            </a:rPr>
                            <m:t>(</m:t>
                          </m:r>
                          <m:r>
                            <a:rPr lang="en-US" sz="2000" b="0" i="1" smtClean="0">
                              <a:latin typeface="Cambria Math" panose="02040503050406030204" pitchFamily="18" charset="0"/>
                              <a:cs typeface="Arial" pitchFamily="34" charset="0"/>
                            </a:rPr>
                            <m:t>𝑥</m:t>
                          </m:r>
                          <m:r>
                            <a:rPr lang="en-US" sz="2000" b="0" i="1" smtClean="0">
                              <a:latin typeface="Cambria Math" panose="02040503050406030204" pitchFamily="18" charset="0"/>
                              <a:cs typeface="Arial" pitchFamily="34" charset="0"/>
                            </a:rPr>
                            <m:t>)</m:t>
                          </m:r>
                        </m:e>
                      </m:nary>
                    </m:oMath>
                  </m:oMathPara>
                </a14:m>
                <a:endParaRPr lang="en-US" sz="2000" dirty="0">
                  <a:latin typeface="Arial" pitchFamily="34" charset="0"/>
                  <a:cs typeface="Arial" pitchFamily="34" charset="0"/>
                </a:endParaRPr>
              </a:p>
            </p:txBody>
          </p:sp>
        </mc:Choice>
        <mc:Fallback xmlns="">
          <p:sp>
            <p:nvSpPr>
              <p:cNvPr id="8" name="TextBox 7">
                <a:extLst>
                  <a:ext uri="{FF2B5EF4-FFF2-40B4-BE49-F238E27FC236}">
                    <a16:creationId xmlns:a16="http://schemas.microsoft.com/office/drawing/2014/main" id="{38CCB9E3-E31B-A7B5-2D29-FD4FEB157608}"/>
                  </a:ext>
                </a:extLst>
              </p:cNvPr>
              <p:cNvSpPr txBox="1">
                <a:spLocks noRot="1" noChangeAspect="1" noMove="1" noResize="1" noEditPoints="1" noAdjustHandles="1" noChangeArrowheads="1" noChangeShapeType="1" noTextEdit="1"/>
              </p:cNvSpPr>
              <p:nvPr/>
            </p:nvSpPr>
            <p:spPr>
              <a:xfrm>
                <a:off x="6128901" y="5780649"/>
                <a:ext cx="2346220" cy="86158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35601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699D-C78B-4993-9508-4D6F8EDB8DDF}"/>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a:t>(3): Boosting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9BC003-D2B9-4E2B-87A7-5BCECE39B8E4}"/>
                  </a:ext>
                </a:extLst>
              </p:cNvPr>
              <p:cNvSpPr>
                <a:spLocks noGrp="1"/>
              </p:cNvSpPr>
              <p:nvPr>
                <p:ph idx="1"/>
              </p:nvPr>
            </p:nvSpPr>
            <p:spPr>
              <a:xfrm>
                <a:off x="373623" y="1115669"/>
                <a:ext cx="8650634" cy="2902593"/>
              </a:xfrm>
            </p:spPr>
            <p:txBody>
              <a:bodyPr vert="horz" lIns="54864" tIns="91440" rIns="91440" bIns="45720" rtlCol="0" anchor="t">
                <a:normAutofit/>
              </a:bodyPr>
              <a:lstStyle/>
              <a:p>
                <a:pPr marL="438785"/>
                <a:r>
                  <a:rPr lang="en-US" b="1" dirty="0">
                    <a:solidFill>
                      <a:srgbClr val="D60093"/>
                    </a:solidFill>
                    <a:latin typeface="Calibri"/>
                    <a:cs typeface="Calibri"/>
                  </a:rPr>
                  <a:t>We will show 2 algorithms:</a:t>
                </a:r>
              </a:p>
              <a:p>
                <a:pPr marL="731393" lvl="1"/>
                <a:r>
                  <a:rPr lang="en-US" b="1" dirty="0">
                    <a:latin typeface="Calibri"/>
                    <a:ea typeface="+mn-lt"/>
                    <a:cs typeface="+mn-lt"/>
                  </a:rPr>
                  <a:t>Example 1: AdaBoost</a:t>
                </a:r>
              </a:p>
              <a:p>
                <a:pPr marL="996569" lvl="2"/>
                <a:r>
                  <a:rPr lang="en-US" dirty="0">
                    <a:latin typeface="Calibri"/>
                    <a:ea typeface="+mn-lt"/>
                    <a:cs typeface="+mn-lt"/>
                  </a:rPr>
                  <a:t>Where each </a:t>
                </a:r>
                <a14:m>
                  <m:oMath xmlns:m="http://schemas.openxmlformats.org/officeDocument/2006/math">
                    <m:sSub>
                      <m:sSubPr>
                        <m:ctrlPr>
                          <a:rPr lang="en-US" b="0" i="1" smtClean="0">
                            <a:latin typeface="Cambria Math" panose="02040503050406030204" pitchFamily="18" charset="0"/>
                            <a:ea typeface="+mn-lt"/>
                            <a:cs typeface="+mn-lt"/>
                          </a:rPr>
                        </m:ctrlPr>
                      </m:sSubPr>
                      <m:e>
                        <m:r>
                          <a:rPr lang="en-US" b="0" i="1" smtClean="0">
                            <a:latin typeface="Cambria Math" panose="02040503050406030204" pitchFamily="18" charset="0"/>
                            <a:ea typeface="+mn-lt"/>
                            <a:cs typeface="+mn-lt"/>
                          </a:rPr>
                          <m:t>𝐺</m:t>
                        </m:r>
                      </m:e>
                      <m:sub>
                        <m:r>
                          <a:rPr lang="en-US" b="0" i="1" smtClean="0">
                            <a:latin typeface="Cambria Math" panose="02040503050406030204" pitchFamily="18" charset="0"/>
                            <a:ea typeface="+mn-lt"/>
                            <a:cs typeface="+mn-lt"/>
                          </a:rPr>
                          <m:t>𝑡</m:t>
                        </m:r>
                      </m:sub>
                    </m:sSub>
                    <m:r>
                      <a:rPr lang="en-US" b="0" i="1" smtClean="0">
                        <a:latin typeface="Cambria Math" panose="02040503050406030204" pitchFamily="18" charset="0"/>
                        <a:ea typeface="+mn-lt"/>
                        <a:cs typeface="+mn-lt"/>
                      </a:rPr>
                      <m:t>(</m:t>
                    </m:r>
                    <m:r>
                      <a:rPr lang="en-US" b="0" i="1" smtClean="0">
                        <a:latin typeface="Cambria Math" panose="02040503050406030204" pitchFamily="18" charset="0"/>
                        <a:ea typeface="+mn-lt"/>
                        <a:cs typeface="+mn-lt"/>
                      </a:rPr>
                      <m:t>𝑥</m:t>
                    </m:r>
                    <m:r>
                      <a:rPr lang="en-US" b="0" i="1" smtClean="0">
                        <a:latin typeface="Cambria Math" panose="02040503050406030204" pitchFamily="18" charset="0"/>
                        <a:ea typeface="+mn-lt"/>
                        <a:cs typeface="+mn-lt"/>
                      </a:rPr>
                      <m:t>)</m:t>
                    </m:r>
                  </m:oMath>
                </a14:m>
                <a:r>
                  <a:rPr lang="en-US" dirty="0">
                    <a:latin typeface="Calibri"/>
                    <a:ea typeface="+mn-lt"/>
                    <a:cs typeface="+mn-lt"/>
                  </a:rPr>
                  <a:t> is a one–level decision tree</a:t>
                </a:r>
              </a:p>
              <a:p>
                <a:pPr marL="731393" lvl="1"/>
                <a:r>
                  <a:rPr lang="en-US" b="1" dirty="0">
                    <a:latin typeface="Calibri"/>
                    <a:ea typeface="+mn-lt"/>
                    <a:cs typeface="+mn-lt"/>
                  </a:rPr>
                  <a:t>Example 2: Gradient Boosted Decision Trees (GBDT)</a:t>
                </a:r>
              </a:p>
              <a:p>
                <a:pPr marL="996569" lvl="2"/>
                <a:r>
                  <a:rPr lang="en-US" dirty="0">
                    <a:latin typeface="Calibri"/>
                    <a:ea typeface="+mn-lt"/>
                    <a:cs typeface="+mn-lt"/>
                  </a:rPr>
                  <a:t>Where each </a:t>
                </a:r>
                <a14:m>
                  <m:oMath xmlns:m="http://schemas.openxmlformats.org/officeDocument/2006/math">
                    <m:sSub>
                      <m:sSubPr>
                        <m:ctrlPr>
                          <a:rPr lang="en-US" i="1">
                            <a:latin typeface="Cambria Math" panose="02040503050406030204" pitchFamily="18" charset="0"/>
                            <a:ea typeface="+mn-lt"/>
                            <a:cs typeface="+mn-lt"/>
                          </a:rPr>
                        </m:ctrlPr>
                      </m:sSubPr>
                      <m:e>
                        <m:r>
                          <a:rPr lang="en-US" i="1">
                            <a:latin typeface="Cambria Math" panose="02040503050406030204" pitchFamily="18" charset="0"/>
                            <a:ea typeface="+mn-lt"/>
                            <a:cs typeface="+mn-lt"/>
                          </a:rPr>
                          <m:t>𝐺</m:t>
                        </m:r>
                      </m:e>
                      <m:sub>
                        <m:r>
                          <a:rPr lang="en-US" i="1">
                            <a:latin typeface="Cambria Math" panose="02040503050406030204" pitchFamily="18" charset="0"/>
                            <a:ea typeface="+mn-lt"/>
                            <a:cs typeface="+mn-lt"/>
                          </a:rPr>
                          <m:t>𝑡</m:t>
                        </m:r>
                      </m:sub>
                    </m:sSub>
                    <m:r>
                      <a:rPr lang="en-US" i="1">
                        <a:latin typeface="Cambria Math" panose="02040503050406030204" pitchFamily="18" charset="0"/>
                        <a:ea typeface="+mn-lt"/>
                        <a:cs typeface="+mn-lt"/>
                      </a:rPr>
                      <m:t>(</m:t>
                    </m:r>
                    <m:r>
                      <a:rPr lang="en-US" i="1">
                        <a:latin typeface="Cambria Math" panose="02040503050406030204" pitchFamily="18" charset="0"/>
                        <a:ea typeface="+mn-lt"/>
                        <a:cs typeface="+mn-lt"/>
                      </a:rPr>
                      <m:t>𝑥</m:t>
                    </m:r>
                    <m:r>
                      <a:rPr lang="en-US" i="1">
                        <a:latin typeface="Cambria Math" panose="02040503050406030204" pitchFamily="18" charset="0"/>
                        <a:ea typeface="+mn-lt"/>
                        <a:cs typeface="+mn-lt"/>
                      </a:rPr>
                      <m:t>)</m:t>
                    </m:r>
                  </m:oMath>
                </a14:m>
                <a:r>
                  <a:rPr lang="en-US" dirty="0">
                    <a:latin typeface="Calibri"/>
                    <a:ea typeface="+mn-lt"/>
                    <a:cs typeface="+mn-lt"/>
                  </a:rPr>
                  <a:t> is a multi–level decision tree</a:t>
                </a:r>
              </a:p>
              <a:p>
                <a:pPr marL="996569" lvl="2"/>
                <a:endParaRPr lang="en-US" sz="2000" b="1" dirty="0">
                  <a:latin typeface="Calibri"/>
                  <a:cs typeface="Calibri"/>
                </a:endParaRPr>
              </a:p>
              <a:p>
                <a:pPr marL="731393" lvl="1"/>
                <a:endParaRPr lang="en-US" dirty="0"/>
              </a:p>
            </p:txBody>
          </p:sp>
        </mc:Choice>
        <mc:Fallback xmlns="">
          <p:sp>
            <p:nvSpPr>
              <p:cNvPr id="3" name="Content Placeholder 2">
                <a:extLst>
                  <a:ext uri="{FF2B5EF4-FFF2-40B4-BE49-F238E27FC236}">
                    <a16:creationId xmlns:a16="http://schemas.microsoft.com/office/drawing/2014/main" id="{6D9BC003-D2B9-4E2B-87A7-5BCECE39B8E4}"/>
                  </a:ext>
                </a:extLst>
              </p:cNvPr>
              <p:cNvSpPr>
                <a:spLocks noGrp="1" noRot="1" noChangeAspect="1" noMove="1" noResize="1" noEditPoints="1" noAdjustHandles="1" noChangeArrowheads="1" noChangeShapeType="1" noTextEdit="1"/>
              </p:cNvSpPr>
              <p:nvPr>
                <p:ph idx="1"/>
              </p:nvPr>
            </p:nvSpPr>
            <p:spPr>
              <a:xfrm>
                <a:off x="373623" y="1115669"/>
                <a:ext cx="8650634" cy="2902593"/>
              </a:xfrm>
              <a:blipFill>
                <a:blip r:embed="rId3"/>
                <a:stretch>
                  <a:fillRect t="-87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D835A256-905D-434B-A646-609EDBAE1261}"/>
              </a:ext>
            </a:extLst>
          </p:cNvPr>
          <p:cNvSpPr>
            <a:spLocks noGrp="1"/>
          </p:cNvSpPr>
          <p:nvPr>
            <p:ph type="dt" sz="half" idx="10"/>
          </p:nvPr>
        </p:nvSpPr>
        <p:spPr/>
        <p:txBody>
          <a:bodyPr/>
          <a:lstStyle/>
          <a:p>
            <a:fld id="{9A3546B0-3484-6148-9AAC-7E94723DC082}" type="datetime1">
              <a:rPr lang="en-US" smtClean="0"/>
              <a:t>10/15/24</a:t>
            </a:fld>
            <a:endParaRPr lang="en-US"/>
          </a:p>
        </p:txBody>
      </p:sp>
      <p:sp>
        <p:nvSpPr>
          <p:cNvPr id="5" name="Footer Placeholder 4">
            <a:extLst>
              <a:ext uri="{FF2B5EF4-FFF2-40B4-BE49-F238E27FC236}">
                <a16:creationId xmlns:a16="http://schemas.microsoft.com/office/drawing/2014/main" id="{2E4292BE-CD63-4B81-9936-A3925C8DA454}"/>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C051575E-46BC-4AFF-9ED4-BC4840A6DAE9}"/>
              </a:ext>
            </a:extLst>
          </p:cNvPr>
          <p:cNvSpPr>
            <a:spLocks noGrp="1"/>
          </p:cNvSpPr>
          <p:nvPr>
            <p:ph type="sldNum" sz="quarter" idx="12"/>
          </p:nvPr>
        </p:nvSpPr>
        <p:spPr/>
        <p:txBody>
          <a:bodyPr/>
          <a:lstStyle/>
          <a:p>
            <a:fld id="{19B12225-5612-419B-A8D5-4B8EEE4C217E}" type="slidenum">
              <a:rPr lang="en-US" smtClean="0"/>
              <a:pPr/>
              <a:t>11</a:t>
            </a:fld>
            <a:endParaRPr lang="en-US"/>
          </a:p>
        </p:txBody>
      </p:sp>
      <p:cxnSp>
        <p:nvCxnSpPr>
          <p:cNvPr id="42" name="Straight Arrow Connector 41">
            <a:extLst>
              <a:ext uri="{FF2B5EF4-FFF2-40B4-BE49-F238E27FC236}">
                <a16:creationId xmlns:a16="http://schemas.microsoft.com/office/drawing/2014/main" id="{CA600A8E-1CC4-344C-A2AF-C55DDB3E6C95}"/>
              </a:ext>
            </a:extLst>
          </p:cNvPr>
          <p:cNvCxnSpPr>
            <a:cxnSpLocks/>
          </p:cNvCxnSpPr>
          <p:nvPr/>
        </p:nvCxnSpPr>
        <p:spPr>
          <a:xfrm flipV="1">
            <a:off x="1429979" y="5058002"/>
            <a:ext cx="379454"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1875E329-5CAC-B941-B1EA-1BBEABF90671}"/>
              </a:ext>
            </a:extLst>
          </p:cNvPr>
          <p:cNvCxnSpPr>
            <a:cxnSpLocks/>
          </p:cNvCxnSpPr>
          <p:nvPr/>
        </p:nvCxnSpPr>
        <p:spPr>
          <a:xfrm>
            <a:off x="2878174" y="5044091"/>
            <a:ext cx="300477"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7" name="Flowchart: Process 11">
            <a:extLst>
              <a:ext uri="{FF2B5EF4-FFF2-40B4-BE49-F238E27FC236}">
                <a16:creationId xmlns:a16="http://schemas.microsoft.com/office/drawing/2014/main" id="{9CA1CFB1-6875-0447-98FA-2EFF8EA5EC2C}"/>
              </a:ext>
            </a:extLst>
          </p:cNvPr>
          <p:cNvSpPr/>
          <p:nvPr/>
        </p:nvSpPr>
        <p:spPr>
          <a:xfrm>
            <a:off x="3381365" y="4351061"/>
            <a:ext cx="979449" cy="1364500"/>
          </a:xfrm>
          <a:prstGeom prst="flowChartProcess">
            <a:avLst/>
          </a:prstGeom>
          <a:ln/>
        </p:spPr>
        <p:style>
          <a:lnRef idx="2">
            <a:schemeClr val="accent3">
              <a:shade val="50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en-US" sz="1400"/>
              <a:t>Data re-weighting based on residual</a:t>
            </a:r>
          </a:p>
        </p:txBody>
      </p:sp>
      <p:cxnSp>
        <p:nvCxnSpPr>
          <p:cNvPr id="48" name="Straight Arrow Connector 47">
            <a:extLst>
              <a:ext uri="{FF2B5EF4-FFF2-40B4-BE49-F238E27FC236}">
                <a16:creationId xmlns:a16="http://schemas.microsoft.com/office/drawing/2014/main" id="{16BCA35E-F215-E044-A5CC-4F9CB2742AB4}"/>
              </a:ext>
            </a:extLst>
          </p:cNvPr>
          <p:cNvCxnSpPr>
            <a:cxnSpLocks/>
          </p:cNvCxnSpPr>
          <p:nvPr/>
        </p:nvCxnSpPr>
        <p:spPr>
          <a:xfrm>
            <a:off x="4521984" y="5044091"/>
            <a:ext cx="24865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9" name="Flowchart: Predefined Process 13">
            <a:extLst>
              <a:ext uri="{FF2B5EF4-FFF2-40B4-BE49-F238E27FC236}">
                <a16:creationId xmlns:a16="http://schemas.microsoft.com/office/drawing/2014/main" id="{823F6FAF-37EF-564D-9BF9-FDF190316D9C}"/>
              </a:ext>
            </a:extLst>
          </p:cNvPr>
          <p:cNvSpPr/>
          <p:nvPr/>
        </p:nvSpPr>
        <p:spPr>
          <a:xfrm rot="5400000">
            <a:off x="108529" y="4603525"/>
            <a:ext cx="1382615" cy="924791"/>
          </a:xfrm>
          <a:prstGeom prst="flowChartPredefinedProcess">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335CA8B9-2790-DF44-9A03-D31D2A4D9EA1}"/>
              </a:ext>
            </a:extLst>
          </p:cNvPr>
          <p:cNvSpPr/>
          <p:nvPr/>
        </p:nvSpPr>
        <p:spPr>
          <a:xfrm>
            <a:off x="2188813" y="4361032"/>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ACC2791B-C31E-9F4C-87AA-B162CF0A946F}"/>
              </a:ext>
            </a:extLst>
          </p:cNvPr>
          <p:cNvCxnSpPr/>
          <p:nvPr/>
        </p:nvCxnSpPr>
        <p:spPr>
          <a:xfrm flipH="1">
            <a:off x="2051154" y="4563827"/>
            <a:ext cx="197907" cy="544208"/>
          </a:xfrm>
          <a:prstGeom prst="straightConnector1">
            <a:avLst/>
          </a:prstGeom>
          <a:ln w="28575"/>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E71F2064-3F5D-E74D-B77C-A4E43215DBA8}"/>
              </a:ext>
            </a:extLst>
          </p:cNvPr>
          <p:cNvCxnSpPr>
            <a:cxnSpLocks/>
          </p:cNvCxnSpPr>
          <p:nvPr/>
        </p:nvCxnSpPr>
        <p:spPr>
          <a:xfrm>
            <a:off x="2368410" y="4570589"/>
            <a:ext cx="224378" cy="577537"/>
          </a:xfrm>
          <a:prstGeom prst="straightConnector1">
            <a:avLst/>
          </a:prstGeom>
          <a:ln w="28575"/>
        </p:spPr>
        <p:style>
          <a:lnRef idx="1">
            <a:schemeClr val="dk1"/>
          </a:lnRef>
          <a:fillRef idx="0">
            <a:schemeClr val="dk1"/>
          </a:fillRef>
          <a:effectRef idx="0">
            <a:schemeClr val="dk1"/>
          </a:effectRef>
          <a:fontRef idx="minor">
            <a:schemeClr val="tx1"/>
          </a:fontRef>
        </p:style>
      </p:cxnSp>
      <p:sp>
        <p:nvSpPr>
          <p:cNvPr id="57" name="Oval 56">
            <a:extLst>
              <a:ext uri="{FF2B5EF4-FFF2-40B4-BE49-F238E27FC236}">
                <a16:creationId xmlns:a16="http://schemas.microsoft.com/office/drawing/2014/main" id="{F14745F8-3FC5-0643-9D5D-BAD5C86FC47C}"/>
              </a:ext>
            </a:extLst>
          </p:cNvPr>
          <p:cNvSpPr/>
          <p:nvPr/>
        </p:nvSpPr>
        <p:spPr>
          <a:xfrm>
            <a:off x="2516413" y="5113307"/>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58" name="Oval 57">
            <a:extLst>
              <a:ext uri="{FF2B5EF4-FFF2-40B4-BE49-F238E27FC236}">
                <a16:creationId xmlns:a16="http://schemas.microsoft.com/office/drawing/2014/main" id="{7F32851F-270F-1542-A55B-EFED30E5559C}"/>
              </a:ext>
            </a:extLst>
          </p:cNvPr>
          <p:cNvSpPr/>
          <p:nvPr/>
        </p:nvSpPr>
        <p:spPr>
          <a:xfrm>
            <a:off x="1910023" y="5107034"/>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64" name="TextBox 63">
            <a:extLst>
              <a:ext uri="{FF2B5EF4-FFF2-40B4-BE49-F238E27FC236}">
                <a16:creationId xmlns:a16="http://schemas.microsoft.com/office/drawing/2014/main" id="{003A3D62-2B23-0340-9EF4-8088141226CA}"/>
              </a:ext>
            </a:extLst>
          </p:cNvPr>
          <p:cNvSpPr txBox="1"/>
          <p:nvPr/>
        </p:nvSpPr>
        <p:spPr>
          <a:xfrm>
            <a:off x="458772" y="4853389"/>
            <a:ext cx="8346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latin typeface="Arial"/>
                <a:cs typeface="Arial"/>
              </a:rPr>
              <a:t>Data</a:t>
            </a:r>
          </a:p>
        </p:txBody>
      </p:sp>
      <p:sp>
        <p:nvSpPr>
          <p:cNvPr id="72" name="TextBox 71">
            <a:extLst>
              <a:ext uri="{FF2B5EF4-FFF2-40B4-BE49-F238E27FC236}">
                <a16:creationId xmlns:a16="http://schemas.microsoft.com/office/drawing/2014/main" id="{318BC5FE-7DEA-C843-91D7-689BDD4BD413}"/>
              </a:ext>
            </a:extLst>
          </p:cNvPr>
          <p:cNvSpPr txBox="1"/>
          <p:nvPr/>
        </p:nvSpPr>
        <p:spPr>
          <a:xfrm>
            <a:off x="3223021" y="4793903"/>
            <a:ext cx="184731"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endParaRPr lang="en-US">
              <a:latin typeface="Arial" pitchFamily="34" charset="0"/>
              <a:cs typeface="Arial" pitchFamily="34" charset="0"/>
            </a:endParaRPr>
          </a:p>
        </p:txBody>
      </p:sp>
      <p:sp>
        <p:nvSpPr>
          <p:cNvPr id="73" name="Oval 72">
            <a:extLst>
              <a:ext uri="{FF2B5EF4-FFF2-40B4-BE49-F238E27FC236}">
                <a16:creationId xmlns:a16="http://schemas.microsoft.com/office/drawing/2014/main" id="{DD4D99C5-4A38-704B-B447-C90519C4FDE8}"/>
              </a:ext>
            </a:extLst>
          </p:cNvPr>
          <p:cNvSpPr/>
          <p:nvPr/>
        </p:nvSpPr>
        <p:spPr>
          <a:xfrm>
            <a:off x="5217324" y="4332471"/>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E8961ECD-846E-5E42-ABCA-F9B5F240B5DB}"/>
              </a:ext>
            </a:extLst>
          </p:cNvPr>
          <p:cNvCxnSpPr>
            <a:cxnSpLocks/>
          </p:cNvCxnSpPr>
          <p:nvPr/>
        </p:nvCxnSpPr>
        <p:spPr>
          <a:xfrm flipH="1">
            <a:off x="5068068" y="4539611"/>
            <a:ext cx="238486" cy="517156"/>
          </a:xfrm>
          <a:prstGeom prst="straightConnector1">
            <a:avLst/>
          </a:prstGeom>
          <a:ln w="28575"/>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FDDA1ED8-877B-164B-91DF-9AA4BEED9FA3}"/>
              </a:ext>
            </a:extLst>
          </p:cNvPr>
          <p:cNvCxnSpPr>
            <a:cxnSpLocks/>
          </p:cNvCxnSpPr>
          <p:nvPr/>
        </p:nvCxnSpPr>
        <p:spPr>
          <a:xfrm>
            <a:off x="5357807" y="4516120"/>
            <a:ext cx="237905" cy="570774"/>
          </a:xfrm>
          <a:prstGeom prst="straightConnector1">
            <a:avLst/>
          </a:prstGeom>
          <a:ln w="28575"/>
        </p:spPr>
        <p:style>
          <a:lnRef idx="1">
            <a:schemeClr val="dk1"/>
          </a:lnRef>
          <a:fillRef idx="0">
            <a:schemeClr val="dk1"/>
          </a:fillRef>
          <a:effectRef idx="0">
            <a:schemeClr val="dk1"/>
          </a:effectRef>
          <a:fontRef idx="minor">
            <a:schemeClr val="tx1"/>
          </a:fontRef>
        </p:style>
      </p:cxnSp>
      <p:sp>
        <p:nvSpPr>
          <p:cNvPr id="76" name="Oval 75">
            <a:extLst>
              <a:ext uri="{FF2B5EF4-FFF2-40B4-BE49-F238E27FC236}">
                <a16:creationId xmlns:a16="http://schemas.microsoft.com/office/drawing/2014/main" id="{25456AE8-A4BB-B14F-9895-05EB5C33DF31}"/>
              </a:ext>
            </a:extLst>
          </p:cNvPr>
          <p:cNvSpPr/>
          <p:nvPr/>
        </p:nvSpPr>
        <p:spPr>
          <a:xfrm>
            <a:off x="5540089" y="5075565"/>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7" name="Oval 76">
            <a:extLst>
              <a:ext uri="{FF2B5EF4-FFF2-40B4-BE49-F238E27FC236}">
                <a16:creationId xmlns:a16="http://schemas.microsoft.com/office/drawing/2014/main" id="{42B2D917-C074-2C48-BFF7-12CCAE6CF6C0}"/>
              </a:ext>
            </a:extLst>
          </p:cNvPr>
          <p:cNvSpPr/>
          <p:nvPr/>
        </p:nvSpPr>
        <p:spPr>
          <a:xfrm>
            <a:off x="4940463" y="5082817"/>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78" name="Straight Arrow Connector 77">
            <a:extLst>
              <a:ext uri="{FF2B5EF4-FFF2-40B4-BE49-F238E27FC236}">
                <a16:creationId xmlns:a16="http://schemas.microsoft.com/office/drawing/2014/main" id="{A07EFE47-1D7D-BB41-9E3E-726767015C9E}"/>
              </a:ext>
            </a:extLst>
          </p:cNvPr>
          <p:cNvCxnSpPr>
            <a:cxnSpLocks/>
          </p:cNvCxnSpPr>
          <p:nvPr/>
        </p:nvCxnSpPr>
        <p:spPr>
          <a:xfrm>
            <a:off x="5918512" y="5036476"/>
            <a:ext cx="299917"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C7E50398-9E2A-E749-B285-E6B439B7A49A}"/>
              </a:ext>
            </a:extLst>
          </p:cNvPr>
          <p:cNvSpPr txBox="1"/>
          <p:nvPr/>
        </p:nvSpPr>
        <p:spPr>
          <a:xfrm>
            <a:off x="5801105" y="4454681"/>
            <a:ext cx="8070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latin typeface="Arial"/>
                <a:cs typeface="Arial"/>
              </a:rPr>
              <a:t>...</a:t>
            </a:r>
            <a:endParaRPr lang="en-US" sz="2800"/>
          </a:p>
        </p:txBody>
      </p:sp>
      <p:cxnSp>
        <p:nvCxnSpPr>
          <p:cNvPr id="80" name="Straight Arrow Connector 79">
            <a:extLst>
              <a:ext uri="{FF2B5EF4-FFF2-40B4-BE49-F238E27FC236}">
                <a16:creationId xmlns:a16="http://schemas.microsoft.com/office/drawing/2014/main" id="{ECE9BCB9-2F06-134E-AEE7-9DA97F61BF52}"/>
              </a:ext>
            </a:extLst>
          </p:cNvPr>
          <p:cNvCxnSpPr>
            <a:cxnSpLocks/>
          </p:cNvCxnSpPr>
          <p:nvPr/>
        </p:nvCxnSpPr>
        <p:spPr>
          <a:xfrm>
            <a:off x="7472579" y="5088459"/>
            <a:ext cx="30300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1" name="Flowchart: Process 59">
            <a:extLst>
              <a:ext uri="{FF2B5EF4-FFF2-40B4-BE49-F238E27FC236}">
                <a16:creationId xmlns:a16="http://schemas.microsoft.com/office/drawing/2014/main" id="{138DB46B-94FA-0A43-A3E1-076BBCA1ED44}"/>
              </a:ext>
            </a:extLst>
          </p:cNvPr>
          <p:cNvSpPr/>
          <p:nvPr/>
        </p:nvSpPr>
        <p:spPr>
          <a:xfrm>
            <a:off x="8002967" y="4482311"/>
            <a:ext cx="944308" cy="943153"/>
          </a:xfrm>
          <a:prstGeom prst="flowChartProcess">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t>Final Model</a:t>
            </a:r>
          </a:p>
        </p:txBody>
      </p:sp>
      <p:sp>
        <p:nvSpPr>
          <p:cNvPr id="82" name="TextBox 81">
            <a:extLst>
              <a:ext uri="{FF2B5EF4-FFF2-40B4-BE49-F238E27FC236}">
                <a16:creationId xmlns:a16="http://schemas.microsoft.com/office/drawing/2014/main" id="{4E28B691-B5BF-3143-9493-2672F92B140F}"/>
              </a:ext>
            </a:extLst>
          </p:cNvPr>
          <p:cNvSpPr txBox="1"/>
          <p:nvPr/>
        </p:nvSpPr>
        <p:spPr>
          <a:xfrm>
            <a:off x="1947992" y="5430283"/>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G</a:t>
            </a:r>
            <a:r>
              <a:rPr lang="en-US" baseline="-25000" dirty="0">
                <a:latin typeface="Arial"/>
                <a:cs typeface="Arial"/>
              </a:rPr>
              <a:t>1</a:t>
            </a:r>
            <a:r>
              <a:rPr lang="en-US" dirty="0">
                <a:latin typeface="Arial"/>
                <a:cs typeface="Arial"/>
              </a:rPr>
              <a:t>(x)</a:t>
            </a:r>
          </a:p>
        </p:txBody>
      </p:sp>
      <p:sp>
        <p:nvSpPr>
          <p:cNvPr id="83" name="TextBox 82">
            <a:extLst>
              <a:ext uri="{FF2B5EF4-FFF2-40B4-BE49-F238E27FC236}">
                <a16:creationId xmlns:a16="http://schemas.microsoft.com/office/drawing/2014/main" id="{80AA7213-5117-4943-B5EA-EF526CF5605B}"/>
              </a:ext>
            </a:extLst>
          </p:cNvPr>
          <p:cNvSpPr txBox="1"/>
          <p:nvPr/>
        </p:nvSpPr>
        <p:spPr>
          <a:xfrm>
            <a:off x="5009102" y="5448467"/>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G</a:t>
            </a:r>
            <a:r>
              <a:rPr lang="en-US" baseline="-25000" dirty="0">
                <a:latin typeface="Arial"/>
                <a:cs typeface="Arial"/>
              </a:rPr>
              <a:t>2</a:t>
            </a:r>
            <a:r>
              <a:rPr lang="en-US" dirty="0">
                <a:latin typeface="Arial"/>
                <a:cs typeface="Arial"/>
              </a:rPr>
              <a:t>(x)</a:t>
            </a:r>
          </a:p>
        </p:txBody>
      </p:sp>
      <p:sp>
        <p:nvSpPr>
          <p:cNvPr id="84" name="TextBox 83">
            <a:extLst>
              <a:ext uri="{FF2B5EF4-FFF2-40B4-BE49-F238E27FC236}">
                <a16:creationId xmlns:a16="http://schemas.microsoft.com/office/drawing/2014/main" id="{B858986E-DAC4-8741-A482-CBF3588B7A33}"/>
              </a:ext>
            </a:extLst>
          </p:cNvPr>
          <p:cNvSpPr txBox="1"/>
          <p:nvPr/>
        </p:nvSpPr>
        <p:spPr>
          <a:xfrm>
            <a:off x="6457583" y="5441458"/>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G</a:t>
            </a:r>
            <a:r>
              <a:rPr lang="en-US" baseline="-25000" dirty="0">
                <a:latin typeface="Arial"/>
                <a:cs typeface="Arial"/>
              </a:rPr>
              <a:t>t</a:t>
            </a:r>
            <a:r>
              <a:rPr lang="en-US" dirty="0">
                <a:latin typeface="Arial"/>
                <a:cs typeface="Arial"/>
              </a:rPr>
              <a:t>(x)</a:t>
            </a:r>
          </a:p>
        </p:txBody>
      </p:sp>
      <p:sp>
        <p:nvSpPr>
          <p:cNvPr id="85" name="TextBox 84">
            <a:extLst>
              <a:ext uri="{FF2B5EF4-FFF2-40B4-BE49-F238E27FC236}">
                <a16:creationId xmlns:a16="http://schemas.microsoft.com/office/drawing/2014/main" id="{2EF91D5C-8A31-4F40-8B59-94E7AF759B56}"/>
              </a:ext>
            </a:extLst>
          </p:cNvPr>
          <p:cNvSpPr txBox="1"/>
          <p:nvPr/>
        </p:nvSpPr>
        <p:spPr>
          <a:xfrm>
            <a:off x="553957" y="5853604"/>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cs typeface="Arial"/>
              </a:rPr>
              <a:t>x</a:t>
            </a:r>
          </a:p>
        </p:txBody>
      </p:sp>
      <p:sp>
        <p:nvSpPr>
          <p:cNvPr id="86" name="Oval 85">
            <a:extLst>
              <a:ext uri="{FF2B5EF4-FFF2-40B4-BE49-F238E27FC236}">
                <a16:creationId xmlns:a16="http://schemas.microsoft.com/office/drawing/2014/main" id="{9853A1EE-0328-B14F-85CF-253AAD64E38E}"/>
              </a:ext>
            </a:extLst>
          </p:cNvPr>
          <p:cNvSpPr/>
          <p:nvPr/>
        </p:nvSpPr>
        <p:spPr>
          <a:xfrm>
            <a:off x="6719860" y="4327065"/>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87" name="Straight Arrow Connector 86">
            <a:extLst>
              <a:ext uri="{FF2B5EF4-FFF2-40B4-BE49-F238E27FC236}">
                <a16:creationId xmlns:a16="http://schemas.microsoft.com/office/drawing/2014/main" id="{7B47494F-889F-5C45-BC34-F36C96C6975E}"/>
              </a:ext>
            </a:extLst>
          </p:cNvPr>
          <p:cNvCxnSpPr>
            <a:cxnSpLocks/>
          </p:cNvCxnSpPr>
          <p:nvPr/>
        </p:nvCxnSpPr>
        <p:spPr>
          <a:xfrm flipH="1">
            <a:off x="6570604" y="4534204"/>
            <a:ext cx="238486" cy="517156"/>
          </a:xfrm>
          <a:prstGeom prst="straightConnector1">
            <a:avLst/>
          </a:prstGeom>
          <a:ln w="28575"/>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F61ADD72-87D3-494B-808C-1F2897077B4E}"/>
              </a:ext>
            </a:extLst>
          </p:cNvPr>
          <p:cNvCxnSpPr>
            <a:cxnSpLocks/>
          </p:cNvCxnSpPr>
          <p:nvPr/>
        </p:nvCxnSpPr>
        <p:spPr>
          <a:xfrm>
            <a:off x="6894622" y="4527440"/>
            <a:ext cx="237905" cy="570774"/>
          </a:xfrm>
          <a:prstGeom prst="straightConnector1">
            <a:avLst/>
          </a:prstGeom>
          <a:ln w="28575"/>
        </p:spPr>
        <p:style>
          <a:lnRef idx="1">
            <a:schemeClr val="dk1"/>
          </a:lnRef>
          <a:fillRef idx="0">
            <a:schemeClr val="dk1"/>
          </a:fillRef>
          <a:effectRef idx="0">
            <a:schemeClr val="dk1"/>
          </a:effectRef>
          <a:fontRef idx="minor">
            <a:schemeClr val="tx1"/>
          </a:fontRef>
        </p:style>
      </p:cxnSp>
      <p:sp>
        <p:nvSpPr>
          <p:cNvPr id="89" name="Oval 88">
            <a:extLst>
              <a:ext uri="{FF2B5EF4-FFF2-40B4-BE49-F238E27FC236}">
                <a16:creationId xmlns:a16="http://schemas.microsoft.com/office/drawing/2014/main" id="{B5FA9811-FE3B-EA48-BB58-0C98A9BAD890}"/>
              </a:ext>
            </a:extLst>
          </p:cNvPr>
          <p:cNvSpPr/>
          <p:nvPr/>
        </p:nvSpPr>
        <p:spPr>
          <a:xfrm>
            <a:off x="7049388" y="5110738"/>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90" name="Oval 89">
            <a:extLst>
              <a:ext uri="{FF2B5EF4-FFF2-40B4-BE49-F238E27FC236}">
                <a16:creationId xmlns:a16="http://schemas.microsoft.com/office/drawing/2014/main" id="{818D347D-7796-B44C-BF9E-8C77D173C535}"/>
              </a:ext>
            </a:extLst>
          </p:cNvPr>
          <p:cNvSpPr/>
          <p:nvPr/>
        </p:nvSpPr>
        <p:spPr>
          <a:xfrm>
            <a:off x="6442999" y="5077410"/>
            <a:ext cx="216664" cy="18912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91" name="TextBox 90">
            <a:extLst>
              <a:ext uri="{FF2B5EF4-FFF2-40B4-BE49-F238E27FC236}">
                <a16:creationId xmlns:a16="http://schemas.microsoft.com/office/drawing/2014/main" id="{F74F6538-CFE5-6D4A-966D-2597805E210A}"/>
              </a:ext>
            </a:extLst>
          </p:cNvPr>
          <p:cNvSpPr txBox="1"/>
          <p:nvPr/>
        </p:nvSpPr>
        <p:spPr>
          <a:xfrm>
            <a:off x="8204396" y="5441458"/>
            <a:ext cx="1109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cs typeface="Arial"/>
              </a:rPr>
              <a:t>G(x)</a:t>
            </a:r>
          </a:p>
        </p:txBody>
      </p:sp>
      <p:sp>
        <p:nvSpPr>
          <p:cNvPr id="92" name="TextBox 91">
            <a:extLst>
              <a:ext uri="{FF2B5EF4-FFF2-40B4-BE49-F238E27FC236}">
                <a16:creationId xmlns:a16="http://schemas.microsoft.com/office/drawing/2014/main" id="{EA5CE6DA-042E-184B-B241-AB40305D9443}"/>
              </a:ext>
            </a:extLst>
          </p:cNvPr>
          <p:cNvSpPr txBox="1"/>
          <p:nvPr/>
        </p:nvSpPr>
        <p:spPr>
          <a:xfrm>
            <a:off x="2882146" y="5957958"/>
            <a:ext cx="251138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solidFill>
                  <a:schemeClr val="accent6"/>
                </a:solidFill>
                <a:latin typeface="Arial"/>
                <a:cs typeface="Arial"/>
              </a:rPr>
              <a:t>Residual: difference between prediction and ground truth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A03A92F-EAB9-D631-45E8-CAB15CEE2DF7}"/>
                  </a:ext>
                </a:extLst>
              </p:cNvPr>
              <p:cNvSpPr txBox="1"/>
              <p:nvPr/>
            </p:nvSpPr>
            <p:spPr>
              <a:xfrm>
                <a:off x="6128901" y="5780649"/>
                <a:ext cx="2346220" cy="861583"/>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itchFamily="34" charset="0"/>
                        </a:rPr>
                        <m:t>𝐺</m:t>
                      </m:r>
                      <m:d>
                        <m:dPr>
                          <m:ctrlPr>
                            <a:rPr lang="en-US" sz="2000" b="0" i="1" smtClean="0">
                              <a:latin typeface="Cambria Math" panose="02040503050406030204" pitchFamily="18" charset="0"/>
                              <a:cs typeface="Arial" pitchFamily="34" charset="0"/>
                            </a:rPr>
                          </m:ctrlPr>
                        </m:dPr>
                        <m:e>
                          <m:r>
                            <a:rPr lang="en-US" sz="2000" b="0" i="1" smtClean="0">
                              <a:latin typeface="Cambria Math" panose="02040503050406030204" pitchFamily="18" charset="0"/>
                              <a:cs typeface="Arial" pitchFamily="34" charset="0"/>
                            </a:rPr>
                            <m:t>𝑥</m:t>
                          </m:r>
                        </m:e>
                      </m:d>
                      <m:r>
                        <a:rPr lang="en-US" sz="2000" b="0" i="1" smtClean="0">
                          <a:latin typeface="Cambria Math" panose="02040503050406030204" pitchFamily="18" charset="0"/>
                          <a:cs typeface="Arial" pitchFamily="34" charset="0"/>
                        </a:rPr>
                        <m:t>= </m:t>
                      </m:r>
                      <m:nary>
                        <m:naryPr>
                          <m:chr m:val="∑"/>
                          <m:ctrlPr>
                            <a:rPr lang="en-US" sz="2000" b="0" i="1" smtClean="0">
                              <a:latin typeface="Cambria Math" panose="02040503050406030204" pitchFamily="18" charset="0"/>
                              <a:cs typeface="Arial" pitchFamily="34" charset="0"/>
                            </a:rPr>
                          </m:ctrlPr>
                        </m:naryPr>
                        <m:sub>
                          <m:r>
                            <m:rPr>
                              <m:brk m:alnAt="23"/>
                            </m:rPr>
                            <a:rPr lang="en-US" sz="2000" b="0" i="1" smtClean="0">
                              <a:latin typeface="Cambria Math" panose="02040503050406030204" pitchFamily="18" charset="0"/>
                              <a:cs typeface="Arial" pitchFamily="34" charset="0"/>
                            </a:rPr>
                            <m:t>𝑖</m:t>
                          </m:r>
                          <m:r>
                            <a:rPr lang="en-US" sz="2000" b="0" i="1" smtClean="0">
                              <a:latin typeface="Cambria Math" panose="02040503050406030204" pitchFamily="18" charset="0"/>
                              <a:cs typeface="Arial" pitchFamily="34" charset="0"/>
                            </a:rPr>
                            <m:t>=1</m:t>
                          </m:r>
                        </m:sub>
                        <m:sup>
                          <m:r>
                            <a:rPr lang="en-US" sz="2000" b="0" i="1" smtClean="0">
                              <a:latin typeface="Cambria Math" panose="02040503050406030204" pitchFamily="18" charset="0"/>
                              <a:cs typeface="Arial" pitchFamily="34" charset="0"/>
                            </a:rPr>
                            <m:t>𝑡</m:t>
                          </m:r>
                        </m:sup>
                        <m:e>
                          <m:r>
                            <a:rPr lang="en-US" sz="2000" b="0" i="1" smtClean="0">
                              <a:latin typeface="Cambria Math" panose="02040503050406030204" pitchFamily="18" charset="0"/>
                              <a:cs typeface="Arial" pitchFamily="34" charset="0"/>
                            </a:rPr>
                            <m:t>𝐺</m:t>
                          </m:r>
                          <m:r>
                            <a:rPr lang="en-US" sz="2000" b="0" i="1" baseline="-25000" smtClean="0">
                              <a:latin typeface="Cambria Math" panose="02040503050406030204" pitchFamily="18" charset="0"/>
                              <a:cs typeface="Arial" pitchFamily="34" charset="0"/>
                            </a:rPr>
                            <m:t>𝑖</m:t>
                          </m:r>
                          <m:r>
                            <a:rPr lang="en-US" sz="2000" b="0" i="1" smtClean="0">
                              <a:latin typeface="Cambria Math" panose="02040503050406030204" pitchFamily="18" charset="0"/>
                              <a:cs typeface="Arial" pitchFamily="34" charset="0"/>
                            </a:rPr>
                            <m:t>(</m:t>
                          </m:r>
                          <m:r>
                            <a:rPr lang="en-US" sz="2000" b="0" i="1" smtClean="0">
                              <a:latin typeface="Cambria Math" panose="02040503050406030204" pitchFamily="18" charset="0"/>
                              <a:cs typeface="Arial" pitchFamily="34" charset="0"/>
                            </a:rPr>
                            <m:t>𝑥</m:t>
                          </m:r>
                          <m:r>
                            <a:rPr lang="en-US" sz="2000" b="0" i="1" smtClean="0">
                              <a:latin typeface="Cambria Math" panose="02040503050406030204" pitchFamily="18" charset="0"/>
                              <a:cs typeface="Arial" pitchFamily="34" charset="0"/>
                            </a:rPr>
                            <m:t>)</m:t>
                          </m:r>
                        </m:e>
                      </m:nary>
                    </m:oMath>
                  </m:oMathPara>
                </a14:m>
                <a:endParaRPr lang="en-US" sz="2000" dirty="0">
                  <a:latin typeface="Arial" pitchFamily="34" charset="0"/>
                  <a:cs typeface="Arial" pitchFamily="34" charset="0"/>
                </a:endParaRPr>
              </a:p>
            </p:txBody>
          </p:sp>
        </mc:Choice>
        <mc:Fallback xmlns="">
          <p:sp>
            <p:nvSpPr>
              <p:cNvPr id="7" name="TextBox 6">
                <a:extLst>
                  <a:ext uri="{FF2B5EF4-FFF2-40B4-BE49-F238E27FC236}">
                    <a16:creationId xmlns:a16="http://schemas.microsoft.com/office/drawing/2014/main" id="{EA03A92F-EAB9-D631-45E8-CAB15CEE2DF7}"/>
                  </a:ext>
                </a:extLst>
              </p:cNvPr>
              <p:cNvSpPr txBox="1">
                <a:spLocks noRot="1" noChangeAspect="1" noMove="1" noResize="1" noEditPoints="1" noAdjustHandles="1" noChangeArrowheads="1" noChangeShapeType="1" noTextEdit="1"/>
              </p:cNvSpPr>
              <p:nvPr/>
            </p:nvSpPr>
            <p:spPr>
              <a:xfrm>
                <a:off x="6128901" y="5780649"/>
                <a:ext cx="2346220" cy="86158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4915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83648-4144-34AA-D835-01EBF2CC5A05}"/>
              </a:ext>
            </a:extLst>
          </p:cNvPr>
          <p:cNvSpPr>
            <a:spLocks noGrp="1"/>
          </p:cNvSpPr>
          <p:nvPr>
            <p:ph type="title"/>
          </p:nvPr>
        </p:nvSpPr>
        <p:spPr/>
        <p:txBody>
          <a:bodyPr/>
          <a:lstStyle/>
          <a:p>
            <a:r>
              <a:rPr lang="en-US" dirty="0">
                <a:ea typeface="+mj-lt"/>
                <a:cs typeface="+mj-lt"/>
              </a:rPr>
              <a:t>AdaBoost</a:t>
            </a:r>
            <a:endParaRPr lang="en-US" dirty="0"/>
          </a:p>
        </p:txBody>
      </p:sp>
      <p:sp>
        <p:nvSpPr>
          <p:cNvPr id="3" name="Content Placeholder 2">
            <a:extLst>
              <a:ext uri="{FF2B5EF4-FFF2-40B4-BE49-F238E27FC236}">
                <a16:creationId xmlns:a16="http://schemas.microsoft.com/office/drawing/2014/main" id="{F76CE575-89A3-09DB-BFCA-081FFDED68C6}"/>
              </a:ext>
            </a:extLst>
          </p:cNvPr>
          <p:cNvSpPr>
            <a:spLocks noGrp="1"/>
          </p:cNvSpPr>
          <p:nvPr>
            <p:ph idx="1"/>
          </p:nvPr>
        </p:nvSpPr>
        <p:spPr/>
        <p:txBody>
          <a:bodyPr>
            <a:normAutofit/>
          </a:bodyPr>
          <a:lstStyle/>
          <a:p>
            <a:r>
              <a:rPr lang="en-US" dirty="0"/>
              <a:t>AdaBoost = Adaptive Boosting</a:t>
            </a:r>
          </a:p>
          <a:p>
            <a:r>
              <a:rPr lang="en-US" dirty="0"/>
              <a:t>It builds many </a:t>
            </a:r>
            <a:r>
              <a:rPr lang="en-US" dirty="0">
                <a:solidFill>
                  <a:srgbClr val="0000FF"/>
                </a:solidFill>
              </a:rPr>
              <a:t>weak learners </a:t>
            </a:r>
            <a:r>
              <a:rPr lang="en-US" dirty="0"/>
              <a:t>and ensembles their predictions</a:t>
            </a:r>
          </a:p>
          <a:p>
            <a:r>
              <a:rPr lang="en-US" dirty="0">
                <a:solidFill>
                  <a:srgbClr val="202122"/>
                </a:solidFill>
              </a:rPr>
              <a:t>The individual learners can be weak, but as long as the performance of each one is slightly </a:t>
            </a:r>
            <a:r>
              <a:rPr lang="en-US" dirty="0">
                <a:solidFill>
                  <a:srgbClr val="0000FF"/>
                </a:solidFill>
              </a:rPr>
              <a:t>better than random guessing</a:t>
            </a:r>
            <a:r>
              <a:rPr lang="en-US" dirty="0">
                <a:solidFill>
                  <a:srgbClr val="202122"/>
                </a:solidFill>
              </a:rPr>
              <a:t>, the final model converge to a strong learner.</a:t>
            </a:r>
            <a:endParaRPr lang="en-US" dirty="0"/>
          </a:p>
          <a:p>
            <a:r>
              <a:rPr lang="en-US" dirty="0">
                <a:solidFill>
                  <a:srgbClr val="202122"/>
                </a:solidFill>
              </a:rPr>
              <a:t>Every</a:t>
            </a:r>
            <a:r>
              <a:rPr lang="en-US" b="0" i="0" dirty="0">
                <a:solidFill>
                  <a:srgbClr val="202122"/>
                </a:solidFill>
                <a:effectLst/>
              </a:rPr>
              <a:t> weak learner used in AdaBoost is tweaked in favor of </a:t>
            </a:r>
            <a:r>
              <a:rPr lang="en-US" b="0" i="0" dirty="0">
                <a:solidFill>
                  <a:srgbClr val="FF0000"/>
                </a:solidFill>
                <a:effectLst/>
              </a:rPr>
              <a:t>instances misclassified </a:t>
            </a:r>
            <a:r>
              <a:rPr lang="en-US" b="0" i="0" dirty="0">
                <a:solidFill>
                  <a:srgbClr val="202122"/>
                </a:solidFill>
                <a:effectLst/>
              </a:rPr>
              <a:t>by previous weak learners.</a:t>
            </a:r>
            <a:endParaRPr lang="en-US" dirty="0"/>
          </a:p>
          <a:p>
            <a:endParaRPr lang="en-US" dirty="0"/>
          </a:p>
        </p:txBody>
      </p:sp>
      <p:sp>
        <p:nvSpPr>
          <p:cNvPr id="4" name="Date Placeholder 3">
            <a:extLst>
              <a:ext uri="{FF2B5EF4-FFF2-40B4-BE49-F238E27FC236}">
                <a16:creationId xmlns:a16="http://schemas.microsoft.com/office/drawing/2014/main" id="{765BCB6A-38A4-D405-986E-1269DE76FD5D}"/>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F40021CF-0582-0461-19B3-FD13363C363D}"/>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FEC221B-7960-CA3E-B638-92FCB9478683}"/>
              </a:ext>
            </a:extLst>
          </p:cNvPr>
          <p:cNvSpPr>
            <a:spLocks noGrp="1"/>
          </p:cNvSpPr>
          <p:nvPr>
            <p:ph type="sldNum" sz="quarter" idx="12"/>
          </p:nvPr>
        </p:nvSpPr>
        <p:spPr/>
        <p:txBody>
          <a:bodyPr/>
          <a:lstStyle/>
          <a:p>
            <a:fld id="{19B12225-5612-419B-A8D5-4B8EEE4C217E}" type="slidenum">
              <a:rPr lang="en-US" smtClean="0"/>
              <a:pPr/>
              <a:t>12</a:t>
            </a:fld>
            <a:endParaRPr lang="en-US"/>
          </a:p>
        </p:txBody>
      </p:sp>
    </p:spTree>
    <p:extLst>
      <p:ext uri="{BB962C8B-B14F-4D97-AF65-F5344CB8AC3E}">
        <p14:creationId xmlns:p14="http://schemas.microsoft.com/office/powerpoint/2010/main" val="4196325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54F29-68CA-49E4-82BC-3604252F970B}"/>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dirty="0">
                <a:ea typeface="+mj-lt"/>
                <a:cs typeface="+mj-lt"/>
              </a:rPr>
              <a:t>AdaBoost: Weak learner</a:t>
            </a:r>
            <a:endParaRPr lang="en-US" b="0" dirty="0">
              <a:ea typeface="+mj-lt"/>
              <a:cs typeface="+mj-lt"/>
            </a:endParaRPr>
          </a:p>
        </p:txBody>
      </p:sp>
      <p:sp>
        <p:nvSpPr>
          <p:cNvPr id="3" name="Content Placeholder 2">
            <a:extLst>
              <a:ext uri="{FF2B5EF4-FFF2-40B4-BE49-F238E27FC236}">
                <a16:creationId xmlns:a16="http://schemas.microsoft.com/office/drawing/2014/main" id="{CFD7E5EB-AD85-49F2-8A49-94FC991146AF}"/>
              </a:ext>
            </a:extLst>
          </p:cNvPr>
          <p:cNvSpPr>
            <a:spLocks noGrp="1"/>
          </p:cNvSpPr>
          <p:nvPr>
            <p:ph idx="1"/>
          </p:nvPr>
        </p:nvSpPr>
        <p:spPr/>
        <p:txBody>
          <a:bodyPr vert="horz" lIns="54864" tIns="91440" rIns="91440" bIns="45720" rtlCol="0" anchor="t">
            <a:normAutofit/>
          </a:bodyPr>
          <a:lstStyle/>
          <a:p>
            <a:pPr marL="438785"/>
            <a:r>
              <a:rPr lang="en-US" b="1" dirty="0">
                <a:solidFill>
                  <a:srgbClr val="0000FF"/>
                </a:solidFill>
                <a:latin typeface="Calibri"/>
                <a:cs typeface="Calibri"/>
              </a:rPr>
              <a:t>Decision “stumps”:</a:t>
            </a:r>
            <a:endParaRPr lang="en-US" b="1" dirty="0">
              <a:solidFill>
                <a:srgbClr val="000000"/>
              </a:solidFill>
            </a:endParaRPr>
          </a:p>
          <a:p>
            <a:pPr lvl="1"/>
            <a:r>
              <a:rPr lang="en-US" dirty="0">
                <a:latin typeface="Calibri"/>
                <a:cs typeface="Calibri"/>
              </a:rPr>
              <a:t>1-level decision tree</a:t>
            </a:r>
            <a:endParaRPr lang="en-US" dirty="0"/>
          </a:p>
          <a:p>
            <a:pPr lvl="1"/>
            <a:r>
              <a:rPr lang="en-US" dirty="0">
                <a:latin typeface="Calibri"/>
                <a:cs typeface="Calibri"/>
              </a:rPr>
              <a:t>A decision boundary based on one feature </a:t>
            </a:r>
            <a:endParaRPr lang="en-US" dirty="0"/>
          </a:p>
          <a:p>
            <a:pPr marL="996315" lvl="2"/>
            <a:r>
              <a:rPr lang="en-US" dirty="0">
                <a:latin typeface="Calibri"/>
                <a:cs typeface="Calibri"/>
              </a:rPr>
              <a:t>E.g.: If someone is not a smoker, then predict them to live past 80 years old</a:t>
            </a:r>
          </a:p>
          <a:p>
            <a:pPr lvl="1">
              <a:buClr>
                <a:srgbClr val="60B5CC"/>
              </a:buClr>
            </a:pPr>
            <a:r>
              <a:rPr lang="en-US" dirty="0">
                <a:latin typeface="Calibri"/>
                <a:cs typeface="Calibri"/>
              </a:rPr>
              <a:t>Building blocks of AdaBoost algorithm</a:t>
            </a:r>
          </a:p>
          <a:p>
            <a:pPr lvl="1">
              <a:buClr>
                <a:srgbClr val="60B5CC"/>
              </a:buClr>
            </a:pPr>
            <a:r>
              <a:rPr lang="en-US" b="1" dirty="0">
                <a:latin typeface="Calibri"/>
                <a:cs typeface="Calibri"/>
              </a:rPr>
              <a:t>Decision stump</a:t>
            </a:r>
            <a:r>
              <a:rPr lang="en-US" dirty="0">
                <a:latin typeface="Calibri"/>
                <a:cs typeface="Calibri"/>
              </a:rPr>
              <a:t> is a </a:t>
            </a:r>
            <a:r>
              <a:rPr lang="en-US" b="1" dirty="0">
                <a:latin typeface="Calibri"/>
                <a:cs typeface="Calibri"/>
              </a:rPr>
              <a:t>weak learner</a:t>
            </a:r>
            <a:endParaRPr lang="en-US" b="1" dirty="0"/>
          </a:p>
          <a:p>
            <a:pPr marL="767715" lvl="2" indent="0">
              <a:buClr>
                <a:srgbClr val="E66C7D"/>
              </a:buClr>
              <a:buNone/>
            </a:pPr>
            <a:endParaRPr lang="en-US" dirty="0">
              <a:latin typeface="Calibri"/>
              <a:cs typeface="Calibri"/>
            </a:endParaRPr>
          </a:p>
          <a:p>
            <a:pPr lvl="1">
              <a:buClr>
                <a:srgbClr val="60B5CC"/>
              </a:buClr>
            </a:pPr>
            <a:endParaRPr lang="en-US" dirty="0"/>
          </a:p>
          <a:p>
            <a:pPr marL="767715" lvl="2" indent="0">
              <a:buNone/>
            </a:pPr>
            <a:endParaRPr lang="en-US" dirty="0"/>
          </a:p>
          <a:p>
            <a:pPr marL="767715" lvl="2" indent="0">
              <a:buNone/>
            </a:pPr>
            <a:endParaRPr lang="en-US" dirty="0"/>
          </a:p>
          <a:p>
            <a:pPr marL="767715" lvl="2" indent="0">
              <a:buNone/>
            </a:pPr>
            <a:endParaRPr lang="en-US" dirty="0"/>
          </a:p>
          <a:p>
            <a:pPr marL="996315" lvl="2"/>
            <a:endParaRPr lang="en-US" dirty="0"/>
          </a:p>
          <a:p>
            <a:pPr marL="767715" lvl="2" indent="0">
              <a:buNone/>
            </a:pPr>
            <a:endParaRPr lang="en-US" dirty="0"/>
          </a:p>
          <a:p>
            <a:pPr marL="767715" lvl="2" indent="0">
              <a:buNone/>
            </a:pPr>
            <a:endParaRPr lang="en-US" dirty="0"/>
          </a:p>
          <a:p>
            <a:pPr marL="996315" lvl="2"/>
            <a:endParaRPr lang="en-US" dirty="0"/>
          </a:p>
          <a:p>
            <a:pPr marL="767715" lvl="2" indent="0">
              <a:buNone/>
            </a:pPr>
            <a:endParaRPr lang="en-US" dirty="0"/>
          </a:p>
        </p:txBody>
      </p:sp>
      <p:sp>
        <p:nvSpPr>
          <p:cNvPr id="4" name="Date Placeholder 3">
            <a:extLst>
              <a:ext uri="{FF2B5EF4-FFF2-40B4-BE49-F238E27FC236}">
                <a16:creationId xmlns:a16="http://schemas.microsoft.com/office/drawing/2014/main" id="{3DCF3F7D-9146-4931-9557-A4678A2914DD}"/>
              </a:ext>
            </a:extLst>
          </p:cNvPr>
          <p:cNvSpPr>
            <a:spLocks noGrp="1"/>
          </p:cNvSpPr>
          <p:nvPr>
            <p:ph type="dt" sz="half" idx="10"/>
          </p:nvPr>
        </p:nvSpPr>
        <p:spPr/>
        <p:txBody>
          <a:bodyPr/>
          <a:lstStyle/>
          <a:p>
            <a:fld id="{DBDDB94E-80E1-1F47-97FF-8C70DFC636ED}" type="datetime1">
              <a:rPr lang="en-US" smtClean="0"/>
              <a:t>10/15/24</a:t>
            </a:fld>
            <a:endParaRPr lang="en-US"/>
          </a:p>
        </p:txBody>
      </p:sp>
      <p:sp>
        <p:nvSpPr>
          <p:cNvPr id="5" name="Footer Placeholder 4">
            <a:extLst>
              <a:ext uri="{FF2B5EF4-FFF2-40B4-BE49-F238E27FC236}">
                <a16:creationId xmlns:a16="http://schemas.microsoft.com/office/drawing/2014/main" id="{66529EEC-A817-4CEB-844F-0F2A3FF043FB}"/>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248B833B-B5AD-4D17-A140-3BDA8232C4FE}"/>
              </a:ext>
            </a:extLst>
          </p:cNvPr>
          <p:cNvSpPr>
            <a:spLocks noGrp="1"/>
          </p:cNvSpPr>
          <p:nvPr>
            <p:ph type="sldNum" sz="quarter" idx="12"/>
          </p:nvPr>
        </p:nvSpPr>
        <p:spPr/>
        <p:txBody>
          <a:bodyPr/>
          <a:lstStyle/>
          <a:p>
            <a:fld id="{19B12225-5612-419B-A8D5-4B8EEE4C217E}" type="slidenum">
              <a:rPr lang="en-US" smtClean="0"/>
              <a:pPr/>
              <a:t>13</a:t>
            </a:fld>
            <a:endParaRPr lang="en-US"/>
          </a:p>
        </p:txBody>
      </p:sp>
      <p:sp>
        <p:nvSpPr>
          <p:cNvPr id="28" name="TextBox 27">
            <a:extLst>
              <a:ext uri="{FF2B5EF4-FFF2-40B4-BE49-F238E27FC236}">
                <a16:creationId xmlns:a16="http://schemas.microsoft.com/office/drawing/2014/main" id="{D2D1D077-483C-4D70-836C-DBA3175D206C}"/>
              </a:ext>
            </a:extLst>
          </p:cNvPr>
          <p:cNvSpPr txBox="1"/>
          <p:nvPr/>
        </p:nvSpPr>
        <p:spPr>
          <a:xfrm>
            <a:off x="6305101" y="4905326"/>
            <a:ext cx="272521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latin typeface="Arial"/>
                <a:cs typeface="Arial"/>
              </a:rPr>
              <a:t>Boosting theory:</a:t>
            </a:r>
            <a:br>
              <a:rPr lang="en-US" b="1">
                <a:solidFill>
                  <a:srgbClr val="C00000"/>
                </a:solidFill>
                <a:latin typeface="Arial"/>
                <a:cs typeface="Arial"/>
              </a:rPr>
            </a:br>
            <a:r>
              <a:rPr lang="en-US" b="1">
                <a:solidFill>
                  <a:srgbClr val="C00000"/>
                </a:solidFill>
                <a:latin typeface="Arial"/>
                <a:cs typeface="Arial"/>
              </a:rPr>
              <a:t>if weak learners have</a:t>
            </a:r>
          </a:p>
          <a:p>
            <a:r>
              <a:rPr lang="en-US" b="1">
                <a:solidFill>
                  <a:srgbClr val="C00000"/>
                </a:solidFill>
                <a:latin typeface="Arial"/>
                <a:cs typeface="Arial"/>
              </a:rPr>
              <a:t>&gt;50% accuracy then we can learn a perfect classifier.</a:t>
            </a:r>
            <a:endParaRPr lang="en-US">
              <a:solidFill>
                <a:srgbClr val="C00000"/>
              </a:solidFill>
            </a:endParaRPr>
          </a:p>
        </p:txBody>
      </p:sp>
      <p:sp>
        <p:nvSpPr>
          <p:cNvPr id="16" name="Rectangle 15">
            <a:extLst>
              <a:ext uri="{FF2B5EF4-FFF2-40B4-BE49-F238E27FC236}">
                <a16:creationId xmlns:a16="http://schemas.microsoft.com/office/drawing/2014/main" id="{0DEB2252-022C-CA43-B246-49FFC56211FE}"/>
              </a:ext>
            </a:extLst>
          </p:cNvPr>
          <p:cNvSpPr/>
          <p:nvPr/>
        </p:nvSpPr>
        <p:spPr>
          <a:xfrm>
            <a:off x="3604752" y="4784377"/>
            <a:ext cx="1934496" cy="1799303"/>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D37339DF-3011-A24C-A574-436623EA3B85}"/>
              </a:ext>
            </a:extLst>
          </p:cNvPr>
          <p:cNvSpPr txBox="1"/>
          <p:nvPr/>
        </p:nvSpPr>
        <p:spPr>
          <a:xfrm>
            <a:off x="4281966" y="4746796"/>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0" name="TextBox 19">
            <a:extLst>
              <a:ext uri="{FF2B5EF4-FFF2-40B4-BE49-F238E27FC236}">
                <a16:creationId xmlns:a16="http://schemas.microsoft.com/office/drawing/2014/main" id="{8A6F4189-AFA3-CC4F-933C-18F6898C2543}"/>
              </a:ext>
            </a:extLst>
          </p:cNvPr>
          <p:cNvSpPr txBox="1"/>
          <p:nvPr/>
        </p:nvSpPr>
        <p:spPr>
          <a:xfrm>
            <a:off x="3827224" y="494958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1" name="TextBox 20">
            <a:extLst>
              <a:ext uri="{FF2B5EF4-FFF2-40B4-BE49-F238E27FC236}">
                <a16:creationId xmlns:a16="http://schemas.microsoft.com/office/drawing/2014/main" id="{BD40649F-CC9D-1442-B62E-81E3E118F637}"/>
              </a:ext>
            </a:extLst>
          </p:cNvPr>
          <p:cNvSpPr txBox="1"/>
          <p:nvPr/>
        </p:nvSpPr>
        <p:spPr>
          <a:xfrm>
            <a:off x="4804305" y="4820539"/>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2" name="TextBox 21">
            <a:extLst>
              <a:ext uri="{FF2B5EF4-FFF2-40B4-BE49-F238E27FC236}">
                <a16:creationId xmlns:a16="http://schemas.microsoft.com/office/drawing/2014/main" id="{B7D343E3-8BD6-454E-A284-634213C62B07}"/>
              </a:ext>
            </a:extLst>
          </p:cNvPr>
          <p:cNvSpPr txBox="1"/>
          <p:nvPr/>
        </p:nvSpPr>
        <p:spPr>
          <a:xfrm>
            <a:off x="3735047" y="5643990"/>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4" name="TextBox 23">
            <a:extLst>
              <a:ext uri="{FF2B5EF4-FFF2-40B4-BE49-F238E27FC236}">
                <a16:creationId xmlns:a16="http://schemas.microsoft.com/office/drawing/2014/main" id="{B5E039A3-8F28-AC49-A9BD-FDE692AEA775}"/>
              </a:ext>
            </a:extLst>
          </p:cNvPr>
          <p:cNvSpPr txBox="1"/>
          <p:nvPr/>
        </p:nvSpPr>
        <p:spPr>
          <a:xfrm>
            <a:off x="4170107" y="536254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26" name="TextBox 25">
            <a:extLst>
              <a:ext uri="{FF2B5EF4-FFF2-40B4-BE49-F238E27FC236}">
                <a16:creationId xmlns:a16="http://schemas.microsoft.com/office/drawing/2014/main" id="{6AE1D47E-4242-3243-BA47-D9FDA296D70A}"/>
              </a:ext>
            </a:extLst>
          </p:cNvPr>
          <p:cNvSpPr txBox="1"/>
          <p:nvPr/>
        </p:nvSpPr>
        <p:spPr>
          <a:xfrm flipH="1">
            <a:off x="4757407" y="5184332"/>
            <a:ext cx="94812" cy="461665"/>
          </a:xfrm>
          <a:prstGeom prst="rect">
            <a:avLst/>
          </a:prstGeom>
          <a:noFill/>
        </p:spPr>
        <p:txBody>
          <a:bodyPr wrap="square" rtlCol="0">
            <a:spAutoFit/>
          </a:bodyPr>
          <a:lstStyle/>
          <a:p>
            <a:r>
              <a:rPr lang="en-US" sz="2400" b="1">
                <a:solidFill>
                  <a:srgbClr val="FF0000"/>
                </a:solidFill>
              </a:rPr>
              <a:t>–</a:t>
            </a:r>
            <a:endParaRPr lang="en-US" b="1">
              <a:solidFill>
                <a:srgbClr val="FF0000"/>
              </a:solidFill>
            </a:endParaRPr>
          </a:p>
        </p:txBody>
      </p:sp>
      <p:sp>
        <p:nvSpPr>
          <p:cNvPr id="29" name="TextBox 28">
            <a:extLst>
              <a:ext uri="{FF2B5EF4-FFF2-40B4-BE49-F238E27FC236}">
                <a16:creationId xmlns:a16="http://schemas.microsoft.com/office/drawing/2014/main" id="{EE086C56-35B6-C549-84A0-4B2F893641CD}"/>
              </a:ext>
            </a:extLst>
          </p:cNvPr>
          <p:cNvSpPr txBox="1"/>
          <p:nvPr/>
        </p:nvSpPr>
        <p:spPr>
          <a:xfrm>
            <a:off x="4569543" y="5823429"/>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cxnSp>
        <p:nvCxnSpPr>
          <p:cNvPr id="9" name="Straight Connector 8">
            <a:extLst>
              <a:ext uri="{FF2B5EF4-FFF2-40B4-BE49-F238E27FC236}">
                <a16:creationId xmlns:a16="http://schemas.microsoft.com/office/drawing/2014/main" id="{DEEC4D40-3374-FE47-AC33-0CB0224E33EA}"/>
              </a:ext>
            </a:extLst>
          </p:cNvPr>
          <p:cNvCxnSpPr/>
          <p:nvPr/>
        </p:nvCxnSpPr>
        <p:spPr>
          <a:xfrm flipH="1">
            <a:off x="3341560" y="5001795"/>
            <a:ext cx="2540336" cy="1435184"/>
          </a:xfrm>
          <a:prstGeom prst="line">
            <a:avLst/>
          </a:prstGeom>
          <a:ln w="28575"/>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BF6CD50C-305F-A74C-915D-8772BA025091}"/>
              </a:ext>
            </a:extLst>
          </p:cNvPr>
          <p:cNvSpPr txBox="1"/>
          <p:nvPr/>
        </p:nvSpPr>
        <p:spPr>
          <a:xfrm>
            <a:off x="1501490" y="6054261"/>
            <a:ext cx="19895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A decision stump</a:t>
            </a:r>
            <a:endParaRPr lang="en-US"/>
          </a:p>
        </p:txBody>
      </p:sp>
      <p:pic>
        <p:nvPicPr>
          <p:cNvPr id="7" name="Picture 6">
            <a:extLst>
              <a:ext uri="{FF2B5EF4-FFF2-40B4-BE49-F238E27FC236}">
                <a16:creationId xmlns:a16="http://schemas.microsoft.com/office/drawing/2014/main" id="{A7DF1680-B661-CCFB-0369-3772D7F40A64}"/>
              </a:ext>
            </a:extLst>
          </p:cNvPr>
          <p:cNvPicPr>
            <a:picLocks noChangeAspect="1"/>
          </p:cNvPicPr>
          <p:nvPr/>
        </p:nvPicPr>
        <p:blipFill>
          <a:blip r:embed="rId3"/>
          <a:stretch>
            <a:fillRect/>
          </a:stretch>
        </p:blipFill>
        <p:spPr>
          <a:xfrm>
            <a:off x="4455251" y="1171250"/>
            <a:ext cx="1597478" cy="1354293"/>
          </a:xfrm>
          <a:prstGeom prst="rect">
            <a:avLst/>
          </a:prstGeom>
        </p:spPr>
      </p:pic>
    </p:spTree>
    <p:extLst>
      <p:ext uri="{BB962C8B-B14F-4D97-AF65-F5344CB8AC3E}">
        <p14:creationId xmlns:p14="http://schemas.microsoft.com/office/powerpoint/2010/main" val="3567098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D10FF-D4A7-4A89-A4A7-7758DE296838}"/>
              </a:ext>
            </a:extLst>
          </p:cNvPr>
          <p:cNvSpPr>
            <a:spLocks noGrp="1"/>
          </p:cNvSpPr>
          <p:nvPr>
            <p:ph type="title"/>
          </p:nvPr>
        </p:nvSpPr>
        <p:spPr/>
        <p:txBody>
          <a:bodyPr vert="horz" lIns="91440" tIns="45720" rIns="45720" bIns="45720" rtlCol="0" anchor="ctr">
            <a:normAutofit fontScale="90000"/>
            <a:scene3d>
              <a:camera prst="orthographicFront"/>
              <a:lightRig rig="threePt" dir="t">
                <a:rot lat="0" lon="0" rev="4800000"/>
              </a:lightRig>
            </a:scene3d>
            <a:sp3d prstMaterial="matte">
              <a:bevelT w="50800" h="10160"/>
            </a:sp3d>
          </a:bodyPr>
          <a:lstStyle/>
          <a:p>
            <a:r>
              <a:rPr lang="en-US"/>
              <a:t>Build Decision Trees with AdaBoost</a:t>
            </a:r>
          </a:p>
        </p:txBody>
      </p:sp>
      <p:sp>
        <p:nvSpPr>
          <p:cNvPr id="3" name="Content Placeholder 2">
            <a:extLst>
              <a:ext uri="{FF2B5EF4-FFF2-40B4-BE49-F238E27FC236}">
                <a16:creationId xmlns:a16="http://schemas.microsoft.com/office/drawing/2014/main" id="{DE739D91-32AB-452E-BB19-0FB6CE2C1D16}"/>
              </a:ext>
            </a:extLst>
          </p:cNvPr>
          <p:cNvSpPr>
            <a:spLocks noGrp="1"/>
          </p:cNvSpPr>
          <p:nvPr>
            <p:ph idx="1"/>
          </p:nvPr>
        </p:nvSpPr>
        <p:spPr>
          <a:xfrm>
            <a:off x="383458" y="1823883"/>
            <a:ext cx="8303342" cy="3383528"/>
          </a:xfrm>
        </p:spPr>
        <p:txBody>
          <a:bodyPr vert="horz" lIns="54864" tIns="91440" rIns="91440" bIns="45720" rtlCol="0" anchor="t">
            <a:normAutofit/>
          </a:bodyPr>
          <a:lstStyle/>
          <a:p>
            <a:pPr marL="118745" indent="0">
              <a:buNone/>
            </a:pPr>
            <a:endParaRPr lang="en-US" sz="2400" dirty="0"/>
          </a:p>
          <a:p>
            <a:pPr marL="438785"/>
            <a:r>
              <a:rPr lang="en-US" sz="2400" dirty="0">
                <a:solidFill>
                  <a:srgbClr val="D60093"/>
                </a:solidFill>
                <a:latin typeface="Calibri"/>
                <a:cs typeface="Calibri"/>
              </a:rPr>
              <a:t>Initialize equal weights</a:t>
            </a:r>
            <a:r>
              <a:rPr lang="en-US" sz="2400" dirty="0">
                <a:latin typeface="Calibri"/>
                <a:cs typeface="Calibri"/>
              </a:rPr>
              <a:t> for all observations </a:t>
            </a:r>
          </a:p>
          <a:p>
            <a:pPr marL="438785"/>
            <a:endParaRPr lang="en-US" sz="2400" dirty="0">
              <a:latin typeface="Calibri"/>
              <a:cs typeface="Calibri"/>
            </a:endParaRPr>
          </a:p>
          <a:p>
            <a:pPr marL="438785"/>
            <a:r>
              <a:rPr lang="en-US" sz="2400" dirty="0">
                <a:solidFill>
                  <a:srgbClr val="D60093"/>
                </a:solidFill>
                <a:latin typeface="Calibri"/>
                <a:cs typeface="Calibri"/>
              </a:rPr>
              <a:t>At each iteration t:</a:t>
            </a:r>
            <a:endParaRPr lang="en-US" sz="2400" dirty="0">
              <a:solidFill>
                <a:srgbClr val="D60093"/>
              </a:solidFill>
            </a:endParaRPr>
          </a:p>
          <a:p>
            <a:pPr marL="971550" lvl="1" indent="-514350">
              <a:buClr>
                <a:srgbClr val="60B5CC"/>
              </a:buClr>
              <a:buAutoNum type="arabicPeriod"/>
            </a:pPr>
            <a:r>
              <a:rPr lang="en-US" sz="2400" b="1" dirty="0">
                <a:latin typeface="Calibri"/>
                <a:cs typeface="Calibri"/>
              </a:rPr>
              <a:t>Train a stump</a:t>
            </a:r>
            <a:r>
              <a:rPr lang="en-US" sz="2400" dirty="0">
                <a:latin typeface="Calibri"/>
                <a:cs typeface="Calibri"/>
              </a:rPr>
              <a:t>      using data weighted by </a:t>
            </a:r>
          </a:p>
          <a:p>
            <a:pPr marL="971550" lvl="1" indent="-514350">
              <a:buClr>
                <a:srgbClr val="60B5CC"/>
              </a:buClr>
              <a:buAutoNum type="arabicPeriod"/>
            </a:pPr>
            <a:r>
              <a:rPr lang="en-US" sz="2400" b="1" dirty="0">
                <a:latin typeface="Calibri"/>
                <a:cs typeface="Calibri"/>
              </a:rPr>
              <a:t>Compute the misclassification error</a:t>
            </a:r>
            <a:r>
              <a:rPr lang="en-US" sz="2400" dirty="0">
                <a:latin typeface="Calibri"/>
                <a:cs typeface="Calibri"/>
              </a:rPr>
              <a:t> adjusted by  </a:t>
            </a:r>
          </a:p>
          <a:p>
            <a:pPr marL="971550" lvl="1" indent="-514350">
              <a:buClr>
                <a:srgbClr val="60B5CC"/>
              </a:buClr>
              <a:buAutoNum type="arabicPeriod"/>
            </a:pPr>
            <a:r>
              <a:rPr lang="en-US" sz="2400" b="1" dirty="0">
                <a:latin typeface="Calibri"/>
                <a:cs typeface="Calibri"/>
              </a:rPr>
              <a:t>Compute the weight of the current tree</a:t>
            </a:r>
            <a:r>
              <a:rPr lang="en-US" sz="2400" dirty="0">
                <a:latin typeface="Calibri"/>
                <a:cs typeface="Calibri"/>
              </a:rPr>
              <a:t> </a:t>
            </a:r>
          </a:p>
          <a:p>
            <a:pPr marL="971550" lvl="1" indent="-514350">
              <a:buClr>
                <a:srgbClr val="60B5CC"/>
              </a:buClr>
              <a:buAutoNum type="arabicPeriod"/>
            </a:pPr>
            <a:r>
              <a:rPr lang="en-US" sz="2400" b="1" dirty="0">
                <a:latin typeface="Calibri"/>
                <a:cs typeface="Calibri"/>
              </a:rPr>
              <a:t>Reweight each observation</a:t>
            </a:r>
            <a:r>
              <a:rPr lang="en-US" sz="2400" dirty="0">
                <a:latin typeface="Calibri"/>
                <a:cs typeface="Calibri"/>
              </a:rPr>
              <a:t> based on prediction accuracy</a:t>
            </a:r>
            <a:endParaRPr lang="en-US" sz="2400" dirty="0"/>
          </a:p>
          <a:p>
            <a:pPr lvl="1">
              <a:buClr>
                <a:srgbClr val="60B5CC"/>
              </a:buClr>
            </a:pPr>
            <a:endParaRPr lang="en-US" sz="2400" dirty="0"/>
          </a:p>
          <a:p>
            <a:pPr marL="996315" lvl="2">
              <a:buClr>
                <a:srgbClr val="E66C7D"/>
              </a:buClr>
            </a:pPr>
            <a:endParaRPr lang="en-US" dirty="0"/>
          </a:p>
          <a:p>
            <a:pPr lvl="1">
              <a:buClr>
                <a:srgbClr val="60B5CC"/>
              </a:buClr>
            </a:pPr>
            <a:endParaRPr lang="en-US" sz="2400" dirty="0"/>
          </a:p>
          <a:p>
            <a:pPr marL="996315" lvl="2">
              <a:buClr>
                <a:srgbClr val="E66C7D"/>
              </a:buClr>
            </a:pPr>
            <a:endParaRPr lang="en-US" dirty="0"/>
          </a:p>
          <a:p>
            <a:pPr lvl="1">
              <a:buClr>
                <a:srgbClr val="60B5CC"/>
              </a:buClr>
            </a:pPr>
            <a:endParaRPr lang="en-US" sz="2400" dirty="0"/>
          </a:p>
          <a:p>
            <a:pPr marL="438785">
              <a:buClr>
                <a:srgbClr val="F0AD00"/>
              </a:buClr>
            </a:pPr>
            <a:endParaRPr lang="en-US" sz="2400" dirty="0"/>
          </a:p>
          <a:p>
            <a:pPr marL="457200" lvl="1" indent="0">
              <a:buClr>
                <a:srgbClr val="60B5CC"/>
              </a:buClr>
              <a:buNone/>
            </a:pPr>
            <a:endParaRPr lang="en-US" sz="2400" dirty="0"/>
          </a:p>
        </p:txBody>
      </p:sp>
      <p:sp>
        <p:nvSpPr>
          <p:cNvPr id="4" name="Date Placeholder 3">
            <a:extLst>
              <a:ext uri="{FF2B5EF4-FFF2-40B4-BE49-F238E27FC236}">
                <a16:creationId xmlns:a16="http://schemas.microsoft.com/office/drawing/2014/main" id="{ECF3DD76-E7E9-4981-9F36-4945FA8B0438}"/>
              </a:ext>
            </a:extLst>
          </p:cNvPr>
          <p:cNvSpPr>
            <a:spLocks noGrp="1"/>
          </p:cNvSpPr>
          <p:nvPr>
            <p:ph type="dt" sz="half" idx="10"/>
          </p:nvPr>
        </p:nvSpPr>
        <p:spPr/>
        <p:txBody>
          <a:bodyPr/>
          <a:lstStyle/>
          <a:p>
            <a:fld id="{C97E94C4-74A9-8B48-A3F4-A2FB101B0F60}" type="datetime1">
              <a:rPr lang="en-US" smtClean="0"/>
              <a:t>10/15/24</a:t>
            </a:fld>
            <a:endParaRPr lang="en-US"/>
          </a:p>
        </p:txBody>
      </p:sp>
      <p:sp>
        <p:nvSpPr>
          <p:cNvPr id="5" name="Footer Placeholder 4">
            <a:extLst>
              <a:ext uri="{FF2B5EF4-FFF2-40B4-BE49-F238E27FC236}">
                <a16:creationId xmlns:a16="http://schemas.microsoft.com/office/drawing/2014/main" id="{38364EF5-189A-4E6E-A4A2-538B7AB59481}"/>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B965EA9-7751-4761-B8FF-84ADB1EB9B0B}"/>
              </a:ext>
            </a:extLst>
          </p:cNvPr>
          <p:cNvSpPr>
            <a:spLocks noGrp="1"/>
          </p:cNvSpPr>
          <p:nvPr>
            <p:ph type="sldNum" sz="quarter" idx="12"/>
          </p:nvPr>
        </p:nvSpPr>
        <p:spPr/>
        <p:txBody>
          <a:bodyPr/>
          <a:lstStyle/>
          <a:p>
            <a:fld id="{19B12225-5612-419B-A8D5-4B8EEE4C217E}" type="slidenum">
              <a:rPr lang="en-US" smtClean="0"/>
              <a:pPr/>
              <a:t>14</a:t>
            </a:fld>
            <a:endParaRPr lang="en-US"/>
          </a:p>
        </p:txBody>
      </p:sp>
      <p:pic>
        <p:nvPicPr>
          <p:cNvPr id="8" name="Picture 8">
            <a:extLst>
              <a:ext uri="{FF2B5EF4-FFF2-40B4-BE49-F238E27FC236}">
                <a16:creationId xmlns:a16="http://schemas.microsoft.com/office/drawing/2014/main" id="{A74598E5-3AEC-464A-A30C-6088319505A8}"/>
              </a:ext>
            </a:extLst>
          </p:cNvPr>
          <p:cNvPicPr>
            <a:picLocks noChangeAspect="1"/>
          </p:cNvPicPr>
          <p:nvPr/>
        </p:nvPicPr>
        <p:blipFill>
          <a:blip r:embed="rId3"/>
          <a:stretch>
            <a:fillRect/>
          </a:stretch>
        </p:blipFill>
        <p:spPr>
          <a:xfrm>
            <a:off x="3618271" y="1351368"/>
            <a:ext cx="3781732" cy="492747"/>
          </a:xfrm>
          <a:prstGeom prst="rect">
            <a:avLst/>
          </a:prstGeom>
        </p:spPr>
      </p:pic>
      <p:sp>
        <p:nvSpPr>
          <p:cNvPr id="9" name="TextBox 8">
            <a:extLst>
              <a:ext uri="{FF2B5EF4-FFF2-40B4-BE49-F238E27FC236}">
                <a16:creationId xmlns:a16="http://schemas.microsoft.com/office/drawing/2014/main" id="{EA5A546D-F441-4E65-9EBB-2E105CAE4981}"/>
              </a:ext>
            </a:extLst>
          </p:cNvPr>
          <p:cNvSpPr txBox="1"/>
          <p:nvPr/>
        </p:nvSpPr>
        <p:spPr>
          <a:xfrm>
            <a:off x="385916" y="1369141"/>
            <a:ext cx="6114174" cy="461665"/>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n-US" sz="2400">
                <a:latin typeface="Arial"/>
                <a:cs typeface="Arial"/>
              </a:rPr>
              <a:t>Suppose we have training data                   ,</a:t>
            </a:r>
            <a:endParaRPr lang="en-US" sz="2400"/>
          </a:p>
        </p:txBody>
      </p:sp>
      <p:pic>
        <p:nvPicPr>
          <p:cNvPr id="10" name="Picture 10">
            <a:extLst>
              <a:ext uri="{FF2B5EF4-FFF2-40B4-BE49-F238E27FC236}">
                <a16:creationId xmlns:a16="http://schemas.microsoft.com/office/drawing/2014/main" id="{DAC14862-80CF-4690-9B23-B428E4C31ED7}"/>
              </a:ext>
            </a:extLst>
          </p:cNvPr>
          <p:cNvPicPr>
            <a:picLocks noChangeAspect="1"/>
          </p:cNvPicPr>
          <p:nvPr/>
        </p:nvPicPr>
        <p:blipFill>
          <a:blip r:embed="rId4"/>
          <a:stretch>
            <a:fillRect/>
          </a:stretch>
        </p:blipFill>
        <p:spPr>
          <a:xfrm>
            <a:off x="5394222" y="1381527"/>
            <a:ext cx="3560508" cy="438576"/>
          </a:xfrm>
          <a:prstGeom prst="rect">
            <a:avLst/>
          </a:prstGeom>
        </p:spPr>
      </p:pic>
      <p:pic>
        <p:nvPicPr>
          <p:cNvPr id="11" name="Picture 11">
            <a:extLst>
              <a:ext uri="{FF2B5EF4-FFF2-40B4-BE49-F238E27FC236}">
                <a16:creationId xmlns:a16="http://schemas.microsoft.com/office/drawing/2014/main" id="{81418939-0B0B-4E8C-8105-760A48861E51}"/>
              </a:ext>
            </a:extLst>
          </p:cNvPr>
          <p:cNvPicPr>
            <a:picLocks noChangeAspect="1"/>
          </p:cNvPicPr>
          <p:nvPr/>
        </p:nvPicPr>
        <p:blipFill>
          <a:blip r:embed="rId5"/>
          <a:stretch>
            <a:fillRect/>
          </a:stretch>
        </p:blipFill>
        <p:spPr>
          <a:xfrm>
            <a:off x="4982497" y="2254140"/>
            <a:ext cx="3959942" cy="481592"/>
          </a:xfrm>
          <a:prstGeom prst="rect">
            <a:avLst/>
          </a:prstGeom>
        </p:spPr>
      </p:pic>
      <p:pic>
        <p:nvPicPr>
          <p:cNvPr id="12" name="Picture 12">
            <a:extLst>
              <a:ext uri="{FF2B5EF4-FFF2-40B4-BE49-F238E27FC236}">
                <a16:creationId xmlns:a16="http://schemas.microsoft.com/office/drawing/2014/main" id="{043A24D5-952C-4466-A999-4B0BDBE45C57}"/>
              </a:ext>
            </a:extLst>
          </p:cNvPr>
          <p:cNvPicPr>
            <a:picLocks noChangeAspect="1"/>
          </p:cNvPicPr>
          <p:nvPr/>
        </p:nvPicPr>
        <p:blipFill>
          <a:blip r:embed="rId6"/>
          <a:stretch>
            <a:fillRect/>
          </a:stretch>
        </p:blipFill>
        <p:spPr>
          <a:xfrm>
            <a:off x="4661875" y="4312769"/>
            <a:ext cx="3861619" cy="475446"/>
          </a:xfrm>
          <a:prstGeom prst="rect">
            <a:avLst/>
          </a:prstGeom>
        </p:spPr>
      </p:pic>
      <p:pic>
        <p:nvPicPr>
          <p:cNvPr id="13" name="Picture 13">
            <a:extLst>
              <a:ext uri="{FF2B5EF4-FFF2-40B4-BE49-F238E27FC236}">
                <a16:creationId xmlns:a16="http://schemas.microsoft.com/office/drawing/2014/main" id="{934CE18D-3F31-422B-AF18-FDE46008C486}"/>
              </a:ext>
            </a:extLst>
          </p:cNvPr>
          <p:cNvPicPr>
            <a:picLocks noChangeAspect="1"/>
          </p:cNvPicPr>
          <p:nvPr/>
        </p:nvPicPr>
        <p:blipFill>
          <a:blip r:embed="rId7"/>
          <a:stretch>
            <a:fillRect/>
          </a:stretch>
        </p:blipFill>
        <p:spPr>
          <a:xfrm>
            <a:off x="1584221" y="3464737"/>
            <a:ext cx="3456038" cy="420140"/>
          </a:xfrm>
          <a:prstGeom prst="rect">
            <a:avLst/>
          </a:prstGeom>
        </p:spPr>
      </p:pic>
      <p:pic>
        <p:nvPicPr>
          <p:cNvPr id="14" name="Picture 14">
            <a:extLst>
              <a:ext uri="{FF2B5EF4-FFF2-40B4-BE49-F238E27FC236}">
                <a16:creationId xmlns:a16="http://schemas.microsoft.com/office/drawing/2014/main" id="{E11A78F9-5D9A-4E77-967D-E7855643404C}"/>
              </a:ext>
            </a:extLst>
          </p:cNvPr>
          <p:cNvPicPr>
            <a:picLocks noChangeAspect="1"/>
          </p:cNvPicPr>
          <p:nvPr/>
        </p:nvPicPr>
        <p:blipFill>
          <a:blip r:embed="rId8"/>
          <a:stretch>
            <a:fillRect/>
          </a:stretch>
        </p:blipFill>
        <p:spPr>
          <a:xfrm>
            <a:off x="4790925" y="3452445"/>
            <a:ext cx="3671119" cy="432431"/>
          </a:xfrm>
          <a:prstGeom prst="rect">
            <a:avLst/>
          </a:prstGeom>
        </p:spPr>
      </p:pic>
      <p:pic>
        <p:nvPicPr>
          <p:cNvPr id="18" name="Picture 14">
            <a:extLst>
              <a:ext uri="{FF2B5EF4-FFF2-40B4-BE49-F238E27FC236}">
                <a16:creationId xmlns:a16="http://schemas.microsoft.com/office/drawing/2014/main" id="{A20A072C-0535-4E28-8C0C-5CA3CC388722}"/>
              </a:ext>
            </a:extLst>
          </p:cNvPr>
          <p:cNvPicPr>
            <a:picLocks noChangeAspect="1"/>
          </p:cNvPicPr>
          <p:nvPr/>
        </p:nvPicPr>
        <p:blipFill>
          <a:blip r:embed="rId8"/>
          <a:stretch>
            <a:fillRect/>
          </a:stretch>
        </p:blipFill>
        <p:spPr>
          <a:xfrm>
            <a:off x="5759929" y="3884876"/>
            <a:ext cx="3671119" cy="432431"/>
          </a:xfrm>
          <a:prstGeom prst="rect">
            <a:avLst/>
          </a:prstGeom>
        </p:spPr>
      </p:pic>
    </p:spTree>
    <p:extLst>
      <p:ext uri="{BB962C8B-B14F-4D97-AF65-F5344CB8AC3E}">
        <p14:creationId xmlns:p14="http://schemas.microsoft.com/office/powerpoint/2010/main" val="3409166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AE3CA-AD03-4395-9CF6-5D3B77C3A66C}"/>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a:t>Training One Decision Tree </a:t>
            </a:r>
          </a:p>
        </p:txBody>
      </p:sp>
      <p:sp>
        <p:nvSpPr>
          <p:cNvPr id="3" name="Content Placeholder 2">
            <a:extLst>
              <a:ext uri="{FF2B5EF4-FFF2-40B4-BE49-F238E27FC236}">
                <a16:creationId xmlns:a16="http://schemas.microsoft.com/office/drawing/2014/main" id="{F1A0ED12-BC53-4005-96E0-6A71D3A9F552}"/>
              </a:ext>
            </a:extLst>
          </p:cNvPr>
          <p:cNvSpPr>
            <a:spLocks noGrp="1"/>
          </p:cNvSpPr>
          <p:nvPr>
            <p:ph idx="1"/>
          </p:nvPr>
        </p:nvSpPr>
        <p:spPr>
          <a:xfrm>
            <a:off x="457200" y="1123335"/>
            <a:ext cx="8229600" cy="1865672"/>
          </a:xfrm>
        </p:spPr>
        <p:txBody>
          <a:bodyPr vert="horz" lIns="54864" tIns="91440" rIns="91440" bIns="45720" rtlCol="0" anchor="t">
            <a:noAutofit/>
          </a:bodyPr>
          <a:lstStyle/>
          <a:p>
            <a:pPr marL="438785"/>
            <a:r>
              <a:rPr lang="en-US" sz="2600" b="1" dirty="0">
                <a:solidFill>
                  <a:srgbClr val="0000FF"/>
                </a:solidFill>
                <a:latin typeface="Calibri"/>
                <a:cs typeface="Calibri"/>
              </a:rPr>
              <a:t>Step1- Train a stump. How to split? </a:t>
            </a:r>
            <a:endParaRPr lang="en-US" sz="2600" b="1" dirty="0">
              <a:solidFill>
                <a:srgbClr val="0000FF"/>
              </a:solidFill>
            </a:endParaRPr>
          </a:p>
          <a:p>
            <a:pPr marL="438785"/>
            <a:r>
              <a:rPr lang="en-US" sz="2600" dirty="0">
                <a:latin typeface="Calibri"/>
                <a:cs typeface="Calibri"/>
              </a:rPr>
              <a:t>Apply weighting to the splitting criterion function </a:t>
            </a:r>
          </a:p>
          <a:p>
            <a:pPr marL="118745" indent="0">
              <a:buNone/>
            </a:pPr>
            <a:r>
              <a:rPr lang="en-US" sz="2600" dirty="0">
                <a:latin typeface="Calibri"/>
                <a:cs typeface="Calibri"/>
              </a:rPr>
              <a:t>     and optimize the function to find the best split</a:t>
            </a:r>
            <a:endParaRPr lang="en-US" sz="2600" dirty="0"/>
          </a:p>
          <a:p>
            <a:pPr lvl="1" indent="-514350">
              <a:buClr>
                <a:srgbClr val="60B5CC"/>
              </a:buClr>
              <a:buFont typeface="Wingdings"/>
              <a:buChar char="§"/>
            </a:pPr>
            <a:r>
              <a:rPr lang="en-US" sz="2600" dirty="0">
                <a:latin typeface="Calibri"/>
                <a:cs typeface="Calibri"/>
              </a:rPr>
              <a:t>We'll use information gain as an example</a:t>
            </a:r>
          </a:p>
          <a:p>
            <a:pPr marL="217170" lvl="1" indent="0">
              <a:buClr>
                <a:srgbClr val="60B5CC"/>
              </a:buClr>
              <a:buNone/>
            </a:pPr>
            <a:endParaRPr lang="en-US" sz="2600" dirty="0"/>
          </a:p>
          <a:p>
            <a:pPr marL="118745" indent="0">
              <a:buClr>
                <a:srgbClr val="F0AD00"/>
              </a:buClr>
              <a:buFont typeface="Wingdings 2"/>
              <a:buNone/>
            </a:pPr>
            <a:endParaRPr lang="en-US" sz="2600" dirty="0"/>
          </a:p>
        </p:txBody>
      </p:sp>
      <p:sp>
        <p:nvSpPr>
          <p:cNvPr id="4" name="Date Placeholder 3">
            <a:extLst>
              <a:ext uri="{FF2B5EF4-FFF2-40B4-BE49-F238E27FC236}">
                <a16:creationId xmlns:a16="http://schemas.microsoft.com/office/drawing/2014/main" id="{2E8B1986-78AD-45B7-A15E-CAF0CD52E4FE}"/>
              </a:ext>
            </a:extLst>
          </p:cNvPr>
          <p:cNvSpPr>
            <a:spLocks noGrp="1"/>
          </p:cNvSpPr>
          <p:nvPr>
            <p:ph type="dt" sz="half" idx="10"/>
          </p:nvPr>
        </p:nvSpPr>
        <p:spPr/>
        <p:txBody>
          <a:bodyPr/>
          <a:lstStyle/>
          <a:p>
            <a:fld id="{F323EACF-33BF-FB45-A3D2-EEB45B2B61E4}" type="datetime1">
              <a:rPr lang="en-US" smtClean="0"/>
              <a:t>10/15/24</a:t>
            </a:fld>
            <a:endParaRPr lang="en-US"/>
          </a:p>
        </p:txBody>
      </p:sp>
      <p:sp>
        <p:nvSpPr>
          <p:cNvPr id="5" name="Footer Placeholder 4">
            <a:extLst>
              <a:ext uri="{FF2B5EF4-FFF2-40B4-BE49-F238E27FC236}">
                <a16:creationId xmlns:a16="http://schemas.microsoft.com/office/drawing/2014/main" id="{4947279D-9FFA-4C3D-BCE0-01204C4CEEBB}"/>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9E67B05D-89F3-4062-A829-84873A381942}"/>
              </a:ext>
            </a:extLst>
          </p:cNvPr>
          <p:cNvSpPr>
            <a:spLocks noGrp="1"/>
          </p:cNvSpPr>
          <p:nvPr>
            <p:ph type="sldNum" sz="quarter" idx="12"/>
          </p:nvPr>
        </p:nvSpPr>
        <p:spPr/>
        <p:txBody>
          <a:bodyPr/>
          <a:lstStyle/>
          <a:p>
            <a:fld id="{19B12225-5612-419B-A8D5-4B8EEE4C217E}" type="slidenum">
              <a:rPr lang="en-US" smtClean="0"/>
              <a:pPr/>
              <a:t>15</a:t>
            </a:fld>
            <a:endParaRPr lang="en-US"/>
          </a:p>
        </p:txBody>
      </p:sp>
      <p:sp>
        <p:nvSpPr>
          <p:cNvPr id="8" name="Content Placeholder 2">
            <a:extLst>
              <a:ext uri="{FF2B5EF4-FFF2-40B4-BE49-F238E27FC236}">
                <a16:creationId xmlns:a16="http://schemas.microsoft.com/office/drawing/2014/main" id="{5AA22DC7-0676-49C2-9003-728DCD715DDF}"/>
              </a:ext>
            </a:extLst>
          </p:cNvPr>
          <p:cNvSpPr txBox="1">
            <a:spLocks/>
          </p:cNvSpPr>
          <p:nvPr/>
        </p:nvSpPr>
        <p:spPr>
          <a:xfrm>
            <a:off x="578874" y="3383525"/>
            <a:ext cx="8235745" cy="1410931"/>
          </a:xfrm>
          <a:prstGeom prst="rect">
            <a:avLst/>
          </a:prstGeom>
        </p:spPr>
        <p:txBody>
          <a:bodyPr vert="horz" lIns="54864" tIns="91440" rIns="91440" bIns="45720" rtlCol="0" anchor="t">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745" indent="0">
              <a:buNone/>
            </a:pPr>
            <a:endParaRPr lang="en-US">
              <a:solidFill>
                <a:srgbClr val="0000FF"/>
              </a:solidFill>
            </a:endParaRPr>
          </a:p>
        </p:txBody>
      </p:sp>
      <p:sp>
        <p:nvSpPr>
          <p:cNvPr id="10" name="Content Placeholder 2">
            <a:extLst>
              <a:ext uri="{FF2B5EF4-FFF2-40B4-BE49-F238E27FC236}">
                <a16:creationId xmlns:a16="http://schemas.microsoft.com/office/drawing/2014/main" id="{5C81C37F-9B0E-46F8-887C-1C37D0358173}"/>
              </a:ext>
            </a:extLst>
          </p:cNvPr>
          <p:cNvSpPr txBox="1">
            <a:spLocks/>
          </p:cNvSpPr>
          <p:nvPr/>
        </p:nvSpPr>
        <p:spPr>
          <a:xfrm>
            <a:off x="462116" y="3106993"/>
            <a:ext cx="7897763" cy="1374060"/>
          </a:xfrm>
          <a:prstGeom prst="rect">
            <a:avLst/>
          </a:prstGeom>
        </p:spPr>
        <p:txBody>
          <a:bodyPr vert="horz" lIns="54864" tIns="91440" rIns="91440" bIns="45720" rtlCol="0" anchor="t">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438785"/>
            <a:r>
              <a:rPr lang="en-US" sz="2600">
                <a:latin typeface="Calibri"/>
                <a:cs typeface="Calibri"/>
              </a:rPr>
              <a:t>Recall</a:t>
            </a:r>
            <a:r>
              <a:rPr lang="en-US" sz="2600">
                <a:solidFill>
                  <a:srgbClr val="0000FF"/>
                </a:solidFill>
                <a:latin typeface="Calibri"/>
                <a:cs typeface="Calibri"/>
              </a:rPr>
              <a:t> :</a:t>
            </a:r>
            <a:endParaRPr lang="en-US" sz="2600"/>
          </a:p>
          <a:p>
            <a:pPr lvl="1"/>
            <a:r>
              <a:rPr lang="en-US" sz="2600">
                <a:solidFill>
                  <a:srgbClr val="0000FF"/>
                </a:solidFill>
                <a:latin typeface="Calibri"/>
                <a:cs typeface="Calibri"/>
              </a:rPr>
              <a:t>Information gain</a:t>
            </a:r>
            <a:endParaRPr lang="en-US" sz="2600">
              <a:solidFill>
                <a:srgbClr val="0000FF"/>
              </a:solidFill>
            </a:endParaRPr>
          </a:p>
          <a:p>
            <a:pPr lvl="1"/>
            <a:r>
              <a:rPr lang="en-US" sz="2600">
                <a:solidFill>
                  <a:srgbClr val="0000FF"/>
                </a:solidFill>
                <a:latin typeface="Calibri"/>
                <a:cs typeface="Calibri"/>
              </a:rPr>
              <a:t>where</a:t>
            </a:r>
            <a:endParaRPr lang="en-US" sz="2600">
              <a:solidFill>
                <a:srgbClr val="0000FF"/>
              </a:solidFill>
            </a:endParaRPr>
          </a:p>
          <a:p>
            <a:pPr lvl="1"/>
            <a:endParaRPr lang="en-US" sz="2600">
              <a:solidFill>
                <a:srgbClr val="0000FF"/>
              </a:solidFill>
            </a:endParaRPr>
          </a:p>
          <a:p>
            <a:pPr lvl="1" indent="-514350">
              <a:buClr>
                <a:srgbClr val="60B5CC"/>
              </a:buClr>
              <a:buFont typeface="Wingdings"/>
              <a:buChar char="§"/>
            </a:pPr>
            <a:endParaRPr lang="en-US" sz="2600"/>
          </a:p>
          <a:p>
            <a:pPr marL="217170" lvl="1" indent="0">
              <a:buClr>
                <a:srgbClr val="60B5CC"/>
              </a:buClr>
              <a:buNone/>
            </a:pPr>
            <a:endParaRPr lang="en-US" sz="2600"/>
          </a:p>
          <a:p>
            <a:pPr marL="118745" indent="0">
              <a:buClr>
                <a:srgbClr val="F0AD00"/>
              </a:buClr>
              <a:buFont typeface="Wingdings 2"/>
              <a:buNone/>
            </a:pPr>
            <a:endParaRPr lang="en-US" sz="2600"/>
          </a:p>
        </p:txBody>
      </p:sp>
      <p:sp>
        <p:nvSpPr>
          <p:cNvPr id="15" name="Content Placeholder 2">
            <a:extLst>
              <a:ext uri="{FF2B5EF4-FFF2-40B4-BE49-F238E27FC236}">
                <a16:creationId xmlns:a16="http://schemas.microsoft.com/office/drawing/2014/main" id="{93963D0C-A728-4CD4-9C6A-2E5AC06CF771}"/>
              </a:ext>
            </a:extLst>
          </p:cNvPr>
          <p:cNvSpPr txBox="1">
            <a:spLocks/>
          </p:cNvSpPr>
          <p:nvPr/>
        </p:nvSpPr>
        <p:spPr>
          <a:xfrm>
            <a:off x="498986" y="5098026"/>
            <a:ext cx="8241890" cy="1447802"/>
          </a:xfrm>
          <a:prstGeom prst="rect">
            <a:avLst/>
          </a:prstGeom>
        </p:spPr>
        <p:txBody>
          <a:bodyPr vert="horz" lIns="54864" tIns="91440" rIns="91440" bIns="45720" rtlCol="0" anchor="t">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438785"/>
            <a:r>
              <a:rPr lang="en-US" sz="2600">
                <a:latin typeface="Calibri"/>
                <a:cs typeface="Calibri"/>
              </a:rPr>
              <a:t>After</a:t>
            </a:r>
            <a:r>
              <a:rPr lang="en-US" sz="2600">
                <a:solidFill>
                  <a:srgbClr val="000000"/>
                </a:solidFill>
                <a:latin typeface="Calibri"/>
                <a:cs typeface="Calibri"/>
              </a:rPr>
              <a:t> weighting:</a:t>
            </a:r>
            <a:r>
              <a:rPr lang="en-US" sz="2600">
                <a:solidFill>
                  <a:srgbClr val="0000FF"/>
                </a:solidFill>
                <a:latin typeface="Calibri"/>
                <a:cs typeface="Calibri"/>
              </a:rPr>
              <a:t> </a:t>
            </a:r>
            <a:endParaRPr lang="en-US" sz="2600">
              <a:solidFill>
                <a:srgbClr val="0000FF"/>
              </a:solidFill>
            </a:endParaRPr>
          </a:p>
          <a:p>
            <a:pPr marL="438785">
              <a:buClr>
                <a:srgbClr val="F0AD00"/>
              </a:buClr>
            </a:pPr>
            <a:endParaRPr lang="en-US" sz="2600">
              <a:solidFill>
                <a:srgbClr val="0000FF"/>
              </a:solidFill>
            </a:endParaRPr>
          </a:p>
          <a:p>
            <a:pPr lvl="1"/>
            <a:endParaRPr lang="en-US" sz="2600">
              <a:solidFill>
                <a:srgbClr val="0000FF"/>
              </a:solidFill>
            </a:endParaRPr>
          </a:p>
          <a:p>
            <a:pPr lvl="1">
              <a:buClr>
                <a:srgbClr val="60B5CC"/>
              </a:buClr>
              <a:buFont typeface="Wingdings" pitchFamily="2" charset="2"/>
              <a:buChar char="§"/>
            </a:pPr>
            <a:endParaRPr lang="en-US" sz="2600">
              <a:solidFill>
                <a:srgbClr val="0000FF"/>
              </a:solidFill>
            </a:endParaRPr>
          </a:p>
          <a:p>
            <a:pPr lvl="1" indent="-514350">
              <a:buClr>
                <a:srgbClr val="60B5CC"/>
              </a:buClr>
              <a:buFont typeface="Wingdings"/>
              <a:buChar char="§"/>
            </a:pPr>
            <a:endParaRPr lang="en-US" sz="2600"/>
          </a:p>
          <a:p>
            <a:pPr marL="217170" lvl="1" indent="0">
              <a:buClr>
                <a:srgbClr val="60B5CC"/>
              </a:buClr>
              <a:buFont typeface="Wingdings" pitchFamily="2" charset="2"/>
              <a:buNone/>
            </a:pPr>
            <a:endParaRPr lang="en-US" sz="2600"/>
          </a:p>
          <a:p>
            <a:pPr marL="118745" indent="0">
              <a:buClr>
                <a:srgbClr val="F0AD00"/>
              </a:buClr>
              <a:buNone/>
            </a:pPr>
            <a:endParaRPr lang="en-US" sz="2600"/>
          </a:p>
        </p:txBody>
      </p:sp>
      <p:pic>
        <p:nvPicPr>
          <p:cNvPr id="16" name="Picture 16">
            <a:extLst>
              <a:ext uri="{FF2B5EF4-FFF2-40B4-BE49-F238E27FC236}">
                <a16:creationId xmlns:a16="http://schemas.microsoft.com/office/drawing/2014/main" id="{311F557B-054A-4B99-888C-0EEDE19C81EE}"/>
              </a:ext>
            </a:extLst>
          </p:cNvPr>
          <p:cNvPicPr>
            <a:picLocks noChangeAspect="1"/>
          </p:cNvPicPr>
          <p:nvPr/>
        </p:nvPicPr>
        <p:blipFill>
          <a:blip r:embed="rId2"/>
          <a:stretch>
            <a:fillRect/>
          </a:stretch>
        </p:blipFill>
        <p:spPr>
          <a:xfrm>
            <a:off x="2549013" y="3696551"/>
            <a:ext cx="5483941" cy="521865"/>
          </a:xfrm>
          <a:prstGeom prst="rect">
            <a:avLst/>
          </a:prstGeom>
        </p:spPr>
      </p:pic>
      <p:pic>
        <p:nvPicPr>
          <p:cNvPr id="18" name="Picture 18">
            <a:extLst>
              <a:ext uri="{FF2B5EF4-FFF2-40B4-BE49-F238E27FC236}">
                <a16:creationId xmlns:a16="http://schemas.microsoft.com/office/drawing/2014/main" id="{A58B05CD-0649-464D-9F03-02B0F1CBE419}"/>
              </a:ext>
            </a:extLst>
          </p:cNvPr>
          <p:cNvPicPr>
            <a:picLocks noChangeAspect="1"/>
          </p:cNvPicPr>
          <p:nvPr/>
        </p:nvPicPr>
        <p:blipFill>
          <a:blip r:embed="rId3"/>
          <a:stretch>
            <a:fillRect/>
          </a:stretch>
        </p:blipFill>
        <p:spPr>
          <a:xfrm>
            <a:off x="2186449" y="4162450"/>
            <a:ext cx="4642054" cy="1021892"/>
          </a:xfrm>
          <a:prstGeom prst="rect">
            <a:avLst/>
          </a:prstGeom>
        </p:spPr>
      </p:pic>
      <p:pic>
        <p:nvPicPr>
          <p:cNvPr id="20" name="Picture 20" descr="Text&#10;&#10;Description automatically generated">
            <a:extLst>
              <a:ext uri="{FF2B5EF4-FFF2-40B4-BE49-F238E27FC236}">
                <a16:creationId xmlns:a16="http://schemas.microsoft.com/office/drawing/2014/main" id="{65B04FF0-5C06-48D2-B39D-8EE9B7BA9799}"/>
              </a:ext>
            </a:extLst>
          </p:cNvPr>
          <p:cNvPicPr>
            <a:picLocks noChangeAspect="1"/>
          </p:cNvPicPr>
          <p:nvPr/>
        </p:nvPicPr>
        <p:blipFill>
          <a:blip r:embed="rId4"/>
          <a:stretch>
            <a:fillRect/>
          </a:stretch>
        </p:blipFill>
        <p:spPr>
          <a:xfrm>
            <a:off x="2284771" y="5687394"/>
            <a:ext cx="4881716" cy="903244"/>
          </a:xfrm>
          <a:prstGeom prst="rect">
            <a:avLst/>
          </a:prstGeom>
        </p:spPr>
      </p:pic>
      <p:pic>
        <p:nvPicPr>
          <p:cNvPr id="7" name="Picture 6">
            <a:extLst>
              <a:ext uri="{FF2B5EF4-FFF2-40B4-BE49-F238E27FC236}">
                <a16:creationId xmlns:a16="http://schemas.microsoft.com/office/drawing/2014/main" id="{43E70740-F4C6-C7B8-5EE2-15E70C322DE7}"/>
              </a:ext>
            </a:extLst>
          </p:cNvPr>
          <p:cNvPicPr>
            <a:picLocks noChangeAspect="1"/>
          </p:cNvPicPr>
          <p:nvPr/>
        </p:nvPicPr>
        <p:blipFill>
          <a:blip r:embed="rId5"/>
          <a:stretch>
            <a:fillRect/>
          </a:stretch>
        </p:blipFill>
        <p:spPr>
          <a:xfrm>
            <a:off x="7661379" y="1146892"/>
            <a:ext cx="1397000" cy="1993900"/>
          </a:xfrm>
          <a:prstGeom prst="rect">
            <a:avLst/>
          </a:prstGeom>
        </p:spPr>
      </p:pic>
    </p:spTree>
    <p:extLst>
      <p:ext uri="{BB962C8B-B14F-4D97-AF65-F5344CB8AC3E}">
        <p14:creationId xmlns:p14="http://schemas.microsoft.com/office/powerpoint/2010/main" val="357511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AB3F2-5511-4138-B9F4-95AACB77077F}"/>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a:t>Update Step</a:t>
            </a:r>
          </a:p>
        </p:txBody>
      </p:sp>
      <p:sp>
        <p:nvSpPr>
          <p:cNvPr id="3" name="Content Placeholder 2">
            <a:extLst>
              <a:ext uri="{FF2B5EF4-FFF2-40B4-BE49-F238E27FC236}">
                <a16:creationId xmlns:a16="http://schemas.microsoft.com/office/drawing/2014/main" id="{C78B303E-1DC3-4C1C-A209-F36BFB927F16}"/>
              </a:ext>
            </a:extLst>
          </p:cNvPr>
          <p:cNvSpPr>
            <a:spLocks noGrp="1"/>
          </p:cNvSpPr>
          <p:nvPr>
            <p:ph idx="1"/>
          </p:nvPr>
        </p:nvSpPr>
        <p:spPr>
          <a:xfrm>
            <a:off x="457200" y="1197077"/>
            <a:ext cx="8229600" cy="4889092"/>
          </a:xfrm>
        </p:spPr>
        <p:txBody>
          <a:bodyPr vert="horz" lIns="54864" tIns="91440" rIns="91440" bIns="45720" rtlCol="0" anchor="t">
            <a:normAutofit/>
          </a:bodyPr>
          <a:lstStyle/>
          <a:p>
            <a:pPr marL="438785"/>
            <a:r>
              <a:rPr lang="en-US" b="1" dirty="0">
                <a:solidFill>
                  <a:srgbClr val="0000FF"/>
                </a:solidFill>
                <a:latin typeface="Calibri"/>
                <a:cs typeface="Calibri"/>
              </a:rPr>
              <a:t>Step2-</a:t>
            </a:r>
            <a:r>
              <a:rPr lang="en-US" dirty="0">
                <a:solidFill>
                  <a:srgbClr val="0000FF"/>
                </a:solidFill>
                <a:latin typeface="Calibri"/>
                <a:cs typeface="Calibri"/>
              </a:rPr>
              <a:t> </a:t>
            </a:r>
            <a:r>
              <a:rPr lang="en-US" sz="2800" dirty="0">
                <a:solidFill>
                  <a:srgbClr val="0000FF"/>
                </a:solidFill>
                <a:latin typeface="Calibri"/>
                <a:cs typeface="Calibri"/>
              </a:rPr>
              <a:t>Calculate the weighted misclassification error</a:t>
            </a:r>
          </a:p>
          <a:p>
            <a:pPr marL="118745" indent="0">
              <a:buNone/>
            </a:pPr>
            <a:endParaRPr lang="en-US" dirty="0">
              <a:solidFill>
                <a:srgbClr val="0000FF"/>
              </a:solidFill>
            </a:endParaRPr>
          </a:p>
          <a:p>
            <a:pPr marL="438785"/>
            <a:r>
              <a:rPr lang="en-US" b="1" dirty="0">
                <a:solidFill>
                  <a:srgbClr val="0000FF"/>
                </a:solidFill>
                <a:latin typeface="Calibri"/>
                <a:cs typeface="Calibri"/>
              </a:rPr>
              <a:t>Step3- </a:t>
            </a:r>
            <a:r>
              <a:rPr lang="en-US" sz="2800" dirty="0">
                <a:solidFill>
                  <a:srgbClr val="0000FF"/>
                </a:solidFill>
                <a:latin typeface="Calibri"/>
                <a:cs typeface="Calibri"/>
              </a:rPr>
              <a:t>Weight the current tree </a:t>
            </a:r>
          </a:p>
          <a:p>
            <a:pPr marL="118745" indent="0">
              <a:buNone/>
            </a:pPr>
            <a:r>
              <a:rPr lang="en-US" sz="2800" dirty="0">
                <a:solidFill>
                  <a:srgbClr val="0000FF"/>
                </a:solidFill>
                <a:latin typeface="Calibri"/>
                <a:cs typeface="Calibri"/>
              </a:rPr>
              <a:t>     in the final classifier:</a:t>
            </a:r>
          </a:p>
          <a:p>
            <a:pPr marL="438785"/>
            <a:endParaRPr lang="en-US" dirty="0">
              <a:solidFill>
                <a:srgbClr val="0000FF"/>
              </a:solidFill>
            </a:endParaRPr>
          </a:p>
          <a:p>
            <a:pPr marL="118745" indent="0">
              <a:buNone/>
            </a:pPr>
            <a:endParaRPr lang="en-US" dirty="0">
              <a:solidFill>
                <a:srgbClr val="0000FF"/>
              </a:solidFill>
              <a:latin typeface="Calibri"/>
              <a:cs typeface="Calibri"/>
            </a:endParaRPr>
          </a:p>
          <a:p>
            <a:pPr marL="438785"/>
            <a:r>
              <a:rPr lang="en-US" b="1" dirty="0">
                <a:solidFill>
                  <a:srgbClr val="0000FF"/>
                </a:solidFill>
                <a:latin typeface="Calibri"/>
                <a:cs typeface="Calibri"/>
              </a:rPr>
              <a:t>Step4- </a:t>
            </a:r>
            <a:r>
              <a:rPr lang="en-US" sz="2800" dirty="0">
                <a:solidFill>
                  <a:srgbClr val="0000FF"/>
                </a:solidFill>
                <a:latin typeface="Calibri"/>
                <a:cs typeface="Calibri"/>
              </a:rPr>
              <a:t>Use misclassification error and tree weight to reweight the training data:</a:t>
            </a:r>
            <a:endParaRPr lang="en-US" sz="2800" dirty="0">
              <a:solidFill>
                <a:srgbClr val="0000FF"/>
              </a:solidFill>
            </a:endParaRPr>
          </a:p>
          <a:p>
            <a:pPr marL="438785"/>
            <a:endParaRPr lang="en-US" dirty="0">
              <a:solidFill>
                <a:srgbClr val="0000FF"/>
              </a:solidFill>
            </a:endParaRPr>
          </a:p>
        </p:txBody>
      </p:sp>
      <p:sp>
        <p:nvSpPr>
          <p:cNvPr id="4" name="Date Placeholder 3">
            <a:extLst>
              <a:ext uri="{FF2B5EF4-FFF2-40B4-BE49-F238E27FC236}">
                <a16:creationId xmlns:a16="http://schemas.microsoft.com/office/drawing/2014/main" id="{F039EAEB-9629-416C-BDFD-72F4D07716EE}"/>
              </a:ext>
            </a:extLst>
          </p:cNvPr>
          <p:cNvSpPr>
            <a:spLocks noGrp="1"/>
          </p:cNvSpPr>
          <p:nvPr>
            <p:ph type="dt" sz="half" idx="10"/>
          </p:nvPr>
        </p:nvSpPr>
        <p:spPr/>
        <p:txBody>
          <a:bodyPr/>
          <a:lstStyle/>
          <a:p>
            <a:fld id="{CAA588A2-2D06-2B4F-9A43-2DD74A31D21A}" type="datetime1">
              <a:rPr lang="en-US" smtClean="0"/>
              <a:t>10/15/24</a:t>
            </a:fld>
            <a:endParaRPr lang="en-US"/>
          </a:p>
        </p:txBody>
      </p:sp>
      <p:sp>
        <p:nvSpPr>
          <p:cNvPr id="5" name="Footer Placeholder 4">
            <a:extLst>
              <a:ext uri="{FF2B5EF4-FFF2-40B4-BE49-F238E27FC236}">
                <a16:creationId xmlns:a16="http://schemas.microsoft.com/office/drawing/2014/main" id="{604E7AE0-34B3-4211-A7B4-F949354DD091}"/>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1C97D85C-FA1E-472A-9F64-2E0ED7F2EB3A}"/>
              </a:ext>
            </a:extLst>
          </p:cNvPr>
          <p:cNvSpPr>
            <a:spLocks noGrp="1"/>
          </p:cNvSpPr>
          <p:nvPr>
            <p:ph type="sldNum" sz="quarter" idx="12"/>
          </p:nvPr>
        </p:nvSpPr>
        <p:spPr/>
        <p:txBody>
          <a:bodyPr/>
          <a:lstStyle/>
          <a:p>
            <a:fld id="{19B12225-5612-419B-A8D5-4B8EEE4C217E}" type="slidenum">
              <a:rPr lang="en-US" smtClean="0"/>
              <a:pPr/>
              <a:t>16</a:t>
            </a:fld>
            <a:endParaRPr lang="en-US"/>
          </a:p>
        </p:txBody>
      </p:sp>
      <p:pic>
        <p:nvPicPr>
          <p:cNvPr id="7" name="Picture 7">
            <a:extLst>
              <a:ext uri="{FF2B5EF4-FFF2-40B4-BE49-F238E27FC236}">
                <a16:creationId xmlns:a16="http://schemas.microsoft.com/office/drawing/2014/main" id="{4FE68313-681F-4BAD-B40D-EC3A69C17BDE}"/>
              </a:ext>
            </a:extLst>
          </p:cNvPr>
          <p:cNvPicPr>
            <a:picLocks noChangeAspect="1"/>
          </p:cNvPicPr>
          <p:nvPr/>
        </p:nvPicPr>
        <p:blipFill>
          <a:blip r:embed="rId3"/>
          <a:stretch>
            <a:fillRect/>
          </a:stretch>
        </p:blipFill>
        <p:spPr>
          <a:xfrm>
            <a:off x="1522770" y="1873613"/>
            <a:ext cx="5099094" cy="890065"/>
          </a:xfrm>
          <a:prstGeom prst="rect">
            <a:avLst/>
          </a:prstGeom>
        </p:spPr>
      </p:pic>
      <p:pic>
        <p:nvPicPr>
          <p:cNvPr id="9" name="Picture 9">
            <a:extLst>
              <a:ext uri="{FF2B5EF4-FFF2-40B4-BE49-F238E27FC236}">
                <a16:creationId xmlns:a16="http://schemas.microsoft.com/office/drawing/2014/main" id="{78919D22-0B00-4869-8D8E-3E7E13920951}"/>
              </a:ext>
            </a:extLst>
          </p:cNvPr>
          <p:cNvPicPr>
            <a:picLocks noChangeAspect="1"/>
          </p:cNvPicPr>
          <p:nvPr/>
        </p:nvPicPr>
        <p:blipFill>
          <a:blip r:embed="rId4"/>
          <a:stretch>
            <a:fillRect/>
          </a:stretch>
        </p:blipFill>
        <p:spPr>
          <a:xfrm>
            <a:off x="1447449" y="3535452"/>
            <a:ext cx="5174415" cy="816107"/>
          </a:xfrm>
          <a:prstGeom prst="rect">
            <a:avLst/>
          </a:prstGeom>
        </p:spPr>
      </p:pic>
      <p:pic>
        <p:nvPicPr>
          <p:cNvPr id="11" name="Picture 11">
            <a:extLst>
              <a:ext uri="{FF2B5EF4-FFF2-40B4-BE49-F238E27FC236}">
                <a16:creationId xmlns:a16="http://schemas.microsoft.com/office/drawing/2014/main" id="{1729CEED-BA24-444F-854C-01613CF452DE}"/>
              </a:ext>
            </a:extLst>
          </p:cNvPr>
          <p:cNvPicPr>
            <a:picLocks noChangeAspect="1"/>
          </p:cNvPicPr>
          <p:nvPr/>
        </p:nvPicPr>
        <p:blipFill>
          <a:blip r:embed="rId5"/>
          <a:stretch>
            <a:fillRect/>
          </a:stretch>
        </p:blipFill>
        <p:spPr>
          <a:xfrm>
            <a:off x="1522771" y="5587584"/>
            <a:ext cx="5279964" cy="524886"/>
          </a:xfrm>
          <a:prstGeom prst="rect">
            <a:avLst/>
          </a:prstGeom>
        </p:spPr>
      </p:pic>
      <p:sp>
        <p:nvSpPr>
          <p:cNvPr id="8" name="TextBox 7">
            <a:extLst>
              <a:ext uri="{FF2B5EF4-FFF2-40B4-BE49-F238E27FC236}">
                <a16:creationId xmlns:a16="http://schemas.microsoft.com/office/drawing/2014/main" id="{A68B2E24-A25E-C64F-B977-2DF2932E9FC6}"/>
              </a:ext>
            </a:extLst>
          </p:cNvPr>
          <p:cNvSpPr txBox="1"/>
          <p:nvPr/>
        </p:nvSpPr>
        <p:spPr>
          <a:xfrm>
            <a:off x="2155088" y="6172148"/>
            <a:ext cx="5647700"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Harder to classify training instances get higher weight</a:t>
            </a:r>
          </a:p>
        </p:txBody>
      </p:sp>
      <p:sp>
        <p:nvSpPr>
          <p:cNvPr id="12" name="TextBox 11">
            <a:extLst>
              <a:ext uri="{FF2B5EF4-FFF2-40B4-BE49-F238E27FC236}">
                <a16:creationId xmlns:a16="http://schemas.microsoft.com/office/drawing/2014/main" id="{4C973AC0-DCCF-4065-8DF9-1892E32074F0}"/>
              </a:ext>
            </a:extLst>
          </p:cNvPr>
          <p:cNvSpPr txBox="1"/>
          <p:nvPr/>
        </p:nvSpPr>
        <p:spPr>
          <a:xfrm>
            <a:off x="1795951" y="4283247"/>
            <a:ext cx="6006837" cy="369332"/>
          </a:xfrm>
          <a:prstGeom prst="rect">
            <a:avLst/>
          </a:prstGeom>
          <a:noFill/>
        </p:spPr>
        <p:txBody>
          <a:bodyPr wrap="none" lIns="91440" tIns="45720" rIns="91440" bIns="45720" rtlCol="0" anchor="t">
            <a:spAutoFit/>
          </a:bodyPr>
          <a:lstStyle/>
          <a:p>
            <a:r>
              <a:rPr lang="en-US" dirty="0">
                <a:solidFill>
                  <a:srgbClr val="008000"/>
                </a:solidFill>
                <a:latin typeface="Arial"/>
                <a:ea typeface="+mn-lt"/>
                <a:cs typeface="+mn-lt"/>
              </a:rPr>
              <a:t>A classifier with 50% accuracy is given a weight of zero;  </a:t>
            </a:r>
            <a:endParaRPr lang="en-US" dirty="0">
              <a:solidFill>
                <a:srgbClr val="008000"/>
              </a:solidFill>
              <a:latin typeface="Arial"/>
              <a:cs typeface="Arial"/>
            </a:endParaRPr>
          </a:p>
        </p:txBody>
      </p:sp>
      <p:pic>
        <p:nvPicPr>
          <p:cNvPr id="10" name="Picture 9">
            <a:extLst>
              <a:ext uri="{FF2B5EF4-FFF2-40B4-BE49-F238E27FC236}">
                <a16:creationId xmlns:a16="http://schemas.microsoft.com/office/drawing/2014/main" id="{DE64EAD0-565E-D42B-581A-8E31C8A842A3}"/>
              </a:ext>
            </a:extLst>
          </p:cNvPr>
          <p:cNvPicPr>
            <a:picLocks noChangeAspect="1"/>
          </p:cNvPicPr>
          <p:nvPr/>
        </p:nvPicPr>
        <p:blipFill>
          <a:blip r:embed="rId6"/>
          <a:stretch>
            <a:fillRect/>
          </a:stretch>
        </p:blipFill>
        <p:spPr>
          <a:xfrm>
            <a:off x="5727560" y="2681584"/>
            <a:ext cx="3100167" cy="16016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C2FC745-2413-9CDE-964C-B556E3BB4F17}"/>
                  </a:ext>
                </a:extLst>
              </p:cNvPr>
              <p:cNvSpPr txBox="1"/>
              <p:nvPr/>
            </p:nvSpPr>
            <p:spPr>
              <a:xfrm>
                <a:off x="6611891" y="2624994"/>
                <a:ext cx="1524200"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itchFamily="34" charset="0"/>
                        </a:rPr>
                        <m:t>𝑦</m:t>
                      </m:r>
                      <m:r>
                        <a:rPr lang="en-US" b="0" i="1" smtClean="0">
                          <a:latin typeface="Cambria Math" panose="02040503050406030204" pitchFamily="18" charset="0"/>
                          <a:cs typeface="Arial" pitchFamily="34" charset="0"/>
                        </a:rPr>
                        <m:t>=</m:t>
                      </m:r>
                      <m:r>
                        <m:rPr>
                          <m:sty m:val="p"/>
                        </m:rPr>
                        <a:rPr lang="en-US" b="0" i="0" smtClean="0">
                          <a:latin typeface="Cambria Math" panose="02040503050406030204" pitchFamily="18" charset="0"/>
                          <a:cs typeface="Arial" pitchFamily="34" charset="0"/>
                        </a:rPr>
                        <m:t>log</m:t>
                      </m:r>
                      <m:r>
                        <a:rPr lang="en-US" b="0" i="1" smtClean="0">
                          <a:latin typeface="Cambria Math" panose="02040503050406030204" pitchFamily="18" charset="0"/>
                          <a:cs typeface="Arial" pitchFamily="34" charset="0"/>
                        </a:rPr>
                        <m:t>⁡(</m:t>
                      </m:r>
                      <m:f>
                        <m:fPr>
                          <m:ctrlPr>
                            <a:rPr lang="en-US" b="0" i="1" smtClean="0">
                              <a:latin typeface="Cambria Math" panose="02040503050406030204" pitchFamily="18" charset="0"/>
                              <a:cs typeface="Arial" pitchFamily="34" charset="0"/>
                            </a:rPr>
                          </m:ctrlPr>
                        </m:fPr>
                        <m:num>
                          <m:r>
                            <a:rPr lang="en-US" b="0" i="1" smtClean="0">
                              <a:latin typeface="Cambria Math" panose="02040503050406030204" pitchFamily="18" charset="0"/>
                              <a:cs typeface="Arial" pitchFamily="34" charset="0"/>
                            </a:rPr>
                            <m:t>1−</m:t>
                          </m:r>
                          <m:r>
                            <a:rPr lang="en-US" b="0" i="1" smtClean="0">
                              <a:latin typeface="Cambria Math" panose="02040503050406030204" pitchFamily="18" charset="0"/>
                              <a:cs typeface="Arial" pitchFamily="34" charset="0"/>
                            </a:rPr>
                            <m:t>𝑥</m:t>
                          </m:r>
                        </m:num>
                        <m:den>
                          <m:r>
                            <a:rPr lang="en-US" b="0" i="1" smtClean="0">
                              <a:latin typeface="Cambria Math" panose="02040503050406030204" pitchFamily="18" charset="0"/>
                              <a:cs typeface="Arial" pitchFamily="34" charset="0"/>
                            </a:rPr>
                            <m:t>𝑥</m:t>
                          </m:r>
                        </m:den>
                      </m:f>
                      <m:r>
                        <a:rPr lang="en-US" b="0" i="1" smtClean="0">
                          <a:latin typeface="Cambria Math" panose="02040503050406030204" pitchFamily="18" charset="0"/>
                          <a:cs typeface="Arial" pitchFamily="34" charset="0"/>
                        </a:rPr>
                        <m:t>)</m:t>
                      </m:r>
                    </m:oMath>
                  </m:oMathPara>
                </a14:m>
                <a:endParaRPr lang="en-US" dirty="0">
                  <a:latin typeface="Arial" pitchFamily="34" charset="0"/>
                  <a:cs typeface="Arial" pitchFamily="34" charset="0"/>
                </a:endParaRPr>
              </a:p>
            </p:txBody>
          </p:sp>
        </mc:Choice>
        <mc:Fallback xmlns="">
          <p:sp>
            <p:nvSpPr>
              <p:cNvPr id="13" name="TextBox 12">
                <a:extLst>
                  <a:ext uri="{FF2B5EF4-FFF2-40B4-BE49-F238E27FC236}">
                    <a16:creationId xmlns:a16="http://schemas.microsoft.com/office/drawing/2014/main" id="{AC2FC745-2413-9CDE-964C-B556E3BB4F17}"/>
                  </a:ext>
                </a:extLst>
              </p:cNvPr>
              <p:cNvSpPr txBox="1">
                <a:spLocks noRot="1" noChangeAspect="1" noMove="1" noResize="1" noEditPoints="1" noAdjustHandles="1" noChangeArrowheads="1" noChangeShapeType="1" noTextEdit="1"/>
              </p:cNvSpPr>
              <p:nvPr/>
            </p:nvSpPr>
            <p:spPr>
              <a:xfrm>
                <a:off x="6611891" y="2624994"/>
                <a:ext cx="1524200" cy="518604"/>
              </a:xfrm>
              <a:prstGeom prst="rect">
                <a:avLst/>
              </a:prstGeom>
              <a:blipFill>
                <a:blip r:embed="rId7"/>
                <a:stretch>
                  <a:fillRect l="-3306" t="-4762" r="-4959" b="-9524"/>
                </a:stretch>
              </a:blipFill>
            </p:spPr>
            <p:txBody>
              <a:bodyPr/>
              <a:lstStyle/>
              <a:p>
                <a:r>
                  <a:rPr lang="en-US">
                    <a:noFill/>
                  </a:rPr>
                  <a:t> </a:t>
                </a:r>
              </a:p>
            </p:txBody>
          </p:sp>
        </mc:Fallback>
      </mc:AlternateContent>
    </p:spTree>
    <p:extLst>
      <p:ext uri="{BB962C8B-B14F-4D97-AF65-F5344CB8AC3E}">
        <p14:creationId xmlns:p14="http://schemas.microsoft.com/office/powerpoint/2010/main" val="3373655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989E-FF13-43FB-BB80-51214073BB55}"/>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a:t>Final Prediction</a:t>
            </a:r>
          </a:p>
        </p:txBody>
      </p:sp>
      <p:sp>
        <p:nvSpPr>
          <p:cNvPr id="3" name="Content Placeholder 2">
            <a:extLst>
              <a:ext uri="{FF2B5EF4-FFF2-40B4-BE49-F238E27FC236}">
                <a16:creationId xmlns:a16="http://schemas.microsoft.com/office/drawing/2014/main" id="{E60407C7-A619-4E67-99BA-5D11D8BA2823}"/>
              </a:ext>
            </a:extLst>
          </p:cNvPr>
          <p:cNvSpPr>
            <a:spLocks noGrp="1"/>
          </p:cNvSpPr>
          <p:nvPr>
            <p:ph idx="1"/>
          </p:nvPr>
        </p:nvSpPr>
        <p:spPr>
          <a:xfrm>
            <a:off x="518651" y="1298444"/>
            <a:ext cx="8106697" cy="4471221"/>
          </a:xfrm>
        </p:spPr>
        <p:txBody>
          <a:bodyPr vert="horz" lIns="54864" tIns="91440" rIns="91440" bIns="45720" rtlCol="0" anchor="t">
            <a:normAutofit/>
          </a:bodyPr>
          <a:lstStyle/>
          <a:p>
            <a:pPr marL="438785"/>
            <a:r>
              <a:rPr lang="en-US" b="1" dirty="0">
                <a:latin typeface="Calibri"/>
                <a:cs typeface="Calibri"/>
              </a:rPr>
              <a:t>Final prediction is a weighted sum of the predictions from each stump:</a:t>
            </a:r>
          </a:p>
          <a:p>
            <a:pPr marL="438785"/>
            <a:endParaRPr lang="en-US" b="1" dirty="0"/>
          </a:p>
          <a:p>
            <a:pPr marL="438785"/>
            <a:endParaRPr lang="en-US" b="1" dirty="0"/>
          </a:p>
          <a:p>
            <a:pPr marL="438785"/>
            <a:endParaRPr lang="en-US" b="1" dirty="0"/>
          </a:p>
          <a:p>
            <a:pPr marL="438785"/>
            <a:r>
              <a:rPr lang="en-US" b="1" dirty="0">
                <a:latin typeface="Calibri"/>
                <a:cs typeface="Calibri"/>
              </a:rPr>
              <a:t>More accurate trees are weighted higher in the final model</a:t>
            </a:r>
            <a:endParaRPr lang="en-US" b="1" dirty="0"/>
          </a:p>
          <a:p>
            <a:pPr marL="438785"/>
            <a:endParaRPr lang="en-US" dirty="0"/>
          </a:p>
          <a:p>
            <a:pPr marL="438785"/>
            <a:endParaRPr lang="en-US" dirty="0"/>
          </a:p>
          <a:p>
            <a:pPr marL="438785"/>
            <a:endParaRPr lang="en-US" dirty="0"/>
          </a:p>
          <a:p>
            <a:pPr marL="438785"/>
            <a:endParaRPr lang="en-US" dirty="0"/>
          </a:p>
        </p:txBody>
      </p:sp>
      <p:sp>
        <p:nvSpPr>
          <p:cNvPr id="4" name="Date Placeholder 3">
            <a:extLst>
              <a:ext uri="{FF2B5EF4-FFF2-40B4-BE49-F238E27FC236}">
                <a16:creationId xmlns:a16="http://schemas.microsoft.com/office/drawing/2014/main" id="{05C90B21-E6FB-4D64-85F9-39D135ACC6E0}"/>
              </a:ext>
            </a:extLst>
          </p:cNvPr>
          <p:cNvSpPr>
            <a:spLocks noGrp="1"/>
          </p:cNvSpPr>
          <p:nvPr>
            <p:ph type="dt" sz="half" idx="10"/>
          </p:nvPr>
        </p:nvSpPr>
        <p:spPr/>
        <p:txBody>
          <a:bodyPr/>
          <a:lstStyle/>
          <a:p>
            <a:fld id="{18ED6159-2C25-234D-8BDA-451F696FD7D9}" type="datetime1">
              <a:rPr lang="en-US" smtClean="0"/>
              <a:t>10/15/24</a:t>
            </a:fld>
            <a:endParaRPr lang="en-US"/>
          </a:p>
        </p:txBody>
      </p:sp>
      <p:sp>
        <p:nvSpPr>
          <p:cNvPr id="5" name="Footer Placeholder 4">
            <a:extLst>
              <a:ext uri="{FF2B5EF4-FFF2-40B4-BE49-F238E27FC236}">
                <a16:creationId xmlns:a16="http://schemas.microsoft.com/office/drawing/2014/main" id="{DFC8F6E7-7BFF-4135-9E92-200505A0A3E3}"/>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249B1F9C-00B0-444A-9DB4-7B70A8C51790}"/>
              </a:ext>
            </a:extLst>
          </p:cNvPr>
          <p:cNvSpPr>
            <a:spLocks noGrp="1"/>
          </p:cNvSpPr>
          <p:nvPr>
            <p:ph type="sldNum" sz="quarter" idx="12"/>
          </p:nvPr>
        </p:nvSpPr>
        <p:spPr/>
        <p:txBody>
          <a:bodyPr/>
          <a:lstStyle/>
          <a:p>
            <a:fld id="{19B12225-5612-419B-A8D5-4B8EEE4C217E}" type="slidenum">
              <a:rPr lang="en-US" smtClean="0"/>
              <a:pPr/>
              <a:t>17</a:t>
            </a:fld>
            <a:endParaRPr lang="en-US"/>
          </a:p>
        </p:txBody>
      </p:sp>
      <p:pic>
        <p:nvPicPr>
          <p:cNvPr id="9" name="Picture 8">
            <a:extLst>
              <a:ext uri="{FF2B5EF4-FFF2-40B4-BE49-F238E27FC236}">
                <a16:creationId xmlns:a16="http://schemas.microsoft.com/office/drawing/2014/main" id="{195CDC84-63CE-41CD-A1C5-FF4DEA0F8E52}"/>
              </a:ext>
            </a:extLst>
          </p:cNvPr>
          <p:cNvPicPr>
            <a:picLocks noChangeAspect="1"/>
          </p:cNvPicPr>
          <p:nvPr/>
        </p:nvPicPr>
        <p:blipFill>
          <a:blip r:embed="rId3"/>
          <a:stretch>
            <a:fillRect/>
          </a:stretch>
        </p:blipFill>
        <p:spPr>
          <a:xfrm>
            <a:off x="2640596" y="2497223"/>
            <a:ext cx="3640393" cy="1036831"/>
          </a:xfrm>
          <a:prstGeom prst="rect">
            <a:avLst/>
          </a:prstGeom>
        </p:spPr>
      </p:pic>
    </p:spTree>
    <p:extLst>
      <p:ext uri="{BB962C8B-B14F-4D97-AF65-F5344CB8AC3E}">
        <p14:creationId xmlns:p14="http://schemas.microsoft.com/office/powerpoint/2010/main" val="3245824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989E-FF13-43FB-BB80-51214073BB55}"/>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a:t>AdaBoost: Summary</a:t>
            </a:r>
          </a:p>
        </p:txBody>
      </p:sp>
      <p:sp>
        <p:nvSpPr>
          <p:cNvPr id="4" name="Date Placeholder 3">
            <a:extLst>
              <a:ext uri="{FF2B5EF4-FFF2-40B4-BE49-F238E27FC236}">
                <a16:creationId xmlns:a16="http://schemas.microsoft.com/office/drawing/2014/main" id="{05C90B21-E6FB-4D64-85F9-39D135ACC6E0}"/>
              </a:ext>
            </a:extLst>
          </p:cNvPr>
          <p:cNvSpPr>
            <a:spLocks noGrp="1"/>
          </p:cNvSpPr>
          <p:nvPr>
            <p:ph type="dt" sz="half" idx="10"/>
          </p:nvPr>
        </p:nvSpPr>
        <p:spPr/>
        <p:txBody>
          <a:bodyPr/>
          <a:lstStyle/>
          <a:p>
            <a:fld id="{1D2DDD20-C4DF-A245-A336-697A62735079}" type="datetime1">
              <a:rPr lang="en-US" smtClean="0"/>
              <a:t>10/15/24</a:t>
            </a:fld>
            <a:endParaRPr lang="en-US"/>
          </a:p>
        </p:txBody>
      </p:sp>
      <p:sp>
        <p:nvSpPr>
          <p:cNvPr id="5" name="Footer Placeholder 4">
            <a:extLst>
              <a:ext uri="{FF2B5EF4-FFF2-40B4-BE49-F238E27FC236}">
                <a16:creationId xmlns:a16="http://schemas.microsoft.com/office/drawing/2014/main" id="{DFC8F6E7-7BFF-4135-9E92-200505A0A3E3}"/>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249B1F9C-00B0-444A-9DB4-7B70A8C51790}"/>
              </a:ext>
            </a:extLst>
          </p:cNvPr>
          <p:cNvSpPr>
            <a:spLocks noGrp="1"/>
          </p:cNvSpPr>
          <p:nvPr>
            <p:ph type="sldNum" sz="quarter" idx="12"/>
          </p:nvPr>
        </p:nvSpPr>
        <p:spPr/>
        <p:txBody>
          <a:bodyPr/>
          <a:lstStyle/>
          <a:p>
            <a:fld id="{19B12225-5612-419B-A8D5-4B8EEE4C217E}" type="slidenum">
              <a:rPr lang="en-US" smtClean="0"/>
              <a:pPr/>
              <a:t>18</a:t>
            </a:fld>
            <a:endParaRPr lang="en-US"/>
          </a:p>
        </p:txBody>
      </p:sp>
      <p:pic>
        <p:nvPicPr>
          <p:cNvPr id="12" name="Picture 11" descr="Text, letter&#10;&#10;Description automatically generated">
            <a:extLst>
              <a:ext uri="{FF2B5EF4-FFF2-40B4-BE49-F238E27FC236}">
                <a16:creationId xmlns:a16="http://schemas.microsoft.com/office/drawing/2014/main" id="{56BDA0E3-DD49-E04D-ABC8-EF0193719767}"/>
              </a:ext>
            </a:extLst>
          </p:cNvPr>
          <p:cNvPicPr>
            <a:picLocks noChangeAspect="1"/>
          </p:cNvPicPr>
          <p:nvPr/>
        </p:nvPicPr>
        <p:blipFill rotWithShape="1">
          <a:blip r:embed="rId2">
            <a:extLst>
              <a:ext uri="{28A0092B-C50C-407E-A947-70E740481C1C}">
                <a14:useLocalDpi xmlns:a14="http://schemas.microsoft.com/office/drawing/2010/main" val="0"/>
              </a:ext>
            </a:extLst>
          </a:blip>
          <a:srcRect t="14372" b="7431"/>
          <a:stretch/>
        </p:blipFill>
        <p:spPr>
          <a:xfrm>
            <a:off x="279400" y="1832566"/>
            <a:ext cx="8407400" cy="3982301"/>
          </a:xfrm>
          <a:prstGeom prst="rect">
            <a:avLst/>
          </a:prstGeom>
        </p:spPr>
      </p:pic>
      <p:sp>
        <p:nvSpPr>
          <p:cNvPr id="11" name="TextBox 10">
            <a:extLst>
              <a:ext uri="{FF2B5EF4-FFF2-40B4-BE49-F238E27FC236}">
                <a16:creationId xmlns:a16="http://schemas.microsoft.com/office/drawing/2014/main" id="{475DF7A9-A7F4-40B7-8F47-02B97A523076}"/>
              </a:ext>
            </a:extLst>
          </p:cNvPr>
          <p:cNvSpPr txBox="1"/>
          <p:nvPr/>
        </p:nvSpPr>
        <p:spPr>
          <a:xfrm>
            <a:off x="6649373" y="3177355"/>
            <a:ext cx="217576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8000"/>
                </a:solidFill>
                <a:latin typeface="Arial"/>
                <a:cs typeface="Arial"/>
              </a:rPr>
              <a:t>（1）Train a stump</a:t>
            </a:r>
          </a:p>
        </p:txBody>
      </p:sp>
      <p:sp>
        <p:nvSpPr>
          <p:cNvPr id="13" name="TextBox 12">
            <a:extLst>
              <a:ext uri="{FF2B5EF4-FFF2-40B4-BE49-F238E27FC236}">
                <a16:creationId xmlns:a16="http://schemas.microsoft.com/office/drawing/2014/main" id="{5B4E76DD-D90B-49F4-B307-7C9209BFA944}"/>
              </a:ext>
            </a:extLst>
          </p:cNvPr>
          <p:cNvSpPr txBox="1"/>
          <p:nvPr/>
        </p:nvSpPr>
        <p:spPr>
          <a:xfrm>
            <a:off x="6699612" y="3871758"/>
            <a:ext cx="2335535" cy="369332"/>
          </a:xfrm>
          <a:prstGeom prst="rect">
            <a:avLst/>
          </a:prstGeom>
          <a:noFill/>
          <a:ln>
            <a:no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B0F0"/>
                </a:solidFill>
                <a:latin typeface="Arial"/>
                <a:cs typeface="Arial"/>
              </a:rPr>
              <a:t>（2）Compute error</a:t>
            </a:r>
          </a:p>
        </p:txBody>
      </p:sp>
      <p:sp>
        <p:nvSpPr>
          <p:cNvPr id="14" name="TextBox 13">
            <a:extLst>
              <a:ext uri="{FF2B5EF4-FFF2-40B4-BE49-F238E27FC236}">
                <a16:creationId xmlns:a16="http://schemas.microsoft.com/office/drawing/2014/main" id="{C1D45777-72B6-4A3C-965E-B985E55705E0}"/>
              </a:ext>
            </a:extLst>
          </p:cNvPr>
          <p:cNvSpPr txBox="1"/>
          <p:nvPr/>
        </p:nvSpPr>
        <p:spPr>
          <a:xfrm>
            <a:off x="6084016" y="4357225"/>
            <a:ext cx="31344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Arial"/>
                <a:cs typeface="Arial"/>
              </a:rPr>
              <a:t>（3）Compute tree weight</a:t>
            </a:r>
          </a:p>
        </p:txBody>
      </p:sp>
      <p:sp>
        <p:nvSpPr>
          <p:cNvPr id="15" name="TextBox 14">
            <a:extLst>
              <a:ext uri="{FF2B5EF4-FFF2-40B4-BE49-F238E27FC236}">
                <a16:creationId xmlns:a16="http://schemas.microsoft.com/office/drawing/2014/main" id="{91AD4284-CCB5-40E4-9810-3867630FDA17}"/>
              </a:ext>
            </a:extLst>
          </p:cNvPr>
          <p:cNvSpPr txBox="1"/>
          <p:nvPr/>
        </p:nvSpPr>
        <p:spPr>
          <a:xfrm>
            <a:off x="6649370" y="5125369"/>
            <a:ext cx="23355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accent1">
                    <a:lumMod val="75000"/>
                  </a:schemeClr>
                </a:solidFill>
                <a:latin typeface="Arial"/>
                <a:cs typeface="Arial"/>
              </a:rPr>
              <a:t>（4）Reweight data</a:t>
            </a:r>
          </a:p>
        </p:txBody>
      </p:sp>
      <p:sp>
        <p:nvSpPr>
          <p:cNvPr id="3" name="Rectangle 2">
            <a:extLst>
              <a:ext uri="{FF2B5EF4-FFF2-40B4-BE49-F238E27FC236}">
                <a16:creationId xmlns:a16="http://schemas.microsoft.com/office/drawing/2014/main" id="{6CE7A4AE-E01C-44F2-005E-CD67D62CE4B1}"/>
              </a:ext>
            </a:extLst>
          </p:cNvPr>
          <p:cNvSpPr/>
          <p:nvPr/>
        </p:nvSpPr>
        <p:spPr>
          <a:xfrm>
            <a:off x="1798655" y="2793442"/>
            <a:ext cx="6405741" cy="383913"/>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 name="Rectangle 6">
            <a:extLst>
              <a:ext uri="{FF2B5EF4-FFF2-40B4-BE49-F238E27FC236}">
                <a16:creationId xmlns:a16="http://schemas.microsoft.com/office/drawing/2014/main" id="{3232BE81-4984-D27D-4697-F6E67AAB1641}"/>
              </a:ext>
            </a:extLst>
          </p:cNvPr>
          <p:cNvSpPr/>
          <p:nvPr/>
        </p:nvSpPr>
        <p:spPr>
          <a:xfrm>
            <a:off x="3285811" y="3429000"/>
            <a:ext cx="3547068" cy="81209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02DB94AE-9C7C-2A94-DBCC-6C4AE2E95CFF}"/>
              </a:ext>
            </a:extLst>
          </p:cNvPr>
          <p:cNvSpPr/>
          <p:nvPr/>
        </p:nvSpPr>
        <p:spPr>
          <a:xfrm>
            <a:off x="1798655" y="4357225"/>
            <a:ext cx="4099727" cy="369332"/>
          </a:xfrm>
          <a:prstGeom prst="rect">
            <a:avLst/>
          </a:prstGeom>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6D6AFE87-4B2E-F2B6-4E2B-5EAFF31EAC2F}"/>
              </a:ext>
            </a:extLst>
          </p:cNvPr>
          <p:cNvSpPr/>
          <p:nvPr/>
        </p:nvSpPr>
        <p:spPr>
          <a:xfrm>
            <a:off x="1798655" y="4793064"/>
            <a:ext cx="4285361" cy="312209"/>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98529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989E-FF13-43FB-BB80-51214073BB55}"/>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a:t>AdaBoost Conclusion</a:t>
            </a:r>
          </a:p>
        </p:txBody>
      </p:sp>
      <p:sp>
        <p:nvSpPr>
          <p:cNvPr id="3" name="Content Placeholder 2">
            <a:extLst>
              <a:ext uri="{FF2B5EF4-FFF2-40B4-BE49-F238E27FC236}">
                <a16:creationId xmlns:a16="http://schemas.microsoft.com/office/drawing/2014/main" id="{E60407C7-A619-4E67-99BA-5D11D8BA2823}"/>
              </a:ext>
            </a:extLst>
          </p:cNvPr>
          <p:cNvSpPr>
            <a:spLocks noGrp="1"/>
          </p:cNvSpPr>
          <p:nvPr>
            <p:ph idx="1"/>
          </p:nvPr>
        </p:nvSpPr>
        <p:spPr>
          <a:xfrm>
            <a:off x="518652" y="1504334"/>
            <a:ext cx="8106697" cy="5353665"/>
          </a:xfrm>
        </p:spPr>
        <p:txBody>
          <a:bodyPr vert="horz" lIns="54864" tIns="91440" rIns="91440" bIns="45720" rtlCol="0" anchor="t">
            <a:normAutofit/>
          </a:bodyPr>
          <a:lstStyle/>
          <a:p>
            <a:pPr marL="438785"/>
            <a:r>
              <a:rPr lang="en-US" b="1" dirty="0">
                <a:latin typeface="Calibri"/>
                <a:cs typeface="Calibri"/>
              </a:rPr>
              <a:t>Iteratively train weak learners (decision stumps) to form a strong model:</a:t>
            </a:r>
          </a:p>
          <a:p>
            <a:pPr lvl="1"/>
            <a:r>
              <a:rPr lang="en-US" dirty="0">
                <a:latin typeface="Calibri"/>
                <a:cs typeface="Calibri"/>
              </a:rPr>
              <a:t>Trees with high accuracy are given more weights in the final model</a:t>
            </a:r>
            <a:endParaRPr lang="en-US" dirty="0"/>
          </a:p>
          <a:p>
            <a:pPr lvl="1">
              <a:buClr>
                <a:srgbClr val="60B5CC"/>
              </a:buClr>
              <a:buFont typeface="Wingdings"/>
              <a:buChar char="§"/>
            </a:pPr>
            <a:r>
              <a:rPr lang="en-US" dirty="0">
                <a:latin typeface="Calibri"/>
                <a:cs typeface="Calibri"/>
              </a:rPr>
              <a:t>Misclassified data get higher weights in the next iteration</a:t>
            </a:r>
          </a:p>
          <a:p>
            <a:pPr lvl="1">
              <a:buClr>
                <a:srgbClr val="60B5CC"/>
              </a:buClr>
              <a:buFont typeface="Wingdings"/>
              <a:buChar char="§"/>
            </a:pPr>
            <a:endParaRPr lang="en-US" dirty="0">
              <a:latin typeface="Calibri"/>
              <a:cs typeface="Calibri"/>
            </a:endParaRPr>
          </a:p>
          <a:p>
            <a:pPr marL="438785"/>
            <a:endParaRPr lang="en-US" dirty="0"/>
          </a:p>
        </p:txBody>
      </p:sp>
      <p:sp>
        <p:nvSpPr>
          <p:cNvPr id="4" name="Date Placeholder 3">
            <a:extLst>
              <a:ext uri="{FF2B5EF4-FFF2-40B4-BE49-F238E27FC236}">
                <a16:creationId xmlns:a16="http://schemas.microsoft.com/office/drawing/2014/main" id="{05C90B21-E6FB-4D64-85F9-39D135ACC6E0}"/>
              </a:ext>
            </a:extLst>
          </p:cNvPr>
          <p:cNvSpPr>
            <a:spLocks noGrp="1"/>
          </p:cNvSpPr>
          <p:nvPr>
            <p:ph type="dt" sz="half" idx="10"/>
          </p:nvPr>
        </p:nvSpPr>
        <p:spPr/>
        <p:txBody>
          <a:bodyPr/>
          <a:lstStyle/>
          <a:p>
            <a:fld id="{02D2D9C4-C27C-8446-A519-E01C87CA4B79}" type="datetime1">
              <a:rPr lang="en-US" smtClean="0"/>
              <a:t>10/15/24</a:t>
            </a:fld>
            <a:endParaRPr lang="en-US"/>
          </a:p>
        </p:txBody>
      </p:sp>
      <p:sp>
        <p:nvSpPr>
          <p:cNvPr id="5" name="Footer Placeholder 4">
            <a:extLst>
              <a:ext uri="{FF2B5EF4-FFF2-40B4-BE49-F238E27FC236}">
                <a16:creationId xmlns:a16="http://schemas.microsoft.com/office/drawing/2014/main" id="{DFC8F6E7-7BFF-4135-9E92-200505A0A3E3}"/>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249B1F9C-00B0-444A-9DB4-7B70A8C51790}"/>
              </a:ext>
            </a:extLst>
          </p:cNvPr>
          <p:cNvSpPr>
            <a:spLocks noGrp="1"/>
          </p:cNvSpPr>
          <p:nvPr>
            <p:ph type="sldNum" sz="quarter" idx="12"/>
          </p:nvPr>
        </p:nvSpPr>
        <p:spPr/>
        <p:txBody>
          <a:bodyPr/>
          <a:lstStyle/>
          <a:p>
            <a:fld id="{19B12225-5612-419B-A8D5-4B8EEE4C217E}" type="slidenum">
              <a:rPr lang="en-US" smtClean="0"/>
              <a:pPr/>
              <a:t>19</a:t>
            </a:fld>
            <a:endParaRPr lang="en-US"/>
          </a:p>
        </p:txBody>
      </p:sp>
    </p:spTree>
    <p:extLst>
      <p:ext uri="{BB962C8B-B14F-4D97-AF65-F5344CB8AC3E}">
        <p14:creationId xmlns:p14="http://schemas.microsoft.com/office/powerpoint/2010/main" val="3052397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200"/>
            <a:ext cx="8077200" cy="2590800"/>
          </a:xfrm>
        </p:spPr>
        <p:txBody>
          <a:bodyPr anchor="b">
            <a:normAutofit/>
          </a:bodyPr>
          <a:lstStyle/>
          <a:p>
            <a:r>
              <a:rPr lang="en-US" sz="4800" dirty="0"/>
              <a:t>Gradient Boosted Decision Trees</a:t>
            </a:r>
          </a:p>
        </p:txBody>
      </p:sp>
    </p:spTree>
    <p:extLst>
      <p:ext uri="{BB962C8B-B14F-4D97-AF65-F5344CB8AC3E}">
        <p14:creationId xmlns:p14="http://schemas.microsoft.com/office/powerpoint/2010/main" val="83945178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EF9DF-11BD-EB0A-1F6C-1EB7EAE9F69C}"/>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FB1C738E-B1C9-3A32-4622-03CFB95459F0}"/>
              </a:ext>
            </a:extLst>
          </p:cNvPr>
          <p:cNvSpPr>
            <a:spLocks noGrp="1"/>
          </p:cNvSpPr>
          <p:nvPr>
            <p:ph idx="1"/>
          </p:nvPr>
        </p:nvSpPr>
        <p:spPr/>
        <p:txBody>
          <a:bodyPr/>
          <a:lstStyle/>
          <a:p>
            <a:r>
              <a:rPr lang="en-US" sz="3200" b="1" dirty="0">
                <a:solidFill>
                  <a:srgbClr val="D60093"/>
                </a:solidFill>
              </a:rPr>
              <a:t>Idea:</a:t>
            </a:r>
          </a:p>
          <a:p>
            <a:pPr lvl="1"/>
            <a:r>
              <a:rPr lang="en-US" dirty="0"/>
              <a:t>Start with a constant prediction, </a:t>
            </a:r>
            <a:r>
              <a:rPr lang="en-US" b="1" dirty="0"/>
              <a:t>add a new decision tree each time</a:t>
            </a:r>
            <a:r>
              <a:rPr lang="en-US" dirty="0"/>
              <a:t>. It can be multi-level!</a:t>
            </a:r>
          </a:p>
          <a:p>
            <a:pPr lvl="1"/>
            <a:r>
              <a:rPr lang="en-US" dirty="0"/>
              <a:t>Let’s see it in an example for </a:t>
            </a:r>
            <a:r>
              <a:rPr lang="en-US" u="sng" dirty="0"/>
              <a:t>regression</a:t>
            </a:r>
            <a:r>
              <a:rPr lang="en-US" dirty="0"/>
              <a:t>. </a:t>
            </a:r>
          </a:p>
          <a:p>
            <a:endParaRPr lang="en-US" sz="3200" b="1" dirty="0">
              <a:solidFill>
                <a:srgbClr val="D60093"/>
              </a:solidFill>
            </a:endParaRPr>
          </a:p>
          <a:p>
            <a:endParaRPr lang="en-US" dirty="0"/>
          </a:p>
        </p:txBody>
      </p:sp>
      <p:sp>
        <p:nvSpPr>
          <p:cNvPr id="4" name="Date Placeholder 3">
            <a:extLst>
              <a:ext uri="{FF2B5EF4-FFF2-40B4-BE49-F238E27FC236}">
                <a16:creationId xmlns:a16="http://schemas.microsoft.com/office/drawing/2014/main" id="{E3D3D97A-EA23-5DBF-34F4-DBC7B5C332C1}"/>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33F17AFC-C214-5D4D-968D-C18CB20D3514}"/>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7D04CC19-4029-5FBC-AC2A-EBCE8D483E8A}"/>
              </a:ext>
            </a:extLst>
          </p:cNvPr>
          <p:cNvSpPr>
            <a:spLocks noGrp="1"/>
          </p:cNvSpPr>
          <p:nvPr>
            <p:ph type="sldNum" sz="quarter" idx="12"/>
          </p:nvPr>
        </p:nvSpPr>
        <p:spPr/>
        <p:txBody>
          <a:bodyPr/>
          <a:lstStyle/>
          <a:p>
            <a:fld id="{19B12225-5612-419B-A8D5-4B8EEE4C217E}" type="slidenum">
              <a:rPr lang="en-US" smtClean="0"/>
              <a:pPr/>
              <a:t>21</a:t>
            </a:fld>
            <a:endParaRPr lang="en-US"/>
          </a:p>
        </p:txBody>
      </p:sp>
      <p:pic>
        <p:nvPicPr>
          <p:cNvPr id="11" name="Picture 10">
            <a:extLst>
              <a:ext uri="{FF2B5EF4-FFF2-40B4-BE49-F238E27FC236}">
                <a16:creationId xmlns:a16="http://schemas.microsoft.com/office/drawing/2014/main" id="{D52257E7-5B2B-CCD9-77A9-D663542A4884}"/>
              </a:ext>
            </a:extLst>
          </p:cNvPr>
          <p:cNvPicPr>
            <a:picLocks noChangeAspect="1"/>
          </p:cNvPicPr>
          <p:nvPr/>
        </p:nvPicPr>
        <p:blipFill>
          <a:blip r:embed="rId2"/>
          <a:stretch>
            <a:fillRect/>
          </a:stretch>
        </p:blipFill>
        <p:spPr>
          <a:xfrm>
            <a:off x="1220128"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12" name="Table 12">
            <a:extLst>
              <a:ext uri="{FF2B5EF4-FFF2-40B4-BE49-F238E27FC236}">
                <a16:creationId xmlns:a16="http://schemas.microsoft.com/office/drawing/2014/main" id="{ADDE9E2C-49FE-3491-FD8B-49C86FDE5DCA}"/>
              </a:ext>
            </a:extLst>
          </p:cNvPr>
          <p:cNvGraphicFramePr>
            <a:graphicFrameLocks noGrp="1"/>
          </p:cNvGraphicFramePr>
          <p:nvPr>
            <p:extLst>
              <p:ext uri="{D42A27DB-BD31-4B8C-83A1-F6EECF244321}">
                <p14:modId xmlns:p14="http://schemas.microsoft.com/office/powerpoint/2010/main" val="3790920898"/>
              </p:ext>
            </p:extLst>
          </p:nvPr>
        </p:nvGraphicFramePr>
        <p:xfrm>
          <a:off x="4572000" y="3804114"/>
          <a:ext cx="3848520" cy="2153004"/>
        </p:xfrm>
        <a:graphic>
          <a:graphicData uri="http://schemas.openxmlformats.org/drawingml/2006/table">
            <a:tbl>
              <a:tblPr firstRow="1" bandRow="1">
                <a:tableStyleId>{7E9639D4-E3E2-4D34-9284-5A2195B3D0D7}</a:tableStyleId>
              </a:tblPr>
              <a:tblGrid>
                <a:gridCol w="1477109">
                  <a:extLst>
                    <a:ext uri="{9D8B030D-6E8A-4147-A177-3AD203B41FA5}">
                      <a16:colId xmlns:a16="http://schemas.microsoft.com/office/drawing/2014/main" val="2798093145"/>
                    </a:ext>
                  </a:extLst>
                </a:gridCol>
                <a:gridCol w="2371411">
                  <a:extLst>
                    <a:ext uri="{9D8B030D-6E8A-4147-A177-3AD203B41FA5}">
                      <a16:colId xmlns:a16="http://schemas.microsoft.com/office/drawing/2014/main" val="2776668440"/>
                    </a:ext>
                  </a:extLst>
                </a:gridCol>
              </a:tblGrid>
              <a:tr h="378231">
                <a:tc>
                  <a:txBody>
                    <a:bodyPr/>
                    <a:lstStyle/>
                    <a:p>
                      <a:r>
                        <a:rPr lang="en-US" dirty="0"/>
                        <a:t>drug dosage (x)</a:t>
                      </a:r>
                    </a:p>
                  </a:txBody>
                  <a:tcPr/>
                </a:tc>
                <a:tc>
                  <a:txBody>
                    <a:bodyPr/>
                    <a:lstStyle/>
                    <a:p>
                      <a:r>
                        <a:rPr lang="en-US" dirty="0"/>
                        <a:t>drug effectiveness</a:t>
                      </a:r>
                    </a:p>
                    <a:p>
                      <a:r>
                        <a:rPr lang="en-US" dirty="0"/>
                        <a:t> (y)</a:t>
                      </a:r>
                    </a:p>
                  </a:txBody>
                  <a:tcPr/>
                </a:tc>
                <a:extLst>
                  <a:ext uri="{0D108BD9-81ED-4DB2-BD59-A6C34878D82A}">
                    <a16:rowId xmlns:a16="http://schemas.microsoft.com/office/drawing/2014/main" val="1119411960"/>
                  </a:ext>
                </a:extLst>
              </a:tr>
              <a:tr h="378231">
                <a:tc>
                  <a:txBody>
                    <a:bodyPr/>
                    <a:lstStyle/>
                    <a:p>
                      <a:r>
                        <a:rPr lang="en-US" dirty="0"/>
                        <a:t>10</a:t>
                      </a:r>
                    </a:p>
                  </a:txBody>
                  <a:tcPr/>
                </a:tc>
                <a:tc>
                  <a:txBody>
                    <a:bodyPr/>
                    <a:lstStyle/>
                    <a:p>
                      <a:r>
                        <a:rPr lang="en-US" dirty="0"/>
                        <a:t>-10</a:t>
                      </a:r>
                    </a:p>
                  </a:txBody>
                  <a:tcPr/>
                </a:tc>
                <a:extLst>
                  <a:ext uri="{0D108BD9-81ED-4DB2-BD59-A6C34878D82A}">
                    <a16:rowId xmlns:a16="http://schemas.microsoft.com/office/drawing/2014/main" val="3370144513"/>
                  </a:ext>
                </a:extLst>
              </a:tr>
              <a:tr h="378231">
                <a:tc>
                  <a:txBody>
                    <a:bodyPr/>
                    <a:lstStyle/>
                    <a:p>
                      <a:r>
                        <a:rPr lang="en-US" dirty="0"/>
                        <a:t>20</a:t>
                      </a:r>
                    </a:p>
                  </a:txBody>
                  <a:tcPr/>
                </a:tc>
                <a:tc>
                  <a:txBody>
                    <a:bodyPr/>
                    <a:lstStyle/>
                    <a:p>
                      <a:r>
                        <a:rPr lang="en-US" dirty="0"/>
                        <a:t>7</a:t>
                      </a:r>
                    </a:p>
                  </a:txBody>
                  <a:tcPr/>
                </a:tc>
                <a:extLst>
                  <a:ext uri="{0D108BD9-81ED-4DB2-BD59-A6C34878D82A}">
                    <a16:rowId xmlns:a16="http://schemas.microsoft.com/office/drawing/2014/main" val="3036976488"/>
                  </a:ext>
                </a:extLst>
              </a:tr>
              <a:tr h="378231">
                <a:tc>
                  <a:txBody>
                    <a:bodyPr/>
                    <a:lstStyle/>
                    <a:p>
                      <a:r>
                        <a:rPr lang="en-US" dirty="0"/>
                        <a:t>25</a:t>
                      </a:r>
                    </a:p>
                  </a:txBody>
                  <a:tcPr/>
                </a:tc>
                <a:tc>
                  <a:txBody>
                    <a:bodyPr/>
                    <a:lstStyle/>
                    <a:p>
                      <a:r>
                        <a:rPr lang="en-US" dirty="0"/>
                        <a:t>8</a:t>
                      </a:r>
                    </a:p>
                  </a:txBody>
                  <a:tcPr/>
                </a:tc>
                <a:extLst>
                  <a:ext uri="{0D108BD9-81ED-4DB2-BD59-A6C34878D82A}">
                    <a16:rowId xmlns:a16="http://schemas.microsoft.com/office/drawing/2014/main" val="3325707804"/>
                  </a:ext>
                </a:extLst>
              </a:tr>
              <a:tr h="378231">
                <a:tc>
                  <a:txBody>
                    <a:bodyPr/>
                    <a:lstStyle/>
                    <a:p>
                      <a:r>
                        <a:rPr lang="en-US" dirty="0"/>
                        <a:t>35</a:t>
                      </a:r>
                    </a:p>
                  </a:txBody>
                  <a:tcPr/>
                </a:tc>
                <a:tc>
                  <a:txBody>
                    <a:bodyPr/>
                    <a:lstStyle/>
                    <a:p>
                      <a:r>
                        <a:rPr lang="en-US" dirty="0"/>
                        <a:t>-7</a:t>
                      </a:r>
                    </a:p>
                  </a:txBody>
                  <a:tcPr/>
                </a:tc>
                <a:extLst>
                  <a:ext uri="{0D108BD9-81ED-4DB2-BD59-A6C34878D82A}">
                    <a16:rowId xmlns:a16="http://schemas.microsoft.com/office/drawing/2014/main" val="2770726690"/>
                  </a:ext>
                </a:extLst>
              </a:tr>
            </a:tbl>
          </a:graphicData>
        </a:graphic>
      </p:graphicFrame>
      <p:sp>
        <p:nvSpPr>
          <p:cNvPr id="14" name="TextBox 13">
            <a:extLst>
              <a:ext uri="{FF2B5EF4-FFF2-40B4-BE49-F238E27FC236}">
                <a16:creationId xmlns:a16="http://schemas.microsoft.com/office/drawing/2014/main" id="{FCC533B8-CBC4-7B9F-3F26-F507817621D1}"/>
              </a:ext>
            </a:extLst>
          </p:cNvPr>
          <p:cNvSpPr txBox="1"/>
          <p:nvPr/>
        </p:nvSpPr>
        <p:spPr>
          <a:xfrm>
            <a:off x="3728982" y="5952577"/>
            <a:ext cx="5720746"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Since problem is regression, the loss function is </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BEE69F7-F682-0D6B-9679-A664BBB93AE7}"/>
                  </a:ext>
                </a:extLst>
              </p:cNvPr>
              <p:cNvSpPr txBox="1"/>
              <p:nvPr/>
            </p:nvSpPr>
            <p:spPr>
              <a:xfrm>
                <a:off x="5303765" y="6213398"/>
                <a:ext cx="1770420" cy="6706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cs typeface="Arial" pitchFamily="34" charset="0"/>
                        </a:rPr>
                        <m:t>𝐿</m:t>
                      </m:r>
                      <m:r>
                        <a:rPr lang="en-US" b="0" i="1" smtClean="0">
                          <a:solidFill>
                            <a:srgbClr val="FF0000"/>
                          </a:solidFill>
                          <a:latin typeface="Cambria Math" panose="02040503050406030204" pitchFamily="18" charset="0"/>
                          <a:cs typeface="Arial" pitchFamily="34" charset="0"/>
                        </a:rPr>
                        <m:t>=</m:t>
                      </m:r>
                      <m:nary>
                        <m:naryPr>
                          <m:chr m:val="∑"/>
                          <m:subHide m:val="on"/>
                          <m:supHide m:val="on"/>
                          <m:ctrlPr>
                            <a:rPr lang="en-US" b="0" i="1" smtClean="0">
                              <a:solidFill>
                                <a:srgbClr val="FF0000"/>
                              </a:solidFill>
                              <a:latin typeface="Cambria Math" panose="02040503050406030204" pitchFamily="18" charset="0"/>
                              <a:cs typeface="Arial" pitchFamily="34" charset="0"/>
                            </a:rPr>
                          </m:ctrlPr>
                        </m:naryPr>
                        <m:sub/>
                        <m:sup/>
                        <m:e>
                          <m:r>
                            <a:rPr lang="en-US" b="0" i="1" smtClean="0">
                              <a:solidFill>
                                <a:srgbClr val="FF0000"/>
                              </a:solidFill>
                              <a:latin typeface="Cambria Math" panose="02040503050406030204" pitchFamily="18" charset="0"/>
                              <a:cs typeface="Arial" pitchFamily="34" charset="0"/>
                            </a:rPr>
                            <m:t>(</m:t>
                          </m:r>
                          <m:r>
                            <a:rPr lang="en-US" b="0" i="1" smtClean="0">
                              <a:solidFill>
                                <a:srgbClr val="FF0000"/>
                              </a:solidFill>
                              <a:latin typeface="Cambria Math" panose="02040503050406030204" pitchFamily="18" charset="0"/>
                              <a:cs typeface="Arial" pitchFamily="34" charset="0"/>
                            </a:rPr>
                            <m:t>𝑦𝑖</m:t>
                          </m:r>
                          <m:r>
                            <a:rPr lang="en-US" b="0" i="1" smtClean="0">
                              <a:solidFill>
                                <a:srgbClr val="FF0000"/>
                              </a:solidFill>
                              <a:latin typeface="Cambria Math" panose="02040503050406030204" pitchFamily="18" charset="0"/>
                              <a:cs typeface="Arial" pitchFamily="34" charset="0"/>
                            </a:rPr>
                            <m:t>−</m:t>
                          </m:r>
                          <m:acc>
                            <m:accPr>
                              <m:chr m:val="̂"/>
                              <m:ctrlPr>
                                <a:rPr lang="en-US" b="0" i="1" smtClean="0">
                                  <a:solidFill>
                                    <a:srgbClr val="FF0000"/>
                                  </a:solidFill>
                                  <a:latin typeface="Cambria Math" panose="02040503050406030204" pitchFamily="18" charset="0"/>
                                  <a:cs typeface="Arial" pitchFamily="34" charset="0"/>
                                </a:rPr>
                              </m:ctrlPr>
                            </m:accPr>
                            <m:e>
                              <m:r>
                                <a:rPr lang="en-US" b="0" i="1" smtClean="0">
                                  <a:solidFill>
                                    <a:srgbClr val="FF0000"/>
                                  </a:solidFill>
                                  <a:latin typeface="Cambria Math" panose="02040503050406030204" pitchFamily="18" charset="0"/>
                                  <a:cs typeface="Arial" pitchFamily="34" charset="0"/>
                                </a:rPr>
                                <m:t>𝑦</m:t>
                              </m:r>
                            </m:e>
                          </m:acc>
                          <m:r>
                            <a:rPr lang="en-US" b="0" i="1" baseline="-25000" smtClean="0">
                              <a:solidFill>
                                <a:srgbClr val="FF0000"/>
                              </a:solidFill>
                              <a:latin typeface="Cambria Math" panose="02040503050406030204" pitchFamily="18" charset="0"/>
                              <a:cs typeface="Arial" pitchFamily="34" charset="0"/>
                            </a:rPr>
                            <m:t>𝑖</m:t>
                          </m:r>
                        </m:e>
                      </m:nary>
                      <m:r>
                        <a:rPr lang="en-US" b="0" i="1" smtClean="0">
                          <a:solidFill>
                            <a:srgbClr val="FF0000"/>
                          </a:solidFill>
                          <a:latin typeface="Cambria Math" panose="02040503050406030204" pitchFamily="18" charset="0"/>
                          <a:cs typeface="Arial" pitchFamily="34" charset="0"/>
                        </a:rPr>
                        <m:t>)</m:t>
                      </m:r>
                      <m:r>
                        <a:rPr lang="en-US" b="0" i="1" baseline="30000" smtClean="0">
                          <a:solidFill>
                            <a:srgbClr val="FF0000"/>
                          </a:solidFill>
                          <a:latin typeface="Cambria Math" panose="02040503050406030204" pitchFamily="18" charset="0"/>
                          <a:cs typeface="Arial" pitchFamily="34" charset="0"/>
                        </a:rPr>
                        <m:t>2</m:t>
                      </m:r>
                    </m:oMath>
                  </m:oMathPara>
                </a14:m>
                <a:endParaRPr lang="en-US" baseline="30000" dirty="0">
                  <a:solidFill>
                    <a:srgbClr val="FF0000"/>
                  </a:solidFill>
                  <a:latin typeface="Arial" pitchFamily="34" charset="0"/>
                  <a:cs typeface="Arial" pitchFamily="34" charset="0"/>
                </a:endParaRPr>
              </a:p>
            </p:txBody>
          </p:sp>
        </mc:Choice>
        <mc:Fallback xmlns="">
          <p:sp>
            <p:nvSpPr>
              <p:cNvPr id="15" name="TextBox 14">
                <a:extLst>
                  <a:ext uri="{FF2B5EF4-FFF2-40B4-BE49-F238E27FC236}">
                    <a16:creationId xmlns:a16="http://schemas.microsoft.com/office/drawing/2014/main" id="{DBEE69F7-F682-0D6B-9679-A664BBB93AE7}"/>
                  </a:ext>
                </a:extLst>
              </p:cNvPr>
              <p:cNvSpPr txBox="1">
                <a:spLocks noRot="1" noChangeAspect="1" noMove="1" noResize="1" noEditPoints="1" noAdjustHandles="1" noChangeArrowheads="1" noChangeShapeType="1" noTextEdit="1"/>
              </p:cNvSpPr>
              <p:nvPr/>
            </p:nvSpPr>
            <p:spPr>
              <a:xfrm>
                <a:off x="5303765" y="6213398"/>
                <a:ext cx="1770420" cy="670696"/>
              </a:xfrm>
              <a:prstGeom prst="rect">
                <a:avLst/>
              </a:prstGeom>
              <a:blipFill>
                <a:blip r:embed="rId3"/>
                <a:stretch>
                  <a:fillRect l="-21429" t="-149057" b="-203774"/>
                </a:stretch>
              </a:blipFill>
            </p:spPr>
            <p:txBody>
              <a:bodyPr/>
              <a:lstStyle/>
              <a:p>
                <a:r>
                  <a:rPr lang="en-US">
                    <a:noFill/>
                  </a:rPr>
                  <a:t> </a:t>
                </a:r>
              </a:p>
            </p:txBody>
          </p:sp>
        </mc:Fallback>
      </mc:AlternateContent>
    </p:spTree>
    <p:extLst>
      <p:ext uri="{BB962C8B-B14F-4D97-AF65-F5344CB8AC3E}">
        <p14:creationId xmlns:p14="http://schemas.microsoft.com/office/powerpoint/2010/main" val="2057187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63E4-2D4D-AE63-1903-4673C8918B75}"/>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4F556ED1-C887-4B7A-C5E8-5DD734651635}"/>
              </a:ext>
            </a:extLst>
          </p:cNvPr>
          <p:cNvSpPr>
            <a:spLocks noGrp="1"/>
          </p:cNvSpPr>
          <p:nvPr>
            <p:ph idx="1"/>
          </p:nvPr>
        </p:nvSpPr>
        <p:spPr/>
        <p:txBody>
          <a:bodyPr/>
          <a:lstStyle/>
          <a:p>
            <a:r>
              <a:rPr lang="en-US" dirty="0"/>
              <a:t>Start with a constant prediction:</a:t>
            </a:r>
          </a:p>
          <a:p>
            <a:endParaRPr lang="en-US" dirty="0"/>
          </a:p>
          <a:p>
            <a:r>
              <a:rPr lang="en-US" dirty="0"/>
              <a:t>Compute </a:t>
            </a:r>
            <a:r>
              <a:rPr lang="en-US" i="1" dirty="0">
                <a:solidFill>
                  <a:srgbClr val="0000FF"/>
                </a:solidFill>
              </a:rPr>
              <a:t>residuals = observed – predicted</a:t>
            </a:r>
          </a:p>
          <a:p>
            <a:endParaRPr lang="en-US" dirty="0"/>
          </a:p>
          <a:p>
            <a:r>
              <a:rPr lang="en-US" dirty="0"/>
              <a:t>Build next tree by putting</a:t>
            </a:r>
          </a:p>
          <a:p>
            <a:pPr marL="118872" indent="0">
              <a:buNone/>
            </a:pPr>
            <a:r>
              <a:rPr lang="en-US" dirty="0"/>
              <a:t>    All residuals into a leaf</a:t>
            </a:r>
          </a:p>
          <a:p>
            <a:pPr marL="118872" indent="0">
              <a:buNone/>
            </a:pPr>
            <a:endParaRPr lang="en-US" dirty="0"/>
          </a:p>
          <a:p>
            <a:pPr marL="118872" indent="0">
              <a:buNone/>
            </a:pPr>
            <a:endParaRPr lang="en-US" dirty="0"/>
          </a:p>
          <a:p>
            <a:r>
              <a:rPr lang="en-US" dirty="0"/>
              <a:t>Compute similarity score</a:t>
            </a:r>
          </a:p>
          <a:p>
            <a:pPr marL="2048256" lvl="8" indent="0">
              <a:buNone/>
            </a:pPr>
            <a:endParaRPr lang="en-US" i="1" dirty="0">
              <a:solidFill>
                <a:srgbClr val="0000FF"/>
              </a:solidFill>
            </a:endParaRPr>
          </a:p>
        </p:txBody>
      </p:sp>
      <p:sp>
        <p:nvSpPr>
          <p:cNvPr id="4" name="Date Placeholder 3">
            <a:extLst>
              <a:ext uri="{FF2B5EF4-FFF2-40B4-BE49-F238E27FC236}">
                <a16:creationId xmlns:a16="http://schemas.microsoft.com/office/drawing/2014/main" id="{084ED83D-F9C5-934B-CF6B-233B3AEBC20A}"/>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4B4595C4-B4A0-0E4E-C66F-4BCFFFCB629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A31BF49-AD8A-254E-0C16-2DAC886AD6CF}"/>
              </a:ext>
            </a:extLst>
          </p:cNvPr>
          <p:cNvSpPr>
            <a:spLocks noGrp="1"/>
          </p:cNvSpPr>
          <p:nvPr>
            <p:ph type="sldNum" sz="quarter" idx="12"/>
          </p:nvPr>
        </p:nvSpPr>
        <p:spPr/>
        <p:txBody>
          <a:bodyPr/>
          <a:lstStyle/>
          <a:p>
            <a:fld id="{19B12225-5612-419B-A8D5-4B8EEE4C217E}" type="slidenum">
              <a:rPr lang="en-US" smtClean="0"/>
              <a:pPr/>
              <a:t>22</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6E77C66-563C-07A1-3052-8E5B2F24840F}"/>
                  </a:ext>
                </a:extLst>
              </p:cNvPr>
              <p:cNvSpPr txBox="1"/>
              <p:nvPr/>
            </p:nvSpPr>
            <p:spPr>
              <a:xfrm>
                <a:off x="6500494" y="1482131"/>
                <a:ext cx="1497994" cy="360804"/>
              </a:xfrm>
              <a:prstGeom prst="rect">
                <a:avLst/>
              </a:prstGeom>
              <a:noFill/>
            </p:spPr>
            <p:txBody>
              <a:bodyPr wrap="square" lIns="0" tIns="0" rIns="0" bIns="0" rtlCol="0">
                <a:spAutoFit/>
              </a:bodyPr>
              <a:lstStyle/>
              <a:p>
                <a14:m>
                  <m:oMath xmlns:m="http://schemas.openxmlformats.org/officeDocument/2006/math">
                    <m:acc>
                      <m:accPr>
                        <m:chr m:val="̂"/>
                        <m:ctrlPr>
                          <a:rPr lang="en-US" sz="2400" b="0" i="1" smtClean="0">
                            <a:latin typeface="Cambria Math" panose="02040503050406030204" pitchFamily="18" charset="0"/>
                            <a:cs typeface="Arial" pitchFamily="34" charset="0"/>
                          </a:rPr>
                        </m:ctrlPr>
                      </m:accPr>
                      <m:e>
                        <m:r>
                          <a:rPr lang="en-US" sz="2400" b="0" i="1" smtClean="0">
                            <a:latin typeface="Cambria Math" panose="02040503050406030204" pitchFamily="18" charset="0"/>
                            <a:cs typeface="Arial" pitchFamily="34" charset="0"/>
                          </a:rPr>
                          <m:t>𝑦</m:t>
                        </m:r>
                      </m:e>
                    </m:acc>
                    <m:r>
                      <a:rPr lang="en-US" sz="2400" b="0" i="1" baseline="-25000" smtClean="0">
                        <a:latin typeface="Cambria Math" panose="02040503050406030204" pitchFamily="18" charset="0"/>
                        <a:cs typeface="Arial" pitchFamily="34" charset="0"/>
                      </a:rPr>
                      <m:t>𝑖</m:t>
                    </m:r>
                  </m:oMath>
                </a14:m>
                <a:r>
                  <a:rPr lang="en-US" sz="2400" baseline="30000" dirty="0">
                    <a:latin typeface="Arial" pitchFamily="34" charset="0"/>
                    <a:cs typeface="Arial" pitchFamily="34" charset="0"/>
                  </a:rPr>
                  <a:t>(0) </a:t>
                </a:r>
                <a:r>
                  <a:rPr lang="en-US" sz="2200" dirty="0">
                    <a:latin typeface="Arial" pitchFamily="34" charset="0"/>
                    <a:cs typeface="Arial" pitchFamily="34" charset="0"/>
                  </a:rPr>
                  <a:t>= 0.5</a:t>
                </a:r>
                <a:endParaRPr lang="en-US" sz="2200" baseline="30000" dirty="0">
                  <a:latin typeface="Arial" pitchFamily="34" charset="0"/>
                  <a:cs typeface="Arial" pitchFamily="34" charset="0"/>
                </a:endParaRPr>
              </a:p>
            </p:txBody>
          </p:sp>
        </mc:Choice>
        <mc:Fallback xmlns="">
          <p:sp>
            <p:nvSpPr>
              <p:cNvPr id="7" name="TextBox 6">
                <a:extLst>
                  <a:ext uri="{FF2B5EF4-FFF2-40B4-BE49-F238E27FC236}">
                    <a16:creationId xmlns:a16="http://schemas.microsoft.com/office/drawing/2014/main" id="{36E77C66-563C-07A1-3052-8E5B2F24840F}"/>
                  </a:ext>
                </a:extLst>
              </p:cNvPr>
              <p:cNvSpPr txBox="1">
                <a:spLocks noRot="1" noChangeAspect="1" noMove="1" noResize="1" noEditPoints="1" noAdjustHandles="1" noChangeArrowheads="1" noChangeShapeType="1" noTextEdit="1"/>
              </p:cNvSpPr>
              <p:nvPr/>
            </p:nvSpPr>
            <p:spPr>
              <a:xfrm>
                <a:off x="6500494" y="1482131"/>
                <a:ext cx="1497994" cy="360804"/>
              </a:xfrm>
              <a:prstGeom prst="rect">
                <a:avLst/>
              </a:prstGeom>
              <a:blipFill>
                <a:blip r:embed="rId2"/>
                <a:stretch>
                  <a:fillRect l="-6723" t="-17241" b="-44828"/>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39378B4F-A25A-BAE5-5683-8222B0F8DCA1}"/>
              </a:ext>
            </a:extLst>
          </p:cNvPr>
          <p:cNvGrpSpPr/>
          <p:nvPr/>
        </p:nvGrpSpPr>
        <p:grpSpPr>
          <a:xfrm>
            <a:off x="5766439" y="3225950"/>
            <a:ext cx="3377561" cy="2824371"/>
            <a:chOff x="985004" y="2542232"/>
            <a:chExt cx="4360276" cy="3808325"/>
          </a:xfrm>
        </p:grpSpPr>
        <p:pic>
          <p:nvPicPr>
            <p:cNvPr id="8" name="Picture 7">
              <a:extLst>
                <a:ext uri="{FF2B5EF4-FFF2-40B4-BE49-F238E27FC236}">
                  <a16:creationId xmlns:a16="http://schemas.microsoft.com/office/drawing/2014/main" id="{59641827-29D2-F01D-ED68-11BB4149BB4E}"/>
                </a:ext>
              </a:extLst>
            </p:cNvPr>
            <p:cNvPicPr>
              <a:picLocks noChangeAspect="1"/>
            </p:cNvPicPr>
            <p:nvPr/>
          </p:nvPicPr>
          <p:blipFill>
            <a:blip r:embed="rId3"/>
            <a:stretch>
              <a:fillRect/>
            </a:stretch>
          </p:blipFill>
          <p:spPr>
            <a:xfrm>
              <a:off x="985004" y="2542232"/>
              <a:ext cx="2477210" cy="3808325"/>
            </a:xfrm>
            <a:prstGeom prst="rect">
              <a:avLst/>
            </a:prstGeom>
          </p:spPr>
        </p:pic>
        <p:cxnSp>
          <p:nvCxnSpPr>
            <p:cNvPr id="10" name="Straight Connector 9">
              <a:extLst>
                <a:ext uri="{FF2B5EF4-FFF2-40B4-BE49-F238E27FC236}">
                  <a16:creationId xmlns:a16="http://schemas.microsoft.com/office/drawing/2014/main" id="{6F4803C7-8541-F97C-3903-57414183DB1F}"/>
                </a:ext>
              </a:extLst>
            </p:cNvPr>
            <p:cNvCxnSpPr>
              <a:cxnSpLocks/>
            </p:cNvCxnSpPr>
            <p:nvPr/>
          </p:nvCxnSpPr>
          <p:spPr>
            <a:xfrm flipV="1">
              <a:off x="3366198" y="3439048"/>
              <a:ext cx="401934" cy="148213"/>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CFD1C8-4759-AF0C-DA13-5A6899342DA9}"/>
                </a:ext>
              </a:extLst>
            </p:cNvPr>
            <p:cNvCxnSpPr>
              <a:cxnSpLocks/>
            </p:cNvCxnSpPr>
            <p:nvPr/>
          </p:nvCxnSpPr>
          <p:spPr>
            <a:xfrm flipV="1">
              <a:off x="3424254" y="3727938"/>
              <a:ext cx="233346" cy="442128"/>
            </a:xfrm>
            <a:prstGeom prst="line">
              <a:avLst/>
            </a:prstGeom>
            <a:ln w="28575"/>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4BA385EC-438F-CD12-AE79-A16B1095D255}"/>
                </a:ext>
              </a:extLst>
            </p:cNvPr>
            <p:cNvSpPr txBox="1"/>
            <p:nvPr/>
          </p:nvSpPr>
          <p:spPr>
            <a:xfrm>
              <a:off x="3768132" y="3225521"/>
              <a:ext cx="1577148" cy="498000"/>
            </a:xfrm>
            <a:prstGeom prst="rect">
              <a:avLst/>
            </a:prstGeom>
            <a:noFill/>
          </p:spPr>
          <p:txBody>
            <a:bodyPr wrap="square" rtlCol="0">
              <a:spAutoFit/>
            </a:bodyPr>
            <a:lstStyle/>
            <a:p>
              <a:r>
                <a:rPr lang="en-US" dirty="0">
                  <a:latin typeface="Arial" pitchFamily="34" charset="0"/>
                  <a:cs typeface="Arial" pitchFamily="34" charset="0"/>
                </a:rPr>
                <a:t>residuals</a:t>
              </a:r>
            </a:p>
          </p:txBody>
        </p:sp>
      </p:grpSp>
      <p:pic>
        <p:nvPicPr>
          <p:cNvPr id="16" name="Picture 15">
            <a:extLst>
              <a:ext uri="{FF2B5EF4-FFF2-40B4-BE49-F238E27FC236}">
                <a16:creationId xmlns:a16="http://schemas.microsoft.com/office/drawing/2014/main" id="{38001DCB-98D0-31C7-522A-FD61C9A72FB1}"/>
              </a:ext>
            </a:extLst>
          </p:cNvPr>
          <p:cNvPicPr>
            <a:picLocks noChangeAspect="1"/>
          </p:cNvPicPr>
          <p:nvPr/>
        </p:nvPicPr>
        <p:blipFill>
          <a:blip r:embed="rId4"/>
          <a:stretch>
            <a:fillRect/>
          </a:stretch>
        </p:blipFill>
        <p:spPr>
          <a:xfrm>
            <a:off x="1458662" y="4359179"/>
            <a:ext cx="2402742" cy="557912"/>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BBF8B8E-D928-F952-2E18-8FF2D592E16A}"/>
                  </a:ext>
                </a:extLst>
              </p:cNvPr>
              <p:cNvSpPr txBox="1"/>
              <p:nvPr/>
            </p:nvSpPr>
            <p:spPr>
              <a:xfrm>
                <a:off x="811723" y="5737507"/>
                <a:ext cx="4803366" cy="592085"/>
              </a:xfrm>
              <a:prstGeom prst="rect">
                <a:avLst/>
              </a:prstGeom>
              <a:noFill/>
            </p:spPr>
            <p:txBody>
              <a:bodyPr wrap="none" lIns="0" tIns="0" rIns="0" bIns="0" rtlCol="0">
                <a:spAutoFit/>
              </a:bodyPr>
              <a:lstStyle/>
              <a:p>
                <a:r>
                  <a:rPr lang="en-US" sz="2400" dirty="0">
                    <a:cs typeface="Arial" pitchFamily="34" charset="0"/>
                  </a:rPr>
                  <a:t>similarity score = </a:t>
                </a:r>
                <a14:m>
                  <m:oMath xmlns:m="http://schemas.openxmlformats.org/officeDocument/2006/math">
                    <m:f>
                      <m:fPr>
                        <m:ctrlPr>
                          <a:rPr lang="en-US" sz="2400" i="1" smtClean="0">
                            <a:latin typeface="Cambria Math" panose="02040503050406030204" pitchFamily="18" charset="0"/>
                            <a:cs typeface="Arial" pitchFamily="34" charset="0"/>
                          </a:rPr>
                        </m:ctrlPr>
                      </m:fPr>
                      <m:num>
                        <m:nary>
                          <m:naryPr>
                            <m:chr m:val="∑"/>
                            <m:subHide m:val="on"/>
                            <m:supHide m:val="on"/>
                            <m:ctrlPr>
                              <a:rPr lang="en-US" sz="2400" i="1" smtClean="0">
                                <a:latin typeface="Cambria Math" panose="02040503050406030204" pitchFamily="18" charset="0"/>
                                <a:cs typeface="Arial" pitchFamily="34" charset="0"/>
                              </a:rPr>
                            </m:ctrlPr>
                          </m:naryPr>
                          <m:sub/>
                          <m:sup/>
                          <m:e>
                            <m:d>
                              <m:dPr>
                                <m:ctrlPr>
                                  <a:rPr lang="en-US" sz="2400" b="0" i="1" smtClean="0">
                                    <a:latin typeface="Cambria Math" panose="02040503050406030204" pitchFamily="18" charset="0"/>
                                    <a:cs typeface="Arial" pitchFamily="34" charset="0"/>
                                  </a:rPr>
                                </m:ctrlPr>
                              </m:dPr>
                              <m:e>
                                <m:r>
                                  <a:rPr lang="en-US" sz="2400" b="0" i="1" smtClean="0">
                                    <a:latin typeface="Cambria Math" panose="02040503050406030204" pitchFamily="18" charset="0"/>
                                    <a:cs typeface="Arial" pitchFamily="34" charset="0"/>
                                  </a:rPr>
                                  <m:t>𝑟𝑒𝑠𝑖𝑑𝑢𝑎𝑙𝑠</m:t>
                                </m:r>
                              </m:e>
                            </m:d>
                            <m:r>
                              <a:rPr lang="en-US" sz="2400" b="0" i="1" baseline="30000" smtClean="0">
                                <a:latin typeface="Cambria Math" panose="02040503050406030204" pitchFamily="18" charset="0"/>
                                <a:cs typeface="Arial" pitchFamily="34" charset="0"/>
                              </a:rPr>
                              <m:t>2</m:t>
                            </m:r>
                          </m:e>
                        </m:nary>
                      </m:num>
                      <m:den>
                        <m:r>
                          <a:rPr lang="en-US" sz="2400" b="0" i="1" smtClean="0">
                            <a:latin typeface="Cambria Math" panose="02040503050406030204" pitchFamily="18" charset="0"/>
                            <a:cs typeface="Arial" pitchFamily="34" charset="0"/>
                          </a:rPr>
                          <m:t>𝑛𝑢𝑚𝑏𝑒𝑟</m:t>
                        </m:r>
                        <m:r>
                          <a:rPr lang="en-US" sz="2400" b="0" i="1" smtClean="0">
                            <a:latin typeface="Cambria Math" panose="02040503050406030204" pitchFamily="18" charset="0"/>
                            <a:cs typeface="Arial" pitchFamily="34" charset="0"/>
                          </a:rPr>
                          <m:t> </m:t>
                        </m:r>
                        <m:r>
                          <a:rPr lang="en-US" sz="2400" b="0" i="1" smtClean="0">
                            <a:latin typeface="Cambria Math" panose="02040503050406030204" pitchFamily="18" charset="0"/>
                            <a:cs typeface="Arial" pitchFamily="34" charset="0"/>
                          </a:rPr>
                          <m:t>𝑜𝑓</m:t>
                        </m:r>
                        <m:r>
                          <a:rPr lang="en-US" sz="2400" b="0" i="1" smtClean="0">
                            <a:latin typeface="Cambria Math" panose="02040503050406030204" pitchFamily="18" charset="0"/>
                            <a:cs typeface="Arial" pitchFamily="34" charset="0"/>
                          </a:rPr>
                          <m:t> </m:t>
                        </m:r>
                        <m:r>
                          <a:rPr lang="en-US" sz="2400" b="0" i="1" smtClean="0">
                            <a:latin typeface="Cambria Math" panose="02040503050406030204" pitchFamily="18" charset="0"/>
                            <a:cs typeface="Arial" pitchFamily="34" charset="0"/>
                          </a:rPr>
                          <m:t>𝑟𝑒𝑠𝑖𝑑𝑢𝑎𝑙𝑠</m:t>
                        </m:r>
                        <m:r>
                          <a:rPr lang="en-US" sz="2400" b="0" i="1" smtClean="0">
                            <a:latin typeface="Cambria Math" panose="02040503050406030204" pitchFamily="18" charset="0"/>
                            <a:cs typeface="Arial" pitchFamily="34" charset="0"/>
                          </a:rPr>
                          <m:t>+</m:t>
                        </m:r>
                        <m:r>
                          <a:rPr lang="en-US" sz="2400" b="0" i="1" smtClean="0">
                            <a:latin typeface="Cambria Math" panose="02040503050406030204" pitchFamily="18" charset="0"/>
                            <a:ea typeface="Cambria Math" panose="02040503050406030204" pitchFamily="18" charset="0"/>
                            <a:cs typeface="Arial" pitchFamily="34" charset="0"/>
                          </a:rPr>
                          <m:t>𝜆</m:t>
                        </m:r>
                      </m:den>
                    </m:f>
                  </m:oMath>
                </a14:m>
                <a:endParaRPr lang="en-US" sz="2400" dirty="0">
                  <a:latin typeface="Arial" pitchFamily="34" charset="0"/>
                  <a:cs typeface="Arial" pitchFamily="34" charset="0"/>
                </a:endParaRPr>
              </a:p>
            </p:txBody>
          </p:sp>
        </mc:Choice>
        <mc:Fallback xmlns="">
          <p:sp>
            <p:nvSpPr>
              <p:cNvPr id="19" name="TextBox 18">
                <a:extLst>
                  <a:ext uri="{FF2B5EF4-FFF2-40B4-BE49-F238E27FC236}">
                    <a16:creationId xmlns:a16="http://schemas.microsoft.com/office/drawing/2014/main" id="{1BBF8B8E-D928-F952-2E18-8FF2D592E16A}"/>
                  </a:ext>
                </a:extLst>
              </p:cNvPr>
              <p:cNvSpPr txBox="1">
                <a:spLocks noRot="1" noChangeAspect="1" noMove="1" noResize="1" noEditPoints="1" noAdjustHandles="1" noChangeArrowheads="1" noChangeShapeType="1" noTextEdit="1"/>
              </p:cNvSpPr>
              <p:nvPr/>
            </p:nvSpPr>
            <p:spPr>
              <a:xfrm>
                <a:off x="811723" y="5737507"/>
                <a:ext cx="4803366" cy="592085"/>
              </a:xfrm>
              <a:prstGeom prst="rect">
                <a:avLst/>
              </a:prstGeom>
              <a:blipFill>
                <a:blip r:embed="rId5"/>
                <a:stretch>
                  <a:fillRect l="-3947" t="-77083" r="-526" b="-604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4405A52-31A0-121E-F345-BD768491EF95}"/>
                  </a:ext>
                </a:extLst>
              </p:cNvPr>
              <p:cNvSpPr txBox="1"/>
              <p:nvPr/>
            </p:nvSpPr>
            <p:spPr>
              <a:xfrm>
                <a:off x="1115368" y="6360607"/>
                <a:ext cx="4193872" cy="369332"/>
              </a:xfrm>
              <a:prstGeom prst="rect">
                <a:avLst/>
              </a:prstGeom>
              <a:noFill/>
            </p:spPr>
            <p:txBody>
              <a:bodyPr wrap="square" rtlCol="0">
                <a:spAutoFit/>
              </a:bodyPr>
              <a:lstStyle/>
              <a:p>
                <a14:m>
                  <m:oMath xmlns:m="http://schemas.openxmlformats.org/officeDocument/2006/math">
                    <m:r>
                      <a:rPr lang="en-US" sz="1800" b="0" i="1" smtClean="0">
                        <a:solidFill>
                          <a:srgbClr val="FF0000"/>
                        </a:solidFill>
                        <a:latin typeface="Cambria Math" panose="02040503050406030204" pitchFamily="18" charset="0"/>
                        <a:ea typeface="Cambria Math" panose="02040503050406030204" pitchFamily="18" charset="0"/>
                        <a:cs typeface="Arial" pitchFamily="34" charset="0"/>
                      </a:rPr>
                      <m:t>𝜆</m:t>
                    </m:r>
                    <m:r>
                      <a:rPr lang="en-US" sz="1800" b="0" i="1" smtClean="0">
                        <a:solidFill>
                          <a:srgbClr val="FF0000"/>
                        </a:solidFill>
                        <a:latin typeface="Cambria Math" panose="02040503050406030204" pitchFamily="18" charset="0"/>
                        <a:ea typeface="Cambria Math" panose="02040503050406030204" pitchFamily="18" charset="0"/>
                        <a:cs typeface="Arial" pitchFamily="34" charset="0"/>
                      </a:rPr>
                      <m:t> </m:t>
                    </m:r>
                  </m:oMath>
                </a14:m>
                <a:r>
                  <a:rPr lang="en-US" dirty="0">
                    <a:solidFill>
                      <a:srgbClr val="FF0000"/>
                    </a:solidFill>
                    <a:latin typeface="Arial" pitchFamily="34" charset="0"/>
                    <a:cs typeface="Arial" pitchFamily="34" charset="0"/>
                  </a:rPr>
                  <a:t>is a regularization hyperparameter</a:t>
                </a:r>
              </a:p>
            </p:txBody>
          </p:sp>
        </mc:Choice>
        <mc:Fallback xmlns="">
          <p:sp>
            <p:nvSpPr>
              <p:cNvPr id="20" name="TextBox 19">
                <a:extLst>
                  <a:ext uri="{FF2B5EF4-FFF2-40B4-BE49-F238E27FC236}">
                    <a16:creationId xmlns:a16="http://schemas.microsoft.com/office/drawing/2014/main" id="{44405A52-31A0-121E-F345-BD768491EF95}"/>
                  </a:ext>
                </a:extLst>
              </p:cNvPr>
              <p:cNvSpPr txBox="1">
                <a:spLocks noRot="1" noChangeAspect="1" noMove="1" noResize="1" noEditPoints="1" noAdjustHandles="1" noChangeArrowheads="1" noChangeShapeType="1" noTextEdit="1"/>
              </p:cNvSpPr>
              <p:nvPr/>
            </p:nvSpPr>
            <p:spPr>
              <a:xfrm>
                <a:off x="1115368" y="6360607"/>
                <a:ext cx="4193872" cy="369332"/>
              </a:xfrm>
              <a:prstGeom prst="rect">
                <a:avLst/>
              </a:prstGeom>
              <a:blipFill>
                <a:blip r:embed="rId6"/>
                <a:stretch>
                  <a:fillRect t="-6667" b="-26667"/>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CB7EA621-4E43-6B3B-A68C-76D1C682647D}"/>
              </a:ext>
            </a:extLst>
          </p:cNvPr>
          <p:cNvPicPr>
            <a:picLocks noChangeAspect="1"/>
          </p:cNvPicPr>
          <p:nvPr/>
        </p:nvPicPr>
        <p:blipFill>
          <a:blip r:embed="rId7"/>
          <a:stretch>
            <a:fillRect/>
          </a:stretch>
        </p:blipFill>
        <p:spPr>
          <a:xfrm>
            <a:off x="3694153" y="1898035"/>
            <a:ext cx="1615086" cy="465890"/>
          </a:xfrm>
          <a:prstGeom prst="rect">
            <a:avLst/>
          </a:prstGeom>
        </p:spPr>
      </p:pic>
    </p:spTree>
    <p:extLst>
      <p:ext uri="{BB962C8B-B14F-4D97-AF65-F5344CB8AC3E}">
        <p14:creationId xmlns:p14="http://schemas.microsoft.com/office/powerpoint/2010/main" val="337671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63E4-2D4D-AE63-1903-4673C8918B75}"/>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4F556ED1-C887-4B7A-C5E8-5DD734651635}"/>
              </a:ext>
            </a:extLst>
          </p:cNvPr>
          <p:cNvSpPr>
            <a:spLocks noGrp="1"/>
          </p:cNvSpPr>
          <p:nvPr>
            <p:ph idx="1"/>
          </p:nvPr>
        </p:nvSpPr>
        <p:spPr/>
        <p:txBody>
          <a:bodyPr/>
          <a:lstStyle/>
          <a:p>
            <a:r>
              <a:rPr lang="en-US" dirty="0"/>
              <a:t>Let’s set</a:t>
            </a:r>
          </a:p>
          <a:p>
            <a:pPr marL="118872" indent="0">
              <a:buNone/>
            </a:pPr>
            <a:endParaRPr lang="en-US" dirty="0"/>
          </a:p>
          <a:p>
            <a:endParaRPr lang="en-US" dirty="0"/>
          </a:p>
        </p:txBody>
      </p:sp>
      <p:sp>
        <p:nvSpPr>
          <p:cNvPr id="4" name="Date Placeholder 3">
            <a:extLst>
              <a:ext uri="{FF2B5EF4-FFF2-40B4-BE49-F238E27FC236}">
                <a16:creationId xmlns:a16="http://schemas.microsoft.com/office/drawing/2014/main" id="{084ED83D-F9C5-934B-CF6B-233B3AEBC20A}"/>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4B4595C4-B4A0-0E4E-C66F-4BCFFFCB629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A31BF49-AD8A-254E-0C16-2DAC886AD6CF}"/>
              </a:ext>
            </a:extLst>
          </p:cNvPr>
          <p:cNvSpPr>
            <a:spLocks noGrp="1"/>
          </p:cNvSpPr>
          <p:nvPr>
            <p:ph type="sldNum" sz="quarter" idx="12"/>
          </p:nvPr>
        </p:nvSpPr>
        <p:spPr/>
        <p:txBody>
          <a:bodyPr/>
          <a:lstStyle/>
          <a:p>
            <a:fld id="{19B12225-5612-419B-A8D5-4B8EEE4C217E}" type="slidenum">
              <a:rPr lang="en-US" smtClean="0"/>
              <a:pPr/>
              <a:t>23</a:t>
            </a:fld>
            <a:endParaRPr lang="en-US"/>
          </a:p>
        </p:txBody>
      </p:sp>
      <p:pic>
        <p:nvPicPr>
          <p:cNvPr id="7" name="Picture 6">
            <a:extLst>
              <a:ext uri="{FF2B5EF4-FFF2-40B4-BE49-F238E27FC236}">
                <a16:creationId xmlns:a16="http://schemas.microsoft.com/office/drawing/2014/main" id="{5370EE1A-5371-652D-A730-9A28FDD1DE28}"/>
              </a:ext>
            </a:extLst>
          </p:cNvPr>
          <p:cNvPicPr>
            <a:picLocks noChangeAspect="1"/>
          </p:cNvPicPr>
          <p:nvPr/>
        </p:nvPicPr>
        <p:blipFill>
          <a:blip r:embed="rId2"/>
          <a:stretch>
            <a:fillRect/>
          </a:stretch>
        </p:blipFill>
        <p:spPr>
          <a:xfrm>
            <a:off x="5931284" y="1426083"/>
            <a:ext cx="2402742" cy="55791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17CB010-DCEF-349B-94C7-A5287F7C0ABA}"/>
                  </a:ext>
                </a:extLst>
              </p:cNvPr>
              <p:cNvSpPr txBox="1"/>
              <p:nvPr/>
            </p:nvSpPr>
            <p:spPr>
              <a:xfrm>
                <a:off x="4108965" y="1994324"/>
                <a:ext cx="5047792" cy="550728"/>
              </a:xfrm>
              <a:prstGeom prst="rect">
                <a:avLst/>
              </a:prstGeom>
              <a:noFill/>
            </p:spPr>
            <p:txBody>
              <a:bodyPr wrap="none" lIns="0" tIns="0" rIns="0" bIns="0" rtlCol="0">
                <a:spAutoFit/>
              </a:bodyPr>
              <a:lstStyle/>
              <a:p>
                <a:r>
                  <a:rPr lang="en-US" sz="2400" dirty="0">
                    <a:cs typeface="Arial" pitchFamily="34" charset="0"/>
                  </a:rPr>
                  <a:t>similarity score = </a:t>
                </a:r>
                <a14:m>
                  <m:oMath xmlns:m="http://schemas.openxmlformats.org/officeDocument/2006/math">
                    <m:f>
                      <m:fPr>
                        <m:ctrlPr>
                          <a:rPr lang="en-US" sz="2400" i="1" smtClean="0">
                            <a:latin typeface="Cambria Math" panose="02040503050406030204" pitchFamily="18" charset="0"/>
                            <a:cs typeface="Arial" pitchFamily="34" charset="0"/>
                          </a:rPr>
                        </m:ctrlPr>
                      </m:fPr>
                      <m:num>
                        <m:d>
                          <m:dPr>
                            <m:ctrlPr>
                              <a:rPr lang="en-US" sz="2400" b="0" i="1" smtClean="0">
                                <a:latin typeface="Cambria Math" panose="02040503050406030204" pitchFamily="18" charset="0"/>
                                <a:cs typeface="Arial" pitchFamily="34" charset="0"/>
                              </a:rPr>
                            </m:ctrlPr>
                          </m:dPr>
                          <m:e>
                            <m:r>
                              <a:rPr lang="en-US" sz="2400" b="0" i="1" smtClean="0">
                                <a:latin typeface="Cambria Math" panose="02040503050406030204" pitchFamily="18" charset="0"/>
                                <a:cs typeface="Arial" pitchFamily="34" charset="0"/>
                              </a:rPr>
                              <m:t>−10.5+6.5+7.5−7.5</m:t>
                            </m:r>
                          </m:e>
                        </m:d>
                        <m:r>
                          <a:rPr lang="en-US" sz="2400" b="0" i="1" baseline="30000" smtClean="0">
                            <a:latin typeface="Cambria Math" panose="02040503050406030204" pitchFamily="18" charset="0"/>
                            <a:cs typeface="Arial" pitchFamily="34" charset="0"/>
                          </a:rPr>
                          <m:t>2</m:t>
                        </m:r>
                      </m:num>
                      <m:den>
                        <m:r>
                          <a:rPr lang="en-US" sz="2400" b="0" i="1" smtClean="0">
                            <a:latin typeface="Cambria Math" panose="02040503050406030204" pitchFamily="18" charset="0"/>
                            <a:cs typeface="Arial" pitchFamily="34" charset="0"/>
                          </a:rPr>
                          <m:t>4+</m:t>
                        </m:r>
                        <m:r>
                          <a:rPr lang="en-US" sz="2400" b="0" i="1" smtClean="0">
                            <a:latin typeface="Cambria Math" panose="02040503050406030204" pitchFamily="18" charset="0"/>
                            <a:ea typeface="Cambria Math" panose="02040503050406030204" pitchFamily="18" charset="0"/>
                            <a:cs typeface="Arial" pitchFamily="34" charset="0"/>
                          </a:rPr>
                          <m:t>0</m:t>
                        </m:r>
                      </m:den>
                    </m:f>
                    <m:r>
                      <a:rPr lang="en-US" sz="2400" b="0" i="1" smtClean="0">
                        <a:latin typeface="Cambria Math" panose="02040503050406030204" pitchFamily="18" charset="0"/>
                        <a:cs typeface="Arial" pitchFamily="34" charset="0"/>
                      </a:rPr>
                      <m:t>=4</m:t>
                    </m:r>
                  </m:oMath>
                </a14:m>
                <a:endParaRPr lang="en-US" sz="2400" dirty="0">
                  <a:latin typeface="Arial" pitchFamily="34" charset="0"/>
                  <a:cs typeface="Arial" pitchFamily="34" charset="0"/>
                </a:endParaRPr>
              </a:p>
            </p:txBody>
          </p:sp>
        </mc:Choice>
        <mc:Fallback xmlns="">
          <p:sp>
            <p:nvSpPr>
              <p:cNvPr id="8" name="TextBox 7">
                <a:extLst>
                  <a:ext uri="{FF2B5EF4-FFF2-40B4-BE49-F238E27FC236}">
                    <a16:creationId xmlns:a16="http://schemas.microsoft.com/office/drawing/2014/main" id="{217CB010-DCEF-349B-94C7-A5287F7C0ABA}"/>
                  </a:ext>
                </a:extLst>
              </p:cNvPr>
              <p:cNvSpPr txBox="1">
                <a:spLocks noRot="1" noChangeAspect="1" noMove="1" noResize="1" noEditPoints="1" noAdjustHandles="1" noChangeArrowheads="1" noChangeShapeType="1" noTextEdit="1"/>
              </p:cNvSpPr>
              <p:nvPr/>
            </p:nvSpPr>
            <p:spPr>
              <a:xfrm>
                <a:off x="4108965" y="1994324"/>
                <a:ext cx="5047792" cy="550728"/>
              </a:xfrm>
              <a:prstGeom prst="rect">
                <a:avLst/>
              </a:prstGeom>
              <a:blipFill>
                <a:blip r:embed="rId3"/>
                <a:stretch>
                  <a:fillRect l="-3769" r="-1256"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217A1C3-FE82-5294-70C8-AE25E6659E85}"/>
                  </a:ext>
                </a:extLst>
              </p:cNvPr>
              <p:cNvSpPr txBox="1"/>
              <p:nvPr/>
            </p:nvSpPr>
            <p:spPr>
              <a:xfrm>
                <a:off x="2190540" y="1415252"/>
                <a:ext cx="1326383"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𝜆</m:t>
                      </m:r>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=0</m:t>
                      </m:r>
                    </m:oMath>
                  </m:oMathPara>
                </a14:m>
                <a:endParaRPr lang="en-US" sz="2600" dirty="0"/>
              </a:p>
            </p:txBody>
          </p:sp>
        </mc:Choice>
        <mc:Fallback xmlns="">
          <p:sp>
            <p:nvSpPr>
              <p:cNvPr id="10" name="TextBox 9">
                <a:extLst>
                  <a:ext uri="{FF2B5EF4-FFF2-40B4-BE49-F238E27FC236}">
                    <a16:creationId xmlns:a16="http://schemas.microsoft.com/office/drawing/2014/main" id="{2217A1C3-FE82-5294-70C8-AE25E6659E85}"/>
                  </a:ext>
                </a:extLst>
              </p:cNvPr>
              <p:cNvSpPr txBox="1">
                <a:spLocks noRot="1" noChangeAspect="1" noMove="1" noResize="1" noEditPoints="1" noAdjustHandles="1" noChangeArrowheads="1" noChangeShapeType="1" noTextEdit="1"/>
              </p:cNvSpPr>
              <p:nvPr/>
            </p:nvSpPr>
            <p:spPr>
              <a:xfrm>
                <a:off x="2190540" y="1415252"/>
                <a:ext cx="1326383" cy="49244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77533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63E4-2D4D-AE63-1903-4673C8918B75}"/>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4F556ED1-C887-4B7A-C5E8-5DD734651635}"/>
              </a:ext>
            </a:extLst>
          </p:cNvPr>
          <p:cNvSpPr>
            <a:spLocks noGrp="1"/>
          </p:cNvSpPr>
          <p:nvPr>
            <p:ph idx="1"/>
          </p:nvPr>
        </p:nvSpPr>
        <p:spPr/>
        <p:txBody>
          <a:bodyPr/>
          <a:lstStyle/>
          <a:p>
            <a:r>
              <a:rPr lang="en-US" dirty="0"/>
              <a:t>Let’s set</a:t>
            </a:r>
          </a:p>
          <a:p>
            <a:pPr marL="118872" indent="0">
              <a:buNone/>
            </a:pPr>
            <a:endParaRPr lang="en-US" dirty="0"/>
          </a:p>
          <a:p>
            <a:endParaRPr lang="en-US" dirty="0"/>
          </a:p>
          <a:p>
            <a:r>
              <a:rPr lang="en-US" dirty="0"/>
              <a:t>Let’s grow the tree: </a:t>
            </a:r>
          </a:p>
        </p:txBody>
      </p:sp>
      <p:sp>
        <p:nvSpPr>
          <p:cNvPr id="4" name="Date Placeholder 3">
            <a:extLst>
              <a:ext uri="{FF2B5EF4-FFF2-40B4-BE49-F238E27FC236}">
                <a16:creationId xmlns:a16="http://schemas.microsoft.com/office/drawing/2014/main" id="{084ED83D-F9C5-934B-CF6B-233B3AEBC20A}"/>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4B4595C4-B4A0-0E4E-C66F-4BCFFFCB629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A31BF49-AD8A-254E-0C16-2DAC886AD6CF}"/>
              </a:ext>
            </a:extLst>
          </p:cNvPr>
          <p:cNvSpPr>
            <a:spLocks noGrp="1"/>
          </p:cNvSpPr>
          <p:nvPr>
            <p:ph type="sldNum" sz="quarter" idx="12"/>
          </p:nvPr>
        </p:nvSpPr>
        <p:spPr/>
        <p:txBody>
          <a:bodyPr/>
          <a:lstStyle/>
          <a:p>
            <a:fld id="{19B12225-5612-419B-A8D5-4B8EEE4C217E}" type="slidenum">
              <a:rPr lang="en-US" smtClean="0"/>
              <a:pPr/>
              <a:t>24</a:t>
            </a:fld>
            <a:endParaRPr lang="en-US"/>
          </a:p>
        </p:txBody>
      </p:sp>
      <p:pic>
        <p:nvPicPr>
          <p:cNvPr id="7" name="Picture 6">
            <a:extLst>
              <a:ext uri="{FF2B5EF4-FFF2-40B4-BE49-F238E27FC236}">
                <a16:creationId xmlns:a16="http://schemas.microsoft.com/office/drawing/2014/main" id="{5370EE1A-5371-652D-A730-9A28FDD1DE28}"/>
              </a:ext>
            </a:extLst>
          </p:cNvPr>
          <p:cNvPicPr>
            <a:picLocks noChangeAspect="1"/>
          </p:cNvPicPr>
          <p:nvPr/>
        </p:nvPicPr>
        <p:blipFill>
          <a:blip r:embed="rId2"/>
          <a:stretch>
            <a:fillRect/>
          </a:stretch>
        </p:blipFill>
        <p:spPr>
          <a:xfrm>
            <a:off x="5931284" y="1426083"/>
            <a:ext cx="2402742" cy="55791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17CB010-DCEF-349B-94C7-A5287F7C0ABA}"/>
                  </a:ext>
                </a:extLst>
              </p:cNvPr>
              <p:cNvSpPr txBox="1"/>
              <p:nvPr/>
            </p:nvSpPr>
            <p:spPr>
              <a:xfrm>
                <a:off x="4108965" y="1994324"/>
                <a:ext cx="5047792" cy="550728"/>
              </a:xfrm>
              <a:prstGeom prst="rect">
                <a:avLst/>
              </a:prstGeom>
              <a:noFill/>
            </p:spPr>
            <p:txBody>
              <a:bodyPr wrap="none" lIns="0" tIns="0" rIns="0" bIns="0" rtlCol="0">
                <a:spAutoFit/>
              </a:bodyPr>
              <a:lstStyle/>
              <a:p>
                <a:r>
                  <a:rPr lang="en-US" sz="2400" dirty="0">
                    <a:cs typeface="Arial" pitchFamily="34" charset="0"/>
                  </a:rPr>
                  <a:t>similarity score = </a:t>
                </a:r>
                <a14:m>
                  <m:oMath xmlns:m="http://schemas.openxmlformats.org/officeDocument/2006/math">
                    <m:f>
                      <m:fPr>
                        <m:ctrlPr>
                          <a:rPr lang="en-US" sz="2400" i="1" smtClean="0">
                            <a:latin typeface="Cambria Math" panose="02040503050406030204" pitchFamily="18" charset="0"/>
                            <a:cs typeface="Arial" pitchFamily="34" charset="0"/>
                          </a:rPr>
                        </m:ctrlPr>
                      </m:fPr>
                      <m:num>
                        <m:d>
                          <m:dPr>
                            <m:ctrlPr>
                              <a:rPr lang="en-US" sz="2400" b="0" i="1" smtClean="0">
                                <a:latin typeface="Cambria Math" panose="02040503050406030204" pitchFamily="18" charset="0"/>
                                <a:cs typeface="Arial" pitchFamily="34" charset="0"/>
                              </a:rPr>
                            </m:ctrlPr>
                          </m:dPr>
                          <m:e>
                            <m:r>
                              <a:rPr lang="en-US" sz="2400" b="0" i="1" smtClean="0">
                                <a:latin typeface="Cambria Math" panose="02040503050406030204" pitchFamily="18" charset="0"/>
                                <a:cs typeface="Arial" pitchFamily="34" charset="0"/>
                              </a:rPr>
                              <m:t>−10.5+6.5+7.5−7.5</m:t>
                            </m:r>
                          </m:e>
                        </m:d>
                        <m:r>
                          <a:rPr lang="en-US" sz="2400" b="0" i="1" baseline="30000" smtClean="0">
                            <a:latin typeface="Cambria Math" panose="02040503050406030204" pitchFamily="18" charset="0"/>
                            <a:cs typeface="Arial" pitchFamily="34" charset="0"/>
                          </a:rPr>
                          <m:t>2</m:t>
                        </m:r>
                      </m:num>
                      <m:den>
                        <m:r>
                          <a:rPr lang="en-US" sz="2400" b="0" i="1" smtClean="0">
                            <a:latin typeface="Cambria Math" panose="02040503050406030204" pitchFamily="18" charset="0"/>
                            <a:cs typeface="Arial" pitchFamily="34" charset="0"/>
                          </a:rPr>
                          <m:t>4+</m:t>
                        </m:r>
                        <m:r>
                          <a:rPr lang="en-US" sz="2400" b="0" i="1" smtClean="0">
                            <a:latin typeface="Cambria Math" panose="02040503050406030204" pitchFamily="18" charset="0"/>
                            <a:ea typeface="Cambria Math" panose="02040503050406030204" pitchFamily="18" charset="0"/>
                            <a:cs typeface="Arial" pitchFamily="34" charset="0"/>
                          </a:rPr>
                          <m:t>0</m:t>
                        </m:r>
                      </m:den>
                    </m:f>
                    <m:r>
                      <a:rPr lang="en-US" sz="2400" b="0" i="1" smtClean="0">
                        <a:latin typeface="Cambria Math" panose="02040503050406030204" pitchFamily="18" charset="0"/>
                        <a:cs typeface="Arial" pitchFamily="34" charset="0"/>
                      </a:rPr>
                      <m:t>=4</m:t>
                    </m:r>
                  </m:oMath>
                </a14:m>
                <a:endParaRPr lang="en-US" sz="2400" dirty="0">
                  <a:latin typeface="Arial" pitchFamily="34" charset="0"/>
                  <a:cs typeface="Arial" pitchFamily="34" charset="0"/>
                </a:endParaRPr>
              </a:p>
            </p:txBody>
          </p:sp>
        </mc:Choice>
        <mc:Fallback xmlns="">
          <p:sp>
            <p:nvSpPr>
              <p:cNvPr id="8" name="TextBox 7">
                <a:extLst>
                  <a:ext uri="{FF2B5EF4-FFF2-40B4-BE49-F238E27FC236}">
                    <a16:creationId xmlns:a16="http://schemas.microsoft.com/office/drawing/2014/main" id="{217CB010-DCEF-349B-94C7-A5287F7C0ABA}"/>
                  </a:ext>
                </a:extLst>
              </p:cNvPr>
              <p:cNvSpPr txBox="1">
                <a:spLocks noRot="1" noChangeAspect="1" noMove="1" noResize="1" noEditPoints="1" noAdjustHandles="1" noChangeArrowheads="1" noChangeShapeType="1" noTextEdit="1"/>
              </p:cNvSpPr>
              <p:nvPr/>
            </p:nvSpPr>
            <p:spPr>
              <a:xfrm>
                <a:off x="4108965" y="1994324"/>
                <a:ext cx="5047792" cy="550728"/>
              </a:xfrm>
              <a:prstGeom prst="rect">
                <a:avLst/>
              </a:prstGeom>
              <a:blipFill>
                <a:blip r:embed="rId3"/>
                <a:stretch>
                  <a:fillRect l="-3769" r="-1256"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217A1C3-FE82-5294-70C8-AE25E6659E85}"/>
                  </a:ext>
                </a:extLst>
              </p:cNvPr>
              <p:cNvSpPr txBox="1"/>
              <p:nvPr/>
            </p:nvSpPr>
            <p:spPr>
              <a:xfrm>
                <a:off x="2190540" y="1415252"/>
                <a:ext cx="1326383"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𝜆</m:t>
                      </m:r>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=0</m:t>
                      </m:r>
                    </m:oMath>
                  </m:oMathPara>
                </a14:m>
                <a:endParaRPr lang="en-US" sz="2600" dirty="0"/>
              </a:p>
            </p:txBody>
          </p:sp>
        </mc:Choice>
        <mc:Fallback xmlns="">
          <p:sp>
            <p:nvSpPr>
              <p:cNvPr id="10" name="TextBox 9">
                <a:extLst>
                  <a:ext uri="{FF2B5EF4-FFF2-40B4-BE49-F238E27FC236}">
                    <a16:creationId xmlns:a16="http://schemas.microsoft.com/office/drawing/2014/main" id="{2217A1C3-FE82-5294-70C8-AE25E6659E85}"/>
                  </a:ext>
                </a:extLst>
              </p:cNvPr>
              <p:cNvSpPr txBox="1">
                <a:spLocks noRot="1" noChangeAspect="1" noMove="1" noResize="1" noEditPoints="1" noAdjustHandles="1" noChangeArrowheads="1" noChangeShapeType="1" noTextEdit="1"/>
              </p:cNvSpPr>
              <p:nvPr/>
            </p:nvSpPr>
            <p:spPr>
              <a:xfrm>
                <a:off x="2190540" y="1415252"/>
                <a:ext cx="1326383" cy="492443"/>
              </a:xfrm>
              <a:prstGeom prst="rect">
                <a:avLst/>
              </a:prstGeom>
              <a:blipFill>
                <a:blip r:embed="rId4"/>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A1D96593-12A9-4989-24A9-8DB7ECEFC92B}"/>
              </a:ext>
            </a:extLst>
          </p:cNvPr>
          <p:cNvPicPr>
            <a:picLocks noChangeAspect="1"/>
          </p:cNvPicPr>
          <p:nvPr/>
        </p:nvPicPr>
        <p:blipFill>
          <a:blip r:embed="rId5"/>
          <a:stretch>
            <a:fillRect/>
          </a:stretch>
        </p:blipFill>
        <p:spPr>
          <a:xfrm>
            <a:off x="1220128"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5" name="Straight Connector 14">
            <a:extLst>
              <a:ext uri="{FF2B5EF4-FFF2-40B4-BE49-F238E27FC236}">
                <a16:creationId xmlns:a16="http://schemas.microsoft.com/office/drawing/2014/main" id="{84A621AF-7B13-E1A7-7A28-EF3BA2C2F03C}"/>
              </a:ext>
            </a:extLst>
          </p:cNvPr>
          <p:cNvCxnSpPr/>
          <p:nvPr/>
        </p:nvCxnSpPr>
        <p:spPr>
          <a:xfrm>
            <a:off x="2341265" y="3969099"/>
            <a:ext cx="0" cy="2170444"/>
          </a:xfrm>
          <a:prstGeom prst="line">
            <a:avLst/>
          </a:prstGeom>
          <a:ln/>
        </p:spPr>
        <p:style>
          <a:lnRef idx="2">
            <a:schemeClr val="accent6"/>
          </a:lnRef>
          <a:fillRef idx="0">
            <a:schemeClr val="accent6"/>
          </a:fillRef>
          <a:effectRef idx="1">
            <a:schemeClr val="accent6"/>
          </a:effectRef>
          <a:fontRef idx="minor">
            <a:schemeClr val="tx1"/>
          </a:fontRef>
        </p:style>
      </p:cxnSp>
      <p:grpSp>
        <p:nvGrpSpPr>
          <p:cNvPr id="12" name="Group 11">
            <a:extLst>
              <a:ext uri="{FF2B5EF4-FFF2-40B4-BE49-F238E27FC236}">
                <a16:creationId xmlns:a16="http://schemas.microsoft.com/office/drawing/2014/main" id="{481C269A-C007-0026-CE7D-BE07160B4D19}"/>
              </a:ext>
            </a:extLst>
          </p:cNvPr>
          <p:cNvGrpSpPr/>
          <p:nvPr/>
        </p:nvGrpSpPr>
        <p:grpSpPr>
          <a:xfrm>
            <a:off x="4854703" y="2831131"/>
            <a:ext cx="3832097" cy="1401815"/>
            <a:chOff x="4854703" y="2831131"/>
            <a:chExt cx="3832097" cy="1401815"/>
          </a:xfrm>
        </p:grpSpPr>
        <p:pic>
          <p:nvPicPr>
            <p:cNvPr id="11" name="Picture 10">
              <a:extLst>
                <a:ext uri="{FF2B5EF4-FFF2-40B4-BE49-F238E27FC236}">
                  <a16:creationId xmlns:a16="http://schemas.microsoft.com/office/drawing/2014/main" id="{9A0C40F3-9D77-6286-E3DB-BF35D02AAD54}"/>
                </a:ext>
              </a:extLst>
            </p:cNvPr>
            <p:cNvPicPr>
              <a:picLocks noChangeAspect="1"/>
            </p:cNvPicPr>
            <p:nvPr/>
          </p:nvPicPr>
          <p:blipFill>
            <a:blip r:embed="rId6"/>
            <a:stretch>
              <a:fillRect/>
            </a:stretch>
          </p:blipFill>
          <p:spPr>
            <a:xfrm>
              <a:off x="4854703" y="2831131"/>
              <a:ext cx="3832097" cy="1401815"/>
            </a:xfrm>
            <a:prstGeom prst="rect">
              <a:avLst/>
            </a:prstGeom>
          </p:spPr>
        </p:pic>
        <p:sp>
          <p:nvSpPr>
            <p:cNvPr id="9" name="Rectangle 8">
              <a:extLst>
                <a:ext uri="{FF2B5EF4-FFF2-40B4-BE49-F238E27FC236}">
                  <a16:creationId xmlns:a16="http://schemas.microsoft.com/office/drawing/2014/main" id="{1ED97A8A-247C-1A21-D39A-90D991B4B86A}"/>
                </a:ext>
              </a:extLst>
            </p:cNvPr>
            <p:cNvSpPr/>
            <p:nvPr/>
          </p:nvSpPr>
          <p:spPr>
            <a:xfrm>
              <a:off x="8334026" y="2831131"/>
              <a:ext cx="352774" cy="243665"/>
            </a:xfrm>
            <a:prstGeom prst="rect">
              <a:avLst/>
            </a:prstGeom>
            <a:solidFill>
              <a:schemeClr val="bg1"/>
            </a:solidFill>
            <a:ln w="38100">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14" name="TextBox 13">
            <a:extLst>
              <a:ext uri="{FF2B5EF4-FFF2-40B4-BE49-F238E27FC236}">
                <a16:creationId xmlns:a16="http://schemas.microsoft.com/office/drawing/2014/main" id="{62BA22A3-F797-A91E-5A4E-9C7B1AECE282}"/>
              </a:ext>
            </a:extLst>
          </p:cNvPr>
          <p:cNvSpPr txBox="1"/>
          <p:nvPr/>
        </p:nvSpPr>
        <p:spPr>
          <a:xfrm>
            <a:off x="5477599" y="2682919"/>
            <a:ext cx="1575917"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Dosage &lt; 15</a:t>
            </a:r>
          </a:p>
        </p:txBody>
      </p:sp>
    </p:spTree>
    <p:extLst>
      <p:ext uri="{BB962C8B-B14F-4D97-AF65-F5344CB8AC3E}">
        <p14:creationId xmlns:p14="http://schemas.microsoft.com/office/powerpoint/2010/main" val="136967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63E4-2D4D-AE63-1903-4673C8918B75}"/>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4F556ED1-C887-4B7A-C5E8-5DD734651635}"/>
              </a:ext>
            </a:extLst>
          </p:cNvPr>
          <p:cNvSpPr>
            <a:spLocks noGrp="1"/>
          </p:cNvSpPr>
          <p:nvPr>
            <p:ph idx="1"/>
          </p:nvPr>
        </p:nvSpPr>
        <p:spPr/>
        <p:txBody>
          <a:bodyPr/>
          <a:lstStyle/>
          <a:p>
            <a:r>
              <a:rPr lang="en-US" dirty="0"/>
              <a:t>Let’s set</a:t>
            </a:r>
          </a:p>
          <a:p>
            <a:pPr marL="118872" indent="0">
              <a:buNone/>
            </a:pPr>
            <a:endParaRPr lang="en-US" dirty="0"/>
          </a:p>
          <a:p>
            <a:endParaRPr lang="en-US" dirty="0"/>
          </a:p>
          <a:p>
            <a:r>
              <a:rPr lang="en-US" dirty="0"/>
              <a:t>Let’s grow the tree: </a:t>
            </a:r>
          </a:p>
        </p:txBody>
      </p:sp>
      <p:sp>
        <p:nvSpPr>
          <p:cNvPr id="4" name="Date Placeholder 3">
            <a:extLst>
              <a:ext uri="{FF2B5EF4-FFF2-40B4-BE49-F238E27FC236}">
                <a16:creationId xmlns:a16="http://schemas.microsoft.com/office/drawing/2014/main" id="{084ED83D-F9C5-934B-CF6B-233B3AEBC20A}"/>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4B4595C4-B4A0-0E4E-C66F-4BCFFFCB629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A31BF49-AD8A-254E-0C16-2DAC886AD6CF}"/>
              </a:ext>
            </a:extLst>
          </p:cNvPr>
          <p:cNvSpPr>
            <a:spLocks noGrp="1"/>
          </p:cNvSpPr>
          <p:nvPr>
            <p:ph type="sldNum" sz="quarter" idx="12"/>
          </p:nvPr>
        </p:nvSpPr>
        <p:spPr/>
        <p:txBody>
          <a:bodyPr/>
          <a:lstStyle/>
          <a:p>
            <a:fld id="{19B12225-5612-419B-A8D5-4B8EEE4C217E}" type="slidenum">
              <a:rPr lang="en-US" smtClean="0"/>
              <a:pPr/>
              <a:t>25</a:t>
            </a:fld>
            <a:endParaRPr lang="en-US"/>
          </a:p>
        </p:txBody>
      </p:sp>
      <p:pic>
        <p:nvPicPr>
          <p:cNvPr id="7" name="Picture 6">
            <a:extLst>
              <a:ext uri="{FF2B5EF4-FFF2-40B4-BE49-F238E27FC236}">
                <a16:creationId xmlns:a16="http://schemas.microsoft.com/office/drawing/2014/main" id="{5370EE1A-5371-652D-A730-9A28FDD1DE28}"/>
              </a:ext>
            </a:extLst>
          </p:cNvPr>
          <p:cNvPicPr>
            <a:picLocks noChangeAspect="1"/>
          </p:cNvPicPr>
          <p:nvPr/>
        </p:nvPicPr>
        <p:blipFill>
          <a:blip r:embed="rId2"/>
          <a:stretch>
            <a:fillRect/>
          </a:stretch>
        </p:blipFill>
        <p:spPr>
          <a:xfrm>
            <a:off x="5931284" y="1426083"/>
            <a:ext cx="2402742" cy="55791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17CB010-DCEF-349B-94C7-A5287F7C0ABA}"/>
                  </a:ext>
                </a:extLst>
              </p:cNvPr>
              <p:cNvSpPr txBox="1"/>
              <p:nvPr/>
            </p:nvSpPr>
            <p:spPr>
              <a:xfrm>
                <a:off x="4119013" y="1994324"/>
                <a:ext cx="5047792" cy="550728"/>
              </a:xfrm>
              <a:prstGeom prst="rect">
                <a:avLst/>
              </a:prstGeom>
              <a:noFill/>
            </p:spPr>
            <p:txBody>
              <a:bodyPr wrap="none" lIns="0" tIns="0" rIns="0" bIns="0" rtlCol="0">
                <a:spAutoFit/>
              </a:bodyPr>
              <a:lstStyle/>
              <a:p>
                <a:r>
                  <a:rPr lang="en-US" sz="2400" dirty="0">
                    <a:cs typeface="Arial" pitchFamily="34" charset="0"/>
                  </a:rPr>
                  <a:t>similarity score = </a:t>
                </a:r>
                <a14:m>
                  <m:oMath xmlns:m="http://schemas.openxmlformats.org/officeDocument/2006/math">
                    <m:f>
                      <m:fPr>
                        <m:ctrlPr>
                          <a:rPr lang="en-US" sz="2400" i="1" smtClean="0">
                            <a:latin typeface="Cambria Math" panose="02040503050406030204" pitchFamily="18" charset="0"/>
                            <a:cs typeface="Arial" pitchFamily="34" charset="0"/>
                          </a:rPr>
                        </m:ctrlPr>
                      </m:fPr>
                      <m:num>
                        <m:d>
                          <m:dPr>
                            <m:ctrlPr>
                              <a:rPr lang="en-US" sz="2400" b="0" i="1" smtClean="0">
                                <a:latin typeface="Cambria Math" panose="02040503050406030204" pitchFamily="18" charset="0"/>
                                <a:cs typeface="Arial" pitchFamily="34" charset="0"/>
                              </a:rPr>
                            </m:ctrlPr>
                          </m:dPr>
                          <m:e>
                            <m:r>
                              <a:rPr lang="en-US" sz="2400" b="0" i="1" smtClean="0">
                                <a:latin typeface="Cambria Math" panose="02040503050406030204" pitchFamily="18" charset="0"/>
                                <a:cs typeface="Arial" pitchFamily="34" charset="0"/>
                              </a:rPr>
                              <m:t>−10.5+6.5+7.5−7.5</m:t>
                            </m:r>
                          </m:e>
                        </m:d>
                        <m:r>
                          <a:rPr lang="en-US" sz="2400" b="0" i="1" baseline="30000" smtClean="0">
                            <a:latin typeface="Cambria Math" panose="02040503050406030204" pitchFamily="18" charset="0"/>
                            <a:cs typeface="Arial" pitchFamily="34" charset="0"/>
                          </a:rPr>
                          <m:t>2</m:t>
                        </m:r>
                      </m:num>
                      <m:den>
                        <m:r>
                          <a:rPr lang="en-US" sz="2400" b="0" i="1" smtClean="0">
                            <a:latin typeface="Cambria Math" panose="02040503050406030204" pitchFamily="18" charset="0"/>
                            <a:cs typeface="Arial" pitchFamily="34" charset="0"/>
                          </a:rPr>
                          <m:t>4+</m:t>
                        </m:r>
                        <m:r>
                          <a:rPr lang="en-US" sz="2400" b="0" i="1" smtClean="0">
                            <a:latin typeface="Cambria Math" panose="02040503050406030204" pitchFamily="18" charset="0"/>
                            <a:ea typeface="Cambria Math" panose="02040503050406030204" pitchFamily="18" charset="0"/>
                            <a:cs typeface="Arial" pitchFamily="34" charset="0"/>
                          </a:rPr>
                          <m:t>0</m:t>
                        </m:r>
                      </m:den>
                    </m:f>
                    <m:r>
                      <a:rPr lang="en-US" sz="2400" b="0" i="1" smtClean="0">
                        <a:latin typeface="Cambria Math" panose="02040503050406030204" pitchFamily="18" charset="0"/>
                        <a:cs typeface="Arial" pitchFamily="34" charset="0"/>
                      </a:rPr>
                      <m:t>=4</m:t>
                    </m:r>
                  </m:oMath>
                </a14:m>
                <a:endParaRPr lang="en-US" sz="2400" dirty="0">
                  <a:latin typeface="Arial" pitchFamily="34" charset="0"/>
                  <a:cs typeface="Arial" pitchFamily="34" charset="0"/>
                </a:endParaRPr>
              </a:p>
            </p:txBody>
          </p:sp>
        </mc:Choice>
        <mc:Fallback xmlns="">
          <p:sp>
            <p:nvSpPr>
              <p:cNvPr id="8" name="TextBox 7">
                <a:extLst>
                  <a:ext uri="{FF2B5EF4-FFF2-40B4-BE49-F238E27FC236}">
                    <a16:creationId xmlns:a16="http://schemas.microsoft.com/office/drawing/2014/main" id="{217CB010-DCEF-349B-94C7-A5287F7C0ABA}"/>
                  </a:ext>
                </a:extLst>
              </p:cNvPr>
              <p:cNvSpPr txBox="1">
                <a:spLocks noRot="1" noChangeAspect="1" noMove="1" noResize="1" noEditPoints="1" noAdjustHandles="1" noChangeArrowheads="1" noChangeShapeType="1" noTextEdit="1"/>
              </p:cNvSpPr>
              <p:nvPr/>
            </p:nvSpPr>
            <p:spPr>
              <a:xfrm>
                <a:off x="4119013" y="1994324"/>
                <a:ext cx="5047792" cy="550728"/>
              </a:xfrm>
              <a:prstGeom prst="rect">
                <a:avLst/>
              </a:prstGeom>
              <a:blipFill>
                <a:blip r:embed="rId3"/>
                <a:stretch>
                  <a:fillRect l="-3769" r="-1256"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217A1C3-FE82-5294-70C8-AE25E6659E85}"/>
                  </a:ext>
                </a:extLst>
              </p:cNvPr>
              <p:cNvSpPr txBox="1"/>
              <p:nvPr/>
            </p:nvSpPr>
            <p:spPr>
              <a:xfrm>
                <a:off x="2190540" y="1415252"/>
                <a:ext cx="1326383"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𝜆</m:t>
                      </m:r>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=0</m:t>
                      </m:r>
                    </m:oMath>
                  </m:oMathPara>
                </a14:m>
                <a:endParaRPr lang="en-US" sz="2600" dirty="0"/>
              </a:p>
            </p:txBody>
          </p:sp>
        </mc:Choice>
        <mc:Fallback xmlns="">
          <p:sp>
            <p:nvSpPr>
              <p:cNvPr id="10" name="TextBox 9">
                <a:extLst>
                  <a:ext uri="{FF2B5EF4-FFF2-40B4-BE49-F238E27FC236}">
                    <a16:creationId xmlns:a16="http://schemas.microsoft.com/office/drawing/2014/main" id="{2217A1C3-FE82-5294-70C8-AE25E6659E85}"/>
                  </a:ext>
                </a:extLst>
              </p:cNvPr>
              <p:cNvSpPr txBox="1">
                <a:spLocks noRot="1" noChangeAspect="1" noMove="1" noResize="1" noEditPoints="1" noAdjustHandles="1" noChangeArrowheads="1" noChangeShapeType="1" noTextEdit="1"/>
              </p:cNvSpPr>
              <p:nvPr/>
            </p:nvSpPr>
            <p:spPr>
              <a:xfrm>
                <a:off x="2190540" y="1415252"/>
                <a:ext cx="1326383" cy="492443"/>
              </a:xfrm>
              <a:prstGeom prst="rect">
                <a:avLst/>
              </a:prstGeom>
              <a:blipFill>
                <a:blip r:embed="rId4"/>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A1D96593-12A9-4989-24A9-8DB7ECEFC92B}"/>
              </a:ext>
            </a:extLst>
          </p:cNvPr>
          <p:cNvPicPr>
            <a:picLocks noChangeAspect="1"/>
          </p:cNvPicPr>
          <p:nvPr/>
        </p:nvPicPr>
        <p:blipFill>
          <a:blip r:embed="rId5"/>
          <a:stretch>
            <a:fillRect/>
          </a:stretch>
        </p:blipFill>
        <p:spPr>
          <a:xfrm>
            <a:off x="1220128"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5" name="Straight Connector 14">
            <a:extLst>
              <a:ext uri="{FF2B5EF4-FFF2-40B4-BE49-F238E27FC236}">
                <a16:creationId xmlns:a16="http://schemas.microsoft.com/office/drawing/2014/main" id="{84A621AF-7B13-E1A7-7A28-EF3BA2C2F03C}"/>
              </a:ext>
            </a:extLst>
          </p:cNvPr>
          <p:cNvCxnSpPr/>
          <p:nvPr/>
        </p:nvCxnSpPr>
        <p:spPr>
          <a:xfrm>
            <a:off x="2341265" y="3969099"/>
            <a:ext cx="0" cy="2170444"/>
          </a:xfrm>
          <a:prstGeom prst="line">
            <a:avLst/>
          </a:prstGeom>
          <a:ln/>
        </p:spPr>
        <p:style>
          <a:lnRef idx="2">
            <a:schemeClr val="accent6"/>
          </a:lnRef>
          <a:fillRef idx="0">
            <a:schemeClr val="accent6"/>
          </a:fillRef>
          <a:effectRef idx="1">
            <a:schemeClr val="accent6"/>
          </a:effectRef>
          <a:fontRef idx="minor">
            <a:schemeClr val="tx1"/>
          </a:fontRef>
        </p:style>
      </p:cxnSp>
      <p:pic>
        <p:nvPicPr>
          <p:cNvPr id="14" name="Picture 13">
            <a:extLst>
              <a:ext uri="{FF2B5EF4-FFF2-40B4-BE49-F238E27FC236}">
                <a16:creationId xmlns:a16="http://schemas.microsoft.com/office/drawing/2014/main" id="{932BDD3E-0AF3-7254-A099-5282154492E7}"/>
              </a:ext>
            </a:extLst>
          </p:cNvPr>
          <p:cNvPicPr>
            <a:picLocks noChangeAspect="1"/>
          </p:cNvPicPr>
          <p:nvPr/>
        </p:nvPicPr>
        <p:blipFill>
          <a:blip r:embed="rId6"/>
          <a:stretch>
            <a:fillRect/>
          </a:stretch>
        </p:blipFill>
        <p:spPr>
          <a:xfrm>
            <a:off x="3534263" y="5470630"/>
            <a:ext cx="5403997" cy="401205"/>
          </a:xfrm>
          <a:prstGeom prst="rect">
            <a:avLst/>
          </a:prstGeom>
        </p:spPr>
      </p:pic>
      <p:pic>
        <p:nvPicPr>
          <p:cNvPr id="16" name="Picture 15">
            <a:extLst>
              <a:ext uri="{FF2B5EF4-FFF2-40B4-BE49-F238E27FC236}">
                <a16:creationId xmlns:a16="http://schemas.microsoft.com/office/drawing/2014/main" id="{1C8BE276-A90F-66BF-7EB0-1915499671DA}"/>
              </a:ext>
            </a:extLst>
          </p:cNvPr>
          <p:cNvPicPr>
            <a:picLocks noChangeAspect="1"/>
          </p:cNvPicPr>
          <p:nvPr/>
        </p:nvPicPr>
        <p:blipFill>
          <a:blip r:embed="rId7"/>
          <a:stretch>
            <a:fillRect/>
          </a:stretch>
        </p:blipFill>
        <p:spPr>
          <a:xfrm>
            <a:off x="3549778" y="5927295"/>
            <a:ext cx="4478856" cy="358308"/>
          </a:xfrm>
          <a:prstGeom prst="rect">
            <a:avLst/>
          </a:prstGeom>
        </p:spPr>
      </p:pic>
      <p:grpSp>
        <p:nvGrpSpPr>
          <p:cNvPr id="19" name="Group 18">
            <a:extLst>
              <a:ext uri="{FF2B5EF4-FFF2-40B4-BE49-F238E27FC236}">
                <a16:creationId xmlns:a16="http://schemas.microsoft.com/office/drawing/2014/main" id="{7D4416F4-C777-D1EB-6147-8436DCA3EBAB}"/>
              </a:ext>
            </a:extLst>
          </p:cNvPr>
          <p:cNvGrpSpPr/>
          <p:nvPr/>
        </p:nvGrpSpPr>
        <p:grpSpPr>
          <a:xfrm>
            <a:off x="4641336" y="2754602"/>
            <a:ext cx="4162524" cy="2407524"/>
            <a:chOff x="4641336" y="2925422"/>
            <a:chExt cx="4162524" cy="2407524"/>
          </a:xfrm>
        </p:grpSpPr>
        <p:sp>
          <p:nvSpPr>
            <p:cNvPr id="12" name="TextBox 11">
              <a:extLst>
                <a:ext uri="{FF2B5EF4-FFF2-40B4-BE49-F238E27FC236}">
                  <a16:creationId xmlns:a16="http://schemas.microsoft.com/office/drawing/2014/main" id="{D04208DE-B8E5-3347-7196-3D552299EB13}"/>
                </a:ext>
              </a:extLst>
            </p:cNvPr>
            <p:cNvSpPr txBox="1"/>
            <p:nvPr/>
          </p:nvSpPr>
          <p:spPr>
            <a:xfrm>
              <a:off x="5417308" y="2925422"/>
              <a:ext cx="1575917"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Dosage &lt; 15</a:t>
              </a:r>
            </a:p>
          </p:txBody>
        </p:sp>
        <p:pic>
          <p:nvPicPr>
            <p:cNvPr id="9" name="Picture 8">
              <a:extLst>
                <a:ext uri="{FF2B5EF4-FFF2-40B4-BE49-F238E27FC236}">
                  <a16:creationId xmlns:a16="http://schemas.microsoft.com/office/drawing/2014/main" id="{541EA409-A12C-B899-9CBA-C45C2BDDD7AD}"/>
                </a:ext>
              </a:extLst>
            </p:cNvPr>
            <p:cNvPicPr>
              <a:picLocks noChangeAspect="1"/>
            </p:cNvPicPr>
            <p:nvPr/>
          </p:nvPicPr>
          <p:blipFill>
            <a:blip r:embed="rId8"/>
            <a:stretch>
              <a:fillRect/>
            </a:stretch>
          </p:blipFill>
          <p:spPr>
            <a:xfrm>
              <a:off x="4641336" y="3243976"/>
              <a:ext cx="4162524" cy="2088970"/>
            </a:xfrm>
            <a:prstGeom prst="rect">
              <a:avLst/>
            </a:prstGeom>
          </p:spPr>
        </p:pic>
        <p:sp>
          <p:nvSpPr>
            <p:cNvPr id="18" name="Rectangle 17">
              <a:extLst>
                <a:ext uri="{FF2B5EF4-FFF2-40B4-BE49-F238E27FC236}">
                  <a16:creationId xmlns:a16="http://schemas.microsoft.com/office/drawing/2014/main" id="{51C791ED-7099-737F-9760-F6E875F9B523}"/>
                </a:ext>
              </a:extLst>
            </p:cNvPr>
            <p:cNvSpPr/>
            <p:nvPr/>
          </p:nvSpPr>
          <p:spPr>
            <a:xfrm>
              <a:off x="8397641" y="3213113"/>
              <a:ext cx="352774" cy="243665"/>
            </a:xfrm>
            <a:prstGeom prst="rect">
              <a:avLst/>
            </a:prstGeom>
            <a:solidFill>
              <a:schemeClr val="bg1"/>
            </a:solidFill>
            <a:ln w="38100">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471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63E4-2D4D-AE63-1903-4673C8918B75}"/>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4F556ED1-C887-4B7A-C5E8-5DD734651635}"/>
              </a:ext>
            </a:extLst>
          </p:cNvPr>
          <p:cNvSpPr>
            <a:spLocks noGrp="1"/>
          </p:cNvSpPr>
          <p:nvPr>
            <p:ph idx="1"/>
          </p:nvPr>
        </p:nvSpPr>
        <p:spPr/>
        <p:txBody>
          <a:bodyPr/>
          <a:lstStyle/>
          <a:p>
            <a:r>
              <a:rPr lang="en-US" dirty="0"/>
              <a:t>Let’s set</a:t>
            </a:r>
          </a:p>
          <a:p>
            <a:pPr marL="118872" indent="0">
              <a:buNone/>
            </a:pPr>
            <a:endParaRPr lang="en-US" dirty="0"/>
          </a:p>
          <a:p>
            <a:endParaRPr lang="en-US" dirty="0"/>
          </a:p>
          <a:p>
            <a:r>
              <a:rPr lang="en-US" dirty="0"/>
              <a:t>Let’s grow the tree: </a:t>
            </a:r>
          </a:p>
        </p:txBody>
      </p:sp>
      <p:sp>
        <p:nvSpPr>
          <p:cNvPr id="4" name="Date Placeholder 3">
            <a:extLst>
              <a:ext uri="{FF2B5EF4-FFF2-40B4-BE49-F238E27FC236}">
                <a16:creationId xmlns:a16="http://schemas.microsoft.com/office/drawing/2014/main" id="{084ED83D-F9C5-934B-CF6B-233B3AEBC20A}"/>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4B4595C4-B4A0-0E4E-C66F-4BCFFFCB629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A31BF49-AD8A-254E-0C16-2DAC886AD6CF}"/>
              </a:ext>
            </a:extLst>
          </p:cNvPr>
          <p:cNvSpPr>
            <a:spLocks noGrp="1"/>
          </p:cNvSpPr>
          <p:nvPr>
            <p:ph type="sldNum" sz="quarter" idx="12"/>
          </p:nvPr>
        </p:nvSpPr>
        <p:spPr/>
        <p:txBody>
          <a:bodyPr/>
          <a:lstStyle/>
          <a:p>
            <a:fld id="{19B12225-5612-419B-A8D5-4B8EEE4C217E}" type="slidenum">
              <a:rPr lang="en-US" smtClean="0"/>
              <a:pPr/>
              <a:t>26</a:t>
            </a:fld>
            <a:endParaRPr lang="en-US"/>
          </a:p>
        </p:txBody>
      </p:sp>
      <p:pic>
        <p:nvPicPr>
          <p:cNvPr id="7" name="Picture 6">
            <a:extLst>
              <a:ext uri="{FF2B5EF4-FFF2-40B4-BE49-F238E27FC236}">
                <a16:creationId xmlns:a16="http://schemas.microsoft.com/office/drawing/2014/main" id="{5370EE1A-5371-652D-A730-9A28FDD1DE28}"/>
              </a:ext>
            </a:extLst>
          </p:cNvPr>
          <p:cNvPicPr>
            <a:picLocks noChangeAspect="1"/>
          </p:cNvPicPr>
          <p:nvPr/>
        </p:nvPicPr>
        <p:blipFill>
          <a:blip r:embed="rId2"/>
          <a:stretch>
            <a:fillRect/>
          </a:stretch>
        </p:blipFill>
        <p:spPr>
          <a:xfrm>
            <a:off x="5931284" y="1426083"/>
            <a:ext cx="2402742" cy="55791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17CB010-DCEF-349B-94C7-A5287F7C0ABA}"/>
                  </a:ext>
                </a:extLst>
              </p:cNvPr>
              <p:cNvSpPr txBox="1"/>
              <p:nvPr/>
            </p:nvSpPr>
            <p:spPr>
              <a:xfrm>
                <a:off x="4129061" y="1994324"/>
                <a:ext cx="5047792" cy="550728"/>
              </a:xfrm>
              <a:prstGeom prst="rect">
                <a:avLst/>
              </a:prstGeom>
              <a:noFill/>
            </p:spPr>
            <p:txBody>
              <a:bodyPr wrap="none" lIns="0" tIns="0" rIns="0" bIns="0" rtlCol="0">
                <a:spAutoFit/>
              </a:bodyPr>
              <a:lstStyle/>
              <a:p>
                <a:r>
                  <a:rPr lang="en-US" sz="2400" dirty="0">
                    <a:cs typeface="Arial" pitchFamily="34" charset="0"/>
                  </a:rPr>
                  <a:t>similarity score = </a:t>
                </a:r>
                <a14:m>
                  <m:oMath xmlns:m="http://schemas.openxmlformats.org/officeDocument/2006/math">
                    <m:f>
                      <m:fPr>
                        <m:ctrlPr>
                          <a:rPr lang="en-US" sz="2400" i="1" smtClean="0">
                            <a:latin typeface="Cambria Math" panose="02040503050406030204" pitchFamily="18" charset="0"/>
                            <a:cs typeface="Arial" pitchFamily="34" charset="0"/>
                          </a:rPr>
                        </m:ctrlPr>
                      </m:fPr>
                      <m:num>
                        <m:d>
                          <m:dPr>
                            <m:ctrlPr>
                              <a:rPr lang="en-US" sz="2400" b="0" i="1" smtClean="0">
                                <a:latin typeface="Cambria Math" panose="02040503050406030204" pitchFamily="18" charset="0"/>
                                <a:cs typeface="Arial" pitchFamily="34" charset="0"/>
                              </a:rPr>
                            </m:ctrlPr>
                          </m:dPr>
                          <m:e>
                            <m:r>
                              <a:rPr lang="en-US" sz="2400" b="0" i="1" smtClean="0">
                                <a:latin typeface="Cambria Math" panose="02040503050406030204" pitchFamily="18" charset="0"/>
                                <a:cs typeface="Arial" pitchFamily="34" charset="0"/>
                              </a:rPr>
                              <m:t>−10.5+6.5+7.5−7.5</m:t>
                            </m:r>
                          </m:e>
                        </m:d>
                        <m:r>
                          <a:rPr lang="en-US" sz="2400" b="0" i="1" baseline="30000" smtClean="0">
                            <a:latin typeface="Cambria Math" panose="02040503050406030204" pitchFamily="18" charset="0"/>
                            <a:cs typeface="Arial" pitchFamily="34" charset="0"/>
                          </a:rPr>
                          <m:t>2</m:t>
                        </m:r>
                      </m:num>
                      <m:den>
                        <m:r>
                          <a:rPr lang="en-US" sz="2400" b="0" i="1" smtClean="0">
                            <a:latin typeface="Cambria Math" panose="02040503050406030204" pitchFamily="18" charset="0"/>
                            <a:cs typeface="Arial" pitchFamily="34" charset="0"/>
                          </a:rPr>
                          <m:t>4+</m:t>
                        </m:r>
                        <m:r>
                          <a:rPr lang="en-US" sz="2400" b="0" i="1" smtClean="0">
                            <a:latin typeface="Cambria Math" panose="02040503050406030204" pitchFamily="18" charset="0"/>
                            <a:ea typeface="Cambria Math" panose="02040503050406030204" pitchFamily="18" charset="0"/>
                            <a:cs typeface="Arial" pitchFamily="34" charset="0"/>
                          </a:rPr>
                          <m:t>0</m:t>
                        </m:r>
                      </m:den>
                    </m:f>
                    <m:r>
                      <a:rPr lang="en-US" sz="2400" b="0" i="1" smtClean="0">
                        <a:latin typeface="Cambria Math" panose="02040503050406030204" pitchFamily="18" charset="0"/>
                        <a:cs typeface="Arial" pitchFamily="34" charset="0"/>
                      </a:rPr>
                      <m:t>=4</m:t>
                    </m:r>
                  </m:oMath>
                </a14:m>
                <a:endParaRPr lang="en-US" sz="2400" dirty="0">
                  <a:latin typeface="Arial" pitchFamily="34" charset="0"/>
                  <a:cs typeface="Arial" pitchFamily="34" charset="0"/>
                </a:endParaRPr>
              </a:p>
            </p:txBody>
          </p:sp>
        </mc:Choice>
        <mc:Fallback xmlns="">
          <p:sp>
            <p:nvSpPr>
              <p:cNvPr id="8" name="TextBox 7">
                <a:extLst>
                  <a:ext uri="{FF2B5EF4-FFF2-40B4-BE49-F238E27FC236}">
                    <a16:creationId xmlns:a16="http://schemas.microsoft.com/office/drawing/2014/main" id="{217CB010-DCEF-349B-94C7-A5287F7C0ABA}"/>
                  </a:ext>
                </a:extLst>
              </p:cNvPr>
              <p:cNvSpPr txBox="1">
                <a:spLocks noRot="1" noChangeAspect="1" noMove="1" noResize="1" noEditPoints="1" noAdjustHandles="1" noChangeArrowheads="1" noChangeShapeType="1" noTextEdit="1"/>
              </p:cNvSpPr>
              <p:nvPr/>
            </p:nvSpPr>
            <p:spPr>
              <a:xfrm>
                <a:off x="4129061" y="1994324"/>
                <a:ext cx="5047792" cy="550728"/>
              </a:xfrm>
              <a:prstGeom prst="rect">
                <a:avLst/>
              </a:prstGeom>
              <a:blipFill>
                <a:blip r:embed="rId3"/>
                <a:stretch>
                  <a:fillRect l="-3509" r="-1253"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217A1C3-FE82-5294-70C8-AE25E6659E85}"/>
                  </a:ext>
                </a:extLst>
              </p:cNvPr>
              <p:cNvSpPr txBox="1"/>
              <p:nvPr/>
            </p:nvSpPr>
            <p:spPr>
              <a:xfrm>
                <a:off x="2190540" y="1415252"/>
                <a:ext cx="1326383"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𝜆</m:t>
                      </m:r>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=0</m:t>
                      </m:r>
                    </m:oMath>
                  </m:oMathPara>
                </a14:m>
                <a:endParaRPr lang="en-US" sz="2600" dirty="0"/>
              </a:p>
            </p:txBody>
          </p:sp>
        </mc:Choice>
        <mc:Fallback xmlns="">
          <p:sp>
            <p:nvSpPr>
              <p:cNvPr id="10" name="TextBox 9">
                <a:extLst>
                  <a:ext uri="{FF2B5EF4-FFF2-40B4-BE49-F238E27FC236}">
                    <a16:creationId xmlns:a16="http://schemas.microsoft.com/office/drawing/2014/main" id="{2217A1C3-FE82-5294-70C8-AE25E6659E85}"/>
                  </a:ext>
                </a:extLst>
              </p:cNvPr>
              <p:cNvSpPr txBox="1">
                <a:spLocks noRot="1" noChangeAspect="1" noMove="1" noResize="1" noEditPoints="1" noAdjustHandles="1" noChangeArrowheads="1" noChangeShapeType="1" noTextEdit="1"/>
              </p:cNvSpPr>
              <p:nvPr/>
            </p:nvSpPr>
            <p:spPr>
              <a:xfrm>
                <a:off x="2190540" y="1415252"/>
                <a:ext cx="1326383" cy="492443"/>
              </a:xfrm>
              <a:prstGeom prst="rect">
                <a:avLst/>
              </a:prstGeom>
              <a:blipFill>
                <a:blip r:embed="rId4"/>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A1D96593-12A9-4989-24A9-8DB7ECEFC92B}"/>
              </a:ext>
            </a:extLst>
          </p:cNvPr>
          <p:cNvPicPr>
            <a:picLocks noChangeAspect="1"/>
          </p:cNvPicPr>
          <p:nvPr/>
        </p:nvPicPr>
        <p:blipFill>
          <a:blip r:embed="rId5"/>
          <a:stretch>
            <a:fillRect/>
          </a:stretch>
        </p:blipFill>
        <p:spPr>
          <a:xfrm>
            <a:off x="1220128"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5" name="Straight Connector 14">
            <a:extLst>
              <a:ext uri="{FF2B5EF4-FFF2-40B4-BE49-F238E27FC236}">
                <a16:creationId xmlns:a16="http://schemas.microsoft.com/office/drawing/2014/main" id="{84A621AF-7B13-E1A7-7A28-EF3BA2C2F03C}"/>
              </a:ext>
            </a:extLst>
          </p:cNvPr>
          <p:cNvCxnSpPr/>
          <p:nvPr/>
        </p:nvCxnSpPr>
        <p:spPr>
          <a:xfrm>
            <a:off x="2662809" y="3969099"/>
            <a:ext cx="0" cy="2170444"/>
          </a:xfrm>
          <a:prstGeom prst="line">
            <a:avLst/>
          </a:prstGeom>
          <a:ln/>
        </p:spPr>
        <p:style>
          <a:lnRef idx="2">
            <a:schemeClr val="accent6"/>
          </a:lnRef>
          <a:fillRef idx="0">
            <a:schemeClr val="accent6"/>
          </a:fillRef>
          <a:effectRef idx="1">
            <a:schemeClr val="accent6"/>
          </a:effectRef>
          <a:fontRef idx="minor">
            <a:schemeClr val="tx1"/>
          </a:fontRef>
        </p:style>
      </p:cxnSp>
      <p:sp>
        <p:nvSpPr>
          <p:cNvPr id="12" name="Rectangle 11">
            <a:extLst>
              <a:ext uri="{FF2B5EF4-FFF2-40B4-BE49-F238E27FC236}">
                <a16:creationId xmlns:a16="http://schemas.microsoft.com/office/drawing/2014/main" id="{843F5A0E-6BD5-0C39-C49D-D2373D1EFDA1}"/>
              </a:ext>
            </a:extLst>
          </p:cNvPr>
          <p:cNvSpPr/>
          <p:nvPr/>
        </p:nvSpPr>
        <p:spPr>
          <a:xfrm>
            <a:off x="4762918" y="3074796"/>
            <a:ext cx="641585"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4" name="Picture 13">
            <a:extLst>
              <a:ext uri="{FF2B5EF4-FFF2-40B4-BE49-F238E27FC236}">
                <a16:creationId xmlns:a16="http://schemas.microsoft.com/office/drawing/2014/main" id="{F18D55B5-8983-2B02-7869-D6A5511338B2}"/>
              </a:ext>
            </a:extLst>
          </p:cNvPr>
          <p:cNvPicPr>
            <a:picLocks noChangeAspect="1"/>
          </p:cNvPicPr>
          <p:nvPr/>
        </p:nvPicPr>
        <p:blipFill>
          <a:blip r:embed="rId6"/>
          <a:stretch>
            <a:fillRect/>
          </a:stretch>
        </p:blipFill>
        <p:spPr>
          <a:xfrm>
            <a:off x="3534263" y="5470630"/>
            <a:ext cx="5403997" cy="401205"/>
          </a:xfrm>
          <a:prstGeom prst="rect">
            <a:avLst/>
          </a:prstGeom>
        </p:spPr>
      </p:pic>
      <p:pic>
        <p:nvPicPr>
          <p:cNvPr id="17" name="Picture 16">
            <a:extLst>
              <a:ext uri="{FF2B5EF4-FFF2-40B4-BE49-F238E27FC236}">
                <a16:creationId xmlns:a16="http://schemas.microsoft.com/office/drawing/2014/main" id="{C1493A4D-15D0-29CE-B1D5-47C279719349}"/>
              </a:ext>
            </a:extLst>
          </p:cNvPr>
          <p:cNvPicPr>
            <a:picLocks noChangeAspect="1"/>
          </p:cNvPicPr>
          <p:nvPr/>
        </p:nvPicPr>
        <p:blipFill>
          <a:blip r:embed="rId7"/>
          <a:stretch>
            <a:fillRect/>
          </a:stretch>
        </p:blipFill>
        <p:spPr>
          <a:xfrm>
            <a:off x="3496670" y="5890352"/>
            <a:ext cx="2532496" cy="426261"/>
          </a:xfrm>
          <a:prstGeom prst="rect">
            <a:avLst/>
          </a:prstGeom>
        </p:spPr>
      </p:pic>
      <p:grpSp>
        <p:nvGrpSpPr>
          <p:cNvPr id="26" name="Group 25">
            <a:extLst>
              <a:ext uri="{FF2B5EF4-FFF2-40B4-BE49-F238E27FC236}">
                <a16:creationId xmlns:a16="http://schemas.microsoft.com/office/drawing/2014/main" id="{46E016D0-0A2C-9AA7-06C5-620D01DCEB43}"/>
              </a:ext>
            </a:extLst>
          </p:cNvPr>
          <p:cNvGrpSpPr/>
          <p:nvPr/>
        </p:nvGrpSpPr>
        <p:grpSpPr>
          <a:xfrm>
            <a:off x="4572000" y="2724458"/>
            <a:ext cx="4572001" cy="1957823"/>
            <a:chOff x="4572000" y="2724458"/>
            <a:chExt cx="4572001" cy="1957823"/>
          </a:xfrm>
        </p:grpSpPr>
        <p:grpSp>
          <p:nvGrpSpPr>
            <p:cNvPr id="25" name="Group 24">
              <a:extLst>
                <a:ext uri="{FF2B5EF4-FFF2-40B4-BE49-F238E27FC236}">
                  <a16:creationId xmlns:a16="http://schemas.microsoft.com/office/drawing/2014/main" id="{03FF71BA-D393-7FCA-37D8-2467EF3B68C2}"/>
                </a:ext>
              </a:extLst>
            </p:cNvPr>
            <p:cNvGrpSpPr/>
            <p:nvPr/>
          </p:nvGrpSpPr>
          <p:grpSpPr>
            <a:xfrm>
              <a:off x="4572000" y="2993422"/>
              <a:ext cx="4572001" cy="1688859"/>
              <a:chOff x="4572000" y="2993422"/>
              <a:chExt cx="4572001" cy="1688859"/>
            </a:xfrm>
          </p:grpSpPr>
          <p:sp>
            <p:nvSpPr>
              <p:cNvPr id="18" name="TextBox 17">
                <a:extLst>
                  <a:ext uri="{FF2B5EF4-FFF2-40B4-BE49-F238E27FC236}">
                    <a16:creationId xmlns:a16="http://schemas.microsoft.com/office/drawing/2014/main" id="{9AB53131-0709-0FEE-8193-3A0145D561AB}"/>
                  </a:ext>
                </a:extLst>
              </p:cNvPr>
              <p:cNvSpPr txBox="1"/>
              <p:nvPr/>
            </p:nvSpPr>
            <p:spPr>
              <a:xfrm>
                <a:off x="5083710" y="4312949"/>
                <a:ext cx="1638637" cy="369332"/>
              </a:xfrm>
              <a:prstGeom prst="rect">
                <a:avLst/>
              </a:prstGeom>
              <a:noFill/>
            </p:spPr>
            <p:txBody>
              <a:bodyPr wrap="square" rtlCol="0">
                <a:spAutoFit/>
              </a:bodyPr>
              <a:lstStyle/>
              <a:p>
                <a:r>
                  <a:rPr lang="en-US" dirty="0">
                    <a:latin typeface="Arial" pitchFamily="34" charset="0"/>
                    <a:cs typeface="Arial" pitchFamily="34" charset="0"/>
                  </a:rPr>
                  <a:t>Similarity = 8</a:t>
                </a:r>
              </a:p>
            </p:txBody>
          </p:sp>
          <p:sp>
            <p:nvSpPr>
              <p:cNvPr id="19" name="TextBox 18">
                <a:extLst>
                  <a:ext uri="{FF2B5EF4-FFF2-40B4-BE49-F238E27FC236}">
                    <a16:creationId xmlns:a16="http://schemas.microsoft.com/office/drawing/2014/main" id="{2B53731D-A905-66EF-4DB9-5AB065801416}"/>
                  </a:ext>
                </a:extLst>
              </p:cNvPr>
              <p:cNvSpPr txBox="1"/>
              <p:nvPr/>
            </p:nvSpPr>
            <p:spPr>
              <a:xfrm>
                <a:off x="6978116" y="4299539"/>
                <a:ext cx="1638637" cy="369332"/>
              </a:xfrm>
              <a:prstGeom prst="rect">
                <a:avLst/>
              </a:prstGeom>
              <a:noFill/>
            </p:spPr>
            <p:txBody>
              <a:bodyPr wrap="square" rtlCol="0">
                <a:spAutoFit/>
              </a:bodyPr>
              <a:lstStyle/>
              <a:p>
                <a:r>
                  <a:rPr lang="en-US" dirty="0">
                    <a:latin typeface="Arial" pitchFamily="34" charset="0"/>
                    <a:cs typeface="Arial" pitchFamily="34" charset="0"/>
                  </a:rPr>
                  <a:t>Similarity = 0</a:t>
                </a:r>
              </a:p>
            </p:txBody>
          </p:sp>
          <p:grpSp>
            <p:nvGrpSpPr>
              <p:cNvPr id="23" name="Group 22">
                <a:extLst>
                  <a:ext uri="{FF2B5EF4-FFF2-40B4-BE49-F238E27FC236}">
                    <a16:creationId xmlns:a16="http://schemas.microsoft.com/office/drawing/2014/main" id="{0108FA78-195A-BC33-DE3B-2514C321832B}"/>
                  </a:ext>
                </a:extLst>
              </p:cNvPr>
              <p:cNvGrpSpPr/>
              <p:nvPr/>
            </p:nvGrpSpPr>
            <p:grpSpPr>
              <a:xfrm>
                <a:off x="4572000" y="2993422"/>
                <a:ext cx="4572001" cy="1408095"/>
                <a:chOff x="4572000" y="2993422"/>
                <a:chExt cx="4572001" cy="1408095"/>
              </a:xfrm>
            </p:grpSpPr>
            <p:grpSp>
              <p:nvGrpSpPr>
                <p:cNvPr id="16" name="Group 15">
                  <a:extLst>
                    <a:ext uri="{FF2B5EF4-FFF2-40B4-BE49-F238E27FC236}">
                      <a16:creationId xmlns:a16="http://schemas.microsoft.com/office/drawing/2014/main" id="{28AF5C49-766B-4BB8-324C-BA2CB5F7709D}"/>
                    </a:ext>
                  </a:extLst>
                </p:cNvPr>
                <p:cNvGrpSpPr/>
                <p:nvPr/>
              </p:nvGrpSpPr>
              <p:grpSpPr>
                <a:xfrm>
                  <a:off x="4644417" y="2993422"/>
                  <a:ext cx="3913104" cy="1408095"/>
                  <a:chOff x="4935079" y="2904854"/>
                  <a:chExt cx="3913104" cy="1408095"/>
                </a:xfrm>
              </p:grpSpPr>
              <p:pic>
                <p:nvPicPr>
                  <p:cNvPr id="9" name="Picture 8">
                    <a:extLst>
                      <a:ext uri="{FF2B5EF4-FFF2-40B4-BE49-F238E27FC236}">
                        <a16:creationId xmlns:a16="http://schemas.microsoft.com/office/drawing/2014/main" id="{659F17F7-F1A5-BCC3-76D7-6A12817BE43E}"/>
                      </a:ext>
                    </a:extLst>
                  </p:cNvPr>
                  <p:cNvPicPr>
                    <a:picLocks noChangeAspect="1"/>
                  </p:cNvPicPr>
                  <p:nvPr/>
                </p:nvPicPr>
                <p:blipFill>
                  <a:blip r:embed="rId8"/>
                  <a:stretch>
                    <a:fillRect/>
                  </a:stretch>
                </p:blipFill>
                <p:spPr>
                  <a:xfrm>
                    <a:off x="4935079" y="2904854"/>
                    <a:ext cx="3913104" cy="1408095"/>
                  </a:xfrm>
                  <a:prstGeom prst="rect">
                    <a:avLst/>
                  </a:prstGeom>
                </p:spPr>
              </p:pic>
              <p:pic>
                <p:nvPicPr>
                  <p:cNvPr id="11" name="Picture 10">
                    <a:extLst>
                      <a:ext uri="{FF2B5EF4-FFF2-40B4-BE49-F238E27FC236}">
                        <a16:creationId xmlns:a16="http://schemas.microsoft.com/office/drawing/2014/main" id="{2C4CB5F2-6250-DBA4-2562-2BBCA80A616D}"/>
                      </a:ext>
                    </a:extLst>
                  </p:cNvPr>
                  <p:cNvPicPr>
                    <a:picLocks noChangeAspect="1"/>
                  </p:cNvPicPr>
                  <p:nvPr/>
                </p:nvPicPr>
                <p:blipFill>
                  <a:blip r:embed="rId9"/>
                  <a:stretch>
                    <a:fillRect/>
                  </a:stretch>
                </p:blipFill>
                <p:spPr>
                  <a:xfrm>
                    <a:off x="5026411" y="2910704"/>
                    <a:ext cx="2872491" cy="581620"/>
                  </a:xfrm>
                  <a:prstGeom prst="rect">
                    <a:avLst/>
                  </a:prstGeom>
                </p:spPr>
              </p:pic>
            </p:grpSp>
            <p:sp>
              <p:nvSpPr>
                <p:cNvPr id="20" name="TextBox 19">
                  <a:extLst>
                    <a:ext uri="{FF2B5EF4-FFF2-40B4-BE49-F238E27FC236}">
                      <a16:creationId xmlns:a16="http://schemas.microsoft.com/office/drawing/2014/main" id="{FA0B3440-805B-73DF-E31B-FAED73C456D6}"/>
                    </a:ext>
                  </a:extLst>
                </p:cNvPr>
                <p:cNvSpPr txBox="1"/>
                <p:nvPr/>
              </p:nvSpPr>
              <p:spPr>
                <a:xfrm>
                  <a:off x="7602965" y="3138059"/>
                  <a:ext cx="1541036" cy="369332"/>
                </a:xfrm>
                <a:prstGeom prst="rect">
                  <a:avLst/>
                </a:prstGeom>
                <a:solidFill>
                  <a:schemeClr val="bg1"/>
                </a:solidFill>
              </p:spPr>
              <p:txBody>
                <a:bodyPr wrap="square" rtlCol="0">
                  <a:spAutoFit/>
                </a:bodyPr>
                <a:lstStyle/>
                <a:p>
                  <a:r>
                    <a:rPr lang="en-US" dirty="0">
                      <a:latin typeface="Arial" pitchFamily="34" charset="0"/>
                      <a:cs typeface="Arial" pitchFamily="34" charset="0"/>
                    </a:rPr>
                    <a:t>Similarity = 4</a:t>
                  </a:r>
                </a:p>
              </p:txBody>
            </p:sp>
            <p:sp>
              <p:nvSpPr>
                <p:cNvPr id="21" name="Rectangle 20">
                  <a:extLst>
                    <a:ext uri="{FF2B5EF4-FFF2-40B4-BE49-F238E27FC236}">
                      <a16:creationId xmlns:a16="http://schemas.microsoft.com/office/drawing/2014/main" id="{95BEB845-38C6-54B1-FC36-BD84A66C8FD4}"/>
                    </a:ext>
                  </a:extLst>
                </p:cNvPr>
                <p:cNvSpPr/>
                <p:nvPr/>
              </p:nvSpPr>
              <p:spPr>
                <a:xfrm>
                  <a:off x="4572000" y="3428999"/>
                  <a:ext cx="190918" cy="248698"/>
                </a:xfrm>
                <a:prstGeom prst="rect">
                  <a:avLst/>
                </a:prstGeom>
                <a:solidFill>
                  <a:schemeClr val="bg1"/>
                </a:solidFill>
                <a:ln w="38100">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sp>
          <p:nvSpPr>
            <p:cNvPr id="24" name="TextBox 23">
              <a:extLst>
                <a:ext uri="{FF2B5EF4-FFF2-40B4-BE49-F238E27FC236}">
                  <a16:creationId xmlns:a16="http://schemas.microsoft.com/office/drawing/2014/main" id="{A32DDFE7-098D-1F6D-1671-474DE4EA19BC}"/>
                </a:ext>
              </a:extLst>
            </p:cNvPr>
            <p:cNvSpPr txBox="1"/>
            <p:nvPr/>
          </p:nvSpPr>
          <p:spPr>
            <a:xfrm>
              <a:off x="5417308" y="2724458"/>
              <a:ext cx="1695604"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Dosage &lt; 22.5</a:t>
              </a:r>
            </a:p>
          </p:txBody>
        </p:sp>
      </p:grpSp>
    </p:spTree>
    <p:extLst>
      <p:ext uri="{BB962C8B-B14F-4D97-AF65-F5344CB8AC3E}">
        <p14:creationId xmlns:p14="http://schemas.microsoft.com/office/powerpoint/2010/main" val="1505717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63E4-2D4D-AE63-1903-4673C8918B75}"/>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4F556ED1-C887-4B7A-C5E8-5DD734651635}"/>
              </a:ext>
            </a:extLst>
          </p:cNvPr>
          <p:cNvSpPr>
            <a:spLocks noGrp="1"/>
          </p:cNvSpPr>
          <p:nvPr>
            <p:ph idx="1"/>
          </p:nvPr>
        </p:nvSpPr>
        <p:spPr/>
        <p:txBody>
          <a:bodyPr/>
          <a:lstStyle/>
          <a:p>
            <a:r>
              <a:rPr lang="en-US" dirty="0"/>
              <a:t>Let’s set</a:t>
            </a:r>
          </a:p>
          <a:p>
            <a:pPr marL="118872" indent="0">
              <a:buNone/>
            </a:pPr>
            <a:endParaRPr lang="en-US" dirty="0"/>
          </a:p>
          <a:p>
            <a:endParaRPr lang="en-US" dirty="0"/>
          </a:p>
          <a:p>
            <a:r>
              <a:rPr lang="en-US" dirty="0"/>
              <a:t>Let’s grow the tree: </a:t>
            </a:r>
          </a:p>
        </p:txBody>
      </p:sp>
      <p:sp>
        <p:nvSpPr>
          <p:cNvPr id="4" name="Date Placeholder 3">
            <a:extLst>
              <a:ext uri="{FF2B5EF4-FFF2-40B4-BE49-F238E27FC236}">
                <a16:creationId xmlns:a16="http://schemas.microsoft.com/office/drawing/2014/main" id="{084ED83D-F9C5-934B-CF6B-233B3AEBC20A}"/>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4B4595C4-B4A0-0E4E-C66F-4BCFFFCB629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A31BF49-AD8A-254E-0C16-2DAC886AD6CF}"/>
              </a:ext>
            </a:extLst>
          </p:cNvPr>
          <p:cNvSpPr>
            <a:spLocks noGrp="1"/>
          </p:cNvSpPr>
          <p:nvPr>
            <p:ph type="sldNum" sz="quarter" idx="12"/>
          </p:nvPr>
        </p:nvSpPr>
        <p:spPr/>
        <p:txBody>
          <a:bodyPr/>
          <a:lstStyle/>
          <a:p>
            <a:fld id="{19B12225-5612-419B-A8D5-4B8EEE4C217E}" type="slidenum">
              <a:rPr lang="en-US" smtClean="0"/>
              <a:pPr/>
              <a:t>27</a:t>
            </a:fld>
            <a:endParaRPr lang="en-US"/>
          </a:p>
        </p:txBody>
      </p:sp>
      <p:pic>
        <p:nvPicPr>
          <p:cNvPr id="7" name="Picture 6">
            <a:extLst>
              <a:ext uri="{FF2B5EF4-FFF2-40B4-BE49-F238E27FC236}">
                <a16:creationId xmlns:a16="http://schemas.microsoft.com/office/drawing/2014/main" id="{5370EE1A-5371-652D-A730-9A28FDD1DE28}"/>
              </a:ext>
            </a:extLst>
          </p:cNvPr>
          <p:cNvPicPr>
            <a:picLocks noChangeAspect="1"/>
          </p:cNvPicPr>
          <p:nvPr/>
        </p:nvPicPr>
        <p:blipFill>
          <a:blip r:embed="rId2"/>
          <a:stretch>
            <a:fillRect/>
          </a:stretch>
        </p:blipFill>
        <p:spPr>
          <a:xfrm>
            <a:off x="5931284" y="1426083"/>
            <a:ext cx="2402742" cy="55791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17CB010-DCEF-349B-94C7-A5287F7C0ABA}"/>
                  </a:ext>
                </a:extLst>
              </p:cNvPr>
              <p:cNvSpPr txBox="1"/>
              <p:nvPr/>
            </p:nvSpPr>
            <p:spPr>
              <a:xfrm>
                <a:off x="4129061" y="1994324"/>
                <a:ext cx="5047792" cy="550728"/>
              </a:xfrm>
              <a:prstGeom prst="rect">
                <a:avLst/>
              </a:prstGeom>
              <a:noFill/>
            </p:spPr>
            <p:txBody>
              <a:bodyPr wrap="none" lIns="0" tIns="0" rIns="0" bIns="0" rtlCol="0">
                <a:spAutoFit/>
              </a:bodyPr>
              <a:lstStyle/>
              <a:p>
                <a:r>
                  <a:rPr lang="en-US" sz="2400" dirty="0">
                    <a:cs typeface="Arial" pitchFamily="34" charset="0"/>
                  </a:rPr>
                  <a:t>similarity score = </a:t>
                </a:r>
                <a14:m>
                  <m:oMath xmlns:m="http://schemas.openxmlformats.org/officeDocument/2006/math">
                    <m:f>
                      <m:fPr>
                        <m:ctrlPr>
                          <a:rPr lang="en-US" sz="2400" i="1" smtClean="0">
                            <a:latin typeface="Cambria Math" panose="02040503050406030204" pitchFamily="18" charset="0"/>
                            <a:cs typeface="Arial" pitchFamily="34" charset="0"/>
                          </a:rPr>
                        </m:ctrlPr>
                      </m:fPr>
                      <m:num>
                        <m:d>
                          <m:dPr>
                            <m:ctrlPr>
                              <a:rPr lang="en-US" sz="2400" b="0" i="1" smtClean="0">
                                <a:latin typeface="Cambria Math" panose="02040503050406030204" pitchFamily="18" charset="0"/>
                                <a:cs typeface="Arial" pitchFamily="34" charset="0"/>
                              </a:rPr>
                            </m:ctrlPr>
                          </m:dPr>
                          <m:e>
                            <m:r>
                              <a:rPr lang="en-US" sz="2400" b="0" i="1" smtClean="0">
                                <a:latin typeface="Cambria Math" panose="02040503050406030204" pitchFamily="18" charset="0"/>
                                <a:cs typeface="Arial" pitchFamily="34" charset="0"/>
                              </a:rPr>
                              <m:t>−10.5+6.5+7.5−7.5</m:t>
                            </m:r>
                          </m:e>
                        </m:d>
                        <m:r>
                          <a:rPr lang="en-US" sz="2400" b="0" i="1" baseline="30000" smtClean="0">
                            <a:latin typeface="Cambria Math" panose="02040503050406030204" pitchFamily="18" charset="0"/>
                            <a:cs typeface="Arial" pitchFamily="34" charset="0"/>
                          </a:rPr>
                          <m:t>2</m:t>
                        </m:r>
                      </m:num>
                      <m:den>
                        <m:r>
                          <a:rPr lang="en-US" sz="2400" b="0" i="1" smtClean="0">
                            <a:latin typeface="Cambria Math" panose="02040503050406030204" pitchFamily="18" charset="0"/>
                            <a:cs typeface="Arial" pitchFamily="34" charset="0"/>
                          </a:rPr>
                          <m:t>4+</m:t>
                        </m:r>
                        <m:r>
                          <a:rPr lang="en-US" sz="2400" b="0" i="1" smtClean="0">
                            <a:latin typeface="Cambria Math" panose="02040503050406030204" pitchFamily="18" charset="0"/>
                            <a:ea typeface="Cambria Math" panose="02040503050406030204" pitchFamily="18" charset="0"/>
                            <a:cs typeface="Arial" pitchFamily="34" charset="0"/>
                          </a:rPr>
                          <m:t>0</m:t>
                        </m:r>
                      </m:den>
                    </m:f>
                    <m:r>
                      <a:rPr lang="en-US" sz="2400" b="0" i="1" smtClean="0">
                        <a:latin typeface="Cambria Math" panose="02040503050406030204" pitchFamily="18" charset="0"/>
                        <a:cs typeface="Arial" pitchFamily="34" charset="0"/>
                      </a:rPr>
                      <m:t>=4</m:t>
                    </m:r>
                  </m:oMath>
                </a14:m>
                <a:endParaRPr lang="en-US" sz="2400" dirty="0">
                  <a:latin typeface="Arial" pitchFamily="34" charset="0"/>
                  <a:cs typeface="Arial" pitchFamily="34" charset="0"/>
                </a:endParaRPr>
              </a:p>
            </p:txBody>
          </p:sp>
        </mc:Choice>
        <mc:Fallback xmlns="">
          <p:sp>
            <p:nvSpPr>
              <p:cNvPr id="8" name="TextBox 7">
                <a:extLst>
                  <a:ext uri="{FF2B5EF4-FFF2-40B4-BE49-F238E27FC236}">
                    <a16:creationId xmlns:a16="http://schemas.microsoft.com/office/drawing/2014/main" id="{217CB010-DCEF-349B-94C7-A5287F7C0ABA}"/>
                  </a:ext>
                </a:extLst>
              </p:cNvPr>
              <p:cNvSpPr txBox="1">
                <a:spLocks noRot="1" noChangeAspect="1" noMove="1" noResize="1" noEditPoints="1" noAdjustHandles="1" noChangeArrowheads="1" noChangeShapeType="1" noTextEdit="1"/>
              </p:cNvSpPr>
              <p:nvPr/>
            </p:nvSpPr>
            <p:spPr>
              <a:xfrm>
                <a:off x="4129061" y="1994324"/>
                <a:ext cx="5047792" cy="550728"/>
              </a:xfrm>
              <a:prstGeom prst="rect">
                <a:avLst/>
              </a:prstGeom>
              <a:blipFill>
                <a:blip r:embed="rId3"/>
                <a:stretch>
                  <a:fillRect l="-3509" r="-1253"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217A1C3-FE82-5294-70C8-AE25E6659E85}"/>
                  </a:ext>
                </a:extLst>
              </p:cNvPr>
              <p:cNvSpPr txBox="1"/>
              <p:nvPr/>
            </p:nvSpPr>
            <p:spPr>
              <a:xfrm>
                <a:off x="2190540" y="1415252"/>
                <a:ext cx="1326383"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𝜆</m:t>
                      </m:r>
                      <m:r>
                        <a:rPr lang="en-US" sz="2600" b="0" i="1" smtClean="0">
                          <a:solidFill>
                            <a:srgbClr val="FF0000"/>
                          </a:solidFill>
                          <a:latin typeface="Cambria Math" panose="02040503050406030204" pitchFamily="18" charset="0"/>
                          <a:ea typeface="Cambria Math" panose="02040503050406030204" pitchFamily="18" charset="0"/>
                          <a:cs typeface="Arial" pitchFamily="34" charset="0"/>
                        </a:rPr>
                        <m:t>=0</m:t>
                      </m:r>
                    </m:oMath>
                  </m:oMathPara>
                </a14:m>
                <a:endParaRPr lang="en-US" sz="2600" dirty="0"/>
              </a:p>
            </p:txBody>
          </p:sp>
        </mc:Choice>
        <mc:Fallback xmlns="">
          <p:sp>
            <p:nvSpPr>
              <p:cNvPr id="10" name="TextBox 9">
                <a:extLst>
                  <a:ext uri="{FF2B5EF4-FFF2-40B4-BE49-F238E27FC236}">
                    <a16:creationId xmlns:a16="http://schemas.microsoft.com/office/drawing/2014/main" id="{2217A1C3-FE82-5294-70C8-AE25E6659E85}"/>
                  </a:ext>
                </a:extLst>
              </p:cNvPr>
              <p:cNvSpPr txBox="1">
                <a:spLocks noRot="1" noChangeAspect="1" noMove="1" noResize="1" noEditPoints="1" noAdjustHandles="1" noChangeArrowheads="1" noChangeShapeType="1" noTextEdit="1"/>
              </p:cNvSpPr>
              <p:nvPr/>
            </p:nvSpPr>
            <p:spPr>
              <a:xfrm>
                <a:off x="2190540" y="1415252"/>
                <a:ext cx="1326383" cy="492443"/>
              </a:xfrm>
              <a:prstGeom prst="rect">
                <a:avLst/>
              </a:prstGeom>
              <a:blipFill>
                <a:blip r:embed="rId4"/>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A1D96593-12A9-4989-24A9-8DB7ECEFC92B}"/>
              </a:ext>
            </a:extLst>
          </p:cNvPr>
          <p:cNvPicPr>
            <a:picLocks noChangeAspect="1"/>
          </p:cNvPicPr>
          <p:nvPr/>
        </p:nvPicPr>
        <p:blipFill>
          <a:blip r:embed="rId5"/>
          <a:stretch>
            <a:fillRect/>
          </a:stretch>
        </p:blipFill>
        <p:spPr>
          <a:xfrm>
            <a:off x="1220128"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5" name="Straight Connector 14">
            <a:extLst>
              <a:ext uri="{FF2B5EF4-FFF2-40B4-BE49-F238E27FC236}">
                <a16:creationId xmlns:a16="http://schemas.microsoft.com/office/drawing/2014/main" id="{84A621AF-7B13-E1A7-7A28-EF3BA2C2F03C}"/>
              </a:ext>
            </a:extLst>
          </p:cNvPr>
          <p:cNvCxnSpPr/>
          <p:nvPr/>
        </p:nvCxnSpPr>
        <p:spPr>
          <a:xfrm>
            <a:off x="2903967" y="3969099"/>
            <a:ext cx="0" cy="2170444"/>
          </a:xfrm>
          <a:prstGeom prst="line">
            <a:avLst/>
          </a:prstGeom>
          <a:ln/>
        </p:spPr>
        <p:style>
          <a:lnRef idx="2">
            <a:schemeClr val="accent6"/>
          </a:lnRef>
          <a:fillRef idx="0">
            <a:schemeClr val="accent6"/>
          </a:fillRef>
          <a:effectRef idx="1">
            <a:schemeClr val="accent6"/>
          </a:effectRef>
          <a:fontRef idx="minor">
            <a:schemeClr val="tx1"/>
          </a:fontRef>
        </p:style>
      </p:cxnSp>
      <p:pic>
        <p:nvPicPr>
          <p:cNvPr id="9" name="Picture 8">
            <a:extLst>
              <a:ext uri="{FF2B5EF4-FFF2-40B4-BE49-F238E27FC236}">
                <a16:creationId xmlns:a16="http://schemas.microsoft.com/office/drawing/2014/main" id="{659F17F7-F1A5-BCC3-76D7-6A12817BE43E}"/>
              </a:ext>
            </a:extLst>
          </p:cNvPr>
          <p:cNvPicPr>
            <a:picLocks noChangeAspect="1"/>
          </p:cNvPicPr>
          <p:nvPr/>
        </p:nvPicPr>
        <p:blipFill>
          <a:blip r:embed="rId6"/>
          <a:stretch>
            <a:fillRect/>
          </a:stretch>
        </p:blipFill>
        <p:spPr>
          <a:xfrm>
            <a:off x="4935079" y="2904854"/>
            <a:ext cx="3913104" cy="1408095"/>
          </a:xfrm>
          <a:prstGeom prst="rect">
            <a:avLst/>
          </a:prstGeom>
        </p:spPr>
      </p:pic>
      <p:sp>
        <p:nvSpPr>
          <p:cNvPr id="12" name="Rectangle 11">
            <a:extLst>
              <a:ext uri="{FF2B5EF4-FFF2-40B4-BE49-F238E27FC236}">
                <a16:creationId xmlns:a16="http://schemas.microsoft.com/office/drawing/2014/main" id="{843F5A0E-6BD5-0C39-C49D-D2373D1EFDA1}"/>
              </a:ext>
            </a:extLst>
          </p:cNvPr>
          <p:cNvSpPr/>
          <p:nvPr/>
        </p:nvSpPr>
        <p:spPr>
          <a:xfrm>
            <a:off x="4762918" y="3074796"/>
            <a:ext cx="641585"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4" name="Picture 13">
            <a:extLst>
              <a:ext uri="{FF2B5EF4-FFF2-40B4-BE49-F238E27FC236}">
                <a16:creationId xmlns:a16="http://schemas.microsoft.com/office/drawing/2014/main" id="{F18D55B5-8983-2B02-7869-D6A5511338B2}"/>
              </a:ext>
            </a:extLst>
          </p:cNvPr>
          <p:cNvPicPr>
            <a:picLocks noChangeAspect="1"/>
          </p:cNvPicPr>
          <p:nvPr/>
        </p:nvPicPr>
        <p:blipFill>
          <a:blip r:embed="rId7"/>
          <a:stretch>
            <a:fillRect/>
          </a:stretch>
        </p:blipFill>
        <p:spPr>
          <a:xfrm>
            <a:off x="3534263" y="5470630"/>
            <a:ext cx="5403997" cy="401205"/>
          </a:xfrm>
          <a:prstGeom prst="rect">
            <a:avLst/>
          </a:prstGeom>
        </p:spPr>
      </p:pic>
      <p:sp>
        <p:nvSpPr>
          <p:cNvPr id="18" name="TextBox 17">
            <a:extLst>
              <a:ext uri="{FF2B5EF4-FFF2-40B4-BE49-F238E27FC236}">
                <a16:creationId xmlns:a16="http://schemas.microsoft.com/office/drawing/2014/main" id="{9AB53131-0709-0FEE-8193-3A0145D561AB}"/>
              </a:ext>
            </a:extLst>
          </p:cNvPr>
          <p:cNvSpPr txBox="1"/>
          <p:nvPr/>
        </p:nvSpPr>
        <p:spPr>
          <a:xfrm>
            <a:off x="4812725" y="4312949"/>
            <a:ext cx="1894406" cy="369332"/>
          </a:xfrm>
          <a:prstGeom prst="rect">
            <a:avLst/>
          </a:prstGeom>
          <a:noFill/>
        </p:spPr>
        <p:txBody>
          <a:bodyPr wrap="square" rtlCol="0">
            <a:spAutoFit/>
          </a:bodyPr>
          <a:lstStyle/>
          <a:p>
            <a:r>
              <a:rPr lang="en-US" dirty="0">
                <a:latin typeface="Arial" pitchFamily="34" charset="0"/>
                <a:cs typeface="Arial" pitchFamily="34" charset="0"/>
              </a:rPr>
              <a:t>Similarity = 4.08</a:t>
            </a:r>
          </a:p>
        </p:txBody>
      </p:sp>
      <p:sp>
        <p:nvSpPr>
          <p:cNvPr id="19" name="TextBox 18">
            <a:extLst>
              <a:ext uri="{FF2B5EF4-FFF2-40B4-BE49-F238E27FC236}">
                <a16:creationId xmlns:a16="http://schemas.microsoft.com/office/drawing/2014/main" id="{2B53731D-A905-66EF-4DB9-5AB065801416}"/>
              </a:ext>
            </a:extLst>
          </p:cNvPr>
          <p:cNvSpPr txBox="1"/>
          <p:nvPr/>
        </p:nvSpPr>
        <p:spPr>
          <a:xfrm>
            <a:off x="6978116" y="4299539"/>
            <a:ext cx="1979668" cy="369332"/>
          </a:xfrm>
          <a:prstGeom prst="rect">
            <a:avLst/>
          </a:prstGeom>
          <a:noFill/>
        </p:spPr>
        <p:txBody>
          <a:bodyPr wrap="square" rtlCol="0">
            <a:spAutoFit/>
          </a:bodyPr>
          <a:lstStyle/>
          <a:p>
            <a:r>
              <a:rPr lang="en-US" dirty="0">
                <a:latin typeface="Arial" pitchFamily="34" charset="0"/>
                <a:cs typeface="Arial" pitchFamily="34" charset="0"/>
              </a:rPr>
              <a:t>Similarity = 56.25</a:t>
            </a:r>
          </a:p>
        </p:txBody>
      </p:sp>
      <p:sp>
        <p:nvSpPr>
          <p:cNvPr id="20" name="TextBox 19">
            <a:extLst>
              <a:ext uri="{FF2B5EF4-FFF2-40B4-BE49-F238E27FC236}">
                <a16:creationId xmlns:a16="http://schemas.microsoft.com/office/drawing/2014/main" id="{FA0B3440-805B-73DF-E31B-FAED73C456D6}"/>
              </a:ext>
            </a:extLst>
          </p:cNvPr>
          <p:cNvSpPr txBox="1"/>
          <p:nvPr/>
        </p:nvSpPr>
        <p:spPr>
          <a:xfrm>
            <a:off x="7585464" y="3051473"/>
            <a:ext cx="1511335" cy="377526"/>
          </a:xfrm>
          <a:prstGeom prst="rect">
            <a:avLst/>
          </a:prstGeom>
          <a:solidFill>
            <a:schemeClr val="bg1"/>
          </a:solidFill>
        </p:spPr>
        <p:txBody>
          <a:bodyPr wrap="square" rtlCol="0">
            <a:spAutoFit/>
          </a:bodyPr>
          <a:lstStyle/>
          <a:p>
            <a:r>
              <a:rPr lang="en-US" dirty="0">
                <a:latin typeface="Arial" pitchFamily="34" charset="0"/>
                <a:cs typeface="Arial" pitchFamily="34" charset="0"/>
              </a:rPr>
              <a:t>Similarity = 4</a:t>
            </a:r>
          </a:p>
        </p:txBody>
      </p:sp>
      <p:pic>
        <p:nvPicPr>
          <p:cNvPr id="11" name="Picture 10">
            <a:extLst>
              <a:ext uri="{FF2B5EF4-FFF2-40B4-BE49-F238E27FC236}">
                <a16:creationId xmlns:a16="http://schemas.microsoft.com/office/drawing/2014/main" id="{0F788486-780A-F3D7-AAC9-856E776669F0}"/>
              </a:ext>
            </a:extLst>
          </p:cNvPr>
          <p:cNvPicPr>
            <a:picLocks noChangeAspect="1"/>
          </p:cNvPicPr>
          <p:nvPr/>
        </p:nvPicPr>
        <p:blipFill>
          <a:blip r:embed="rId8"/>
          <a:stretch>
            <a:fillRect/>
          </a:stretch>
        </p:blipFill>
        <p:spPr>
          <a:xfrm>
            <a:off x="4315044" y="3790137"/>
            <a:ext cx="2407303" cy="553291"/>
          </a:xfrm>
          <a:prstGeom prst="rect">
            <a:avLst/>
          </a:prstGeom>
        </p:spPr>
      </p:pic>
      <p:pic>
        <p:nvPicPr>
          <p:cNvPr id="16" name="Picture 15">
            <a:extLst>
              <a:ext uri="{FF2B5EF4-FFF2-40B4-BE49-F238E27FC236}">
                <a16:creationId xmlns:a16="http://schemas.microsoft.com/office/drawing/2014/main" id="{A1866B7A-2E91-7089-4860-DC337C5902DE}"/>
              </a:ext>
            </a:extLst>
          </p:cNvPr>
          <p:cNvPicPr>
            <a:picLocks noChangeAspect="1"/>
          </p:cNvPicPr>
          <p:nvPr/>
        </p:nvPicPr>
        <p:blipFill>
          <a:blip r:embed="rId9"/>
          <a:stretch>
            <a:fillRect/>
          </a:stretch>
        </p:blipFill>
        <p:spPr>
          <a:xfrm>
            <a:off x="6816732" y="3790137"/>
            <a:ext cx="1266587" cy="576624"/>
          </a:xfrm>
          <a:prstGeom prst="rect">
            <a:avLst/>
          </a:prstGeom>
        </p:spPr>
      </p:pic>
      <p:sp>
        <p:nvSpPr>
          <p:cNvPr id="21" name="Rectangle 20">
            <a:extLst>
              <a:ext uri="{FF2B5EF4-FFF2-40B4-BE49-F238E27FC236}">
                <a16:creationId xmlns:a16="http://schemas.microsoft.com/office/drawing/2014/main" id="{1A27C452-C230-357F-C42E-7CD330E3A6A2}"/>
              </a:ext>
            </a:extLst>
          </p:cNvPr>
          <p:cNvSpPr/>
          <p:nvPr/>
        </p:nvSpPr>
        <p:spPr>
          <a:xfrm>
            <a:off x="8083319" y="3697793"/>
            <a:ext cx="603481" cy="601746"/>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22" name="Picture 21">
            <a:extLst>
              <a:ext uri="{FF2B5EF4-FFF2-40B4-BE49-F238E27FC236}">
                <a16:creationId xmlns:a16="http://schemas.microsoft.com/office/drawing/2014/main" id="{2B49C996-8659-9BD2-C68A-3DAE560B161F}"/>
              </a:ext>
            </a:extLst>
          </p:cNvPr>
          <p:cNvPicPr>
            <a:picLocks noChangeAspect="1"/>
          </p:cNvPicPr>
          <p:nvPr/>
        </p:nvPicPr>
        <p:blipFill>
          <a:blip r:embed="rId10"/>
          <a:stretch>
            <a:fillRect/>
          </a:stretch>
        </p:blipFill>
        <p:spPr>
          <a:xfrm>
            <a:off x="5202213" y="3008700"/>
            <a:ext cx="2272666" cy="470552"/>
          </a:xfrm>
          <a:prstGeom prst="rect">
            <a:avLst/>
          </a:prstGeom>
        </p:spPr>
      </p:pic>
      <p:pic>
        <p:nvPicPr>
          <p:cNvPr id="23" name="Picture 22">
            <a:extLst>
              <a:ext uri="{FF2B5EF4-FFF2-40B4-BE49-F238E27FC236}">
                <a16:creationId xmlns:a16="http://schemas.microsoft.com/office/drawing/2014/main" id="{13067F82-E738-69A7-1F17-6A22793215CD}"/>
              </a:ext>
            </a:extLst>
          </p:cNvPr>
          <p:cNvPicPr>
            <a:picLocks noChangeAspect="1"/>
          </p:cNvPicPr>
          <p:nvPr/>
        </p:nvPicPr>
        <p:blipFill>
          <a:blip r:embed="rId11"/>
          <a:stretch>
            <a:fillRect/>
          </a:stretch>
        </p:blipFill>
        <p:spPr>
          <a:xfrm>
            <a:off x="3515263" y="5925794"/>
            <a:ext cx="4231358" cy="427498"/>
          </a:xfrm>
          <a:prstGeom prst="rect">
            <a:avLst/>
          </a:prstGeom>
        </p:spPr>
      </p:pic>
      <p:sp>
        <p:nvSpPr>
          <p:cNvPr id="17" name="TextBox 16">
            <a:extLst>
              <a:ext uri="{FF2B5EF4-FFF2-40B4-BE49-F238E27FC236}">
                <a16:creationId xmlns:a16="http://schemas.microsoft.com/office/drawing/2014/main" id="{29853DCF-38B6-5107-AFAA-1BCE5DDCFE47}"/>
              </a:ext>
            </a:extLst>
          </p:cNvPr>
          <p:cNvSpPr txBox="1"/>
          <p:nvPr/>
        </p:nvSpPr>
        <p:spPr>
          <a:xfrm>
            <a:off x="5417308" y="2664170"/>
            <a:ext cx="1695604"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Dosage &lt; 30</a:t>
            </a:r>
          </a:p>
        </p:txBody>
      </p:sp>
      <p:pic>
        <p:nvPicPr>
          <p:cNvPr id="24" name="Picture 23">
            <a:extLst>
              <a:ext uri="{FF2B5EF4-FFF2-40B4-BE49-F238E27FC236}">
                <a16:creationId xmlns:a16="http://schemas.microsoft.com/office/drawing/2014/main" id="{3EB737FA-06DC-DD41-69F4-4DB9AA35A8C6}"/>
              </a:ext>
            </a:extLst>
          </p:cNvPr>
          <p:cNvPicPr>
            <a:picLocks noChangeAspect="1"/>
          </p:cNvPicPr>
          <p:nvPr/>
        </p:nvPicPr>
        <p:blipFill>
          <a:blip r:embed="rId12"/>
          <a:stretch>
            <a:fillRect/>
          </a:stretch>
        </p:blipFill>
        <p:spPr>
          <a:xfrm>
            <a:off x="4953597" y="2991740"/>
            <a:ext cx="2680211" cy="503728"/>
          </a:xfrm>
          <a:prstGeom prst="rect">
            <a:avLst/>
          </a:prstGeom>
        </p:spPr>
      </p:pic>
    </p:spTree>
    <p:extLst>
      <p:ext uri="{BB962C8B-B14F-4D97-AF65-F5344CB8AC3E}">
        <p14:creationId xmlns:p14="http://schemas.microsoft.com/office/powerpoint/2010/main" val="1708756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AC38D-E2A1-40B9-A7F8-1BD1C7BE0646}"/>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1571F2FD-5F26-8B72-77DB-E8FCE4AFBC06}"/>
              </a:ext>
            </a:extLst>
          </p:cNvPr>
          <p:cNvSpPr>
            <a:spLocks noGrp="1"/>
          </p:cNvSpPr>
          <p:nvPr>
            <p:ph idx="1"/>
          </p:nvPr>
        </p:nvSpPr>
        <p:spPr/>
        <p:txBody>
          <a:bodyPr/>
          <a:lstStyle/>
          <a:p>
            <a:r>
              <a:rPr lang="en-US" dirty="0"/>
              <a:t>So far:</a:t>
            </a:r>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D662012E-3383-A3B0-B603-95D5F4D77CE0}"/>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819BDB1A-D823-D6A3-7125-B4533B995A27}"/>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31F6B9E-1252-E0CC-AE7E-B06158B2B9A0}"/>
              </a:ext>
            </a:extLst>
          </p:cNvPr>
          <p:cNvSpPr>
            <a:spLocks noGrp="1"/>
          </p:cNvSpPr>
          <p:nvPr>
            <p:ph type="sldNum" sz="quarter" idx="12"/>
          </p:nvPr>
        </p:nvSpPr>
        <p:spPr/>
        <p:txBody>
          <a:bodyPr/>
          <a:lstStyle/>
          <a:p>
            <a:fld id="{19B12225-5612-419B-A8D5-4B8EEE4C217E}" type="slidenum">
              <a:rPr lang="en-US" smtClean="0"/>
              <a:pPr/>
              <a:t>28</a:t>
            </a:fld>
            <a:endParaRPr lang="en-US"/>
          </a:p>
        </p:txBody>
      </p:sp>
      <p:grpSp>
        <p:nvGrpSpPr>
          <p:cNvPr id="20" name="Group 19">
            <a:extLst>
              <a:ext uri="{FF2B5EF4-FFF2-40B4-BE49-F238E27FC236}">
                <a16:creationId xmlns:a16="http://schemas.microsoft.com/office/drawing/2014/main" id="{010A7C36-675D-4B8E-CB45-7EA2A15BC6DE}"/>
              </a:ext>
            </a:extLst>
          </p:cNvPr>
          <p:cNvGrpSpPr/>
          <p:nvPr/>
        </p:nvGrpSpPr>
        <p:grpSpPr>
          <a:xfrm>
            <a:off x="4724400" y="1724012"/>
            <a:ext cx="4162524" cy="2119448"/>
            <a:chOff x="4724400" y="1724012"/>
            <a:chExt cx="4162524" cy="2119448"/>
          </a:xfrm>
        </p:grpSpPr>
        <p:pic>
          <p:nvPicPr>
            <p:cNvPr id="15" name="Picture 14">
              <a:extLst>
                <a:ext uri="{FF2B5EF4-FFF2-40B4-BE49-F238E27FC236}">
                  <a16:creationId xmlns:a16="http://schemas.microsoft.com/office/drawing/2014/main" id="{F59ED1BC-11FD-4D41-4963-EC5DAD8357DB}"/>
                </a:ext>
              </a:extLst>
            </p:cNvPr>
            <p:cNvPicPr>
              <a:picLocks noChangeAspect="1"/>
            </p:cNvPicPr>
            <p:nvPr/>
          </p:nvPicPr>
          <p:blipFill>
            <a:blip r:embed="rId2"/>
            <a:stretch>
              <a:fillRect/>
            </a:stretch>
          </p:blipFill>
          <p:spPr>
            <a:xfrm>
              <a:off x="4724400" y="1754490"/>
              <a:ext cx="4162524" cy="2088970"/>
            </a:xfrm>
            <a:prstGeom prst="rect">
              <a:avLst/>
            </a:prstGeom>
          </p:spPr>
        </p:pic>
        <p:sp>
          <p:nvSpPr>
            <p:cNvPr id="16" name="Rectangle 15">
              <a:extLst>
                <a:ext uri="{FF2B5EF4-FFF2-40B4-BE49-F238E27FC236}">
                  <a16:creationId xmlns:a16="http://schemas.microsoft.com/office/drawing/2014/main" id="{063D3989-D664-A178-A259-211A5DE8511F}"/>
                </a:ext>
              </a:extLst>
            </p:cNvPr>
            <p:cNvSpPr/>
            <p:nvPr/>
          </p:nvSpPr>
          <p:spPr>
            <a:xfrm>
              <a:off x="7403232" y="1724012"/>
              <a:ext cx="1460616" cy="63417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 name="Rectangle 16">
              <a:extLst>
                <a:ext uri="{FF2B5EF4-FFF2-40B4-BE49-F238E27FC236}">
                  <a16:creationId xmlns:a16="http://schemas.microsoft.com/office/drawing/2014/main" id="{D3D8B361-34EF-E13F-9EEC-7D3055F119AC}"/>
                </a:ext>
              </a:extLst>
            </p:cNvPr>
            <p:cNvSpPr/>
            <p:nvPr/>
          </p:nvSpPr>
          <p:spPr>
            <a:xfrm>
              <a:off x="4919831" y="3179126"/>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Rectangle 17">
              <a:extLst>
                <a:ext uri="{FF2B5EF4-FFF2-40B4-BE49-F238E27FC236}">
                  <a16:creationId xmlns:a16="http://schemas.microsoft.com/office/drawing/2014/main" id="{1396FAA4-4015-54CF-CBCA-40CB96B41F48}"/>
                </a:ext>
              </a:extLst>
            </p:cNvPr>
            <p:cNvSpPr/>
            <p:nvPr/>
          </p:nvSpPr>
          <p:spPr>
            <a:xfrm>
              <a:off x="6803315" y="3179125"/>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9" name="Picture 18">
              <a:extLst>
                <a:ext uri="{FF2B5EF4-FFF2-40B4-BE49-F238E27FC236}">
                  <a16:creationId xmlns:a16="http://schemas.microsoft.com/office/drawing/2014/main" id="{117817F4-B21B-EFDB-1321-68F540F2A190}"/>
                </a:ext>
              </a:extLst>
            </p:cNvPr>
            <p:cNvPicPr>
              <a:picLocks noChangeAspect="1"/>
            </p:cNvPicPr>
            <p:nvPr/>
          </p:nvPicPr>
          <p:blipFill>
            <a:blip r:embed="rId3"/>
            <a:stretch>
              <a:fillRect/>
            </a:stretch>
          </p:blipFill>
          <p:spPr>
            <a:xfrm>
              <a:off x="5009407" y="1884695"/>
              <a:ext cx="2426966" cy="492368"/>
            </a:xfrm>
            <a:prstGeom prst="rect">
              <a:avLst/>
            </a:prstGeom>
          </p:spPr>
        </p:pic>
      </p:grpSp>
      <p:pic>
        <p:nvPicPr>
          <p:cNvPr id="21" name="Picture 20">
            <a:extLst>
              <a:ext uri="{FF2B5EF4-FFF2-40B4-BE49-F238E27FC236}">
                <a16:creationId xmlns:a16="http://schemas.microsoft.com/office/drawing/2014/main" id="{DD28D4BD-0EE2-147C-174B-D4D021884F10}"/>
              </a:ext>
            </a:extLst>
          </p:cNvPr>
          <p:cNvPicPr>
            <a:picLocks noChangeAspect="1"/>
          </p:cNvPicPr>
          <p:nvPr/>
        </p:nvPicPr>
        <p:blipFill>
          <a:blip r:embed="rId4"/>
          <a:stretch>
            <a:fillRect/>
          </a:stretch>
        </p:blipFill>
        <p:spPr>
          <a:xfrm>
            <a:off x="808147"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2" name="Straight Connector 21">
            <a:extLst>
              <a:ext uri="{FF2B5EF4-FFF2-40B4-BE49-F238E27FC236}">
                <a16:creationId xmlns:a16="http://schemas.microsoft.com/office/drawing/2014/main" id="{7F1CC4A1-F17E-C243-175A-FCA6544D570F}"/>
              </a:ext>
            </a:extLst>
          </p:cNvPr>
          <p:cNvCxnSpPr/>
          <p:nvPr/>
        </p:nvCxnSpPr>
        <p:spPr>
          <a:xfrm>
            <a:off x="1929284" y="3969099"/>
            <a:ext cx="0" cy="2170444"/>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23" name="Straight Connector 22">
            <a:extLst>
              <a:ext uri="{FF2B5EF4-FFF2-40B4-BE49-F238E27FC236}">
                <a16:creationId xmlns:a16="http://schemas.microsoft.com/office/drawing/2014/main" id="{AC8E05F3-F2C4-DE99-0059-A40231FD5F8E}"/>
              </a:ext>
            </a:extLst>
          </p:cNvPr>
          <p:cNvCxnSpPr/>
          <p:nvPr/>
        </p:nvCxnSpPr>
        <p:spPr>
          <a:xfrm>
            <a:off x="2262555" y="3969099"/>
            <a:ext cx="0" cy="2170444"/>
          </a:xfrm>
          <a:prstGeom prst="line">
            <a:avLst/>
          </a:prstGeom>
          <a:ln/>
        </p:spPr>
        <p:style>
          <a:lnRef idx="2">
            <a:schemeClr val="accent4"/>
          </a:lnRef>
          <a:fillRef idx="0">
            <a:schemeClr val="accent4"/>
          </a:fillRef>
          <a:effectRef idx="1">
            <a:schemeClr val="accent4"/>
          </a:effectRef>
          <a:fontRef idx="minor">
            <a:schemeClr val="tx1"/>
          </a:fontRef>
        </p:style>
      </p:cxnSp>
      <p:sp>
        <p:nvSpPr>
          <p:cNvPr id="24" name="TextBox 23">
            <a:extLst>
              <a:ext uri="{FF2B5EF4-FFF2-40B4-BE49-F238E27FC236}">
                <a16:creationId xmlns:a16="http://schemas.microsoft.com/office/drawing/2014/main" id="{778F5B4A-1062-53E2-A03B-11023283ABC6}"/>
              </a:ext>
            </a:extLst>
          </p:cNvPr>
          <p:cNvSpPr txBox="1"/>
          <p:nvPr/>
        </p:nvSpPr>
        <p:spPr>
          <a:xfrm>
            <a:off x="7110883" y="2393386"/>
            <a:ext cx="1827377"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Dosage &lt; 22.5</a:t>
            </a:r>
          </a:p>
        </p:txBody>
      </p:sp>
      <p:pic>
        <p:nvPicPr>
          <p:cNvPr id="26" name="Picture 25">
            <a:extLst>
              <a:ext uri="{FF2B5EF4-FFF2-40B4-BE49-F238E27FC236}">
                <a16:creationId xmlns:a16="http://schemas.microsoft.com/office/drawing/2014/main" id="{6D0CBACA-6AFD-20A6-DDF0-DD914CAAF287}"/>
              </a:ext>
            </a:extLst>
          </p:cNvPr>
          <p:cNvPicPr>
            <a:picLocks noChangeAspect="1"/>
          </p:cNvPicPr>
          <p:nvPr/>
        </p:nvPicPr>
        <p:blipFill>
          <a:blip r:embed="rId5"/>
          <a:stretch>
            <a:fillRect/>
          </a:stretch>
        </p:blipFill>
        <p:spPr>
          <a:xfrm>
            <a:off x="5962720" y="3145844"/>
            <a:ext cx="3181280" cy="931795"/>
          </a:xfrm>
          <a:prstGeom prst="rect">
            <a:avLst/>
          </a:prstGeom>
        </p:spPr>
      </p:pic>
      <p:sp>
        <p:nvSpPr>
          <p:cNvPr id="27" name="TextBox 26">
            <a:extLst>
              <a:ext uri="{FF2B5EF4-FFF2-40B4-BE49-F238E27FC236}">
                <a16:creationId xmlns:a16="http://schemas.microsoft.com/office/drawing/2014/main" id="{020F6983-7D24-E1C3-29AA-AD8BC1569140}"/>
              </a:ext>
            </a:extLst>
          </p:cNvPr>
          <p:cNvSpPr txBox="1"/>
          <p:nvPr/>
        </p:nvSpPr>
        <p:spPr>
          <a:xfrm>
            <a:off x="5200721" y="3933218"/>
            <a:ext cx="2202511" cy="369332"/>
          </a:xfrm>
          <a:prstGeom prst="rect">
            <a:avLst/>
          </a:prstGeom>
          <a:noFill/>
        </p:spPr>
        <p:txBody>
          <a:bodyPr wrap="square" rtlCol="0">
            <a:spAutoFit/>
          </a:bodyPr>
          <a:lstStyle/>
          <a:p>
            <a:r>
              <a:rPr lang="en-US" dirty="0">
                <a:latin typeface="Arial" pitchFamily="34" charset="0"/>
                <a:cs typeface="Arial" pitchFamily="34" charset="0"/>
              </a:rPr>
              <a:t>Similarity = 42.25</a:t>
            </a:r>
          </a:p>
        </p:txBody>
      </p:sp>
      <p:sp>
        <p:nvSpPr>
          <p:cNvPr id="28" name="TextBox 27">
            <a:extLst>
              <a:ext uri="{FF2B5EF4-FFF2-40B4-BE49-F238E27FC236}">
                <a16:creationId xmlns:a16="http://schemas.microsoft.com/office/drawing/2014/main" id="{175D9A18-41DF-F0AE-8F16-232BD143B109}"/>
              </a:ext>
            </a:extLst>
          </p:cNvPr>
          <p:cNvSpPr txBox="1"/>
          <p:nvPr/>
        </p:nvSpPr>
        <p:spPr>
          <a:xfrm>
            <a:off x="7689947" y="3932090"/>
            <a:ext cx="1638637" cy="369332"/>
          </a:xfrm>
          <a:prstGeom prst="rect">
            <a:avLst/>
          </a:prstGeom>
          <a:noFill/>
        </p:spPr>
        <p:txBody>
          <a:bodyPr wrap="square" rtlCol="0">
            <a:spAutoFit/>
          </a:bodyPr>
          <a:lstStyle/>
          <a:p>
            <a:r>
              <a:rPr lang="en-US" dirty="0">
                <a:latin typeface="Arial" pitchFamily="34" charset="0"/>
                <a:cs typeface="Arial" pitchFamily="34" charset="0"/>
              </a:rPr>
              <a:t>Similarity = 0</a:t>
            </a:r>
          </a:p>
        </p:txBody>
      </p:sp>
      <p:pic>
        <p:nvPicPr>
          <p:cNvPr id="30" name="Picture 29">
            <a:extLst>
              <a:ext uri="{FF2B5EF4-FFF2-40B4-BE49-F238E27FC236}">
                <a16:creationId xmlns:a16="http://schemas.microsoft.com/office/drawing/2014/main" id="{43608C58-0AC0-6C38-5155-33D69832CC55}"/>
              </a:ext>
            </a:extLst>
          </p:cNvPr>
          <p:cNvPicPr>
            <a:picLocks noChangeAspect="1"/>
          </p:cNvPicPr>
          <p:nvPr/>
        </p:nvPicPr>
        <p:blipFill>
          <a:blip r:embed="rId6"/>
          <a:stretch>
            <a:fillRect/>
          </a:stretch>
        </p:blipFill>
        <p:spPr>
          <a:xfrm>
            <a:off x="3710910" y="5101745"/>
            <a:ext cx="3692322" cy="403848"/>
          </a:xfrm>
          <a:prstGeom prst="rect">
            <a:avLst/>
          </a:prstGeom>
        </p:spPr>
      </p:pic>
      <p:pic>
        <p:nvPicPr>
          <p:cNvPr id="31" name="Picture 30">
            <a:extLst>
              <a:ext uri="{FF2B5EF4-FFF2-40B4-BE49-F238E27FC236}">
                <a16:creationId xmlns:a16="http://schemas.microsoft.com/office/drawing/2014/main" id="{D1D3816A-4F82-4A51-2138-F59CF05B83B3}"/>
              </a:ext>
            </a:extLst>
          </p:cNvPr>
          <p:cNvPicPr>
            <a:picLocks noChangeAspect="1"/>
          </p:cNvPicPr>
          <p:nvPr/>
        </p:nvPicPr>
        <p:blipFill>
          <a:blip r:embed="rId7"/>
          <a:stretch>
            <a:fillRect/>
          </a:stretch>
        </p:blipFill>
        <p:spPr>
          <a:xfrm>
            <a:off x="595551" y="1884695"/>
            <a:ext cx="2641600" cy="762000"/>
          </a:xfrm>
          <a:prstGeom prst="rect">
            <a:avLst/>
          </a:prstGeom>
        </p:spPr>
      </p:pic>
    </p:spTree>
    <p:extLst>
      <p:ext uri="{BB962C8B-B14F-4D97-AF65-F5344CB8AC3E}">
        <p14:creationId xmlns:p14="http://schemas.microsoft.com/office/powerpoint/2010/main" val="359765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P spid="2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AC38D-E2A1-40B9-A7F8-1BD1C7BE0646}"/>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1571F2FD-5F26-8B72-77DB-E8FCE4AFBC06}"/>
              </a:ext>
            </a:extLst>
          </p:cNvPr>
          <p:cNvSpPr>
            <a:spLocks noGrp="1"/>
          </p:cNvSpPr>
          <p:nvPr>
            <p:ph idx="1"/>
          </p:nvPr>
        </p:nvSpPr>
        <p:spPr/>
        <p:txBody>
          <a:bodyPr/>
          <a:lstStyle/>
          <a:p>
            <a:r>
              <a:rPr lang="en-US" dirty="0"/>
              <a:t>So far:</a:t>
            </a:r>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D662012E-3383-A3B0-B603-95D5F4D77CE0}"/>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819BDB1A-D823-D6A3-7125-B4533B995A27}"/>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31F6B9E-1252-E0CC-AE7E-B06158B2B9A0}"/>
              </a:ext>
            </a:extLst>
          </p:cNvPr>
          <p:cNvSpPr>
            <a:spLocks noGrp="1"/>
          </p:cNvSpPr>
          <p:nvPr>
            <p:ph type="sldNum" sz="quarter" idx="12"/>
          </p:nvPr>
        </p:nvSpPr>
        <p:spPr/>
        <p:txBody>
          <a:bodyPr/>
          <a:lstStyle/>
          <a:p>
            <a:fld id="{19B12225-5612-419B-A8D5-4B8EEE4C217E}" type="slidenum">
              <a:rPr lang="en-US" smtClean="0"/>
              <a:pPr/>
              <a:t>29</a:t>
            </a:fld>
            <a:endParaRPr lang="en-US"/>
          </a:p>
        </p:txBody>
      </p:sp>
      <p:grpSp>
        <p:nvGrpSpPr>
          <p:cNvPr id="20" name="Group 19">
            <a:extLst>
              <a:ext uri="{FF2B5EF4-FFF2-40B4-BE49-F238E27FC236}">
                <a16:creationId xmlns:a16="http://schemas.microsoft.com/office/drawing/2014/main" id="{010A7C36-675D-4B8E-CB45-7EA2A15BC6DE}"/>
              </a:ext>
            </a:extLst>
          </p:cNvPr>
          <p:cNvGrpSpPr/>
          <p:nvPr/>
        </p:nvGrpSpPr>
        <p:grpSpPr>
          <a:xfrm>
            <a:off x="4724400" y="1724012"/>
            <a:ext cx="4162524" cy="2119448"/>
            <a:chOff x="4724400" y="1724012"/>
            <a:chExt cx="4162524" cy="2119448"/>
          </a:xfrm>
        </p:grpSpPr>
        <p:pic>
          <p:nvPicPr>
            <p:cNvPr id="15" name="Picture 14">
              <a:extLst>
                <a:ext uri="{FF2B5EF4-FFF2-40B4-BE49-F238E27FC236}">
                  <a16:creationId xmlns:a16="http://schemas.microsoft.com/office/drawing/2014/main" id="{F59ED1BC-11FD-4D41-4963-EC5DAD8357DB}"/>
                </a:ext>
              </a:extLst>
            </p:cNvPr>
            <p:cNvPicPr>
              <a:picLocks noChangeAspect="1"/>
            </p:cNvPicPr>
            <p:nvPr/>
          </p:nvPicPr>
          <p:blipFill>
            <a:blip r:embed="rId2"/>
            <a:stretch>
              <a:fillRect/>
            </a:stretch>
          </p:blipFill>
          <p:spPr>
            <a:xfrm>
              <a:off x="4724400" y="1754490"/>
              <a:ext cx="4162524" cy="2088970"/>
            </a:xfrm>
            <a:prstGeom prst="rect">
              <a:avLst/>
            </a:prstGeom>
          </p:spPr>
        </p:pic>
        <p:sp>
          <p:nvSpPr>
            <p:cNvPr id="16" name="Rectangle 15">
              <a:extLst>
                <a:ext uri="{FF2B5EF4-FFF2-40B4-BE49-F238E27FC236}">
                  <a16:creationId xmlns:a16="http://schemas.microsoft.com/office/drawing/2014/main" id="{063D3989-D664-A178-A259-211A5DE8511F}"/>
                </a:ext>
              </a:extLst>
            </p:cNvPr>
            <p:cNvSpPr/>
            <p:nvPr/>
          </p:nvSpPr>
          <p:spPr>
            <a:xfrm>
              <a:off x="7403232" y="1724012"/>
              <a:ext cx="1460616" cy="63417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 name="Rectangle 16">
              <a:extLst>
                <a:ext uri="{FF2B5EF4-FFF2-40B4-BE49-F238E27FC236}">
                  <a16:creationId xmlns:a16="http://schemas.microsoft.com/office/drawing/2014/main" id="{D3D8B361-34EF-E13F-9EEC-7D3055F119AC}"/>
                </a:ext>
              </a:extLst>
            </p:cNvPr>
            <p:cNvSpPr/>
            <p:nvPr/>
          </p:nvSpPr>
          <p:spPr>
            <a:xfrm>
              <a:off x="4919831" y="3179126"/>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Rectangle 17">
              <a:extLst>
                <a:ext uri="{FF2B5EF4-FFF2-40B4-BE49-F238E27FC236}">
                  <a16:creationId xmlns:a16="http://schemas.microsoft.com/office/drawing/2014/main" id="{1396FAA4-4015-54CF-CBCA-40CB96B41F48}"/>
                </a:ext>
              </a:extLst>
            </p:cNvPr>
            <p:cNvSpPr/>
            <p:nvPr/>
          </p:nvSpPr>
          <p:spPr>
            <a:xfrm>
              <a:off x="6803315" y="3179125"/>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9" name="Picture 18">
              <a:extLst>
                <a:ext uri="{FF2B5EF4-FFF2-40B4-BE49-F238E27FC236}">
                  <a16:creationId xmlns:a16="http://schemas.microsoft.com/office/drawing/2014/main" id="{117817F4-B21B-EFDB-1321-68F540F2A190}"/>
                </a:ext>
              </a:extLst>
            </p:cNvPr>
            <p:cNvPicPr>
              <a:picLocks noChangeAspect="1"/>
            </p:cNvPicPr>
            <p:nvPr/>
          </p:nvPicPr>
          <p:blipFill>
            <a:blip r:embed="rId3"/>
            <a:stretch>
              <a:fillRect/>
            </a:stretch>
          </p:blipFill>
          <p:spPr>
            <a:xfrm>
              <a:off x="5009407" y="1884695"/>
              <a:ext cx="2426966" cy="492368"/>
            </a:xfrm>
            <a:prstGeom prst="rect">
              <a:avLst/>
            </a:prstGeom>
          </p:spPr>
        </p:pic>
      </p:grpSp>
      <p:pic>
        <p:nvPicPr>
          <p:cNvPr id="21" name="Picture 20">
            <a:extLst>
              <a:ext uri="{FF2B5EF4-FFF2-40B4-BE49-F238E27FC236}">
                <a16:creationId xmlns:a16="http://schemas.microsoft.com/office/drawing/2014/main" id="{DD28D4BD-0EE2-147C-174B-D4D021884F10}"/>
              </a:ext>
            </a:extLst>
          </p:cNvPr>
          <p:cNvPicPr>
            <a:picLocks noChangeAspect="1"/>
          </p:cNvPicPr>
          <p:nvPr/>
        </p:nvPicPr>
        <p:blipFill>
          <a:blip r:embed="rId4"/>
          <a:stretch>
            <a:fillRect/>
          </a:stretch>
        </p:blipFill>
        <p:spPr>
          <a:xfrm>
            <a:off x="808147"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2" name="Straight Connector 21">
            <a:extLst>
              <a:ext uri="{FF2B5EF4-FFF2-40B4-BE49-F238E27FC236}">
                <a16:creationId xmlns:a16="http://schemas.microsoft.com/office/drawing/2014/main" id="{7F1CC4A1-F17E-C243-175A-FCA6544D570F}"/>
              </a:ext>
            </a:extLst>
          </p:cNvPr>
          <p:cNvCxnSpPr/>
          <p:nvPr/>
        </p:nvCxnSpPr>
        <p:spPr>
          <a:xfrm>
            <a:off x="1929284" y="3969099"/>
            <a:ext cx="0" cy="2170444"/>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23" name="Straight Connector 22">
            <a:extLst>
              <a:ext uri="{FF2B5EF4-FFF2-40B4-BE49-F238E27FC236}">
                <a16:creationId xmlns:a16="http://schemas.microsoft.com/office/drawing/2014/main" id="{AC8E05F3-F2C4-DE99-0059-A40231FD5F8E}"/>
              </a:ext>
            </a:extLst>
          </p:cNvPr>
          <p:cNvCxnSpPr/>
          <p:nvPr/>
        </p:nvCxnSpPr>
        <p:spPr>
          <a:xfrm>
            <a:off x="2473571" y="3969099"/>
            <a:ext cx="0" cy="2170444"/>
          </a:xfrm>
          <a:prstGeom prst="line">
            <a:avLst/>
          </a:prstGeom>
          <a:ln/>
        </p:spPr>
        <p:style>
          <a:lnRef idx="2">
            <a:schemeClr val="accent4"/>
          </a:lnRef>
          <a:fillRef idx="0">
            <a:schemeClr val="accent4"/>
          </a:fillRef>
          <a:effectRef idx="1">
            <a:schemeClr val="accent4"/>
          </a:effectRef>
          <a:fontRef idx="minor">
            <a:schemeClr val="tx1"/>
          </a:fontRef>
        </p:style>
      </p:cxnSp>
      <p:sp>
        <p:nvSpPr>
          <p:cNvPr id="24" name="TextBox 23">
            <a:extLst>
              <a:ext uri="{FF2B5EF4-FFF2-40B4-BE49-F238E27FC236}">
                <a16:creationId xmlns:a16="http://schemas.microsoft.com/office/drawing/2014/main" id="{778F5B4A-1062-53E2-A03B-11023283ABC6}"/>
              </a:ext>
            </a:extLst>
          </p:cNvPr>
          <p:cNvSpPr txBox="1"/>
          <p:nvPr/>
        </p:nvSpPr>
        <p:spPr>
          <a:xfrm>
            <a:off x="7110883" y="2393386"/>
            <a:ext cx="1575917"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Dosage &lt; 30</a:t>
            </a:r>
          </a:p>
        </p:txBody>
      </p:sp>
      <p:sp>
        <p:nvSpPr>
          <p:cNvPr id="27" name="TextBox 26">
            <a:extLst>
              <a:ext uri="{FF2B5EF4-FFF2-40B4-BE49-F238E27FC236}">
                <a16:creationId xmlns:a16="http://schemas.microsoft.com/office/drawing/2014/main" id="{020F6983-7D24-E1C3-29AA-AD8BC1569140}"/>
              </a:ext>
            </a:extLst>
          </p:cNvPr>
          <p:cNvSpPr txBox="1"/>
          <p:nvPr/>
        </p:nvSpPr>
        <p:spPr>
          <a:xfrm>
            <a:off x="5764595" y="3933218"/>
            <a:ext cx="1638637" cy="369332"/>
          </a:xfrm>
          <a:prstGeom prst="rect">
            <a:avLst/>
          </a:prstGeom>
          <a:noFill/>
        </p:spPr>
        <p:txBody>
          <a:bodyPr wrap="square" rtlCol="0">
            <a:spAutoFit/>
          </a:bodyPr>
          <a:lstStyle/>
          <a:p>
            <a:r>
              <a:rPr lang="en-US" dirty="0">
                <a:latin typeface="Arial" pitchFamily="34" charset="0"/>
                <a:cs typeface="Arial" pitchFamily="34" charset="0"/>
              </a:rPr>
              <a:t>Similarity = 98</a:t>
            </a:r>
          </a:p>
        </p:txBody>
      </p:sp>
      <p:sp>
        <p:nvSpPr>
          <p:cNvPr id="28" name="TextBox 27">
            <a:extLst>
              <a:ext uri="{FF2B5EF4-FFF2-40B4-BE49-F238E27FC236}">
                <a16:creationId xmlns:a16="http://schemas.microsoft.com/office/drawing/2014/main" id="{175D9A18-41DF-F0AE-8F16-232BD143B109}"/>
              </a:ext>
            </a:extLst>
          </p:cNvPr>
          <p:cNvSpPr txBox="1"/>
          <p:nvPr/>
        </p:nvSpPr>
        <p:spPr>
          <a:xfrm>
            <a:off x="7689947" y="3932090"/>
            <a:ext cx="1638637" cy="646331"/>
          </a:xfrm>
          <a:prstGeom prst="rect">
            <a:avLst/>
          </a:prstGeom>
          <a:noFill/>
        </p:spPr>
        <p:txBody>
          <a:bodyPr wrap="square" rtlCol="0">
            <a:spAutoFit/>
          </a:bodyPr>
          <a:lstStyle/>
          <a:p>
            <a:r>
              <a:rPr lang="en-US" dirty="0">
                <a:latin typeface="Arial" pitchFamily="34" charset="0"/>
                <a:cs typeface="Arial" pitchFamily="34" charset="0"/>
              </a:rPr>
              <a:t>Similarity = 56.25</a:t>
            </a:r>
          </a:p>
        </p:txBody>
      </p:sp>
      <p:pic>
        <p:nvPicPr>
          <p:cNvPr id="8" name="Picture 7">
            <a:extLst>
              <a:ext uri="{FF2B5EF4-FFF2-40B4-BE49-F238E27FC236}">
                <a16:creationId xmlns:a16="http://schemas.microsoft.com/office/drawing/2014/main" id="{121AD11B-4B32-10DF-8E75-87933BCF649C}"/>
              </a:ext>
            </a:extLst>
          </p:cNvPr>
          <p:cNvPicPr>
            <a:picLocks noChangeAspect="1"/>
          </p:cNvPicPr>
          <p:nvPr/>
        </p:nvPicPr>
        <p:blipFill>
          <a:blip r:embed="rId5"/>
          <a:stretch>
            <a:fillRect/>
          </a:stretch>
        </p:blipFill>
        <p:spPr>
          <a:xfrm>
            <a:off x="5980708" y="3134116"/>
            <a:ext cx="2677766" cy="792238"/>
          </a:xfrm>
          <a:prstGeom prst="rect">
            <a:avLst/>
          </a:prstGeom>
        </p:spPr>
      </p:pic>
      <p:pic>
        <p:nvPicPr>
          <p:cNvPr id="9" name="Picture 8">
            <a:extLst>
              <a:ext uri="{FF2B5EF4-FFF2-40B4-BE49-F238E27FC236}">
                <a16:creationId xmlns:a16="http://schemas.microsoft.com/office/drawing/2014/main" id="{3761CBC1-4DE5-BACF-8CB9-BC60EA405561}"/>
              </a:ext>
            </a:extLst>
          </p:cNvPr>
          <p:cNvPicPr>
            <a:picLocks noChangeAspect="1"/>
          </p:cNvPicPr>
          <p:nvPr/>
        </p:nvPicPr>
        <p:blipFill>
          <a:blip r:embed="rId6"/>
          <a:stretch>
            <a:fillRect/>
          </a:stretch>
        </p:blipFill>
        <p:spPr>
          <a:xfrm>
            <a:off x="3614676" y="5171083"/>
            <a:ext cx="4075271" cy="359813"/>
          </a:xfrm>
          <a:prstGeom prst="rect">
            <a:avLst/>
          </a:prstGeom>
        </p:spPr>
      </p:pic>
      <p:pic>
        <p:nvPicPr>
          <p:cNvPr id="10" name="Picture 9">
            <a:extLst>
              <a:ext uri="{FF2B5EF4-FFF2-40B4-BE49-F238E27FC236}">
                <a16:creationId xmlns:a16="http://schemas.microsoft.com/office/drawing/2014/main" id="{830F05DF-64B3-032D-CEA4-5C83154B2563}"/>
              </a:ext>
            </a:extLst>
          </p:cNvPr>
          <p:cNvPicPr>
            <a:picLocks noChangeAspect="1"/>
          </p:cNvPicPr>
          <p:nvPr/>
        </p:nvPicPr>
        <p:blipFill>
          <a:blip r:embed="rId7"/>
          <a:stretch>
            <a:fillRect/>
          </a:stretch>
        </p:blipFill>
        <p:spPr>
          <a:xfrm>
            <a:off x="595551" y="1884695"/>
            <a:ext cx="2641600" cy="762000"/>
          </a:xfrm>
          <a:prstGeom prst="rect">
            <a:avLst/>
          </a:prstGeom>
        </p:spPr>
      </p:pic>
    </p:spTree>
    <p:extLst>
      <p:ext uri="{BB962C8B-B14F-4D97-AF65-F5344CB8AC3E}">
        <p14:creationId xmlns:p14="http://schemas.microsoft.com/office/powerpoint/2010/main" val="345545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P spid="2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331C-8F1B-8123-0B18-A991908EF678}"/>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2043619D-1A48-0AC0-0C68-9A4506D8E37C}"/>
              </a:ext>
            </a:extLst>
          </p:cNvPr>
          <p:cNvSpPr>
            <a:spLocks noGrp="1"/>
          </p:cNvSpPr>
          <p:nvPr>
            <p:ph idx="1"/>
          </p:nvPr>
        </p:nvSpPr>
        <p:spPr/>
        <p:txBody>
          <a:bodyPr/>
          <a:lstStyle/>
          <a:p>
            <a:r>
              <a:rPr lang="en-US" dirty="0"/>
              <a:t>So far we have:</a:t>
            </a:r>
          </a:p>
          <a:p>
            <a:endParaRPr lang="en-US" dirty="0"/>
          </a:p>
          <a:p>
            <a:endParaRPr lang="en-US" dirty="0"/>
          </a:p>
          <a:p>
            <a:endParaRPr lang="en-US" dirty="0"/>
          </a:p>
          <a:p>
            <a:endParaRPr lang="en-US" dirty="0"/>
          </a:p>
          <a:p>
            <a:endParaRPr lang="en-US" dirty="0"/>
          </a:p>
          <a:p>
            <a:endParaRPr lang="en-US" dirty="0"/>
          </a:p>
          <a:p>
            <a:r>
              <a:rPr lang="en-US" dirty="0"/>
              <a:t>Let’s assume we are done growing this tree!</a:t>
            </a:r>
          </a:p>
          <a:p>
            <a:pPr lvl="1"/>
            <a:endParaRPr lang="en-US" dirty="0"/>
          </a:p>
          <a:p>
            <a:pPr lvl="1"/>
            <a:endParaRPr lang="en-US" dirty="0"/>
          </a:p>
        </p:txBody>
      </p:sp>
      <p:sp>
        <p:nvSpPr>
          <p:cNvPr id="4" name="Date Placeholder 3">
            <a:extLst>
              <a:ext uri="{FF2B5EF4-FFF2-40B4-BE49-F238E27FC236}">
                <a16:creationId xmlns:a16="http://schemas.microsoft.com/office/drawing/2014/main" id="{F0CB113D-ED39-7237-B295-CE6C86BC6130}"/>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E8B5B103-E5FA-6005-5AD7-D378851EE40F}"/>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1965902-843B-9958-9921-6A72E627F590}"/>
              </a:ext>
            </a:extLst>
          </p:cNvPr>
          <p:cNvSpPr>
            <a:spLocks noGrp="1"/>
          </p:cNvSpPr>
          <p:nvPr>
            <p:ph type="sldNum" sz="quarter" idx="12"/>
          </p:nvPr>
        </p:nvSpPr>
        <p:spPr/>
        <p:txBody>
          <a:bodyPr/>
          <a:lstStyle/>
          <a:p>
            <a:fld id="{19B12225-5612-419B-A8D5-4B8EEE4C217E}" type="slidenum">
              <a:rPr lang="en-US" smtClean="0"/>
              <a:pPr/>
              <a:t>30</a:t>
            </a:fld>
            <a:endParaRPr lang="en-US"/>
          </a:p>
        </p:txBody>
      </p:sp>
      <p:grpSp>
        <p:nvGrpSpPr>
          <p:cNvPr id="7" name="Group 6">
            <a:extLst>
              <a:ext uri="{FF2B5EF4-FFF2-40B4-BE49-F238E27FC236}">
                <a16:creationId xmlns:a16="http://schemas.microsoft.com/office/drawing/2014/main" id="{3135DF8C-8C6C-D460-3F51-5470AA08A3D6}"/>
              </a:ext>
            </a:extLst>
          </p:cNvPr>
          <p:cNvGrpSpPr/>
          <p:nvPr/>
        </p:nvGrpSpPr>
        <p:grpSpPr>
          <a:xfrm>
            <a:off x="4724400" y="1724012"/>
            <a:ext cx="4162524" cy="2119448"/>
            <a:chOff x="4724400" y="1724012"/>
            <a:chExt cx="4162524" cy="2119448"/>
          </a:xfrm>
        </p:grpSpPr>
        <p:pic>
          <p:nvPicPr>
            <p:cNvPr id="8" name="Picture 7">
              <a:extLst>
                <a:ext uri="{FF2B5EF4-FFF2-40B4-BE49-F238E27FC236}">
                  <a16:creationId xmlns:a16="http://schemas.microsoft.com/office/drawing/2014/main" id="{A2B84607-13B8-E04A-DBF6-13605FF50001}"/>
                </a:ext>
              </a:extLst>
            </p:cNvPr>
            <p:cNvPicPr>
              <a:picLocks noChangeAspect="1"/>
            </p:cNvPicPr>
            <p:nvPr/>
          </p:nvPicPr>
          <p:blipFill>
            <a:blip r:embed="rId2"/>
            <a:stretch>
              <a:fillRect/>
            </a:stretch>
          </p:blipFill>
          <p:spPr>
            <a:xfrm>
              <a:off x="4724400" y="1754490"/>
              <a:ext cx="4162524" cy="2088970"/>
            </a:xfrm>
            <a:prstGeom prst="rect">
              <a:avLst/>
            </a:prstGeom>
          </p:spPr>
        </p:pic>
        <p:sp>
          <p:nvSpPr>
            <p:cNvPr id="9" name="Rectangle 8">
              <a:extLst>
                <a:ext uri="{FF2B5EF4-FFF2-40B4-BE49-F238E27FC236}">
                  <a16:creationId xmlns:a16="http://schemas.microsoft.com/office/drawing/2014/main" id="{DFEC3C3D-3839-B9E3-76BA-FCF06A2B5A96}"/>
                </a:ext>
              </a:extLst>
            </p:cNvPr>
            <p:cNvSpPr/>
            <p:nvPr/>
          </p:nvSpPr>
          <p:spPr>
            <a:xfrm>
              <a:off x="7403232" y="1724012"/>
              <a:ext cx="1460616" cy="63417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A83D8C85-D128-462B-98BC-ADCCD81E955C}"/>
                </a:ext>
              </a:extLst>
            </p:cNvPr>
            <p:cNvSpPr/>
            <p:nvPr/>
          </p:nvSpPr>
          <p:spPr>
            <a:xfrm>
              <a:off x="4919831" y="3179126"/>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a:extLst>
                <a:ext uri="{FF2B5EF4-FFF2-40B4-BE49-F238E27FC236}">
                  <a16:creationId xmlns:a16="http://schemas.microsoft.com/office/drawing/2014/main" id="{2D45F9C2-4247-0D42-B1EF-D53FC02916A0}"/>
                </a:ext>
              </a:extLst>
            </p:cNvPr>
            <p:cNvSpPr/>
            <p:nvPr/>
          </p:nvSpPr>
          <p:spPr>
            <a:xfrm>
              <a:off x="6803315" y="3179125"/>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2" name="Picture 11">
              <a:extLst>
                <a:ext uri="{FF2B5EF4-FFF2-40B4-BE49-F238E27FC236}">
                  <a16:creationId xmlns:a16="http://schemas.microsoft.com/office/drawing/2014/main" id="{FBB98E16-C621-A374-9A38-F543A02442F4}"/>
                </a:ext>
              </a:extLst>
            </p:cNvPr>
            <p:cNvPicPr>
              <a:picLocks noChangeAspect="1"/>
            </p:cNvPicPr>
            <p:nvPr/>
          </p:nvPicPr>
          <p:blipFill>
            <a:blip r:embed="rId3"/>
            <a:stretch>
              <a:fillRect/>
            </a:stretch>
          </p:blipFill>
          <p:spPr>
            <a:xfrm>
              <a:off x="5009407" y="1884695"/>
              <a:ext cx="2426966" cy="492368"/>
            </a:xfrm>
            <a:prstGeom prst="rect">
              <a:avLst/>
            </a:prstGeom>
          </p:spPr>
        </p:pic>
      </p:grpSp>
      <p:pic>
        <p:nvPicPr>
          <p:cNvPr id="13" name="Picture 12">
            <a:extLst>
              <a:ext uri="{FF2B5EF4-FFF2-40B4-BE49-F238E27FC236}">
                <a16:creationId xmlns:a16="http://schemas.microsoft.com/office/drawing/2014/main" id="{69A072F6-4287-6037-D808-E9C8B39FF2B8}"/>
              </a:ext>
            </a:extLst>
          </p:cNvPr>
          <p:cNvPicPr>
            <a:picLocks noChangeAspect="1"/>
          </p:cNvPicPr>
          <p:nvPr/>
        </p:nvPicPr>
        <p:blipFill>
          <a:blip r:embed="rId4"/>
          <a:stretch>
            <a:fillRect/>
          </a:stretch>
        </p:blipFill>
        <p:spPr>
          <a:xfrm>
            <a:off x="5980708" y="3134116"/>
            <a:ext cx="2677766" cy="792238"/>
          </a:xfrm>
          <a:prstGeom prst="rect">
            <a:avLst/>
          </a:prstGeom>
        </p:spPr>
      </p:pic>
      <p:pic>
        <p:nvPicPr>
          <p:cNvPr id="14" name="Picture 13">
            <a:extLst>
              <a:ext uri="{FF2B5EF4-FFF2-40B4-BE49-F238E27FC236}">
                <a16:creationId xmlns:a16="http://schemas.microsoft.com/office/drawing/2014/main" id="{5F48752A-DD77-1F59-B23C-06793B6B80E6}"/>
              </a:ext>
            </a:extLst>
          </p:cNvPr>
          <p:cNvPicPr>
            <a:picLocks noChangeAspect="1"/>
          </p:cNvPicPr>
          <p:nvPr/>
        </p:nvPicPr>
        <p:blipFill>
          <a:blip r:embed="rId5"/>
          <a:stretch>
            <a:fillRect/>
          </a:stretch>
        </p:blipFill>
        <p:spPr>
          <a:xfrm>
            <a:off x="6318654" y="2706853"/>
            <a:ext cx="2244852" cy="428478"/>
          </a:xfrm>
          <a:prstGeom prst="rect">
            <a:avLst/>
          </a:prstGeom>
        </p:spPr>
      </p:pic>
      <p:pic>
        <p:nvPicPr>
          <p:cNvPr id="17" name="Picture 16">
            <a:extLst>
              <a:ext uri="{FF2B5EF4-FFF2-40B4-BE49-F238E27FC236}">
                <a16:creationId xmlns:a16="http://schemas.microsoft.com/office/drawing/2014/main" id="{AF4CDE04-7FB8-3C6F-92AC-778EBD3FC750}"/>
              </a:ext>
            </a:extLst>
          </p:cNvPr>
          <p:cNvPicPr>
            <a:picLocks noChangeAspect="1"/>
          </p:cNvPicPr>
          <p:nvPr/>
        </p:nvPicPr>
        <p:blipFill>
          <a:blip r:embed="rId6"/>
          <a:stretch>
            <a:fillRect/>
          </a:stretch>
        </p:blipFill>
        <p:spPr>
          <a:xfrm>
            <a:off x="951287" y="2134296"/>
            <a:ext cx="1983991" cy="572305"/>
          </a:xfrm>
          <a:prstGeom prst="rect">
            <a:avLst/>
          </a:prstGeom>
        </p:spPr>
      </p:pic>
    </p:spTree>
    <p:extLst>
      <p:ext uri="{BB962C8B-B14F-4D97-AF65-F5344CB8AC3E}">
        <p14:creationId xmlns:p14="http://schemas.microsoft.com/office/powerpoint/2010/main" val="2695594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331C-8F1B-8123-0B18-A991908EF678}"/>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2043619D-1A48-0AC0-0C68-9A4506D8E37C}"/>
              </a:ext>
            </a:extLst>
          </p:cNvPr>
          <p:cNvSpPr>
            <a:spLocks noGrp="1"/>
          </p:cNvSpPr>
          <p:nvPr>
            <p:ph idx="1"/>
          </p:nvPr>
        </p:nvSpPr>
        <p:spPr/>
        <p:txBody>
          <a:bodyPr/>
          <a:lstStyle/>
          <a:p>
            <a:r>
              <a:rPr lang="en-US" dirty="0"/>
              <a:t>So far we have:</a:t>
            </a:r>
          </a:p>
          <a:p>
            <a:endParaRPr lang="en-US" dirty="0"/>
          </a:p>
          <a:p>
            <a:endParaRPr lang="en-US" dirty="0"/>
          </a:p>
          <a:p>
            <a:endParaRPr lang="en-US" dirty="0"/>
          </a:p>
          <a:p>
            <a:endParaRPr lang="en-US" dirty="0"/>
          </a:p>
          <a:p>
            <a:r>
              <a:rPr lang="en-US" dirty="0"/>
              <a:t>To make predictions:</a:t>
            </a:r>
          </a:p>
          <a:p>
            <a:pPr lvl="1"/>
            <a:r>
              <a:rPr lang="en-US" dirty="0"/>
              <a:t>Compute an </a:t>
            </a:r>
            <a:r>
              <a:rPr lang="en-US" i="1" dirty="0"/>
              <a:t>output value </a:t>
            </a:r>
            <a:r>
              <a:rPr lang="en-US" dirty="0"/>
              <a:t>for each leaf</a:t>
            </a:r>
          </a:p>
          <a:p>
            <a:pPr lvl="1"/>
            <a:endParaRPr lang="en-US" dirty="0"/>
          </a:p>
          <a:p>
            <a:pPr lvl="1"/>
            <a:endParaRPr lang="en-US" dirty="0"/>
          </a:p>
        </p:txBody>
      </p:sp>
      <p:sp>
        <p:nvSpPr>
          <p:cNvPr id="4" name="Date Placeholder 3">
            <a:extLst>
              <a:ext uri="{FF2B5EF4-FFF2-40B4-BE49-F238E27FC236}">
                <a16:creationId xmlns:a16="http://schemas.microsoft.com/office/drawing/2014/main" id="{F0CB113D-ED39-7237-B295-CE6C86BC6130}"/>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E8B5B103-E5FA-6005-5AD7-D378851EE40F}"/>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1965902-843B-9958-9921-6A72E627F590}"/>
              </a:ext>
            </a:extLst>
          </p:cNvPr>
          <p:cNvSpPr>
            <a:spLocks noGrp="1"/>
          </p:cNvSpPr>
          <p:nvPr>
            <p:ph type="sldNum" sz="quarter" idx="12"/>
          </p:nvPr>
        </p:nvSpPr>
        <p:spPr/>
        <p:txBody>
          <a:bodyPr/>
          <a:lstStyle/>
          <a:p>
            <a:fld id="{19B12225-5612-419B-A8D5-4B8EEE4C217E}" type="slidenum">
              <a:rPr lang="en-US" smtClean="0"/>
              <a:pPr/>
              <a:t>31</a:t>
            </a:fld>
            <a:endParaRPr lang="en-US"/>
          </a:p>
        </p:txBody>
      </p:sp>
      <p:grpSp>
        <p:nvGrpSpPr>
          <p:cNvPr id="7" name="Group 6">
            <a:extLst>
              <a:ext uri="{FF2B5EF4-FFF2-40B4-BE49-F238E27FC236}">
                <a16:creationId xmlns:a16="http://schemas.microsoft.com/office/drawing/2014/main" id="{3135DF8C-8C6C-D460-3F51-5470AA08A3D6}"/>
              </a:ext>
            </a:extLst>
          </p:cNvPr>
          <p:cNvGrpSpPr/>
          <p:nvPr/>
        </p:nvGrpSpPr>
        <p:grpSpPr>
          <a:xfrm>
            <a:off x="4724400" y="1724012"/>
            <a:ext cx="4162524" cy="2119448"/>
            <a:chOff x="4724400" y="1724012"/>
            <a:chExt cx="4162524" cy="2119448"/>
          </a:xfrm>
        </p:grpSpPr>
        <p:pic>
          <p:nvPicPr>
            <p:cNvPr id="8" name="Picture 7">
              <a:extLst>
                <a:ext uri="{FF2B5EF4-FFF2-40B4-BE49-F238E27FC236}">
                  <a16:creationId xmlns:a16="http://schemas.microsoft.com/office/drawing/2014/main" id="{A2B84607-13B8-E04A-DBF6-13605FF50001}"/>
                </a:ext>
              </a:extLst>
            </p:cNvPr>
            <p:cNvPicPr>
              <a:picLocks noChangeAspect="1"/>
            </p:cNvPicPr>
            <p:nvPr/>
          </p:nvPicPr>
          <p:blipFill>
            <a:blip r:embed="rId2"/>
            <a:stretch>
              <a:fillRect/>
            </a:stretch>
          </p:blipFill>
          <p:spPr>
            <a:xfrm>
              <a:off x="4724400" y="1754490"/>
              <a:ext cx="4162524" cy="2088970"/>
            </a:xfrm>
            <a:prstGeom prst="rect">
              <a:avLst/>
            </a:prstGeom>
          </p:spPr>
        </p:pic>
        <p:sp>
          <p:nvSpPr>
            <p:cNvPr id="9" name="Rectangle 8">
              <a:extLst>
                <a:ext uri="{FF2B5EF4-FFF2-40B4-BE49-F238E27FC236}">
                  <a16:creationId xmlns:a16="http://schemas.microsoft.com/office/drawing/2014/main" id="{DFEC3C3D-3839-B9E3-76BA-FCF06A2B5A96}"/>
                </a:ext>
              </a:extLst>
            </p:cNvPr>
            <p:cNvSpPr/>
            <p:nvPr/>
          </p:nvSpPr>
          <p:spPr>
            <a:xfrm>
              <a:off x="7403232" y="1724012"/>
              <a:ext cx="1460616" cy="63417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A83D8C85-D128-462B-98BC-ADCCD81E955C}"/>
                </a:ext>
              </a:extLst>
            </p:cNvPr>
            <p:cNvSpPr/>
            <p:nvPr/>
          </p:nvSpPr>
          <p:spPr>
            <a:xfrm>
              <a:off x="4919831" y="3179126"/>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a:extLst>
                <a:ext uri="{FF2B5EF4-FFF2-40B4-BE49-F238E27FC236}">
                  <a16:creationId xmlns:a16="http://schemas.microsoft.com/office/drawing/2014/main" id="{2D45F9C2-4247-0D42-B1EF-D53FC02916A0}"/>
                </a:ext>
              </a:extLst>
            </p:cNvPr>
            <p:cNvSpPr/>
            <p:nvPr/>
          </p:nvSpPr>
          <p:spPr>
            <a:xfrm>
              <a:off x="6803315" y="3179125"/>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2" name="Picture 11">
              <a:extLst>
                <a:ext uri="{FF2B5EF4-FFF2-40B4-BE49-F238E27FC236}">
                  <a16:creationId xmlns:a16="http://schemas.microsoft.com/office/drawing/2014/main" id="{FBB98E16-C621-A374-9A38-F543A02442F4}"/>
                </a:ext>
              </a:extLst>
            </p:cNvPr>
            <p:cNvPicPr>
              <a:picLocks noChangeAspect="1"/>
            </p:cNvPicPr>
            <p:nvPr/>
          </p:nvPicPr>
          <p:blipFill>
            <a:blip r:embed="rId3"/>
            <a:stretch>
              <a:fillRect/>
            </a:stretch>
          </p:blipFill>
          <p:spPr>
            <a:xfrm>
              <a:off x="5009407" y="1884695"/>
              <a:ext cx="2426966" cy="492368"/>
            </a:xfrm>
            <a:prstGeom prst="rect">
              <a:avLst/>
            </a:prstGeom>
          </p:spPr>
        </p:pic>
      </p:grpSp>
      <p:pic>
        <p:nvPicPr>
          <p:cNvPr id="13" name="Picture 12">
            <a:extLst>
              <a:ext uri="{FF2B5EF4-FFF2-40B4-BE49-F238E27FC236}">
                <a16:creationId xmlns:a16="http://schemas.microsoft.com/office/drawing/2014/main" id="{69A072F6-4287-6037-D808-E9C8B39FF2B8}"/>
              </a:ext>
            </a:extLst>
          </p:cNvPr>
          <p:cNvPicPr>
            <a:picLocks noChangeAspect="1"/>
          </p:cNvPicPr>
          <p:nvPr/>
        </p:nvPicPr>
        <p:blipFill>
          <a:blip r:embed="rId4"/>
          <a:stretch>
            <a:fillRect/>
          </a:stretch>
        </p:blipFill>
        <p:spPr>
          <a:xfrm>
            <a:off x="5980708" y="3134116"/>
            <a:ext cx="2677766" cy="792238"/>
          </a:xfrm>
          <a:prstGeom prst="rect">
            <a:avLst/>
          </a:prstGeom>
        </p:spPr>
      </p:pic>
      <p:pic>
        <p:nvPicPr>
          <p:cNvPr id="14" name="Picture 13">
            <a:extLst>
              <a:ext uri="{FF2B5EF4-FFF2-40B4-BE49-F238E27FC236}">
                <a16:creationId xmlns:a16="http://schemas.microsoft.com/office/drawing/2014/main" id="{5F48752A-DD77-1F59-B23C-06793B6B80E6}"/>
              </a:ext>
            </a:extLst>
          </p:cNvPr>
          <p:cNvPicPr>
            <a:picLocks noChangeAspect="1"/>
          </p:cNvPicPr>
          <p:nvPr/>
        </p:nvPicPr>
        <p:blipFill>
          <a:blip r:embed="rId5"/>
          <a:stretch>
            <a:fillRect/>
          </a:stretch>
        </p:blipFill>
        <p:spPr>
          <a:xfrm>
            <a:off x="6318654" y="2706853"/>
            <a:ext cx="2244852" cy="428478"/>
          </a:xfrm>
          <a:prstGeom prst="rect">
            <a:avLst/>
          </a:prstGeom>
        </p:spPr>
      </p:pic>
      <p:pic>
        <p:nvPicPr>
          <p:cNvPr id="17" name="Picture 16">
            <a:extLst>
              <a:ext uri="{FF2B5EF4-FFF2-40B4-BE49-F238E27FC236}">
                <a16:creationId xmlns:a16="http://schemas.microsoft.com/office/drawing/2014/main" id="{AF4CDE04-7FB8-3C6F-92AC-778EBD3FC750}"/>
              </a:ext>
            </a:extLst>
          </p:cNvPr>
          <p:cNvPicPr>
            <a:picLocks noChangeAspect="1"/>
          </p:cNvPicPr>
          <p:nvPr/>
        </p:nvPicPr>
        <p:blipFill>
          <a:blip r:embed="rId6"/>
          <a:stretch>
            <a:fillRect/>
          </a:stretch>
        </p:blipFill>
        <p:spPr>
          <a:xfrm>
            <a:off x="951287" y="2134296"/>
            <a:ext cx="1983991" cy="572305"/>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6A94A26-4589-2BF7-1231-E1BB90CB6290}"/>
                  </a:ext>
                </a:extLst>
              </p:cNvPr>
              <p:cNvSpPr txBox="1"/>
              <p:nvPr/>
            </p:nvSpPr>
            <p:spPr>
              <a:xfrm>
                <a:off x="2640596" y="4920836"/>
                <a:ext cx="4484369" cy="592085"/>
              </a:xfrm>
              <a:prstGeom prst="rect">
                <a:avLst/>
              </a:prstGeom>
              <a:noFill/>
            </p:spPr>
            <p:txBody>
              <a:bodyPr wrap="none" lIns="0" tIns="0" rIns="0" bIns="0" rtlCol="0">
                <a:spAutoFit/>
              </a:bodyPr>
              <a:lstStyle/>
              <a:p>
                <a:r>
                  <a:rPr lang="en-US" sz="2400" dirty="0">
                    <a:latin typeface="Calibri" panose="020F0502020204030204" pitchFamily="34" charset="0"/>
                    <a:cs typeface="Calibri" panose="020F0502020204030204" pitchFamily="34" charset="0"/>
                  </a:rPr>
                  <a:t>Output value</a:t>
                </a:r>
                <a:r>
                  <a:rPr lang="en-US" sz="2400" dirty="0">
                    <a:cs typeface="Arial" pitchFamily="34" charset="0"/>
                  </a:rPr>
                  <a:t>= </a:t>
                </a:r>
                <a14:m>
                  <m:oMath xmlns:m="http://schemas.openxmlformats.org/officeDocument/2006/math">
                    <m:f>
                      <m:fPr>
                        <m:ctrlPr>
                          <a:rPr lang="en-US" sz="2400" i="1" smtClean="0">
                            <a:latin typeface="Cambria Math" panose="02040503050406030204" pitchFamily="18" charset="0"/>
                            <a:cs typeface="Arial" pitchFamily="34" charset="0"/>
                          </a:rPr>
                        </m:ctrlPr>
                      </m:fPr>
                      <m:num>
                        <m:nary>
                          <m:naryPr>
                            <m:chr m:val="∑"/>
                            <m:subHide m:val="on"/>
                            <m:supHide m:val="on"/>
                            <m:ctrlPr>
                              <a:rPr lang="en-US" sz="2400" i="1" smtClean="0">
                                <a:latin typeface="Cambria Math" panose="02040503050406030204" pitchFamily="18" charset="0"/>
                                <a:cs typeface="Arial" pitchFamily="34" charset="0"/>
                              </a:rPr>
                            </m:ctrlPr>
                          </m:naryPr>
                          <m:sub/>
                          <m:sup/>
                          <m:e>
                            <m:r>
                              <a:rPr lang="en-US" sz="2400" b="0" i="1" smtClean="0">
                                <a:latin typeface="Cambria Math" panose="02040503050406030204" pitchFamily="18" charset="0"/>
                                <a:cs typeface="Arial" pitchFamily="34" charset="0"/>
                              </a:rPr>
                              <m:t>𝑟𝑒𝑠𝑖𝑑𝑢𝑎𝑙</m:t>
                            </m:r>
                          </m:e>
                        </m:nary>
                      </m:num>
                      <m:den>
                        <m:r>
                          <a:rPr lang="en-US" sz="2400" b="0" i="1" smtClean="0">
                            <a:latin typeface="Cambria Math" panose="02040503050406030204" pitchFamily="18" charset="0"/>
                            <a:cs typeface="Arial" pitchFamily="34" charset="0"/>
                          </a:rPr>
                          <m:t>𝑛𝑢𝑚𝑏𝑒𝑟</m:t>
                        </m:r>
                        <m:r>
                          <a:rPr lang="en-US" sz="2400" b="0" i="1" smtClean="0">
                            <a:latin typeface="Cambria Math" panose="02040503050406030204" pitchFamily="18" charset="0"/>
                            <a:cs typeface="Arial" pitchFamily="34" charset="0"/>
                          </a:rPr>
                          <m:t> </m:t>
                        </m:r>
                        <m:r>
                          <a:rPr lang="en-US" sz="2400" b="0" i="1" smtClean="0">
                            <a:latin typeface="Cambria Math" panose="02040503050406030204" pitchFamily="18" charset="0"/>
                            <a:cs typeface="Arial" pitchFamily="34" charset="0"/>
                          </a:rPr>
                          <m:t>𝑜𝑓</m:t>
                        </m:r>
                        <m:r>
                          <a:rPr lang="en-US" sz="2400" b="0" i="1" smtClean="0">
                            <a:latin typeface="Cambria Math" panose="02040503050406030204" pitchFamily="18" charset="0"/>
                            <a:cs typeface="Arial" pitchFamily="34" charset="0"/>
                          </a:rPr>
                          <m:t> </m:t>
                        </m:r>
                        <m:r>
                          <a:rPr lang="en-US" sz="2400" b="0" i="1" smtClean="0">
                            <a:latin typeface="Cambria Math" panose="02040503050406030204" pitchFamily="18" charset="0"/>
                            <a:cs typeface="Arial" pitchFamily="34" charset="0"/>
                          </a:rPr>
                          <m:t>𝑟𝑒𝑠𝑖𝑑𝑢𝑎𝑙𝑠</m:t>
                        </m:r>
                        <m:r>
                          <a:rPr lang="en-US" sz="2400" b="0" i="1" smtClean="0">
                            <a:latin typeface="Cambria Math" panose="02040503050406030204" pitchFamily="18" charset="0"/>
                            <a:cs typeface="Arial" pitchFamily="34" charset="0"/>
                          </a:rPr>
                          <m:t>+</m:t>
                        </m:r>
                        <m:r>
                          <a:rPr lang="en-US" sz="2400" b="0" i="1" smtClean="0">
                            <a:latin typeface="Cambria Math" panose="02040503050406030204" pitchFamily="18" charset="0"/>
                            <a:ea typeface="Cambria Math" panose="02040503050406030204" pitchFamily="18" charset="0"/>
                            <a:cs typeface="Arial" pitchFamily="34" charset="0"/>
                          </a:rPr>
                          <m:t>𝜆</m:t>
                        </m:r>
                      </m:den>
                    </m:f>
                  </m:oMath>
                </a14:m>
                <a:endParaRPr lang="en-US" sz="2400" dirty="0">
                  <a:latin typeface="Arial" pitchFamily="34" charset="0"/>
                  <a:cs typeface="Arial" pitchFamily="34" charset="0"/>
                </a:endParaRPr>
              </a:p>
            </p:txBody>
          </p:sp>
        </mc:Choice>
        <mc:Fallback xmlns="">
          <p:sp>
            <p:nvSpPr>
              <p:cNvPr id="18" name="TextBox 17">
                <a:extLst>
                  <a:ext uri="{FF2B5EF4-FFF2-40B4-BE49-F238E27FC236}">
                    <a16:creationId xmlns:a16="http://schemas.microsoft.com/office/drawing/2014/main" id="{26A94A26-4589-2BF7-1231-E1BB90CB6290}"/>
                  </a:ext>
                </a:extLst>
              </p:cNvPr>
              <p:cNvSpPr txBox="1">
                <a:spLocks noRot="1" noChangeAspect="1" noMove="1" noResize="1" noEditPoints="1" noAdjustHandles="1" noChangeArrowheads="1" noChangeShapeType="1" noTextEdit="1"/>
              </p:cNvSpPr>
              <p:nvPr/>
            </p:nvSpPr>
            <p:spPr>
              <a:xfrm>
                <a:off x="2640596" y="4920836"/>
                <a:ext cx="4484369" cy="592085"/>
              </a:xfrm>
              <a:prstGeom prst="rect">
                <a:avLst/>
              </a:prstGeom>
              <a:blipFill>
                <a:blip r:embed="rId7"/>
                <a:stretch>
                  <a:fillRect l="-4225" t="-78723" r="-282" b="-61702"/>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AAF6433-D9A6-8997-9485-E738A8D10F31}"/>
              </a:ext>
            </a:extLst>
          </p:cNvPr>
          <p:cNvSpPr txBox="1"/>
          <p:nvPr/>
        </p:nvSpPr>
        <p:spPr>
          <a:xfrm>
            <a:off x="4527012" y="3152997"/>
            <a:ext cx="1731354" cy="369332"/>
          </a:xfrm>
          <a:prstGeom prst="rect">
            <a:avLst/>
          </a:prstGeom>
          <a:noFill/>
        </p:spPr>
        <p:txBody>
          <a:bodyPr wrap="square" rtlCol="0">
            <a:spAutoFit/>
          </a:bodyPr>
          <a:lstStyle/>
          <a:p>
            <a:r>
              <a:rPr lang="en-US" dirty="0">
                <a:latin typeface="Arial" pitchFamily="34" charset="0"/>
                <a:cs typeface="Arial" pitchFamily="34" charset="0"/>
              </a:rPr>
              <a:t>output = -10.5</a:t>
            </a:r>
          </a:p>
        </p:txBody>
      </p:sp>
      <p:sp>
        <p:nvSpPr>
          <p:cNvPr id="20" name="TextBox 19">
            <a:extLst>
              <a:ext uri="{FF2B5EF4-FFF2-40B4-BE49-F238E27FC236}">
                <a16:creationId xmlns:a16="http://schemas.microsoft.com/office/drawing/2014/main" id="{E7688B2A-1111-EBB5-6211-0F4A8B90DB24}"/>
              </a:ext>
            </a:extLst>
          </p:cNvPr>
          <p:cNvSpPr txBox="1"/>
          <p:nvPr/>
        </p:nvSpPr>
        <p:spPr>
          <a:xfrm>
            <a:off x="6097649" y="3778999"/>
            <a:ext cx="1731354" cy="369332"/>
          </a:xfrm>
          <a:prstGeom prst="rect">
            <a:avLst/>
          </a:prstGeom>
          <a:noFill/>
        </p:spPr>
        <p:txBody>
          <a:bodyPr wrap="square" rtlCol="0">
            <a:spAutoFit/>
          </a:bodyPr>
          <a:lstStyle/>
          <a:p>
            <a:r>
              <a:rPr lang="en-US" dirty="0">
                <a:latin typeface="Arial" pitchFamily="34" charset="0"/>
                <a:cs typeface="Arial" pitchFamily="34" charset="0"/>
              </a:rPr>
              <a:t>output = 7</a:t>
            </a:r>
          </a:p>
        </p:txBody>
      </p:sp>
      <p:sp>
        <p:nvSpPr>
          <p:cNvPr id="21" name="TextBox 20">
            <a:extLst>
              <a:ext uri="{FF2B5EF4-FFF2-40B4-BE49-F238E27FC236}">
                <a16:creationId xmlns:a16="http://schemas.microsoft.com/office/drawing/2014/main" id="{E4D941E1-7B1C-1C6F-FACB-9D2B8C18E70A}"/>
              </a:ext>
            </a:extLst>
          </p:cNvPr>
          <p:cNvSpPr txBox="1"/>
          <p:nvPr/>
        </p:nvSpPr>
        <p:spPr>
          <a:xfrm>
            <a:off x="7697829" y="3785482"/>
            <a:ext cx="2049848" cy="369332"/>
          </a:xfrm>
          <a:prstGeom prst="rect">
            <a:avLst/>
          </a:prstGeom>
          <a:noFill/>
        </p:spPr>
        <p:txBody>
          <a:bodyPr wrap="square" rtlCol="0">
            <a:spAutoFit/>
          </a:bodyPr>
          <a:lstStyle/>
          <a:p>
            <a:r>
              <a:rPr lang="en-US" dirty="0">
                <a:latin typeface="Arial" pitchFamily="34" charset="0"/>
                <a:cs typeface="Arial" pitchFamily="34" charset="0"/>
              </a:rPr>
              <a:t>output =-7.5</a:t>
            </a:r>
          </a:p>
        </p:txBody>
      </p:sp>
      <p:pic>
        <p:nvPicPr>
          <p:cNvPr id="15" name="Picture 14">
            <a:extLst>
              <a:ext uri="{FF2B5EF4-FFF2-40B4-BE49-F238E27FC236}">
                <a16:creationId xmlns:a16="http://schemas.microsoft.com/office/drawing/2014/main" id="{C763020D-7FAC-7BC7-7A14-B24402DE5B2F}"/>
              </a:ext>
            </a:extLst>
          </p:cNvPr>
          <p:cNvPicPr>
            <a:picLocks noChangeAspect="1"/>
          </p:cNvPicPr>
          <p:nvPr/>
        </p:nvPicPr>
        <p:blipFill>
          <a:blip r:embed="rId8"/>
          <a:stretch>
            <a:fillRect/>
          </a:stretch>
        </p:blipFill>
        <p:spPr>
          <a:xfrm>
            <a:off x="1033631" y="5723523"/>
            <a:ext cx="7772400" cy="636918"/>
          </a:xfrm>
          <a:prstGeom prst="rect">
            <a:avLst/>
          </a:prstGeom>
        </p:spPr>
      </p:pic>
    </p:spTree>
    <p:extLst>
      <p:ext uri="{BB962C8B-B14F-4D97-AF65-F5344CB8AC3E}">
        <p14:creationId xmlns:p14="http://schemas.microsoft.com/office/powerpoint/2010/main" val="332710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331C-8F1B-8123-0B18-A991908EF678}"/>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2043619D-1A48-0AC0-0C68-9A4506D8E37C}"/>
              </a:ext>
            </a:extLst>
          </p:cNvPr>
          <p:cNvSpPr>
            <a:spLocks noGrp="1"/>
          </p:cNvSpPr>
          <p:nvPr>
            <p:ph idx="1"/>
          </p:nvPr>
        </p:nvSpPr>
        <p:spPr/>
        <p:txBody>
          <a:bodyPr/>
          <a:lstStyle/>
          <a:p>
            <a:r>
              <a:rPr lang="en-US" dirty="0"/>
              <a:t>So far we have:</a:t>
            </a:r>
          </a:p>
          <a:p>
            <a:endParaRPr lang="en-US" dirty="0"/>
          </a:p>
          <a:p>
            <a:endParaRPr lang="en-US" dirty="0"/>
          </a:p>
        </p:txBody>
      </p:sp>
      <p:sp>
        <p:nvSpPr>
          <p:cNvPr id="4" name="Date Placeholder 3">
            <a:extLst>
              <a:ext uri="{FF2B5EF4-FFF2-40B4-BE49-F238E27FC236}">
                <a16:creationId xmlns:a16="http://schemas.microsoft.com/office/drawing/2014/main" id="{F0CB113D-ED39-7237-B295-CE6C86BC6130}"/>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E8B5B103-E5FA-6005-5AD7-D378851EE40F}"/>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1965902-843B-9958-9921-6A72E627F590}"/>
              </a:ext>
            </a:extLst>
          </p:cNvPr>
          <p:cNvSpPr>
            <a:spLocks noGrp="1"/>
          </p:cNvSpPr>
          <p:nvPr>
            <p:ph type="sldNum" sz="quarter" idx="12"/>
          </p:nvPr>
        </p:nvSpPr>
        <p:spPr/>
        <p:txBody>
          <a:bodyPr/>
          <a:lstStyle/>
          <a:p>
            <a:fld id="{19B12225-5612-419B-A8D5-4B8EEE4C217E}" type="slidenum">
              <a:rPr lang="en-US" smtClean="0"/>
              <a:pPr/>
              <a:t>32</a:t>
            </a:fld>
            <a:endParaRPr lang="en-US"/>
          </a:p>
        </p:txBody>
      </p:sp>
      <p:grpSp>
        <p:nvGrpSpPr>
          <p:cNvPr id="7" name="Group 6">
            <a:extLst>
              <a:ext uri="{FF2B5EF4-FFF2-40B4-BE49-F238E27FC236}">
                <a16:creationId xmlns:a16="http://schemas.microsoft.com/office/drawing/2014/main" id="{3135DF8C-8C6C-D460-3F51-5470AA08A3D6}"/>
              </a:ext>
            </a:extLst>
          </p:cNvPr>
          <p:cNvGrpSpPr/>
          <p:nvPr/>
        </p:nvGrpSpPr>
        <p:grpSpPr>
          <a:xfrm>
            <a:off x="4724400" y="1724012"/>
            <a:ext cx="4162524" cy="2119448"/>
            <a:chOff x="4724400" y="1724012"/>
            <a:chExt cx="4162524" cy="2119448"/>
          </a:xfrm>
        </p:grpSpPr>
        <p:pic>
          <p:nvPicPr>
            <p:cNvPr id="8" name="Picture 7">
              <a:extLst>
                <a:ext uri="{FF2B5EF4-FFF2-40B4-BE49-F238E27FC236}">
                  <a16:creationId xmlns:a16="http://schemas.microsoft.com/office/drawing/2014/main" id="{A2B84607-13B8-E04A-DBF6-13605FF50001}"/>
                </a:ext>
              </a:extLst>
            </p:cNvPr>
            <p:cNvPicPr>
              <a:picLocks noChangeAspect="1"/>
            </p:cNvPicPr>
            <p:nvPr/>
          </p:nvPicPr>
          <p:blipFill>
            <a:blip r:embed="rId2"/>
            <a:stretch>
              <a:fillRect/>
            </a:stretch>
          </p:blipFill>
          <p:spPr>
            <a:xfrm>
              <a:off x="4724400" y="1754490"/>
              <a:ext cx="4162524" cy="2088970"/>
            </a:xfrm>
            <a:prstGeom prst="rect">
              <a:avLst/>
            </a:prstGeom>
          </p:spPr>
        </p:pic>
        <p:sp>
          <p:nvSpPr>
            <p:cNvPr id="9" name="Rectangle 8">
              <a:extLst>
                <a:ext uri="{FF2B5EF4-FFF2-40B4-BE49-F238E27FC236}">
                  <a16:creationId xmlns:a16="http://schemas.microsoft.com/office/drawing/2014/main" id="{DFEC3C3D-3839-B9E3-76BA-FCF06A2B5A96}"/>
                </a:ext>
              </a:extLst>
            </p:cNvPr>
            <p:cNvSpPr/>
            <p:nvPr/>
          </p:nvSpPr>
          <p:spPr>
            <a:xfrm>
              <a:off x="7403232" y="1724012"/>
              <a:ext cx="1460616" cy="63417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A83D8C85-D128-462B-98BC-ADCCD81E955C}"/>
                </a:ext>
              </a:extLst>
            </p:cNvPr>
            <p:cNvSpPr/>
            <p:nvPr/>
          </p:nvSpPr>
          <p:spPr>
            <a:xfrm>
              <a:off x="4919831" y="3179126"/>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a:extLst>
                <a:ext uri="{FF2B5EF4-FFF2-40B4-BE49-F238E27FC236}">
                  <a16:creationId xmlns:a16="http://schemas.microsoft.com/office/drawing/2014/main" id="{2D45F9C2-4247-0D42-B1EF-D53FC02916A0}"/>
                </a:ext>
              </a:extLst>
            </p:cNvPr>
            <p:cNvSpPr/>
            <p:nvPr/>
          </p:nvSpPr>
          <p:spPr>
            <a:xfrm>
              <a:off x="6803315" y="3179125"/>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2" name="Picture 11">
              <a:extLst>
                <a:ext uri="{FF2B5EF4-FFF2-40B4-BE49-F238E27FC236}">
                  <a16:creationId xmlns:a16="http://schemas.microsoft.com/office/drawing/2014/main" id="{FBB98E16-C621-A374-9A38-F543A02442F4}"/>
                </a:ext>
              </a:extLst>
            </p:cNvPr>
            <p:cNvPicPr>
              <a:picLocks noChangeAspect="1"/>
            </p:cNvPicPr>
            <p:nvPr/>
          </p:nvPicPr>
          <p:blipFill>
            <a:blip r:embed="rId3"/>
            <a:stretch>
              <a:fillRect/>
            </a:stretch>
          </p:blipFill>
          <p:spPr>
            <a:xfrm>
              <a:off x="5009407" y="1884695"/>
              <a:ext cx="2426966" cy="492368"/>
            </a:xfrm>
            <a:prstGeom prst="rect">
              <a:avLst/>
            </a:prstGeom>
          </p:spPr>
        </p:pic>
      </p:grpSp>
      <p:pic>
        <p:nvPicPr>
          <p:cNvPr id="13" name="Picture 12">
            <a:extLst>
              <a:ext uri="{FF2B5EF4-FFF2-40B4-BE49-F238E27FC236}">
                <a16:creationId xmlns:a16="http://schemas.microsoft.com/office/drawing/2014/main" id="{69A072F6-4287-6037-D808-E9C8B39FF2B8}"/>
              </a:ext>
            </a:extLst>
          </p:cNvPr>
          <p:cNvPicPr>
            <a:picLocks noChangeAspect="1"/>
          </p:cNvPicPr>
          <p:nvPr/>
        </p:nvPicPr>
        <p:blipFill>
          <a:blip r:embed="rId4"/>
          <a:stretch>
            <a:fillRect/>
          </a:stretch>
        </p:blipFill>
        <p:spPr>
          <a:xfrm>
            <a:off x="5980708" y="3134116"/>
            <a:ext cx="2677766" cy="792238"/>
          </a:xfrm>
          <a:prstGeom prst="rect">
            <a:avLst/>
          </a:prstGeom>
        </p:spPr>
      </p:pic>
      <p:pic>
        <p:nvPicPr>
          <p:cNvPr id="14" name="Picture 13">
            <a:extLst>
              <a:ext uri="{FF2B5EF4-FFF2-40B4-BE49-F238E27FC236}">
                <a16:creationId xmlns:a16="http://schemas.microsoft.com/office/drawing/2014/main" id="{5F48752A-DD77-1F59-B23C-06793B6B80E6}"/>
              </a:ext>
            </a:extLst>
          </p:cNvPr>
          <p:cNvPicPr>
            <a:picLocks noChangeAspect="1"/>
          </p:cNvPicPr>
          <p:nvPr/>
        </p:nvPicPr>
        <p:blipFill>
          <a:blip r:embed="rId5"/>
          <a:stretch>
            <a:fillRect/>
          </a:stretch>
        </p:blipFill>
        <p:spPr>
          <a:xfrm>
            <a:off x="6318654" y="2706853"/>
            <a:ext cx="2244852" cy="428478"/>
          </a:xfrm>
          <a:prstGeom prst="rect">
            <a:avLst/>
          </a:prstGeom>
        </p:spPr>
      </p:pic>
      <p:pic>
        <p:nvPicPr>
          <p:cNvPr id="17" name="Picture 16">
            <a:extLst>
              <a:ext uri="{FF2B5EF4-FFF2-40B4-BE49-F238E27FC236}">
                <a16:creationId xmlns:a16="http://schemas.microsoft.com/office/drawing/2014/main" id="{AF4CDE04-7FB8-3C6F-92AC-778EBD3FC750}"/>
              </a:ext>
            </a:extLst>
          </p:cNvPr>
          <p:cNvPicPr>
            <a:picLocks noChangeAspect="1"/>
          </p:cNvPicPr>
          <p:nvPr/>
        </p:nvPicPr>
        <p:blipFill>
          <a:blip r:embed="rId6"/>
          <a:stretch>
            <a:fillRect/>
          </a:stretch>
        </p:blipFill>
        <p:spPr>
          <a:xfrm>
            <a:off x="951287" y="2134296"/>
            <a:ext cx="1983991" cy="572305"/>
          </a:xfrm>
          <a:prstGeom prst="rect">
            <a:avLst/>
          </a:prstGeom>
        </p:spPr>
      </p:pic>
      <p:sp>
        <p:nvSpPr>
          <p:cNvPr id="19" name="TextBox 18">
            <a:extLst>
              <a:ext uri="{FF2B5EF4-FFF2-40B4-BE49-F238E27FC236}">
                <a16:creationId xmlns:a16="http://schemas.microsoft.com/office/drawing/2014/main" id="{2AAF6433-D9A6-8997-9485-E738A8D10F31}"/>
              </a:ext>
            </a:extLst>
          </p:cNvPr>
          <p:cNvSpPr txBox="1"/>
          <p:nvPr/>
        </p:nvSpPr>
        <p:spPr>
          <a:xfrm>
            <a:off x="4527012" y="3152997"/>
            <a:ext cx="1731354" cy="369332"/>
          </a:xfrm>
          <a:prstGeom prst="rect">
            <a:avLst/>
          </a:prstGeom>
          <a:noFill/>
        </p:spPr>
        <p:txBody>
          <a:bodyPr wrap="square" rtlCol="0">
            <a:spAutoFit/>
          </a:bodyPr>
          <a:lstStyle/>
          <a:p>
            <a:r>
              <a:rPr lang="en-US" dirty="0">
                <a:latin typeface="Arial" pitchFamily="34" charset="0"/>
                <a:cs typeface="Arial" pitchFamily="34" charset="0"/>
              </a:rPr>
              <a:t>output = -10.5</a:t>
            </a:r>
          </a:p>
        </p:txBody>
      </p:sp>
      <p:sp>
        <p:nvSpPr>
          <p:cNvPr id="20" name="TextBox 19">
            <a:extLst>
              <a:ext uri="{FF2B5EF4-FFF2-40B4-BE49-F238E27FC236}">
                <a16:creationId xmlns:a16="http://schemas.microsoft.com/office/drawing/2014/main" id="{E7688B2A-1111-EBB5-6211-0F4A8B90DB24}"/>
              </a:ext>
            </a:extLst>
          </p:cNvPr>
          <p:cNvSpPr txBox="1"/>
          <p:nvPr/>
        </p:nvSpPr>
        <p:spPr>
          <a:xfrm>
            <a:off x="6097649" y="3778999"/>
            <a:ext cx="1731354" cy="369332"/>
          </a:xfrm>
          <a:prstGeom prst="rect">
            <a:avLst/>
          </a:prstGeom>
          <a:noFill/>
        </p:spPr>
        <p:txBody>
          <a:bodyPr wrap="square" rtlCol="0">
            <a:spAutoFit/>
          </a:bodyPr>
          <a:lstStyle/>
          <a:p>
            <a:r>
              <a:rPr lang="en-US" dirty="0">
                <a:latin typeface="Arial" pitchFamily="34" charset="0"/>
                <a:cs typeface="Arial" pitchFamily="34" charset="0"/>
              </a:rPr>
              <a:t>output = 7</a:t>
            </a:r>
          </a:p>
        </p:txBody>
      </p:sp>
      <p:sp>
        <p:nvSpPr>
          <p:cNvPr id="21" name="TextBox 20">
            <a:extLst>
              <a:ext uri="{FF2B5EF4-FFF2-40B4-BE49-F238E27FC236}">
                <a16:creationId xmlns:a16="http://schemas.microsoft.com/office/drawing/2014/main" id="{E4D941E1-7B1C-1C6F-FACB-9D2B8C18E70A}"/>
              </a:ext>
            </a:extLst>
          </p:cNvPr>
          <p:cNvSpPr txBox="1"/>
          <p:nvPr/>
        </p:nvSpPr>
        <p:spPr>
          <a:xfrm>
            <a:off x="7697829" y="3785482"/>
            <a:ext cx="2049848" cy="369332"/>
          </a:xfrm>
          <a:prstGeom prst="rect">
            <a:avLst/>
          </a:prstGeom>
          <a:noFill/>
        </p:spPr>
        <p:txBody>
          <a:bodyPr wrap="square" rtlCol="0">
            <a:spAutoFit/>
          </a:bodyPr>
          <a:lstStyle/>
          <a:p>
            <a:r>
              <a:rPr lang="en-US" dirty="0">
                <a:latin typeface="Arial" pitchFamily="34" charset="0"/>
                <a:cs typeface="Arial" pitchFamily="34" charset="0"/>
              </a:rPr>
              <a:t>output =-7.5</a:t>
            </a:r>
          </a:p>
        </p:txBody>
      </p:sp>
      <p:pic>
        <p:nvPicPr>
          <p:cNvPr id="15" name="Picture 14">
            <a:extLst>
              <a:ext uri="{FF2B5EF4-FFF2-40B4-BE49-F238E27FC236}">
                <a16:creationId xmlns:a16="http://schemas.microsoft.com/office/drawing/2014/main" id="{3344CC8F-C32F-8B79-234E-42B597117416}"/>
              </a:ext>
            </a:extLst>
          </p:cNvPr>
          <p:cNvPicPr>
            <a:picLocks noChangeAspect="1"/>
          </p:cNvPicPr>
          <p:nvPr/>
        </p:nvPicPr>
        <p:blipFill>
          <a:blip r:embed="rId7"/>
          <a:stretch>
            <a:fillRect/>
          </a:stretch>
        </p:blipFill>
        <p:spPr>
          <a:xfrm>
            <a:off x="808147"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0C00284B-0709-D6E0-C82E-FA8626140DFF}"/>
              </a:ext>
            </a:extLst>
          </p:cNvPr>
          <p:cNvSpPr txBox="1"/>
          <p:nvPr/>
        </p:nvSpPr>
        <p:spPr>
          <a:xfrm>
            <a:off x="3496794" y="5191866"/>
            <a:ext cx="4968027" cy="369332"/>
          </a:xfrm>
          <a:prstGeom prst="rect">
            <a:avLst/>
          </a:prstGeom>
          <a:noFill/>
        </p:spPr>
        <p:txBody>
          <a:bodyPr wrap="none" lIns="0" tIns="0" rIns="0" bIns="0" rtlCol="0">
            <a:spAutoFit/>
          </a:bodyPr>
          <a:lstStyle/>
          <a:p>
            <a:r>
              <a:rPr lang="en-US" sz="2400" dirty="0">
                <a:cs typeface="Arial" pitchFamily="34" charset="0"/>
              </a:rPr>
              <a:t>New prediction=0.5 + 0.3 x(-10.5)=-2.65</a:t>
            </a:r>
            <a:endParaRPr lang="en-US" sz="2400" dirty="0">
              <a:latin typeface="Arial" pitchFamily="34" charset="0"/>
              <a:cs typeface="Arial" pitchFamily="34" charset="0"/>
            </a:endParaRPr>
          </a:p>
        </p:txBody>
      </p:sp>
      <p:sp>
        <p:nvSpPr>
          <p:cNvPr id="22" name="Rectangle 21">
            <a:extLst>
              <a:ext uri="{FF2B5EF4-FFF2-40B4-BE49-F238E27FC236}">
                <a16:creationId xmlns:a16="http://schemas.microsoft.com/office/drawing/2014/main" id="{8462E1F2-9170-FD09-C247-A3647F3DBEEB}"/>
              </a:ext>
            </a:extLst>
          </p:cNvPr>
          <p:cNvSpPr/>
          <p:nvPr/>
        </p:nvSpPr>
        <p:spPr>
          <a:xfrm>
            <a:off x="1597688" y="5476352"/>
            <a:ext cx="345594" cy="291402"/>
          </a:xfrm>
          <a:prstGeom prst="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DC3114D0-CEF2-F6BD-A7E0-2E28510355CE}"/>
              </a:ext>
            </a:extLst>
          </p:cNvPr>
          <p:cNvSpPr/>
          <p:nvPr/>
        </p:nvSpPr>
        <p:spPr>
          <a:xfrm>
            <a:off x="4926812" y="2759864"/>
            <a:ext cx="1268547" cy="336368"/>
          </a:xfrm>
          <a:prstGeom prst="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95247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animBg="1"/>
      <p:bldP spid="2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331C-8F1B-8123-0B18-A991908EF678}"/>
              </a:ext>
            </a:extLst>
          </p:cNvPr>
          <p:cNvSpPr>
            <a:spLocks noGrp="1"/>
          </p:cNvSpPr>
          <p:nvPr>
            <p:ph type="title"/>
          </p:nvPr>
        </p:nvSpPr>
        <p:spPr/>
        <p:txBody>
          <a:bodyPr/>
          <a:lstStyle/>
          <a:p>
            <a:r>
              <a:rPr lang="en-US" dirty="0"/>
              <a:t>Gradient Boosted Decision Trees</a:t>
            </a:r>
          </a:p>
        </p:txBody>
      </p:sp>
      <p:sp>
        <p:nvSpPr>
          <p:cNvPr id="3" name="Content Placeholder 2">
            <a:extLst>
              <a:ext uri="{FF2B5EF4-FFF2-40B4-BE49-F238E27FC236}">
                <a16:creationId xmlns:a16="http://schemas.microsoft.com/office/drawing/2014/main" id="{2043619D-1A48-0AC0-0C68-9A4506D8E37C}"/>
              </a:ext>
            </a:extLst>
          </p:cNvPr>
          <p:cNvSpPr>
            <a:spLocks noGrp="1"/>
          </p:cNvSpPr>
          <p:nvPr>
            <p:ph idx="1"/>
          </p:nvPr>
        </p:nvSpPr>
        <p:spPr/>
        <p:txBody>
          <a:bodyPr/>
          <a:lstStyle/>
          <a:p>
            <a:r>
              <a:rPr lang="en-US" dirty="0"/>
              <a:t>So far we have:</a:t>
            </a:r>
          </a:p>
          <a:p>
            <a:endParaRPr lang="en-US" dirty="0"/>
          </a:p>
          <a:p>
            <a:endParaRPr lang="en-US" dirty="0"/>
          </a:p>
        </p:txBody>
      </p:sp>
      <p:sp>
        <p:nvSpPr>
          <p:cNvPr id="4" name="Date Placeholder 3">
            <a:extLst>
              <a:ext uri="{FF2B5EF4-FFF2-40B4-BE49-F238E27FC236}">
                <a16:creationId xmlns:a16="http://schemas.microsoft.com/office/drawing/2014/main" id="{F0CB113D-ED39-7237-B295-CE6C86BC6130}"/>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E8B5B103-E5FA-6005-5AD7-D378851EE40F}"/>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1965902-843B-9958-9921-6A72E627F590}"/>
              </a:ext>
            </a:extLst>
          </p:cNvPr>
          <p:cNvSpPr>
            <a:spLocks noGrp="1"/>
          </p:cNvSpPr>
          <p:nvPr>
            <p:ph type="sldNum" sz="quarter" idx="12"/>
          </p:nvPr>
        </p:nvSpPr>
        <p:spPr/>
        <p:txBody>
          <a:bodyPr/>
          <a:lstStyle/>
          <a:p>
            <a:fld id="{19B12225-5612-419B-A8D5-4B8EEE4C217E}" type="slidenum">
              <a:rPr lang="en-US" smtClean="0"/>
              <a:pPr/>
              <a:t>33</a:t>
            </a:fld>
            <a:endParaRPr lang="en-US"/>
          </a:p>
        </p:txBody>
      </p:sp>
      <p:grpSp>
        <p:nvGrpSpPr>
          <p:cNvPr id="7" name="Group 6">
            <a:extLst>
              <a:ext uri="{FF2B5EF4-FFF2-40B4-BE49-F238E27FC236}">
                <a16:creationId xmlns:a16="http://schemas.microsoft.com/office/drawing/2014/main" id="{3135DF8C-8C6C-D460-3F51-5470AA08A3D6}"/>
              </a:ext>
            </a:extLst>
          </p:cNvPr>
          <p:cNvGrpSpPr/>
          <p:nvPr/>
        </p:nvGrpSpPr>
        <p:grpSpPr>
          <a:xfrm>
            <a:off x="4724400" y="1724012"/>
            <a:ext cx="4162524" cy="2119448"/>
            <a:chOff x="4724400" y="1724012"/>
            <a:chExt cx="4162524" cy="2119448"/>
          </a:xfrm>
        </p:grpSpPr>
        <p:pic>
          <p:nvPicPr>
            <p:cNvPr id="8" name="Picture 7">
              <a:extLst>
                <a:ext uri="{FF2B5EF4-FFF2-40B4-BE49-F238E27FC236}">
                  <a16:creationId xmlns:a16="http://schemas.microsoft.com/office/drawing/2014/main" id="{A2B84607-13B8-E04A-DBF6-13605FF50001}"/>
                </a:ext>
              </a:extLst>
            </p:cNvPr>
            <p:cNvPicPr>
              <a:picLocks noChangeAspect="1"/>
            </p:cNvPicPr>
            <p:nvPr/>
          </p:nvPicPr>
          <p:blipFill>
            <a:blip r:embed="rId3"/>
            <a:stretch>
              <a:fillRect/>
            </a:stretch>
          </p:blipFill>
          <p:spPr>
            <a:xfrm>
              <a:off x="4724400" y="1754490"/>
              <a:ext cx="4162524" cy="2088970"/>
            </a:xfrm>
            <a:prstGeom prst="rect">
              <a:avLst/>
            </a:prstGeom>
          </p:spPr>
        </p:pic>
        <p:sp>
          <p:nvSpPr>
            <p:cNvPr id="9" name="Rectangle 8">
              <a:extLst>
                <a:ext uri="{FF2B5EF4-FFF2-40B4-BE49-F238E27FC236}">
                  <a16:creationId xmlns:a16="http://schemas.microsoft.com/office/drawing/2014/main" id="{DFEC3C3D-3839-B9E3-76BA-FCF06A2B5A96}"/>
                </a:ext>
              </a:extLst>
            </p:cNvPr>
            <p:cNvSpPr/>
            <p:nvPr/>
          </p:nvSpPr>
          <p:spPr>
            <a:xfrm>
              <a:off x="7403232" y="1724012"/>
              <a:ext cx="1460616" cy="63417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A83D8C85-D128-462B-98BC-ADCCD81E955C}"/>
                </a:ext>
              </a:extLst>
            </p:cNvPr>
            <p:cNvSpPr/>
            <p:nvPr/>
          </p:nvSpPr>
          <p:spPr>
            <a:xfrm>
              <a:off x="4919831" y="3179126"/>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a:extLst>
                <a:ext uri="{FF2B5EF4-FFF2-40B4-BE49-F238E27FC236}">
                  <a16:creationId xmlns:a16="http://schemas.microsoft.com/office/drawing/2014/main" id="{2D45F9C2-4247-0D42-B1EF-D53FC02916A0}"/>
                </a:ext>
              </a:extLst>
            </p:cNvPr>
            <p:cNvSpPr/>
            <p:nvPr/>
          </p:nvSpPr>
          <p:spPr>
            <a:xfrm>
              <a:off x="6803315" y="3179125"/>
              <a:ext cx="1460616" cy="492369"/>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2" name="Picture 11">
              <a:extLst>
                <a:ext uri="{FF2B5EF4-FFF2-40B4-BE49-F238E27FC236}">
                  <a16:creationId xmlns:a16="http://schemas.microsoft.com/office/drawing/2014/main" id="{FBB98E16-C621-A374-9A38-F543A02442F4}"/>
                </a:ext>
              </a:extLst>
            </p:cNvPr>
            <p:cNvPicPr>
              <a:picLocks noChangeAspect="1"/>
            </p:cNvPicPr>
            <p:nvPr/>
          </p:nvPicPr>
          <p:blipFill>
            <a:blip r:embed="rId4"/>
            <a:stretch>
              <a:fillRect/>
            </a:stretch>
          </p:blipFill>
          <p:spPr>
            <a:xfrm>
              <a:off x="5009407" y="1884695"/>
              <a:ext cx="2426966" cy="492368"/>
            </a:xfrm>
            <a:prstGeom prst="rect">
              <a:avLst/>
            </a:prstGeom>
          </p:spPr>
        </p:pic>
      </p:grpSp>
      <p:pic>
        <p:nvPicPr>
          <p:cNvPr id="13" name="Picture 12">
            <a:extLst>
              <a:ext uri="{FF2B5EF4-FFF2-40B4-BE49-F238E27FC236}">
                <a16:creationId xmlns:a16="http://schemas.microsoft.com/office/drawing/2014/main" id="{69A072F6-4287-6037-D808-E9C8B39FF2B8}"/>
              </a:ext>
            </a:extLst>
          </p:cNvPr>
          <p:cNvPicPr>
            <a:picLocks noChangeAspect="1"/>
          </p:cNvPicPr>
          <p:nvPr/>
        </p:nvPicPr>
        <p:blipFill>
          <a:blip r:embed="rId5"/>
          <a:stretch>
            <a:fillRect/>
          </a:stretch>
        </p:blipFill>
        <p:spPr>
          <a:xfrm>
            <a:off x="5980708" y="3134116"/>
            <a:ext cx="2677766" cy="792238"/>
          </a:xfrm>
          <a:prstGeom prst="rect">
            <a:avLst/>
          </a:prstGeom>
        </p:spPr>
      </p:pic>
      <p:pic>
        <p:nvPicPr>
          <p:cNvPr id="14" name="Picture 13">
            <a:extLst>
              <a:ext uri="{FF2B5EF4-FFF2-40B4-BE49-F238E27FC236}">
                <a16:creationId xmlns:a16="http://schemas.microsoft.com/office/drawing/2014/main" id="{5F48752A-DD77-1F59-B23C-06793B6B80E6}"/>
              </a:ext>
            </a:extLst>
          </p:cNvPr>
          <p:cNvPicPr>
            <a:picLocks noChangeAspect="1"/>
          </p:cNvPicPr>
          <p:nvPr/>
        </p:nvPicPr>
        <p:blipFill>
          <a:blip r:embed="rId6"/>
          <a:stretch>
            <a:fillRect/>
          </a:stretch>
        </p:blipFill>
        <p:spPr>
          <a:xfrm>
            <a:off x="6318654" y="2706853"/>
            <a:ext cx="2244852" cy="428478"/>
          </a:xfrm>
          <a:prstGeom prst="rect">
            <a:avLst/>
          </a:prstGeom>
        </p:spPr>
      </p:pic>
      <p:pic>
        <p:nvPicPr>
          <p:cNvPr id="17" name="Picture 16">
            <a:extLst>
              <a:ext uri="{FF2B5EF4-FFF2-40B4-BE49-F238E27FC236}">
                <a16:creationId xmlns:a16="http://schemas.microsoft.com/office/drawing/2014/main" id="{AF4CDE04-7FB8-3C6F-92AC-778EBD3FC750}"/>
              </a:ext>
            </a:extLst>
          </p:cNvPr>
          <p:cNvPicPr>
            <a:picLocks noChangeAspect="1"/>
          </p:cNvPicPr>
          <p:nvPr/>
        </p:nvPicPr>
        <p:blipFill>
          <a:blip r:embed="rId7"/>
          <a:stretch>
            <a:fillRect/>
          </a:stretch>
        </p:blipFill>
        <p:spPr>
          <a:xfrm>
            <a:off x="951287" y="2134296"/>
            <a:ext cx="1983991" cy="572305"/>
          </a:xfrm>
          <a:prstGeom prst="rect">
            <a:avLst/>
          </a:prstGeom>
        </p:spPr>
      </p:pic>
      <p:sp>
        <p:nvSpPr>
          <p:cNvPr id="19" name="TextBox 18">
            <a:extLst>
              <a:ext uri="{FF2B5EF4-FFF2-40B4-BE49-F238E27FC236}">
                <a16:creationId xmlns:a16="http://schemas.microsoft.com/office/drawing/2014/main" id="{2AAF6433-D9A6-8997-9485-E738A8D10F31}"/>
              </a:ext>
            </a:extLst>
          </p:cNvPr>
          <p:cNvSpPr txBox="1"/>
          <p:nvPr/>
        </p:nvSpPr>
        <p:spPr>
          <a:xfrm>
            <a:off x="4527012" y="3152997"/>
            <a:ext cx="1731354" cy="369332"/>
          </a:xfrm>
          <a:prstGeom prst="rect">
            <a:avLst/>
          </a:prstGeom>
          <a:noFill/>
        </p:spPr>
        <p:txBody>
          <a:bodyPr wrap="square" rtlCol="0">
            <a:spAutoFit/>
          </a:bodyPr>
          <a:lstStyle/>
          <a:p>
            <a:r>
              <a:rPr lang="en-US" dirty="0">
                <a:latin typeface="Arial" pitchFamily="34" charset="0"/>
                <a:cs typeface="Arial" pitchFamily="34" charset="0"/>
              </a:rPr>
              <a:t>output = -10.5</a:t>
            </a:r>
          </a:p>
        </p:txBody>
      </p:sp>
      <p:sp>
        <p:nvSpPr>
          <p:cNvPr id="20" name="TextBox 19">
            <a:extLst>
              <a:ext uri="{FF2B5EF4-FFF2-40B4-BE49-F238E27FC236}">
                <a16:creationId xmlns:a16="http://schemas.microsoft.com/office/drawing/2014/main" id="{E7688B2A-1111-EBB5-6211-0F4A8B90DB24}"/>
              </a:ext>
            </a:extLst>
          </p:cNvPr>
          <p:cNvSpPr txBox="1"/>
          <p:nvPr/>
        </p:nvSpPr>
        <p:spPr>
          <a:xfrm>
            <a:off x="6097649" y="3778999"/>
            <a:ext cx="1731354" cy="369332"/>
          </a:xfrm>
          <a:prstGeom prst="rect">
            <a:avLst/>
          </a:prstGeom>
          <a:noFill/>
        </p:spPr>
        <p:txBody>
          <a:bodyPr wrap="square" rtlCol="0">
            <a:spAutoFit/>
          </a:bodyPr>
          <a:lstStyle/>
          <a:p>
            <a:r>
              <a:rPr lang="en-US" dirty="0">
                <a:latin typeface="Arial" pitchFamily="34" charset="0"/>
                <a:cs typeface="Arial" pitchFamily="34" charset="0"/>
              </a:rPr>
              <a:t>output = 7</a:t>
            </a:r>
          </a:p>
        </p:txBody>
      </p:sp>
      <p:sp>
        <p:nvSpPr>
          <p:cNvPr id="21" name="TextBox 20">
            <a:extLst>
              <a:ext uri="{FF2B5EF4-FFF2-40B4-BE49-F238E27FC236}">
                <a16:creationId xmlns:a16="http://schemas.microsoft.com/office/drawing/2014/main" id="{E4D941E1-7B1C-1C6F-FACB-9D2B8C18E70A}"/>
              </a:ext>
            </a:extLst>
          </p:cNvPr>
          <p:cNvSpPr txBox="1"/>
          <p:nvPr/>
        </p:nvSpPr>
        <p:spPr>
          <a:xfrm>
            <a:off x="7697829" y="3785482"/>
            <a:ext cx="2049848" cy="369332"/>
          </a:xfrm>
          <a:prstGeom prst="rect">
            <a:avLst/>
          </a:prstGeom>
          <a:noFill/>
        </p:spPr>
        <p:txBody>
          <a:bodyPr wrap="square" rtlCol="0">
            <a:spAutoFit/>
          </a:bodyPr>
          <a:lstStyle/>
          <a:p>
            <a:r>
              <a:rPr lang="en-US" dirty="0">
                <a:latin typeface="Arial" pitchFamily="34" charset="0"/>
                <a:cs typeface="Arial" pitchFamily="34" charset="0"/>
              </a:rPr>
              <a:t>output =-7.5</a:t>
            </a:r>
          </a:p>
        </p:txBody>
      </p:sp>
      <p:pic>
        <p:nvPicPr>
          <p:cNvPr id="15" name="Picture 14">
            <a:extLst>
              <a:ext uri="{FF2B5EF4-FFF2-40B4-BE49-F238E27FC236}">
                <a16:creationId xmlns:a16="http://schemas.microsoft.com/office/drawing/2014/main" id="{3344CC8F-C32F-8B79-234E-42B597117416}"/>
              </a:ext>
            </a:extLst>
          </p:cNvPr>
          <p:cNvPicPr>
            <a:picLocks noChangeAspect="1"/>
          </p:cNvPicPr>
          <p:nvPr/>
        </p:nvPicPr>
        <p:blipFill>
          <a:blip r:embed="rId8"/>
          <a:stretch>
            <a:fillRect/>
          </a:stretch>
        </p:blipFill>
        <p:spPr>
          <a:xfrm>
            <a:off x="808147" y="3428999"/>
            <a:ext cx="2216408" cy="3139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0C00284B-0709-D6E0-C82E-FA8626140DFF}"/>
              </a:ext>
            </a:extLst>
          </p:cNvPr>
          <p:cNvSpPr txBox="1"/>
          <p:nvPr/>
        </p:nvSpPr>
        <p:spPr>
          <a:xfrm>
            <a:off x="3496794" y="5191866"/>
            <a:ext cx="4039567" cy="369332"/>
          </a:xfrm>
          <a:prstGeom prst="rect">
            <a:avLst/>
          </a:prstGeom>
          <a:noFill/>
        </p:spPr>
        <p:txBody>
          <a:bodyPr wrap="none" lIns="0" tIns="0" rIns="0" bIns="0" rtlCol="0">
            <a:spAutoFit/>
          </a:bodyPr>
          <a:lstStyle/>
          <a:p>
            <a:r>
              <a:rPr lang="en-US" sz="2400" dirty="0">
                <a:cs typeface="Arial" pitchFamily="34" charset="0"/>
              </a:rPr>
              <a:t>New prediction=0.5 + 0.3 x7=2.6</a:t>
            </a:r>
            <a:endParaRPr lang="en-US" sz="2400" dirty="0">
              <a:latin typeface="Arial" pitchFamily="34" charset="0"/>
              <a:cs typeface="Arial" pitchFamily="34" charset="0"/>
            </a:endParaRPr>
          </a:p>
        </p:txBody>
      </p:sp>
      <p:sp>
        <p:nvSpPr>
          <p:cNvPr id="22" name="Rectangle 21">
            <a:extLst>
              <a:ext uri="{FF2B5EF4-FFF2-40B4-BE49-F238E27FC236}">
                <a16:creationId xmlns:a16="http://schemas.microsoft.com/office/drawing/2014/main" id="{8462E1F2-9170-FD09-C247-A3647F3DBEEB}"/>
              </a:ext>
            </a:extLst>
          </p:cNvPr>
          <p:cNvSpPr/>
          <p:nvPr/>
        </p:nvSpPr>
        <p:spPr>
          <a:xfrm>
            <a:off x="1943282" y="4069401"/>
            <a:ext cx="345594" cy="291402"/>
          </a:xfrm>
          <a:prstGeom prst="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DC3114D0-CEF2-F6BD-A7E0-2E28510355CE}"/>
              </a:ext>
            </a:extLst>
          </p:cNvPr>
          <p:cNvSpPr/>
          <p:nvPr/>
        </p:nvSpPr>
        <p:spPr>
          <a:xfrm>
            <a:off x="6059945" y="3412152"/>
            <a:ext cx="1268547" cy="336368"/>
          </a:xfrm>
          <a:prstGeom prst="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591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animBg="1"/>
      <p:bldP spid="2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D718E-F6C5-C5C9-BF85-07BFE239E794}"/>
              </a:ext>
            </a:extLst>
          </p:cNvPr>
          <p:cNvSpPr>
            <a:spLocks noGrp="1"/>
          </p:cNvSpPr>
          <p:nvPr>
            <p:ph type="title"/>
          </p:nvPr>
        </p:nvSpPr>
        <p:spPr/>
        <p:txBody>
          <a:bodyPr/>
          <a:lstStyle/>
          <a:p>
            <a:r>
              <a:rPr lang="en-US" dirty="0"/>
              <a:t>Gradient Boosted Decision Trees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88C040-5694-F9BA-2DEF-DB4AAF8FAA4B}"/>
                  </a:ext>
                </a:extLst>
              </p:cNvPr>
              <p:cNvSpPr>
                <a:spLocks noGrp="1"/>
              </p:cNvSpPr>
              <p:nvPr>
                <p:ph idx="1"/>
              </p:nvPr>
            </p:nvSpPr>
            <p:spPr/>
            <p:txBody>
              <a:bodyPr/>
              <a:lstStyle/>
              <a:p>
                <a:r>
                  <a:rPr lang="en-US" dirty="0"/>
                  <a:t>To build the next tree:</a:t>
                </a:r>
              </a:p>
              <a:p>
                <a:pPr lvl="1"/>
                <a:r>
                  <a:rPr lang="en-US" dirty="0"/>
                  <a:t>Compute residuals = </a:t>
                </a:r>
                <a14:m>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𝒚</m:t>
                        </m:r>
                      </m:e>
                    </m:acc>
                  </m:oMath>
                </a14:m>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Put all residuals into a leaf</a:t>
                </a:r>
              </a:p>
              <a:p>
                <a:pPr lvl="1"/>
                <a:r>
                  <a:rPr lang="en-US" dirty="0"/>
                  <a:t>Compute its similarity score and split.....</a:t>
                </a:r>
              </a:p>
            </p:txBody>
          </p:sp>
        </mc:Choice>
        <mc:Fallback xmlns="">
          <p:sp>
            <p:nvSpPr>
              <p:cNvPr id="3" name="Content Placeholder 2">
                <a:extLst>
                  <a:ext uri="{FF2B5EF4-FFF2-40B4-BE49-F238E27FC236}">
                    <a16:creationId xmlns:a16="http://schemas.microsoft.com/office/drawing/2014/main" id="{BB88C040-5694-F9BA-2DEF-DB4AAF8FAA4B}"/>
                  </a:ext>
                </a:extLst>
              </p:cNvPr>
              <p:cNvSpPr>
                <a:spLocks noGrp="1" noRot="1" noChangeAspect="1" noMove="1" noResize="1" noEditPoints="1" noAdjustHandles="1" noChangeArrowheads="1" noChangeShapeType="1" noTextEdit="1"/>
              </p:cNvSpPr>
              <p:nvPr>
                <p:ph idx="1"/>
              </p:nvPr>
            </p:nvSpPr>
            <p:spPr>
              <a:blipFill>
                <a:blip r:embed="rId2"/>
                <a:stretch>
                  <a:fillRect t="-725" b="-289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798B338-4879-F9A5-FCE5-EA7F7A123DE3}"/>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73D82060-C9EB-DF57-3E66-45CC401FA417}"/>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B30023FC-C154-D963-E07D-3BC082F64EA0}"/>
              </a:ext>
            </a:extLst>
          </p:cNvPr>
          <p:cNvSpPr>
            <a:spLocks noGrp="1"/>
          </p:cNvSpPr>
          <p:nvPr>
            <p:ph type="sldNum" sz="quarter" idx="12"/>
          </p:nvPr>
        </p:nvSpPr>
        <p:spPr/>
        <p:txBody>
          <a:bodyPr/>
          <a:lstStyle/>
          <a:p>
            <a:fld id="{19B12225-5612-419B-A8D5-4B8EEE4C217E}" type="slidenum">
              <a:rPr lang="en-US" smtClean="0"/>
              <a:pPr/>
              <a:t>34</a:t>
            </a:fld>
            <a:endParaRPr lang="en-US"/>
          </a:p>
        </p:txBody>
      </p:sp>
      <mc:AlternateContent xmlns:mc="http://schemas.openxmlformats.org/markup-compatibility/2006" xmlns:a14="http://schemas.microsoft.com/office/drawing/2010/main">
        <mc:Choice Requires="a14">
          <p:graphicFrame>
            <p:nvGraphicFramePr>
              <p:cNvPr id="7" name="Table 12">
                <a:extLst>
                  <a:ext uri="{FF2B5EF4-FFF2-40B4-BE49-F238E27FC236}">
                    <a16:creationId xmlns:a16="http://schemas.microsoft.com/office/drawing/2014/main" id="{5F74F262-A95E-58E7-AD30-BFA544D02494}"/>
                  </a:ext>
                </a:extLst>
              </p:cNvPr>
              <p:cNvGraphicFramePr>
                <a:graphicFrameLocks noGrp="1"/>
              </p:cNvGraphicFramePr>
              <p:nvPr>
                <p:extLst>
                  <p:ext uri="{D42A27DB-BD31-4B8C-83A1-F6EECF244321}">
                    <p14:modId xmlns:p14="http://schemas.microsoft.com/office/powerpoint/2010/main" val="3243006879"/>
                  </p:ext>
                </p:extLst>
              </p:nvPr>
            </p:nvGraphicFramePr>
            <p:xfrm>
              <a:off x="1728316" y="2583526"/>
              <a:ext cx="5194998" cy="2427324"/>
            </p:xfrm>
            <a:graphic>
              <a:graphicData uri="http://schemas.openxmlformats.org/drawingml/2006/table">
                <a:tbl>
                  <a:tblPr firstRow="1" bandRow="1">
                    <a:tableStyleId>{7E9639D4-E3E2-4D34-9284-5A2195B3D0D7}</a:tableStyleId>
                  </a:tblPr>
                  <a:tblGrid>
                    <a:gridCol w="1004835">
                      <a:extLst>
                        <a:ext uri="{9D8B030D-6E8A-4147-A177-3AD203B41FA5}">
                          <a16:colId xmlns:a16="http://schemas.microsoft.com/office/drawing/2014/main" val="2798093145"/>
                        </a:ext>
                      </a:extLst>
                    </a:gridCol>
                    <a:gridCol w="1647930">
                      <a:extLst>
                        <a:ext uri="{9D8B030D-6E8A-4147-A177-3AD203B41FA5}">
                          <a16:colId xmlns:a16="http://schemas.microsoft.com/office/drawing/2014/main" val="2776668440"/>
                        </a:ext>
                      </a:extLst>
                    </a:gridCol>
                    <a:gridCol w="1376624">
                      <a:extLst>
                        <a:ext uri="{9D8B030D-6E8A-4147-A177-3AD203B41FA5}">
                          <a16:colId xmlns:a16="http://schemas.microsoft.com/office/drawing/2014/main" val="667323421"/>
                        </a:ext>
                      </a:extLst>
                    </a:gridCol>
                    <a:gridCol w="1165609">
                      <a:extLst>
                        <a:ext uri="{9D8B030D-6E8A-4147-A177-3AD203B41FA5}">
                          <a16:colId xmlns:a16="http://schemas.microsoft.com/office/drawing/2014/main" val="1304160971"/>
                        </a:ext>
                      </a:extLst>
                    </a:gridCol>
                  </a:tblGrid>
                  <a:tr h="378231">
                    <a:tc>
                      <a:txBody>
                        <a:bodyPr/>
                        <a:lstStyle/>
                        <a:p>
                          <a:r>
                            <a:rPr lang="en-US" dirty="0"/>
                            <a:t>drug dosage (x)</a:t>
                          </a:r>
                        </a:p>
                      </a:txBody>
                      <a:tcPr/>
                    </a:tc>
                    <a:tc>
                      <a:txBody>
                        <a:bodyPr/>
                        <a:lstStyle/>
                        <a:p>
                          <a:r>
                            <a:rPr lang="en-US" dirty="0"/>
                            <a:t>drug effectiveness</a:t>
                          </a:r>
                        </a:p>
                        <a:p>
                          <a:r>
                            <a:rPr lang="en-US" dirty="0"/>
                            <a:t> (y)</a:t>
                          </a:r>
                        </a:p>
                      </a:txBody>
                      <a:tcPr/>
                    </a:tc>
                    <a:tc>
                      <a:txBody>
                        <a:bodyPr/>
                        <a:lstStyle/>
                        <a:p>
                          <a:r>
                            <a:rPr lang="en-US" dirty="0"/>
                            <a:t>predictions</a:t>
                          </a:r>
                        </a:p>
                        <a:p>
                          <a:pPr/>
                          <a14:m>
                            <m:oMathPara xmlns:m="http://schemas.openxmlformats.org/officeDocument/2006/math">
                              <m:oMathParaPr>
                                <m:jc m:val="centerGroup"/>
                              </m:oMathParaPr>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𝒚</m:t>
                                    </m:r>
                                  </m:e>
                                </m:acc>
                              </m:oMath>
                            </m:oMathPara>
                          </a14:m>
                          <a:endParaRPr lang="en-US" dirty="0"/>
                        </a:p>
                      </a:txBody>
                      <a:tcPr/>
                    </a:tc>
                    <a:tc>
                      <a:txBody>
                        <a:bodyPr/>
                        <a:lstStyle/>
                        <a:p>
                          <a:r>
                            <a:rPr lang="en-US" dirty="0"/>
                            <a:t>residual</a:t>
                          </a:r>
                          <a14:m>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𝒚</m:t>
                                  </m:r>
                                </m:e>
                              </m:acc>
                            </m:oMath>
                          </a14:m>
                          <a:endParaRPr lang="en-US" dirty="0"/>
                        </a:p>
                      </a:txBody>
                      <a:tcPr/>
                    </a:tc>
                    <a:extLst>
                      <a:ext uri="{0D108BD9-81ED-4DB2-BD59-A6C34878D82A}">
                        <a16:rowId xmlns:a16="http://schemas.microsoft.com/office/drawing/2014/main" val="1119411960"/>
                      </a:ext>
                    </a:extLst>
                  </a:tr>
                  <a:tr h="378231">
                    <a:tc>
                      <a:txBody>
                        <a:bodyPr/>
                        <a:lstStyle/>
                        <a:p>
                          <a:r>
                            <a:rPr lang="en-US" dirty="0"/>
                            <a:t>10</a:t>
                          </a:r>
                        </a:p>
                      </a:txBody>
                      <a:tcPr/>
                    </a:tc>
                    <a:tc>
                      <a:txBody>
                        <a:bodyPr/>
                        <a:lstStyle/>
                        <a:p>
                          <a:r>
                            <a:rPr lang="en-US" dirty="0"/>
                            <a:t>-10</a:t>
                          </a:r>
                        </a:p>
                      </a:txBody>
                      <a:tcPr/>
                    </a:tc>
                    <a:tc>
                      <a:txBody>
                        <a:bodyPr/>
                        <a:lstStyle/>
                        <a:p>
                          <a:r>
                            <a:rPr lang="en-US" dirty="0"/>
                            <a:t>-2.65</a:t>
                          </a:r>
                        </a:p>
                      </a:txBody>
                      <a:tcPr/>
                    </a:tc>
                    <a:tc>
                      <a:txBody>
                        <a:bodyPr/>
                        <a:lstStyle/>
                        <a:p>
                          <a:r>
                            <a:rPr lang="en-US" dirty="0"/>
                            <a:t>-7.35</a:t>
                          </a:r>
                        </a:p>
                      </a:txBody>
                      <a:tcPr/>
                    </a:tc>
                    <a:extLst>
                      <a:ext uri="{0D108BD9-81ED-4DB2-BD59-A6C34878D82A}">
                        <a16:rowId xmlns:a16="http://schemas.microsoft.com/office/drawing/2014/main" val="3370144513"/>
                      </a:ext>
                    </a:extLst>
                  </a:tr>
                  <a:tr h="378231">
                    <a:tc>
                      <a:txBody>
                        <a:bodyPr/>
                        <a:lstStyle/>
                        <a:p>
                          <a:r>
                            <a:rPr lang="en-US" dirty="0"/>
                            <a:t>20</a:t>
                          </a:r>
                        </a:p>
                      </a:txBody>
                      <a:tcPr/>
                    </a:tc>
                    <a:tc>
                      <a:txBody>
                        <a:bodyPr/>
                        <a:lstStyle/>
                        <a:p>
                          <a:r>
                            <a:rPr lang="en-US" dirty="0"/>
                            <a:t>7</a:t>
                          </a:r>
                        </a:p>
                      </a:txBody>
                      <a:tcPr/>
                    </a:tc>
                    <a:tc>
                      <a:txBody>
                        <a:bodyPr/>
                        <a:lstStyle/>
                        <a:p>
                          <a:r>
                            <a:rPr lang="en-US" dirty="0"/>
                            <a:t>2.6</a:t>
                          </a:r>
                        </a:p>
                      </a:txBody>
                      <a:tcPr/>
                    </a:tc>
                    <a:tc>
                      <a:txBody>
                        <a:bodyPr/>
                        <a:lstStyle/>
                        <a:p>
                          <a:r>
                            <a:rPr lang="en-US" dirty="0"/>
                            <a:t>4.4</a:t>
                          </a:r>
                        </a:p>
                      </a:txBody>
                      <a:tcPr/>
                    </a:tc>
                    <a:extLst>
                      <a:ext uri="{0D108BD9-81ED-4DB2-BD59-A6C34878D82A}">
                        <a16:rowId xmlns:a16="http://schemas.microsoft.com/office/drawing/2014/main" val="3036976488"/>
                      </a:ext>
                    </a:extLst>
                  </a:tr>
                  <a:tr h="378231">
                    <a:tc>
                      <a:txBody>
                        <a:bodyPr/>
                        <a:lstStyle/>
                        <a:p>
                          <a:r>
                            <a:rPr lang="en-US" dirty="0"/>
                            <a:t>25</a:t>
                          </a:r>
                        </a:p>
                      </a:txBody>
                      <a:tcPr/>
                    </a:tc>
                    <a:tc>
                      <a:txBody>
                        <a:bodyPr/>
                        <a:lstStyle/>
                        <a:p>
                          <a:r>
                            <a:rPr lang="en-US" dirty="0"/>
                            <a:t>8</a:t>
                          </a:r>
                        </a:p>
                      </a:txBody>
                      <a:tcPr/>
                    </a:tc>
                    <a:tc>
                      <a:txBody>
                        <a:bodyPr/>
                        <a:lstStyle/>
                        <a:p>
                          <a:r>
                            <a:rPr lang="en-US" dirty="0"/>
                            <a:t>2.6</a:t>
                          </a:r>
                        </a:p>
                      </a:txBody>
                      <a:tcPr/>
                    </a:tc>
                    <a:tc>
                      <a:txBody>
                        <a:bodyPr/>
                        <a:lstStyle/>
                        <a:p>
                          <a:r>
                            <a:rPr lang="en-US" dirty="0"/>
                            <a:t>5.4</a:t>
                          </a:r>
                        </a:p>
                      </a:txBody>
                      <a:tcPr/>
                    </a:tc>
                    <a:extLst>
                      <a:ext uri="{0D108BD9-81ED-4DB2-BD59-A6C34878D82A}">
                        <a16:rowId xmlns:a16="http://schemas.microsoft.com/office/drawing/2014/main" val="3325707804"/>
                      </a:ext>
                    </a:extLst>
                  </a:tr>
                  <a:tr h="378231">
                    <a:tc>
                      <a:txBody>
                        <a:bodyPr/>
                        <a:lstStyle/>
                        <a:p>
                          <a:r>
                            <a:rPr lang="en-US" dirty="0"/>
                            <a:t>35</a:t>
                          </a:r>
                        </a:p>
                      </a:txBody>
                      <a:tcPr/>
                    </a:tc>
                    <a:tc>
                      <a:txBody>
                        <a:bodyPr/>
                        <a:lstStyle/>
                        <a:p>
                          <a:r>
                            <a:rPr lang="en-US" dirty="0"/>
                            <a:t>-7</a:t>
                          </a:r>
                        </a:p>
                      </a:txBody>
                      <a:tcPr/>
                    </a:tc>
                    <a:tc>
                      <a:txBody>
                        <a:bodyPr/>
                        <a:lstStyle/>
                        <a:p>
                          <a:r>
                            <a:rPr lang="en-US" dirty="0"/>
                            <a:t>-1.75</a:t>
                          </a:r>
                        </a:p>
                      </a:txBody>
                      <a:tcPr/>
                    </a:tc>
                    <a:tc>
                      <a:txBody>
                        <a:bodyPr/>
                        <a:lstStyle/>
                        <a:p>
                          <a:r>
                            <a:rPr lang="en-US" dirty="0"/>
                            <a:t>-5.25</a:t>
                          </a:r>
                        </a:p>
                      </a:txBody>
                      <a:tcPr/>
                    </a:tc>
                    <a:extLst>
                      <a:ext uri="{0D108BD9-81ED-4DB2-BD59-A6C34878D82A}">
                        <a16:rowId xmlns:a16="http://schemas.microsoft.com/office/drawing/2014/main" val="2770726690"/>
                      </a:ext>
                    </a:extLst>
                  </a:tr>
                </a:tbl>
              </a:graphicData>
            </a:graphic>
          </p:graphicFrame>
        </mc:Choice>
        <mc:Fallback xmlns="">
          <p:graphicFrame>
            <p:nvGraphicFramePr>
              <p:cNvPr id="7" name="Table 12">
                <a:extLst>
                  <a:ext uri="{FF2B5EF4-FFF2-40B4-BE49-F238E27FC236}">
                    <a16:creationId xmlns:a16="http://schemas.microsoft.com/office/drawing/2014/main" id="{5F74F262-A95E-58E7-AD30-BFA544D02494}"/>
                  </a:ext>
                </a:extLst>
              </p:cNvPr>
              <p:cNvGraphicFramePr>
                <a:graphicFrameLocks noGrp="1"/>
              </p:cNvGraphicFramePr>
              <p:nvPr>
                <p:extLst>
                  <p:ext uri="{D42A27DB-BD31-4B8C-83A1-F6EECF244321}">
                    <p14:modId xmlns:p14="http://schemas.microsoft.com/office/powerpoint/2010/main" val="3243006879"/>
                  </p:ext>
                </p:extLst>
              </p:nvPr>
            </p:nvGraphicFramePr>
            <p:xfrm>
              <a:off x="1728316" y="2583526"/>
              <a:ext cx="5194998" cy="2427324"/>
            </p:xfrm>
            <a:graphic>
              <a:graphicData uri="http://schemas.openxmlformats.org/drawingml/2006/table">
                <a:tbl>
                  <a:tblPr firstRow="1" bandRow="1">
                    <a:tableStyleId>{7E9639D4-E3E2-4D34-9284-5A2195B3D0D7}</a:tableStyleId>
                  </a:tblPr>
                  <a:tblGrid>
                    <a:gridCol w="1004835">
                      <a:extLst>
                        <a:ext uri="{9D8B030D-6E8A-4147-A177-3AD203B41FA5}">
                          <a16:colId xmlns:a16="http://schemas.microsoft.com/office/drawing/2014/main" val="2798093145"/>
                        </a:ext>
                      </a:extLst>
                    </a:gridCol>
                    <a:gridCol w="1647930">
                      <a:extLst>
                        <a:ext uri="{9D8B030D-6E8A-4147-A177-3AD203B41FA5}">
                          <a16:colId xmlns:a16="http://schemas.microsoft.com/office/drawing/2014/main" val="2776668440"/>
                        </a:ext>
                      </a:extLst>
                    </a:gridCol>
                    <a:gridCol w="1376624">
                      <a:extLst>
                        <a:ext uri="{9D8B030D-6E8A-4147-A177-3AD203B41FA5}">
                          <a16:colId xmlns:a16="http://schemas.microsoft.com/office/drawing/2014/main" val="667323421"/>
                        </a:ext>
                      </a:extLst>
                    </a:gridCol>
                    <a:gridCol w="1165609">
                      <a:extLst>
                        <a:ext uri="{9D8B030D-6E8A-4147-A177-3AD203B41FA5}">
                          <a16:colId xmlns:a16="http://schemas.microsoft.com/office/drawing/2014/main" val="1304160971"/>
                        </a:ext>
                      </a:extLst>
                    </a:gridCol>
                  </a:tblGrid>
                  <a:tr h="914400">
                    <a:tc>
                      <a:txBody>
                        <a:bodyPr/>
                        <a:lstStyle/>
                        <a:p>
                          <a:r>
                            <a:rPr lang="en-US" dirty="0"/>
                            <a:t>drug dosage (x)</a:t>
                          </a:r>
                        </a:p>
                      </a:txBody>
                      <a:tcPr/>
                    </a:tc>
                    <a:tc>
                      <a:txBody>
                        <a:bodyPr/>
                        <a:lstStyle/>
                        <a:p>
                          <a:r>
                            <a:rPr lang="en-US" dirty="0"/>
                            <a:t>drug effectiveness</a:t>
                          </a:r>
                        </a:p>
                        <a:p>
                          <a:r>
                            <a:rPr lang="en-US" dirty="0"/>
                            <a:t> (y)</a:t>
                          </a:r>
                        </a:p>
                      </a:txBody>
                      <a:tcPr/>
                    </a:tc>
                    <a:tc>
                      <a:txBody>
                        <a:bodyPr/>
                        <a:lstStyle/>
                        <a:p>
                          <a:endParaRPr lang="en-US"/>
                        </a:p>
                      </a:txBody>
                      <a:tcPr>
                        <a:blipFill>
                          <a:blip r:embed="rId3"/>
                          <a:stretch>
                            <a:fillRect l="-192661" t="-2778" r="-84404" b="-176389"/>
                          </a:stretch>
                        </a:blipFill>
                      </a:tcPr>
                    </a:tc>
                    <a:tc>
                      <a:txBody>
                        <a:bodyPr/>
                        <a:lstStyle/>
                        <a:p>
                          <a:endParaRPr lang="en-US"/>
                        </a:p>
                      </a:txBody>
                      <a:tcPr>
                        <a:blipFill>
                          <a:blip r:embed="rId3"/>
                          <a:stretch>
                            <a:fillRect l="-346739" t="-2778" b="-176389"/>
                          </a:stretch>
                        </a:blipFill>
                      </a:tcPr>
                    </a:tc>
                    <a:extLst>
                      <a:ext uri="{0D108BD9-81ED-4DB2-BD59-A6C34878D82A}">
                        <a16:rowId xmlns:a16="http://schemas.microsoft.com/office/drawing/2014/main" val="1119411960"/>
                      </a:ext>
                    </a:extLst>
                  </a:tr>
                  <a:tr h="378231">
                    <a:tc>
                      <a:txBody>
                        <a:bodyPr/>
                        <a:lstStyle/>
                        <a:p>
                          <a:r>
                            <a:rPr lang="en-US" dirty="0"/>
                            <a:t>10</a:t>
                          </a:r>
                        </a:p>
                      </a:txBody>
                      <a:tcPr/>
                    </a:tc>
                    <a:tc>
                      <a:txBody>
                        <a:bodyPr/>
                        <a:lstStyle/>
                        <a:p>
                          <a:r>
                            <a:rPr lang="en-US" dirty="0"/>
                            <a:t>-10</a:t>
                          </a:r>
                        </a:p>
                      </a:txBody>
                      <a:tcPr/>
                    </a:tc>
                    <a:tc>
                      <a:txBody>
                        <a:bodyPr/>
                        <a:lstStyle/>
                        <a:p>
                          <a:r>
                            <a:rPr lang="en-US" dirty="0"/>
                            <a:t>-2.65</a:t>
                          </a:r>
                        </a:p>
                      </a:txBody>
                      <a:tcPr/>
                    </a:tc>
                    <a:tc>
                      <a:txBody>
                        <a:bodyPr/>
                        <a:lstStyle/>
                        <a:p>
                          <a:r>
                            <a:rPr lang="en-US" dirty="0"/>
                            <a:t>-7.35</a:t>
                          </a:r>
                        </a:p>
                      </a:txBody>
                      <a:tcPr/>
                    </a:tc>
                    <a:extLst>
                      <a:ext uri="{0D108BD9-81ED-4DB2-BD59-A6C34878D82A}">
                        <a16:rowId xmlns:a16="http://schemas.microsoft.com/office/drawing/2014/main" val="3370144513"/>
                      </a:ext>
                    </a:extLst>
                  </a:tr>
                  <a:tr h="378231">
                    <a:tc>
                      <a:txBody>
                        <a:bodyPr/>
                        <a:lstStyle/>
                        <a:p>
                          <a:r>
                            <a:rPr lang="en-US" dirty="0"/>
                            <a:t>20</a:t>
                          </a:r>
                        </a:p>
                      </a:txBody>
                      <a:tcPr/>
                    </a:tc>
                    <a:tc>
                      <a:txBody>
                        <a:bodyPr/>
                        <a:lstStyle/>
                        <a:p>
                          <a:r>
                            <a:rPr lang="en-US" dirty="0"/>
                            <a:t>7</a:t>
                          </a:r>
                        </a:p>
                      </a:txBody>
                      <a:tcPr/>
                    </a:tc>
                    <a:tc>
                      <a:txBody>
                        <a:bodyPr/>
                        <a:lstStyle/>
                        <a:p>
                          <a:r>
                            <a:rPr lang="en-US" dirty="0"/>
                            <a:t>2.6</a:t>
                          </a:r>
                        </a:p>
                      </a:txBody>
                      <a:tcPr/>
                    </a:tc>
                    <a:tc>
                      <a:txBody>
                        <a:bodyPr/>
                        <a:lstStyle/>
                        <a:p>
                          <a:r>
                            <a:rPr lang="en-US" dirty="0"/>
                            <a:t>4.4</a:t>
                          </a:r>
                        </a:p>
                      </a:txBody>
                      <a:tcPr/>
                    </a:tc>
                    <a:extLst>
                      <a:ext uri="{0D108BD9-81ED-4DB2-BD59-A6C34878D82A}">
                        <a16:rowId xmlns:a16="http://schemas.microsoft.com/office/drawing/2014/main" val="3036976488"/>
                      </a:ext>
                    </a:extLst>
                  </a:tr>
                  <a:tr h="378231">
                    <a:tc>
                      <a:txBody>
                        <a:bodyPr/>
                        <a:lstStyle/>
                        <a:p>
                          <a:r>
                            <a:rPr lang="en-US" dirty="0"/>
                            <a:t>25</a:t>
                          </a:r>
                        </a:p>
                      </a:txBody>
                      <a:tcPr/>
                    </a:tc>
                    <a:tc>
                      <a:txBody>
                        <a:bodyPr/>
                        <a:lstStyle/>
                        <a:p>
                          <a:r>
                            <a:rPr lang="en-US" dirty="0"/>
                            <a:t>8</a:t>
                          </a:r>
                        </a:p>
                      </a:txBody>
                      <a:tcPr/>
                    </a:tc>
                    <a:tc>
                      <a:txBody>
                        <a:bodyPr/>
                        <a:lstStyle/>
                        <a:p>
                          <a:r>
                            <a:rPr lang="en-US" dirty="0"/>
                            <a:t>2.6</a:t>
                          </a:r>
                        </a:p>
                      </a:txBody>
                      <a:tcPr/>
                    </a:tc>
                    <a:tc>
                      <a:txBody>
                        <a:bodyPr/>
                        <a:lstStyle/>
                        <a:p>
                          <a:r>
                            <a:rPr lang="en-US" dirty="0"/>
                            <a:t>5.4</a:t>
                          </a:r>
                        </a:p>
                      </a:txBody>
                      <a:tcPr/>
                    </a:tc>
                    <a:extLst>
                      <a:ext uri="{0D108BD9-81ED-4DB2-BD59-A6C34878D82A}">
                        <a16:rowId xmlns:a16="http://schemas.microsoft.com/office/drawing/2014/main" val="3325707804"/>
                      </a:ext>
                    </a:extLst>
                  </a:tr>
                  <a:tr h="378231">
                    <a:tc>
                      <a:txBody>
                        <a:bodyPr/>
                        <a:lstStyle/>
                        <a:p>
                          <a:r>
                            <a:rPr lang="en-US" dirty="0"/>
                            <a:t>35</a:t>
                          </a:r>
                        </a:p>
                      </a:txBody>
                      <a:tcPr/>
                    </a:tc>
                    <a:tc>
                      <a:txBody>
                        <a:bodyPr/>
                        <a:lstStyle/>
                        <a:p>
                          <a:r>
                            <a:rPr lang="en-US" dirty="0"/>
                            <a:t>-7</a:t>
                          </a:r>
                        </a:p>
                      </a:txBody>
                      <a:tcPr/>
                    </a:tc>
                    <a:tc>
                      <a:txBody>
                        <a:bodyPr/>
                        <a:lstStyle/>
                        <a:p>
                          <a:r>
                            <a:rPr lang="en-US" dirty="0"/>
                            <a:t>-1.75</a:t>
                          </a:r>
                        </a:p>
                      </a:txBody>
                      <a:tcPr/>
                    </a:tc>
                    <a:tc>
                      <a:txBody>
                        <a:bodyPr/>
                        <a:lstStyle/>
                        <a:p>
                          <a:r>
                            <a:rPr lang="en-US" dirty="0"/>
                            <a:t>-5.25</a:t>
                          </a:r>
                        </a:p>
                      </a:txBody>
                      <a:tcPr/>
                    </a:tc>
                    <a:extLst>
                      <a:ext uri="{0D108BD9-81ED-4DB2-BD59-A6C34878D82A}">
                        <a16:rowId xmlns:a16="http://schemas.microsoft.com/office/drawing/2014/main" val="2770726690"/>
                      </a:ext>
                    </a:extLst>
                  </a:tr>
                </a:tbl>
              </a:graphicData>
            </a:graphic>
          </p:graphicFrame>
        </mc:Fallback>
      </mc:AlternateContent>
      <p:sp>
        <p:nvSpPr>
          <p:cNvPr id="8" name="Rounded Rectangle 7">
            <a:extLst>
              <a:ext uri="{FF2B5EF4-FFF2-40B4-BE49-F238E27FC236}">
                <a16:creationId xmlns:a16="http://schemas.microsoft.com/office/drawing/2014/main" id="{1F6BBCBD-E1EE-00F9-C251-E390A4F87209}"/>
              </a:ext>
            </a:extLst>
          </p:cNvPr>
          <p:cNvSpPr/>
          <p:nvPr/>
        </p:nvSpPr>
        <p:spPr>
          <a:xfrm>
            <a:off x="5255288" y="5566787"/>
            <a:ext cx="3044650" cy="411982"/>
          </a:xfrm>
          <a:prstGeom prst="roundRect">
            <a:avLst/>
          </a:prstGeom>
          <a:solidFill>
            <a:srgbClr val="92D050"/>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2200" dirty="0">
                <a:solidFill>
                  <a:schemeClr val="bg1"/>
                </a:solidFill>
                <a:latin typeface="Calibri" panose="020F0502020204030204" pitchFamily="34" charset="0"/>
                <a:cs typeface="Calibri" panose="020F0502020204030204" pitchFamily="34" charset="0"/>
              </a:rPr>
              <a:t>-7.35, 4.4, 5.4, -5.25</a:t>
            </a:r>
          </a:p>
        </p:txBody>
      </p:sp>
    </p:spTree>
    <p:extLst>
      <p:ext uri="{BB962C8B-B14F-4D97-AF65-F5344CB8AC3E}">
        <p14:creationId xmlns:p14="http://schemas.microsoft.com/office/powerpoint/2010/main" val="1815129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F2FDB-437C-E340-BB6A-915567C160F0}"/>
              </a:ext>
            </a:extLst>
          </p:cNvPr>
          <p:cNvSpPr>
            <a:spLocks noGrp="1"/>
          </p:cNvSpPr>
          <p:nvPr>
            <p:ph type="title"/>
          </p:nvPr>
        </p:nvSpPr>
        <p:spPr>
          <a:xfrm>
            <a:off x="457200" y="76200"/>
            <a:ext cx="8686800" cy="987552"/>
          </a:xfrm>
        </p:spPr>
        <p:txBody>
          <a:bodyPr>
            <a:normAutofit/>
          </a:bodyPr>
          <a:lstStyle/>
          <a:p>
            <a:r>
              <a:rPr lang="en-US" dirty="0"/>
              <a:t>Gradient Boosted Decision Trees</a:t>
            </a:r>
          </a:p>
        </p:txBody>
      </p:sp>
      <p:sp>
        <p:nvSpPr>
          <p:cNvPr id="3" name="Content Placeholder 2">
            <a:extLst>
              <a:ext uri="{FF2B5EF4-FFF2-40B4-BE49-F238E27FC236}">
                <a16:creationId xmlns:a16="http://schemas.microsoft.com/office/drawing/2014/main" id="{4BAA55C6-A8FE-304D-BE48-7A2B7CB05FD1}"/>
              </a:ext>
            </a:extLst>
          </p:cNvPr>
          <p:cNvSpPr>
            <a:spLocks noGrp="1"/>
          </p:cNvSpPr>
          <p:nvPr>
            <p:ph idx="1"/>
          </p:nvPr>
        </p:nvSpPr>
        <p:spPr>
          <a:xfrm>
            <a:off x="457200" y="1295400"/>
            <a:ext cx="6696269" cy="5257801"/>
          </a:xfrm>
        </p:spPr>
        <p:txBody>
          <a:bodyPr/>
          <a:lstStyle/>
          <a:p>
            <a:r>
              <a:rPr lang="en-US" sz="3600" b="1" dirty="0">
                <a:solidFill>
                  <a:srgbClr val="D60093"/>
                </a:solidFill>
              </a:rPr>
              <a:t>Now let’s look at the math</a:t>
            </a:r>
          </a:p>
        </p:txBody>
      </p:sp>
      <p:sp>
        <p:nvSpPr>
          <p:cNvPr id="4" name="Date Placeholder 3">
            <a:extLst>
              <a:ext uri="{FF2B5EF4-FFF2-40B4-BE49-F238E27FC236}">
                <a16:creationId xmlns:a16="http://schemas.microsoft.com/office/drawing/2014/main" id="{87B08C98-9ED0-A14F-960B-4CF9F05A0486}"/>
              </a:ext>
            </a:extLst>
          </p:cNvPr>
          <p:cNvSpPr>
            <a:spLocks noGrp="1"/>
          </p:cNvSpPr>
          <p:nvPr>
            <p:ph type="dt" sz="half" idx="10"/>
          </p:nvPr>
        </p:nvSpPr>
        <p:spPr/>
        <p:txBody>
          <a:bodyPr/>
          <a:lstStyle/>
          <a:p>
            <a:fld id="{7FEAF60E-D730-5344-91B6-6C40E3FAE944}" type="datetime1">
              <a:rPr lang="en-US" smtClean="0"/>
              <a:t>10/15/24</a:t>
            </a:fld>
            <a:endParaRPr lang="en-US"/>
          </a:p>
        </p:txBody>
      </p:sp>
      <p:sp>
        <p:nvSpPr>
          <p:cNvPr id="5" name="Footer Placeholder 4">
            <a:extLst>
              <a:ext uri="{FF2B5EF4-FFF2-40B4-BE49-F238E27FC236}">
                <a16:creationId xmlns:a16="http://schemas.microsoft.com/office/drawing/2014/main" id="{DC2BB359-A1C3-7043-A4E8-A91980494D5D}"/>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F54E4B0D-CDEE-344C-986F-B01F07836597}"/>
              </a:ext>
            </a:extLst>
          </p:cNvPr>
          <p:cNvSpPr>
            <a:spLocks noGrp="1"/>
          </p:cNvSpPr>
          <p:nvPr>
            <p:ph type="sldNum" sz="quarter" idx="12"/>
          </p:nvPr>
        </p:nvSpPr>
        <p:spPr/>
        <p:txBody>
          <a:bodyPr/>
          <a:lstStyle/>
          <a:p>
            <a:fld id="{19B12225-5612-419B-A8D5-4B8EEE4C217E}" type="slidenum">
              <a:rPr lang="en-US" smtClean="0"/>
              <a:pPr/>
              <a:t>35</a:t>
            </a:fld>
            <a:endParaRPr lang="en-US"/>
          </a:p>
        </p:txBody>
      </p:sp>
      <p:pic>
        <p:nvPicPr>
          <p:cNvPr id="7" name="Picture 6">
            <a:extLst>
              <a:ext uri="{FF2B5EF4-FFF2-40B4-BE49-F238E27FC236}">
                <a16:creationId xmlns:a16="http://schemas.microsoft.com/office/drawing/2014/main" id="{FC5CD532-9AA7-4245-A06C-950630C2D7B1}"/>
              </a:ext>
            </a:extLst>
          </p:cNvPr>
          <p:cNvPicPr>
            <a:picLocks noChangeAspect="1"/>
          </p:cNvPicPr>
          <p:nvPr/>
        </p:nvPicPr>
        <p:blipFill>
          <a:blip r:embed="rId3"/>
          <a:stretch>
            <a:fillRect/>
          </a:stretch>
        </p:blipFill>
        <p:spPr>
          <a:xfrm>
            <a:off x="983299" y="2127602"/>
            <a:ext cx="5994596" cy="2485102"/>
          </a:xfrm>
          <a:prstGeom prst="rect">
            <a:avLst/>
          </a:prstGeom>
        </p:spPr>
      </p:pic>
      <p:sp>
        <p:nvSpPr>
          <p:cNvPr id="8" name="TextBox 7">
            <a:extLst>
              <a:ext uri="{FF2B5EF4-FFF2-40B4-BE49-F238E27FC236}">
                <a16:creationId xmlns:a16="http://schemas.microsoft.com/office/drawing/2014/main" id="{FE61E03F-D7DC-614D-953C-1F10684D955D}"/>
              </a:ext>
            </a:extLst>
          </p:cNvPr>
          <p:cNvSpPr txBox="1"/>
          <p:nvPr/>
        </p:nvSpPr>
        <p:spPr>
          <a:xfrm>
            <a:off x="662225" y="4794388"/>
            <a:ext cx="1723549" cy="646331"/>
          </a:xfrm>
          <a:prstGeom prst="rect">
            <a:avLst/>
          </a:prstGeom>
          <a:noFill/>
        </p:spPr>
        <p:txBody>
          <a:bodyPr wrap="none" rtlCol="0">
            <a:spAutoFit/>
          </a:bodyPr>
          <a:lstStyle/>
          <a:p>
            <a:pPr algn="ctr"/>
            <a:r>
              <a:rPr lang="en-US" dirty="0">
                <a:solidFill>
                  <a:srgbClr val="008000"/>
                </a:solidFill>
                <a:latin typeface="Arial" pitchFamily="34" charset="0"/>
                <a:cs typeface="Arial" pitchFamily="34" charset="0"/>
              </a:rPr>
              <a:t>Prediction at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training round t</a:t>
            </a:r>
          </a:p>
        </p:txBody>
      </p:sp>
      <p:sp>
        <p:nvSpPr>
          <p:cNvPr id="9" name="TextBox 8">
            <a:extLst>
              <a:ext uri="{FF2B5EF4-FFF2-40B4-BE49-F238E27FC236}">
                <a16:creationId xmlns:a16="http://schemas.microsoft.com/office/drawing/2014/main" id="{2C65509B-FA41-4A42-9749-47646964B878}"/>
              </a:ext>
            </a:extLst>
          </p:cNvPr>
          <p:cNvSpPr txBox="1"/>
          <p:nvPr/>
        </p:nvSpPr>
        <p:spPr>
          <a:xfrm>
            <a:off x="2925520" y="4798575"/>
            <a:ext cx="2351927" cy="646331"/>
          </a:xfrm>
          <a:prstGeom prst="rect">
            <a:avLst/>
          </a:prstGeom>
          <a:noFill/>
        </p:spPr>
        <p:txBody>
          <a:bodyPr wrap="none" rtlCol="0">
            <a:spAutoFit/>
          </a:bodyPr>
          <a:lstStyle/>
          <a:p>
            <a:pPr algn="ctr"/>
            <a:r>
              <a:rPr lang="en-US">
                <a:solidFill>
                  <a:srgbClr val="008000"/>
                </a:solidFill>
                <a:latin typeface="Arial" pitchFamily="34" charset="0"/>
                <a:cs typeface="Arial" pitchFamily="34" charset="0"/>
              </a:rPr>
              <a:t>Keep predictions</a:t>
            </a:r>
            <a:br>
              <a:rPr lang="en-US">
                <a:solidFill>
                  <a:srgbClr val="008000"/>
                </a:solidFill>
                <a:latin typeface="Arial" pitchFamily="34" charset="0"/>
                <a:cs typeface="Arial" pitchFamily="34" charset="0"/>
              </a:rPr>
            </a:br>
            <a:r>
              <a:rPr lang="en-US">
                <a:solidFill>
                  <a:srgbClr val="008000"/>
                </a:solidFill>
                <a:latin typeface="Arial" pitchFamily="34" charset="0"/>
                <a:cs typeface="Arial" pitchFamily="34" charset="0"/>
              </a:rPr>
              <a:t>from previous rounds</a:t>
            </a:r>
          </a:p>
        </p:txBody>
      </p:sp>
      <p:sp>
        <p:nvSpPr>
          <p:cNvPr id="10" name="TextBox 9">
            <a:extLst>
              <a:ext uri="{FF2B5EF4-FFF2-40B4-BE49-F238E27FC236}">
                <a16:creationId xmlns:a16="http://schemas.microsoft.com/office/drawing/2014/main" id="{E85A2C0A-97B7-A345-8D53-915780EDDFA7}"/>
              </a:ext>
            </a:extLst>
          </p:cNvPr>
          <p:cNvSpPr txBox="1"/>
          <p:nvPr/>
        </p:nvSpPr>
        <p:spPr>
          <a:xfrm>
            <a:off x="5881157" y="4813072"/>
            <a:ext cx="1338828" cy="369332"/>
          </a:xfrm>
          <a:prstGeom prst="rect">
            <a:avLst/>
          </a:prstGeom>
          <a:noFill/>
        </p:spPr>
        <p:txBody>
          <a:bodyPr wrap="none" rtlCol="0">
            <a:spAutoFit/>
          </a:bodyPr>
          <a:lstStyle/>
          <a:p>
            <a:pPr algn="ctr"/>
            <a:r>
              <a:rPr lang="en-US" dirty="0">
                <a:solidFill>
                  <a:srgbClr val="008000"/>
                </a:solidFill>
                <a:latin typeface="Arial" pitchFamily="34" charset="0"/>
                <a:cs typeface="Arial" pitchFamily="34" charset="0"/>
              </a:rPr>
              <a:t>New model</a:t>
            </a:r>
          </a:p>
        </p:txBody>
      </p:sp>
      <p:sp>
        <p:nvSpPr>
          <p:cNvPr id="11" name="Rectangle 10">
            <a:extLst>
              <a:ext uri="{FF2B5EF4-FFF2-40B4-BE49-F238E27FC236}">
                <a16:creationId xmlns:a16="http://schemas.microsoft.com/office/drawing/2014/main" id="{19CEA05E-6039-48BF-88B1-D60CF2B76644}"/>
              </a:ext>
            </a:extLst>
          </p:cNvPr>
          <p:cNvSpPr/>
          <p:nvPr/>
        </p:nvSpPr>
        <p:spPr>
          <a:xfrm>
            <a:off x="4662435" y="2713055"/>
            <a:ext cx="1014884" cy="502418"/>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E417C862-66D7-BEDB-B0E6-6B7EB8B7B0D8}"/>
              </a:ext>
            </a:extLst>
          </p:cNvPr>
          <p:cNvSpPr/>
          <p:nvPr/>
        </p:nvSpPr>
        <p:spPr>
          <a:xfrm>
            <a:off x="6043129" y="3215473"/>
            <a:ext cx="1014884" cy="502418"/>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Rectangle 12">
            <a:extLst>
              <a:ext uri="{FF2B5EF4-FFF2-40B4-BE49-F238E27FC236}">
                <a16:creationId xmlns:a16="http://schemas.microsoft.com/office/drawing/2014/main" id="{9AE78053-A464-EAC6-FBD0-9F2B05CCC215}"/>
              </a:ext>
            </a:extLst>
          </p:cNvPr>
          <p:cNvSpPr/>
          <p:nvPr/>
        </p:nvSpPr>
        <p:spPr>
          <a:xfrm>
            <a:off x="5963011" y="4124290"/>
            <a:ext cx="1014884" cy="502418"/>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BCEF0F2F-433C-3C07-B998-4555F72A9598}"/>
              </a:ext>
            </a:extLst>
          </p:cNvPr>
          <p:cNvSpPr txBox="1"/>
          <p:nvPr/>
        </p:nvSpPr>
        <p:spPr>
          <a:xfrm>
            <a:off x="4742136" y="27800"/>
            <a:ext cx="4471517" cy="276999"/>
          </a:xfrm>
          <a:prstGeom prst="rect">
            <a:avLst/>
          </a:prstGeom>
          <a:noFill/>
        </p:spPr>
        <p:txBody>
          <a:bodyPr wrap="square" rtlCol="0">
            <a:spAutoFit/>
          </a:bodyPr>
          <a:lstStyle/>
          <a:p>
            <a:r>
              <a:rPr lang="en-US" sz="1200" dirty="0" err="1">
                <a:solidFill>
                  <a:schemeClr val="bg1"/>
                </a:solidFill>
                <a:latin typeface="Calibri" panose="020F0502020204030204" pitchFamily="34" charset="0"/>
                <a:cs typeface="Calibri" panose="020F0502020204030204" pitchFamily="34" charset="0"/>
              </a:rPr>
              <a:t>XGBoost</a:t>
            </a:r>
            <a:r>
              <a:rPr lang="en-US" sz="1200" dirty="0">
                <a:solidFill>
                  <a:schemeClr val="bg1"/>
                </a:solidFill>
                <a:latin typeface="Calibri" panose="020F0502020204030204" pitchFamily="34" charset="0"/>
                <a:cs typeface="Calibri" panose="020F0502020204030204" pitchFamily="34" charset="0"/>
              </a:rPr>
              <a:t>: A Scalable Tree Boosting System, T. Chen </a:t>
            </a:r>
            <a:r>
              <a:rPr lang="en-US" sz="1200" dirty="0" err="1">
                <a:solidFill>
                  <a:schemeClr val="bg1"/>
                </a:solidFill>
                <a:latin typeface="Calibri" panose="020F0502020204030204" pitchFamily="34" charset="0"/>
                <a:cs typeface="Calibri" panose="020F0502020204030204" pitchFamily="34" charset="0"/>
              </a:rPr>
              <a:t>etal</a:t>
            </a:r>
            <a:r>
              <a:rPr lang="en-US" sz="1200" dirty="0">
                <a:solidFill>
                  <a:schemeClr val="bg1"/>
                </a:solidFill>
                <a:latin typeface="Calibri" panose="020F0502020204030204" pitchFamily="34" charset="0"/>
                <a:cs typeface="Calibri" panose="020F0502020204030204" pitchFamily="34" charset="0"/>
              </a:rPr>
              <a:t>, KDD2016</a:t>
            </a:r>
          </a:p>
        </p:txBody>
      </p:sp>
    </p:spTree>
    <p:extLst>
      <p:ext uri="{BB962C8B-B14F-4D97-AF65-F5344CB8AC3E}">
        <p14:creationId xmlns:p14="http://schemas.microsoft.com/office/powerpoint/2010/main" val="21355164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C2F57-F83E-B44D-8704-3B8A14D2E640}"/>
              </a:ext>
            </a:extLst>
          </p:cNvPr>
          <p:cNvSpPr>
            <a:spLocks noGrp="1"/>
          </p:cNvSpPr>
          <p:nvPr>
            <p:ph type="title"/>
          </p:nvPr>
        </p:nvSpPr>
        <p:spPr/>
        <p:txBody>
          <a:bodyPr/>
          <a:lstStyle/>
          <a:p>
            <a:r>
              <a:rPr lang="en-US"/>
              <a:t>How to decide which f to add?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B413C6-1C90-1643-8D9C-29C378D6099C}"/>
                  </a:ext>
                </a:extLst>
              </p:cNvPr>
              <p:cNvSpPr>
                <a:spLocks noGrp="1"/>
              </p:cNvSpPr>
              <p:nvPr>
                <p:ph idx="1"/>
              </p:nvPr>
            </p:nvSpPr>
            <p:spPr>
              <a:xfrm>
                <a:off x="457200" y="1295400"/>
                <a:ext cx="8229600" cy="5562600"/>
              </a:xfrm>
            </p:spPr>
            <p:txBody>
              <a:bodyPr>
                <a:normAutofit/>
              </a:bodyPr>
              <a:lstStyle/>
              <a:p>
                <a:r>
                  <a:rPr lang="en-US" b="1" dirty="0">
                    <a:solidFill>
                      <a:srgbClr val="D60093"/>
                    </a:solidFill>
                  </a:rPr>
                  <a:t>Prediction at round </a:t>
                </a:r>
                <a14:m>
                  <m:oMath xmlns:m="http://schemas.openxmlformats.org/officeDocument/2006/math">
                    <m:r>
                      <a:rPr lang="en-US" b="1" i="1" dirty="0" smtClean="0">
                        <a:solidFill>
                          <a:srgbClr val="D60093"/>
                        </a:solidFill>
                        <a:latin typeface="Cambria Math" panose="02040503050406030204" pitchFamily="18" charset="0"/>
                      </a:rPr>
                      <m:t>𝒕</m:t>
                    </m:r>
                  </m:oMath>
                </a14:m>
                <a:r>
                  <a:rPr lang="en-US" b="1" dirty="0">
                    <a:solidFill>
                      <a:srgbClr val="D60093"/>
                    </a:solidFill>
                  </a:rPr>
                  <a:t> is:</a:t>
                </a:r>
              </a:p>
              <a:p>
                <a:pPr lvl="1"/>
                <a:r>
                  <a:rPr lang="en-US" dirty="0"/>
                  <a:t>we need to decide what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𝑡</m:t>
                        </m:r>
                      </m:sub>
                    </m:sSub>
                    <m:r>
                      <a:rPr lang="en-US" b="0" i="1" dirty="0" smtClean="0">
                        <a:latin typeface="Cambria Math" panose="02040503050406030204" pitchFamily="18" charset="0"/>
                      </a:rPr>
                      <m:t>(</m:t>
                    </m:r>
                    <m:r>
                      <a:rPr lang="en-US" i="1" dirty="0" smtClean="0">
                        <a:latin typeface="Cambria Math" panose="02040503050406030204" pitchFamily="18" charset="0"/>
                      </a:rPr>
                      <m:t>)</m:t>
                    </m:r>
                  </m:oMath>
                </a14:m>
                <a:r>
                  <a:rPr lang="en-US" dirty="0"/>
                  <a:t> to add </a:t>
                </a:r>
              </a:p>
              <a:p>
                <a:pPr lvl="8"/>
                <a:endParaRPr lang="en-US" b="1" dirty="0"/>
              </a:p>
              <a:p>
                <a:pPr algn="ctr"/>
                <a:r>
                  <a:rPr lang="en-US" b="1" dirty="0"/>
                  <a:t>Goal: </a:t>
                </a:r>
                <a:r>
                  <a:rPr lang="en-US" b="1" dirty="0">
                    <a:solidFill>
                      <a:srgbClr val="0000FF"/>
                    </a:solidFill>
                  </a:rPr>
                  <a:t>Find tree </a:t>
                </a:r>
                <a14:m>
                  <m:oMath xmlns:m="http://schemas.openxmlformats.org/officeDocument/2006/math">
                    <m:sSub>
                      <m:sSubPr>
                        <m:ctrlPr>
                          <a:rPr lang="en-US" b="1" i="1" dirty="0">
                            <a:solidFill>
                              <a:srgbClr val="0000FF"/>
                            </a:solidFill>
                            <a:latin typeface="Cambria Math" panose="02040503050406030204" pitchFamily="18" charset="0"/>
                          </a:rPr>
                        </m:ctrlPr>
                      </m:sSubPr>
                      <m:e>
                        <m:r>
                          <a:rPr lang="en-US" b="1" i="1" dirty="0">
                            <a:solidFill>
                              <a:srgbClr val="0000FF"/>
                            </a:solidFill>
                            <a:latin typeface="Cambria Math" panose="02040503050406030204" pitchFamily="18" charset="0"/>
                          </a:rPr>
                          <m:t>𝒇</m:t>
                        </m:r>
                      </m:e>
                      <m:sub>
                        <m:r>
                          <a:rPr lang="en-US" b="1" i="1" dirty="0">
                            <a:solidFill>
                              <a:srgbClr val="0000FF"/>
                            </a:solidFill>
                            <a:latin typeface="Cambria Math" panose="02040503050406030204" pitchFamily="18" charset="0"/>
                          </a:rPr>
                          <m:t>𝒕</m:t>
                        </m:r>
                      </m:sub>
                    </m:sSub>
                    <m:r>
                      <a:rPr lang="en-US" b="1" i="1" dirty="0">
                        <a:solidFill>
                          <a:srgbClr val="0000FF"/>
                        </a:solidFill>
                        <a:latin typeface="Cambria Math" panose="02040503050406030204" pitchFamily="18" charset="0"/>
                      </a:rPr>
                      <m:t>(</m:t>
                    </m:r>
                    <m:r>
                      <a:rPr lang="en-US" b="1" i="1" dirty="0" smtClean="0">
                        <a:solidFill>
                          <a:srgbClr val="0000FF"/>
                        </a:solidFill>
                        <a:latin typeface="Cambria Math" panose="02040503050406030204" pitchFamily="18" charset="0"/>
                      </a:rPr>
                      <m:t>⋅</m:t>
                    </m:r>
                    <m:r>
                      <a:rPr lang="en-US" b="1" i="1" dirty="0">
                        <a:solidFill>
                          <a:srgbClr val="0000FF"/>
                        </a:solidFill>
                        <a:latin typeface="Cambria Math" panose="02040503050406030204" pitchFamily="18" charset="0"/>
                      </a:rPr>
                      <m:t>)</m:t>
                    </m:r>
                  </m:oMath>
                </a14:m>
                <a:r>
                  <a:rPr lang="en-US" b="1" dirty="0">
                    <a:solidFill>
                      <a:srgbClr val="0000FF"/>
                    </a:solidFill>
                  </a:rPr>
                  <a:t> that minimizes loss </a:t>
                </a:r>
                <a14:m>
                  <m:oMath xmlns:m="http://schemas.openxmlformats.org/officeDocument/2006/math">
                    <m:r>
                      <a:rPr lang="en-US" b="1" i="1" dirty="0" smtClean="0">
                        <a:solidFill>
                          <a:srgbClr val="0000FF"/>
                        </a:solidFill>
                        <a:latin typeface="Cambria Math" panose="02040503050406030204" pitchFamily="18" charset="0"/>
                      </a:rPr>
                      <m:t>𝒍</m:t>
                    </m:r>
                    <m:r>
                      <a:rPr lang="en-US" b="1" i="1" dirty="0" smtClean="0">
                        <a:solidFill>
                          <a:srgbClr val="0000FF"/>
                        </a:solidFill>
                        <a:latin typeface="Cambria Math" panose="02040503050406030204" pitchFamily="18" charset="0"/>
                      </a:rPr>
                      <m:t>()</m:t>
                    </m:r>
                  </m:oMath>
                </a14:m>
                <a:r>
                  <a:rPr lang="en-US" b="1" dirty="0">
                    <a:solidFill>
                      <a:srgbClr val="0000FF"/>
                    </a:solidFill>
                  </a:rPr>
                  <a:t>: </a:t>
                </a:r>
                <a14:m>
                  <m:oMath xmlns:m="http://schemas.openxmlformats.org/officeDocument/2006/math">
                    <m:nary>
                      <m:naryPr>
                        <m:chr m:val="∑"/>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𝑖</m:t>
                        </m:r>
                      </m:sub>
                      <m:sup/>
                      <m:e>
                        <m:r>
                          <a:rPr lang="en-US" sz="2800" b="0" i="1" smtClean="0">
                            <a:latin typeface="Cambria Math" panose="02040503050406030204" pitchFamily="18" charset="0"/>
                          </a:rPr>
                          <m:t>𝑙</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 </m:t>
                            </m:r>
                            <m:sSup>
                              <m:sSupPr>
                                <m:ctrlPr>
                                  <a:rPr lang="en-US" sz="2800" b="0" i="1" smtClean="0">
                                    <a:latin typeface="Cambria Math" panose="02040503050406030204" pitchFamily="18" charset="0"/>
                                  </a:rPr>
                                </m:ctrlPr>
                              </m:sSup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m:t>
                                        </m:r>
                                      </m:sub>
                                    </m:sSub>
                                  </m:e>
                                </m:acc>
                              </m:e>
                              <m:sup>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r>
                                      <a:rPr lang="en-US" sz="2800" b="0" i="1" smtClean="0">
                                        <a:latin typeface="Cambria Math" panose="02040503050406030204" pitchFamily="18" charset="0"/>
                                      </a:rPr>
                                      <m:t>−1</m:t>
                                    </m:r>
                                  </m:e>
                                </m:d>
                              </m:sup>
                            </m:sSup>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𝑓</m:t>
                                </m:r>
                              </m:e>
                              <m:sub>
                                <m:r>
                                  <a:rPr lang="en-US" sz="2800" b="0" i="1" smtClean="0">
                                    <a:latin typeface="Cambria Math" panose="02040503050406030204" pitchFamily="18" charset="0"/>
                                  </a:rPr>
                                  <m:t>𝑡</m:t>
                                </m:r>
                              </m:sub>
                            </m:sSub>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e>
                            </m:d>
                          </m:e>
                        </m:d>
                        <m:r>
                          <a:rPr lang="en-US" sz="2800" b="0" i="1" smtClean="0">
                            <a:latin typeface="Cambria Math" panose="02040503050406030204" pitchFamily="18" charset="0"/>
                          </a:rPr>
                          <m:t>+</m:t>
                        </m:r>
                        <m:r>
                          <m:rPr>
                            <m:sty m:val="p"/>
                          </m:rPr>
                          <a:rPr lang="en-US" sz="2800" b="0" i="0" smtClean="0">
                            <a:latin typeface="Cambria Math" panose="02040503050406030204" pitchFamily="18" charset="0"/>
                          </a:rPr>
                          <m:t>Ω</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𝑓</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e>
                    </m:nary>
                  </m:oMath>
                </a14:m>
                <a:endParaRPr lang="en-US" sz="280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r>
                  <a:rPr lang="en-US" dirty="0">
                    <a:latin typeface="Cambria Math" panose="02040503050406030204" pitchFamily="18" charset="0"/>
                  </a:rPr>
                  <a:t>: </a:t>
                </a:r>
                <a:r>
                  <a:rPr lang="en-US" dirty="0"/>
                  <a:t>The ground-truth label </a:t>
                </a:r>
              </a:p>
              <a:p>
                <a:pPr lvl="1"/>
                <a14:m>
                  <m:oMath xmlns:m="http://schemas.openxmlformats.org/officeDocument/2006/math">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acc>
                      </m:e>
                      <m:sup>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−1</m:t>
                            </m:r>
                          </m:e>
                        </m:d>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oMath>
                </a14:m>
                <a:r>
                  <a:rPr lang="en-US" dirty="0"/>
                  <a:t>: The prediction made at round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 </m:t>
                    </m:r>
                  </m:oMath>
                </a14:m>
                <a:endParaRPr lang="en-US" dirty="0"/>
              </a:p>
              <a:p>
                <a:pPr lvl="1"/>
                <a14:m>
                  <m:oMath xmlns:m="http://schemas.openxmlformats.org/officeDocument/2006/math">
                    <m:r>
                      <m:rPr>
                        <m:sty m:val="p"/>
                      </m:rPr>
                      <a:rPr lang="en-US">
                        <a:latin typeface="Cambria Math" panose="02040503050406030204" pitchFamily="18" charset="0"/>
                      </a:rPr>
                      <m:t>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𝑡</m:t>
                            </m:r>
                          </m:sub>
                        </m:sSub>
                      </m:e>
                    </m:d>
                    <m:r>
                      <a:rPr lang="en-US" b="0" i="0" smtClean="0">
                        <a:latin typeface="Cambria Math" panose="02040503050406030204" pitchFamily="18" charset="0"/>
                      </a:rPr>
                      <m:t>:</m:t>
                    </m:r>
                  </m:oMath>
                </a14:m>
                <a:r>
                  <a:rPr lang="en-US" dirty="0"/>
                  <a:t> The model complexity</a:t>
                </a:r>
              </a:p>
              <a:p>
                <a:pPr lvl="1"/>
                <a:endParaRPr lang="en-US" dirty="0"/>
              </a:p>
            </p:txBody>
          </p:sp>
        </mc:Choice>
        <mc:Fallback xmlns="">
          <p:sp>
            <p:nvSpPr>
              <p:cNvPr id="3" name="Content Placeholder 2">
                <a:extLst>
                  <a:ext uri="{FF2B5EF4-FFF2-40B4-BE49-F238E27FC236}">
                    <a16:creationId xmlns:a16="http://schemas.microsoft.com/office/drawing/2014/main" id="{07B413C6-1C90-1643-8D9C-29C378D6099C}"/>
                  </a:ext>
                </a:extLst>
              </p:cNvPr>
              <p:cNvSpPr>
                <a:spLocks noGrp="1" noRot="1" noChangeAspect="1" noMove="1" noResize="1" noEditPoints="1" noAdjustHandles="1" noChangeArrowheads="1" noChangeShapeType="1" noTextEdit="1"/>
              </p:cNvSpPr>
              <p:nvPr>
                <p:ph idx="1"/>
              </p:nvPr>
            </p:nvSpPr>
            <p:spPr>
              <a:xfrm>
                <a:off x="457200" y="1295400"/>
                <a:ext cx="8229600" cy="5562600"/>
              </a:xfrm>
              <a:blipFill>
                <a:blip r:embed="rId2"/>
                <a:stretch>
                  <a:fillRect t="-685" r="-169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9C819E1-1E0C-564B-A001-52D2F92A05E9}"/>
              </a:ext>
            </a:extLst>
          </p:cNvPr>
          <p:cNvSpPr>
            <a:spLocks noGrp="1"/>
          </p:cNvSpPr>
          <p:nvPr>
            <p:ph type="dt" sz="half" idx="10"/>
          </p:nvPr>
        </p:nvSpPr>
        <p:spPr/>
        <p:txBody>
          <a:bodyPr/>
          <a:lstStyle/>
          <a:p>
            <a:fld id="{A4856E17-70C4-9D41-8A75-159A7A7ED7EC}" type="datetime1">
              <a:rPr lang="en-US" smtClean="0"/>
              <a:t>10/15/24</a:t>
            </a:fld>
            <a:endParaRPr lang="en-US"/>
          </a:p>
        </p:txBody>
      </p:sp>
      <p:sp>
        <p:nvSpPr>
          <p:cNvPr id="5" name="Footer Placeholder 4">
            <a:extLst>
              <a:ext uri="{FF2B5EF4-FFF2-40B4-BE49-F238E27FC236}">
                <a16:creationId xmlns:a16="http://schemas.microsoft.com/office/drawing/2014/main" id="{63ED87FF-56BE-8A4A-9853-76A3B8EF2958}"/>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FE6633D-FF04-6547-965D-0B8AFB1E6E8E}"/>
              </a:ext>
            </a:extLst>
          </p:cNvPr>
          <p:cNvSpPr>
            <a:spLocks noGrp="1"/>
          </p:cNvSpPr>
          <p:nvPr>
            <p:ph type="sldNum" sz="quarter" idx="12"/>
          </p:nvPr>
        </p:nvSpPr>
        <p:spPr/>
        <p:txBody>
          <a:bodyPr/>
          <a:lstStyle/>
          <a:p>
            <a:fld id="{19B12225-5612-419B-A8D5-4B8EEE4C217E}" type="slidenum">
              <a:rPr lang="en-US" smtClean="0"/>
              <a:pPr/>
              <a:t>36</a:t>
            </a:fld>
            <a:endParaRPr lang="en-US"/>
          </a:p>
        </p:txBody>
      </p:sp>
      <p:pic>
        <p:nvPicPr>
          <p:cNvPr id="7" name="Picture 6">
            <a:extLst>
              <a:ext uri="{FF2B5EF4-FFF2-40B4-BE49-F238E27FC236}">
                <a16:creationId xmlns:a16="http://schemas.microsoft.com/office/drawing/2014/main" id="{6B284285-844A-514B-99FC-B0DF4C7ECD2C}"/>
              </a:ext>
            </a:extLst>
          </p:cNvPr>
          <p:cNvPicPr>
            <a:picLocks noChangeAspect="1"/>
          </p:cNvPicPr>
          <p:nvPr/>
        </p:nvPicPr>
        <p:blipFill>
          <a:blip r:embed="rId3"/>
          <a:stretch>
            <a:fillRect/>
          </a:stretch>
        </p:blipFill>
        <p:spPr>
          <a:xfrm>
            <a:off x="5029200" y="1282212"/>
            <a:ext cx="3175196" cy="622788"/>
          </a:xfrm>
          <a:prstGeom prst="rect">
            <a:avLst/>
          </a:prstGeom>
        </p:spPr>
      </p:pic>
    </p:spTree>
    <p:extLst>
      <p:ext uri="{BB962C8B-B14F-4D97-AF65-F5344CB8AC3E}">
        <p14:creationId xmlns:p14="http://schemas.microsoft.com/office/powerpoint/2010/main" val="377057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E023575-696C-704F-939D-92EFEBE4EA81}"/>
              </a:ext>
            </a:extLst>
          </p:cNvPr>
          <p:cNvPicPr>
            <a:picLocks noChangeAspect="1"/>
          </p:cNvPicPr>
          <p:nvPr/>
        </p:nvPicPr>
        <p:blipFill>
          <a:blip r:embed="rId2"/>
          <a:stretch>
            <a:fillRect/>
          </a:stretch>
        </p:blipFill>
        <p:spPr>
          <a:xfrm>
            <a:off x="1244478" y="5491768"/>
            <a:ext cx="6800850" cy="603223"/>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9B49606-E0E4-E943-9559-D0669C699B1C}"/>
                  </a:ext>
                </a:extLst>
              </p:cNvPr>
              <p:cNvSpPr>
                <a:spLocks noGrp="1"/>
              </p:cNvSpPr>
              <p:nvPr>
                <p:ph type="title"/>
              </p:nvPr>
            </p:nvSpPr>
            <p:spPr/>
            <p:txBody>
              <a:bodyPr/>
              <a:lstStyle/>
              <a:p>
                <a:r>
                  <a:rPr lang="en-US"/>
                  <a:t>How to decide which </a:t>
                </a:r>
                <a14:m>
                  <m:oMath xmlns:m="http://schemas.openxmlformats.org/officeDocument/2006/math">
                    <m:r>
                      <a:rPr lang="en-US" i="1" dirty="0" smtClean="0">
                        <a:latin typeface="Cambria Math" panose="02040503050406030204" pitchFamily="18" charset="0"/>
                      </a:rPr>
                      <m:t>𝑓</m:t>
                    </m:r>
                  </m:oMath>
                </a14:m>
                <a:r>
                  <a:rPr lang="en-US"/>
                  <a:t> to add?</a:t>
                </a:r>
              </a:p>
            </p:txBody>
          </p:sp>
        </mc:Choice>
        <mc:Fallback xmlns="">
          <p:sp>
            <p:nvSpPr>
              <p:cNvPr id="2" name="Title 1">
                <a:extLst>
                  <a:ext uri="{FF2B5EF4-FFF2-40B4-BE49-F238E27FC236}">
                    <a16:creationId xmlns:a16="http://schemas.microsoft.com/office/drawing/2014/main" id="{09B49606-E0E4-E943-9559-D0669C699B1C}"/>
                  </a:ext>
                </a:extLst>
              </p:cNvPr>
              <p:cNvSpPr>
                <a:spLocks noGrp="1" noRot="1" noChangeAspect="1" noMove="1" noResize="1" noEditPoints="1" noAdjustHandles="1" noChangeArrowheads="1" noChangeShapeType="1" noTextEdit="1"/>
              </p:cNvSpPr>
              <p:nvPr>
                <p:ph type="title"/>
              </p:nvPr>
            </p:nvSpPr>
            <p:spPr>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798B45-B49B-9841-9B9E-F546FA4EB444}"/>
                  </a:ext>
                </a:extLst>
              </p:cNvPr>
              <p:cNvSpPr>
                <a:spLocks noGrp="1"/>
              </p:cNvSpPr>
              <p:nvPr>
                <p:ph idx="1"/>
              </p:nvPr>
            </p:nvSpPr>
            <p:spPr/>
            <p:txBody>
              <a:bodyPr/>
              <a:lstStyle/>
              <a:p>
                <a14:m>
                  <m:oMath xmlns:m="http://schemas.openxmlformats.org/officeDocument/2006/math">
                    <m:r>
                      <a:rPr lang="en-US" b="0" i="1" smtClean="0">
                        <a:solidFill>
                          <a:srgbClr val="D60093"/>
                        </a:solidFill>
                        <a:latin typeface="Cambria Math" panose="02040503050406030204" pitchFamily="18" charset="0"/>
                      </a:rPr>
                      <m:t>𝑂𝑏𝑗</m:t>
                    </m:r>
                    <m:r>
                      <a:rPr lang="en-US" b="0" i="1" smtClean="0">
                        <a:solidFill>
                          <a:srgbClr val="D60093"/>
                        </a:solidFill>
                        <a:latin typeface="Cambria Math" panose="02040503050406030204" pitchFamily="18" charset="0"/>
                      </a:rPr>
                      <m:t>= </m:t>
                    </m:r>
                    <m:nary>
                      <m:naryPr>
                        <m:chr m:val="∑"/>
                        <m:supHide m:val="on"/>
                        <m:ctrlPr>
                          <a:rPr lang="en-US" i="1">
                            <a:solidFill>
                              <a:srgbClr val="D60093"/>
                            </a:solidFill>
                            <a:latin typeface="Cambria Math" panose="02040503050406030204" pitchFamily="18" charset="0"/>
                          </a:rPr>
                        </m:ctrlPr>
                      </m:naryPr>
                      <m:sub>
                        <m:r>
                          <a:rPr lang="en-US" i="1">
                            <a:solidFill>
                              <a:srgbClr val="D60093"/>
                            </a:solidFill>
                            <a:latin typeface="Cambria Math" panose="02040503050406030204" pitchFamily="18" charset="0"/>
                          </a:rPr>
                          <m:t>𝑖</m:t>
                        </m:r>
                      </m:sub>
                      <m:sup/>
                      <m:e>
                        <m:r>
                          <a:rPr lang="en-US" b="0" i="1" smtClean="0">
                            <a:solidFill>
                              <a:srgbClr val="D60093"/>
                            </a:solidFill>
                            <a:latin typeface="Cambria Math" panose="02040503050406030204" pitchFamily="18" charset="0"/>
                          </a:rPr>
                          <m:t>𝑙</m:t>
                        </m:r>
                        <m:d>
                          <m:dPr>
                            <m:ctrlPr>
                              <a:rPr lang="en-US" i="1">
                                <a:solidFill>
                                  <a:srgbClr val="D60093"/>
                                </a:solidFill>
                                <a:latin typeface="Cambria Math" panose="02040503050406030204" pitchFamily="18" charset="0"/>
                              </a:rPr>
                            </m:ctrlPr>
                          </m:dPr>
                          <m:e>
                            <m:sSub>
                              <m:sSubPr>
                                <m:ctrlPr>
                                  <a:rPr lang="en-US" i="1">
                                    <a:solidFill>
                                      <a:srgbClr val="D60093"/>
                                    </a:solidFill>
                                    <a:latin typeface="Cambria Math" panose="02040503050406030204" pitchFamily="18" charset="0"/>
                                  </a:rPr>
                                </m:ctrlPr>
                              </m:sSubPr>
                              <m:e>
                                <m:r>
                                  <a:rPr lang="en-US" i="1">
                                    <a:solidFill>
                                      <a:srgbClr val="D60093"/>
                                    </a:solidFill>
                                    <a:latin typeface="Cambria Math" panose="02040503050406030204" pitchFamily="18" charset="0"/>
                                  </a:rPr>
                                  <m:t>𝑦</m:t>
                                </m:r>
                              </m:e>
                              <m:sub>
                                <m:r>
                                  <a:rPr lang="en-US" i="1">
                                    <a:solidFill>
                                      <a:srgbClr val="D60093"/>
                                    </a:solidFill>
                                    <a:latin typeface="Cambria Math" panose="02040503050406030204" pitchFamily="18" charset="0"/>
                                  </a:rPr>
                                  <m:t>𝑖</m:t>
                                </m:r>
                              </m:sub>
                            </m:sSub>
                            <m:r>
                              <a:rPr lang="en-US" i="1">
                                <a:solidFill>
                                  <a:srgbClr val="D60093"/>
                                </a:solidFill>
                                <a:latin typeface="Cambria Math" panose="02040503050406030204" pitchFamily="18" charset="0"/>
                              </a:rPr>
                              <m:t>, </m:t>
                            </m:r>
                            <m:sSup>
                              <m:sSupPr>
                                <m:ctrlPr>
                                  <a:rPr lang="en-US" i="1">
                                    <a:solidFill>
                                      <a:srgbClr val="D60093"/>
                                    </a:solidFill>
                                    <a:latin typeface="Cambria Math" panose="02040503050406030204" pitchFamily="18" charset="0"/>
                                  </a:rPr>
                                </m:ctrlPr>
                              </m:sSupPr>
                              <m:e>
                                <m:acc>
                                  <m:accPr>
                                    <m:chr m:val="̂"/>
                                    <m:ctrlPr>
                                      <a:rPr lang="en-US" i="1">
                                        <a:solidFill>
                                          <a:srgbClr val="D60093"/>
                                        </a:solidFill>
                                        <a:latin typeface="Cambria Math" panose="02040503050406030204" pitchFamily="18" charset="0"/>
                                      </a:rPr>
                                    </m:ctrlPr>
                                  </m:accPr>
                                  <m:e>
                                    <m:sSub>
                                      <m:sSubPr>
                                        <m:ctrlPr>
                                          <a:rPr lang="en-US" i="1">
                                            <a:solidFill>
                                              <a:srgbClr val="D60093"/>
                                            </a:solidFill>
                                            <a:latin typeface="Cambria Math" panose="02040503050406030204" pitchFamily="18" charset="0"/>
                                          </a:rPr>
                                        </m:ctrlPr>
                                      </m:sSubPr>
                                      <m:e>
                                        <m:r>
                                          <a:rPr lang="en-US" i="1">
                                            <a:solidFill>
                                              <a:srgbClr val="D60093"/>
                                            </a:solidFill>
                                            <a:latin typeface="Cambria Math" panose="02040503050406030204" pitchFamily="18" charset="0"/>
                                          </a:rPr>
                                          <m:t>𝑦</m:t>
                                        </m:r>
                                      </m:e>
                                      <m:sub>
                                        <m:r>
                                          <a:rPr lang="en-US" i="1">
                                            <a:solidFill>
                                              <a:srgbClr val="D60093"/>
                                            </a:solidFill>
                                            <a:latin typeface="Cambria Math" panose="02040503050406030204" pitchFamily="18" charset="0"/>
                                          </a:rPr>
                                          <m:t>𝑖</m:t>
                                        </m:r>
                                      </m:sub>
                                    </m:sSub>
                                  </m:e>
                                </m:acc>
                              </m:e>
                              <m:sup>
                                <m:d>
                                  <m:dPr>
                                    <m:ctrlPr>
                                      <a:rPr lang="en-US" i="1">
                                        <a:solidFill>
                                          <a:srgbClr val="D60093"/>
                                        </a:solidFill>
                                        <a:latin typeface="Cambria Math" panose="02040503050406030204" pitchFamily="18" charset="0"/>
                                      </a:rPr>
                                    </m:ctrlPr>
                                  </m:dPr>
                                  <m:e>
                                    <m:r>
                                      <a:rPr lang="en-US" i="1">
                                        <a:solidFill>
                                          <a:srgbClr val="D60093"/>
                                        </a:solidFill>
                                        <a:latin typeface="Cambria Math" panose="02040503050406030204" pitchFamily="18" charset="0"/>
                                      </a:rPr>
                                      <m:t>𝑡</m:t>
                                    </m:r>
                                    <m:r>
                                      <a:rPr lang="en-US" i="1">
                                        <a:solidFill>
                                          <a:srgbClr val="D60093"/>
                                        </a:solidFill>
                                        <a:latin typeface="Cambria Math" panose="02040503050406030204" pitchFamily="18" charset="0"/>
                                      </a:rPr>
                                      <m:t>−1</m:t>
                                    </m:r>
                                  </m:e>
                                </m:d>
                              </m:sup>
                            </m:sSup>
                            <m:r>
                              <a:rPr lang="en-US" i="1">
                                <a:solidFill>
                                  <a:srgbClr val="D60093"/>
                                </a:solidFill>
                                <a:latin typeface="Cambria Math" panose="02040503050406030204" pitchFamily="18" charset="0"/>
                              </a:rPr>
                              <m:t>+</m:t>
                            </m:r>
                            <m:sSub>
                              <m:sSubPr>
                                <m:ctrlPr>
                                  <a:rPr lang="en-US" i="1">
                                    <a:solidFill>
                                      <a:srgbClr val="D60093"/>
                                    </a:solidFill>
                                    <a:latin typeface="Cambria Math" panose="02040503050406030204" pitchFamily="18" charset="0"/>
                                  </a:rPr>
                                </m:ctrlPr>
                              </m:sSubPr>
                              <m:e>
                                <m:r>
                                  <a:rPr lang="en-US" i="1">
                                    <a:solidFill>
                                      <a:srgbClr val="D60093"/>
                                    </a:solidFill>
                                    <a:latin typeface="Cambria Math" panose="02040503050406030204" pitchFamily="18" charset="0"/>
                                  </a:rPr>
                                  <m:t>𝑓</m:t>
                                </m:r>
                              </m:e>
                              <m:sub>
                                <m:r>
                                  <a:rPr lang="en-US" i="1">
                                    <a:solidFill>
                                      <a:srgbClr val="D60093"/>
                                    </a:solidFill>
                                    <a:latin typeface="Cambria Math" panose="02040503050406030204" pitchFamily="18" charset="0"/>
                                  </a:rPr>
                                  <m:t>𝑡</m:t>
                                </m:r>
                              </m:sub>
                            </m:sSub>
                            <m:d>
                              <m:dPr>
                                <m:ctrlPr>
                                  <a:rPr lang="en-US" i="1">
                                    <a:solidFill>
                                      <a:srgbClr val="D60093"/>
                                    </a:solidFill>
                                    <a:latin typeface="Cambria Math" panose="02040503050406030204" pitchFamily="18" charset="0"/>
                                  </a:rPr>
                                </m:ctrlPr>
                              </m:dPr>
                              <m:e>
                                <m:sSub>
                                  <m:sSubPr>
                                    <m:ctrlPr>
                                      <a:rPr lang="en-US" i="1">
                                        <a:solidFill>
                                          <a:srgbClr val="D60093"/>
                                        </a:solidFill>
                                        <a:latin typeface="Cambria Math" panose="02040503050406030204" pitchFamily="18" charset="0"/>
                                      </a:rPr>
                                    </m:ctrlPr>
                                  </m:sSubPr>
                                  <m:e>
                                    <m:r>
                                      <a:rPr lang="en-US" i="1">
                                        <a:solidFill>
                                          <a:srgbClr val="D60093"/>
                                        </a:solidFill>
                                        <a:latin typeface="Cambria Math" panose="02040503050406030204" pitchFamily="18" charset="0"/>
                                      </a:rPr>
                                      <m:t>𝑥</m:t>
                                    </m:r>
                                  </m:e>
                                  <m:sub>
                                    <m:r>
                                      <a:rPr lang="en-US" i="1">
                                        <a:solidFill>
                                          <a:srgbClr val="D60093"/>
                                        </a:solidFill>
                                        <a:latin typeface="Cambria Math" panose="02040503050406030204" pitchFamily="18" charset="0"/>
                                      </a:rPr>
                                      <m:t>𝑖</m:t>
                                    </m:r>
                                  </m:sub>
                                </m:sSub>
                              </m:e>
                            </m:d>
                          </m:e>
                        </m:d>
                        <m:r>
                          <a:rPr lang="en-US" i="1">
                            <a:solidFill>
                              <a:srgbClr val="D60093"/>
                            </a:solidFill>
                            <a:latin typeface="Cambria Math" panose="02040503050406030204" pitchFamily="18" charset="0"/>
                          </a:rPr>
                          <m:t>+</m:t>
                        </m:r>
                        <m:r>
                          <m:rPr>
                            <m:sty m:val="p"/>
                          </m:rPr>
                          <a:rPr lang="en-US">
                            <a:solidFill>
                              <a:srgbClr val="D60093"/>
                            </a:solidFill>
                            <a:latin typeface="Cambria Math" panose="02040503050406030204" pitchFamily="18" charset="0"/>
                          </a:rPr>
                          <m:t>Ω</m:t>
                        </m:r>
                        <m:r>
                          <a:rPr lang="en-US" i="1">
                            <a:solidFill>
                              <a:srgbClr val="D60093"/>
                            </a:solidFill>
                            <a:latin typeface="Cambria Math" panose="02040503050406030204" pitchFamily="18" charset="0"/>
                          </a:rPr>
                          <m:t>(</m:t>
                        </m:r>
                        <m:sSub>
                          <m:sSubPr>
                            <m:ctrlPr>
                              <a:rPr lang="en-US" i="1">
                                <a:solidFill>
                                  <a:srgbClr val="D60093"/>
                                </a:solidFill>
                                <a:latin typeface="Cambria Math" panose="02040503050406030204" pitchFamily="18" charset="0"/>
                              </a:rPr>
                            </m:ctrlPr>
                          </m:sSubPr>
                          <m:e>
                            <m:r>
                              <a:rPr lang="en-US" i="1">
                                <a:solidFill>
                                  <a:srgbClr val="D60093"/>
                                </a:solidFill>
                                <a:latin typeface="Cambria Math" panose="02040503050406030204" pitchFamily="18" charset="0"/>
                              </a:rPr>
                              <m:t>𝑓</m:t>
                            </m:r>
                          </m:e>
                          <m:sub>
                            <m:r>
                              <a:rPr lang="en-US" i="1">
                                <a:solidFill>
                                  <a:srgbClr val="D60093"/>
                                </a:solidFill>
                                <a:latin typeface="Cambria Math" panose="02040503050406030204" pitchFamily="18" charset="0"/>
                              </a:rPr>
                              <m:t>𝑡</m:t>
                            </m:r>
                          </m:sub>
                        </m:sSub>
                        <m:r>
                          <a:rPr lang="en-US" i="1">
                            <a:solidFill>
                              <a:srgbClr val="D60093"/>
                            </a:solidFill>
                            <a:latin typeface="Cambria Math" panose="02040503050406030204" pitchFamily="18" charset="0"/>
                          </a:rPr>
                          <m:t>)</m:t>
                        </m:r>
                      </m:e>
                    </m:nary>
                  </m:oMath>
                </a14:m>
                <a:endParaRPr lang="en-US" b="1" dirty="0">
                  <a:solidFill>
                    <a:srgbClr val="D60093"/>
                  </a:solidFill>
                </a:endParaRPr>
              </a:p>
              <a:p>
                <a:r>
                  <a:rPr lang="en-US" b="1" dirty="0"/>
                  <a:t>Take Taylor expansion of the objective:</a:t>
                </a:r>
              </a:p>
              <a:p>
                <a:pPr lvl="1"/>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m:rPr>
                            <m:sty m:val="p"/>
                          </m:rPr>
                          <a:rPr lang="en-US" b="0" i="0" smtClean="0">
                            <a:latin typeface="Cambria Math" panose="02040503050406030204" pitchFamily="18" charset="0"/>
                          </a:rPr>
                          <m:t>Δ</m:t>
                        </m:r>
                      </m:e>
                    </m:d>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m:rPr>
                        <m:sty m:val="p"/>
                      </m:rPr>
                      <a:rPr lang="en-US" b="0" i="0" smtClean="0">
                        <a:latin typeface="Cambria Math" panose="02040503050406030204" pitchFamily="18" charset="0"/>
                      </a:rPr>
                      <m:t>Δ</m:t>
                    </m:r>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Δ</m:t>
                        </m:r>
                      </m:e>
                      <m:sup>
                        <m:r>
                          <a:rPr lang="en-US" b="0" i="0" smtClean="0">
                            <a:latin typeface="Cambria Math" panose="02040503050406030204" pitchFamily="18" charset="0"/>
                          </a:rPr>
                          <m:t>2</m:t>
                        </m:r>
                      </m:sup>
                    </m:sSup>
                  </m:oMath>
                </a14:m>
                <a:endParaRPr lang="en-US" dirty="0"/>
              </a:p>
              <a:p>
                <a:r>
                  <a:rPr lang="en-US" b="1" dirty="0">
                    <a:solidFill>
                      <a:srgbClr val="0000FF"/>
                    </a:solidFill>
                  </a:rPr>
                  <a:t>So, we get the approximate objective:</a:t>
                </a:r>
                <a:r>
                  <a:rPr lang="en-US" dirty="0">
                    <a:solidFill>
                      <a:srgbClr val="0000FF"/>
                    </a:solidFill>
                  </a:rPr>
                  <a:t> </a:t>
                </a:r>
              </a:p>
              <a:p>
                <a:pPr lvl="3"/>
                <a:endParaRPr lang="en-US" b="1" dirty="0">
                  <a:solidFill>
                    <a:srgbClr val="0000FF"/>
                  </a:solidFill>
                </a:endParaRPr>
              </a:p>
              <a:p>
                <a:pPr lvl="4"/>
                <a:endParaRPr lang="en-US" b="1" dirty="0">
                  <a:solidFill>
                    <a:srgbClr val="0000FF"/>
                  </a:solidFill>
                </a:endParaRPr>
              </a:p>
              <a:p>
                <a:pPr lvl="5"/>
                <a:endParaRPr lang="en-US" b="1" dirty="0">
                  <a:solidFill>
                    <a:srgbClr val="0000FF"/>
                  </a:solidFill>
                </a:endParaRPr>
              </a:p>
              <a:p>
                <a:pPr lvl="1"/>
                <a:r>
                  <a:rPr lang="en-US" b="1" dirty="0">
                    <a:solidFill>
                      <a:srgbClr val="0000FF"/>
                    </a:solidFill>
                  </a:rPr>
                  <a:t>where:</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D3798B45-B49B-9841-9B9E-F546FA4EB444}"/>
                  </a:ext>
                </a:extLst>
              </p:cNvPr>
              <p:cNvSpPr>
                <a:spLocks noGrp="1" noRot="1" noChangeAspect="1" noMove="1" noResize="1" noEditPoints="1" noAdjustHandles="1" noChangeArrowheads="1" noChangeShapeType="1" noTextEdit="1"/>
              </p:cNvSpPr>
              <p:nvPr>
                <p:ph idx="1"/>
              </p:nvPr>
            </p:nvSpPr>
            <p:spPr>
              <a:blipFill>
                <a:blip r:embed="rId5"/>
                <a:stretch>
                  <a:fillRect t="-1183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2998A2F-2878-C14B-8963-BB30573E6EE4}"/>
              </a:ext>
            </a:extLst>
          </p:cNvPr>
          <p:cNvSpPr>
            <a:spLocks noGrp="1"/>
          </p:cNvSpPr>
          <p:nvPr>
            <p:ph type="dt" sz="half" idx="10"/>
          </p:nvPr>
        </p:nvSpPr>
        <p:spPr/>
        <p:txBody>
          <a:bodyPr/>
          <a:lstStyle/>
          <a:p>
            <a:fld id="{F96175EC-9A63-8342-A1A6-47B9B2F8B997}" type="datetime1">
              <a:rPr lang="en-US" smtClean="0"/>
              <a:t>10/15/24</a:t>
            </a:fld>
            <a:endParaRPr lang="en-US"/>
          </a:p>
        </p:txBody>
      </p:sp>
      <p:sp>
        <p:nvSpPr>
          <p:cNvPr id="5" name="Footer Placeholder 4">
            <a:extLst>
              <a:ext uri="{FF2B5EF4-FFF2-40B4-BE49-F238E27FC236}">
                <a16:creationId xmlns:a16="http://schemas.microsoft.com/office/drawing/2014/main" id="{5EA45EC0-0E94-2E4E-97A4-FE99DF0B998B}"/>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6B58892E-5297-C548-95E2-3FDFA6EBD4E7}"/>
              </a:ext>
            </a:extLst>
          </p:cNvPr>
          <p:cNvSpPr>
            <a:spLocks noGrp="1"/>
          </p:cNvSpPr>
          <p:nvPr>
            <p:ph type="sldNum" sz="quarter" idx="12"/>
          </p:nvPr>
        </p:nvSpPr>
        <p:spPr/>
        <p:txBody>
          <a:bodyPr/>
          <a:lstStyle/>
          <a:p>
            <a:fld id="{19B12225-5612-419B-A8D5-4B8EEE4C217E}" type="slidenum">
              <a:rPr lang="en-US" smtClean="0"/>
              <a:pPr/>
              <a:t>37</a:t>
            </a:fld>
            <a:endParaRPr lang="en-US"/>
          </a:p>
        </p:txBody>
      </p:sp>
      <p:grpSp>
        <p:nvGrpSpPr>
          <p:cNvPr id="9" name="Group 8">
            <a:extLst>
              <a:ext uri="{FF2B5EF4-FFF2-40B4-BE49-F238E27FC236}">
                <a16:creationId xmlns:a16="http://schemas.microsoft.com/office/drawing/2014/main" id="{1E83CECB-7539-3B6A-665C-10F3BD96688D}"/>
              </a:ext>
            </a:extLst>
          </p:cNvPr>
          <p:cNvGrpSpPr/>
          <p:nvPr/>
        </p:nvGrpSpPr>
        <p:grpSpPr>
          <a:xfrm>
            <a:off x="893252" y="3916817"/>
            <a:ext cx="7899522" cy="1007008"/>
            <a:chOff x="893252" y="3916817"/>
            <a:chExt cx="7899522" cy="1007008"/>
          </a:xfrm>
        </p:grpSpPr>
        <p:pic>
          <p:nvPicPr>
            <p:cNvPr id="10" name="Picture 9">
              <a:extLst>
                <a:ext uri="{FF2B5EF4-FFF2-40B4-BE49-F238E27FC236}">
                  <a16:creationId xmlns:a16="http://schemas.microsoft.com/office/drawing/2014/main" id="{D84F822C-8CA3-D54A-9EC6-5B903E9E17C3}"/>
                </a:ext>
              </a:extLst>
            </p:cNvPr>
            <p:cNvPicPr>
              <a:picLocks noChangeAspect="1"/>
            </p:cNvPicPr>
            <p:nvPr/>
          </p:nvPicPr>
          <p:blipFill>
            <a:blip r:embed="rId6"/>
            <a:stretch>
              <a:fillRect/>
            </a:stretch>
          </p:blipFill>
          <p:spPr>
            <a:xfrm>
              <a:off x="893252" y="3916817"/>
              <a:ext cx="7899522" cy="784651"/>
            </a:xfrm>
            <a:prstGeom prst="rect">
              <a:avLst/>
            </a:prstGeom>
          </p:spPr>
        </p:pic>
        <p:grpSp>
          <p:nvGrpSpPr>
            <p:cNvPr id="7" name="Group 6">
              <a:extLst>
                <a:ext uri="{FF2B5EF4-FFF2-40B4-BE49-F238E27FC236}">
                  <a16:creationId xmlns:a16="http://schemas.microsoft.com/office/drawing/2014/main" id="{69C10014-BD3F-C3D9-1B59-8FA6AA995845}"/>
                </a:ext>
              </a:extLst>
            </p:cNvPr>
            <p:cNvGrpSpPr/>
            <p:nvPr/>
          </p:nvGrpSpPr>
          <p:grpSpPr>
            <a:xfrm>
              <a:off x="1428873" y="4564531"/>
              <a:ext cx="4569392" cy="359294"/>
              <a:chOff x="1428873" y="4564531"/>
              <a:chExt cx="4569392" cy="359294"/>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91237D-493B-BA42-8A2D-FB09E1227666}"/>
                      </a:ext>
                    </a:extLst>
                  </p:cNvPr>
                  <p:cNvSpPr txBox="1"/>
                  <p:nvPr/>
                </p:nvSpPr>
                <p:spPr>
                  <a:xfrm>
                    <a:off x="1428873" y="4616048"/>
                    <a:ext cx="4569392" cy="307777"/>
                  </a:xfrm>
                  <a:prstGeom prst="rect">
                    <a:avLst/>
                  </a:prstGeom>
                  <a:noFill/>
                </p:spPr>
                <p:txBody>
                  <a:bodyPr wrap="none" rtlCol="0">
                    <a:spAutoFit/>
                  </a:bodyPr>
                  <a:lstStyle/>
                  <a:p>
                    <a:r>
                      <a:rPr lang="en-US" sz="1400" dirty="0">
                        <a:solidFill>
                          <a:srgbClr val="008000"/>
                        </a:solidFill>
                        <a:latin typeface="Arial" pitchFamily="34" charset="0"/>
                        <a:cs typeface="Arial" pitchFamily="34" charset="0"/>
                      </a:rPr>
                      <a:t>We can ignore this part, since we are optimizing over </a:t>
                    </a:r>
                    <a14:m>
                      <m:oMath xmlns:m="http://schemas.openxmlformats.org/officeDocument/2006/math">
                        <m:sSub>
                          <m:sSubPr>
                            <m:ctrlPr>
                              <a:rPr lang="en-US" sz="1400" i="1" dirty="0" smtClean="0">
                                <a:solidFill>
                                  <a:srgbClr val="008000"/>
                                </a:solidFill>
                                <a:latin typeface="Cambria Math" panose="02040503050406030204" pitchFamily="18" charset="0"/>
                                <a:cs typeface="Arial" pitchFamily="34" charset="0"/>
                              </a:rPr>
                            </m:ctrlPr>
                          </m:sSubPr>
                          <m:e>
                            <m:r>
                              <a:rPr lang="en-US" sz="1400" i="1" dirty="0" smtClean="0">
                                <a:solidFill>
                                  <a:srgbClr val="008000"/>
                                </a:solidFill>
                                <a:latin typeface="Cambria Math" panose="02040503050406030204" pitchFamily="18" charset="0"/>
                                <a:cs typeface="Arial" pitchFamily="34" charset="0"/>
                              </a:rPr>
                              <m:t>𝑓</m:t>
                            </m:r>
                          </m:e>
                          <m:sub>
                            <m:r>
                              <a:rPr lang="en-US" sz="1400" i="1" dirty="0" smtClean="0">
                                <a:solidFill>
                                  <a:srgbClr val="008000"/>
                                </a:solidFill>
                                <a:latin typeface="Cambria Math" panose="02040503050406030204" pitchFamily="18" charset="0"/>
                                <a:cs typeface="Arial" pitchFamily="34" charset="0"/>
                              </a:rPr>
                              <m:t>𝑡</m:t>
                            </m:r>
                          </m:sub>
                        </m:sSub>
                      </m:oMath>
                    </a14:m>
                    <a:endParaRPr lang="en-US" sz="1400" dirty="0">
                      <a:solidFill>
                        <a:srgbClr val="008000"/>
                      </a:solidFill>
                      <a:latin typeface="Arial" pitchFamily="34" charset="0"/>
                      <a:cs typeface="Arial" pitchFamily="34" charset="0"/>
                    </a:endParaRPr>
                  </a:p>
                </p:txBody>
              </p:sp>
            </mc:Choice>
            <mc:Fallback xmlns="">
              <p:sp>
                <p:nvSpPr>
                  <p:cNvPr id="11" name="TextBox 10">
                    <a:extLst>
                      <a:ext uri="{FF2B5EF4-FFF2-40B4-BE49-F238E27FC236}">
                        <a16:creationId xmlns:a16="http://schemas.microsoft.com/office/drawing/2014/main" id="{5891237D-493B-BA42-8A2D-FB09E1227666}"/>
                      </a:ext>
                    </a:extLst>
                  </p:cNvPr>
                  <p:cNvSpPr txBox="1">
                    <a:spLocks noRot="1" noChangeAspect="1" noMove="1" noResize="1" noEditPoints="1" noAdjustHandles="1" noChangeArrowheads="1" noChangeShapeType="1" noTextEdit="1"/>
                  </p:cNvSpPr>
                  <p:nvPr/>
                </p:nvSpPr>
                <p:spPr>
                  <a:xfrm>
                    <a:off x="1428873" y="4616048"/>
                    <a:ext cx="4569392" cy="307777"/>
                  </a:xfrm>
                  <a:prstGeom prst="rect">
                    <a:avLst/>
                  </a:prstGeom>
                  <a:blipFill>
                    <a:blip r:embed="rId7"/>
                    <a:stretch>
                      <a:fillRect l="-554" t="-4000" b="-20000"/>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452668B1-81B1-B04A-A922-488E91F3F1C3}"/>
                  </a:ext>
                </a:extLst>
              </p:cNvPr>
              <p:cNvCxnSpPr>
                <a:cxnSpLocks/>
              </p:cNvCxnSpPr>
              <p:nvPr/>
            </p:nvCxnSpPr>
            <p:spPr>
              <a:xfrm>
                <a:off x="2071530" y="4564531"/>
                <a:ext cx="1695072" cy="0"/>
              </a:xfrm>
              <a:prstGeom prst="line">
                <a:avLst/>
              </a:prstGeom>
              <a:ln w="28575">
                <a:solidFill>
                  <a:srgbClr val="008000"/>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89165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49606-E0E4-E943-9559-D0669C699B1C}"/>
              </a:ext>
            </a:extLst>
          </p:cNvPr>
          <p:cNvSpPr>
            <a:spLocks noGrp="1"/>
          </p:cNvSpPr>
          <p:nvPr>
            <p:ph type="title"/>
          </p:nvPr>
        </p:nvSpPr>
        <p:spPr/>
        <p:txBody>
          <a:bodyPr/>
          <a:lstStyle/>
          <a:p>
            <a:r>
              <a:rPr lang="en-US"/>
              <a:t>How to decide which f to add?</a:t>
            </a:r>
          </a:p>
        </p:txBody>
      </p:sp>
      <p:sp>
        <p:nvSpPr>
          <p:cNvPr id="3" name="Content Placeholder 2">
            <a:extLst>
              <a:ext uri="{FF2B5EF4-FFF2-40B4-BE49-F238E27FC236}">
                <a16:creationId xmlns:a16="http://schemas.microsoft.com/office/drawing/2014/main" id="{D3798B45-B49B-9841-9B9E-F546FA4EB444}"/>
              </a:ext>
            </a:extLst>
          </p:cNvPr>
          <p:cNvSpPr>
            <a:spLocks noGrp="1"/>
          </p:cNvSpPr>
          <p:nvPr>
            <p:ph idx="1"/>
          </p:nvPr>
        </p:nvSpPr>
        <p:spPr/>
        <p:txBody>
          <a:bodyPr/>
          <a:lstStyle/>
          <a:p>
            <a:pPr lvl="1"/>
            <a:r>
              <a:rPr lang="en-US" b="1" dirty="0">
                <a:solidFill>
                  <a:srgbClr val="0000FF"/>
                </a:solidFill>
              </a:rPr>
              <a:t>The approximate objective:</a:t>
            </a:r>
          </a:p>
          <a:p>
            <a:pPr lvl="1"/>
            <a:endParaRPr lang="en-US" b="1" dirty="0">
              <a:solidFill>
                <a:srgbClr val="0000FF"/>
              </a:solidFill>
            </a:endParaRPr>
          </a:p>
          <a:p>
            <a:pPr lvl="1"/>
            <a:endParaRPr lang="en-US" dirty="0"/>
          </a:p>
          <a:p>
            <a:pPr marL="457200" lvl="1" indent="0">
              <a:buNone/>
            </a:pPr>
            <a:endParaRPr lang="en-US" dirty="0"/>
          </a:p>
          <a:p>
            <a:pPr marL="457200" lvl="1" indent="0">
              <a:buNone/>
            </a:pPr>
            <a:endParaRPr lang="en-US" dirty="0"/>
          </a:p>
          <a:p>
            <a:r>
              <a:rPr lang="en-US" b="1" dirty="0">
                <a:solidFill>
                  <a:srgbClr val="0000FF"/>
                </a:solidFill>
              </a:rPr>
              <a:t>Define model complexity of tree f as</a:t>
            </a:r>
            <a:endParaRPr lang="en-US" b="1" dirty="0"/>
          </a:p>
          <a:p>
            <a:endParaRPr lang="en-US" dirty="0"/>
          </a:p>
        </p:txBody>
      </p:sp>
      <p:sp>
        <p:nvSpPr>
          <p:cNvPr id="4" name="Date Placeholder 3">
            <a:extLst>
              <a:ext uri="{FF2B5EF4-FFF2-40B4-BE49-F238E27FC236}">
                <a16:creationId xmlns:a16="http://schemas.microsoft.com/office/drawing/2014/main" id="{E2998A2F-2878-C14B-8963-BB30573E6EE4}"/>
              </a:ext>
            </a:extLst>
          </p:cNvPr>
          <p:cNvSpPr>
            <a:spLocks noGrp="1"/>
          </p:cNvSpPr>
          <p:nvPr>
            <p:ph type="dt" sz="half" idx="10"/>
          </p:nvPr>
        </p:nvSpPr>
        <p:spPr/>
        <p:txBody>
          <a:bodyPr/>
          <a:lstStyle/>
          <a:p>
            <a:fld id="{9FBE9EA3-8BFC-FF44-8AAA-221495E18752}" type="datetime1">
              <a:rPr lang="en-US" smtClean="0"/>
              <a:t>10/15/24</a:t>
            </a:fld>
            <a:endParaRPr lang="en-US"/>
          </a:p>
        </p:txBody>
      </p:sp>
      <p:sp>
        <p:nvSpPr>
          <p:cNvPr id="5" name="Footer Placeholder 4">
            <a:extLst>
              <a:ext uri="{FF2B5EF4-FFF2-40B4-BE49-F238E27FC236}">
                <a16:creationId xmlns:a16="http://schemas.microsoft.com/office/drawing/2014/main" id="{5EA45EC0-0E94-2E4E-97A4-FE99DF0B998B}"/>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6B58892E-5297-C548-95E2-3FDFA6EBD4E7}"/>
              </a:ext>
            </a:extLst>
          </p:cNvPr>
          <p:cNvSpPr>
            <a:spLocks noGrp="1"/>
          </p:cNvSpPr>
          <p:nvPr>
            <p:ph type="sldNum" sz="quarter" idx="12"/>
          </p:nvPr>
        </p:nvSpPr>
        <p:spPr/>
        <p:txBody>
          <a:bodyPr/>
          <a:lstStyle/>
          <a:p>
            <a:fld id="{19B12225-5612-419B-A8D5-4B8EEE4C217E}" type="slidenum">
              <a:rPr lang="en-US" smtClean="0"/>
              <a:pPr/>
              <a:t>38</a:t>
            </a:fld>
            <a:endParaRPr lang="en-US"/>
          </a:p>
        </p:txBody>
      </p:sp>
      <p:pic>
        <p:nvPicPr>
          <p:cNvPr id="19" name="Picture 18">
            <a:extLst>
              <a:ext uri="{FF2B5EF4-FFF2-40B4-BE49-F238E27FC236}">
                <a16:creationId xmlns:a16="http://schemas.microsoft.com/office/drawing/2014/main" id="{648B0580-3EAF-5F4A-A0BE-41899F950E00}"/>
              </a:ext>
            </a:extLst>
          </p:cNvPr>
          <p:cNvPicPr>
            <a:picLocks noChangeAspect="1"/>
          </p:cNvPicPr>
          <p:nvPr/>
        </p:nvPicPr>
        <p:blipFill>
          <a:blip r:embed="rId2"/>
          <a:stretch>
            <a:fillRect/>
          </a:stretch>
        </p:blipFill>
        <p:spPr>
          <a:xfrm>
            <a:off x="1234674" y="1969618"/>
            <a:ext cx="6969722" cy="1118182"/>
          </a:xfrm>
          <a:prstGeom prst="rect">
            <a:avLst/>
          </a:prstGeom>
        </p:spPr>
      </p:pic>
      <p:sp>
        <p:nvSpPr>
          <p:cNvPr id="7" name="Rectangle 6">
            <a:extLst>
              <a:ext uri="{FF2B5EF4-FFF2-40B4-BE49-F238E27FC236}">
                <a16:creationId xmlns:a16="http://schemas.microsoft.com/office/drawing/2014/main" id="{0D7603B8-31DA-4BE9-75C1-22BE6826B7DC}"/>
              </a:ext>
            </a:extLst>
          </p:cNvPr>
          <p:cNvSpPr/>
          <p:nvPr/>
        </p:nvSpPr>
        <p:spPr>
          <a:xfrm>
            <a:off x="1105319" y="1858945"/>
            <a:ext cx="7099077" cy="1346479"/>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032E787-291A-AEC0-3DBC-6913BD6B1BD4}"/>
                  </a:ext>
                </a:extLst>
              </p:cNvPr>
              <p:cNvSpPr txBox="1"/>
              <p:nvPr/>
            </p:nvSpPr>
            <p:spPr>
              <a:xfrm>
                <a:off x="2249321" y="4384200"/>
                <a:ext cx="4612192" cy="1172629"/>
              </a:xfrm>
              <a:prstGeom prst="rect">
                <a:avLst/>
              </a:prstGeom>
              <a:noFill/>
            </p:spPr>
            <p:txBody>
              <a:bodyPr wrap="square">
                <a:spAutoFit/>
              </a:bodyPr>
              <a:lstStyle/>
              <a:p>
                <a:pPr marL="457200" lvl="1" indent="0">
                  <a:buNone/>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Ω</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𝑓</m:t>
                          </m:r>
                        </m:e>
                      </m:d>
                      <m:r>
                        <a:rPr lang="en-US" sz="2400" b="0" i="1" smtClean="0">
                          <a:latin typeface="Cambria Math" panose="02040503050406030204" pitchFamily="18" charset="0"/>
                        </a:rPr>
                        <m:t>=</m:t>
                      </m:r>
                      <m:r>
                        <a:rPr lang="en-US" sz="2400" b="0" i="1" smtClean="0">
                          <a:latin typeface="Cambria Math" panose="02040503050406030204" pitchFamily="18" charset="0"/>
                        </a:rPr>
                        <m:t>𝛾</m:t>
                      </m:r>
                      <m:r>
                        <a:rPr lang="en-US" sz="2400" b="0" i="1" smtClean="0">
                          <a:latin typeface="Cambria Math" panose="02040503050406030204" pitchFamily="18" charset="0"/>
                        </a:rPr>
                        <m:t>∗</m:t>
                      </m:r>
                      <m:r>
                        <a:rPr lang="en-US" sz="2400" b="0" i="1" smtClean="0">
                          <a:latin typeface="Cambria Math" panose="02040503050406030204" pitchFamily="18" charset="0"/>
                        </a:rPr>
                        <m:t>𝑇</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𝜆</m:t>
                      </m:r>
                      <m:nary>
                        <m:naryPr>
                          <m:chr m:val="∑"/>
                          <m:ctrlPr>
                            <a:rPr lang="en-US" sz="2400" b="0" i="1" smtClean="0">
                              <a:latin typeface="Cambria Math" panose="02040503050406030204" pitchFamily="18" charset="0"/>
                            </a:rPr>
                          </m:ctrlPr>
                        </m:naryPr>
                        <m:sub>
                          <m:r>
                            <a:rPr lang="en-US" sz="2400" b="0" i="1" smtClean="0">
                              <a:latin typeface="Cambria Math" panose="02040503050406030204" pitchFamily="18" charset="0"/>
                            </a:rPr>
                            <m:t>𝑗</m:t>
                          </m:r>
                        </m:sub>
                        <m:sup>
                          <m:r>
                            <a:rPr lang="en-US" sz="2400" b="0" i="1" smtClean="0">
                              <a:latin typeface="Cambria Math" panose="02040503050406030204" pitchFamily="18" charset="0"/>
                            </a:rPr>
                            <m:t>𝑇</m:t>
                          </m:r>
                        </m:sup>
                        <m:e>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𝑤</m:t>
                              </m:r>
                            </m:e>
                            <m:sub>
                              <m:r>
                                <a:rPr lang="en-US" sz="2400" b="0" i="1" smtClean="0">
                                  <a:latin typeface="Cambria Math" panose="02040503050406030204" pitchFamily="18" charset="0"/>
                                </a:rPr>
                                <m:t>𝑗</m:t>
                              </m:r>
                            </m:sub>
                            <m:sup>
                              <m:r>
                                <a:rPr lang="en-US" sz="2400" b="0" i="1" smtClean="0">
                                  <a:latin typeface="Cambria Math" panose="02040503050406030204" pitchFamily="18" charset="0"/>
                                </a:rPr>
                                <m:t>2</m:t>
                              </m:r>
                            </m:sup>
                          </m:sSubSup>
                        </m:e>
                      </m:nary>
                    </m:oMath>
                  </m:oMathPara>
                </a14:m>
                <a:endParaRPr lang="en-US" sz="2400" dirty="0"/>
              </a:p>
            </p:txBody>
          </p:sp>
        </mc:Choice>
        <mc:Fallback xmlns="">
          <p:sp>
            <p:nvSpPr>
              <p:cNvPr id="8" name="TextBox 7">
                <a:extLst>
                  <a:ext uri="{FF2B5EF4-FFF2-40B4-BE49-F238E27FC236}">
                    <a16:creationId xmlns:a16="http://schemas.microsoft.com/office/drawing/2014/main" id="{4032E787-291A-AEC0-3DBC-6913BD6B1BD4}"/>
                  </a:ext>
                </a:extLst>
              </p:cNvPr>
              <p:cNvSpPr txBox="1">
                <a:spLocks noRot="1" noChangeAspect="1" noMove="1" noResize="1" noEditPoints="1" noAdjustHandles="1" noChangeArrowheads="1" noChangeShapeType="1" noTextEdit="1"/>
              </p:cNvSpPr>
              <p:nvPr/>
            </p:nvSpPr>
            <p:spPr>
              <a:xfrm>
                <a:off x="2249321" y="4384200"/>
                <a:ext cx="4612192" cy="1172629"/>
              </a:xfrm>
              <a:prstGeom prst="rect">
                <a:avLst/>
              </a:prstGeom>
              <a:blipFill>
                <a:blip r:embed="rId3"/>
                <a:stretch>
                  <a:fillRect t="-98925" b="-1483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02F52D5-A19C-A363-795B-B3979BF17675}"/>
                  </a:ext>
                </a:extLst>
              </p:cNvPr>
              <p:cNvSpPr txBox="1"/>
              <p:nvPr/>
            </p:nvSpPr>
            <p:spPr>
              <a:xfrm>
                <a:off x="663080" y="5610587"/>
                <a:ext cx="3754939" cy="707886"/>
              </a:xfrm>
              <a:prstGeom prst="rect">
                <a:avLst/>
              </a:prstGeom>
              <a:noFill/>
            </p:spPr>
            <p:txBody>
              <a:bodyPr wrap="none" rtlCol="0">
                <a:spAutoFit/>
              </a:bodyPr>
              <a:lstStyle/>
              <a:p>
                <a:r>
                  <a:rPr lang="en-US" sz="2000" dirty="0">
                    <a:solidFill>
                      <a:srgbClr val="008000"/>
                    </a:solidFill>
                    <a:latin typeface="Calibri" panose="020F0502020204030204" pitchFamily="34" charset="0"/>
                    <a:cs typeface="Calibri" panose="020F0502020204030204" pitchFamily="34" charset="0"/>
                  </a:rPr>
                  <a:t>T… number of leaves of tree </a:t>
                </a:r>
                <a14:m>
                  <m:oMath xmlns:m="http://schemas.openxmlformats.org/officeDocument/2006/math">
                    <m:r>
                      <a:rPr lang="en-US" sz="2000" i="1" dirty="0" smtClean="0">
                        <a:solidFill>
                          <a:srgbClr val="008000"/>
                        </a:solidFill>
                        <a:latin typeface="Cambria Math" panose="02040503050406030204" pitchFamily="18" charset="0"/>
                        <a:cs typeface="Arial" pitchFamily="34" charset="0"/>
                      </a:rPr>
                      <m:t>𝑓</m:t>
                    </m:r>
                  </m:oMath>
                </a14:m>
                <a:endParaRPr lang="en-US" sz="2000" dirty="0">
                  <a:solidFill>
                    <a:srgbClr val="008000"/>
                  </a:solidFill>
                  <a:latin typeface="Calibri" panose="020F0502020204030204" pitchFamily="34" charset="0"/>
                  <a:cs typeface="Calibri" panose="020F0502020204030204" pitchFamily="34" charset="0"/>
                </a:endParaRPr>
              </a:p>
              <a:p>
                <a14:m>
                  <m:oMath xmlns:m="http://schemas.openxmlformats.org/officeDocument/2006/math">
                    <m:r>
                      <a:rPr lang="en-US" sz="2000" b="0" i="1" smtClean="0">
                        <a:solidFill>
                          <a:srgbClr val="008000"/>
                        </a:solidFill>
                        <a:latin typeface="Cambria Math" panose="02040503050406030204" pitchFamily="18" charset="0"/>
                        <a:cs typeface="Arial" pitchFamily="34" charset="0"/>
                      </a:rPr>
                      <m:t>𝛾</m:t>
                    </m:r>
                  </m:oMath>
                </a14:m>
                <a:r>
                  <a:rPr lang="en-US" sz="2000" dirty="0">
                    <a:solidFill>
                      <a:srgbClr val="008000"/>
                    </a:solidFill>
                    <a:latin typeface="Calibri" panose="020F0502020204030204" pitchFamily="34" charset="0"/>
                    <a:cs typeface="Calibri" panose="020F0502020204030204" pitchFamily="34" charset="0"/>
                  </a:rPr>
                  <a:t>… cost adding a leaf to the tree </a:t>
                </a:r>
                <a14:m>
                  <m:oMath xmlns:m="http://schemas.openxmlformats.org/officeDocument/2006/math">
                    <m:r>
                      <a:rPr lang="en-US" sz="2000" i="1" dirty="0">
                        <a:solidFill>
                          <a:srgbClr val="008000"/>
                        </a:solidFill>
                        <a:latin typeface="Cambria Math" panose="02040503050406030204" pitchFamily="18" charset="0"/>
                        <a:cs typeface="Arial" pitchFamily="34" charset="0"/>
                      </a:rPr>
                      <m:t>𝑓</m:t>
                    </m:r>
                  </m:oMath>
                </a14:m>
                <a:endParaRPr lang="en-US" sz="2000" dirty="0">
                  <a:solidFill>
                    <a:srgbClr val="008000"/>
                  </a:solidFill>
                  <a:latin typeface="Calibri" panose="020F0502020204030204" pitchFamily="34" charset="0"/>
                  <a:cs typeface="Calibri" panose="020F0502020204030204" pitchFamily="34" charset="0"/>
                </a:endParaRPr>
              </a:p>
            </p:txBody>
          </p:sp>
        </mc:Choice>
        <mc:Fallback xmlns="">
          <p:sp>
            <p:nvSpPr>
              <p:cNvPr id="10" name="TextBox 9">
                <a:extLst>
                  <a:ext uri="{FF2B5EF4-FFF2-40B4-BE49-F238E27FC236}">
                    <a16:creationId xmlns:a16="http://schemas.microsoft.com/office/drawing/2014/main" id="{C02F52D5-A19C-A363-795B-B3979BF17675}"/>
                  </a:ext>
                </a:extLst>
              </p:cNvPr>
              <p:cNvSpPr txBox="1">
                <a:spLocks noRot="1" noChangeAspect="1" noMove="1" noResize="1" noEditPoints="1" noAdjustHandles="1" noChangeArrowheads="1" noChangeShapeType="1" noTextEdit="1"/>
              </p:cNvSpPr>
              <p:nvPr/>
            </p:nvSpPr>
            <p:spPr>
              <a:xfrm>
                <a:off x="663080" y="5610587"/>
                <a:ext cx="3754939" cy="707886"/>
              </a:xfrm>
              <a:prstGeom prst="rect">
                <a:avLst/>
              </a:prstGeom>
              <a:blipFill>
                <a:blip r:embed="rId4"/>
                <a:stretch>
                  <a:fillRect l="-1689" t="-3509" b="-14035"/>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F74E7808-CA80-674E-5F17-3724C87874FE}"/>
              </a:ext>
            </a:extLst>
          </p:cNvPr>
          <p:cNvGrpSpPr/>
          <p:nvPr/>
        </p:nvGrpSpPr>
        <p:grpSpPr>
          <a:xfrm>
            <a:off x="6804846" y="4384200"/>
            <a:ext cx="2133414" cy="1330498"/>
            <a:chOff x="1213481" y="2438400"/>
            <a:chExt cx="1758319" cy="990600"/>
          </a:xfrm>
        </p:grpSpPr>
        <p:sp>
          <p:nvSpPr>
            <p:cNvPr id="12" name="Oval 11">
              <a:extLst>
                <a:ext uri="{FF2B5EF4-FFF2-40B4-BE49-F238E27FC236}">
                  <a16:creationId xmlns:a16="http://schemas.microsoft.com/office/drawing/2014/main" id="{26B04D93-CEF3-3B5D-2EC5-1593750416E8}"/>
                </a:ext>
              </a:extLst>
            </p:cNvPr>
            <p:cNvSpPr/>
            <p:nvPr/>
          </p:nvSpPr>
          <p:spPr>
            <a:xfrm>
              <a:off x="1600907" y="2438400"/>
              <a:ext cx="182880" cy="149772"/>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a:t>A</a:t>
              </a:r>
            </a:p>
          </p:txBody>
        </p:sp>
        <p:sp>
          <p:nvSpPr>
            <p:cNvPr id="13" name="Oval 12">
              <a:extLst>
                <a:ext uri="{FF2B5EF4-FFF2-40B4-BE49-F238E27FC236}">
                  <a16:creationId xmlns:a16="http://schemas.microsoft.com/office/drawing/2014/main" id="{687D0C1A-0EDE-9FFC-BDA7-BEAB4D97C815}"/>
                </a:ext>
              </a:extLst>
            </p:cNvPr>
            <p:cNvSpPr/>
            <p:nvPr/>
          </p:nvSpPr>
          <p:spPr>
            <a:xfrm>
              <a:off x="1235147" y="2712983"/>
              <a:ext cx="182880" cy="149772"/>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a:t>B</a:t>
              </a:r>
            </a:p>
          </p:txBody>
        </p:sp>
        <p:cxnSp>
          <p:nvCxnSpPr>
            <p:cNvPr id="14" name="Straight Arrow Connector 13">
              <a:extLst>
                <a:ext uri="{FF2B5EF4-FFF2-40B4-BE49-F238E27FC236}">
                  <a16:creationId xmlns:a16="http://schemas.microsoft.com/office/drawing/2014/main" id="{3B9C69DA-393C-02DE-E499-BFFECB5E7BC7}"/>
                </a:ext>
              </a:extLst>
            </p:cNvPr>
            <p:cNvCxnSpPr/>
            <p:nvPr/>
          </p:nvCxnSpPr>
          <p:spPr>
            <a:xfrm rot="5400000">
              <a:off x="1425129" y="2532356"/>
              <a:ext cx="168677" cy="236444"/>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AE741A4A-893D-9F5D-2F47-40088148AE4E}"/>
                </a:ext>
              </a:extLst>
            </p:cNvPr>
            <p:cNvCxnSpPr/>
            <p:nvPr/>
          </p:nvCxnSpPr>
          <p:spPr>
            <a:xfrm rot="16200000" flipH="1">
              <a:off x="1790889" y="2532356"/>
              <a:ext cx="168677" cy="236444"/>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6" name="Oval 15">
              <a:extLst>
                <a:ext uri="{FF2B5EF4-FFF2-40B4-BE49-F238E27FC236}">
                  <a16:creationId xmlns:a16="http://schemas.microsoft.com/office/drawing/2014/main" id="{C99176CE-8083-1F64-AA84-4A12C10FF8B9}"/>
                </a:ext>
              </a:extLst>
            </p:cNvPr>
            <p:cNvSpPr/>
            <p:nvPr/>
          </p:nvSpPr>
          <p:spPr>
            <a:xfrm>
              <a:off x="1966667" y="2712983"/>
              <a:ext cx="182880" cy="149772"/>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a:t>C</a:t>
              </a:r>
            </a:p>
          </p:txBody>
        </p:sp>
        <p:sp>
          <p:nvSpPr>
            <p:cNvPr id="17" name="Oval 16">
              <a:extLst>
                <a:ext uri="{FF2B5EF4-FFF2-40B4-BE49-F238E27FC236}">
                  <a16:creationId xmlns:a16="http://schemas.microsoft.com/office/drawing/2014/main" id="{CA55C0AC-1C24-1C6E-21F7-56C3539395AD}"/>
                </a:ext>
              </a:extLst>
            </p:cNvPr>
            <p:cNvSpPr/>
            <p:nvPr/>
          </p:nvSpPr>
          <p:spPr>
            <a:xfrm>
              <a:off x="1509467" y="2987566"/>
              <a:ext cx="182880" cy="149772"/>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a:t>D</a:t>
              </a:r>
            </a:p>
          </p:txBody>
        </p:sp>
        <p:sp>
          <p:nvSpPr>
            <p:cNvPr id="18" name="Oval 17">
              <a:extLst>
                <a:ext uri="{FF2B5EF4-FFF2-40B4-BE49-F238E27FC236}">
                  <a16:creationId xmlns:a16="http://schemas.microsoft.com/office/drawing/2014/main" id="{5B7B1F1A-BF81-FA37-407F-EE03D7AACEA7}"/>
                </a:ext>
              </a:extLst>
            </p:cNvPr>
            <p:cNvSpPr/>
            <p:nvPr/>
          </p:nvSpPr>
          <p:spPr>
            <a:xfrm>
              <a:off x="2515307" y="2987566"/>
              <a:ext cx="182880" cy="149772"/>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a:t>E</a:t>
              </a:r>
            </a:p>
          </p:txBody>
        </p:sp>
        <p:cxnSp>
          <p:nvCxnSpPr>
            <p:cNvPr id="20" name="Straight Arrow Connector 19">
              <a:extLst>
                <a:ext uri="{FF2B5EF4-FFF2-40B4-BE49-F238E27FC236}">
                  <a16:creationId xmlns:a16="http://schemas.microsoft.com/office/drawing/2014/main" id="{0E06CCAC-4AE2-7152-B293-8B105C4BBEC2}"/>
                </a:ext>
              </a:extLst>
            </p:cNvPr>
            <p:cNvCxnSpPr/>
            <p:nvPr/>
          </p:nvCxnSpPr>
          <p:spPr>
            <a:xfrm rot="5400000">
              <a:off x="1745169" y="2761218"/>
              <a:ext cx="168677" cy="327884"/>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8B5FEB0-F976-9D30-210F-CE2777DDE07F}"/>
                </a:ext>
              </a:extLst>
            </p:cNvPr>
            <p:cNvCxnSpPr/>
            <p:nvPr/>
          </p:nvCxnSpPr>
          <p:spPr>
            <a:xfrm rot="16200000" flipH="1">
              <a:off x="2248088" y="2715499"/>
              <a:ext cx="168677" cy="419324"/>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FFCBE558-683C-4285-F1B6-7D8453E990F8}"/>
                </a:ext>
              </a:extLst>
            </p:cNvPr>
            <p:cNvCxnSpPr/>
            <p:nvPr/>
          </p:nvCxnSpPr>
          <p:spPr>
            <a:xfrm rot="5400000">
              <a:off x="1379409" y="3127241"/>
              <a:ext cx="168677" cy="145004"/>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2D4258C6-6208-924F-CEA3-41478F2EF226}"/>
                </a:ext>
              </a:extLst>
            </p:cNvPr>
            <p:cNvCxnSpPr/>
            <p:nvPr/>
          </p:nvCxnSpPr>
          <p:spPr>
            <a:xfrm rot="16200000" flipH="1">
              <a:off x="1668969" y="3112001"/>
              <a:ext cx="168677" cy="175484"/>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85164FE-270E-B371-CFF6-DB97280E0162}"/>
                </a:ext>
              </a:extLst>
            </p:cNvPr>
            <p:cNvCxnSpPr/>
            <p:nvPr/>
          </p:nvCxnSpPr>
          <p:spPr>
            <a:xfrm rot="5400000">
              <a:off x="2385248" y="3127241"/>
              <a:ext cx="168677" cy="145004"/>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5C1CE8BB-AE2E-8034-055E-A651E2AFE9AA}"/>
                </a:ext>
              </a:extLst>
            </p:cNvPr>
            <p:cNvCxnSpPr/>
            <p:nvPr/>
          </p:nvCxnSpPr>
          <p:spPr>
            <a:xfrm rot="16200000" flipH="1">
              <a:off x="2674808" y="3112001"/>
              <a:ext cx="168677" cy="175484"/>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26" name="Hexagon 25">
              <a:extLst>
                <a:ext uri="{FF2B5EF4-FFF2-40B4-BE49-F238E27FC236}">
                  <a16:creationId xmlns:a16="http://schemas.microsoft.com/office/drawing/2014/main" id="{0425503E-10EB-A61C-B089-85AE4FD30B3B}"/>
                </a:ext>
              </a:extLst>
            </p:cNvPr>
            <p:cNvSpPr/>
            <p:nvPr/>
          </p:nvSpPr>
          <p:spPr>
            <a:xfrm>
              <a:off x="1213481" y="2712983"/>
              <a:ext cx="213360" cy="149772"/>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endParaRPr lang="en-US" sz="1200"/>
            </a:p>
          </p:txBody>
        </p:sp>
        <p:sp>
          <p:nvSpPr>
            <p:cNvPr id="27" name="Hexagon 26">
              <a:extLst>
                <a:ext uri="{FF2B5EF4-FFF2-40B4-BE49-F238E27FC236}">
                  <a16:creationId xmlns:a16="http://schemas.microsoft.com/office/drawing/2014/main" id="{2F22DE01-017A-881A-8C76-3FA47DBCF3F1}"/>
                </a:ext>
              </a:extLst>
            </p:cNvPr>
            <p:cNvSpPr/>
            <p:nvPr/>
          </p:nvSpPr>
          <p:spPr>
            <a:xfrm>
              <a:off x="1295400" y="3279228"/>
              <a:ext cx="213360" cy="149772"/>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endParaRPr lang="en-US" sz="1200"/>
            </a:p>
          </p:txBody>
        </p:sp>
        <p:sp>
          <p:nvSpPr>
            <p:cNvPr id="28" name="Hexagon 27">
              <a:extLst>
                <a:ext uri="{FF2B5EF4-FFF2-40B4-BE49-F238E27FC236}">
                  <a16:creationId xmlns:a16="http://schemas.microsoft.com/office/drawing/2014/main" id="{AB4CD7C9-384F-18C9-3CCD-D0137122CC2F}"/>
                </a:ext>
              </a:extLst>
            </p:cNvPr>
            <p:cNvSpPr/>
            <p:nvPr/>
          </p:nvSpPr>
          <p:spPr>
            <a:xfrm>
              <a:off x="1767840" y="3279228"/>
              <a:ext cx="213360" cy="149772"/>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endParaRPr lang="en-US" sz="1200"/>
            </a:p>
          </p:txBody>
        </p:sp>
        <p:sp>
          <p:nvSpPr>
            <p:cNvPr id="29" name="Hexagon 28">
              <a:extLst>
                <a:ext uri="{FF2B5EF4-FFF2-40B4-BE49-F238E27FC236}">
                  <a16:creationId xmlns:a16="http://schemas.microsoft.com/office/drawing/2014/main" id="{80B1F860-C850-BEE2-BD6C-837BCEAAF3FC}"/>
                </a:ext>
              </a:extLst>
            </p:cNvPr>
            <p:cNvSpPr/>
            <p:nvPr/>
          </p:nvSpPr>
          <p:spPr>
            <a:xfrm>
              <a:off x="2301240" y="3276600"/>
              <a:ext cx="213360" cy="149772"/>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endParaRPr lang="en-US" sz="1200"/>
            </a:p>
          </p:txBody>
        </p:sp>
        <p:sp>
          <p:nvSpPr>
            <p:cNvPr id="30" name="Hexagon 29">
              <a:extLst>
                <a:ext uri="{FF2B5EF4-FFF2-40B4-BE49-F238E27FC236}">
                  <a16:creationId xmlns:a16="http://schemas.microsoft.com/office/drawing/2014/main" id="{EA08F07D-B30F-7771-3839-BEB63FD69C1B}"/>
                </a:ext>
              </a:extLst>
            </p:cNvPr>
            <p:cNvSpPr/>
            <p:nvPr/>
          </p:nvSpPr>
          <p:spPr>
            <a:xfrm>
              <a:off x="2758440" y="3276600"/>
              <a:ext cx="213360" cy="149772"/>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endParaRPr lang="en-US" sz="1200"/>
            </a:p>
          </p:txBody>
        </p: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34CD746-78AE-CA07-0C7C-954D6D516885}"/>
                  </a:ext>
                </a:extLst>
              </p:cNvPr>
              <p:cNvSpPr txBox="1"/>
              <p:nvPr/>
            </p:nvSpPr>
            <p:spPr>
              <a:xfrm>
                <a:off x="5079770" y="5874922"/>
                <a:ext cx="3161172" cy="395621"/>
              </a:xfrm>
              <a:prstGeom prst="rect">
                <a:avLst/>
              </a:prstGeom>
              <a:noFill/>
            </p:spPr>
            <p:txBody>
              <a:bodyPr wrap="square">
                <a:spAutoFit/>
              </a:bodyPr>
              <a:lstStyle/>
              <a:p>
                <a14:m>
                  <m:oMath xmlns:m="http://schemas.openxmlformats.org/officeDocument/2006/math">
                    <m:sSub>
                      <m:sSubPr>
                        <m:ctrlPr>
                          <a:rPr lang="en-US" sz="1800" b="1" i="1" dirty="0" smtClean="0">
                            <a:solidFill>
                              <a:srgbClr val="008000"/>
                            </a:solidFill>
                            <a:latin typeface="Cambria Math" panose="02040503050406030204" pitchFamily="18" charset="0"/>
                          </a:rPr>
                        </m:ctrlPr>
                      </m:sSubPr>
                      <m:e>
                        <m:r>
                          <a:rPr lang="en-US" sz="1800" b="1" i="1" dirty="0" smtClean="0">
                            <a:solidFill>
                              <a:srgbClr val="008000"/>
                            </a:solidFill>
                            <a:latin typeface="Cambria Math" panose="02040503050406030204" pitchFamily="18" charset="0"/>
                          </a:rPr>
                          <m:t>𝒘</m:t>
                        </m:r>
                      </m:e>
                      <m:sub>
                        <m:r>
                          <a:rPr lang="en-US" sz="1800" b="1" i="1" dirty="0" smtClean="0">
                            <a:solidFill>
                              <a:srgbClr val="008000"/>
                            </a:solidFill>
                            <a:latin typeface="Cambria Math" panose="02040503050406030204" pitchFamily="18" charset="0"/>
                          </a:rPr>
                          <m:t>𝒋</m:t>
                        </m:r>
                      </m:sub>
                    </m:sSub>
                    <m:r>
                      <a:rPr lang="en-US" sz="1800" b="1" i="0" dirty="0" smtClean="0">
                        <a:solidFill>
                          <a:srgbClr val="008000"/>
                        </a:solidFill>
                        <a:latin typeface="Cambria Math" panose="02040503050406030204" pitchFamily="18" charset="0"/>
                      </a:rPr>
                      <m:t> </m:t>
                    </m:r>
                  </m:oMath>
                </a14:m>
                <a:r>
                  <a:rPr lang="en-US" sz="1800" b="1" dirty="0">
                    <a:solidFill>
                      <a:srgbClr val="008000"/>
                    </a:solidFill>
                    <a:latin typeface="Calibri" panose="020F0502020204030204" pitchFamily="34" charset="0"/>
                    <a:cs typeface="Calibri" panose="020F0502020204030204" pitchFamily="34" charset="0"/>
                  </a:rPr>
                  <a:t>is output value of j-</a:t>
                </a:r>
                <a:r>
                  <a:rPr lang="en-US" sz="1800" b="1" dirty="0" err="1">
                    <a:solidFill>
                      <a:srgbClr val="008000"/>
                    </a:solidFill>
                    <a:latin typeface="Calibri" panose="020F0502020204030204" pitchFamily="34" charset="0"/>
                    <a:cs typeface="Calibri" panose="020F0502020204030204" pitchFamily="34" charset="0"/>
                  </a:rPr>
                  <a:t>th</a:t>
                </a:r>
                <a:r>
                  <a:rPr lang="en-US" sz="1800" b="1" dirty="0">
                    <a:solidFill>
                      <a:srgbClr val="008000"/>
                    </a:solidFill>
                    <a:latin typeface="Calibri" panose="020F0502020204030204" pitchFamily="34" charset="0"/>
                    <a:cs typeface="Calibri" panose="020F0502020204030204" pitchFamily="34" charset="0"/>
                  </a:rPr>
                  <a:t> leaf</a:t>
                </a:r>
              </a:p>
            </p:txBody>
          </p:sp>
        </mc:Choice>
        <mc:Fallback xmlns="">
          <p:sp>
            <p:nvSpPr>
              <p:cNvPr id="32" name="TextBox 31">
                <a:extLst>
                  <a:ext uri="{FF2B5EF4-FFF2-40B4-BE49-F238E27FC236}">
                    <a16:creationId xmlns:a16="http://schemas.microsoft.com/office/drawing/2014/main" id="{134CD746-78AE-CA07-0C7C-954D6D516885}"/>
                  </a:ext>
                </a:extLst>
              </p:cNvPr>
              <p:cNvSpPr txBox="1">
                <a:spLocks noRot="1" noChangeAspect="1" noMove="1" noResize="1" noEditPoints="1" noAdjustHandles="1" noChangeArrowheads="1" noChangeShapeType="1" noTextEdit="1"/>
              </p:cNvSpPr>
              <p:nvPr/>
            </p:nvSpPr>
            <p:spPr>
              <a:xfrm>
                <a:off x="5079770" y="5874922"/>
                <a:ext cx="3161172" cy="395621"/>
              </a:xfrm>
              <a:prstGeom prst="rect">
                <a:avLst/>
              </a:prstGeom>
              <a:blipFill>
                <a:blip r:embed="rId5"/>
                <a:stretch>
                  <a:fillRect t="-6250" b="-18750"/>
                </a:stretch>
              </a:blipFill>
            </p:spPr>
            <p:txBody>
              <a:bodyPr/>
              <a:lstStyle/>
              <a:p>
                <a:r>
                  <a:rPr lang="en-US">
                    <a:noFill/>
                  </a:rPr>
                  <a:t> </a:t>
                </a:r>
              </a:p>
            </p:txBody>
          </p:sp>
        </mc:Fallback>
      </mc:AlternateContent>
    </p:spTree>
    <p:extLst>
      <p:ext uri="{BB962C8B-B14F-4D97-AF65-F5344CB8AC3E}">
        <p14:creationId xmlns:p14="http://schemas.microsoft.com/office/powerpoint/2010/main" val="93219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3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BC20C-CFE2-4644-B525-B06F7922A5F4}"/>
              </a:ext>
            </a:extLst>
          </p:cNvPr>
          <p:cNvSpPr>
            <a:spLocks noGrp="1"/>
          </p:cNvSpPr>
          <p:nvPr>
            <p:ph type="title"/>
          </p:nvPr>
        </p:nvSpPr>
        <p:spPr/>
        <p:txBody>
          <a:bodyPr/>
          <a:lstStyle/>
          <a:p>
            <a:r>
              <a:rPr lang="en-US"/>
              <a:t>Revisiting the Objective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7C5A67-A835-134B-8511-D6DE865A32FE}"/>
                  </a:ext>
                </a:extLst>
              </p:cNvPr>
              <p:cNvSpPr>
                <a:spLocks noGrp="1"/>
              </p:cNvSpPr>
              <p:nvPr>
                <p:ph idx="1"/>
              </p:nvPr>
            </p:nvSpPr>
            <p:spPr>
              <a:xfrm>
                <a:off x="457199" y="1295400"/>
                <a:ext cx="8730343" cy="5562600"/>
              </a:xfrm>
            </p:spPr>
            <p:txBody>
              <a:bodyPr>
                <a:normAutofit fontScale="92500" lnSpcReduction="20000"/>
              </a:bodyPr>
              <a:lstStyle/>
              <a:p>
                <a:r>
                  <a:rPr lang="en-US" b="1" dirty="0">
                    <a:solidFill>
                      <a:srgbClr val="0000FF"/>
                    </a:solidFill>
                  </a:rPr>
                  <a:t>So our objective is:</a:t>
                </a:r>
              </a:p>
              <a:p>
                <a:pPr marL="118872" indent="0">
                  <a:buNone/>
                </a:pPr>
                <a:endParaRPr lang="en-US" b="1" dirty="0">
                  <a:solidFill>
                    <a:srgbClr val="0000FF"/>
                  </a:solidFill>
                </a:endParaRPr>
              </a:p>
              <a:p>
                <a:pPr marL="118872" indent="0">
                  <a:buNone/>
                </a:pPr>
                <a:endParaRPr lang="en-US" b="1" dirty="0">
                  <a:solidFill>
                    <a:srgbClr val="0000FF"/>
                  </a:solidFill>
                </a:endParaRPr>
              </a:p>
              <a:p>
                <a:pPr marL="118872" indent="0">
                  <a:buNone/>
                </a:pPr>
                <a:endParaRPr lang="en-US" b="1" dirty="0">
                  <a:solidFill>
                    <a:srgbClr val="0000FF"/>
                  </a:solidFill>
                </a:endParaRPr>
              </a:p>
              <a:p>
                <a:pPr marL="118872" indent="0">
                  <a:buNone/>
                </a:pPr>
                <a:endParaRPr lang="en-US" dirty="0"/>
              </a:p>
              <a:p>
                <a:endParaRPr lang="en-US" b="1" dirty="0">
                  <a:solidFill>
                    <a:srgbClr val="0000FF"/>
                  </a:solidFill>
                </a:endParaRPr>
              </a:p>
              <a:p>
                <a:r>
                  <a:rPr lang="en-US" b="1" dirty="0">
                    <a:solidFill>
                      <a:srgbClr val="0000FF"/>
                    </a:solidFill>
                  </a:rPr>
                  <a:t>We can re-write it by leaf</a:t>
                </a:r>
              </a:p>
              <a:p>
                <a:endParaRPr lang="en-US" dirty="0"/>
              </a:p>
              <a:p>
                <a:pPr lvl="2"/>
                <a:endParaRPr lang="en-US" dirty="0"/>
              </a:p>
              <a:p>
                <a:pPr lvl="6"/>
                <a:endParaRPr lang="en-US" dirty="0"/>
              </a:p>
              <a:p>
                <a:pPr lvl="8"/>
                <a:endParaRPr lang="en-US" dirty="0"/>
              </a:p>
              <a:p>
                <a:pPr lvl="1"/>
                <a:endParaRPr lang="en-US" dirty="0"/>
              </a:p>
              <a:p>
                <a:pPr lvl="1"/>
                <a:endParaRPr lang="en-US" dirty="0"/>
              </a:p>
              <a:p>
                <a:pPr lvl="1"/>
                <a:r>
                  <a:rPr lang="en-US" dirty="0"/>
                  <a:t>Notice this is a sum of </a:t>
                </a:r>
                <a14:m>
                  <m:oMath xmlns:m="http://schemas.openxmlformats.org/officeDocument/2006/math">
                    <m:r>
                      <a:rPr lang="en-US" i="1" dirty="0" smtClean="0">
                        <a:latin typeface="Cambria Math" panose="02040503050406030204" pitchFamily="18" charset="0"/>
                      </a:rPr>
                      <m:t>𝑇</m:t>
                    </m:r>
                  </m:oMath>
                </a14:m>
                <a:r>
                  <a:rPr lang="en-US" dirty="0"/>
                  <a:t> quadratic functions, </a:t>
                </a:r>
                <a:r>
                  <a:rPr lang="en-US" dirty="0">
                    <a:solidFill>
                      <a:srgbClr val="D60093"/>
                    </a:solidFill>
                  </a:rPr>
                  <a:t>each function is associated with a leaf node </a:t>
                </a:r>
                <a14:m>
                  <m:oMath xmlns:m="http://schemas.openxmlformats.org/officeDocument/2006/math">
                    <m:r>
                      <a:rPr lang="en-US" b="0" i="1" smtClean="0">
                        <a:solidFill>
                          <a:srgbClr val="D60093"/>
                        </a:solidFill>
                        <a:latin typeface="Cambria Math" panose="02040503050406030204" pitchFamily="18" charset="0"/>
                      </a:rPr>
                      <m:t>𝑗</m:t>
                    </m:r>
                  </m:oMath>
                </a14:m>
                <a:endParaRPr lang="en-US" dirty="0">
                  <a:solidFill>
                    <a:srgbClr val="D60093"/>
                  </a:solidFill>
                </a:endParaRPr>
              </a:p>
            </p:txBody>
          </p:sp>
        </mc:Choice>
        <mc:Fallback xmlns="">
          <p:sp>
            <p:nvSpPr>
              <p:cNvPr id="3" name="Content Placeholder 2">
                <a:extLst>
                  <a:ext uri="{FF2B5EF4-FFF2-40B4-BE49-F238E27FC236}">
                    <a16:creationId xmlns:a16="http://schemas.microsoft.com/office/drawing/2014/main" id="{627C5A67-A835-134B-8511-D6DE865A32FE}"/>
                  </a:ext>
                </a:extLst>
              </p:cNvPr>
              <p:cNvSpPr>
                <a:spLocks noGrp="1" noRot="1" noChangeAspect="1" noMove="1" noResize="1" noEditPoints="1" noAdjustHandles="1" noChangeArrowheads="1" noChangeShapeType="1" noTextEdit="1"/>
              </p:cNvSpPr>
              <p:nvPr>
                <p:ph idx="1"/>
              </p:nvPr>
            </p:nvSpPr>
            <p:spPr>
              <a:xfrm>
                <a:off x="457199" y="1295400"/>
                <a:ext cx="8730343" cy="5562600"/>
              </a:xfrm>
              <a:blipFill>
                <a:blip r:embed="rId2"/>
                <a:stretch>
                  <a:fillRect t="-1826" b="-45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89221FBB-B418-E24A-A4F0-FA169C86601C}"/>
              </a:ext>
            </a:extLst>
          </p:cNvPr>
          <p:cNvSpPr>
            <a:spLocks noGrp="1"/>
          </p:cNvSpPr>
          <p:nvPr>
            <p:ph type="dt" sz="half" idx="10"/>
          </p:nvPr>
        </p:nvSpPr>
        <p:spPr/>
        <p:txBody>
          <a:bodyPr/>
          <a:lstStyle/>
          <a:p>
            <a:fld id="{51CFA14A-F627-5B4F-85DC-5E405113D61E}" type="datetime1">
              <a:rPr lang="en-US" smtClean="0"/>
              <a:t>10/15/24</a:t>
            </a:fld>
            <a:endParaRPr lang="en-US"/>
          </a:p>
        </p:txBody>
      </p:sp>
      <p:sp>
        <p:nvSpPr>
          <p:cNvPr id="5" name="Footer Placeholder 4">
            <a:extLst>
              <a:ext uri="{FF2B5EF4-FFF2-40B4-BE49-F238E27FC236}">
                <a16:creationId xmlns:a16="http://schemas.microsoft.com/office/drawing/2014/main" id="{BE9D0B57-185A-1441-A614-78A5BBB87791}"/>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DC3A84C2-A48C-354D-8442-943DDB1B9680}"/>
              </a:ext>
            </a:extLst>
          </p:cNvPr>
          <p:cNvSpPr>
            <a:spLocks noGrp="1"/>
          </p:cNvSpPr>
          <p:nvPr>
            <p:ph type="sldNum" sz="quarter" idx="12"/>
          </p:nvPr>
        </p:nvSpPr>
        <p:spPr/>
        <p:txBody>
          <a:bodyPr/>
          <a:lstStyle/>
          <a:p>
            <a:fld id="{19B12225-5612-419B-A8D5-4B8EEE4C217E}" type="slidenum">
              <a:rPr lang="en-US" smtClean="0"/>
              <a:pPr/>
              <a:t>39</a:t>
            </a:fld>
            <a:endParaRPr lang="en-US"/>
          </a:p>
        </p:txBody>
      </p:sp>
      <p:pic>
        <p:nvPicPr>
          <p:cNvPr id="13" name="Picture 12">
            <a:extLst>
              <a:ext uri="{FF2B5EF4-FFF2-40B4-BE49-F238E27FC236}">
                <a16:creationId xmlns:a16="http://schemas.microsoft.com/office/drawing/2014/main" id="{3CFCB096-B774-089D-3A1A-D7E64B5A94ED}"/>
              </a:ext>
            </a:extLst>
          </p:cNvPr>
          <p:cNvPicPr>
            <a:picLocks noChangeAspect="1"/>
          </p:cNvPicPr>
          <p:nvPr/>
        </p:nvPicPr>
        <p:blipFill>
          <a:blip r:embed="rId3"/>
          <a:stretch>
            <a:fillRect/>
          </a:stretch>
        </p:blipFill>
        <p:spPr>
          <a:xfrm>
            <a:off x="936170" y="1884750"/>
            <a:ext cx="7772400" cy="11417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6" name="Group 15">
            <a:extLst>
              <a:ext uri="{FF2B5EF4-FFF2-40B4-BE49-F238E27FC236}">
                <a16:creationId xmlns:a16="http://schemas.microsoft.com/office/drawing/2014/main" id="{E78AB006-F8DF-CF9C-F0EF-F25782F9B4F9}"/>
              </a:ext>
            </a:extLst>
          </p:cNvPr>
          <p:cNvGrpSpPr/>
          <p:nvPr/>
        </p:nvGrpSpPr>
        <p:grpSpPr>
          <a:xfrm>
            <a:off x="3267389" y="3956233"/>
            <a:ext cx="5784352" cy="611265"/>
            <a:chOff x="3267389" y="3956233"/>
            <a:chExt cx="5784352" cy="611265"/>
          </a:xfrm>
        </p:grpSpPr>
        <p:pic>
          <p:nvPicPr>
            <p:cNvPr id="17" name="Picture 16">
              <a:extLst>
                <a:ext uri="{FF2B5EF4-FFF2-40B4-BE49-F238E27FC236}">
                  <a16:creationId xmlns:a16="http://schemas.microsoft.com/office/drawing/2014/main" id="{59A8B90B-AD71-D24D-FEB8-CEDE1A2D8D1E}"/>
                </a:ext>
              </a:extLst>
            </p:cNvPr>
            <p:cNvPicPr>
              <a:picLocks noChangeAspect="1"/>
            </p:cNvPicPr>
            <p:nvPr/>
          </p:nvPicPr>
          <p:blipFill>
            <a:blip r:embed="rId4"/>
            <a:stretch>
              <a:fillRect/>
            </a:stretch>
          </p:blipFill>
          <p:spPr>
            <a:xfrm>
              <a:off x="3267389" y="4076700"/>
              <a:ext cx="2811864" cy="490798"/>
            </a:xfrm>
            <a:prstGeom prst="rect">
              <a:avLst/>
            </a:prstGeom>
          </p:spPr>
        </p:pic>
        <p:sp>
          <p:nvSpPr>
            <p:cNvPr id="18" name="TextBox 17">
              <a:extLst>
                <a:ext uri="{FF2B5EF4-FFF2-40B4-BE49-F238E27FC236}">
                  <a16:creationId xmlns:a16="http://schemas.microsoft.com/office/drawing/2014/main" id="{01F581E7-6E67-1E65-8675-DFC608F2D54C}"/>
                </a:ext>
              </a:extLst>
            </p:cNvPr>
            <p:cNvSpPr txBox="1"/>
            <p:nvPr/>
          </p:nvSpPr>
          <p:spPr>
            <a:xfrm flipH="1">
              <a:off x="6541684" y="3956233"/>
              <a:ext cx="2510057" cy="584775"/>
            </a:xfrm>
            <a:prstGeom prst="rect">
              <a:avLst/>
            </a:prstGeom>
            <a:noFill/>
          </p:spPr>
          <p:txBody>
            <a:bodyPr wrap="square" rtlCol="0">
              <a:spAutoFit/>
            </a:bodyPr>
            <a:lstStyle/>
            <a:p>
              <a:r>
                <a:rPr lang="en-US" sz="1600" i="1" dirty="0">
                  <a:solidFill>
                    <a:srgbClr val="008000"/>
                  </a:solidFill>
                  <a:latin typeface="Arial" pitchFamily="34" charset="0"/>
                  <a:cs typeface="Arial" pitchFamily="34" charset="0"/>
                </a:rPr>
                <a:t>q(x)</a:t>
              </a:r>
              <a:r>
                <a:rPr lang="en-US" sz="1600" dirty="0">
                  <a:solidFill>
                    <a:srgbClr val="008000"/>
                  </a:solidFill>
                  <a:latin typeface="Arial" pitchFamily="34" charset="0"/>
                  <a:cs typeface="Arial" pitchFamily="34" charset="0"/>
                </a:rPr>
                <a:t> denotes the leaf that data point </a:t>
              </a:r>
              <a:r>
                <a:rPr lang="en-US" sz="1600" i="1" dirty="0">
                  <a:solidFill>
                    <a:srgbClr val="008000"/>
                  </a:solidFill>
                  <a:latin typeface="Arial" pitchFamily="34" charset="0"/>
                  <a:cs typeface="Arial" pitchFamily="34" charset="0"/>
                </a:rPr>
                <a:t>x </a:t>
              </a:r>
              <a:r>
                <a:rPr lang="en-US" sz="1600" dirty="0">
                  <a:solidFill>
                    <a:srgbClr val="008000"/>
                  </a:solidFill>
                  <a:latin typeface="Arial" pitchFamily="34" charset="0"/>
                  <a:cs typeface="Arial" pitchFamily="34" charset="0"/>
                </a:rPr>
                <a:t>belongs to</a:t>
              </a:r>
            </a:p>
          </p:txBody>
        </p:sp>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15DABBF-4171-6EA5-2315-E0AA2415B708}"/>
                  </a:ext>
                </a:extLst>
              </p:cNvPr>
              <p:cNvSpPr txBox="1"/>
              <p:nvPr/>
            </p:nvSpPr>
            <p:spPr>
              <a:xfrm flipH="1">
                <a:off x="757331" y="3982723"/>
                <a:ext cx="2510057" cy="584775"/>
              </a:xfrm>
              <a:prstGeom prst="rect">
                <a:avLst/>
              </a:prstGeom>
              <a:noFill/>
            </p:spPr>
            <p:txBody>
              <a:bodyPr wrap="square" rtlCol="0">
                <a:spAutoFit/>
              </a:bodyPr>
              <a:lstStyle/>
              <a:p>
                <a14:m>
                  <m:oMath xmlns:m="http://schemas.openxmlformats.org/officeDocument/2006/math">
                    <m:r>
                      <a:rPr lang="en-US" sz="1600" b="0" i="1" smtClean="0">
                        <a:solidFill>
                          <a:srgbClr val="008000"/>
                        </a:solidFill>
                        <a:latin typeface="Cambria Math" panose="02040503050406030204" pitchFamily="18" charset="0"/>
                        <a:cs typeface="Arial" pitchFamily="34" charset="0"/>
                      </a:rPr>
                      <m:t>𝐼</m:t>
                    </m:r>
                    <m:r>
                      <a:rPr lang="en-US" sz="1600" b="0" i="1" baseline="-25000" smtClean="0">
                        <a:solidFill>
                          <a:srgbClr val="008000"/>
                        </a:solidFill>
                        <a:latin typeface="Cambria Math" panose="02040503050406030204" pitchFamily="18" charset="0"/>
                        <a:cs typeface="Arial" pitchFamily="34" charset="0"/>
                      </a:rPr>
                      <m:t>𝑗</m:t>
                    </m:r>
                  </m:oMath>
                </a14:m>
                <a:r>
                  <a:rPr lang="en-US" sz="1600" dirty="0">
                    <a:solidFill>
                      <a:srgbClr val="008000"/>
                    </a:solidFill>
                    <a:latin typeface="Arial" panose="020B0604020202020204" pitchFamily="34" charset="0"/>
                    <a:cs typeface="Arial" panose="020B0604020202020204" pitchFamily="34" charset="0"/>
                  </a:rPr>
                  <a:t> contains index of data points that are in leaf j</a:t>
                </a:r>
                <a:endParaRPr lang="en-US" sz="1600" baseline="-25000" dirty="0">
                  <a:solidFill>
                    <a:srgbClr val="008000"/>
                  </a:solidFill>
                  <a:latin typeface="Arial" panose="020B0604020202020204" pitchFamily="34" charset="0"/>
                  <a:cs typeface="Arial" panose="020B0604020202020204" pitchFamily="34" charset="0"/>
                </a:endParaRPr>
              </a:p>
            </p:txBody>
          </p:sp>
        </mc:Choice>
        <mc:Fallback xmlns="">
          <p:sp>
            <p:nvSpPr>
              <p:cNvPr id="19" name="TextBox 18">
                <a:extLst>
                  <a:ext uri="{FF2B5EF4-FFF2-40B4-BE49-F238E27FC236}">
                    <a16:creationId xmlns:a16="http://schemas.microsoft.com/office/drawing/2014/main" id="{515DABBF-4171-6EA5-2315-E0AA2415B708}"/>
                  </a:ext>
                </a:extLst>
              </p:cNvPr>
              <p:cNvSpPr txBox="1">
                <a:spLocks noRot="1" noChangeAspect="1" noMove="1" noResize="1" noEditPoints="1" noAdjustHandles="1" noChangeArrowheads="1" noChangeShapeType="1" noTextEdit="1"/>
              </p:cNvSpPr>
              <p:nvPr/>
            </p:nvSpPr>
            <p:spPr>
              <a:xfrm flipH="1">
                <a:off x="757331" y="3982723"/>
                <a:ext cx="2510057" cy="584775"/>
              </a:xfrm>
              <a:prstGeom prst="rect">
                <a:avLst/>
              </a:prstGeom>
              <a:blipFill>
                <a:blip r:embed="rId5"/>
                <a:stretch>
                  <a:fillRect l="-1005" t="-2128" b="-12766"/>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26087D4D-E1C4-5B6A-3535-E0873FCDA1E7}"/>
              </a:ext>
            </a:extLst>
          </p:cNvPr>
          <p:cNvGrpSpPr/>
          <p:nvPr/>
        </p:nvGrpSpPr>
        <p:grpSpPr>
          <a:xfrm>
            <a:off x="914400" y="4830326"/>
            <a:ext cx="7772400" cy="1070195"/>
            <a:chOff x="914400" y="4830326"/>
            <a:chExt cx="7772400" cy="1070195"/>
          </a:xfrm>
        </p:grpSpPr>
        <p:pic>
          <p:nvPicPr>
            <p:cNvPr id="15" name="Picture 14">
              <a:extLst>
                <a:ext uri="{FF2B5EF4-FFF2-40B4-BE49-F238E27FC236}">
                  <a16:creationId xmlns:a16="http://schemas.microsoft.com/office/drawing/2014/main" id="{A48D9DC8-9CBD-491C-68BA-0EFC54D821FC}"/>
                </a:ext>
              </a:extLst>
            </p:cNvPr>
            <p:cNvPicPr>
              <a:picLocks noChangeAspect="1"/>
            </p:cNvPicPr>
            <p:nvPr/>
          </p:nvPicPr>
          <p:blipFill>
            <a:blip r:embed="rId6"/>
            <a:stretch>
              <a:fillRect/>
            </a:stretch>
          </p:blipFill>
          <p:spPr>
            <a:xfrm>
              <a:off x="914400" y="4830326"/>
              <a:ext cx="7772400" cy="10265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8D13759-2C8B-80A1-4CEB-185CF08A1D16}"/>
                    </a:ext>
                  </a:extLst>
                </p:cNvPr>
                <p:cNvSpPr txBox="1"/>
                <p:nvPr/>
              </p:nvSpPr>
              <p:spPr>
                <a:xfrm>
                  <a:off x="3740656" y="5592744"/>
                  <a:ext cx="2640254" cy="307777"/>
                </a:xfrm>
                <a:prstGeom prst="rect">
                  <a:avLst/>
                </a:prstGeom>
                <a:solidFill>
                  <a:schemeClr val="bg1"/>
                </a:solidFill>
              </p:spPr>
              <p:txBody>
                <a:bodyPr wrap="square" rtlCol="0">
                  <a:spAutoFit/>
                </a:bodyPr>
                <a:lstStyle/>
                <a:p>
                  <a:r>
                    <a:rPr lang="en-US" sz="1400" dirty="0">
                      <a:solidFill>
                        <a:srgbClr val="008000"/>
                      </a:solidFill>
                      <a:latin typeface="Arial" pitchFamily="34" charset="0"/>
                      <a:cs typeface="Arial" pitchFamily="34" charset="0"/>
                    </a:rPr>
                    <a:t>Associated with leaf node </a:t>
                  </a:r>
                  <a14:m>
                    <m:oMath xmlns:m="http://schemas.openxmlformats.org/officeDocument/2006/math">
                      <m:r>
                        <a:rPr lang="en-US" sz="1400" b="0" i="1" smtClean="0">
                          <a:solidFill>
                            <a:srgbClr val="008000"/>
                          </a:solidFill>
                          <a:latin typeface="Cambria Math" panose="02040503050406030204" pitchFamily="18" charset="0"/>
                          <a:cs typeface="Arial" pitchFamily="34" charset="0"/>
                        </a:rPr>
                        <m:t>𝑗</m:t>
                      </m:r>
                    </m:oMath>
                  </a14:m>
                  <a:endParaRPr lang="en-US" sz="1400" dirty="0">
                    <a:solidFill>
                      <a:srgbClr val="008000"/>
                    </a:solidFill>
                    <a:latin typeface="Arial" pitchFamily="34" charset="0"/>
                    <a:cs typeface="Arial" pitchFamily="34" charset="0"/>
                  </a:endParaRPr>
                </a:p>
              </p:txBody>
            </p:sp>
          </mc:Choice>
          <mc:Fallback xmlns="">
            <p:sp>
              <p:nvSpPr>
                <p:cNvPr id="20" name="TextBox 19">
                  <a:extLst>
                    <a:ext uri="{FF2B5EF4-FFF2-40B4-BE49-F238E27FC236}">
                      <a16:creationId xmlns:a16="http://schemas.microsoft.com/office/drawing/2014/main" id="{48D13759-2C8B-80A1-4CEB-185CF08A1D16}"/>
                    </a:ext>
                  </a:extLst>
                </p:cNvPr>
                <p:cNvSpPr txBox="1">
                  <a:spLocks noRot="1" noChangeAspect="1" noMove="1" noResize="1" noEditPoints="1" noAdjustHandles="1" noChangeArrowheads="1" noChangeShapeType="1" noTextEdit="1"/>
                </p:cNvSpPr>
                <p:nvPr/>
              </p:nvSpPr>
              <p:spPr>
                <a:xfrm>
                  <a:off x="3740656" y="5592744"/>
                  <a:ext cx="2640254" cy="307777"/>
                </a:xfrm>
                <a:prstGeom prst="rect">
                  <a:avLst/>
                </a:prstGeom>
                <a:blipFill>
                  <a:blip r:embed="rId7"/>
                  <a:stretch>
                    <a:fillRect l="-957" t="-4000" b="-20000"/>
                  </a:stretch>
                </a:blipFill>
              </p:spPr>
              <p:txBody>
                <a:bodyPr/>
                <a:lstStyle/>
                <a:p>
                  <a:r>
                    <a:rPr lang="en-US">
                      <a:noFill/>
                    </a:rPr>
                    <a:t> </a:t>
                  </a:r>
                </a:p>
              </p:txBody>
            </p:sp>
          </mc:Fallback>
        </mc:AlternateContent>
      </p:grpSp>
    </p:spTree>
    <p:extLst>
      <p:ext uri="{BB962C8B-B14F-4D97-AF65-F5344CB8AC3E}">
        <p14:creationId xmlns:p14="http://schemas.microsoft.com/office/powerpoint/2010/main" val="1567508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84B794A-5CF0-574E-B730-D58868EF6ADA}"/>
                  </a:ext>
                </a:extLst>
              </p:cNvPr>
              <p:cNvSpPr>
                <a:spLocks noGrp="1"/>
              </p:cNvSpPr>
              <p:nvPr>
                <p:ph type="title"/>
              </p:nvPr>
            </p:nvSpPr>
            <p:spPr/>
            <p:txBody>
              <a:bodyPr>
                <a:normAutofit/>
              </a:bodyPr>
              <a:lstStyle/>
              <a:p>
                <a:r>
                  <a:rPr lang="en-US"/>
                  <a:t>Finding the Optimal </a:t>
                </a:r>
                <a14:m>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𝒘</m:t>
                        </m:r>
                      </m:e>
                      <m:sub>
                        <m:r>
                          <a:rPr lang="en-US" b="1" i="1" smtClean="0">
                            <a:latin typeface="Cambria Math" panose="02040503050406030204" pitchFamily="18" charset="0"/>
                          </a:rPr>
                          <m:t>𝒋</m:t>
                        </m:r>
                      </m:sub>
                      <m:sup>
                        <m:r>
                          <a:rPr lang="en-US" b="1" i="1" smtClean="0">
                            <a:latin typeface="Cambria Math" panose="02040503050406030204" pitchFamily="18" charset="0"/>
                          </a:rPr>
                          <m:t>∗</m:t>
                        </m:r>
                      </m:sup>
                    </m:sSubSup>
                  </m:oMath>
                </a14:m>
                <a:endParaRPr lang="en-US"/>
              </a:p>
            </p:txBody>
          </p:sp>
        </mc:Choice>
        <mc:Fallback xmlns="">
          <p:sp>
            <p:nvSpPr>
              <p:cNvPr id="2" name="Title 1">
                <a:extLst>
                  <a:ext uri="{FF2B5EF4-FFF2-40B4-BE49-F238E27FC236}">
                    <a16:creationId xmlns:a16="http://schemas.microsoft.com/office/drawing/2014/main" id="{984B794A-5CF0-574E-B730-D58868EF6ADA}"/>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A14E0E6-CB85-A54C-9E30-9566DD2D5558}"/>
              </a:ext>
            </a:extLst>
          </p:cNvPr>
          <p:cNvSpPr>
            <a:spLocks noGrp="1"/>
          </p:cNvSpPr>
          <p:nvPr>
            <p:ph type="dt" sz="half" idx="10"/>
          </p:nvPr>
        </p:nvSpPr>
        <p:spPr/>
        <p:txBody>
          <a:bodyPr/>
          <a:lstStyle/>
          <a:p>
            <a:fld id="{851F4611-DB94-A14C-96A2-B1663DA8C9E5}" type="datetime1">
              <a:rPr lang="en-US" smtClean="0"/>
              <a:t>10/15/24</a:t>
            </a:fld>
            <a:endParaRPr lang="en-US"/>
          </a:p>
        </p:txBody>
      </p:sp>
      <p:sp>
        <p:nvSpPr>
          <p:cNvPr id="5" name="Footer Placeholder 4">
            <a:extLst>
              <a:ext uri="{FF2B5EF4-FFF2-40B4-BE49-F238E27FC236}">
                <a16:creationId xmlns:a16="http://schemas.microsoft.com/office/drawing/2014/main" id="{964DF2C8-3F0A-674A-B330-320A35617E5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F5BC9FDF-37B6-EB4E-9B70-1A7D511DEF5C}"/>
              </a:ext>
            </a:extLst>
          </p:cNvPr>
          <p:cNvSpPr>
            <a:spLocks noGrp="1"/>
          </p:cNvSpPr>
          <p:nvPr>
            <p:ph type="sldNum" sz="quarter" idx="12"/>
          </p:nvPr>
        </p:nvSpPr>
        <p:spPr/>
        <p:txBody>
          <a:bodyPr/>
          <a:lstStyle/>
          <a:p>
            <a:fld id="{19B12225-5612-419B-A8D5-4B8EEE4C217E}" type="slidenum">
              <a:rPr lang="en-US" smtClean="0"/>
              <a:pPr/>
              <a:t>40</a:t>
            </a:fld>
            <a:endParaRPr lang="en-US"/>
          </a:p>
        </p:txBody>
      </p:sp>
      <p:sp>
        <p:nvSpPr>
          <p:cNvPr id="3" name="Content Placeholder 2">
            <a:extLst>
              <a:ext uri="{FF2B5EF4-FFF2-40B4-BE49-F238E27FC236}">
                <a16:creationId xmlns:a16="http://schemas.microsoft.com/office/drawing/2014/main" id="{89B300B9-A11C-FC43-81EE-A4DF0B438686}"/>
              </a:ext>
            </a:extLst>
          </p:cNvPr>
          <p:cNvSpPr>
            <a:spLocks noGrp="1"/>
          </p:cNvSpPr>
          <p:nvPr>
            <p:ph idx="1"/>
          </p:nvPr>
        </p:nvSpPr>
        <p:spPr>
          <a:xfrm>
            <a:off x="457200" y="1295400"/>
            <a:ext cx="8686800" cy="5257801"/>
          </a:xfrm>
        </p:spPr>
        <p:txBody>
          <a:bodyPr>
            <a:normAutofit/>
          </a:bodyPr>
          <a:lstStyle/>
          <a:p>
            <a:pPr marL="118872" indent="0">
              <a:buNone/>
            </a:pPr>
            <a:r>
              <a:rPr lang="en-US" b="1" dirty="0">
                <a:solidFill>
                  <a:srgbClr val="D60093"/>
                </a:solidFill>
              </a:rPr>
              <a:t>Each quadratic function associated with leaf j:</a:t>
            </a:r>
          </a:p>
          <a:p>
            <a:pPr marL="118872" indent="0">
              <a:buNone/>
            </a:pPr>
            <a:endParaRPr lang="en-US" b="1" dirty="0">
              <a:solidFill>
                <a:srgbClr val="D60093"/>
              </a:solidFill>
            </a:endParaRPr>
          </a:p>
          <a:p>
            <a:pPr marL="118872" indent="0">
              <a:buNone/>
            </a:pPr>
            <a:endParaRPr lang="en-US" b="1" dirty="0">
              <a:solidFill>
                <a:srgbClr val="D60093"/>
              </a:solidFill>
            </a:endParaRPr>
          </a:p>
          <a:p>
            <a:pPr marL="118872" indent="0">
              <a:buNone/>
            </a:pPr>
            <a:endParaRPr lang="en-US" b="1" dirty="0">
              <a:solidFill>
                <a:srgbClr val="008000"/>
              </a:solidFill>
            </a:endParaRPr>
          </a:p>
          <a:p>
            <a:pPr marL="118872" indent="0">
              <a:buNone/>
            </a:pPr>
            <a:r>
              <a:rPr lang="en-US" b="1" dirty="0">
                <a:solidFill>
                  <a:srgbClr val="D60093"/>
                </a:solidFill>
              </a:rPr>
              <a:t>The minimizer is:</a:t>
            </a:r>
          </a:p>
          <a:p>
            <a:pPr marL="118872" indent="0">
              <a:buNone/>
            </a:pPr>
            <a:endParaRPr lang="en-US" b="1" dirty="0">
              <a:solidFill>
                <a:srgbClr val="D60093"/>
              </a:solidFill>
            </a:endParaRPr>
          </a:p>
          <a:p>
            <a:pPr marL="118872" indent="0">
              <a:buNone/>
            </a:pPr>
            <a:endParaRPr lang="en-US" b="1" dirty="0">
              <a:solidFill>
                <a:srgbClr val="D60093"/>
              </a:solidFill>
            </a:endParaRPr>
          </a:p>
          <a:p>
            <a:pPr marL="118872" indent="0">
              <a:buNone/>
            </a:pPr>
            <a:r>
              <a:rPr lang="en-US" b="1" dirty="0">
                <a:solidFill>
                  <a:srgbClr val="D60093"/>
                </a:solidFill>
              </a:rPr>
              <a:t>The minimum value of objective is:</a:t>
            </a:r>
          </a:p>
          <a:p>
            <a:pPr marL="118872" indent="0">
              <a:buNone/>
            </a:pPr>
            <a:endParaRPr lang="en-US" b="1" dirty="0">
              <a:solidFill>
                <a:srgbClr val="D60093"/>
              </a:solidFill>
            </a:endParaRPr>
          </a:p>
          <a:p>
            <a:pPr marL="118872" indent="0">
              <a:buNone/>
            </a:pPr>
            <a:r>
              <a:rPr lang="en-US" b="1" dirty="0">
                <a:solidFill>
                  <a:srgbClr val="D60093"/>
                </a:solidFill>
              </a:rPr>
              <a:t> </a:t>
            </a:r>
          </a:p>
        </p:txBody>
      </p:sp>
      <p:pic>
        <p:nvPicPr>
          <p:cNvPr id="7" name="Picture 6">
            <a:extLst>
              <a:ext uri="{FF2B5EF4-FFF2-40B4-BE49-F238E27FC236}">
                <a16:creationId xmlns:a16="http://schemas.microsoft.com/office/drawing/2014/main" id="{7C5F9DB5-8D5C-E5A5-0259-7A8C7AEF5398}"/>
              </a:ext>
            </a:extLst>
          </p:cNvPr>
          <p:cNvPicPr>
            <a:picLocks noChangeAspect="1"/>
          </p:cNvPicPr>
          <p:nvPr/>
        </p:nvPicPr>
        <p:blipFill>
          <a:blip r:embed="rId4"/>
          <a:stretch>
            <a:fillRect/>
          </a:stretch>
        </p:blipFill>
        <p:spPr>
          <a:xfrm>
            <a:off x="1435100" y="2037151"/>
            <a:ext cx="6273800" cy="711200"/>
          </a:xfrm>
          <a:prstGeom prst="rect">
            <a:avLst/>
          </a:prstGeom>
        </p:spPr>
      </p:pic>
      <p:cxnSp>
        <p:nvCxnSpPr>
          <p:cNvPr id="9" name="Straight Connector 8">
            <a:extLst>
              <a:ext uri="{FF2B5EF4-FFF2-40B4-BE49-F238E27FC236}">
                <a16:creationId xmlns:a16="http://schemas.microsoft.com/office/drawing/2014/main" id="{B312E681-9313-F6EA-CC5F-A45D4274A1EA}"/>
              </a:ext>
            </a:extLst>
          </p:cNvPr>
          <p:cNvCxnSpPr/>
          <p:nvPr/>
        </p:nvCxnSpPr>
        <p:spPr>
          <a:xfrm>
            <a:off x="1435100" y="2748351"/>
            <a:ext cx="1760276" cy="0"/>
          </a:xfrm>
          <a:prstGeom prst="line">
            <a:avLst/>
          </a:prstGeom>
          <a:ln w="28575">
            <a:solidFill>
              <a:srgbClr val="008000"/>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531872EE-CEB2-E5F8-1648-C0AAD138E52A}"/>
              </a:ext>
            </a:extLst>
          </p:cNvPr>
          <p:cNvCxnSpPr/>
          <p:nvPr/>
        </p:nvCxnSpPr>
        <p:spPr>
          <a:xfrm>
            <a:off x="4652248" y="2735080"/>
            <a:ext cx="1760276" cy="0"/>
          </a:xfrm>
          <a:prstGeom prst="line">
            <a:avLst/>
          </a:prstGeom>
          <a:ln w="28575">
            <a:solidFill>
              <a:srgbClr val="008000"/>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7D2FE6B-4AE3-8FEB-EACB-E1A48A7C4AD9}"/>
                  </a:ext>
                </a:extLst>
              </p:cNvPr>
              <p:cNvSpPr txBox="1"/>
              <p:nvPr/>
            </p:nvSpPr>
            <p:spPr>
              <a:xfrm>
                <a:off x="3195376" y="3778616"/>
                <a:ext cx="2295437" cy="858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800" i="1" smtClean="0">
                              <a:latin typeface="Cambria Math" panose="02040503050406030204" pitchFamily="18" charset="0"/>
                              <a:cs typeface="Arial" pitchFamily="34" charset="0"/>
                            </a:rPr>
                          </m:ctrlPr>
                        </m:sSubSupPr>
                        <m:e>
                          <m:r>
                            <a:rPr lang="en-US" sz="2800" b="0" i="1" smtClean="0">
                              <a:latin typeface="Cambria Math" panose="02040503050406030204" pitchFamily="18" charset="0"/>
                              <a:cs typeface="Arial" pitchFamily="34" charset="0"/>
                            </a:rPr>
                            <m:t>𝑤</m:t>
                          </m:r>
                        </m:e>
                        <m:sub>
                          <m:r>
                            <a:rPr lang="en-US" sz="2800" b="0" i="1" smtClean="0">
                              <a:latin typeface="Cambria Math" panose="02040503050406030204" pitchFamily="18" charset="0"/>
                              <a:cs typeface="Arial" pitchFamily="34" charset="0"/>
                            </a:rPr>
                            <m:t>𝑗</m:t>
                          </m:r>
                        </m:sub>
                        <m:sup>
                          <m:r>
                            <a:rPr lang="en-US" sz="2800" b="0" i="1" smtClean="0">
                              <a:latin typeface="Cambria Math" panose="02040503050406030204" pitchFamily="18" charset="0"/>
                              <a:cs typeface="Arial" pitchFamily="34" charset="0"/>
                            </a:rPr>
                            <m:t>∗</m:t>
                          </m:r>
                        </m:sup>
                      </m:sSubSup>
                      <m:r>
                        <a:rPr lang="en-US" sz="2800" b="0" i="1" smtClean="0">
                          <a:latin typeface="Cambria Math" panose="02040503050406030204" pitchFamily="18" charset="0"/>
                          <a:cs typeface="Arial" pitchFamily="34" charset="0"/>
                        </a:rPr>
                        <m:t>=−</m:t>
                      </m:r>
                      <m:f>
                        <m:fPr>
                          <m:ctrlPr>
                            <a:rPr lang="en-US" sz="2800" b="0" i="1" smtClean="0">
                              <a:latin typeface="Cambria Math" panose="02040503050406030204" pitchFamily="18" charset="0"/>
                              <a:cs typeface="Arial" pitchFamily="34" charset="0"/>
                            </a:rPr>
                          </m:ctrlPr>
                        </m:fPr>
                        <m:num>
                          <m:r>
                            <a:rPr lang="en-US" sz="2800" b="0" i="1" smtClean="0">
                              <a:latin typeface="Cambria Math" panose="02040503050406030204" pitchFamily="18" charset="0"/>
                              <a:cs typeface="Arial" pitchFamily="34" charset="0"/>
                            </a:rPr>
                            <m:t>𝐺</m:t>
                          </m:r>
                          <m:r>
                            <a:rPr lang="en-US" sz="2800" b="0" i="1" baseline="-25000" smtClean="0">
                              <a:latin typeface="Cambria Math" panose="02040503050406030204" pitchFamily="18" charset="0"/>
                              <a:cs typeface="Arial" pitchFamily="34" charset="0"/>
                            </a:rPr>
                            <m:t>𝑗</m:t>
                          </m:r>
                        </m:num>
                        <m:den>
                          <m:r>
                            <a:rPr lang="en-US" sz="2800" b="0" i="1" smtClean="0">
                              <a:latin typeface="Cambria Math" panose="02040503050406030204" pitchFamily="18" charset="0"/>
                              <a:cs typeface="Arial" pitchFamily="34" charset="0"/>
                            </a:rPr>
                            <m:t>𝐻</m:t>
                          </m:r>
                          <m:r>
                            <a:rPr lang="en-US" sz="2800" b="0" i="1" baseline="-25000" smtClean="0">
                              <a:latin typeface="Cambria Math" panose="02040503050406030204" pitchFamily="18" charset="0"/>
                              <a:cs typeface="Arial" pitchFamily="34" charset="0"/>
                            </a:rPr>
                            <m:t>𝑗</m:t>
                          </m:r>
                          <m:r>
                            <a:rPr lang="en-US" sz="2800" b="0" i="1" smtClean="0">
                              <a:latin typeface="Cambria Math" panose="02040503050406030204" pitchFamily="18" charset="0"/>
                              <a:cs typeface="Arial" pitchFamily="34" charset="0"/>
                            </a:rPr>
                            <m:t>+</m:t>
                          </m:r>
                          <m:r>
                            <a:rPr lang="en-US" sz="2800" b="0" i="1" smtClean="0">
                              <a:latin typeface="Cambria Math" panose="02040503050406030204" pitchFamily="18" charset="0"/>
                              <a:ea typeface="Cambria Math" panose="02040503050406030204" pitchFamily="18" charset="0"/>
                              <a:cs typeface="Arial" pitchFamily="34" charset="0"/>
                            </a:rPr>
                            <m:t>𝜆</m:t>
                          </m:r>
                        </m:den>
                      </m:f>
                    </m:oMath>
                  </m:oMathPara>
                </a14:m>
                <a:endParaRPr lang="en-US" sz="2800" dirty="0">
                  <a:latin typeface="Arial" pitchFamily="34" charset="0"/>
                  <a:cs typeface="Arial" pitchFamily="34" charset="0"/>
                </a:endParaRPr>
              </a:p>
            </p:txBody>
          </p:sp>
        </mc:Choice>
        <mc:Fallback xmlns="">
          <p:sp>
            <p:nvSpPr>
              <p:cNvPr id="18" name="TextBox 17">
                <a:extLst>
                  <a:ext uri="{FF2B5EF4-FFF2-40B4-BE49-F238E27FC236}">
                    <a16:creationId xmlns:a16="http://schemas.microsoft.com/office/drawing/2014/main" id="{37D2FE6B-4AE3-8FEB-EACB-E1A48A7C4AD9}"/>
                  </a:ext>
                </a:extLst>
              </p:cNvPr>
              <p:cNvSpPr txBox="1">
                <a:spLocks noRot="1" noChangeAspect="1" noMove="1" noResize="1" noEditPoints="1" noAdjustHandles="1" noChangeArrowheads="1" noChangeShapeType="1" noTextEdit="1"/>
              </p:cNvSpPr>
              <p:nvPr/>
            </p:nvSpPr>
            <p:spPr>
              <a:xfrm>
                <a:off x="3195376" y="3778616"/>
                <a:ext cx="2295437" cy="858889"/>
              </a:xfrm>
              <a:prstGeom prst="rect">
                <a:avLst/>
              </a:prstGeom>
              <a:blipFill>
                <a:blip r:embed="rId5"/>
                <a:stretch>
                  <a:fillRect l="-1099" t="-1449" r="-2198" b="-18841"/>
                </a:stretch>
              </a:blipFill>
            </p:spPr>
            <p:txBody>
              <a:bodyPr/>
              <a:lstStyle/>
              <a:p>
                <a:r>
                  <a:rPr lang="en-US">
                    <a:noFill/>
                  </a:rPr>
                  <a:t> </a:t>
                </a:r>
              </a:p>
            </p:txBody>
          </p:sp>
        </mc:Fallback>
      </mc:AlternateContent>
      <p:pic>
        <p:nvPicPr>
          <p:cNvPr id="19" name="Picture 18">
            <a:extLst>
              <a:ext uri="{FF2B5EF4-FFF2-40B4-BE49-F238E27FC236}">
                <a16:creationId xmlns:a16="http://schemas.microsoft.com/office/drawing/2014/main" id="{CF975190-AE9D-8070-A013-3A5D101EEA3E}"/>
              </a:ext>
            </a:extLst>
          </p:cNvPr>
          <p:cNvPicPr>
            <a:picLocks noChangeAspect="1"/>
          </p:cNvPicPr>
          <p:nvPr/>
        </p:nvPicPr>
        <p:blipFill>
          <a:blip r:embed="rId6"/>
          <a:stretch>
            <a:fillRect/>
          </a:stretch>
        </p:blipFill>
        <p:spPr>
          <a:xfrm>
            <a:off x="2077121" y="2765560"/>
            <a:ext cx="563475" cy="574974"/>
          </a:xfrm>
          <a:prstGeom prst="rect">
            <a:avLst/>
          </a:prstGeom>
        </p:spPr>
      </p:pic>
      <p:pic>
        <p:nvPicPr>
          <p:cNvPr id="20" name="Picture 19">
            <a:extLst>
              <a:ext uri="{FF2B5EF4-FFF2-40B4-BE49-F238E27FC236}">
                <a16:creationId xmlns:a16="http://schemas.microsoft.com/office/drawing/2014/main" id="{A8CD4539-8830-B318-DC7E-00D61C3DE31E}"/>
              </a:ext>
            </a:extLst>
          </p:cNvPr>
          <p:cNvPicPr>
            <a:picLocks noChangeAspect="1"/>
          </p:cNvPicPr>
          <p:nvPr/>
        </p:nvPicPr>
        <p:blipFill>
          <a:blip r:embed="rId7"/>
          <a:stretch>
            <a:fillRect/>
          </a:stretch>
        </p:blipFill>
        <p:spPr>
          <a:xfrm>
            <a:off x="5276842" y="2754467"/>
            <a:ext cx="511088" cy="574974"/>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A1EE6AA-CD53-27C6-E7FC-5FC881545920}"/>
                  </a:ext>
                </a:extLst>
              </p:cNvPr>
              <p:cNvSpPr txBox="1"/>
              <p:nvPr/>
            </p:nvSpPr>
            <p:spPr>
              <a:xfrm>
                <a:off x="2765684" y="5299491"/>
                <a:ext cx="4069832" cy="1260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cs typeface="Arial" pitchFamily="34" charset="0"/>
                        </a:rPr>
                        <m:t>𝑂</m:t>
                      </m:r>
                      <m:r>
                        <a:rPr lang="en-US" sz="2800" b="0" i="1" smtClean="0">
                          <a:latin typeface="Cambria Math" panose="02040503050406030204" pitchFamily="18" charset="0"/>
                          <a:cs typeface="Arial" pitchFamily="34" charset="0"/>
                        </a:rPr>
                        <m:t>𝑏𝑗</m:t>
                      </m:r>
                      <m:r>
                        <a:rPr lang="en-US" sz="2800" b="0" i="1" smtClean="0">
                          <a:latin typeface="Cambria Math" panose="02040503050406030204" pitchFamily="18" charset="0"/>
                          <a:cs typeface="Arial" pitchFamily="34" charset="0"/>
                        </a:rPr>
                        <m:t>=−</m:t>
                      </m:r>
                      <m:f>
                        <m:fPr>
                          <m:ctrlPr>
                            <a:rPr lang="en-US" sz="2800" b="0" i="1" smtClean="0">
                              <a:latin typeface="Cambria Math" panose="02040503050406030204" pitchFamily="18" charset="0"/>
                              <a:cs typeface="Arial" pitchFamily="34" charset="0"/>
                            </a:rPr>
                          </m:ctrlPr>
                        </m:fPr>
                        <m:num>
                          <m:r>
                            <a:rPr lang="en-US" sz="2800" b="0" i="1" smtClean="0">
                              <a:latin typeface="Cambria Math" panose="02040503050406030204" pitchFamily="18" charset="0"/>
                              <a:cs typeface="Arial" pitchFamily="34" charset="0"/>
                            </a:rPr>
                            <m:t>1</m:t>
                          </m:r>
                        </m:num>
                        <m:den>
                          <m:r>
                            <a:rPr lang="en-US" sz="2800" b="0" i="1" smtClean="0">
                              <a:latin typeface="Cambria Math" panose="02040503050406030204" pitchFamily="18" charset="0"/>
                              <a:cs typeface="Arial" pitchFamily="34" charset="0"/>
                            </a:rPr>
                            <m:t>2</m:t>
                          </m:r>
                        </m:den>
                      </m:f>
                      <m:nary>
                        <m:naryPr>
                          <m:chr m:val="∑"/>
                          <m:ctrlPr>
                            <a:rPr lang="en-US" sz="2800" b="0" i="1" smtClean="0">
                              <a:latin typeface="Cambria Math" panose="02040503050406030204" pitchFamily="18" charset="0"/>
                              <a:cs typeface="Arial" pitchFamily="34" charset="0"/>
                            </a:rPr>
                          </m:ctrlPr>
                        </m:naryPr>
                        <m:sub>
                          <m:r>
                            <m:rPr>
                              <m:brk m:alnAt="23"/>
                            </m:rPr>
                            <a:rPr lang="en-US" sz="2800" b="0" i="1" smtClean="0">
                              <a:latin typeface="Cambria Math" panose="02040503050406030204" pitchFamily="18" charset="0"/>
                              <a:cs typeface="Arial" pitchFamily="34" charset="0"/>
                            </a:rPr>
                            <m:t>𝑗</m:t>
                          </m:r>
                          <m:r>
                            <a:rPr lang="en-US" sz="2800" b="0" i="1" smtClean="0">
                              <a:latin typeface="Cambria Math" panose="02040503050406030204" pitchFamily="18" charset="0"/>
                              <a:cs typeface="Arial" pitchFamily="34" charset="0"/>
                            </a:rPr>
                            <m:t>=1</m:t>
                          </m:r>
                        </m:sub>
                        <m:sup>
                          <m:r>
                            <a:rPr lang="en-US" sz="2800" b="0" i="1" smtClean="0">
                              <a:latin typeface="Cambria Math" panose="02040503050406030204" pitchFamily="18" charset="0"/>
                              <a:cs typeface="Arial" pitchFamily="34" charset="0"/>
                            </a:rPr>
                            <m:t>𝑇</m:t>
                          </m:r>
                        </m:sup>
                        <m:e>
                          <m:f>
                            <m:fPr>
                              <m:ctrlPr>
                                <a:rPr lang="en-US" sz="2800" i="1">
                                  <a:latin typeface="Cambria Math" panose="02040503050406030204" pitchFamily="18" charset="0"/>
                                  <a:cs typeface="Arial" pitchFamily="34" charset="0"/>
                                </a:rPr>
                              </m:ctrlPr>
                            </m:fPr>
                            <m:num>
                              <m:sSubSup>
                                <m:sSubSupPr>
                                  <m:ctrlPr>
                                    <a:rPr lang="en-US" sz="2800" i="1" smtClean="0">
                                      <a:latin typeface="Cambria Math" panose="02040503050406030204" pitchFamily="18" charset="0"/>
                                      <a:cs typeface="Arial" pitchFamily="34" charset="0"/>
                                    </a:rPr>
                                  </m:ctrlPr>
                                </m:sSubSupPr>
                                <m:e>
                                  <m:r>
                                    <a:rPr lang="en-US" sz="2800" b="0" i="1" smtClean="0">
                                      <a:latin typeface="Cambria Math" panose="02040503050406030204" pitchFamily="18" charset="0"/>
                                      <a:cs typeface="Arial" pitchFamily="34" charset="0"/>
                                    </a:rPr>
                                    <m:t>𝐺</m:t>
                                  </m:r>
                                </m:e>
                                <m:sub>
                                  <m:r>
                                    <a:rPr lang="en-US" sz="2800" b="0" i="1" smtClean="0">
                                      <a:latin typeface="Cambria Math" panose="02040503050406030204" pitchFamily="18" charset="0"/>
                                      <a:cs typeface="Arial" pitchFamily="34" charset="0"/>
                                    </a:rPr>
                                    <m:t>𝑗</m:t>
                                  </m:r>
                                </m:sub>
                                <m:sup>
                                  <m:r>
                                    <a:rPr lang="en-US" sz="2800" b="0" i="1" smtClean="0">
                                      <a:latin typeface="Cambria Math" panose="02040503050406030204" pitchFamily="18" charset="0"/>
                                      <a:cs typeface="Arial" pitchFamily="34" charset="0"/>
                                    </a:rPr>
                                    <m:t>2</m:t>
                                  </m:r>
                                </m:sup>
                              </m:sSubSup>
                            </m:num>
                            <m:den>
                              <m:r>
                                <a:rPr lang="en-US" sz="2800" i="1">
                                  <a:latin typeface="Cambria Math" panose="02040503050406030204" pitchFamily="18" charset="0"/>
                                  <a:cs typeface="Arial" pitchFamily="34" charset="0"/>
                                </a:rPr>
                                <m:t>𝐻</m:t>
                              </m:r>
                              <m:r>
                                <a:rPr lang="en-US" sz="2800" i="1" baseline="-25000">
                                  <a:latin typeface="Cambria Math" panose="02040503050406030204" pitchFamily="18" charset="0"/>
                                  <a:cs typeface="Arial" pitchFamily="34" charset="0"/>
                                </a:rPr>
                                <m:t>𝑗</m:t>
                              </m:r>
                              <m:r>
                                <a:rPr lang="en-US" sz="2800" i="1">
                                  <a:latin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𝜆</m:t>
                              </m:r>
                            </m:den>
                          </m:f>
                          <m:r>
                            <a:rPr lang="en-US" sz="2800" b="0" i="1" smtClean="0">
                              <a:latin typeface="Cambria Math" panose="02040503050406030204" pitchFamily="18" charset="0"/>
                              <a:ea typeface="Cambria Math" panose="02040503050406030204" pitchFamily="18" charset="0"/>
                              <a:cs typeface="Arial" pitchFamily="34" charset="0"/>
                            </a:rPr>
                            <m:t>+</m:t>
                          </m:r>
                          <m:r>
                            <a:rPr lang="en-US" sz="2800" b="0" i="1" smtClean="0">
                              <a:latin typeface="Cambria Math" panose="02040503050406030204" pitchFamily="18" charset="0"/>
                              <a:ea typeface="Cambria Math" panose="02040503050406030204" pitchFamily="18" charset="0"/>
                              <a:cs typeface="Arial" pitchFamily="34" charset="0"/>
                            </a:rPr>
                            <m:t>𝛾</m:t>
                          </m:r>
                          <m:r>
                            <a:rPr lang="en-US" sz="2800" b="0" i="1" smtClean="0">
                              <a:latin typeface="Cambria Math" panose="02040503050406030204" pitchFamily="18" charset="0"/>
                              <a:ea typeface="Cambria Math" panose="02040503050406030204" pitchFamily="18" charset="0"/>
                              <a:cs typeface="Arial" pitchFamily="34" charset="0"/>
                            </a:rPr>
                            <m:t>𝑇</m:t>
                          </m:r>
                        </m:e>
                      </m:nary>
                    </m:oMath>
                  </m:oMathPara>
                </a14:m>
                <a:endParaRPr lang="en-US" sz="2800" dirty="0">
                  <a:latin typeface="Arial" pitchFamily="34" charset="0"/>
                  <a:cs typeface="Arial" pitchFamily="34" charset="0"/>
                </a:endParaRPr>
              </a:p>
            </p:txBody>
          </p:sp>
        </mc:Choice>
        <mc:Fallback xmlns="">
          <p:sp>
            <p:nvSpPr>
              <p:cNvPr id="21" name="TextBox 20">
                <a:extLst>
                  <a:ext uri="{FF2B5EF4-FFF2-40B4-BE49-F238E27FC236}">
                    <a16:creationId xmlns:a16="http://schemas.microsoft.com/office/drawing/2014/main" id="{CA1EE6AA-CD53-27C6-E7FC-5FC881545920}"/>
                  </a:ext>
                </a:extLst>
              </p:cNvPr>
              <p:cNvSpPr txBox="1">
                <a:spLocks noRot="1" noChangeAspect="1" noMove="1" noResize="1" noEditPoints="1" noAdjustHandles="1" noChangeArrowheads="1" noChangeShapeType="1" noTextEdit="1"/>
              </p:cNvSpPr>
              <p:nvPr/>
            </p:nvSpPr>
            <p:spPr>
              <a:xfrm>
                <a:off x="2765684" y="5299491"/>
                <a:ext cx="4069832" cy="1260345"/>
              </a:xfrm>
              <a:prstGeom prst="rect">
                <a:avLst/>
              </a:prstGeom>
              <a:blipFill>
                <a:blip r:embed="rId8"/>
                <a:stretch>
                  <a:fillRect l="-1242" t="-108000" r="-1863" b="-1640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9B3483C-F778-895C-50C6-FF03237F67AC}"/>
              </a:ext>
            </a:extLst>
          </p:cNvPr>
          <p:cNvSpPr txBox="1"/>
          <p:nvPr/>
        </p:nvSpPr>
        <p:spPr>
          <a:xfrm>
            <a:off x="311754" y="5383351"/>
            <a:ext cx="2357173"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sz="1200" dirty="0">
                <a:solidFill>
                  <a:srgbClr val="008000"/>
                </a:solidFill>
                <a:latin typeface="Calibri" panose="020F0502020204030204" pitchFamily="34" charset="0"/>
                <a:cs typeface="Calibri" panose="020F0502020204030204" pitchFamily="34" charset="0"/>
              </a:rPr>
              <a:t>The Obj function measures the quality of the set of T trees. This score is like the impurity score for evaluating decision trees, except that it is derived for a wider range of objective functions</a:t>
            </a:r>
          </a:p>
        </p:txBody>
      </p:sp>
    </p:spTree>
    <p:extLst>
      <p:ext uri="{BB962C8B-B14F-4D97-AF65-F5344CB8AC3E}">
        <p14:creationId xmlns:p14="http://schemas.microsoft.com/office/powerpoint/2010/main" val="10894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3204F-E6FA-DAE3-4586-A1D3ED2D7AA5}"/>
              </a:ext>
            </a:extLst>
          </p:cNvPr>
          <p:cNvSpPr>
            <a:spLocks noGrp="1"/>
          </p:cNvSpPr>
          <p:nvPr>
            <p:ph type="title"/>
          </p:nvPr>
        </p:nvSpPr>
        <p:spPr/>
        <p:txBody>
          <a:bodyPr/>
          <a:lstStyle/>
          <a:p>
            <a:r>
              <a:rPr lang="en-US" dirty="0"/>
              <a:t>For Regression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9592E7-140E-B09F-82F2-0849BF571014}"/>
                  </a:ext>
                </a:extLst>
              </p:cNvPr>
              <p:cNvSpPr>
                <a:spLocks noGrp="1"/>
              </p:cNvSpPr>
              <p:nvPr>
                <p:ph idx="1"/>
              </p:nvPr>
            </p:nvSpPr>
            <p:spPr/>
            <p:txBody>
              <a:bodyPr/>
              <a:lstStyle/>
              <a:p>
                <a:r>
                  <a:rPr lang="en-US" b="1" dirty="0">
                    <a:solidFill>
                      <a:srgbClr val="0000FF"/>
                    </a:solidFill>
                  </a:rPr>
                  <a:t>Derive </a:t>
                </a:r>
                <a14:m>
                  <m:oMath xmlns:m="http://schemas.openxmlformats.org/officeDocument/2006/math">
                    <m:r>
                      <a:rPr lang="en-US" b="1" i="1" dirty="0" smtClean="0">
                        <a:solidFill>
                          <a:srgbClr val="0000FF"/>
                        </a:solidFill>
                        <a:latin typeface="Cambria Math" panose="02040503050406030204" pitchFamily="18" charset="0"/>
                      </a:rPr>
                      <m:t>𝒈</m:t>
                    </m:r>
                  </m:oMath>
                </a14:m>
                <a:r>
                  <a:rPr lang="en-US" b="1" dirty="0">
                    <a:solidFill>
                      <a:srgbClr val="0000FF"/>
                    </a:solidFill>
                  </a:rPr>
                  <a:t> and </a:t>
                </a:r>
                <a14:m>
                  <m:oMath xmlns:m="http://schemas.openxmlformats.org/officeDocument/2006/math">
                    <m:r>
                      <a:rPr lang="en-US" b="1" i="1" dirty="0" smtClean="0">
                        <a:solidFill>
                          <a:srgbClr val="0000FF"/>
                        </a:solidFill>
                        <a:latin typeface="Cambria Math" panose="02040503050406030204" pitchFamily="18" charset="0"/>
                      </a:rPr>
                      <m:t>𝒉</m:t>
                    </m:r>
                  </m:oMath>
                </a14:m>
                <a:r>
                  <a:rPr lang="en-US" b="1" dirty="0">
                    <a:solidFill>
                      <a:srgbClr val="0000FF"/>
                    </a:solidFill>
                  </a:rPr>
                  <a:t> for square loss:</a:t>
                </a:r>
              </a:p>
              <a:p>
                <a:endParaRPr lang="en-US" b="1" dirty="0">
                  <a:solidFill>
                    <a:srgbClr val="0000FF"/>
                  </a:solidFill>
                </a:endParaRPr>
              </a:p>
              <a:p>
                <a:endParaRPr lang="en-US" b="1" dirty="0">
                  <a:solidFill>
                    <a:srgbClr val="0000FF"/>
                  </a:solidFill>
                </a:endParaRPr>
              </a:p>
              <a:p>
                <a:endParaRPr lang="en-US" b="1" dirty="0">
                  <a:solidFill>
                    <a:srgbClr val="0000FF"/>
                  </a:solidFill>
                </a:endParaRPr>
              </a:p>
              <a:p>
                <a:r>
                  <a:rPr lang="en-US" b="1" dirty="0">
                    <a:solidFill>
                      <a:srgbClr val="0000FF"/>
                    </a:solidFill>
                  </a:rPr>
                  <a:t>And </a:t>
                </a:r>
              </a:p>
              <a:p>
                <a:endParaRPr lang="en-US" dirty="0"/>
              </a:p>
            </p:txBody>
          </p:sp>
        </mc:Choice>
        <mc:Fallback xmlns="">
          <p:sp>
            <p:nvSpPr>
              <p:cNvPr id="3" name="Content Placeholder 2">
                <a:extLst>
                  <a:ext uri="{FF2B5EF4-FFF2-40B4-BE49-F238E27FC236}">
                    <a16:creationId xmlns:a16="http://schemas.microsoft.com/office/drawing/2014/main" id="{F09592E7-140E-B09F-82F2-0849BF571014}"/>
                  </a:ext>
                </a:extLst>
              </p:cNvPr>
              <p:cNvSpPr>
                <a:spLocks noGrp="1" noRot="1" noChangeAspect="1" noMove="1" noResize="1" noEditPoints="1" noAdjustHandles="1" noChangeArrowheads="1" noChangeShapeType="1" noTextEdit="1"/>
              </p:cNvSpPr>
              <p:nvPr>
                <p:ph idx="1"/>
              </p:nvPr>
            </p:nvSpPr>
            <p:spPr>
              <a:blipFill>
                <a:blip r:embed="rId2"/>
                <a:stretch>
                  <a:fillRect t="-72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4D4069E-BC6B-6CB8-BD32-B6EDD6DD3A1D}"/>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F0D094AD-DF06-68FE-7D75-EFE8F6D55801}"/>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C44D4E55-37C5-D5A4-1711-E47D0B52E4FB}"/>
              </a:ext>
            </a:extLst>
          </p:cNvPr>
          <p:cNvSpPr>
            <a:spLocks noGrp="1"/>
          </p:cNvSpPr>
          <p:nvPr>
            <p:ph type="sldNum" sz="quarter" idx="12"/>
          </p:nvPr>
        </p:nvSpPr>
        <p:spPr/>
        <p:txBody>
          <a:bodyPr/>
          <a:lstStyle/>
          <a:p>
            <a:fld id="{19B12225-5612-419B-A8D5-4B8EEE4C217E}" type="slidenum">
              <a:rPr lang="en-US" smtClean="0"/>
              <a:pPr/>
              <a:t>41</a:t>
            </a:fld>
            <a:endParaRPr lang="en-US"/>
          </a:p>
        </p:txBody>
      </p:sp>
      <p:pic>
        <p:nvPicPr>
          <p:cNvPr id="10" name="Picture 9">
            <a:extLst>
              <a:ext uri="{FF2B5EF4-FFF2-40B4-BE49-F238E27FC236}">
                <a16:creationId xmlns:a16="http://schemas.microsoft.com/office/drawing/2014/main" id="{A5A67053-FAC9-8864-132E-3636B29A537E}"/>
              </a:ext>
            </a:extLst>
          </p:cNvPr>
          <p:cNvPicPr>
            <a:picLocks noChangeAspect="1"/>
          </p:cNvPicPr>
          <p:nvPr/>
        </p:nvPicPr>
        <p:blipFill>
          <a:blip r:embed="rId3"/>
          <a:stretch>
            <a:fillRect/>
          </a:stretch>
        </p:blipFill>
        <p:spPr>
          <a:xfrm>
            <a:off x="1651000" y="2019804"/>
            <a:ext cx="5842000" cy="584200"/>
          </a:xfrm>
          <a:prstGeom prst="rect">
            <a:avLst/>
          </a:prstGeom>
        </p:spPr>
      </p:pic>
      <p:pic>
        <p:nvPicPr>
          <p:cNvPr id="11" name="Picture 10">
            <a:extLst>
              <a:ext uri="{FF2B5EF4-FFF2-40B4-BE49-F238E27FC236}">
                <a16:creationId xmlns:a16="http://schemas.microsoft.com/office/drawing/2014/main" id="{956685E4-F27F-DEC9-D405-75671551C8AB}"/>
              </a:ext>
            </a:extLst>
          </p:cNvPr>
          <p:cNvPicPr>
            <a:picLocks noChangeAspect="1"/>
          </p:cNvPicPr>
          <p:nvPr/>
        </p:nvPicPr>
        <p:blipFill>
          <a:blip r:embed="rId4"/>
          <a:stretch>
            <a:fillRect/>
          </a:stretch>
        </p:blipFill>
        <p:spPr>
          <a:xfrm>
            <a:off x="1651000" y="2634483"/>
            <a:ext cx="4216400" cy="58420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52F3031-2AAF-48CB-D9B3-4A7ACD980F75}"/>
                  </a:ext>
                </a:extLst>
              </p:cNvPr>
              <p:cNvSpPr txBox="1"/>
              <p:nvPr/>
            </p:nvSpPr>
            <p:spPr>
              <a:xfrm>
                <a:off x="1406769" y="3876359"/>
                <a:ext cx="5438476" cy="14044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800" i="1" smtClean="0">
                              <a:latin typeface="Cambria Math" panose="02040503050406030204" pitchFamily="18" charset="0"/>
                              <a:cs typeface="Arial" pitchFamily="34" charset="0"/>
                            </a:rPr>
                          </m:ctrlPr>
                        </m:sSubSupPr>
                        <m:e>
                          <m:r>
                            <a:rPr lang="en-US" sz="2800" b="0" i="1" smtClean="0">
                              <a:latin typeface="Cambria Math" panose="02040503050406030204" pitchFamily="18" charset="0"/>
                              <a:cs typeface="Arial" pitchFamily="34" charset="0"/>
                            </a:rPr>
                            <m:t>𝑤</m:t>
                          </m:r>
                        </m:e>
                        <m:sub>
                          <m:r>
                            <a:rPr lang="en-US" sz="2800" b="0" i="1" smtClean="0">
                              <a:latin typeface="Cambria Math" panose="02040503050406030204" pitchFamily="18" charset="0"/>
                              <a:cs typeface="Arial" pitchFamily="34" charset="0"/>
                            </a:rPr>
                            <m:t>𝑗</m:t>
                          </m:r>
                        </m:sub>
                        <m:sup>
                          <m:r>
                            <a:rPr lang="en-US" sz="2800" b="0" i="1" smtClean="0">
                              <a:latin typeface="Cambria Math" panose="02040503050406030204" pitchFamily="18" charset="0"/>
                              <a:cs typeface="Arial" pitchFamily="34" charset="0"/>
                            </a:rPr>
                            <m:t>∗</m:t>
                          </m:r>
                        </m:sup>
                      </m:sSubSup>
                      <m:r>
                        <a:rPr lang="en-US" sz="2800" b="0" i="1" smtClean="0">
                          <a:latin typeface="Cambria Math" panose="02040503050406030204" pitchFamily="18" charset="0"/>
                          <a:cs typeface="Arial" pitchFamily="34" charset="0"/>
                        </a:rPr>
                        <m:t>=−</m:t>
                      </m:r>
                      <m:f>
                        <m:fPr>
                          <m:ctrlPr>
                            <a:rPr lang="en-US" sz="2800" b="0" i="1" smtClean="0">
                              <a:latin typeface="Cambria Math" panose="02040503050406030204" pitchFamily="18" charset="0"/>
                              <a:cs typeface="Arial" pitchFamily="34" charset="0"/>
                            </a:rPr>
                          </m:ctrlPr>
                        </m:fPr>
                        <m:num>
                          <m:r>
                            <a:rPr lang="en-US" sz="2800" b="0" i="1" smtClean="0">
                              <a:latin typeface="Cambria Math" panose="02040503050406030204" pitchFamily="18" charset="0"/>
                              <a:cs typeface="Arial" pitchFamily="34" charset="0"/>
                            </a:rPr>
                            <m:t>𝐺</m:t>
                          </m:r>
                          <m:r>
                            <a:rPr lang="en-US" sz="2800" b="0" i="1" baseline="-25000" smtClean="0">
                              <a:latin typeface="Cambria Math" panose="02040503050406030204" pitchFamily="18" charset="0"/>
                              <a:cs typeface="Arial" pitchFamily="34" charset="0"/>
                            </a:rPr>
                            <m:t>𝑗</m:t>
                          </m:r>
                        </m:num>
                        <m:den>
                          <m:r>
                            <a:rPr lang="en-US" sz="2800" b="0" i="1" smtClean="0">
                              <a:latin typeface="Cambria Math" panose="02040503050406030204" pitchFamily="18" charset="0"/>
                              <a:cs typeface="Arial" pitchFamily="34" charset="0"/>
                            </a:rPr>
                            <m:t>𝐻</m:t>
                          </m:r>
                          <m:r>
                            <a:rPr lang="en-US" sz="2800" b="0" i="1" baseline="-25000" smtClean="0">
                              <a:latin typeface="Cambria Math" panose="02040503050406030204" pitchFamily="18" charset="0"/>
                              <a:cs typeface="Arial" pitchFamily="34" charset="0"/>
                            </a:rPr>
                            <m:t>𝑗</m:t>
                          </m:r>
                          <m:r>
                            <a:rPr lang="en-US" sz="2800" b="0" i="1" smtClean="0">
                              <a:latin typeface="Cambria Math" panose="02040503050406030204" pitchFamily="18" charset="0"/>
                              <a:cs typeface="Arial" pitchFamily="34" charset="0"/>
                            </a:rPr>
                            <m:t>+</m:t>
                          </m:r>
                          <m:r>
                            <a:rPr lang="en-US" sz="2800" b="0" i="1" smtClean="0">
                              <a:latin typeface="Cambria Math" panose="02040503050406030204" pitchFamily="18" charset="0"/>
                              <a:ea typeface="Cambria Math" panose="02040503050406030204" pitchFamily="18" charset="0"/>
                              <a:cs typeface="Arial" pitchFamily="34" charset="0"/>
                            </a:rPr>
                            <m:t>𝜆</m:t>
                          </m:r>
                        </m:den>
                      </m:f>
                      <m:r>
                        <a:rPr lang="en-US" sz="2800" b="0" i="1" smtClean="0">
                          <a:latin typeface="Cambria Math" panose="02040503050406030204" pitchFamily="18" charset="0"/>
                          <a:cs typeface="Arial" pitchFamily="34" charset="0"/>
                        </a:rPr>
                        <m:t>=−</m:t>
                      </m:r>
                      <m:f>
                        <m:fPr>
                          <m:ctrlPr>
                            <a:rPr lang="en-US" sz="2800" i="1">
                              <a:latin typeface="Cambria Math" panose="02040503050406030204" pitchFamily="18" charset="0"/>
                              <a:cs typeface="Arial" pitchFamily="34" charset="0"/>
                            </a:rPr>
                          </m:ctrlPr>
                        </m:fPr>
                        <m:num>
                          <m:nary>
                            <m:naryPr>
                              <m:chr m:val="∑"/>
                              <m:supHide m:val="on"/>
                              <m:ctrlPr>
                                <a:rPr lang="en-US" sz="2800" i="1" smtClean="0">
                                  <a:latin typeface="Cambria Math" panose="02040503050406030204" pitchFamily="18" charset="0"/>
                                  <a:cs typeface="Arial" pitchFamily="34" charset="0"/>
                                </a:rPr>
                              </m:ctrlPr>
                            </m:naryPr>
                            <m:sub>
                              <m:r>
                                <m:rPr>
                                  <m:brk m:alnAt="7"/>
                                </m:rPr>
                                <a:rPr lang="en-US" sz="2800" b="0" i="1" smtClean="0">
                                  <a:latin typeface="Cambria Math" panose="02040503050406030204" pitchFamily="18" charset="0"/>
                                  <a:cs typeface="Arial" pitchFamily="34" charset="0"/>
                                </a:rPr>
                                <m:t>𝑖</m:t>
                              </m:r>
                              <m:r>
                                <a:rPr lang="en-US" sz="2800" b="0" i="1" smtClean="0">
                                  <a:latin typeface="Cambria Math" panose="02040503050406030204" pitchFamily="18" charset="0"/>
                                  <a:ea typeface="Cambria Math" panose="02040503050406030204" pitchFamily="18" charset="0"/>
                                  <a:cs typeface="Arial" pitchFamily="34" charset="0"/>
                                </a:rPr>
                                <m:t>∈</m:t>
                              </m:r>
                              <m:r>
                                <a:rPr lang="en-US" sz="2800" b="0" i="1" smtClean="0">
                                  <a:latin typeface="Cambria Math" panose="02040503050406030204" pitchFamily="18" charset="0"/>
                                  <a:ea typeface="Cambria Math" panose="02040503050406030204" pitchFamily="18" charset="0"/>
                                  <a:cs typeface="Arial" pitchFamily="34" charset="0"/>
                                </a:rPr>
                                <m:t>𝐼𝑗</m:t>
                              </m:r>
                            </m:sub>
                            <m:sup/>
                            <m:e>
                              <m:r>
                                <a:rPr lang="en-US" sz="2800" i="1">
                                  <a:latin typeface="Cambria Math" panose="02040503050406030204" pitchFamily="18" charset="0"/>
                                  <a:cs typeface="Arial" pitchFamily="34" charset="0"/>
                                </a:rPr>
                                <m:t>𝑔</m:t>
                              </m:r>
                              <m:r>
                                <a:rPr lang="en-US" sz="2800" b="0" i="1" baseline="-25000" smtClean="0">
                                  <a:latin typeface="Cambria Math" panose="02040503050406030204" pitchFamily="18" charset="0"/>
                                  <a:cs typeface="Arial" pitchFamily="34" charset="0"/>
                                </a:rPr>
                                <m:t>𝑖</m:t>
                              </m:r>
                            </m:e>
                          </m:nary>
                        </m:num>
                        <m:den>
                          <m:nary>
                            <m:naryPr>
                              <m:chr m:val="∑"/>
                              <m:supHide m:val="on"/>
                              <m:ctrlPr>
                                <a:rPr lang="en-US" sz="2800" i="1">
                                  <a:latin typeface="Cambria Math" panose="02040503050406030204" pitchFamily="18" charset="0"/>
                                  <a:cs typeface="Arial" pitchFamily="34" charset="0"/>
                                </a:rPr>
                              </m:ctrlPr>
                            </m:naryPr>
                            <m:sub>
                              <m:r>
                                <m:rPr>
                                  <m:brk m:alnAt="7"/>
                                </m:rPr>
                                <a:rPr lang="en-US" sz="2800" i="1">
                                  <a:latin typeface="Cambria Math" panose="02040503050406030204" pitchFamily="18" charset="0"/>
                                  <a:cs typeface="Arial" pitchFamily="34" charset="0"/>
                                </a:rPr>
                                <m:t>𝑖</m:t>
                              </m:r>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𝐼𝑗</m:t>
                              </m:r>
                            </m:sub>
                            <m:sup/>
                            <m:e>
                              <m:r>
                                <a:rPr lang="en-US" sz="2800" b="0" i="1" smtClean="0">
                                  <a:latin typeface="Cambria Math" panose="02040503050406030204" pitchFamily="18" charset="0"/>
                                  <a:cs typeface="Arial" pitchFamily="34" charset="0"/>
                                </a:rPr>
                                <m:t>h</m:t>
                              </m:r>
                              <m:r>
                                <a:rPr lang="en-US" sz="2800" b="0" i="1" baseline="-25000" smtClean="0">
                                  <a:latin typeface="Cambria Math" panose="02040503050406030204" pitchFamily="18" charset="0"/>
                                  <a:cs typeface="Arial" pitchFamily="34" charset="0"/>
                                </a:rPr>
                                <m:t>𝑖</m:t>
                              </m:r>
                            </m:e>
                          </m:nary>
                          <m:r>
                            <a:rPr lang="en-US" sz="2800" i="1">
                              <a:latin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𝜆</m:t>
                          </m:r>
                        </m:den>
                      </m:f>
                    </m:oMath>
                  </m:oMathPara>
                </a14:m>
                <a:endParaRPr lang="en-US" sz="2800" i="1" dirty="0">
                  <a:latin typeface="Cambria Math" panose="02040503050406030204" pitchFamily="18" charset="0"/>
                  <a:ea typeface="Cambria Math" panose="02040503050406030204" pitchFamily="18" charset="0"/>
                  <a:cs typeface="Arial" pitchFamily="34" charset="0"/>
                </a:endParaRPr>
              </a:p>
              <a:p>
                <a:r>
                  <a:rPr lang="en-US" sz="2800" b="0" dirty="0">
                    <a:ea typeface="Cambria Math" panose="02040503050406030204" pitchFamily="18" charset="0"/>
                    <a:cs typeface="Arial" pitchFamily="34" charset="0"/>
                  </a:rPr>
                  <a:t>                                         </a:t>
                </a:r>
                <a:endParaRPr lang="en-US" sz="2800" dirty="0">
                  <a:latin typeface="Arial" pitchFamily="34" charset="0"/>
                  <a:cs typeface="Arial" pitchFamily="34" charset="0"/>
                </a:endParaRPr>
              </a:p>
            </p:txBody>
          </p:sp>
        </mc:Choice>
        <mc:Fallback xmlns="">
          <p:sp>
            <p:nvSpPr>
              <p:cNvPr id="12" name="TextBox 11">
                <a:extLst>
                  <a:ext uri="{FF2B5EF4-FFF2-40B4-BE49-F238E27FC236}">
                    <a16:creationId xmlns:a16="http://schemas.microsoft.com/office/drawing/2014/main" id="{A52F3031-2AAF-48CB-D9B3-4A7ACD980F75}"/>
                  </a:ext>
                </a:extLst>
              </p:cNvPr>
              <p:cNvSpPr txBox="1">
                <a:spLocks noRot="1" noChangeAspect="1" noMove="1" noResize="1" noEditPoints="1" noAdjustHandles="1" noChangeArrowheads="1" noChangeShapeType="1" noTextEdit="1"/>
              </p:cNvSpPr>
              <p:nvPr/>
            </p:nvSpPr>
            <p:spPr>
              <a:xfrm>
                <a:off x="1406769" y="3876359"/>
                <a:ext cx="5438476" cy="1404487"/>
              </a:xfrm>
              <a:prstGeom prst="rect">
                <a:avLst/>
              </a:prstGeom>
              <a:blipFill>
                <a:blip r:embed="rId5"/>
                <a:stretch>
                  <a:fillRect t="-53153" b="-43243"/>
                </a:stretch>
              </a:blipFill>
            </p:spPr>
            <p:txBody>
              <a:bodyPr/>
              <a:lstStyle/>
              <a:p>
                <a:r>
                  <a:rPr lang="en-US">
                    <a:noFill/>
                  </a:rPr>
                  <a:t> </a:t>
                </a:r>
              </a:p>
            </p:txBody>
          </p:sp>
        </mc:Fallback>
      </mc:AlternateContent>
    </p:spTree>
    <p:extLst>
      <p:ext uri="{BB962C8B-B14F-4D97-AF65-F5344CB8AC3E}">
        <p14:creationId xmlns:p14="http://schemas.microsoft.com/office/powerpoint/2010/main" val="339917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3204F-E6FA-DAE3-4586-A1D3ED2D7AA5}"/>
              </a:ext>
            </a:extLst>
          </p:cNvPr>
          <p:cNvSpPr>
            <a:spLocks noGrp="1"/>
          </p:cNvSpPr>
          <p:nvPr>
            <p:ph type="title"/>
          </p:nvPr>
        </p:nvSpPr>
        <p:spPr/>
        <p:txBody>
          <a:bodyPr/>
          <a:lstStyle/>
          <a:p>
            <a:r>
              <a:rPr lang="en-US" dirty="0"/>
              <a:t>For Regression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9592E7-140E-B09F-82F2-0849BF571014}"/>
                  </a:ext>
                </a:extLst>
              </p:cNvPr>
              <p:cNvSpPr>
                <a:spLocks noGrp="1"/>
              </p:cNvSpPr>
              <p:nvPr>
                <p:ph idx="1"/>
              </p:nvPr>
            </p:nvSpPr>
            <p:spPr/>
            <p:txBody>
              <a:bodyPr/>
              <a:lstStyle/>
              <a:p>
                <a:r>
                  <a:rPr lang="en-US" b="1" dirty="0">
                    <a:solidFill>
                      <a:srgbClr val="0000FF"/>
                    </a:solidFill>
                  </a:rPr>
                  <a:t>Derive </a:t>
                </a:r>
                <a14:m>
                  <m:oMath xmlns:m="http://schemas.openxmlformats.org/officeDocument/2006/math">
                    <m:r>
                      <a:rPr lang="en-US" b="1" i="1" dirty="0" smtClean="0">
                        <a:solidFill>
                          <a:srgbClr val="0000FF"/>
                        </a:solidFill>
                        <a:latin typeface="Cambria Math" panose="02040503050406030204" pitchFamily="18" charset="0"/>
                      </a:rPr>
                      <m:t>𝒈</m:t>
                    </m:r>
                  </m:oMath>
                </a14:m>
                <a:r>
                  <a:rPr lang="en-US" b="1" dirty="0">
                    <a:solidFill>
                      <a:srgbClr val="0000FF"/>
                    </a:solidFill>
                  </a:rPr>
                  <a:t> and </a:t>
                </a:r>
                <a14:m>
                  <m:oMath xmlns:m="http://schemas.openxmlformats.org/officeDocument/2006/math">
                    <m:r>
                      <a:rPr lang="en-US" b="1" i="1" dirty="0" smtClean="0">
                        <a:solidFill>
                          <a:srgbClr val="0000FF"/>
                        </a:solidFill>
                        <a:latin typeface="Cambria Math" panose="02040503050406030204" pitchFamily="18" charset="0"/>
                      </a:rPr>
                      <m:t>𝒉</m:t>
                    </m:r>
                  </m:oMath>
                </a14:m>
                <a:r>
                  <a:rPr lang="en-US" b="1" dirty="0">
                    <a:solidFill>
                      <a:srgbClr val="0000FF"/>
                    </a:solidFill>
                  </a:rPr>
                  <a:t> for square loss:</a:t>
                </a:r>
              </a:p>
              <a:p>
                <a:endParaRPr lang="en-US" b="1" dirty="0">
                  <a:solidFill>
                    <a:srgbClr val="0000FF"/>
                  </a:solidFill>
                </a:endParaRPr>
              </a:p>
              <a:p>
                <a:endParaRPr lang="en-US" b="1" dirty="0">
                  <a:solidFill>
                    <a:srgbClr val="0000FF"/>
                  </a:solidFill>
                </a:endParaRPr>
              </a:p>
              <a:p>
                <a:endParaRPr lang="en-US" b="1" dirty="0">
                  <a:solidFill>
                    <a:srgbClr val="0000FF"/>
                  </a:solidFill>
                </a:endParaRPr>
              </a:p>
              <a:p>
                <a:r>
                  <a:rPr lang="en-US" b="1" dirty="0">
                    <a:solidFill>
                      <a:srgbClr val="0000FF"/>
                    </a:solidFill>
                  </a:rPr>
                  <a:t>And </a:t>
                </a:r>
              </a:p>
              <a:p>
                <a:endParaRPr lang="en-US" dirty="0"/>
              </a:p>
            </p:txBody>
          </p:sp>
        </mc:Choice>
        <mc:Fallback xmlns="">
          <p:sp>
            <p:nvSpPr>
              <p:cNvPr id="3" name="Content Placeholder 2">
                <a:extLst>
                  <a:ext uri="{FF2B5EF4-FFF2-40B4-BE49-F238E27FC236}">
                    <a16:creationId xmlns:a16="http://schemas.microsoft.com/office/drawing/2014/main" id="{F09592E7-140E-B09F-82F2-0849BF571014}"/>
                  </a:ext>
                </a:extLst>
              </p:cNvPr>
              <p:cNvSpPr>
                <a:spLocks noGrp="1" noRot="1" noChangeAspect="1" noMove="1" noResize="1" noEditPoints="1" noAdjustHandles="1" noChangeArrowheads="1" noChangeShapeType="1" noTextEdit="1"/>
              </p:cNvSpPr>
              <p:nvPr>
                <p:ph idx="1"/>
              </p:nvPr>
            </p:nvSpPr>
            <p:spPr>
              <a:blipFill>
                <a:blip r:embed="rId2"/>
                <a:stretch>
                  <a:fillRect t="-72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4D4069E-BC6B-6CB8-BD32-B6EDD6DD3A1D}"/>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F0D094AD-DF06-68FE-7D75-EFE8F6D55801}"/>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C44D4E55-37C5-D5A4-1711-E47D0B52E4FB}"/>
              </a:ext>
            </a:extLst>
          </p:cNvPr>
          <p:cNvSpPr>
            <a:spLocks noGrp="1"/>
          </p:cNvSpPr>
          <p:nvPr>
            <p:ph type="sldNum" sz="quarter" idx="12"/>
          </p:nvPr>
        </p:nvSpPr>
        <p:spPr/>
        <p:txBody>
          <a:bodyPr/>
          <a:lstStyle/>
          <a:p>
            <a:fld id="{19B12225-5612-419B-A8D5-4B8EEE4C217E}" type="slidenum">
              <a:rPr lang="en-US" smtClean="0"/>
              <a:pPr/>
              <a:t>42</a:t>
            </a:fld>
            <a:endParaRPr lang="en-US"/>
          </a:p>
        </p:txBody>
      </p:sp>
      <p:pic>
        <p:nvPicPr>
          <p:cNvPr id="10" name="Picture 9">
            <a:extLst>
              <a:ext uri="{FF2B5EF4-FFF2-40B4-BE49-F238E27FC236}">
                <a16:creationId xmlns:a16="http://schemas.microsoft.com/office/drawing/2014/main" id="{A5A67053-FAC9-8864-132E-3636B29A537E}"/>
              </a:ext>
            </a:extLst>
          </p:cNvPr>
          <p:cNvPicPr>
            <a:picLocks noChangeAspect="1"/>
          </p:cNvPicPr>
          <p:nvPr/>
        </p:nvPicPr>
        <p:blipFill>
          <a:blip r:embed="rId3"/>
          <a:stretch>
            <a:fillRect/>
          </a:stretch>
        </p:blipFill>
        <p:spPr>
          <a:xfrm>
            <a:off x="1651000" y="2019804"/>
            <a:ext cx="5842000" cy="584200"/>
          </a:xfrm>
          <a:prstGeom prst="rect">
            <a:avLst/>
          </a:prstGeom>
        </p:spPr>
      </p:pic>
      <p:pic>
        <p:nvPicPr>
          <p:cNvPr id="11" name="Picture 10">
            <a:extLst>
              <a:ext uri="{FF2B5EF4-FFF2-40B4-BE49-F238E27FC236}">
                <a16:creationId xmlns:a16="http://schemas.microsoft.com/office/drawing/2014/main" id="{956685E4-F27F-DEC9-D405-75671551C8AB}"/>
              </a:ext>
            </a:extLst>
          </p:cNvPr>
          <p:cNvPicPr>
            <a:picLocks noChangeAspect="1"/>
          </p:cNvPicPr>
          <p:nvPr/>
        </p:nvPicPr>
        <p:blipFill>
          <a:blip r:embed="rId4"/>
          <a:stretch>
            <a:fillRect/>
          </a:stretch>
        </p:blipFill>
        <p:spPr>
          <a:xfrm>
            <a:off x="1651000" y="2634483"/>
            <a:ext cx="4216400" cy="58420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52F3031-2AAF-48CB-D9B3-4A7ACD980F75}"/>
                  </a:ext>
                </a:extLst>
              </p:cNvPr>
              <p:cNvSpPr txBox="1"/>
              <p:nvPr/>
            </p:nvSpPr>
            <p:spPr>
              <a:xfrm>
                <a:off x="1105318" y="3901752"/>
                <a:ext cx="6137962" cy="25854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800" i="1" smtClean="0">
                              <a:latin typeface="Cambria Math" panose="02040503050406030204" pitchFamily="18" charset="0"/>
                              <a:cs typeface="Arial" pitchFamily="34" charset="0"/>
                            </a:rPr>
                          </m:ctrlPr>
                        </m:sSubSupPr>
                        <m:e>
                          <m:r>
                            <a:rPr lang="en-US" sz="2800" b="0" i="1" smtClean="0">
                              <a:latin typeface="Cambria Math" panose="02040503050406030204" pitchFamily="18" charset="0"/>
                              <a:cs typeface="Arial" pitchFamily="34" charset="0"/>
                            </a:rPr>
                            <m:t>𝑤</m:t>
                          </m:r>
                        </m:e>
                        <m:sub>
                          <m:r>
                            <a:rPr lang="en-US" sz="2800" b="0" i="1" smtClean="0">
                              <a:latin typeface="Cambria Math" panose="02040503050406030204" pitchFamily="18" charset="0"/>
                              <a:cs typeface="Arial" pitchFamily="34" charset="0"/>
                            </a:rPr>
                            <m:t>𝑗</m:t>
                          </m:r>
                        </m:sub>
                        <m:sup>
                          <m:r>
                            <a:rPr lang="en-US" sz="2800" b="0" i="1" smtClean="0">
                              <a:latin typeface="Cambria Math" panose="02040503050406030204" pitchFamily="18" charset="0"/>
                              <a:cs typeface="Arial" pitchFamily="34" charset="0"/>
                            </a:rPr>
                            <m:t>∗</m:t>
                          </m:r>
                        </m:sup>
                      </m:sSubSup>
                      <m:r>
                        <a:rPr lang="en-US" sz="2800" b="0" i="1" smtClean="0">
                          <a:latin typeface="Cambria Math" panose="02040503050406030204" pitchFamily="18" charset="0"/>
                          <a:cs typeface="Arial" pitchFamily="34" charset="0"/>
                        </a:rPr>
                        <m:t>=−</m:t>
                      </m:r>
                      <m:f>
                        <m:fPr>
                          <m:ctrlPr>
                            <a:rPr lang="en-US" sz="2800" b="0" i="1" smtClean="0">
                              <a:latin typeface="Cambria Math" panose="02040503050406030204" pitchFamily="18" charset="0"/>
                              <a:cs typeface="Arial" pitchFamily="34" charset="0"/>
                            </a:rPr>
                          </m:ctrlPr>
                        </m:fPr>
                        <m:num>
                          <m:r>
                            <a:rPr lang="en-US" sz="2800" b="0" i="1" smtClean="0">
                              <a:latin typeface="Cambria Math" panose="02040503050406030204" pitchFamily="18" charset="0"/>
                              <a:cs typeface="Arial" pitchFamily="34" charset="0"/>
                            </a:rPr>
                            <m:t>𝐺</m:t>
                          </m:r>
                          <m:r>
                            <a:rPr lang="en-US" sz="2800" b="0" i="1" baseline="-25000" smtClean="0">
                              <a:latin typeface="Cambria Math" panose="02040503050406030204" pitchFamily="18" charset="0"/>
                              <a:cs typeface="Arial" pitchFamily="34" charset="0"/>
                            </a:rPr>
                            <m:t>𝑗</m:t>
                          </m:r>
                        </m:num>
                        <m:den>
                          <m:r>
                            <a:rPr lang="en-US" sz="2800" b="0" i="1" smtClean="0">
                              <a:latin typeface="Cambria Math" panose="02040503050406030204" pitchFamily="18" charset="0"/>
                              <a:cs typeface="Arial" pitchFamily="34" charset="0"/>
                            </a:rPr>
                            <m:t>𝐻</m:t>
                          </m:r>
                          <m:r>
                            <a:rPr lang="en-US" sz="2800" b="0" i="1" baseline="-25000" smtClean="0">
                              <a:latin typeface="Cambria Math" panose="02040503050406030204" pitchFamily="18" charset="0"/>
                              <a:cs typeface="Arial" pitchFamily="34" charset="0"/>
                            </a:rPr>
                            <m:t>𝑗</m:t>
                          </m:r>
                          <m:r>
                            <a:rPr lang="en-US" sz="2800" b="0" i="1" smtClean="0">
                              <a:latin typeface="Cambria Math" panose="02040503050406030204" pitchFamily="18" charset="0"/>
                              <a:cs typeface="Arial" pitchFamily="34" charset="0"/>
                            </a:rPr>
                            <m:t>+</m:t>
                          </m:r>
                          <m:r>
                            <a:rPr lang="en-US" sz="2800" b="0" i="1" smtClean="0">
                              <a:latin typeface="Cambria Math" panose="02040503050406030204" pitchFamily="18" charset="0"/>
                              <a:ea typeface="Cambria Math" panose="02040503050406030204" pitchFamily="18" charset="0"/>
                              <a:cs typeface="Arial" pitchFamily="34" charset="0"/>
                            </a:rPr>
                            <m:t>𝜆</m:t>
                          </m:r>
                        </m:den>
                      </m:f>
                      <m:r>
                        <a:rPr lang="en-US" sz="2800" b="0" i="1" smtClean="0">
                          <a:latin typeface="Cambria Math" panose="02040503050406030204" pitchFamily="18" charset="0"/>
                          <a:cs typeface="Arial" pitchFamily="34" charset="0"/>
                        </a:rPr>
                        <m:t>=−</m:t>
                      </m:r>
                      <m:f>
                        <m:fPr>
                          <m:ctrlPr>
                            <a:rPr lang="en-US" sz="2800" i="1">
                              <a:latin typeface="Cambria Math" panose="02040503050406030204" pitchFamily="18" charset="0"/>
                              <a:cs typeface="Arial" pitchFamily="34" charset="0"/>
                            </a:rPr>
                          </m:ctrlPr>
                        </m:fPr>
                        <m:num>
                          <m:nary>
                            <m:naryPr>
                              <m:chr m:val="∑"/>
                              <m:supHide m:val="on"/>
                              <m:ctrlPr>
                                <a:rPr lang="en-US" sz="2800" i="1" smtClean="0">
                                  <a:latin typeface="Cambria Math" panose="02040503050406030204" pitchFamily="18" charset="0"/>
                                  <a:cs typeface="Arial" pitchFamily="34" charset="0"/>
                                </a:rPr>
                              </m:ctrlPr>
                            </m:naryPr>
                            <m:sub>
                              <m:r>
                                <m:rPr>
                                  <m:brk m:alnAt="7"/>
                                </m:rPr>
                                <a:rPr lang="en-US" sz="2800" b="0" i="1" smtClean="0">
                                  <a:latin typeface="Cambria Math" panose="02040503050406030204" pitchFamily="18" charset="0"/>
                                  <a:cs typeface="Arial" pitchFamily="34" charset="0"/>
                                </a:rPr>
                                <m:t>𝑖</m:t>
                              </m:r>
                              <m:r>
                                <a:rPr lang="en-US" sz="2800" b="0" i="1" smtClean="0">
                                  <a:latin typeface="Cambria Math" panose="02040503050406030204" pitchFamily="18" charset="0"/>
                                  <a:ea typeface="Cambria Math" panose="02040503050406030204" pitchFamily="18" charset="0"/>
                                  <a:cs typeface="Arial" pitchFamily="34" charset="0"/>
                                </a:rPr>
                                <m:t>∈</m:t>
                              </m:r>
                              <m:r>
                                <a:rPr lang="en-US" sz="2800" b="0" i="1" smtClean="0">
                                  <a:latin typeface="Cambria Math" panose="02040503050406030204" pitchFamily="18" charset="0"/>
                                  <a:ea typeface="Cambria Math" panose="02040503050406030204" pitchFamily="18" charset="0"/>
                                  <a:cs typeface="Arial" pitchFamily="34" charset="0"/>
                                </a:rPr>
                                <m:t>𝐼𝑗</m:t>
                              </m:r>
                            </m:sub>
                            <m:sup/>
                            <m:e>
                              <m:r>
                                <a:rPr lang="en-US" sz="2800" i="1">
                                  <a:latin typeface="Cambria Math" panose="02040503050406030204" pitchFamily="18" charset="0"/>
                                  <a:cs typeface="Arial" pitchFamily="34" charset="0"/>
                                </a:rPr>
                                <m:t>𝑔</m:t>
                              </m:r>
                              <m:r>
                                <a:rPr lang="en-US" sz="2800" b="0" i="1" baseline="-25000" smtClean="0">
                                  <a:latin typeface="Cambria Math" panose="02040503050406030204" pitchFamily="18" charset="0"/>
                                  <a:cs typeface="Arial" pitchFamily="34" charset="0"/>
                                </a:rPr>
                                <m:t>𝑖</m:t>
                              </m:r>
                            </m:e>
                          </m:nary>
                        </m:num>
                        <m:den>
                          <m:nary>
                            <m:naryPr>
                              <m:chr m:val="∑"/>
                              <m:supHide m:val="on"/>
                              <m:ctrlPr>
                                <a:rPr lang="en-US" sz="2800" i="1">
                                  <a:latin typeface="Cambria Math" panose="02040503050406030204" pitchFamily="18" charset="0"/>
                                  <a:cs typeface="Arial" pitchFamily="34" charset="0"/>
                                </a:rPr>
                              </m:ctrlPr>
                            </m:naryPr>
                            <m:sub>
                              <m:r>
                                <m:rPr>
                                  <m:brk m:alnAt="7"/>
                                </m:rPr>
                                <a:rPr lang="en-US" sz="2800" i="1">
                                  <a:latin typeface="Cambria Math" panose="02040503050406030204" pitchFamily="18" charset="0"/>
                                  <a:cs typeface="Arial" pitchFamily="34" charset="0"/>
                                </a:rPr>
                                <m:t>𝑖</m:t>
                              </m:r>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𝐼𝑗</m:t>
                              </m:r>
                            </m:sub>
                            <m:sup/>
                            <m:e>
                              <m:r>
                                <a:rPr lang="en-US" sz="2800" b="0" i="1" smtClean="0">
                                  <a:latin typeface="Cambria Math" panose="02040503050406030204" pitchFamily="18" charset="0"/>
                                  <a:cs typeface="Arial" pitchFamily="34" charset="0"/>
                                </a:rPr>
                                <m:t>h</m:t>
                              </m:r>
                              <m:r>
                                <a:rPr lang="en-US" sz="2800" b="0" i="1" baseline="-25000" smtClean="0">
                                  <a:latin typeface="Cambria Math" panose="02040503050406030204" pitchFamily="18" charset="0"/>
                                  <a:cs typeface="Arial" pitchFamily="34" charset="0"/>
                                </a:rPr>
                                <m:t>𝑖</m:t>
                              </m:r>
                            </m:e>
                          </m:nary>
                          <m:r>
                            <a:rPr lang="en-US" sz="2800" i="1">
                              <a:latin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𝜆</m:t>
                          </m:r>
                        </m:den>
                      </m:f>
                    </m:oMath>
                  </m:oMathPara>
                </a14:m>
                <a:endParaRPr lang="en-US" sz="2800" i="1" dirty="0">
                  <a:latin typeface="Cambria Math" panose="02040503050406030204" pitchFamily="18" charset="0"/>
                  <a:ea typeface="Cambria Math" panose="02040503050406030204" pitchFamily="18" charset="0"/>
                  <a:cs typeface="Arial" pitchFamily="34" charset="0"/>
                </a:endParaRPr>
              </a:p>
              <a:p>
                <a:r>
                  <a:rPr lang="en-US" sz="2800" b="0" dirty="0">
                    <a:ea typeface="Cambria Math" panose="02040503050406030204" pitchFamily="18" charset="0"/>
                    <a:cs typeface="Arial" pitchFamily="34" charset="0"/>
                  </a:rPr>
                  <a:t>                                         </a:t>
                </a:r>
                <a14:m>
                  <m:oMath xmlns:m="http://schemas.openxmlformats.org/officeDocument/2006/math">
                    <m:r>
                      <a:rPr lang="en-US" sz="2800" b="0" i="1" smtClean="0">
                        <a:latin typeface="Cambria Math" panose="02040503050406030204" pitchFamily="18" charset="0"/>
                        <a:ea typeface="Cambria Math" panose="02040503050406030204" pitchFamily="18" charset="0"/>
                        <a:cs typeface="Arial" pitchFamily="34" charset="0"/>
                      </a:rPr>
                      <m:t>=−</m:t>
                    </m:r>
                    <m:f>
                      <m:fPr>
                        <m:ctrlPr>
                          <a:rPr lang="en-US" sz="2800" b="0" i="1" smtClean="0">
                            <a:latin typeface="Cambria Math" panose="02040503050406030204" pitchFamily="18" charset="0"/>
                            <a:ea typeface="Cambria Math" panose="02040503050406030204" pitchFamily="18" charset="0"/>
                            <a:cs typeface="Arial" pitchFamily="34" charset="0"/>
                          </a:rPr>
                        </m:ctrlPr>
                      </m:fPr>
                      <m:num>
                        <m:r>
                          <a:rPr lang="en-US" sz="2800" b="0" i="1" smtClean="0">
                            <a:latin typeface="Cambria Math" panose="02040503050406030204" pitchFamily="18" charset="0"/>
                            <a:ea typeface="Cambria Math" panose="02040503050406030204" pitchFamily="18" charset="0"/>
                            <a:cs typeface="Arial" pitchFamily="34" charset="0"/>
                          </a:rPr>
                          <m:t>2</m:t>
                        </m:r>
                        <m:nary>
                          <m:naryPr>
                            <m:chr m:val="∑"/>
                            <m:supHide m:val="on"/>
                            <m:ctrlPr>
                              <a:rPr lang="en-US" sz="2800" i="1">
                                <a:latin typeface="Cambria Math" panose="02040503050406030204" pitchFamily="18" charset="0"/>
                                <a:cs typeface="Arial" pitchFamily="34" charset="0"/>
                              </a:rPr>
                            </m:ctrlPr>
                          </m:naryPr>
                          <m:sub>
                            <m:r>
                              <m:rPr>
                                <m:brk m:alnAt="7"/>
                              </m:rPr>
                              <a:rPr lang="en-US" sz="2800" i="1">
                                <a:latin typeface="Cambria Math" panose="02040503050406030204" pitchFamily="18" charset="0"/>
                                <a:cs typeface="Arial" pitchFamily="34" charset="0"/>
                              </a:rPr>
                              <m:t>𝑖</m:t>
                            </m:r>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𝐼𝑗</m:t>
                            </m:r>
                          </m:sub>
                          <m:sup/>
                          <m:e>
                            <m:d>
                              <m:dPr>
                                <m:ctrlPr>
                                  <a:rPr lang="en-US" sz="2800" i="1">
                                    <a:latin typeface="Cambria Math" panose="02040503050406030204" pitchFamily="18" charset="0"/>
                                    <a:ea typeface="Cambria Math" panose="02040503050406030204" pitchFamily="18" charset="0"/>
                                    <a:cs typeface="Arial" pitchFamily="34" charset="0"/>
                                  </a:rPr>
                                </m:ctrlPr>
                              </m:dPr>
                              <m:e>
                                <m:sSup>
                                  <m:sSupPr>
                                    <m:ctrlPr>
                                      <a:rPr lang="en-US" sz="2800" i="1">
                                        <a:latin typeface="Cambria Math" panose="02040503050406030204" pitchFamily="18" charset="0"/>
                                        <a:ea typeface="Cambria Math" panose="02040503050406030204" pitchFamily="18" charset="0"/>
                                        <a:cs typeface="Arial" pitchFamily="34" charset="0"/>
                                      </a:rPr>
                                    </m:ctrlPr>
                                  </m:sSupPr>
                                  <m:e>
                                    <m:acc>
                                      <m:accPr>
                                        <m:chr m:val="̂"/>
                                        <m:ctrlPr>
                                          <a:rPr lang="en-US" sz="2800" i="1">
                                            <a:latin typeface="Cambria Math" panose="02040503050406030204" pitchFamily="18" charset="0"/>
                                            <a:ea typeface="Cambria Math" panose="02040503050406030204" pitchFamily="18" charset="0"/>
                                            <a:cs typeface="Arial" pitchFamily="34" charset="0"/>
                                          </a:rPr>
                                        </m:ctrlPr>
                                      </m:accPr>
                                      <m:e>
                                        <m:r>
                                          <a:rPr lang="en-US" sz="2800" i="1">
                                            <a:latin typeface="Cambria Math" panose="02040503050406030204" pitchFamily="18" charset="0"/>
                                            <a:ea typeface="Cambria Math" panose="02040503050406030204" pitchFamily="18" charset="0"/>
                                            <a:cs typeface="Arial" pitchFamily="34" charset="0"/>
                                          </a:rPr>
                                          <m:t>𝑦</m:t>
                                        </m:r>
                                      </m:e>
                                    </m:acc>
                                  </m:e>
                                  <m:sup>
                                    <m:d>
                                      <m:dPr>
                                        <m:ctrlPr>
                                          <a:rPr lang="en-US" sz="2800" i="1">
                                            <a:latin typeface="Cambria Math" panose="02040503050406030204" pitchFamily="18" charset="0"/>
                                            <a:ea typeface="Cambria Math" panose="02040503050406030204" pitchFamily="18" charset="0"/>
                                            <a:cs typeface="Arial" pitchFamily="34" charset="0"/>
                                          </a:rPr>
                                        </m:ctrlPr>
                                      </m:dPr>
                                      <m:e>
                                        <m:r>
                                          <a:rPr lang="en-US" sz="2800" i="1">
                                            <a:latin typeface="Cambria Math" panose="02040503050406030204" pitchFamily="18" charset="0"/>
                                            <a:ea typeface="Cambria Math" panose="02040503050406030204" pitchFamily="18" charset="0"/>
                                            <a:cs typeface="Arial" pitchFamily="34" charset="0"/>
                                          </a:rPr>
                                          <m:t>𝑡</m:t>
                                        </m:r>
                                        <m:r>
                                          <a:rPr lang="en-US" sz="2800" i="1">
                                            <a:latin typeface="Cambria Math" panose="02040503050406030204" pitchFamily="18" charset="0"/>
                                            <a:ea typeface="Cambria Math" panose="02040503050406030204" pitchFamily="18" charset="0"/>
                                            <a:cs typeface="Arial" pitchFamily="34" charset="0"/>
                                          </a:rPr>
                                          <m:t>−1</m:t>
                                        </m:r>
                                      </m:e>
                                    </m:d>
                                  </m:sup>
                                </m:sSup>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𝑦𝑖</m:t>
                                </m:r>
                              </m:e>
                            </m:d>
                          </m:e>
                        </m:nary>
                      </m:num>
                      <m:den>
                        <m:nary>
                          <m:naryPr>
                            <m:chr m:val="∑"/>
                            <m:supHide m:val="on"/>
                            <m:ctrlPr>
                              <a:rPr lang="en-US" sz="2800" i="1">
                                <a:latin typeface="Cambria Math" panose="02040503050406030204" pitchFamily="18" charset="0"/>
                                <a:cs typeface="Arial" pitchFamily="34" charset="0"/>
                              </a:rPr>
                            </m:ctrlPr>
                          </m:naryPr>
                          <m:sub>
                            <m:r>
                              <m:rPr>
                                <m:brk m:alnAt="7"/>
                              </m:rPr>
                              <a:rPr lang="en-US" sz="2800" i="1">
                                <a:latin typeface="Cambria Math" panose="02040503050406030204" pitchFamily="18" charset="0"/>
                                <a:cs typeface="Arial" pitchFamily="34" charset="0"/>
                              </a:rPr>
                              <m:t>𝑖</m:t>
                            </m:r>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𝐼𝑗</m:t>
                            </m:r>
                          </m:sub>
                          <m:sup/>
                          <m:e>
                            <m:r>
                              <a:rPr lang="en-US" sz="2800" b="0" i="1" smtClean="0">
                                <a:latin typeface="Cambria Math" panose="02040503050406030204" pitchFamily="18" charset="0"/>
                                <a:cs typeface="Arial" pitchFamily="34" charset="0"/>
                              </a:rPr>
                              <m:t>2</m:t>
                            </m:r>
                          </m:e>
                        </m:nary>
                        <m:r>
                          <a:rPr lang="en-US" sz="2800" i="1">
                            <a:latin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𝜆</m:t>
                        </m:r>
                      </m:den>
                    </m:f>
                  </m:oMath>
                </a14:m>
                <a:endParaRPr lang="en-US" sz="2800" b="0" i="1" dirty="0">
                  <a:latin typeface="Cambria Math" panose="02040503050406030204" pitchFamily="18" charset="0"/>
                  <a:ea typeface="Cambria Math" panose="02040503050406030204" pitchFamily="18" charset="0"/>
                  <a:cs typeface="Arial" pitchFamily="34" charset="0"/>
                </a:endParaRPr>
              </a:p>
              <a:p>
                <a:r>
                  <a:rPr lang="en-US" sz="2800" b="0" dirty="0">
                    <a:ea typeface="Cambria Math" panose="02040503050406030204" pitchFamily="18" charset="0"/>
                    <a:cs typeface="Arial" pitchFamily="34" charset="0"/>
                  </a:rPr>
                  <a:t>                                         </a:t>
                </a:r>
                <a14:m>
                  <m:oMath xmlns:m="http://schemas.openxmlformats.org/officeDocument/2006/math">
                    <m:r>
                      <a:rPr lang="en-US" sz="2800" b="0" i="1" smtClean="0">
                        <a:latin typeface="Cambria Math" panose="02040503050406030204" pitchFamily="18" charset="0"/>
                        <a:ea typeface="Cambria Math" panose="02040503050406030204" pitchFamily="18" charset="0"/>
                        <a:cs typeface="Arial" pitchFamily="34" charset="0"/>
                      </a:rPr>
                      <m:t>=</m:t>
                    </m:r>
                    <m:f>
                      <m:fPr>
                        <m:ctrlPr>
                          <a:rPr lang="en-US" sz="2800" b="0" i="1" smtClean="0">
                            <a:latin typeface="Cambria Math" panose="02040503050406030204" pitchFamily="18" charset="0"/>
                            <a:ea typeface="Cambria Math" panose="02040503050406030204" pitchFamily="18" charset="0"/>
                            <a:cs typeface="Arial" pitchFamily="34" charset="0"/>
                          </a:rPr>
                        </m:ctrlPr>
                      </m:fPr>
                      <m:num>
                        <m:nary>
                          <m:naryPr>
                            <m:chr m:val="∑"/>
                            <m:supHide m:val="on"/>
                            <m:ctrlPr>
                              <a:rPr lang="en-US" sz="2800" i="1">
                                <a:latin typeface="Cambria Math" panose="02040503050406030204" pitchFamily="18" charset="0"/>
                                <a:cs typeface="Arial" pitchFamily="34" charset="0"/>
                              </a:rPr>
                            </m:ctrlPr>
                          </m:naryPr>
                          <m:sub>
                            <m:r>
                              <m:rPr>
                                <m:brk m:alnAt="7"/>
                              </m:rPr>
                              <a:rPr lang="en-US" sz="2800" i="1">
                                <a:latin typeface="Cambria Math" panose="02040503050406030204" pitchFamily="18" charset="0"/>
                                <a:cs typeface="Arial" pitchFamily="34" charset="0"/>
                              </a:rPr>
                              <m:t>𝑖</m:t>
                            </m:r>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𝐼𝑗</m:t>
                            </m:r>
                          </m:sub>
                          <m:sup/>
                          <m:e>
                            <m:d>
                              <m:dPr>
                                <m:ctrlPr>
                                  <a:rPr lang="en-US" sz="2800" i="1">
                                    <a:latin typeface="Cambria Math" panose="02040503050406030204" pitchFamily="18" charset="0"/>
                                    <a:ea typeface="Cambria Math" panose="02040503050406030204" pitchFamily="18" charset="0"/>
                                    <a:cs typeface="Arial" pitchFamily="34" charset="0"/>
                                  </a:rPr>
                                </m:ctrlPr>
                              </m:dPr>
                              <m:e>
                                <m:r>
                                  <a:rPr lang="en-US" sz="2800" b="0" i="1" smtClean="0">
                                    <a:latin typeface="Cambria Math" panose="02040503050406030204" pitchFamily="18" charset="0"/>
                                    <a:ea typeface="Cambria Math" panose="02040503050406030204" pitchFamily="18" charset="0"/>
                                    <a:cs typeface="Arial" pitchFamily="34" charset="0"/>
                                  </a:rPr>
                                  <m:t>𝑟𝑒𝑠𝑖𝑑𝑢𝑎𝑙</m:t>
                                </m:r>
                              </m:e>
                            </m:d>
                          </m:e>
                        </m:nary>
                      </m:num>
                      <m:den>
                        <m:r>
                          <a:rPr lang="en-US" sz="2800" b="0" i="1" smtClean="0">
                            <a:latin typeface="Cambria Math" panose="02040503050406030204" pitchFamily="18" charset="0"/>
                            <a:ea typeface="Cambria Math" panose="02040503050406030204" pitchFamily="18" charset="0"/>
                            <a:cs typeface="Arial" pitchFamily="34" charset="0"/>
                          </a:rPr>
                          <m:t>#</m:t>
                        </m:r>
                        <m:r>
                          <m:rPr>
                            <m:sty m:val="p"/>
                          </m:rPr>
                          <a:rPr lang="en-US" sz="2800" b="0" i="0" smtClean="0">
                            <a:latin typeface="Cambria Math" panose="02040503050406030204" pitchFamily="18" charset="0"/>
                            <a:ea typeface="Cambria Math" panose="02040503050406030204" pitchFamily="18" charset="0"/>
                            <a:cs typeface="Arial" pitchFamily="34" charset="0"/>
                          </a:rPr>
                          <m:t>examples</m:t>
                        </m:r>
                        <m:r>
                          <a:rPr lang="en-US" sz="2800" b="0" i="0" smtClean="0">
                            <a:latin typeface="Cambria Math" panose="02040503050406030204" pitchFamily="18" charset="0"/>
                            <a:ea typeface="Cambria Math" panose="02040503050406030204" pitchFamily="18" charset="0"/>
                            <a:cs typeface="Arial" pitchFamily="34" charset="0"/>
                          </a:rPr>
                          <m:t> </m:t>
                        </m:r>
                        <m:r>
                          <m:rPr>
                            <m:sty m:val="p"/>
                          </m:rPr>
                          <a:rPr lang="en-US" sz="2800" b="0" i="0" smtClean="0">
                            <a:latin typeface="Cambria Math" panose="02040503050406030204" pitchFamily="18" charset="0"/>
                            <a:ea typeface="Cambria Math" panose="02040503050406030204" pitchFamily="18" charset="0"/>
                            <a:cs typeface="Arial" pitchFamily="34" charset="0"/>
                          </a:rPr>
                          <m:t>in</m:t>
                        </m:r>
                        <m:r>
                          <a:rPr lang="en-US" sz="2800" b="0" i="0" smtClean="0">
                            <a:latin typeface="Cambria Math" panose="02040503050406030204" pitchFamily="18" charset="0"/>
                            <a:ea typeface="Cambria Math" panose="02040503050406030204" pitchFamily="18" charset="0"/>
                            <a:cs typeface="Arial" pitchFamily="34" charset="0"/>
                          </a:rPr>
                          <m:t> </m:t>
                        </m:r>
                        <m:r>
                          <m:rPr>
                            <m:sty m:val="p"/>
                          </m:rPr>
                          <a:rPr lang="en-US" sz="2800" b="0" i="0" smtClean="0">
                            <a:latin typeface="Cambria Math" panose="02040503050406030204" pitchFamily="18" charset="0"/>
                            <a:ea typeface="Cambria Math" panose="02040503050406030204" pitchFamily="18" charset="0"/>
                            <a:cs typeface="Arial" pitchFamily="34" charset="0"/>
                          </a:rPr>
                          <m:t>leaf</m:t>
                        </m:r>
                        <m:r>
                          <a:rPr lang="en-US" sz="2800" i="1">
                            <a:latin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𝜆</m:t>
                        </m:r>
                        <m:r>
                          <a:rPr lang="en-US" sz="2800" b="0" i="1" smtClean="0">
                            <a:latin typeface="Cambria Math" panose="02040503050406030204" pitchFamily="18" charset="0"/>
                            <a:ea typeface="Cambria Math" panose="02040503050406030204" pitchFamily="18" charset="0"/>
                            <a:cs typeface="Arial" pitchFamily="34" charset="0"/>
                          </a:rPr>
                          <m:t>/2</m:t>
                        </m:r>
                      </m:den>
                    </m:f>
                  </m:oMath>
                </a14:m>
                <a:endParaRPr lang="en-US" sz="2800" dirty="0">
                  <a:latin typeface="Arial" pitchFamily="34" charset="0"/>
                  <a:cs typeface="Arial" pitchFamily="34" charset="0"/>
                </a:endParaRPr>
              </a:p>
            </p:txBody>
          </p:sp>
        </mc:Choice>
        <mc:Fallback xmlns="">
          <p:sp>
            <p:nvSpPr>
              <p:cNvPr id="12" name="TextBox 11">
                <a:extLst>
                  <a:ext uri="{FF2B5EF4-FFF2-40B4-BE49-F238E27FC236}">
                    <a16:creationId xmlns:a16="http://schemas.microsoft.com/office/drawing/2014/main" id="{A52F3031-2AAF-48CB-D9B3-4A7ACD980F75}"/>
                  </a:ext>
                </a:extLst>
              </p:cNvPr>
              <p:cNvSpPr txBox="1">
                <a:spLocks noRot="1" noChangeAspect="1" noMove="1" noResize="1" noEditPoints="1" noAdjustHandles="1" noChangeArrowheads="1" noChangeShapeType="1" noTextEdit="1"/>
              </p:cNvSpPr>
              <p:nvPr/>
            </p:nvSpPr>
            <p:spPr>
              <a:xfrm>
                <a:off x="1105318" y="3901752"/>
                <a:ext cx="6137962" cy="2585451"/>
              </a:xfrm>
              <a:prstGeom prst="rect">
                <a:avLst/>
              </a:prstGeom>
              <a:blipFill>
                <a:blip r:embed="rId5"/>
                <a:stretch>
                  <a:fillRect t="-28922" r="-412" b="-13235"/>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A58FB917-2D29-B4AF-A3BB-4D0D2AEBBAE1}"/>
              </a:ext>
            </a:extLst>
          </p:cNvPr>
          <p:cNvSpPr/>
          <p:nvPr/>
        </p:nvSpPr>
        <p:spPr>
          <a:xfrm>
            <a:off x="3759200" y="5687367"/>
            <a:ext cx="3947886" cy="896313"/>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E12B28A1-ACDE-8FFD-DBE5-E74D8566AD31}"/>
              </a:ext>
            </a:extLst>
          </p:cNvPr>
          <p:cNvSpPr txBox="1"/>
          <p:nvPr/>
        </p:nvSpPr>
        <p:spPr>
          <a:xfrm>
            <a:off x="984737" y="5838092"/>
            <a:ext cx="2367705" cy="646331"/>
          </a:xfrm>
          <a:prstGeom prst="rect">
            <a:avLst/>
          </a:prstGeom>
          <a:noFill/>
        </p:spPr>
        <p:txBody>
          <a:bodyPr wrap="square" rtlCol="0">
            <a:spAutoFit/>
          </a:bodyPr>
          <a:lstStyle/>
          <a:p>
            <a:r>
              <a:rPr lang="en-US" dirty="0">
                <a:solidFill>
                  <a:srgbClr val="00B050"/>
                </a:solidFill>
                <a:latin typeface="Arial" pitchFamily="34" charset="0"/>
                <a:cs typeface="Arial" pitchFamily="34" charset="0"/>
              </a:rPr>
              <a:t>This is the output value we saw before</a:t>
            </a:r>
          </a:p>
        </p:txBody>
      </p:sp>
    </p:spTree>
    <p:extLst>
      <p:ext uri="{BB962C8B-B14F-4D97-AF65-F5344CB8AC3E}">
        <p14:creationId xmlns:p14="http://schemas.microsoft.com/office/powerpoint/2010/main" val="1814822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3204F-E6FA-DAE3-4586-A1D3ED2D7AA5}"/>
              </a:ext>
            </a:extLst>
          </p:cNvPr>
          <p:cNvSpPr>
            <a:spLocks noGrp="1"/>
          </p:cNvSpPr>
          <p:nvPr>
            <p:ph type="title"/>
          </p:nvPr>
        </p:nvSpPr>
        <p:spPr/>
        <p:txBody>
          <a:bodyPr/>
          <a:lstStyle/>
          <a:p>
            <a:r>
              <a:rPr lang="en-US" dirty="0"/>
              <a:t>For Regression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9592E7-140E-B09F-82F2-0849BF571014}"/>
                  </a:ext>
                </a:extLst>
              </p:cNvPr>
              <p:cNvSpPr>
                <a:spLocks noGrp="1"/>
              </p:cNvSpPr>
              <p:nvPr>
                <p:ph idx="1"/>
              </p:nvPr>
            </p:nvSpPr>
            <p:spPr/>
            <p:txBody>
              <a:bodyPr/>
              <a:lstStyle/>
              <a:p>
                <a:r>
                  <a:rPr lang="en-US" b="1" dirty="0">
                    <a:solidFill>
                      <a:srgbClr val="0000FF"/>
                    </a:solidFill>
                  </a:rPr>
                  <a:t>Derive </a:t>
                </a:r>
                <a14:m>
                  <m:oMath xmlns:m="http://schemas.openxmlformats.org/officeDocument/2006/math">
                    <m:r>
                      <a:rPr lang="en-US" b="1" i="1" dirty="0" smtClean="0">
                        <a:solidFill>
                          <a:srgbClr val="0000FF"/>
                        </a:solidFill>
                        <a:latin typeface="Cambria Math" panose="02040503050406030204" pitchFamily="18" charset="0"/>
                      </a:rPr>
                      <m:t>𝒈</m:t>
                    </m:r>
                  </m:oMath>
                </a14:m>
                <a:r>
                  <a:rPr lang="en-US" b="1" dirty="0">
                    <a:solidFill>
                      <a:srgbClr val="0000FF"/>
                    </a:solidFill>
                  </a:rPr>
                  <a:t> and </a:t>
                </a:r>
                <a14:m>
                  <m:oMath xmlns:m="http://schemas.openxmlformats.org/officeDocument/2006/math">
                    <m:r>
                      <a:rPr lang="en-US" b="1" i="1" dirty="0" smtClean="0">
                        <a:solidFill>
                          <a:srgbClr val="0000FF"/>
                        </a:solidFill>
                        <a:latin typeface="Cambria Math" panose="02040503050406030204" pitchFamily="18" charset="0"/>
                      </a:rPr>
                      <m:t>𝒉</m:t>
                    </m:r>
                  </m:oMath>
                </a14:m>
                <a:r>
                  <a:rPr lang="en-US" b="1" dirty="0">
                    <a:solidFill>
                      <a:srgbClr val="0000FF"/>
                    </a:solidFill>
                  </a:rPr>
                  <a:t> for square loss:</a:t>
                </a:r>
              </a:p>
              <a:p>
                <a:endParaRPr lang="en-US" b="1" dirty="0">
                  <a:solidFill>
                    <a:srgbClr val="0000FF"/>
                  </a:solidFill>
                </a:endParaRPr>
              </a:p>
              <a:p>
                <a:endParaRPr lang="en-US" b="1" dirty="0">
                  <a:solidFill>
                    <a:srgbClr val="0000FF"/>
                  </a:solidFill>
                </a:endParaRPr>
              </a:p>
              <a:p>
                <a:endParaRPr lang="en-US" b="1" dirty="0">
                  <a:solidFill>
                    <a:srgbClr val="0000FF"/>
                  </a:solidFill>
                </a:endParaRPr>
              </a:p>
              <a:p>
                <a:r>
                  <a:rPr lang="en-US" b="1" dirty="0">
                    <a:solidFill>
                      <a:srgbClr val="0000FF"/>
                    </a:solidFill>
                  </a:rPr>
                  <a:t>And </a:t>
                </a:r>
              </a:p>
              <a:p>
                <a:endParaRPr lang="en-US" dirty="0"/>
              </a:p>
            </p:txBody>
          </p:sp>
        </mc:Choice>
        <mc:Fallback xmlns="">
          <p:sp>
            <p:nvSpPr>
              <p:cNvPr id="3" name="Content Placeholder 2">
                <a:extLst>
                  <a:ext uri="{FF2B5EF4-FFF2-40B4-BE49-F238E27FC236}">
                    <a16:creationId xmlns:a16="http://schemas.microsoft.com/office/drawing/2014/main" id="{F09592E7-140E-B09F-82F2-0849BF571014}"/>
                  </a:ext>
                </a:extLst>
              </p:cNvPr>
              <p:cNvSpPr>
                <a:spLocks noGrp="1" noRot="1" noChangeAspect="1" noMove="1" noResize="1" noEditPoints="1" noAdjustHandles="1" noChangeArrowheads="1" noChangeShapeType="1" noTextEdit="1"/>
              </p:cNvSpPr>
              <p:nvPr>
                <p:ph idx="1"/>
              </p:nvPr>
            </p:nvSpPr>
            <p:spPr>
              <a:blipFill>
                <a:blip r:embed="rId2"/>
                <a:stretch>
                  <a:fillRect t="-72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4D4069E-BC6B-6CB8-BD32-B6EDD6DD3A1D}"/>
              </a:ext>
            </a:extLst>
          </p:cNvPr>
          <p:cNvSpPr>
            <a:spLocks noGrp="1"/>
          </p:cNvSpPr>
          <p:nvPr>
            <p:ph type="dt" sz="half" idx="10"/>
          </p:nvPr>
        </p:nvSpPr>
        <p:spPr/>
        <p:txBody>
          <a:bodyPr/>
          <a:lstStyle/>
          <a:p>
            <a:fld id="{02665C2A-0FCD-864C-B398-C650D71C6BA9}" type="datetime1">
              <a:rPr lang="en-US" smtClean="0"/>
              <a:t>10/15/24</a:t>
            </a:fld>
            <a:endParaRPr lang="en-US"/>
          </a:p>
        </p:txBody>
      </p:sp>
      <p:sp>
        <p:nvSpPr>
          <p:cNvPr id="5" name="Footer Placeholder 4">
            <a:extLst>
              <a:ext uri="{FF2B5EF4-FFF2-40B4-BE49-F238E27FC236}">
                <a16:creationId xmlns:a16="http://schemas.microsoft.com/office/drawing/2014/main" id="{F0D094AD-DF06-68FE-7D75-EFE8F6D55801}"/>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C44D4E55-37C5-D5A4-1711-E47D0B52E4FB}"/>
              </a:ext>
            </a:extLst>
          </p:cNvPr>
          <p:cNvSpPr>
            <a:spLocks noGrp="1"/>
          </p:cNvSpPr>
          <p:nvPr>
            <p:ph type="sldNum" sz="quarter" idx="12"/>
          </p:nvPr>
        </p:nvSpPr>
        <p:spPr/>
        <p:txBody>
          <a:bodyPr/>
          <a:lstStyle/>
          <a:p>
            <a:fld id="{19B12225-5612-419B-A8D5-4B8EEE4C217E}" type="slidenum">
              <a:rPr lang="en-US" smtClean="0"/>
              <a:pPr/>
              <a:t>43</a:t>
            </a:fld>
            <a:endParaRPr lang="en-US"/>
          </a:p>
        </p:txBody>
      </p:sp>
      <p:pic>
        <p:nvPicPr>
          <p:cNvPr id="10" name="Picture 9">
            <a:extLst>
              <a:ext uri="{FF2B5EF4-FFF2-40B4-BE49-F238E27FC236}">
                <a16:creationId xmlns:a16="http://schemas.microsoft.com/office/drawing/2014/main" id="{A5A67053-FAC9-8864-132E-3636B29A537E}"/>
              </a:ext>
            </a:extLst>
          </p:cNvPr>
          <p:cNvPicPr>
            <a:picLocks noChangeAspect="1"/>
          </p:cNvPicPr>
          <p:nvPr/>
        </p:nvPicPr>
        <p:blipFill>
          <a:blip r:embed="rId3"/>
          <a:stretch>
            <a:fillRect/>
          </a:stretch>
        </p:blipFill>
        <p:spPr>
          <a:xfrm>
            <a:off x="1651000" y="2019804"/>
            <a:ext cx="5842000" cy="584200"/>
          </a:xfrm>
          <a:prstGeom prst="rect">
            <a:avLst/>
          </a:prstGeom>
        </p:spPr>
      </p:pic>
      <p:pic>
        <p:nvPicPr>
          <p:cNvPr id="11" name="Picture 10">
            <a:extLst>
              <a:ext uri="{FF2B5EF4-FFF2-40B4-BE49-F238E27FC236}">
                <a16:creationId xmlns:a16="http://schemas.microsoft.com/office/drawing/2014/main" id="{956685E4-F27F-DEC9-D405-75671551C8AB}"/>
              </a:ext>
            </a:extLst>
          </p:cNvPr>
          <p:cNvPicPr>
            <a:picLocks noChangeAspect="1"/>
          </p:cNvPicPr>
          <p:nvPr/>
        </p:nvPicPr>
        <p:blipFill>
          <a:blip r:embed="rId4"/>
          <a:stretch>
            <a:fillRect/>
          </a:stretch>
        </p:blipFill>
        <p:spPr>
          <a:xfrm>
            <a:off x="1651000" y="2634483"/>
            <a:ext cx="4216400" cy="584200"/>
          </a:xfrm>
          <a:prstGeom prst="rect">
            <a:avLst/>
          </a:prstGeom>
        </p:spPr>
      </p:pic>
      <p:sp>
        <p:nvSpPr>
          <p:cNvPr id="13" name="Rectangle 12">
            <a:extLst>
              <a:ext uri="{FF2B5EF4-FFF2-40B4-BE49-F238E27FC236}">
                <a16:creationId xmlns:a16="http://schemas.microsoft.com/office/drawing/2014/main" id="{A58FB917-2D29-B4AF-A3BB-4D0D2AEBBAE1}"/>
              </a:ext>
            </a:extLst>
          </p:cNvPr>
          <p:cNvSpPr/>
          <p:nvPr/>
        </p:nvSpPr>
        <p:spPr>
          <a:xfrm>
            <a:off x="4202183" y="5656888"/>
            <a:ext cx="2826081" cy="896313"/>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E12B28A1-ACDE-8FFD-DBE5-E74D8566AD31}"/>
              </a:ext>
            </a:extLst>
          </p:cNvPr>
          <p:cNvSpPr txBox="1"/>
          <p:nvPr/>
        </p:nvSpPr>
        <p:spPr>
          <a:xfrm>
            <a:off x="7224765" y="5806951"/>
            <a:ext cx="1856677" cy="646331"/>
          </a:xfrm>
          <a:prstGeom prst="rect">
            <a:avLst/>
          </a:prstGeom>
          <a:noFill/>
        </p:spPr>
        <p:txBody>
          <a:bodyPr wrap="square" rtlCol="0">
            <a:spAutoFit/>
          </a:bodyPr>
          <a:lstStyle/>
          <a:p>
            <a:r>
              <a:rPr lang="en-US" dirty="0">
                <a:solidFill>
                  <a:srgbClr val="00B050"/>
                </a:solidFill>
                <a:latin typeface="Arial" pitchFamily="34" charset="0"/>
                <a:cs typeface="Arial" pitchFamily="34" charset="0"/>
              </a:rPr>
              <a:t>we saw this in similarity score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D6E587D-7AE8-9E56-4BBC-7A12C549D581}"/>
                  </a:ext>
                </a:extLst>
              </p:cNvPr>
              <p:cNvSpPr txBox="1"/>
              <p:nvPr/>
            </p:nvSpPr>
            <p:spPr>
              <a:xfrm>
                <a:off x="1524000" y="3600322"/>
                <a:ext cx="5504264" cy="28380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cs typeface="Arial" pitchFamily="34" charset="0"/>
                        </a:rPr>
                        <m:t>𝑂</m:t>
                      </m:r>
                      <m:r>
                        <a:rPr lang="en-US" sz="2800" b="0" i="1" smtClean="0">
                          <a:latin typeface="Cambria Math" panose="02040503050406030204" pitchFamily="18" charset="0"/>
                          <a:cs typeface="Arial" pitchFamily="34" charset="0"/>
                        </a:rPr>
                        <m:t>𝑏𝑗</m:t>
                      </m:r>
                      <m:r>
                        <a:rPr lang="en-US" sz="2800" b="0" i="1" smtClean="0">
                          <a:latin typeface="Cambria Math" panose="02040503050406030204" pitchFamily="18" charset="0"/>
                          <a:cs typeface="Arial" pitchFamily="34" charset="0"/>
                        </a:rPr>
                        <m:t>=−</m:t>
                      </m:r>
                      <m:f>
                        <m:fPr>
                          <m:ctrlPr>
                            <a:rPr lang="en-US" sz="2800" b="0" i="1" smtClean="0">
                              <a:latin typeface="Cambria Math" panose="02040503050406030204" pitchFamily="18" charset="0"/>
                              <a:cs typeface="Arial" pitchFamily="34" charset="0"/>
                            </a:rPr>
                          </m:ctrlPr>
                        </m:fPr>
                        <m:num>
                          <m:r>
                            <a:rPr lang="en-US" sz="2800" b="0" i="1" smtClean="0">
                              <a:latin typeface="Cambria Math" panose="02040503050406030204" pitchFamily="18" charset="0"/>
                              <a:cs typeface="Arial" pitchFamily="34" charset="0"/>
                            </a:rPr>
                            <m:t>1</m:t>
                          </m:r>
                        </m:num>
                        <m:den>
                          <m:r>
                            <a:rPr lang="en-US" sz="2800" b="0" i="1" smtClean="0">
                              <a:latin typeface="Cambria Math" panose="02040503050406030204" pitchFamily="18" charset="0"/>
                              <a:cs typeface="Arial" pitchFamily="34" charset="0"/>
                            </a:rPr>
                            <m:t>2</m:t>
                          </m:r>
                        </m:den>
                      </m:f>
                      <m:nary>
                        <m:naryPr>
                          <m:chr m:val="∑"/>
                          <m:ctrlPr>
                            <a:rPr lang="en-US" sz="2800" b="0" i="1" smtClean="0">
                              <a:latin typeface="Cambria Math" panose="02040503050406030204" pitchFamily="18" charset="0"/>
                              <a:cs typeface="Arial" pitchFamily="34" charset="0"/>
                            </a:rPr>
                          </m:ctrlPr>
                        </m:naryPr>
                        <m:sub>
                          <m:r>
                            <m:rPr>
                              <m:brk m:alnAt="23"/>
                            </m:rPr>
                            <a:rPr lang="en-US" sz="2800" b="0" i="1" smtClean="0">
                              <a:latin typeface="Cambria Math" panose="02040503050406030204" pitchFamily="18" charset="0"/>
                              <a:cs typeface="Arial" pitchFamily="34" charset="0"/>
                            </a:rPr>
                            <m:t>𝑗</m:t>
                          </m:r>
                          <m:r>
                            <a:rPr lang="en-US" sz="2800" b="0" i="1" smtClean="0">
                              <a:latin typeface="Cambria Math" panose="02040503050406030204" pitchFamily="18" charset="0"/>
                              <a:cs typeface="Arial" pitchFamily="34" charset="0"/>
                            </a:rPr>
                            <m:t>=1</m:t>
                          </m:r>
                        </m:sub>
                        <m:sup>
                          <m:r>
                            <a:rPr lang="en-US" sz="2800" b="0" i="1" smtClean="0">
                              <a:latin typeface="Cambria Math" panose="02040503050406030204" pitchFamily="18" charset="0"/>
                              <a:cs typeface="Arial" pitchFamily="34" charset="0"/>
                            </a:rPr>
                            <m:t>𝑇</m:t>
                          </m:r>
                        </m:sup>
                        <m:e>
                          <m:f>
                            <m:fPr>
                              <m:ctrlPr>
                                <a:rPr lang="en-US" sz="2800" i="1">
                                  <a:latin typeface="Cambria Math" panose="02040503050406030204" pitchFamily="18" charset="0"/>
                                  <a:cs typeface="Arial" pitchFamily="34" charset="0"/>
                                </a:rPr>
                              </m:ctrlPr>
                            </m:fPr>
                            <m:num>
                              <m:sSubSup>
                                <m:sSubSupPr>
                                  <m:ctrlPr>
                                    <a:rPr lang="en-US" sz="2800" i="1" smtClean="0">
                                      <a:latin typeface="Cambria Math" panose="02040503050406030204" pitchFamily="18" charset="0"/>
                                      <a:cs typeface="Arial" pitchFamily="34" charset="0"/>
                                    </a:rPr>
                                  </m:ctrlPr>
                                </m:sSubSupPr>
                                <m:e>
                                  <m:r>
                                    <a:rPr lang="en-US" sz="2800" b="0" i="1" smtClean="0">
                                      <a:latin typeface="Cambria Math" panose="02040503050406030204" pitchFamily="18" charset="0"/>
                                      <a:cs typeface="Arial" pitchFamily="34" charset="0"/>
                                    </a:rPr>
                                    <m:t>𝐺</m:t>
                                  </m:r>
                                </m:e>
                                <m:sub>
                                  <m:r>
                                    <a:rPr lang="en-US" sz="2800" b="0" i="1" smtClean="0">
                                      <a:latin typeface="Cambria Math" panose="02040503050406030204" pitchFamily="18" charset="0"/>
                                      <a:cs typeface="Arial" pitchFamily="34" charset="0"/>
                                    </a:rPr>
                                    <m:t>𝑗</m:t>
                                  </m:r>
                                </m:sub>
                                <m:sup>
                                  <m:r>
                                    <a:rPr lang="en-US" sz="2800" b="0" i="1" smtClean="0">
                                      <a:latin typeface="Cambria Math" panose="02040503050406030204" pitchFamily="18" charset="0"/>
                                      <a:cs typeface="Arial" pitchFamily="34" charset="0"/>
                                    </a:rPr>
                                    <m:t>2</m:t>
                                  </m:r>
                                </m:sup>
                              </m:sSubSup>
                            </m:num>
                            <m:den>
                              <m:r>
                                <a:rPr lang="en-US" sz="2800" i="1">
                                  <a:latin typeface="Cambria Math" panose="02040503050406030204" pitchFamily="18" charset="0"/>
                                  <a:cs typeface="Arial" pitchFamily="34" charset="0"/>
                                </a:rPr>
                                <m:t>𝐻</m:t>
                              </m:r>
                              <m:r>
                                <a:rPr lang="en-US" sz="2800" i="1" baseline="-25000">
                                  <a:latin typeface="Cambria Math" panose="02040503050406030204" pitchFamily="18" charset="0"/>
                                  <a:cs typeface="Arial" pitchFamily="34" charset="0"/>
                                </a:rPr>
                                <m:t>𝑗</m:t>
                              </m:r>
                              <m:r>
                                <a:rPr lang="en-US" sz="2800" i="1">
                                  <a:latin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𝜆</m:t>
                              </m:r>
                            </m:den>
                          </m:f>
                          <m:r>
                            <a:rPr lang="en-US" sz="2800" b="0" i="1" smtClean="0">
                              <a:latin typeface="Cambria Math" panose="02040503050406030204" pitchFamily="18" charset="0"/>
                              <a:ea typeface="Cambria Math" panose="02040503050406030204" pitchFamily="18" charset="0"/>
                              <a:cs typeface="Arial" pitchFamily="34" charset="0"/>
                            </a:rPr>
                            <m:t>+</m:t>
                          </m:r>
                          <m:r>
                            <a:rPr lang="en-US" sz="2800" b="0" i="1" smtClean="0">
                              <a:latin typeface="Cambria Math" panose="02040503050406030204" pitchFamily="18" charset="0"/>
                              <a:ea typeface="Cambria Math" panose="02040503050406030204" pitchFamily="18" charset="0"/>
                              <a:cs typeface="Arial" pitchFamily="34" charset="0"/>
                            </a:rPr>
                            <m:t>𝛾</m:t>
                          </m:r>
                          <m:r>
                            <a:rPr lang="en-US" sz="2800" b="0" i="1" smtClean="0">
                              <a:latin typeface="Cambria Math" panose="02040503050406030204" pitchFamily="18" charset="0"/>
                              <a:ea typeface="Cambria Math" panose="02040503050406030204" pitchFamily="18" charset="0"/>
                              <a:cs typeface="Arial" pitchFamily="34" charset="0"/>
                            </a:rPr>
                            <m:t>𝑇</m:t>
                          </m:r>
                        </m:e>
                      </m:nary>
                    </m:oMath>
                  </m:oMathPara>
                </a14:m>
                <a:endParaRPr lang="en-US" sz="2800" b="0" dirty="0">
                  <a:latin typeface="Arial" pitchFamily="34" charset="0"/>
                  <a:cs typeface="Arial" pitchFamily="34" charset="0"/>
                </a:endParaRPr>
              </a:p>
              <a:p>
                <a:r>
                  <a:rPr lang="en-US" sz="2800" dirty="0">
                    <a:latin typeface="Arial" pitchFamily="34" charset="0"/>
                    <a:cs typeface="Arial" pitchFamily="34" charset="0"/>
                  </a:rPr>
                  <a:t>             =</a:t>
                </a:r>
                <a:r>
                  <a:rPr lang="en-US" sz="2800" dirty="0">
                    <a:ea typeface="Cambria Math" panose="02040503050406030204" pitchFamily="18" charset="0"/>
                    <a:cs typeface="Arial" pitchFamily="34" charset="0"/>
                  </a:rPr>
                  <a:t> </a:t>
                </a:r>
                <a14:m>
                  <m:oMath xmlns:m="http://schemas.openxmlformats.org/officeDocument/2006/math">
                    <m:r>
                      <a:rPr lang="en-US" sz="2800" i="1">
                        <a:latin typeface="Cambria Math" panose="02040503050406030204" pitchFamily="18" charset="0"/>
                        <a:ea typeface="Cambria Math" panose="02040503050406030204" pitchFamily="18" charset="0"/>
                        <a:cs typeface="Arial" pitchFamily="34" charset="0"/>
                      </a:rPr>
                      <m:t>−</m:t>
                    </m:r>
                    <m:f>
                      <m:fPr>
                        <m:ctrlPr>
                          <a:rPr lang="en-US" sz="2800" i="1">
                            <a:latin typeface="Cambria Math" panose="02040503050406030204" pitchFamily="18" charset="0"/>
                            <a:cs typeface="Arial" pitchFamily="34" charset="0"/>
                          </a:rPr>
                        </m:ctrlPr>
                      </m:fPr>
                      <m:num>
                        <m:r>
                          <a:rPr lang="en-US" sz="2800" i="1">
                            <a:latin typeface="Cambria Math" panose="02040503050406030204" pitchFamily="18" charset="0"/>
                            <a:cs typeface="Arial" pitchFamily="34" charset="0"/>
                          </a:rPr>
                          <m:t>1</m:t>
                        </m:r>
                      </m:num>
                      <m:den>
                        <m:r>
                          <a:rPr lang="en-US" sz="2800" i="1">
                            <a:latin typeface="Cambria Math" panose="02040503050406030204" pitchFamily="18" charset="0"/>
                            <a:cs typeface="Arial" pitchFamily="34" charset="0"/>
                          </a:rPr>
                          <m:t>2</m:t>
                        </m:r>
                      </m:den>
                    </m:f>
                    <m:nary>
                      <m:naryPr>
                        <m:chr m:val="∑"/>
                        <m:ctrlPr>
                          <a:rPr lang="en-US" sz="2800" i="1" smtClean="0">
                            <a:latin typeface="Cambria Math" panose="02040503050406030204" pitchFamily="18" charset="0"/>
                            <a:cs typeface="Arial" pitchFamily="34" charset="0"/>
                          </a:rPr>
                        </m:ctrlPr>
                      </m:naryPr>
                      <m:sub>
                        <m:r>
                          <m:rPr>
                            <m:brk m:alnAt="23"/>
                          </m:rPr>
                          <a:rPr lang="en-US" sz="2800" b="0" i="1" smtClean="0">
                            <a:latin typeface="Cambria Math" panose="02040503050406030204" pitchFamily="18" charset="0"/>
                            <a:cs typeface="Arial" pitchFamily="34" charset="0"/>
                          </a:rPr>
                          <m:t>𝑗</m:t>
                        </m:r>
                        <m:r>
                          <a:rPr lang="en-US" sz="2800" b="0" i="1" smtClean="0">
                            <a:latin typeface="Cambria Math" panose="02040503050406030204" pitchFamily="18" charset="0"/>
                            <a:cs typeface="Arial" pitchFamily="34" charset="0"/>
                          </a:rPr>
                          <m:t>=1</m:t>
                        </m:r>
                      </m:sub>
                      <m:sup>
                        <m:r>
                          <a:rPr lang="en-US" sz="2800" b="0" i="1" smtClean="0">
                            <a:latin typeface="Cambria Math" panose="02040503050406030204" pitchFamily="18" charset="0"/>
                            <a:cs typeface="Arial" pitchFamily="34" charset="0"/>
                          </a:rPr>
                          <m:t>𝑇</m:t>
                        </m:r>
                      </m:sup>
                      <m:e>
                        <m:f>
                          <m:fPr>
                            <m:ctrlPr>
                              <a:rPr lang="en-US" sz="2800" i="1">
                                <a:latin typeface="Cambria Math" panose="02040503050406030204" pitchFamily="18" charset="0"/>
                                <a:ea typeface="Cambria Math" panose="02040503050406030204" pitchFamily="18" charset="0"/>
                                <a:cs typeface="Arial" pitchFamily="34" charset="0"/>
                              </a:rPr>
                            </m:ctrlPr>
                          </m:fPr>
                          <m:num>
                            <m:r>
                              <a:rPr lang="en-US" sz="2800" i="1">
                                <a:latin typeface="Cambria Math" panose="02040503050406030204" pitchFamily="18" charset="0"/>
                                <a:ea typeface="Cambria Math" panose="02040503050406030204" pitchFamily="18" charset="0"/>
                                <a:cs typeface="Arial" pitchFamily="34" charset="0"/>
                              </a:rPr>
                              <m:t>4</m:t>
                            </m:r>
                            <m:nary>
                              <m:naryPr>
                                <m:chr m:val="∑"/>
                                <m:supHide m:val="on"/>
                                <m:ctrlPr>
                                  <a:rPr lang="en-US" sz="2800" i="1">
                                    <a:latin typeface="Cambria Math" panose="02040503050406030204" pitchFamily="18" charset="0"/>
                                    <a:cs typeface="Arial" pitchFamily="34" charset="0"/>
                                  </a:rPr>
                                </m:ctrlPr>
                              </m:naryPr>
                              <m:sub>
                                <m:r>
                                  <m:rPr>
                                    <m:brk m:alnAt="7"/>
                                  </m:rPr>
                                  <a:rPr lang="en-US" sz="2800" i="1">
                                    <a:latin typeface="Cambria Math" panose="02040503050406030204" pitchFamily="18" charset="0"/>
                                    <a:cs typeface="Arial" pitchFamily="34" charset="0"/>
                                  </a:rPr>
                                  <m:t>𝑖</m:t>
                                </m:r>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𝐼𝑗</m:t>
                                </m:r>
                              </m:sub>
                              <m:sup/>
                              <m:e>
                                <m:d>
                                  <m:dPr>
                                    <m:ctrlPr>
                                      <a:rPr lang="en-US" sz="2800" i="1">
                                        <a:latin typeface="Cambria Math" panose="02040503050406030204" pitchFamily="18" charset="0"/>
                                        <a:ea typeface="Cambria Math" panose="02040503050406030204" pitchFamily="18" charset="0"/>
                                        <a:cs typeface="Arial" pitchFamily="34" charset="0"/>
                                      </a:rPr>
                                    </m:ctrlPr>
                                  </m:dPr>
                                  <m:e>
                                    <m:sSup>
                                      <m:sSupPr>
                                        <m:ctrlPr>
                                          <a:rPr lang="en-US" sz="2800" i="1">
                                            <a:latin typeface="Cambria Math" panose="02040503050406030204" pitchFamily="18" charset="0"/>
                                            <a:ea typeface="Cambria Math" panose="02040503050406030204" pitchFamily="18" charset="0"/>
                                            <a:cs typeface="Arial" pitchFamily="34" charset="0"/>
                                          </a:rPr>
                                        </m:ctrlPr>
                                      </m:sSupPr>
                                      <m:e>
                                        <m:acc>
                                          <m:accPr>
                                            <m:chr m:val="̂"/>
                                            <m:ctrlPr>
                                              <a:rPr lang="en-US" sz="2800" i="1">
                                                <a:latin typeface="Cambria Math" panose="02040503050406030204" pitchFamily="18" charset="0"/>
                                                <a:ea typeface="Cambria Math" panose="02040503050406030204" pitchFamily="18" charset="0"/>
                                                <a:cs typeface="Arial" pitchFamily="34" charset="0"/>
                                              </a:rPr>
                                            </m:ctrlPr>
                                          </m:accPr>
                                          <m:e>
                                            <m:r>
                                              <a:rPr lang="en-US" sz="2800" i="1">
                                                <a:latin typeface="Cambria Math" panose="02040503050406030204" pitchFamily="18" charset="0"/>
                                                <a:ea typeface="Cambria Math" panose="02040503050406030204" pitchFamily="18" charset="0"/>
                                                <a:cs typeface="Arial" pitchFamily="34" charset="0"/>
                                              </a:rPr>
                                              <m:t>𝑦</m:t>
                                            </m:r>
                                          </m:e>
                                        </m:acc>
                                      </m:e>
                                      <m:sup>
                                        <m:d>
                                          <m:dPr>
                                            <m:ctrlPr>
                                              <a:rPr lang="en-US" sz="2800" i="1">
                                                <a:latin typeface="Cambria Math" panose="02040503050406030204" pitchFamily="18" charset="0"/>
                                                <a:ea typeface="Cambria Math" panose="02040503050406030204" pitchFamily="18" charset="0"/>
                                                <a:cs typeface="Arial" pitchFamily="34" charset="0"/>
                                              </a:rPr>
                                            </m:ctrlPr>
                                          </m:dPr>
                                          <m:e>
                                            <m:r>
                                              <a:rPr lang="en-US" sz="2800" i="1">
                                                <a:latin typeface="Cambria Math" panose="02040503050406030204" pitchFamily="18" charset="0"/>
                                                <a:ea typeface="Cambria Math" panose="02040503050406030204" pitchFamily="18" charset="0"/>
                                                <a:cs typeface="Arial" pitchFamily="34" charset="0"/>
                                              </a:rPr>
                                              <m:t>𝑡</m:t>
                                            </m:r>
                                            <m:r>
                                              <a:rPr lang="en-US" sz="2800" i="1">
                                                <a:latin typeface="Cambria Math" panose="02040503050406030204" pitchFamily="18" charset="0"/>
                                                <a:ea typeface="Cambria Math" panose="02040503050406030204" pitchFamily="18" charset="0"/>
                                                <a:cs typeface="Arial" pitchFamily="34" charset="0"/>
                                              </a:rPr>
                                              <m:t>−1</m:t>
                                            </m:r>
                                          </m:e>
                                        </m:d>
                                      </m:sup>
                                    </m:sSup>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𝑦𝑖</m:t>
                                    </m:r>
                                  </m:e>
                                </m:d>
                                <m:r>
                                  <a:rPr lang="en-US" sz="2800" i="1" baseline="30000">
                                    <a:latin typeface="Cambria Math" panose="02040503050406030204" pitchFamily="18" charset="0"/>
                                    <a:ea typeface="Cambria Math" panose="02040503050406030204" pitchFamily="18" charset="0"/>
                                    <a:cs typeface="Arial" pitchFamily="34" charset="0"/>
                                  </a:rPr>
                                  <m:t>2</m:t>
                                </m:r>
                              </m:e>
                            </m:nary>
                          </m:num>
                          <m:den>
                            <m:nary>
                              <m:naryPr>
                                <m:chr m:val="∑"/>
                                <m:supHide m:val="on"/>
                                <m:ctrlPr>
                                  <a:rPr lang="en-US" sz="2800" i="1">
                                    <a:latin typeface="Cambria Math" panose="02040503050406030204" pitchFamily="18" charset="0"/>
                                    <a:cs typeface="Arial" pitchFamily="34" charset="0"/>
                                  </a:rPr>
                                </m:ctrlPr>
                              </m:naryPr>
                              <m:sub>
                                <m:r>
                                  <m:rPr>
                                    <m:brk m:alnAt="7"/>
                                  </m:rPr>
                                  <a:rPr lang="en-US" sz="2800" i="1">
                                    <a:latin typeface="Cambria Math" panose="02040503050406030204" pitchFamily="18" charset="0"/>
                                    <a:cs typeface="Arial" pitchFamily="34" charset="0"/>
                                  </a:rPr>
                                  <m:t>𝑖</m:t>
                                </m:r>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𝐼𝑗</m:t>
                                </m:r>
                              </m:sub>
                              <m:sup/>
                              <m:e>
                                <m:r>
                                  <a:rPr lang="en-US" sz="2800" i="1">
                                    <a:latin typeface="Cambria Math" panose="02040503050406030204" pitchFamily="18" charset="0"/>
                                    <a:cs typeface="Arial" pitchFamily="34" charset="0"/>
                                  </a:rPr>
                                  <m:t>2</m:t>
                                </m:r>
                              </m:e>
                            </m:nary>
                            <m:r>
                              <a:rPr lang="en-US" sz="2800" i="1">
                                <a:latin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𝜆</m:t>
                            </m:r>
                          </m:den>
                        </m:f>
                      </m:e>
                    </m:nary>
                  </m:oMath>
                </a14:m>
                <a:endParaRPr lang="en-US" sz="2800" dirty="0">
                  <a:latin typeface="Arial" pitchFamily="34" charset="0"/>
                  <a:cs typeface="Arial" pitchFamily="34" charset="0"/>
                </a:endParaRPr>
              </a:p>
              <a:p>
                <a:r>
                  <a:rPr lang="en-US" sz="2800" dirty="0">
                    <a:latin typeface="Arial" pitchFamily="34" charset="0"/>
                    <a:cs typeface="Arial" pitchFamily="34" charset="0"/>
                  </a:rPr>
                  <a:t>             =</a:t>
                </a:r>
                <a:r>
                  <a:rPr lang="en-US" sz="2800" dirty="0">
                    <a:ea typeface="Cambria Math" panose="02040503050406030204" pitchFamily="18" charset="0"/>
                    <a:cs typeface="Arial" pitchFamily="34" charset="0"/>
                  </a:rPr>
                  <a:t> </a:t>
                </a:r>
                <a14:m>
                  <m:oMath xmlns:m="http://schemas.openxmlformats.org/officeDocument/2006/math">
                    <m:r>
                      <a:rPr lang="en-US" sz="2800" b="0" i="0" smtClean="0">
                        <a:latin typeface="Cambria Math" panose="02040503050406030204" pitchFamily="18" charset="0"/>
                        <a:ea typeface="Cambria Math" panose="02040503050406030204" pitchFamily="18" charset="0"/>
                        <a:cs typeface="Arial" pitchFamily="34" charset="0"/>
                      </a:rPr>
                      <m:t>−</m:t>
                    </m:r>
                    <m:nary>
                      <m:naryPr>
                        <m:chr m:val="∑"/>
                        <m:ctrlPr>
                          <a:rPr lang="en-US" sz="2800" i="1" smtClean="0">
                            <a:latin typeface="Cambria Math" panose="02040503050406030204" pitchFamily="18" charset="0"/>
                            <a:ea typeface="Cambria Math" panose="02040503050406030204" pitchFamily="18" charset="0"/>
                            <a:cs typeface="Arial" pitchFamily="34" charset="0"/>
                          </a:rPr>
                        </m:ctrlPr>
                      </m:naryPr>
                      <m:sub>
                        <m:r>
                          <m:rPr>
                            <m:brk m:alnAt="23"/>
                          </m:rPr>
                          <a:rPr lang="en-US" sz="2800" b="0" i="1" smtClean="0">
                            <a:latin typeface="Cambria Math" panose="02040503050406030204" pitchFamily="18" charset="0"/>
                            <a:ea typeface="Cambria Math" panose="02040503050406030204" pitchFamily="18" charset="0"/>
                            <a:cs typeface="Arial" pitchFamily="34" charset="0"/>
                          </a:rPr>
                          <m:t>𝑗</m:t>
                        </m:r>
                        <m:r>
                          <a:rPr lang="en-US" sz="2800" b="0" i="1" smtClean="0">
                            <a:latin typeface="Cambria Math" panose="02040503050406030204" pitchFamily="18" charset="0"/>
                            <a:ea typeface="Cambria Math" panose="02040503050406030204" pitchFamily="18" charset="0"/>
                            <a:cs typeface="Arial" pitchFamily="34" charset="0"/>
                          </a:rPr>
                          <m:t>=1</m:t>
                        </m:r>
                      </m:sub>
                      <m:sup>
                        <m:r>
                          <a:rPr lang="en-US" sz="2800" b="0" i="1" smtClean="0">
                            <a:latin typeface="Cambria Math" panose="02040503050406030204" pitchFamily="18" charset="0"/>
                            <a:ea typeface="Cambria Math" panose="02040503050406030204" pitchFamily="18" charset="0"/>
                            <a:cs typeface="Arial" pitchFamily="34" charset="0"/>
                          </a:rPr>
                          <m:t>𝑇</m:t>
                        </m:r>
                      </m:sup>
                      <m:e>
                        <m:f>
                          <m:fPr>
                            <m:ctrlPr>
                              <a:rPr lang="en-US" sz="2800" i="1">
                                <a:latin typeface="Cambria Math" panose="02040503050406030204" pitchFamily="18" charset="0"/>
                                <a:ea typeface="Cambria Math" panose="02040503050406030204" pitchFamily="18" charset="0"/>
                                <a:cs typeface="Arial" pitchFamily="34" charset="0"/>
                              </a:rPr>
                            </m:ctrlPr>
                          </m:fPr>
                          <m:num>
                            <m:nary>
                              <m:naryPr>
                                <m:chr m:val="∑"/>
                                <m:supHide m:val="on"/>
                                <m:ctrlPr>
                                  <a:rPr lang="en-US" sz="2800" i="1">
                                    <a:latin typeface="Cambria Math" panose="02040503050406030204" pitchFamily="18" charset="0"/>
                                    <a:cs typeface="Arial" pitchFamily="34" charset="0"/>
                                  </a:rPr>
                                </m:ctrlPr>
                              </m:naryPr>
                              <m:sub>
                                <m:r>
                                  <m:rPr>
                                    <m:brk m:alnAt="7"/>
                                  </m:rPr>
                                  <a:rPr lang="en-US" sz="2800" i="1">
                                    <a:latin typeface="Cambria Math" panose="02040503050406030204" pitchFamily="18" charset="0"/>
                                    <a:cs typeface="Arial" pitchFamily="34" charset="0"/>
                                  </a:rPr>
                                  <m:t>𝑖</m:t>
                                </m:r>
                                <m:r>
                                  <a:rPr lang="en-US" sz="2800" i="1">
                                    <a:latin typeface="Cambria Math" panose="02040503050406030204" pitchFamily="18" charset="0"/>
                                    <a:ea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𝐼𝑗</m:t>
                                </m:r>
                              </m:sub>
                              <m:sup/>
                              <m:e>
                                <m:d>
                                  <m:dPr>
                                    <m:ctrlPr>
                                      <a:rPr lang="en-US" sz="2800" i="1">
                                        <a:latin typeface="Cambria Math" panose="02040503050406030204" pitchFamily="18" charset="0"/>
                                        <a:ea typeface="Cambria Math" panose="02040503050406030204" pitchFamily="18" charset="0"/>
                                        <a:cs typeface="Arial" pitchFamily="34" charset="0"/>
                                      </a:rPr>
                                    </m:ctrlPr>
                                  </m:dPr>
                                  <m:e>
                                    <m:r>
                                      <a:rPr lang="en-US" sz="2800" i="1">
                                        <a:latin typeface="Cambria Math" panose="02040503050406030204" pitchFamily="18" charset="0"/>
                                        <a:ea typeface="Cambria Math" panose="02040503050406030204" pitchFamily="18" charset="0"/>
                                        <a:cs typeface="Arial" pitchFamily="34" charset="0"/>
                                      </a:rPr>
                                      <m:t>𝑟𝑒𝑠𝑖𝑑𝑢𝑎𝑙</m:t>
                                    </m:r>
                                  </m:e>
                                </m:d>
                                <m:r>
                                  <a:rPr lang="en-US" sz="2800" i="1" baseline="30000">
                                    <a:latin typeface="Cambria Math" panose="02040503050406030204" pitchFamily="18" charset="0"/>
                                    <a:ea typeface="Cambria Math" panose="02040503050406030204" pitchFamily="18" charset="0"/>
                                    <a:cs typeface="Arial" pitchFamily="34" charset="0"/>
                                  </a:rPr>
                                  <m:t>2</m:t>
                                </m:r>
                              </m:e>
                            </m:nary>
                          </m:num>
                          <m:den>
                            <m:r>
                              <a:rPr lang="en-US" sz="2800" i="1">
                                <a:latin typeface="Cambria Math" panose="02040503050406030204" pitchFamily="18" charset="0"/>
                                <a:ea typeface="Cambria Math" panose="02040503050406030204" pitchFamily="18" charset="0"/>
                                <a:cs typeface="Arial" pitchFamily="34" charset="0"/>
                              </a:rPr>
                              <m:t>#</m:t>
                            </m:r>
                            <m:r>
                              <m:rPr>
                                <m:sty m:val="p"/>
                              </m:rPr>
                              <a:rPr lang="en-US" sz="2800">
                                <a:latin typeface="Cambria Math" panose="02040503050406030204" pitchFamily="18" charset="0"/>
                                <a:ea typeface="Cambria Math" panose="02040503050406030204" pitchFamily="18" charset="0"/>
                                <a:cs typeface="Arial" pitchFamily="34" charset="0"/>
                              </a:rPr>
                              <m:t>examples</m:t>
                            </m:r>
                            <m:r>
                              <a:rPr lang="en-US" sz="2800">
                                <a:latin typeface="Cambria Math" panose="02040503050406030204" pitchFamily="18" charset="0"/>
                                <a:ea typeface="Cambria Math" panose="02040503050406030204" pitchFamily="18" charset="0"/>
                                <a:cs typeface="Arial" pitchFamily="34" charset="0"/>
                              </a:rPr>
                              <m:t> </m:t>
                            </m:r>
                            <m:r>
                              <m:rPr>
                                <m:sty m:val="p"/>
                              </m:rPr>
                              <a:rPr lang="en-US" sz="2800">
                                <a:latin typeface="Cambria Math" panose="02040503050406030204" pitchFamily="18" charset="0"/>
                                <a:ea typeface="Cambria Math" panose="02040503050406030204" pitchFamily="18" charset="0"/>
                                <a:cs typeface="Arial" pitchFamily="34" charset="0"/>
                              </a:rPr>
                              <m:t>in</m:t>
                            </m:r>
                            <m:r>
                              <a:rPr lang="en-US" sz="2800">
                                <a:latin typeface="Cambria Math" panose="02040503050406030204" pitchFamily="18" charset="0"/>
                                <a:ea typeface="Cambria Math" panose="02040503050406030204" pitchFamily="18" charset="0"/>
                                <a:cs typeface="Arial" pitchFamily="34" charset="0"/>
                              </a:rPr>
                              <m:t> </m:t>
                            </m:r>
                            <m:r>
                              <m:rPr>
                                <m:sty m:val="p"/>
                              </m:rPr>
                              <a:rPr lang="en-US" sz="2800">
                                <a:latin typeface="Cambria Math" panose="02040503050406030204" pitchFamily="18" charset="0"/>
                                <a:ea typeface="Cambria Math" panose="02040503050406030204" pitchFamily="18" charset="0"/>
                                <a:cs typeface="Arial" pitchFamily="34" charset="0"/>
                              </a:rPr>
                              <m:t>leaf</m:t>
                            </m:r>
                            <m:r>
                              <a:rPr lang="en-US" sz="2800" i="1">
                                <a:latin typeface="Cambria Math" panose="02040503050406030204" pitchFamily="18" charset="0"/>
                                <a:cs typeface="Arial" pitchFamily="34" charset="0"/>
                              </a:rPr>
                              <m:t>+</m:t>
                            </m:r>
                            <m:r>
                              <a:rPr lang="en-US" sz="2800" i="1">
                                <a:latin typeface="Cambria Math" panose="02040503050406030204" pitchFamily="18" charset="0"/>
                                <a:ea typeface="Cambria Math" panose="02040503050406030204" pitchFamily="18" charset="0"/>
                                <a:cs typeface="Arial" pitchFamily="34" charset="0"/>
                              </a:rPr>
                              <m:t>𝜆</m:t>
                            </m:r>
                            <m:r>
                              <a:rPr lang="en-US" sz="2800" b="0" i="1" smtClean="0">
                                <a:latin typeface="Cambria Math" panose="02040503050406030204" pitchFamily="18" charset="0"/>
                                <a:ea typeface="Cambria Math" panose="02040503050406030204" pitchFamily="18" charset="0"/>
                                <a:cs typeface="Arial" pitchFamily="34" charset="0"/>
                              </a:rPr>
                              <m:t>/2</m:t>
                            </m:r>
                          </m:den>
                        </m:f>
                      </m:e>
                    </m:nary>
                  </m:oMath>
                </a14:m>
                <a:endParaRPr lang="en-US" sz="2800" dirty="0">
                  <a:latin typeface="Arial" pitchFamily="34" charset="0"/>
                  <a:cs typeface="Arial" pitchFamily="34" charset="0"/>
                </a:endParaRPr>
              </a:p>
            </p:txBody>
          </p:sp>
        </mc:Choice>
        <mc:Fallback xmlns="">
          <p:sp>
            <p:nvSpPr>
              <p:cNvPr id="7" name="TextBox 6">
                <a:extLst>
                  <a:ext uri="{FF2B5EF4-FFF2-40B4-BE49-F238E27FC236}">
                    <a16:creationId xmlns:a16="http://schemas.microsoft.com/office/drawing/2014/main" id="{9D6E587D-7AE8-9E56-4BBC-7A12C549D581}"/>
                  </a:ext>
                </a:extLst>
              </p:cNvPr>
              <p:cNvSpPr txBox="1">
                <a:spLocks noRot="1" noChangeAspect="1" noMove="1" noResize="1" noEditPoints="1" noAdjustHandles="1" noChangeArrowheads="1" noChangeShapeType="1" noTextEdit="1"/>
              </p:cNvSpPr>
              <p:nvPr/>
            </p:nvSpPr>
            <p:spPr>
              <a:xfrm>
                <a:off x="1524000" y="3600322"/>
                <a:ext cx="5504264" cy="2838085"/>
              </a:xfrm>
              <a:prstGeom prst="rect">
                <a:avLst/>
              </a:prstGeom>
              <a:blipFill>
                <a:blip r:embed="rId5"/>
                <a:stretch>
                  <a:fillRect t="-48214" r="-461" b="-32143"/>
                </a:stretch>
              </a:blipFill>
            </p:spPr>
            <p:txBody>
              <a:bodyPr/>
              <a:lstStyle/>
              <a:p>
                <a:r>
                  <a:rPr lang="en-US">
                    <a:noFill/>
                  </a:rPr>
                  <a:t> </a:t>
                </a:r>
              </a:p>
            </p:txBody>
          </p:sp>
        </mc:Fallback>
      </mc:AlternateContent>
    </p:spTree>
    <p:extLst>
      <p:ext uri="{BB962C8B-B14F-4D97-AF65-F5344CB8AC3E}">
        <p14:creationId xmlns:p14="http://schemas.microsoft.com/office/powerpoint/2010/main" val="28689627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349846-F60B-B84B-9C44-E7117DA2E706}"/>
                  </a:ext>
                </a:extLst>
              </p:cNvPr>
              <p:cNvSpPr>
                <a:spLocks noGrp="1"/>
              </p:cNvSpPr>
              <p:nvPr>
                <p:ph type="title"/>
              </p:nvPr>
            </p:nvSpPr>
            <p:spPr/>
            <p:txBody>
              <a:bodyPr/>
              <a:lstStyle/>
              <a:p>
                <a:r>
                  <a:rPr lang="en-US"/>
                  <a:t>How to find a single tree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𝑡</m:t>
                        </m:r>
                      </m:sub>
                    </m:sSub>
                  </m:oMath>
                </a14:m>
                <a:endParaRPr lang="en-US"/>
              </a:p>
            </p:txBody>
          </p:sp>
        </mc:Choice>
        <mc:Fallback xmlns="">
          <p:sp>
            <p:nvSpPr>
              <p:cNvPr id="2" name="Title 1">
                <a:extLst>
                  <a:ext uri="{FF2B5EF4-FFF2-40B4-BE49-F238E27FC236}">
                    <a16:creationId xmlns:a16="http://schemas.microsoft.com/office/drawing/2014/main" id="{CD349846-F60B-B84B-9C44-E7117DA2E706}"/>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325F11-B0DB-604C-99D1-96DF73475DAB}"/>
                  </a:ext>
                </a:extLst>
              </p:cNvPr>
              <p:cNvSpPr>
                <a:spLocks noGrp="1"/>
              </p:cNvSpPr>
              <p:nvPr>
                <p:ph idx="1"/>
              </p:nvPr>
            </p:nvSpPr>
            <p:spPr>
              <a:xfrm>
                <a:off x="457200" y="1295400"/>
                <a:ext cx="8626244" cy="5371848"/>
              </a:xfrm>
            </p:spPr>
            <p:txBody>
              <a:bodyPr>
                <a:normAutofit lnSpcReduction="10000"/>
              </a:bodyPr>
              <a:lstStyle/>
              <a:p>
                <a:pPr marL="118872" indent="0">
                  <a:buNone/>
                </a:pPr>
                <a:r>
                  <a:rPr lang="en-US" b="1">
                    <a:solidFill>
                      <a:srgbClr val="D60093"/>
                    </a:solidFill>
                  </a:rPr>
                  <a:t>Given a tree </a:t>
                </a:r>
                <a14:m>
                  <m:oMath xmlns:m="http://schemas.openxmlformats.org/officeDocument/2006/math">
                    <m:sSub>
                      <m:sSubPr>
                        <m:ctrlPr>
                          <a:rPr lang="en-US" b="1" i="1" smtClean="0">
                            <a:solidFill>
                              <a:srgbClr val="D60093"/>
                            </a:solidFill>
                            <a:latin typeface="Cambria Math" panose="02040503050406030204" pitchFamily="18" charset="0"/>
                          </a:rPr>
                        </m:ctrlPr>
                      </m:sSubPr>
                      <m:e>
                        <m:r>
                          <a:rPr lang="en-US" b="1" i="1" smtClean="0">
                            <a:solidFill>
                              <a:srgbClr val="D60093"/>
                            </a:solidFill>
                            <a:latin typeface="Cambria Math" panose="02040503050406030204" pitchFamily="18" charset="0"/>
                          </a:rPr>
                          <m:t>𝒇</m:t>
                        </m:r>
                      </m:e>
                      <m:sub>
                        <m:r>
                          <a:rPr lang="en-US" b="1" i="1" smtClean="0">
                            <a:solidFill>
                              <a:srgbClr val="D60093"/>
                            </a:solidFill>
                            <a:latin typeface="Cambria Math" panose="02040503050406030204" pitchFamily="18" charset="0"/>
                          </a:rPr>
                          <m:t>𝒕</m:t>
                        </m:r>
                      </m:sub>
                    </m:sSub>
                  </m:oMath>
                </a14:m>
                <a:r>
                  <a:rPr lang="en-US" b="1">
                    <a:solidFill>
                      <a:srgbClr val="D60093"/>
                    </a:solidFill>
                  </a:rPr>
                  <a:t>, we know how to</a:t>
                </a:r>
              </a:p>
              <a:p>
                <a:r>
                  <a:rPr lang="en-US"/>
                  <a:t>Calculate the score for </a:t>
                </a:r>
                <a14:m>
                  <m:oMath xmlns:m="http://schemas.openxmlformats.org/officeDocument/2006/math">
                    <m:r>
                      <a:rPr lang="en-US" i="1" dirty="0">
                        <a:latin typeface="Cambria Math" panose="02040503050406030204" pitchFamily="18" charset="0"/>
                      </a:rPr>
                      <m:t>𝑓</m:t>
                    </m:r>
                  </m:oMath>
                </a14:m>
                <a:r>
                  <a:rPr lang="en-US"/>
                  <a:t>:</a:t>
                </a:r>
                <a:endParaRPr lang="sl-SI"/>
              </a:p>
              <a:p>
                <a:endParaRPr lang="sl-SI"/>
              </a:p>
              <a:p>
                <a:endParaRPr lang="sl-SI"/>
              </a:p>
              <a:p>
                <a:endParaRPr lang="sl-SI"/>
              </a:p>
              <a:p>
                <a:r>
                  <a:rPr lang="en-US"/>
                  <a:t>And then s</a:t>
                </a:r>
                <a:r>
                  <a:rPr lang="sl-SI"/>
                  <a:t>et optimal weights</a:t>
                </a:r>
                <a:r>
                  <a:rPr lang="en-US"/>
                  <a:t> for the chosen </a:t>
                </a:r>
                <a14:m>
                  <m:oMath xmlns:m="http://schemas.openxmlformats.org/officeDocument/2006/math">
                    <m:r>
                      <a:rPr lang="en-US" i="1" dirty="0" smtClean="0">
                        <a:latin typeface="Cambria Math" panose="02040503050406030204" pitchFamily="18" charset="0"/>
                      </a:rPr>
                      <m:t>𝑓</m:t>
                    </m:r>
                  </m:oMath>
                </a14:m>
                <a:r>
                  <a:rPr lang="sl-SI"/>
                  <a:t>:</a:t>
                </a:r>
              </a:p>
              <a:p>
                <a:endParaRPr lang="sl-SI"/>
              </a:p>
              <a:p>
                <a:endParaRPr lang="sl-SI"/>
              </a:p>
              <a:p>
                <a:pPr marL="118872" indent="0">
                  <a:buNone/>
                </a:pPr>
                <a:r>
                  <a:rPr lang="en-US" b="1">
                    <a:solidFill>
                      <a:srgbClr val="D60093"/>
                    </a:solidFill>
                  </a:rPr>
                  <a:t>In principle we could:</a:t>
                </a:r>
              </a:p>
              <a:p>
                <a:r>
                  <a:rPr lang="en-US"/>
                  <a:t>Enumerate possible tree structures </a:t>
                </a:r>
                <a14:m>
                  <m:oMath xmlns:m="http://schemas.openxmlformats.org/officeDocument/2006/math">
                    <m:r>
                      <a:rPr lang="en-US" i="1" dirty="0">
                        <a:latin typeface="Cambria Math" panose="02040503050406030204" pitchFamily="18" charset="0"/>
                      </a:rPr>
                      <m:t>𝑓</m:t>
                    </m:r>
                  </m:oMath>
                </a14:m>
                <a:r>
                  <a:rPr lang="en-US"/>
                  <a:t> and take the one that minimizes </a:t>
                </a:r>
                <a14:m>
                  <m:oMath xmlns:m="http://schemas.openxmlformats.org/officeDocument/2006/math">
                    <m:r>
                      <a:rPr lang="en-US" i="1" dirty="0" smtClean="0">
                        <a:latin typeface="Cambria Math" panose="02040503050406030204" pitchFamily="18" charset="0"/>
                      </a:rPr>
                      <m:t>𝑂𝑏𝑗</m:t>
                    </m:r>
                  </m:oMath>
                </a14:m>
                <a:endParaRPr lang="en-US"/>
              </a:p>
              <a:p>
                <a:endParaRPr lang="en-US"/>
              </a:p>
            </p:txBody>
          </p:sp>
        </mc:Choice>
        <mc:Fallback xmlns="">
          <p:sp>
            <p:nvSpPr>
              <p:cNvPr id="3" name="Content Placeholder 2">
                <a:extLst>
                  <a:ext uri="{FF2B5EF4-FFF2-40B4-BE49-F238E27FC236}">
                    <a16:creationId xmlns:a16="http://schemas.microsoft.com/office/drawing/2014/main" id="{BE325F11-B0DB-604C-99D1-96DF73475DAB}"/>
                  </a:ext>
                </a:extLst>
              </p:cNvPr>
              <p:cNvSpPr>
                <a:spLocks noGrp="1" noRot="1" noChangeAspect="1" noMove="1" noResize="1" noEditPoints="1" noAdjustHandles="1" noChangeArrowheads="1" noChangeShapeType="1" noTextEdit="1"/>
              </p:cNvSpPr>
              <p:nvPr>
                <p:ph idx="1"/>
              </p:nvPr>
            </p:nvSpPr>
            <p:spPr>
              <a:xfrm>
                <a:off x="457200" y="1295400"/>
                <a:ext cx="8626244" cy="5371848"/>
              </a:xfrm>
              <a:blipFill>
                <a:blip r:embed="rId3"/>
                <a:stretch>
                  <a:fillRect l="-848" t="-147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89E4A03-17F6-7747-B071-7648DFAFF49C}"/>
              </a:ext>
            </a:extLst>
          </p:cNvPr>
          <p:cNvSpPr>
            <a:spLocks noGrp="1"/>
          </p:cNvSpPr>
          <p:nvPr>
            <p:ph type="dt" sz="half" idx="10"/>
          </p:nvPr>
        </p:nvSpPr>
        <p:spPr/>
        <p:txBody>
          <a:bodyPr/>
          <a:lstStyle/>
          <a:p>
            <a:fld id="{A396DD8F-820C-2240-92BA-B08158AD6C5F}" type="datetime1">
              <a:rPr lang="en-US" smtClean="0"/>
              <a:t>10/15/24</a:t>
            </a:fld>
            <a:endParaRPr lang="en-US"/>
          </a:p>
        </p:txBody>
      </p:sp>
      <p:sp>
        <p:nvSpPr>
          <p:cNvPr id="5" name="Footer Placeholder 4">
            <a:extLst>
              <a:ext uri="{FF2B5EF4-FFF2-40B4-BE49-F238E27FC236}">
                <a16:creationId xmlns:a16="http://schemas.microsoft.com/office/drawing/2014/main" id="{96232B99-0A1F-A144-A275-6EC1FD61AE11}"/>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B1BC7B00-CDB4-9B45-8820-EA41A38A6A57}"/>
              </a:ext>
            </a:extLst>
          </p:cNvPr>
          <p:cNvSpPr>
            <a:spLocks noGrp="1"/>
          </p:cNvSpPr>
          <p:nvPr>
            <p:ph type="sldNum" sz="quarter" idx="12"/>
          </p:nvPr>
        </p:nvSpPr>
        <p:spPr/>
        <p:txBody>
          <a:bodyPr/>
          <a:lstStyle/>
          <a:p>
            <a:fld id="{19B12225-5612-419B-A8D5-4B8EEE4C217E}" type="slidenum">
              <a:rPr lang="en-US" smtClean="0"/>
              <a:pPr/>
              <a:t>44</a:t>
            </a:fld>
            <a:endParaRPr lang="en-US"/>
          </a:p>
        </p:txBody>
      </p:sp>
      <p:pic>
        <p:nvPicPr>
          <p:cNvPr id="8" name="Picture 7">
            <a:extLst>
              <a:ext uri="{FF2B5EF4-FFF2-40B4-BE49-F238E27FC236}">
                <a16:creationId xmlns:a16="http://schemas.microsoft.com/office/drawing/2014/main" id="{79E1CFA4-DDF1-9F4E-8878-9CBF08BEDD18}"/>
              </a:ext>
            </a:extLst>
          </p:cNvPr>
          <p:cNvPicPr>
            <a:picLocks noChangeAspect="1"/>
          </p:cNvPicPr>
          <p:nvPr/>
        </p:nvPicPr>
        <p:blipFill>
          <a:blip r:embed="rId4"/>
          <a:stretch>
            <a:fillRect/>
          </a:stretch>
        </p:blipFill>
        <p:spPr>
          <a:xfrm>
            <a:off x="2918814" y="4061570"/>
            <a:ext cx="3010110" cy="928770"/>
          </a:xfrm>
          <a:prstGeom prst="rect">
            <a:avLst/>
          </a:prstGeom>
        </p:spPr>
      </p:pic>
      <p:pic>
        <p:nvPicPr>
          <p:cNvPr id="9" name="Picture 8">
            <a:extLst>
              <a:ext uri="{FF2B5EF4-FFF2-40B4-BE49-F238E27FC236}">
                <a16:creationId xmlns:a16="http://schemas.microsoft.com/office/drawing/2014/main" id="{A5A0D197-1B11-D54F-9265-D05DE670DDA2}"/>
              </a:ext>
            </a:extLst>
          </p:cNvPr>
          <p:cNvPicPr>
            <a:picLocks noChangeAspect="1"/>
          </p:cNvPicPr>
          <p:nvPr/>
        </p:nvPicPr>
        <p:blipFill rotWithShape="1">
          <a:blip r:embed="rId5"/>
          <a:srcRect l="36280"/>
          <a:stretch/>
        </p:blipFill>
        <p:spPr>
          <a:xfrm>
            <a:off x="1658738" y="2333527"/>
            <a:ext cx="5826524" cy="992289"/>
          </a:xfrm>
          <a:prstGeom prst="rect">
            <a:avLst/>
          </a:prstGeom>
        </p:spPr>
      </p:pic>
    </p:spTree>
    <p:extLst>
      <p:ext uri="{BB962C8B-B14F-4D97-AF65-F5344CB8AC3E}">
        <p14:creationId xmlns:p14="http://schemas.microsoft.com/office/powerpoint/2010/main" val="4520748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37FA0C8-D899-DB43-ACD8-213F93FF2ADE}"/>
                  </a:ext>
                </a:extLst>
              </p:cNvPr>
              <p:cNvSpPr>
                <a:spLocks noGrp="1"/>
              </p:cNvSpPr>
              <p:nvPr>
                <p:ph type="title"/>
              </p:nvPr>
            </p:nvSpPr>
            <p:spPr/>
            <p:txBody>
              <a:bodyPr/>
              <a:lstStyle/>
              <a:p>
                <a:r>
                  <a:rPr lang="en-US"/>
                  <a:t>How to find a single tree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𝑡</m:t>
                        </m:r>
                      </m:sub>
                    </m:sSub>
                  </m:oMath>
                </a14:m>
                <a:endParaRPr lang="en-US"/>
              </a:p>
            </p:txBody>
          </p:sp>
        </mc:Choice>
        <mc:Fallback xmlns="">
          <p:sp>
            <p:nvSpPr>
              <p:cNvPr id="2" name="Title 1">
                <a:extLst>
                  <a:ext uri="{FF2B5EF4-FFF2-40B4-BE49-F238E27FC236}">
                    <a16:creationId xmlns:a16="http://schemas.microsoft.com/office/drawing/2014/main" id="{837FA0C8-D899-DB43-ACD8-213F93FF2ADE}"/>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51582FD3-8BF4-654A-90E3-D0C7D13C47DF}"/>
              </a:ext>
            </a:extLst>
          </p:cNvPr>
          <p:cNvSpPr>
            <a:spLocks noGrp="1"/>
          </p:cNvSpPr>
          <p:nvPr>
            <p:ph idx="1"/>
          </p:nvPr>
        </p:nvSpPr>
        <p:spPr/>
        <p:txBody>
          <a:bodyPr/>
          <a:lstStyle/>
          <a:p>
            <a:r>
              <a:rPr lang="en-US" b="1">
                <a:solidFill>
                  <a:srgbClr val="D60093"/>
                </a:solidFill>
              </a:rPr>
              <a:t>In practice we grow tree greedily:</a:t>
            </a:r>
          </a:p>
          <a:p>
            <a:pPr lvl="1"/>
            <a:r>
              <a:rPr lang="en-US"/>
              <a:t>Start with tree with depth 0</a:t>
            </a:r>
          </a:p>
          <a:p>
            <a:pPr lvl="1"/>
            <a:r>
              <a:rPr lang="en-US"/>
              <a:t>For each leaf node in the tree, try to add a split</a:t>
            </a:r>
          </a:p>
          <a:p>
            <a:pPr lvl="1"/>
            <a:r>
              <a:rPr lang="en-US"/>
              <a:t>The change of the objective after adding a split is:</a:t>
            </a:r>
          </a:p>
          <a:p>
            <a:pPr lvl="1"/>
            <a:endParaRPr lang="en-US"/>
          </a:p>
          <a:p>
            <a:pPr lvl="1"/>
            <a:endParaRPr lang="en-US"/>
          </a:p>
          <a:p>
            <a:pPr lvl="1"/>
            <a:endParaRPr lang="en-US"/>
          </a:p>
          <a:p>
            <a:pPr lvl="1"/>
            <a:r>
              <a:rPr lang="en-US"/>
              <a:t>Take the split that gives </a:t>
            </a:r>
            <a:r>
              <a:rPr lang="en-US">
                <a:solidFill>
                  <a:srgbClr val="0000FF"/>
                </a:solidFill>
              </a:rPr>
              <a:t>best gain</a:t>
            </a:r>
          </a:p>
          <a:p>
            <a:r>
              <a:rPr lang="en-US" b="1">
                <a:solidFill>
                  <a:srgbClr val="0000FF"/>
                </a:solidFill>
              </a:rPr>
              <a:t>Next: </a:t>
            </a:r>
            <a:r>
              <a:rPr lang="en-US" b="1"/>
              <a:t>How to find the best split?</a:t>
            </a:r>
            <a:endParaRPr lang="en-US" b="1">
              <a:solidFill>
                <a:srgbClr val="0000FF"/>
              </a:solidFill>
            </a:endParaRPr>
          </a:p>
        </p:txBody>
      </p:sp>
      <p:sp>
        <p:nvSpPr>
          <p:cNvPr id="4" name="Date Placeholder 3">
            <a:extLst>
              <a:ext uri="{FF2B5EF4-FFF2-40B4-BE49-F238E27FC236}">
                <a16:creationId xmlns:a16="http://schemas.microsoft.com/office/drawing/2014/main" id="{2BBCC7F8-EB13-E344-A036-DDC684FC8AE1}"/>
              </a:ext>
            </a:extLst>
          </p:cNvPr>
          <p:cNvSpPr>
            <a:spLocks noGrp="1"/>
          </p:cNvSpPr>
          <p:nvPr>
            <p:ph type="dt" sz="half" idx="10"/>
          </p:nvPr>
        </p:nvSpPr>
        <p:spPr/>
        <p:txBody>
          <a:bodyPr/>
          <a:lstStyle/>
          <a:p>
            <a:fld id="{0340EB03-872E-B649-8F17-F516BF29A8DF}" type="datetime1">
              <a:rPr lang="en-US" smtClean="0"/>
              <a:t>10/15/24</a:t>
            </a:fld>
            <a:endParaRPr lang="en-US"/>
          </a:p>
        </p:txBody>
      </p:sp>
      <p:sp>
        <p:nvSpPr>
          <p:cNvPr id="5" name="Footer Placeholder 4">
            <a:extLst>
              <a:ext uri="{FF2B5EF4-FFF2-40B4-BE49-F238E27FC236}">
                <a16:creationId xmlns:a16="http://schemas.microsoft.com/office/drawing/2014/main" id="{B840A307-B3DF-4945-8028-84196C632172}"/>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7E5BADE7-CC55-1345-803E-195873881683}"/>
              </a:ext>
            </a:extLst>
          </p:cNvPr>
          <p:cNvSpPr>
            <a:spLocks noGrp="1"/>
          </p:cNvSpPr>
          <p:nvPr>
            <p:ph type="sldNum" sz="quarter" idx="12"/>
          </p:nvPr>
        </p:nvSpPr>
        <p:spPr/>
        <p:txBody>
          <a:bodyPr/>
          <a:lstStyle/>
          <a:p>
            <a:fld id="{19B12225-5612-419B-A8D5-4B8EEE4C217E}" type="slidenum">
              <a:rPr lang="en-US" smtClean="0"/>
              <a:pPr/>
              <a:t>45</a:t>
            </a:fld>
            <a:endParaRPr lang="en-US"/>
          </a:p>
        </p:txBody>
      </p:sp>
      <p:pic>
        <p:nvPicPr>
          <p:cNvPr id="7" name="Picture 6">
            <a:extLst>
              <a:ext uri="{FF2B5EF4-FFF2-40B4-BE49-F238E27FC236}">
                <a16:creationId xmlns:a16="http://schemas.microsoft.com/office/drawing/2014/main" id="{0013D2F6-4BB8-BA40-9DEF-4AA321115465}"/>
              </a:ext>
            </a:extLst>
          </p:cNvPr>
          <p:cNvPicPr>
            <a:picLocks noChangeAspect="1"/>
          </p:cNvPicPr>
          <p:nvPr/>
        </p:nvPicPr>
        <p:blipFill>
          <a:blip r:embed="rId3"/>
          <a:stretch>
            <a:fillRect/>
          </a:stretch>
        </p:blipFill>
        <p:spPr>
          <a:xfrm>
            <a:off x="241300" y="3505200"/>
            <a:ext cx="8826500" cy="838200"/>
          </a:xfrm>
          <a:prstGeom prst="rect">
            <a:avLst/>
          </a:prstGeom>
        </p:spPr>
      </p:pic>
      <p:sp>
        <p:nvSpPr>
          <p:cNvPr id="8" name="TextBox 7">
            <a:extLst>
              <a:ext uri="{FF2B5EF4-FFF2-40B4-BE49-F238E27FC236}">
                <a16:creationId xmlns:a16="http://schemas.microsoft.com/office/drawing/2014/main" id="{A67F7F38-B648-6343-AC44-19F7390C4BAE}"/>
              </a:ext>
            </a:extLst>
          </p:cNvPr>
          <p:cNvSpPr txBox="1"/>
          <p:nvPr/>
        </p:nvSpPr>
        <p:spPr>
          <a:xfrm>
            <a:off x="2193141" y="4368225"/>
            <a:ext cx="1598515" cy="584775"/>
          </a:xfrm>
          <a:prstGeom prst="rect">
            <a:avLst/>
          </a:prstGeom>
          <a:noFill/>
        </p:spPr>
        <p:txBody>
          <a:bodyPr wrap="none" rtlCol="0">
            <a:spAutoFit/>
          </a:bodyPr>
          <a:lstStyle/>
          <a:p>
            <a:pPr algn="ctr"/>
            <a:r>
              <a:rPr lang="en-US" sz="1600" dirty="0">
                <a:solidFill>
                  <a:srgbClr val="008000"/>
                </a:solidFill>
                <a:latin typeface="Arial" pitchFamily="34" charset="0"/>
                <a:cs typeface="Arial" pitchFamily="34" charset="0"/>
              </a:rPr>
              <a:t>similarity score </a:t>
            </a:r>
          </a:p>
          <a:p>
            <a:pPr algn="ctr"/>
            <a:r>
              <a:rPr lang="en-US" sz="1600" dirty="0">
                <a:solidFill>
                  <a:srgbClr val="008000"/>
                </a:solidFill>
                <a:latin typeface="Arial" pitchFamily="34" charset="0"/>
                <a:cs typeface="Arial" pitchFamily="34" charset="0"/>
              </a:rPr>
              <a:t>of left child</a:t>
            </a:r>
          </a:p>
        </p:txBody>
      </p:sp>
      <p:sp>
        <p:nvSpPr>
          <p:cNvPr id="9" name="TextBox 8">
            <a:extLst>
              <a:ext uri="{FF2B5EF4-FFF2-40B4-BE49-F238E27FC236}">
                <a16:creationId xmlns:a16="http://schemas.microsoft.com/office/drawing/2014/main" id="{C8D3C48E-EB4C-1A4A-BFC4-E948DFC5FCE7}"/>
              </a:ext>
            </a:extLst>
          </p:cNvPr>
          <p:cNvSpPr txBox="1"/>
          <p:nvPr/>
        </p:nvSpPr>
        <p:spPr>
          <a:xfrm>
            <a:off x="4030815" y="4368225"/>
            <a:ext cx="1632178" cy="584775"/>
          </a:xfrm>
          <a:prstGeom prst="rect">
            <a:avLst/>
          </a:prstGeom>
          <a:noFill/>
        </p:spPr>
        <p:txBody>
          <a:bodyPr wrap="none" rtlCol="0">
            <a:spAutoFit/>
          </a:bodyPr>
          <a:lstStyle/>
          <a:p>
            <a:pPr algn="ctr"/>
            <a:r>
              <a:rPr lang="en-US" sz="1600" dirty="0">
                <a:solidFill>
                  <a:srgbClr val="008000"/>
                </a:solidFill>
                <a:latin typeface="Arial" pitchFamily="34" charset="0"/>
                <a:cs typeface="Arial" pitchFamily="34" charset="0"/>
              </a:rPr>
              <a:t>Similarity score </a:t>
            </a:r>
          </a:p>
          <a:p>
            <a:pPr algn="ctr"/>
            <a:r>
              <a:rPr lang="en-US" sz="1600" dirty="0">
                <a:solidFill>
                  <a:srgbClr val="008000"/>
                </a:solidFill>
                <a:latin typeface="Arial" pitchFamily="34" charset="0"/>
                <a:cs typeface="Arial" pitchFamily="34" charset="0"/>
              </a:rPr>
              <a:t>of right child</a:t>
            </a:r>
          </a:p>
        </p:txBody>
      </p:sp>
      <p:sp>
        <p:nvSpPr>
          <p:cNvPr id="10" name="TextBox 9">
            <a:extLst>
              <a:ext uri="{FF2B5EF4-FFF2-40B4-BE49-F238E27FC236}">
                <a16:creationId xmlns:a16="http://schemas.microsoft.com/office/drawing/2014/main" id="{A16A0393-43A3-1D40-9AEA-1D914BACEFED}"/>
              </a:ext>
            </a:extLst>
          </p:cNvPr>
          <p:cNvSpPr txBox="1"/>
          <p:nvPr/>
        </p:nvSpPr>
        <p:spPr>
          <a:xfrm>
            <a:off x="6273165" y="4368225"/>
            <a:ext cx="1632178" cy="830997"/>
          </a:xfrm>
          <a:prstGeom prst="rect">
            <a:avLst/>
          </a:prstGeom>
          <a:noFill/>
        </p:spPr>
        <p:txBody>
          <a:bodyPr wrap="none" rtlCol="0">
            <a:spAutoFit/>
          </a:bodyPr>
          <a:lstStyle/>
          <a:p>
            <a:pPr algn="ctr"/>
            <a:r>
              <a:rPr lang="en-US" sz="1600" dirty="0">
                <a:solidFill>
                  <a:srgbClr val="008000"/>
                </a:solidFill>
                <a:latin typeface="Arial" pitchFamily="34" charset="0"/>
                <a:cs typeface="Arial" pitchFamily="34" charset="0"/>
              </a:rPr>
              <a:t>Similarity score </a:t>
            </a:r>
          </a:p>
          <a:p>
            <a:pPr algn="ctr"/>
            <a:r>
              <a:rPr lang="en-US" sz="1600" dirty="0">
                <a:solidFill>
                  <a:srgbClr val="008000"/>
                </a:solidFill>
                <a:latin typeface="Arial" pitchFamily="34" charset="0"/>
                <a:cs typeface="Arial" pitchFamily="34" charset="0"/>
              </a:rPr>
              <a:t>of parent</a:t>
            </a:r>
          </a:p>
          <a:p>
            <a:pPr algn="ctr"/>
            <a:endParaRPr lang="en-US" sz="1600" dirty="0">
              <a:solidFill>
                <a:srgbClr val="008000"/>
              </a:solidFill>
              <a:latin typeface="Arial" pitchFamily="34" charset="0"/>
              <a:cs typeface="Arial" pitchFamily="34" charset="0"/>
            </a:endParaRPr>
          </a:p>
        </p:txBody>
      </p:sp>
    </p:spTree>
    <p:extLst>
      <p:ext uri="{BB962C8B-B14F-4D97-AF65-F5344CB8AC3E}">
        <p14:creationId xmlns:p14="http://schemas.microsoft.com/office/powerpoint/2010/main" val="26306808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07E3-EC70-424A-B890-4E9C7C4D374A}"/>
              </a:ext>
            </a:extLst>
          </p:cNvPr>
          <p:cNvSpPr>
            <a:spLocks noGrp="1"/>
          </p:cNvSpPr>
          <p:nvPr>
            <p:ph type="title"/>
          </p:nvPr>
        </p:nvSpPr>
        <p:spPr/>
        <p:txBody>
          <a:bodyPr/>
          <a:lstStyle/>
          <a:p>
            <a:r>
              <a:rPr lang="en-US"/>
              <a:t>How to Find the Best Split?</a:t>
            </a:r>
          </a:p>
        </p:txBody>
      </p:sp>
      <p:sp>
        <p:nvSpPr>
          <p:cNvPr id="3" name="Content Placeholder 2">
            <a:extLst>
              <a:ext uri="{FF2B5EF4-FFF2-40B4-BE49-F238E27FC236}">
                <a16:creationId xmlns:a16="http://schemas.microsoft.com/office/drawing/2014/main" id="{10E859ED-470F-6249-8EF0-1AB489ABC250}"/>
              </a:ext>
            </a:extLst>
          </p:cNvPr>
          <p:cNvSpPr>
            <a:spLocks noGrp="1"/>
          </p:cNvSpPr>
          <p:nvPr>
            <p:ph idx="1"/>
          </p:nvPr>
        </p:nvSpPr>
        <p:spPr>
          <a:xfrm>
            <a:off x="457200" y="1295400"/>
            <a:ext cx="8414297" cy="5562600"/>
          </a:xfrm>
        </p:spPr>
        <p:txBody>
          <a:bodyPr>
            <a:normAutofit/>
          </a:bodyPr>
          <a:lstStyle/>
          <a:p>
            <a:r>
              <a:rPr lang="en-US" b="1" dirty="0">
                <a:solidFill>
                  <a:srgbClr val="0000FF"/>
                </a:solidFill>
              </a:rPr>
              <a:t>For each node, enumerate over all features</a:t>
            </a:r>
          </a:p>
          <a:p>
            <a:pPr lvl="1"/>
            <a:r>
              <a:rPr lang="en-US" dirty="0"/>
              <a:t>For each feature, sort the instances by feature value</a:t>
            </a:r>
          </a:p>
          <a:p>
            <a:pPr lvl="1"/>
            <a:r>
              <a:rPr lang="en-US" dirty="0"/>
              <a:t>Use a linear scan to decide the best split along that feature</a:t>
            </a:r>
          </a:p>
          <a:p>
            <a:pPr lvl="1"/>
            <a:r>
              <a:rPr lang="en-US" dirty="0"/>
              <a:t>Take the best split solution along all the features</a:t>
            </a:r>
          </a:p>
          <a:p>
            <a:r>
              <a:rPr lang="en-US" b="1" dirty="0">
                <a:solidFill>
                  <a:srgbClr val="D60093"/>
                </a:solidFill>
              </a:rPr>
              <a:t>Pre-stopping:</a:t>
            </a:r>
          </a:p>
          <a:p>
            <a:pPr lvl="1"/>
            <a:r>
              <a:rPr lang="en-US" dirty="0"/>
              <a:t>Stop split if the best split have negative gain</a:t>
            </a:r>
          </a:p>
          <a:p>
            <a:pPr lvl="1"/>
            <a:r>
              <a:rPr lang="en-US" dirty="0"/>
              <a:t>But maybe a split can benefit future splits..</a:t>
            </a:r>
          </a:p>
          <a:p>
            <a:r>
              <a:rPr lang="en-US" b="1" dirty="0">
                <a:solidFill>
                  <a:srgbClr val="D60093"/>
                </a:solidFill>
              </a:rPr>
              <a:t>Post-</a:t>
            </a:r>
            <a:r>
              <a:rPr lang="en-US" b="1" dirty="0" err="1">
                <a:solidFill>
                  <a:srgbClr val="D60093"/>
                </a:solidFill>
              </a:rPr>
              <a:t>Prunning</a:t>
            </a:r>
            <a:r>
              <a:rPr lang="en-US" b="1" dirty="0">
                <a:solidFill>
                  <a:srgbClr val="D60093"/>
                </a:solidFill>
              </a:rPr>
              <a:t>:</a:t>
            </a:r>
            <a:r>
              <a:rPr lang="en-US" dirty="0"/>
              <a:t> </a:t>
            </a:r>
          </a:p>
          <a:p>
            <a:pPr lvl="1"/>
            <a:r>
              <a:rPr lang="en-US" dirty="0"/>
              <a:t>Grow a tree to maximum depth, recursively prune all the leaf splits with negative gain.</a:t>
            </a:r>
          </a:p>
        </p:txBody>
      </p:sp>
      <p:sp>
        <p:nvSpPr>
          <p:cNvPr id="4" name="Date Placeholder 3">
            <a:extLst>
              <a:ext uri="{FF2B5EF4-FFF2-40B4-BE49-F238E27FC236}">
                <a16:creationId xmlns:a16="http://schemas.microsoft.com/office/drawing/2014/main" id="{CA22EF45-1C0B-8342-81F6-000B210631F6}"/>
              </a:ext>
            </a:extLst>
          </p:cNvPr>
          <p:cNvSpPr>
            <a:spLocks noGrp="1"/>
          </p:cNvSpPr>
          <p:nvPr>
            <p:ph type="dt" sz="half" idx="10"/>
          </p:nvPr>
        </p:nvSpPr>
        <p:spPr/>
        <p:txBody>
          <a:bodyPr/>
          <a:lstStyle/>
          <a:p>
            <a:fld id="{55E7A7BF-A71E-594F-A661-FAE963F89E32}" type="datetime1">
              <a:rPr lang="en-US" smtClean="0"/>
              <a:t>10/15/24</a:t>
            </a:fld>
            <a:endParaRPr lang="en-US"/>
          </a:p>
        </p:txBody>
      </p:sp>
      <p:sp>
        <p:nvSpPr>
          <p:cNvPr id="5" name="Footer Placeholder 4">
            <a:extLst>
              <a:ext uri="{FF2B5EF4-FFF2-40B4-BE49-F238E27FC236}">
                <a16:creationId xmlns:a16="http://schemas.microsoft.com/office/drawing/2014/main" id="{CD778B50-B173-744C-838B-2FE87F33253F}"/>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60C35297-85BF-9344-B1B8-0C70BBD4E029}"/>
              </a:ext>
            </a:extLst>
          </p:cNvPr>
          <p:cNvSpPr>
            <a:spLocks noGrp="1"/>
          </p:cNvSpPr>
          <p:nvPr>
            <p:ph type="sldNum" sz="quarter" idx="12"/>
          </p:nvPr>
        </p:nvSpPr>
        <p:spPr/>
        <p:txBody>
          <a:bodyPr/>
          <a:lstStyle/>
          <a:p>
            <a:fld id="{19B12225-5612-419B-A8D5-4B8EEE4C217E}" type="slidenum">
              <a:rPr lang="en-US" smtClean="0"/>
              <a:pPr/>
              <a:t>46</a:t>
            </a:fld>
            <a:endParaRPr lang="en-US"/>
          </a:p>
        </p:txBody>
      </p:sp>
    </p:spTree>
    <p:extLst>
      <p:ext uri="{BB962C8B-B14F-4D97-AF65-F5344CB8AC3E}">
        <p14:creationId xmlns:p14="http://schemas.microsoft.com/office/powerpoint/2010/main" val="28120386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402FA12-AB2A-7141-A4F2-E2D6CD038501}"/>
              </a:ext>
            </a:extLst>
          </p:cNvPr>
          <p:cNvPicPr>
            <a:picLocks noChangeAspect="1"/>
          </p:cNvPicPr>
          <p:nvPr/>
        </p:nvPicPr>
        <p:blipFill>
          <a:blip r:embed="rId2"/>
          <a:stretch>
            <a:fillRect/>
          </a:stretch>
        </p:blipFill>
        <p:spPr>
          <a:xfrm>
            <a:off x="2181708" y="4921007"/>
            <a:ext cx="3310472" cy="692889"/>
          </a:xfrm>
          <a:prstGeom prst="rect">
            <a:avLst/>
          </a:prstGeom>
        </p:spPr>
      </p:pic>
      <p:sp>
        <p:nvSpPr>
          <p:cNvPr id="2" name="Title 1">
            <a:extLst>
              <a:ext uri="{FF2B5EF4-FFF2-40B4-BE49-F238E27FC236}">
                <a16:creationId xmlns:a16="http://schemas.microsoft.com/office/drawing/2014/main" id="{138207E3-EC70-424A-B890-4E9C7C4D374A}"/>
              </a:ext>
            </a:extLst>
          </p:cNvPr>
          <p:cNvSpPr>
            <a:spLocks noGrp="1"/>
          </p:cNvSpPr>
          <p:nvPr>
            <p:ph type="title"/>
          </p:nvPr>
        </p:nvSpPr>
        <p:spPr/>
        <p:txBody>
          <a:bodyPr>
            <a:normAutofit/>
          </a:bodyPr>
          <a:lstStyle/>
          <a:p>
            <a:r>
              <a:rPr lang="en-US" dirty="0"/>
              <a:t>Summary: GBDT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E859ED-470F-6249-8EF0-1AB489ABC250}"/>
                  </a:ext>
                </a:extLst>
              </p:cNvPr>
              <p:cNvSpPr>
                <a:spLocks noGrp="1"/>
              </p:cNvSpPr>
              <p:nvPr>
                <p:ph idx="1"/>
              </p:nvPr>
            </p:nvSpPr>
            <p:spPr>
              <a:xfrm>
                <a:off x="457200" y="1295400"/>
                <a:ext cx="8686800" cy="5257801"/>
              </a:xfrm>
            </p:spPr>
            <p:txBody>
              <a:bodyPr>
                <a:normAutofit/>
              </a:bodyPr>
              <a:lstStyle/>
              <a:p>
                <a:pPr>
                  <a:spcBef>
                    <a:spcPts val="600"/>
                  </a:spcBef>
                  <a:spcAft>
                    <a:spcPts val="600"/>
                  </a:spcAft>
                </a:pPr>
                <a:r>
                  <a:rPr lang="en-US" b="1" dirty="0"/>
                  <a:t>Add a new tree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𝒇</m:t>
                        </m:r>
                      </m:e>
                      <m:sub>
                        <m:r>
                          <a:rPr lang="en-US" b="1" i="1">
                            <a:latin typeface="Cambria Math" panose="02040503050406030204" pitchFamily="18" charset="0"/>
                          </a:rPr>
                          <m:t>𝒕</m:t>
                        </m:r>
                      </m:sub>
                    </m:sSub>
                    <m:r>
                      <a:rPr lang="en-US" b="1"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rPr>
                      <m:t>)</m:t>
                    </m:r>
                  </m:oMath>
                </a14:m>
                <a:r>
                  <a:rPr lang="en-US" b="1" dirty="0"/>
                  <a:t> in each iteration</a:t>
                </a:r>
              </a:p>
              <a:p>
                <a:pPr lvl="1">
                  <a:spcBef>
                    <a:spcPts val="600"/>
                  </a:spcBef>
                  <a:spcAft>
                    <a:spcPts val="600"/>
                  </a:spcAft>
                </a:pPr>
                <a:r>
                  <a:rPr lang="en-US" dirty="0"/>
                  <a:t>Compute necessary statistics for our objective</a:t>
                </a:r>
              </a:p>
              <a:p>
                <a:pPr lvl="1">
                  <a:spcBef>
                    <a:spcPts val="600"/>
                  </a:spcBef>
                  <a:spcAft>
                    <a:spcPts val="600"/>
                  </a:spcAft>
                </a:pPr>
                <a:endParaRPr lang="en-US" dirty="0"/>
              </a:p>
              <a:p>
                <a:pPr lvl="1">
                  <a:spcBef>
                    <a:spcPts val="600"/>
                  </a:spcBef>
                  <a:spcAft>
                    <a:spcPts val="600"/>
                  </a:spcAft>
                </a:pPr>
                <a:r>
                  <a:rPr lang="en-US" dirty="0"/>
                  <a:t>Greedily grow the tree that minimizes the objective:</a:t>
                </a:r>
              </a:p>
              <a:p>
                <a:pPr marL="118872" indent="0">
                  <a:spcBef>
                    <a:spcPts val="600"/>
                  </a:spcBef>
                  <a:spcAft>
                    <a:spcPts val="600"/>
                  </a:spcAft>
                  <a:buNone/>
                </a:pPr>
                <a:endParaRPr lang="en-US" dirty="0"/>
              </a:p>
              <a:p>
                <a:pPr>
                  <a:spcBef>
                    <a:spcPts val="600"/>
                  </a:spcBef>
                  <a:spcAft>
                    <a:spcPts val="600"/>
                  </a:spcAft>
                </a:pPr>
                <a:r>
                  <a:rPr lang="en-US" b="1" dirty="0"/>
                  <a:t>Add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𝒇</m:t>
                        </m:r>
                      </m:e>
                      <m:sub>
                        <m:r>
                          <a:rPr lang="en-US" b="1" i="1" smtClean="0">
                            <a:latin typeface="Cambria Math" panose="02040503050406030204" pitchFamily="18" charset="0"/>
                          </a:rPr>
                          <m:t>𝒕</m:t>
                        </m:r>
                      </m:sub>
                    </m:sSub>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a14:m>
                <a:r>
                  <a:rPr lang="en-US" b="1" dirty="0"/>
                  <a:t> to our ensemble model</a:t>
                </a:r>
              </a:p>
              <a:p>
                <a:pPr>
                  <a:spcBef>
                    <a:spcPts val="600"/>
                  </a:spcBef>
                  <a:spcAft>
                    <a:spcPts val="600"/>
                  </a:spcAft>
                </a:pPr>
                <a:endParaRPr lang="en-US" dirty="0"/>
              </a:p>
              <a:p>
                <a:pPr>
                  <a:spcBef>
                    <a:spcPts val="600"/>
                  </a:spcBef>
                  <a:spcAft>
                    <a:spcPts val="600"/>
                  </a:spcAft>
                </a:pPr>
                <a:r>
                  <a:rPr lang="en-US" b="1" dirty="0"/>
                  <a:t>Repeat until we use </a:t>
                </a:r>
                <a14:m>
                  <m:oMath xmlns:m="http://schemas.openxmlformats.org/officeDocument/2006/math">
                    <m:r>
                      <a:rPr lang="en-US" b="1" i="1" smtClean="0">
                        <a:latin typeface="Cambria Math" panose="02040503050406030204" pitchFamily="18" charset="0"/>
                      </a:rPr>
                      <m:t>𝑴</m:t>
                    </m:r>
                  </m:oMath>
                </a14:m>
                <a:r>
                  <a:rPr lang="en-US" b="1" dirty="0"/>
                  <a:t> ensemble of trees</a:t>
                </a:r>
              </a:p>
            </p:txBody>
          </p:sp>
        </mc:Choice>
        <mc:Fallback xmlns="">
          <p:sp>
            <p:nvSpPr>
              <p:cNvPr id="3" name="Content Placeholder 2">
                <a:extLst>
                  <a:ext uri="{FF2B5EF4-FFF2-40B4-BE49-F238E27FC236}">
                    <a16:creationId xmlns:a16="http://schemas.microsoft.com/office/drawing/2014/main" id="{10E859ED-470F-6249-8EF0-1AB489ABC250}"/>
                  </a:ext>
                </a:extLst>
              </p:cNvPr>
              <p:cNvSpPr>
                <a:spLocks noGrp="1" noRot="1" noChangeAspect="1" noMove="1" noResize="1" noEditPoints="1" noAdjustHandles="1" noChangeArrowheads="1" noChangeShapeType="1" noTextEdit="1"/>
              </p:cNvSpPr>
              <p:nvPr>
                <p:ph idx="1"/>
              </p:nvPr>
            </p:nvSpPr>
            <p:spPr>
              <a:xfrm>
                <a:off x="457200" y="1295400"/>
                <a:ext cx="8686800" cy="5257801"/>
              </a:xfrm>
              <a:blipFill>
                <a:blip r:embed="rId3"/>
                <a:stretch>
                  <a:fillRect t="-72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A22EF45-1C0B-8342-81F6-000B210631F6}"/>
              </a:ext>
            </a:extLst>
          </p:cNvPr>
          <p:cNvSpPr>
            <a:spLocks noGrp="1"/>
          </p:cNvSpPr>
          <p:nvPr>
            <p:ph type="dt" sz="half" idx="10"/>
          </p:nvPr>
        </p:nvSpPr>
        <p:spPr/>
        <p:txBody>
          <a:bodyPr/>
          <a:lstStyle/>
          <a:p>
            <a:fld id="{DCECAF27-CF3C-6342-B8F4-42A791613167}" type="datetime1">
              <a:rPr lang="en-US" smtClean="0"/>
              <a:t>10/15/24</a:t>
            </a:fld>
            <a:endParaRPr lang="en-US"/>
          </a:p>
        </p:txBody>
      </p:sp>
      <p:sp>
        <p:nvSpPr>
          <p:cNvPr id="5" name="Footer Placeholder 4">
            <a:extLst>
              <a:ext uri="{FF2B5EF4-FFF2-40B4-BE49-F238E27FC236}">
                <a16:creationId xmlns:a16="http://schemas.microsoft.com/office/drawing/2014/main" id="{CD778B50-B173-744C-838B-2FE87F33253F}"/>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60C35297-85BF-9344-B1B8-0C70BBD4E029}"/>
              </a:ext>
            </a:extLst>
          </p:cNvPr>
          <p:cNvSpPr>
            <a:spLocks noGrp="1"/>
          </p:cNvSpPr>
          <p:nvPr>
            <p:ph type="sldNum" sz="quarter" idx="12"/>
          </p:nvPr>
        </p:nvSpPr>
        <p:spPr/>
        <p:txBody>
          <a:bodyPr/>
          <a:lstStyle/>
          <a:p>
            <a:fld id="{19B12225-5612-419B-A8D5-4B8EEE4C217E}" type="slidenum">
              <a:rPr lang="en-US" smtClean="0"/>
              <a:pPr/>
              <a:t>47</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F15B28-DB5B-BB4E-9A5B-A7BF4B347879}"/>
                  </a:ext>
                </a:extLst>
              </p:cNvPr>
              <p:cNvSpPr txBox="1"/>
              <p:nvPr/>
            </p:nvSpPr>
            <p:spPr>
              <a:xfrm>
                <a:off x="5585322" y="4805786"/>
                <a:ext cx="3558678" cy="923330"/>
              </a:xfrm>
              <a:prstGeom prst="rect">
                <a:avLst/>
              </a:prstGeom>
              <a:noFill/>
            </p:spPr>
            <p:txBody>
              <a:bodyPr wrap="square" rtlCol="0">
                <a:spAutoFit/>
              </a:bodyPr>
              <a:lstStyle/>
              <a:p>
                <a14:m>
                  <m:oMath xmlns:m="http://schemas.openxmlformats.org/officeDocument/2006/math">
                    <m:r>
                      <a:rPr lang="en-US" i="1" smtClean="0">
                        <a:solidFill>
                          <a:srgbClr val="008000"/>
                        </a:solidFill>
                        <a:latin typeface="Cambria Math" panose="02040503050406030204" pitchFamily="18" charset="0"/>
                        <a:ea typeface="Cambria Math" panose="02040503050406030204" pitchFamily="18" charset="0"/>
                        <a:cs typeface="Arial" pitchFamily="34" charset="0"/>
                      </a:rPr>
                      <m:t>𝜂</m:t>
                    </m:r>
                  </m:oMath>
                </a14:m>
                <a:r>
                  <a:rPr lang="en-US" dirty="0">
                    <a:solidFill>
                      <a:srgbClr val="008000"/>
                    </a:solidFill>
                    <a:latin typeface="Arial" pitchFamily="34" charset="0"/>
                    <a:cs typeface="Arial" pitchFamily="34" charset="0"/>
                  </a:rPr>
                  <a:t> is called step-size or shrinkage, usually set around 0.1 to 0.3 to prevent overfitting</a:t>
                </a:r>
                <a:endParaRPr lang="en-US" b="1" dirty="0">
                  <a:solidFill>
                    <a:srgbClr val="008000"/>
                  </a:solidFill>
                  <a:latin typeface="Arial" pitchFamily="34" charset="0"/>
                  <a:cs typeface="Arial" pitchFamily="34" charset="0"/>
                </a:endParaRPr>
              </a:p>
            </p:txBody>
          </p:sp>
        </mc:Choice>
        <mc:Fallback xmlns="">
          <p:sp>
            <p:nvSpPr>
              <p:cNvPr id="8" name="TextBox 7">
                <a:extLst>
                  <a:ext uri="{FF2B5EF4-FFF2-40B4-BE49-F238E27FC236}">
                    <a16:creationId xmlns:a16="http://schemas.microsoft.com/office/drawing/2014/main" id="{57F15B28-DB5B-BB4E-9A5B-A7BF4B347879}"/>
                  </a:ext>
                </a:extLst>
              </p:cNvPr>
              <p:cNvSpPr txBox="1">
                <a:spLocks noRot="1" noChangeAspect="1" noMove="1" noResize="1" noEditPoints="1" noAdjustHandles="1" noChangeArrowheads="1" noChangeShapeType="1" noTextEdit="1"/>
              </p:cNvSpPr>
              <p:nvPr/>
            </p:nvSpPr>
            <p:spPr>
              <a:xfrm>
                <a:off x="5585322" y="4805786"/>
                <a:ext cx="3558678" cy="923330"/>
              </a:xfrm>
              <a:prstGeom prst="rect">
                <a:avLst/>
              </a:prstGeom>
              <a:blipFill>
                <a:blip r:embed="rId4"/>
                <a:stretch>
                  <a:fillRect l="-1423" t="-2703" r="-2847" b="-9459"/>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F4842E04-F104-0542-83EC-BCF8DD536D6C}"/>
              </a:ext>
            </a:extLst>
          </p:cNvPr>
          <p:cNvPicPr>
            <a:picLocks noChangeAspect="1"/>
          </p:cNvPicPr>
          <p:nvPr/>
        </p:nvPicPr>
        <p:blipFill>
          <a:blip r:embed="rId5"/>
          <a:stretch>
            <a:fillRect/>
          </a:stretch>
        </p:blipFill>
        <p:spPr>
          <a:xfrm>
            <a:off x="2240901" y="3648777"/>
            <a:ext cx="4313321" cy="779763"/>
          </a:xfrm>
          <a:prstGeom prst="rect">
            <a:avLst/>
          </a:prstGeom>
        </p:spPr>
      </p:pic>
      <p:pic>
        <p:nvPicPr>
          <p:cNvPr id="10" name="Picture 9">
            <a:extLst>
              <a:ext uri="{FF2B5EF4-FFF2-40B4-BE49-F238E27FC236}">
                <a16:creationId xmlns:a16="http://schemas.microsoft.com/office/drawing/2014/main" id="{5EF6DBCA-3FA2-744C-9434-1FA03B208689}"/>
              </a:ext>
            </a:extLst>
          </p:cNvPr>
          <p:cNvPicPr>
            <a:picLocks noChangeAspect="1"/>
          </p:cNvPicPr>
          <p:nvPr/>
        </p:nvPicPr>
        <p:blipFill>
          <a:blip r:embed="rId6"/>
          <a:stretch>
            <a:fillRect/>
          </a:stretch>
        </p:blipFill>
        <p:spPr>
          <a:xfrm>
            <a:off x="1295400" y="2458426"/>
            <a:ext cx="6553200" cy="625217"/>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E8C181-A49D-C7BA-56D0-9C3F15A1B4C4}"/>
                  </a:ext>
                </a:extLst>
              </p:cNvPr>
              <p:cNvSpPr txBox="1"/>
              <p:nvPr/>
            </p:nvSpPr>
            <p:spPr>
              <a:xfrm>
                <a:off x="2228279" y="5075122"/>
                <a:ext cx="3310472" cy="416717"/>
              </a:xfrm>
              <a:prstGeom prst="rect">
                <a:avLst/>
              </a:prstGeom>
              <a:solidFill>
                <a:schemeClr val="bg1"/>
              </a:solidFill>
            </p:spPr>
            <p:txBody>
              <a:bodyPr wrap="square" lIns="0" tIns="0" rIns="0" bIns="0" rtlCol="0">
                <a:spAutoFit/>
              </a:bodyPr>
              <a:lstStyle/>
              <a:p>
                <a14:m>
                  <m:oMath xmlns:m="http://schemas.openxmlformats.org/officeDocument/2006/math">
                    <m:sSup>
                      <m:sSupPr>
                        <m:ctrlPr>
                          <a:rPr lang="en-US" sz="2600" i="1" smtClean="0">
                            <a:latin typeface="Cambria Math" panose="02040503050406030204" pitchFamily="18" charset="0"/>
                            <a:cs typeface="Arial" pitchFamily="34" charset="0"/>
                          </a:rPr>
                        </m:ctrlPr>
                      </m:sSupPr>
                      <m:e>
                        <m:r>
                          <a:rPr lang="en-US" sz="2600" b="0" i="1" smtClean="0">
                            <a:latin typeface="Cambria Math" panose="02040503050406030204" pitchFamily="18" charset="0"/>
                            <a:cs typeface="Arial" pitchFamily="34" charset="0"/>
                          </a:rPr>
                          <m:t>𝑦</m:t>
                        </m:r>
                      </m:e>
                      <m:sup>
                        <m:r>
                          <a:rPr lang="en-US" sz="2600" b="0" i="1" smtClean="0">
                            <a:latin typeface="Cambria Math" panose="02040503050406030204" pitchFamily="18" charset="0"/>
                            <a:cs typeface="Arial" pitchFamily="34" charset="0"/>
                          </a:rPr>
                          <m:t>(</m:t>
                        </m:r>
                        <m:r>
                          <a:rPr lang="en-US" sz="2600" b="0" i="1" smtClean="0">
                            <a:latin typeface="Cambria Math" panose="02040503050406030204" pitchFamily="18" charset="0"/>
                            <a:cs typeface="Arial" pitchFamily="34" charset="0"/>
                          </a:rPr>
                          <m:t>𝑡</m:t>
                        </m:r>
                        <m:r>
                          <a:rPr lang="en-US" sz="2600" b="0" i="1" smtClean="0">
                            <a:latin typeface="Cambria Math" panose="02040503050406030204" pitchFamily="18" charset="0"/>
                            <a:cs typeface="Arial" pitchFamily="34" charset="0"/>
                          </a:rPr>
                          <m:t>)</m:t>
                        </m:r>
                      </m:sup>
                    </m:sSup>
                    <m:r>
                      <a:rPr lang="en-US" sz="2600" b="0" i="1" smtClean="0">
                        <a:latin typeface="Cambria Math" panose="02040503050406030204" pitchFamily="18" charset="0"/>
                        <a:cs typeface="Arial" pitchFamily="34" charset="0"/>
                      </a:rPr>
                      <m:t>=</m:t>
                    </m:r>
                  </m:oMath>
                </a14:m>
                <a:r>
                  <a:rPr lang="en-US" sz="2600" dirty="0">
                    <a:cs typeface="Arial" pitchFamily="34" charset="0"/>
                  </a:rPr>
                  <a:t> </a:t>
                </a:r>
                <a14:m>
                  <m:oMath xmlns:m="http://schemas.openxmlformats.org/officeDocument/2006/math">
                    <m:sSup>
                      <m:sSupPr>
                        <m:ctrlPr>
                          <a:rPr lang="en-US" sz="2600" i="1">
                            <a:latin typeface="Cambria Math" panose="02040503050406030204" pitchFamily="18" charset="0"/>
                            <a:cs typeface="Arial" pitchFamily="34" charset="0"/>
                          </a:rPr>
                        </m:ctrlPr>
                      </m:sSupPr>
                      <m:e>
                        <m:r>
                          <a:rPr lang="en-US" sz="2600" i="1">
                            <a:latin typeface="Cambria Math" panose="02040503050406030204" pitchFamily="18" charset="0"/>
                            <a:cs typeface="Arial" pitchFamily="34" charset="0"/>
                          </a:rPr>
                          <m:t>𝑦</m:t>
                        </m:r>
                      </m:e>
                      <m:sup>
                        <m:r>
                          <a:rPr lang="en-US" sz="2600" i="1">
                            <a:latin typeface="Cambria Math" panose="02040503050406030204" pitchFamily="18" charset="0"/>
                            <a:cs typeface="Arial" pitchFamily="34" charset="0"/>
                          </a:rPr>
                          <m:t>(</m:t>
                        </m:r>
                        <m:r>
                          <a:rPr lang="en-US" sz="2600" i="1">
                            <a:latin typeface="Cambria Math" panose="02040503050406030204" pitchFamily="18" charset="0"/>
                            <a:cs typeface="Arial" pitchFamily="34" charset="0"/>
                          </a:rPr>
                          <m:t>𝑡</m:t>
                        </m:r>
                        <m:r>
                          <a:rPr lang="en-US" sz="2600" b="0" i="1" smtClean="0">
                            <a:latin typeface="Cambria Math" panose="02040503050406030204" pitchFamily="18" charset="0"/>
                            <a:cs typeface="Arial" pitchFamily="34" charset="0"/>
                          </a:rPr>
                          <m:t>−1</m:t>
                        </m:r>
                        <m:r>
                          <a:rPr lang="en-US" sz="2600" i="1">
                            <a:latin typeface="Cambria Math" panose="02040503050406030204" pitchFamily="18" charset="0"/>
                            <a:cs typeface="Arial" pitchFamily="34" charset="0"/>
                          </a:rPr>
                          <m:t>)</m:t>
                        </m:r>
                      </m:sup>
                    </m:sSup>
                    <m:r>
                      <a:rPr lang="en-US" sz="2600" b="0" i="1" smtClean="0">
                        <a:latin typeface="Cambria Math" panose="02040503050406030204" pitchFamily="18" charset="0"/>
                        <a:cs typeface="Arial" pitchFamily="34" charset="0"/>
                      </a:rPr>
                      <m:t>+</m:t>
                    </m:r>
                    <m:r>
                      <a:rPr lang="en-US" sz="2600" b="0" i="1" smtClean="0">
                        <a:latin typeface="Cambria Math" panose="02040503050406030204" pitchFamily="18" charset="0"/>
                        <a:ea typeface="Cambria Math" panose="02040503050406030204" pitchFamily="18" charset="0"/>
                        <a:cs typeface="Arial" pitchFamily="34" charset="0"/>
                      </a:rPr>
                      <m:t>𝜂</m:t>
                    </m:r>
                    <m:sSub>
                      <m:sSubPr>
                        <m:ctrlPr>
                          <a:rPr lang="en-US" sz="2600" b="0" i="1" smtClean="0">
                            <a:latin typeface="Cambria Math" panose="02040503050406030204" pitchFamily="18" charset="0"/>
                            <a:ea typeface="Cambria Math" panose="02040503050406030204" pitchFamily="18" charset="0"/>
                            <a:cs typeface="Arial" pitchFamily="34" charset="0"/>
                          </a:rPr>
                        </m:ctrlPr>
                      </m:sSubPr>
                      <m:e>
                        <m:r>
                          <a:rPr lang="en-US" sz="2600" b="0" i="1" smtClean="0">
                            <a:latin typeface="Cambria Math" panose="02040503050406030204" pitchFamily="18" charset="0"/>
                            <a:ea typeface="Cambria Math" panose="02040503050406030204" pitchFamily="18" charset="0"/>
                            <a:cs typeface="Arial" pitchFamily="34" charset="0"/>
                          </a:rPr>
                          <m:t>𝑓</m:t>
                        </m:r>
                      </m:e>
                      <m:sub>
                        <m:r>
                          <a:rPr lang="en-US" sz="2600" b="0" i="1" smtClean="0">
                            <a:latin typeface="Cambria Math" panose="02040503050406030204" pitchFamily="18" charset="0"/>
                            <a:ea typeface="Cambria Math" panose="02040503050406030204" pitchFamily="18" charset="0"/>
                            <a:cs typeface="Arial" pitchFamily="34" charset="0"/>
                          </a:rPr>
                          <m:t>𝑡</m:t>
                        </m:r>
                      </m:sub>
                    </m:sSub>
                    <m:r>
                      <a:rPr lang="en-US" sz="2600" b="0" i="1" smtClean="0">
                        <a:latin typeface="Cambria Math" panose="02040503050406030204" pitchFamily="18" charset="0"/>
                        <a:ea typeface="Cambria Math" panose="02040503050406030204" pitchFamily="18" charset="0"/>
                        <a:cs typeface="Arial" pitchFamily="34" charset="0"/>
                      </a:rPr>
                      <m:t>(</m:t>
                    </m:r>
                    <m:sSub>
                      <m:sSubPr>
                        <m:ctrlPr>
                          <a:rPr lang="en-US" sz="2600" b="0" i="1" smtClean="0">
                            <a:latin typeface="Cambria Math" panose="02040503050406030204" pitchFamily="18" charset="0"/>
                            <a:ea typeface="Cambria Math" panose="02040503050406030204" pitchFamily="18" charset="0"/>
                            <a:cs typeface="Arial" pitchFamily="34" charset="0"/>
                          </a:rPr>
                        </m:ctrlPr>
                      </m:sSubPr>
                      <m:e>
                        <m:r>
                          <a:rPr lang="en-US" sz="2600" b="0" i="1" smtClean="0">
                            <a:latin typeface="Cambria Math" panose="02040503050406030204" pitchFamily="18" charset="0"/>
                            <a:ea typeface="Cambria Math" panose="02040503050406030204" pitchFamily="18" charset="0"/>
                            <a:cs typeface="Arial" pitchFamily="34" charset="0"/>
                          </a:rPr>
                          <m:t>𝑥</m:t>
                        </m:r>
                      </m:e>
                      <m:sub>
                        <m:r>
                          <a:rPr lang="en-US" sz="2600" b="0" i="1" smtClean="0">
                            <a:latin typeface="Cambria Math" panose="02040503050406030204" pitchFamily="18" charset="0"/>
                            <a:ea typeface="Cambria Math" panose="02040503050406030204" pitchFamily="18" charset="0"/>
                            <a:cs typeface="Arial" pitchFamily="34" charset="0"/>
                          </a:rPr>
                          <m:t>𝑖</m:t>
                        </m:r>
                      </m:sub>
                    </m:sSub>
                    <m:r>
                      <a:rPr lang="en-US" sz="2600" b="0" i="1" smtClean="0">
                        <a:latin typeface="Cambria Math" panose="02040503050406030204" pitchFamily="18" charset="0"/>
                        <a:ea typeface="Cambria Math" panose="02040503050406030204" pitchFamily="18" charset="0"/>
                        <a:cs typeface="Arial" pitchFamily="34" charset="0"/>
                      </a:rPr>
                      <m:t>)</m:t>
                    </m:r>
                  </m:oMath>
                </a14:m>
                <a:endParaRPr lang="en-US" sz="2600" dirty="0">
                  <a:latin typeface="Arial" pitchFamily="34" charset="0"/>
                  <a:cs typeface="Arial" pitchFamily="34" charset="0"/>
                </a:endParaRPr>
              </a:p>
            </p:txBody>
          </p:sp>
        </mc:Choice>
        <mc:Fallback xmlns="">
          <p:sp>
            <p:nvSpPr>
              <p:cNvPr id="11" name="TextBox 10">
                <a:extLst>
                  <a:ext uri="{FF2B5EF4-FFF2-40B4-BE49-F238E27FC236}">
                    <a16:creationId xmlns:a16="http://schemas.microsoft.com/office/drawing/2014/main" id="{BAE8C181-A49D-C7BA-56D0-9C3F15A1B4C4}"/>
                  </a:ext>
                </a:extLst>
              </p:cNvPr>
              <p:cNvSpPr txBox="1">
                <a:spLocks noRot="1" noChangeAspect="1" noMove="1" noResize="1" noEditPoints="1" noAdjustHandles="1" noChangeArrowheads="1" noChangeShapeType="1" noTextEdit="1"/>
              </p:cNvSpPr>
              <p:nvPr/>
            </p:nvSpPr>
            <p:spPr>
              <a:xfrm>
                <a:off x="2228279" y="5075122"/>
                <a:ext cx="3310472" cy="416717"/>
              </a:xfrm>
              <a:prstGeom prst="rect">
                <a:avLst/>
              </a:prstGeom>
              <a:blipFill>
                <a:blip r:embed="rId7"/>
                <a:stretch>
                  <a:fillRect l="-3435" t="-5882" b="-35294"/>
                </a:stretch>
              </a:blipFill>
            </p:spPr>
            <p:txBody>
              <a:bodyPr/>
              <a:lstStyle/>
              <a:p>
                <a:r>
                  <a:rPr lang="en-US">
                    <a:noFill/>
                  </a:rPr>
                  <a:t> </a:t>
                </a:r>
              </a:p>
            </p:txBody>
          </p:sp>
        </mc:Fallback>
      </mc:AlternateContent>
    </p:spTree>
    <p:extLst>
      <p:ext uri="{BB962C8B-B14F-4D97-AF65-F5344CB8AC3E}">
        <p14:creationId xmlns:p14="http://schemas.microsoft.com/office/powerpoint/2010/main" val="2089067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862F-0120-4094-8C8E-7D07FE4DF11F}"/>
              </a:ext>
            </a:extLst>
          </p:cNvPr>
          <p:cNvSpPr>
            <a:spLocks noGrp="1"/>
          </p:cNvSpPr>
          <p:nvPr>
            <p:ph type="title"/>
          </p:nvPr>
        </p:nvSpPr>
        <p:spPr/>
        <p:txBody>
          <a:bodyPr vert="horz" lIns="91440" tIns="45720" rIns="45720" bIns="45720" rtlCol="0" anchor="ctr">
            <a:normAutofit/>
            <a:scene3d>
              <a:camera prst="orthographicFront"/>
              <a:lightRig rig="threePt" dir="t">
                <a:rot lat="0" lon="0" rev="4800000"/>
              </a:lightRig>
            </a:scene3d>
            <a:sp3d prstMaterial="matte">
              <a:bevelT w="50800" h="10160"/>
            </a:sp3d>
          </a:bodyPr>
          <a:lstStyle/>
          <a:p>
            <a:r>
              <a:rPr lang="en-US" err="1"/>
              <a:t>XGBoost</a:t>
            </a:r>
          </a:p>
        </p:txBody>
      </p:sp>
      <p:sp>
        <p:nvSpPr>
          <p:cNvPr id="3" name="Content Placeholder 2">
            <a:extLst>
              <a:ext uri="{FF2B5EF4-FFF2-40B4-BE49-F238E27FC236}">
                <a16:creationId xmlns:a16="http://schemas.microsoft.com/office/drawing/2014/main" id="{20B8CDDE-5C44-4343-B73A-C1A77770BA23}"/>
              </a:ext>
            </a:extLst>
          </p:cNvPr>
          <p:cNvSpPr>
            <a:spLocks noGrp="1"/>
          </p:cNvSpPr>
          <p:nvPr>
            <p:ph idx="1"/>
          </p:nvPr>
        </p:nvSpPr>
        <p:spPr/>
        <p:txBody>
          <a:bodyPr vert="horz" lIns="54864" tIns="91440" rIns="91440" bIns="45720" rtlCol="0" anchor="t">
            <a:normAutofit fontScale="92500" lnSpcReduction="20000"/>
          </a:bodyPr>
          <a:lstStyle/>
          <a:p>
            <a:pPr marL="438785"/>
            <a:r>
              <a:rPr lang="en-US" err="1">
                <a:solidFill>
                  <a:srgbClr val="0000FF"/>
                </a:solidFill>
                <a:latin typeface="Calibri"/>
                <a:cs typeface="Calibri"/>
              </a:rPr>
              <a:t>XGBoost</a:t>
            </a:r>
            <a:r>
              <a:rPr lang="en-US">
                <a:latin typeface="Calibri"/>
                <a:cs typeface="Calibri"/>
              </a:rPr>
              <a:t>: </a:t>
            </a:r>
            <a:r>
              <a:rPr lang="en-US" err="1">
                <a:latin typeface="Calibri"/>
                <a:cs typeface="Calibri"/>
              </a:rPr>
              <a:t>e</a:t>
            </a:r>
            <a:r>
              <a:rPr lang="en-US" b="1" err="1">
                <a:latin typeface="Calibri"/>
                <a:cs typeface="Calibri"/>
              </a:rPr>
              <a:t>X</a:t>
            </a:r>
            <a:r>
              <a:rPr lang="en-US" err="1">
                <a:latin typeface="Calibri"/>
                <a:cs typeface="Calibri"/>
              </a:rPr>
              <a:t>treme</a:t>
            </a:r>
            <a:r>
              <a:rPr lang="en-US">
                <a:latin typeface="Calibri"/>
                <a:cs typeface="Calibri"/>
              </a:rPr>
              <a:t> </a:t>
            </a:r>
            <a:r>
              <a:rPr lang="en-US" b="1">
                <a:latin typeface="Calibri"/>
                <a:cs typeface="Calibri"/>
              </a:rPr>
              <a:t>G</a:t>
            </a:r>
            <a:r>
              <a:rPr lang="en-US">
                <a:latin typeface="Calibri"/>
                <a:cs typeface="Calibri"/>
              </a:rPr>
              <a:t>radient </a:t>
            </a:r>
            <a:r>
              <a:rPr lang="en-US" b="1">
                <a:latin typeface="Calibri"/>
                <a:cs typeface="Calibri"/>
              </a:rPr>
              <a:t>B</a:t>
            </a:r>
            <a:r>
              <a:rPr lang="en-US">
                <a:latin typeface="Calibri"/>
                <a:cs typeface="Calibri"/>
              </a:rPr>
              <a:t>oosting</a:t>
            </a:r>
          </a:p>
          <a:p>
            <a:pPr lvl="1"/>
            <a:r>
              <a:rPr lang="en-US">
                <a:solidFill>
                  <a:srgbClr val="000000"/>
                </a:solidFill>
                <a:latin typeface="Calibri"/>
                <a:cs typeface="Calibri"/>
              </a:rPr>
              <a:t>A highly scalable implementation of gradient boosted decision trees with regularization</a:t>
            </a:r>
          </a:p>
          <a:p>
            <a:pPr marL="457200" lvl="1" indent="0">
              <a:buNone/>
            </a:pPr>
            <a:endParaRPr lang="en-US">
              <a:solidFill>
                <a:srgbClr val="000000"/>
              </a:solidFill>
              <a:latin typeface="Calibri"/>
              <a:cs typeface="Calibri"/>
            </a:endParaRPr>
          </a:p>
          <a:p>
            <a:pPr marL="457200" lvl="1" indent="0">
              <a:buNone/>
            </a:pPr>
            <a:r>
              <a:rPr lang="en-US">
                <a:solidFill>
                  <a:srgbClr val="008000"/>
                </a:solidFill>
                <a:latin typeface="Calibri"/>
                <a:cs typeface="Calibri"/>
              </a:rPr>
              <a:t>Widely used by data scientists and provides state-of-the-art results on many problems!  </a:t>
            </a:r>
            <a:endParaRPr lang="en-US">
              <a:solidFill>
                <a:srgbClr val="008000"/>
              </a:solidFill>
            </a:endParaRPr>
          </a:p>
          <a:p>
            <a:pPr marL="438785">
              <a:buClr>
                <a:srgbClr val="F0AD00"/>
              </a:buClr>
            </a:pPr>
            <a:endParaRPr lang="en-US">
              <a:solidFill>
                <a:srgbClr val="000000"/>
              </a:solidFill>
              <a:latin typeface="Calibri"/>
              <a:cs typeface="Calibri"/>
            </a:endParaRPr>
          </a:p>
          <a:p>
            <a:pPr marL="438785">
              <a:buClr>
                <a:srgbClr val="F0AD00"/>
              </a:buClr>
            </a:pPr>
            <a:r>
              <a:rPr lang="en-US">
                <a:solidFill>
                  <a:srgbClr val="000000"/>
                </a:solidFill>
                <a:latin typeface="Calibri"/>
                <a:cs typeface="Calibri"/>
              </a:rPr>
              <a:t>System optimizations:</a:t>
            </a:r>
          </a:p>
          <a:p>
            <a:pPr lvl="1"/>
            <a:r>
              <a:rPr lang="en-US">
                <a:solidFill>
                  <a:srgbClr val="0000FF"/>
                </a:solidFill>
                <a:latin typeface="Calibri"/>
                <a:cs typeface="Calibri"/>
              </a:rPr>
              <a:t>Parallel tree constructions</a:t>
            </a:r>
            <a:r>
              <a:rPr lang="en-US">
                <a:solidFill>
                  <a:srgbClr val="008000"/>
                </a:solidFill>
                <a:latin typeface="Calibri"/>
                <a:cs typeface="Calibri"/>
              </a:rPr>
              <a:t> </a:t>
            </a:r>
            <a:r>
              <a:rPr lang="en-US">
                <a:latin typeface="Calibri"/>
                <a:cs typeface="Calibri"/>
              </a:rPr>
              <a:t>using column block structure</a:t>
            </a:r>
            <a:endParaRPr lang="en-US"/>
          </a:p>
          <a:p>
            <a:pPr lvl="1"/>
            <a:r>
              <a:rPr lang="en-US">
                <a:solidFill>
                  <a:srgbClr val="0000FF"/>
                </a:solidFill>
                <a:latin typeface="Calibri"/>
                <a:cs typeface="Calibri"/>
              </a:rPr>
              <a:t>Distributed Computing </a:t>
            </a:r>
            <a:r>
              <a:rPr lang="en-US">
                <a:latin typeface="Calibri"/>
                <a:cs typeface="Calibri"/>
              </a:rPr>
              <a:t>for training very large models using a cluster of machines.</a:t>
            </a:r>
          </a:p>
          <a:p>
            <a:pPr lvl="1"/>
            <a:r>
              <a:rPr lang="en-US">
                <a:solidFill>
                  <a:srgbClr val="0000FF"/>
                </a:solidFill>
                <a:latin typeface="Calibri"/>
                <a:cs typeface="Calibri"/>
              </a:rPr>
              <a:t>Out-of-Core Computing</a:t>
            </a:r>
            <a:r>
              <a:rPr lang="en-US">
                <a:latin typeface="Calibri"/>
                <a:cs typeface="Calibri"/>
              </a:rPr>
              <a:t> for very large datasets that don’t fit into memory.</a:t>
            </a:r>
          </a:p>
          <a:p>
            <a:pPr lvl="1"/>
            <a:endParaRPr lang="en-US">
              <a:latin typeface="Calibri"/>
              <a:cs typeface="Calibri"/>
            </a:endParaRPr>
          </a:p>
          <a:p>
            <a:pPr marL="438785"/>
            <a:endParaRPr lang="en-US"/>
          </a:p>
        </p:txBody>
      </p:sp>
      <p:sp>
        <p:nvSpPr>
          <p:cNvPr id="4" name="Date Placeholder 3">
            <a:extLst>
              <a:ext uri="{FF2B5EF4-FFF2-40B4-BE49-F238E27FC236}">
                <a16:creationId xmlns:a16="http://schemas.microsoft.com/office/drawing/2014/main" id="{1A2920F8-8E6B-44C2-ACEB-FC0AEC3FE514}"/>
              </a:ext>
            </a:extLst>
          </p:cNvPr>
          <p:cNvSpPr>
            <a:spLocks noGrp="1"/>
          </p:cNvSpPr>
          <p:nvPr>
            <p:ph type="dt" sz="half" idx="10"/>
          </p:nvPr>
        </p:nvSpPr>
        <p:spPr/>
        <p:txBody>
          <a:bodyPr/>
          <a:lstStyle/>
          <a:p>
            <a:fld id="{F21A9891-584D-8F47-BDA7-0C55BFFD9AC8}" type="datetime1">
              <a:rPr lang="en-US" smtClean="0"/>
              <a:t>10/15/24</a:t>
            </a:fld>
            <a:endParaRPr lang="en-US"/>
          </a:p>
        </p:txBody>
      </p:sp>
      <p:sp>
        <p:nvSpPr>
          <p:cNvPr id="5" name="Footer Placeholder 4">
            <a:extLst>
              <a:ext uri="{FF2B5EF4-FFF2-40B4-BE49-F238E27FC236}">
                <a16:creationId xmlns:a16="http://schemas.microsoft.com/office/drawing/2014/main" id="{2CF2B3AF-15F0-4B1C-8D22-F769AA6C227D}"/>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C19D8562-577E-4420-9C7C-FA9A5D2048DE}"/>
              </a:ext>
            </a:extLst>
          </p:cNvPr>
          <p:cNvSpPr>
            <a:spLocks noGrp="1"/>
          </p:cNvSpPr>
          <p:nvPr>
            <p:ph type="sldNum" sz="quarter" idx="12"/>
          </p:nvPr>
        </p:nvSpPr>
        <p:spPr/>
        <p:txBody>
          <a:bodyPr/>
          <a:lstStyle/>
          <a:p>
            <a:fld id="{19B12225-5612-419B-A8D5-4B8EEE4C217E}" type="slidenum">
              <a:rPr lang="en-US" smtClean="0"/>
              <a:pPr/>
              <a:t>48</a:t>
            </a:fld>
            <a:endParaRPr lang="en-US"/>
          </a:p>
        </p:txBody>
      </p:sp>
    </p:spTree>
    <p:extLst>
      <p:ext uri="{BB962C8B-B14F-4D97-AF65-F5344CB8AC3E}">
        <p14:creationId xmlns:p14="http://schemas.microsoft.com/office/powerpoint/2010/main" val="24690663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8257</TotalTime>
  <Words>3742</Words>
  <Application>Microsoft Macintosh PowerPoint</Application>
  <PresentationFormat>On-screen Show (4:3)</PresentationFormat>
  <Paragraphs>678</Paragraphs>
  <Slides>48</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Cambria Math</vt:lpstr>
      <vt:lpstr>Corbel</vt:lpstr>
      <vt:lpstr>IBM Plex Sans</vt:lpstr>
      <vt:lpstr>Wingdings</vt:lpstr>
      <vt:lpstr>Wingdings 2</vt:lpstr>
      <vt:lpstr>Module</vt:lpstr>
      <vt:lpstr>Large Scale Machine Learning: Decision Trees</vt:lpstr>
      <vt:lpstr>Decision Trees:  Learning Ensembles</vt:lpstr>
      <vt:lpstr>Learning Ensembles</vt:lpstr>
      <vt:lpstr>Overview</vt:lpstr>
      <vt:lpstr>Learning Ensembles</vt:lpstr>
      <vt:lpstr>(1): Bagging Decision Trees</vt:lpstr>
      <vt:lpstr>(2) Improvement: Random Forests</vt:lpstr>
      <vt:lpstr>Ensemble learning</vt:lpstr>
      <vt:lpstr>(2) Improvement: Random Forests</vt:lpstr>
      <vt:lpstr>(3): Boosting</vt:lpstr>
      <vt:lpstr>(3): Boosting</vt:lpstr>
      <vt:lpstr>AdaBoost</vt:lpstr>
      <vt:lpstr>AdaBoost: Weak learner</vt:lpstr>
      <vt:lpstr>Build Decision Trees with AdaBoost</vt:lpstr>
      <vt:lpstr>Training One Decision Tree </vt:lpstr>
      <vt:lpstr>Update Step</vt:lpstr>
      <vt:lpstr>Final Prediction</vt:lpstr>
      <vt:lpstr>AdaBoost: Summary</vt:lpstr>
      <vt:lpstr>AdaBoost Conclusion</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Gradient Boosted Decision Trees</vt:lpstr>
      <vt:lpstr>How to decide which f to add?</vt:lpstr>
      <vt:lpstr>How to decide which f to add?</vt:lpstr>
      <vt:lpstr>How to decide which f to add?</vt:lpstr>
      <vt:lpstr>Revisiting the Objective</vt:lpstr>
      <vt:lpstr>Finding the Optimal w_j^∗</vt:lpstr>
      <vt:lpstr>For Regression Loss</vt:lpstr>
      <vt:lpstr>For Regression Example</vt:lpstr>
      <vt:lpstr>For Regression Example</vt:lpstr>
      <vt:lpstr>How to find a single tree f_t</vt:lpstr>
      <vt:lpstr>How to find a single tree f_t</vt:lpstr>
      <vt:lpstr>How to Find the Best Split?</vt:lpstr>
      <vt:lpstr>Summary: GBDT Algorithm</vt:lpstr>
      <vt:lpstr>XGBoost</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Microsoft Office User</cp:lastModifiedBy>
  <cp:revision>122</cp:revision>
  <cp:lastPrinted>2018-02-22T05:48:55Z</cp:lastPrinted>
  <dcterms:created xsi:type="dcterms:W3CDTF">2009-06-12T17:14:38Z</dcterms:created>
  <dcterms:modified xsi:type="dcterms:W3CDTF">2024-10-15T22:51:25Z</dcterms:modified>
</cp:coreProperties>
</file>