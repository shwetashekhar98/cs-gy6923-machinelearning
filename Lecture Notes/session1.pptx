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97"/>
    <p:restoredTop sz="94719"/>
  </p:normalViewPr>
  <p:slideViewPr>
    <p:cSldViewPr snapToGrid="0">
      <p:cViewPr varScale="1">
        <p:scale>
          <a:sx n="148" d="100"/>
          <a:sy n="148" d="100"/>
        </p:scale>
        <p:origin x="13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85B3E-9D9E-E724-4CB3-BBABE56CDA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E9F99D-83CF-8B08-8F55-C5B542A09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A6EE27-2410-19C2-DD6B-3EF9EC42B7D7}"/>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5" name="Footer Placeholder 4">
            <a:extLst>
              <a:ext uri="{FF2B5EF4-FFF2-40B4-BE49-F238E27FC236}">
                <a16:creationId xmlns:a16="http://schemas.microsoft.com/office/drawing/2014/main" id="{A44B3518-7E41-45BC-3A3D-53121F8D1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37370-3FB3-1644-F6E5-5B297B61A36C}"/>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76604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141B0-A778-6D19-7114-69EF09E04D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CFBEDF-98E7-8B12-3174-C762FF5F26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879610-AD6E-3668-FAFA-761A20690158}"/>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5" name="Footer Placeholder 4">
            <a:extLst>
              <a:ext uri="{FF2B5EF4-FFF2-40B4-BE49-F238E27FC236}">
                <a16:creationId xmlns:a16="http://schemas.microsoft.com/office/drawing/2014/main" id="{30DF9744-DE5C-C4D9-C3D0-26B1CD661D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656E80-4576-975B-FA69-13696290E32A}"/>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305655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55B4E-F967-BBE9-DAFF-C654E3061C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FB0C30-7814-D1B9-C176-58C1FDBE4F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234683-4DE7-91CD-773E-9F7BF15C348E}"/>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5" name="Footer Placeholder 4">
            <a:extLst>
              <a:ext uri="{FF2B5EF4-FFF2-40B4-BE49-F238E27FC236}">
                <a16:creationId xmlns:a16="http://schemas.microsoft.com/office/drawing/2014/main" id="{98B0181B-FBB5-597D-0E56-E3FB5B73A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0CAEA7-A915-4CEB-5444-307BDAAD402B}"/>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3456174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62AF-DBBF-3F60-68BF-81C9B1BD25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691B93-22DC-8E46-A652-E3B1745F2C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503DEA-397F-23DF-B9E5-EC4615B0BD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9FD4BF-4E99-E0CC-64C7-AD673BB45499}"/>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6" name="Footer Placeholder 5">
            <a:extLst>
              <a:ext uri="{FF2B5EF4-FFF2-40B4-BE49-F238E27FC236}">
                <a16:creationId xmlns:a16="http://schemas.microsoft.com/office/drawing/2014/main" id="{6A1FA3BF-4E24-40BB-32EB-1C7974B9C6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7563D4-8023-CC81-7646-C3AD39E8A438}"/>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1314006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47433-F3A6-FA7F-46E4-968F9CB008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CB73D7-A894-F88A-50EC-436A32545C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0E5513-1885-30DF-0274-26632AE523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FF7CB6-F5E7-127B-8A39-55CD01A422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7B9090-E29A-D7B2-66F8-D8DDE137D8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BE8A7D-62BC-C874-EE15-A921E039C4D4}"/>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8" name="Footer Placeholder 7">
            <a:extLst>
              <a:ext uri="{FF2B5EF4-FFF2-40B4-BE49-F238E27FC236}">
                <a16:creationId xmlns:a16="http://schemas.microsoft.com/office/drawing/2014/main" id="{50DCC2D6-846A-DF29-A0CF-E3E3E9C7FB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3CD809-9B29-4643-73FD-B27B44E1AEC0}"/>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902064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DF10B-CF04-F61F-356C-B33370B689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ABEC9E-3BB4-1FEE-675E-403A7E9AA9EB}"/>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4" name="Footer Placeholder 3">
            <a:extLst>
              <a:ext uri="{FF2B5EF4-FFF2-40B4-BE49-F238E27FC236}">
                <a16:creationId xmlns:a16="http://schemas.microsoft.com/office/drawing/2014/main" id="{DD60184D-85EB-740A-4D22-F29B732E01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50DB7E-828D-C755-2E79-4D952FCE08D9}"/>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993014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D8D55E-51D1-602D-79D3-56829A5F6461}"/>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3" name="Footer Placeholder 2">
            <a:extLst>
              <a:ext uri="{FF2B5EF4-FFF2-40B4-BE49-F238E27FC236}">
                <a16:creationId xmlns:a16="http://schemas.microsoft.com/office/drawing/2014/main" id="{662223D0-5BA4-68DB-EF95-652AD675B4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892BB9-766E-AA18-6C41-8B3E44F2D295}"/>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74574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B7BF9-B2DC-FB8F-D347-88149D497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55D024-58D6-A91D-7E7F-EF0803869E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B2EF9A-69AF-867F-91CD-073C1C828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23A7B8-A173-4AD1-BAF7-E1738377453B}"/>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6" name="Footer Placeholder 5">
            <a:extLst>
              <a:ext uri="{FF2B5EF4-FFF2-40B4-BE49-F238E27FC236}">
                <a16:creationId xmlns:a16="http://schemas.microsoft.com/office/drawing/2014/main" id="{77D43932-0658-A13A-6509-310EB311F9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03E954-ED38-5E8F-8C29-D31AD353719B}"/>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2491090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94E7-1CD3-CCC1-33AF-83D0EFECFD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43B0A2-E9C3-A129-0A66-7533923CD4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7BEB44-6980-9B40-93B6-3CF594DFE3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1F88F-AA75-7692-682B-4E67996865C3}"/>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6" name="Footer Placeholder 5">
            <a:extLst>
              <a:ext uri="{FF2B5EF4-FFF2-40B4-BE49-F238E27FC236}">
                <a16:creationId xmlns:a16="http://schemas.microsoft.com/office/drawing/2014/main" id="{CA2FEE37-E0E9-0F78-0781-CC664FC29E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12023-1B50-7745-BB6D-57E3CAAC76CB}"/>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2244704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E4E0-F3D4-9D3B-6B24-2B758AD673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62FE50-EDC2-16D5-9AF0-B5D623A7C0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B88BC-508A-32CA-6F26-6D0169643C2C}"/>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5" name="Footer Placeholder 4">
            <a:extLst>
              <a:ext uri="{FF2B5EF4-FFF2-40B4-BE49-F238E27FC236}">
                <a16:creationId xmlns:a16="http://schemas.microsoft.com/office/drawing/2014/main" id="{1B31543A-717D-A63C-47CF-4946CBBE0C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917D6-05CA-BE8D-455C-8F8D24C97B2B}"/>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26279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53EE24-4526-ADE6-83B2-F8E2D780E5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155373-FF9C-B539-722E-464D374DDE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92FC9-00CC-8816-F0ED-A93128F02AE9}"/>
              </a:ext>
            </a:extLst>
          </p:cNvPr>
          <p:cNvSpPr>
            <a:spLocks noGrp="1"/>
          </p:cNvSpPr>
          <p:nvPr>
            <p:ph type="dt" sz="half" idx="10"/>
          </p:nvPr>
        </p:nvSpPr>
        <p:spPr/>
        <p:txBody>
          <a:bodyPr/>
          <a:lstStyle/>
          <a:p>
            <a:fld id="{8A45D5A7-E77E-FA4E-8D09-5D4A0F55CEA3}" type="datetimeFigureOut">
              <a:rPr lang="en-US" smtClean="0"/>
              <a:t>9/10/24</a:t>
            </a:fld>
            <a:endParaRPr lang="en-US"/>
          </a:p>
        </p:txBody>
      </p:sp>
      <p:sp>
        <p:nvSpPr>
          <p:cNvPr id="5" name="Footer Placeholder 4">
            <a:extLst>
              <a:ext uri="{FF2B5EF4-FFF2-40B4-BE49-F238E27FC236}">
                <a16:creationId xmlns:a16="http://schemas.microsoft.com/office/drawing/2014/main" id="{A87F2EE7-DEBA-4212-05CD-AFDA5D3D3F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7D8980-73A0-EF0A-16BB-1A9745FB327F}"/>
              </a:ext>
            </a:extLst>
          </p:cNvPr>
          <p:cNvSpPr>
            <a:spLocks noGrp="1"/>
          </p:cNvSpPr>
          <p:nvPr>
            <p:ph type="sldNum" sz="quarter" idx="12"/>
          </p:nvPr>
        </p:nvSpPr>
        <p:spPr/>
        <p:txBody>
          <a:bodyPr/>
          <a:lstStyle/>
          <a:p>
            <a:fld id="{16DAED35-FF0D-2348-B445-4853F0991971}" type="slidenum">
              <a:rPr lang="en-US" smtClean="0"/>
              <a:t>‹#›</a:t>
            </a:fld>
            <a:endParaRPr lang="en-US"/>
          </a:p>
        </p:txBody>
      </p:sp>
    </p:spTree>
    <p:extLst>
      <p:ext uri="{BB962C8B-B14F-4D97-AF65-F5344CB8AC3E}">
        <p14:creationId xmlns:p14="http://schemas.microsoft.com/office/powerpoint/2010/main" val="2946343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79234C-C428-CD4E-C3DD-6B166A77EE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9C0F49-F0CB-E836-B9D3-B3B5AF346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13855-5887-733D-0CEB-E37808B446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5D5A7-E77E-FA4E-8D09-5D4A0F55CEA3}" type="datetimeFigureOut">
              <a:rPr lang="en-US" smtClean="0"/>
              <a:t>9/10/24</a:t>
            </a:fld>
            <a:endParaRPr lang="en-US"/>
          </a:p>
        </p:txBody>
      </p:sp>
      <p:sp>
        <p:nvSpPr>
          <p:cNvPr id="5" name="Footer Placeholder 4">
            <a:extLst>
              <a:ext uri="{FF2B5EF4-FFF2-40B4-BE49-F238E27FC236}">
                <a16:creationId xmlns:a16="http://schemas.microsoft.com/office/drawing/2014/main" id="{B34A51ED-C0BC-9CD1-6A77-417C0A2BE6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378B90-BB5F-7D1F-1DAB-DD641733BC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DAED35-FF0D-2348-B445-4853F0991971}" type="slidenum">
              <a:rPr lang="en-US" smtClean="0"/>
              <a:t>‹#›</a:t>
            </a:fld>
            <a:endParaRPr lang="en-US"/>
          </a:p>
        </p:txBody>
      </p:sp>
    </p:spTree>
    <p:extLst>
      <p:ext uri="{BB962C8B-B14F-4D97-AF65-F5344CB8AC3E}">
        <p14:creationId xmlns:p14="http://schemas.microsoft.com/office/powerpoint/2010/main" val="3477188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362AE-E370-5ABD-85C5-0286228B948A}"/>
              </a:ext>
            </a:extLst>
          </p:cNvPr>
          <p:cNvSpPr>
            <a:spLocks noGrp="1"/>
          </p:cNvSpPr>
          <p:nvPr>
            <p:ph type="ctrTitle"/>
          </p:nvPr>
        </p:nvSpPr>
        <p:spPr/>
        <p:txBody>
          <a:bodyPr/>
          <a:lstStyle/>
          <a:p>
            <a:r>
              <a:rPr lang="en-US" dirty="0"/>
              <a:t>Machine Learning INT2</a:t>
            </a:r>
          </a:p>
        </p:txBody>
      </p:sp>
      <p:sp>
        <p:nvSpPr>
          <p:cNvPr id="3" name="Subtitle 2">
            <a:extLst>
              <a:ext uri="{FF2B5EF4-FFF2-40B4-BE49-F238E27FC236}">
                <a16:creationId xmlns:a16="http://schemas.microsoft.com/office/drawing/2014/main" id="{689013B5-146C-3760-7DE1-DBDD833BC180}"/>
              </a:ext>
            </a:extLst>
          </p:cNvPr>
          <p:cNvSpPr>
            <a:spLocks noGrp="1"/>
          </p:cNvSpPr>
          <p:nvPr>
            <p:ph type="subTitle" idx="1"/>
          </p:nvPr>
        </p:nvSpPr>
        <p:spPr/>
        <p:txBody>
          <a:bodyPr/>
          <a:lstStyle/>
          <a:p>
            <a:r>
              <a:rPr lang="en-US" dirty="0"/>
              <a:t>Fall 2024</a:t>
            </a:r>
          </a:p>
        </p:txBody>
      </p:sp>
    </p:spTree>
    <p:extLst>
      <p:ext uri="{BB962C8B-B14F-4D97-AF65-F5344CB8AC3E}">
        <p14:creationId xmlns:p14="http://schemas.microsoft.com/office/powerpoint/2010/main" val="4112036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D19E-74C1-F2E6-7584-DBD565F705D5}"/>
              </a:ext>
            </a:extLst>
          </p:cNvPr>
          <p:cNvSpPr>
            <a:spLocks noGrp="1"/>
          </p:cNvSpPr>
          <p:nvPr>
            <p:ph type="title"/>
          </p:nvPr>
        </p:nvSpPr>
        <p:spPr/>
        <p:txBody>
          <a:bodyPr/>
          <a:lstStyle/>
          <a:p>
            <a:r>
              <a:rPr lang="en-US" dirty="0"/>
              <a:t>Logistics</a:t>
            </a:r>
          </a:p>
        </p:txBody>
      </p:sp>
      <p:sp>
        <p:nvSpPr>
          <p:cNvPr id="3" name="Content Placeholder 2">
            <a:extLst>
              <a:ext uri="{FF2B5EF4-FFF2-40B4-BE49-F238E27FC236}">
                <a16:creationId xmlns:a16="http://schemas.microsoft.com/office/drawing/2014/main" id="{B6E16A8A-B80D-73C9-25FF-0711D1928DC7}"/>
              </a:ext>
            </a:extLst>
          </p:cNvPr>
          <p:cNvSpPr>
            <a:spLocks noGrp="1"/>
          </p:cNvSpPr>
          <p:nvPr>
            <p:ph idx="1"/>
          </p:nvPr>
        </p:nvSpPr>
        <p:spPr/>
        <p:txBody>
          <a:bodyPr/>
          <a:lstStyle/>
          <a:p>
            <a:r>
              <a:rPr lang="en-US" dirty="0"/>
              <a:t>Class time: Tuesdays 6-8 pm</a:t>
            </a:r>
          </a:p>
          <a:p>
            <a:endParaRPr lang="en-US" dirty="0"/>
          </a:p>
          <a:p>
            <a:r>
              <a:rPr lang="en-US" dirty="0"/>
              <a:t>Two TAs: </a:t>
            </a:r>
          </a:p>
          <a:p>
            <a:pPr rtl="0" fontAlgn="ctr">
              <a:spcBef>
                <a:spcPts val="0"/>
              </a:spcBef>
              <a:spcAft>
                <a:spcPts val="0"/>
              </a:spcAft>
              <a:buFont typeface="+mj-lt"/>
              <a:buAutoNum type="arabicPeriod"/>
            </a:pPr>
            <a:r>
              <a:rPr lang="en-US" sz="1800" b="1" i="0" dirty="0">
                <a:solidFill>
                  <a:srgbClr val="000000"/>
                </a:solidFill>
                <a:effectLst/>
                <a:highlight>
                  <a:srgbClr val="FFFFFF"/>
                </a:highlight>
                <a:latin typeface="Calibri" panose="020F0502020204030204" pitchFamily="34" charset="0"/>
              </a:rPr>
              <a:t>Chirag Mahajan</a:t>
            </a:r>
            <a:r>
              <a:rPr lang="en-US" sz="1800" b="0" i="0" dirty="0">
                <a:solidFill>
                  <a:srgbClr val="000000"/>
                </a:solidFill>
                <a:effectLst/>
                <a:latin typeface="Calibri" panose="020F0502020204030204" pitchFamily="34" charset="0"/>
              </a:rPr>
              <a:t> </a:t>
            </a:r>
            <a:r>
              <a:rPr lang="en-US" sz="1800" b="0" i="0" dirty="0">
                <a:solidFill>
                  <a:srgbClr val="000000"/>
                </a:solidFill>
                <a:effectLst/>
                <a:highlight>
                  <a:srgbClr val="FFFFFF"/>
                </a:highlight>
                <a:latin typeface="Calibri" panose="020F0502020204030204" pitchFamily="34" charset="0"/>
              </a:rPr>
              <a:t>&lt;cm6591@nyu.edu&gt;</a:t>
            </a:r>
            <a:endParaRPr lang="en-US" sz="1800" b="0" i="0" dirty="0">
              <a:solidFill>
                <a:srgbClr val="000000"/>
              </a:solidFill>
              <a:effectLst/>
              <a:latin typeface="Calibri" panose="020F0502020204030204" pitchFamily="34" charset="0"/>
            </a:endParaRPr>
          </a:p>
          <a:p>
            <a:pPr rtl="0" fontAlgn="ctr">
              <a:spcBef>
                <a:spcPts val="0"/>
              </a:spcBef>
              <a:spcAft>
                <a:spcPts val="0"/>
              </a:spcAft>
              <a:buFont typeface="+mj-lt"/>
              <a:buAutoNum type="arabicPeriod"/>
            </a:pPr>
            <a:r>
              <a:rPr lang="en-US" sz="1800" b="1" i="0" dirty="0">
                <a:solidFill>
                  <a:srgbClr val="000000"/>
                </a:solidFill>
                <a:effectLst/>
                <a:highlight>
                  <a:srgbClr val="FFFFFF"/>
                </a:highlight>
                <a:latin typeface="Calibri" panose="020F0502020204030204" pitchFamily="34" charset="0"/>
              </a:rPr>
              <a:t>Dhanush Raya</a:t>
            </a:r>
            <a:r>
              <a:rPr lang="en-US" sz="1800" b="0" i="0" dirty="0">
                <a:solidFill>
                  <a:srgbClr val="000000"/>
                </a:solidFill>
                <a:effectLst/>
                <a:latin typeface="Calibri" panose="020F0502020204030204" pitchFamily="34" charset="0"/>
              </a:rPr>
              <a:t> </a:t>
            </a:r>
            <a:r>
              <a:rPr lang="en-US" sz="1800" b="0" i="0" dirty="0">
                <a:solidFill>
                  <a:srgbClr val="000000"/>
                </a:solidFill>
                <a:effectLst/>
                <a:highlight>
                  <a:srgbClr val="FFFFFF"/>
                </a:highlight>
                <a:latin typeface="Calibri" panose="020F0502020204030204" pitchFamily="34" charset="0"/>
              </a:rPr>
              <a:t>&lt;dr3631@nyu.edu&gt;</a:t>
            </a:r>
            <a:endParaRPr lang="en-US" sz="1800" b="0" i="0" dirty="0">
              <a:solidFill>
                <a:srgbClr val="000000"/>
              </a:solidFill>
              <a:effectLst/>
              <a:latin typeface="Calibri" panose="020F0502020204030204" pitchFamily="34" charset="0"/>
            </a:endParaRPr>
          </a:p>
          <a:p>
            <a:pPr marL="914400" lvl="2" indent="0" fontAlgn="ctr">
              <a:spcBef>
                <a:spcPts val="0"/>
              </a:spcBef>
              <a:buNone/>
            </a:pPr>
            <a:endParaRPr lang="en-US" sz="1400" dirty="0">
              <a:solidFill>
                <a:srgbClr val="000000"/>
              </a:solidFill>
              <a:latin typeface="Calibri" panose="020F0502020204030204" pitchFamily="34" charset="0"/>
            </a:endParaRPr>
          </a:p>
          <a:p>
            <a:pPr fontAlgn="ctr">
              <a:spcBef>
                <a:spcPts val="0"/>
              </a:spcBef>
            </a:pPr>
            <a:endParaRPr lang="en-US" dirty="0">
              <a:solidFill>
                <a:srgbClr val="000000"/>
              </a:solidFill>
              <a:latin typeface="Calibri" panose="020F0502020204030204" pitchFamily="34" charset="0"/>
            </a:endParaRPr>
          </a:p>
          <a:p>
            <a:pPr fontAlgn="ctr">
              <a:spcBef>
                <a:spcPts val="0"/>
              </a:spcBef>
            </a:pPr>
            <a:r>
              <a:rPr lang="en-US" dirty="0">
                <a:solidFill>
                  <a:srgbClr val="000000"/>
                </a:solidFill>
                <a:latin typeface="Calibri" panose="020F0502020204030204" pitchFamily="34" charset="0"/>
              </a:rPr>
              <a:t>Final grade:</a:t>
            </a:r>
          </a:p>
          <a:p>
            <a:pPr lvl="1" fontAlgn="ctr">
              <a:spcBef>
                <a:spcPts val="0"/>
              </a:spcBef>
            </a:pPr>
            <a:r>
              <a:rPr lang="en-US" sz="2000" dirty="0">
                <a:solidFill>
                  <a:srgbClr val="000000"/>
                </a:solidFill>
                <a:latin typeface="Calibri" panose="020F0502020204030204" pitchFamily="34" charset="0"/>
              </a:rPr>
              <a:t>6 Assignments: 40% of final grade</a:t>
            </a:r>
          </a:p>
          <a:p>
            <a:pPr lvl="1" fontAlgn="ctr">
              <a:spcBef>
                <a:spcPts val="0"/>
              </a:spcBef>
            </a:pPr>
            <a:r>
              <a:rPr lang="en-US" sz="2000" b="0" i="0" dirty="0">
                <a:solidFill>
                  <a:srgbClr val="000000"/>
                </a:solidFill>
                <a:effectLst/>
                <a:latin typeface="Calibri" panose="020F0502020204030204" pitchFamily="34" charset="0"/>
              </a:rPr>
              <a:t>1 final project: 50% of final grade</a:t>
            </a:r>
          </a:p>
          <a:p>
            <a:pPr lvl="1" fontAlgn="ctr">
              <a:spcBef>
                <a:spcPts val="0"/>
              </a:spcBef>
            </a:pPr>
            <a:r>
              <a:rPr lang="en-US" sz="2000" dirty="0">
                <a:solidFill>
                  <a:srgbClr val="000000"/>
                </a:solidFill>
                <a:latin typeface="Calibri" panose="020F0502020204030204" pitchFamily="34" charset="0"/>
              </a:rPr>
              <a:t>Participation: 10% of final grade</a:t>
            </a:r>
            <a:endParaRPr lang="en-US" sz="2000" b="0" i="0" dirty="0">
              <a:solidFill>
                <a:srgbClr val="000000"/>
              </a:solidFill>
              <a:effectLst/>
              <a:latin typeface="Calibri" panose="020F0502020204030204" pitchFamily="34" charset="0"/>
            </a:endParaRPr>
          </a:p>
          <a:p>
            <a:pPr lvl="1"/>
            <a:endParaRPr lang="en-US" dirty="0"/>
          </a:p>
        </p:txBody>
      </p:sp>
    </p:spTree>
    <p:extLst>
      <p:ext uri="{BB962C8B-B14F-4D97-AF65-F5344CB8AC3E}">
        <p14:creationId xmlns:p14="http://schemas.microsoft.com/office/powerpoint/2010/main" val="3393018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EC2B-D5DA-53A4-442B-1A564DC0F67A}"/>
              </a:ext>
            </a:extLst>
          </p:cNvPr>
          <p:cNvSpPr>
            <a:spLocks noGrp="1"/>
          </p:cNvSpPr>
          <p:nvPr>
            <p:ph type="title"/>
          </p:nvPr>
        </p:nvSpPr>
        <p:spPr/>
        <p:txBody>
          <a:bodyPr/>
          <a:lstStyle/>
          <a:p>
            <a:r>
              <a:rPr lang="en-US" dirty="0"/>
              <a:t>Logistics</a:t>
            </a:r>
          </a:p>
        </p:txBody>
      </p:sp>
      <p:sp>
        <p:nvSpPr>
          <p:cNvPr id="3" name="Content Placeholder 2">
            <a:extLst>
              <a:ext uri="{FF2B5EF4-FFF2-40B4-BE49-F238E27FC236}">
                <a16:creationId xmlns:a16="http://schemas.microsoft.com/office/drawing/2014/main" id="{1EC5F1B7-3CAE-A3F4-D07B-398FB6E60E1F}"/>
              </a:ext>
            </a:extLst>
          </p:cNvPr>
          <p:cNvSpPr>
            <a:spLocks noGrp="1"/>
          </p:cNvSpPr>
          <p:nvPr>
            <p:ph idx="1"/>
          </p:nvPr>
        </p:nvSpPr>
        <p:spPr/>
        <p:txBody>
          <a:bodyPr/>
          <a:lstStyle/>
          <a:p>
            <a:r>
              <a:rPr lang="en-US" dirty="0"/>
              <a:t>Final project:</a:t>
            </a:r>
          </a:p>
          <a:p>
            <a:pPr lvl="1"/>
            <a:r>
              <a:rPr lang="en-US" dirty="0"/>
              <a:t>In groups of 3 people</a:t>
            </a:r>
          </a:p>
          <a:p>
            <a:pPr lvl="1"/>
            <a:r>
              <a:rPr lang="en-US" dirty="0"/>
              <a:t>Dec 3</a:t>
            </a:r>
            <a:r>
              <a:rPr lang="en-US" baseline="30000" dirty="0"/>
              <a:t>th</a:t>
            </a:r>
            <a:r>
              <a:rPr lang="en-US" dirty="0"/>
              <a:t> , 10</a:t>
            </a:r>
            <a:r>
              <a:rPr lang="en-US" baseline="30000" dirty="0"/>
              <a:t>th</a:t>
            </a:r>
            <a:r>
              <a:rPr lang="en-US" dirty="0"/>
              <a:t> : presentation sessions</a:t>
            </a:r>
          </a:p>
          <a:p>
            <a:pPr lvl="1"/>
            <a:r>
              <a:rPr lang="en-US" dirty="0"/>
              <a:t>Upload: recorded video, notebook (or a pdf report)</a:t>
            </a:r>
          </a:p>
          <a:p>
            <a:pPr lvl="1"/>
            <a:r>
              <a:rPr lang="en-US" dirty="0"/>
              <a:t>Graded on </a:t>
            </a:r>
            <a:r>
              <a:rPr lang="en-US" dirty="0" err="1"/>
              <a:t>peerceptive</a:t>
            </a:r>
            <a:r>
              <a:rPr lang="en-US" dirty="0"/>
              <a:t> </a:t>
            </a:r>
          </a:p>
        </p:txBody>
      </p:sp>
    </p:spTree>
    <p:extLst>
      <p:ext uri="{BB962C8B-B14F-4D97-AF65-F5344CB8AC3E}">
        <p14:creationId xmlns:p14="http://schemas.microsoft.com/office/powerpoint/2010/main" val="271605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6927A-C26A-B4CA-5AB8-1D761B5C0075}"/>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9F797291-8F73-841C-5F4A-B8054DEBB3E5}"/>
              </a:ext>
            </a:extLst>
          </p:cNvPr>
          <p:cNvSpPr>
            <a:spLocks noGrp="1"/>
          </p:cNvSpPr>
          <p:nvPr>
            <p:ph idx="1"/>
          </p:nvPr>
        </p:nvSpPr>
        <p:spPr/>
        <p:txBody>
          <a:bodyPr>
            <a:normAutofit lnSpcReduction="10000"/>
          </a:bodyPr>
          <a:lstStyle/>
          <a:p>
            <a:r>
              <a:rPr lang="en-US" dirty="0"/>
              <a:t>Supervised Learning</a:t>
            </a:r>
          </a:p>
          <a:p>
            <a:pPr lvl="1"/>
            <a:r>
              <a:rPr lang="en-US" dirty="0"/>
              <a:t>Classification </a:t>
            </a:r>
          </a:p>
          <a:p>
            <a:pPr lvl="1"/>
            <a:r>
              <a:rPr lang="en-US" dirty="0"/>
              <a:t>Regression</a:t>
            </a:r>
          </a:p>
          <a:p>
            <a:pPr lvl="1"/>
            <a:r>
              <a:rPr lang="en-US" dirty="0"/>
              <a:t>Regularization</a:t>
            </a:r>
          </a:p>
          <a:p>
            <a:pPr lvl="1"/>
            <a:endParaRPr lang="en-US" dirty="0"/>
          </a:p>
          <a:p>
            <a:r>
              <a:rPr lang="en-US" dirty="0"/>
              <a:t>Bayesian Learning</a:t>
            </a:r>
          </a:p>
          <a:p>
            <a:r>
              <a:rPr lang="en-US" dirty="0"/>
              <a:t>Ensemble Methods</a:t>
            </a:r>
          </a:p>
          <a:p>
            <a:pPr lvl="1"/>
            <a:endParaRPr lang="en-US" dirty="0"/>
          </a:p>
          <a:p>
            <a:r>
              <a:rPr lang="en-US" dirty="0"/>
              <a:t>Unsupervised Learning</a:t>
            </a:r>
          </a:p>
          <a:p>
            <a:pPr lvl="1"/>
            <a:r>
              <a:rPr lang="en-US" dirty="0"/>
              <a:t>Dimensionality reduction</a:t>
            </a:r>
          </a:p>
          <a:p>
            <a:pPr lvl="1"/>
            <a:r>
              <a:rPr lang="en-US" dirty="0"/>
              <a:t>Clustering</a:t>
            </a:r>
          </a:p>
          <a:p>
            <a:pPr lvl="1"/>
            <a:endParaRPr lang="en-US" dirty="0"/>
          </a:p>
          <a:p>
            <a:endParaRPr lang="en-US" dirty="0"/>
          </a:p>
        </p:txBody>
      </p:sp>
    </p:spTree>
    <p:extLst>
      <p:ext uri="{BB962C8B-B14F-4D97-AF65-F5344CB8AC3E}">
        <p14:creationId xmlns:p14="http://schemas.microsoft.com/office/powerpoint/2010/main" val="627261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6927A-C26A-B4CA-5AB8-1D761B5C0075}"/>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9F797291-8F73-841C-5F4A-B8054DEBB3E5}"/>
              </a:ext>
            </a:extLst>
          </p:cNvPr>
          <p:cNvSpPr>
            <a:spLocks noGrp="1"/>
          </p:cNvSpPr>
          <p:nvPr>
            <p:ph idx="1"/>
          </p:nvPr>
        </p:nvSpPr>
        <p:spPr/>
        <p:txBody>
          <a:bodyPr/>
          <a:lstStyle/>
          <a:p>
            <a:r>
              <a:rPr lang="en-US" dirty="0"/>
              <a:t>Neural Networks:</a:t>
            </a:r>
          </a:p>
          <a:p>
            <a:pPr lvl="1"/>
            <a:r>
              <a:rPr lang="en-US" dirty="0"/>
              <a:t>Fully connected</a:t>
            </a:r>
          </a:p>
          <a:p>
            <a:pPr lvl="1"/>
            <a:r>
              <a:rPr lang="en-US" dirty="0"/>
              <a:t>word2vec, RNN</a:t>
            </a:r>
          </a:p>
          <a:p>
            <a:pPr marL="457200" lvl="1" indent="0">
              <a:buNone/>
            </a:pPr>
            <a:endParaRPr lang="en-US" dirty="0"/>
          </a:p>
          <a:p>
            <a:pPr marL="457200" lvl="1" indent="0">
              <a:buNone/>
            </a:pPr>
            <a:endParaRPr lang="en-US" dirty="0"/>
          </a:p>
          <a:p>
            <a:r>
              <a:rPr lang="en-US" dirty="0"/>
              <a:t>Generative AI</a:t>
            </a:r>
          </a:p>
          <a:p>
            <a:pPr lvl="1"/>
            <a:r>
              <a:rPr lang="en-US" dirty="0"/>
              <a:t>Transformers</a:t>
            </a:r>
          </a:p>
          <a:p>
            <a:pPr lvl="1"/>
            <a:r>
              <a:rPr lang="en-US" dirty="0"/>
              <a:t>Attention</a:t>
            </a:r>
          </a:p>
          <a:p>
            <a:pPr lvl="1"/>
            <a:r>
              <a:rPr lang="en-US" dirty="0"/>
              <a:t>Encoder, Decoder</a:t>
            </a:r>
          </a:p>
          <a:p>
            <a:pPr lvl="1"/>
            <a:endParaRPr lang="en-US" dirty="0"/>
          </a:p>
          <a:p>
            <a:endParaRPr lang="en-US" dirty="0"/>
          </a:p>
        </p:txBody>
      </p:sp>
    </p:spTree>
    <p:extLst>
      <p:ext uri="{BB962C8B-B14F-4D97-AF65-F5344CB8AC3E}">
        <p14:creationId xmlns:p14="http://schemas.microsoft.com/office/powerpoint/2010/main" val="1622113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3BEE-9891-B1CB-FCD1-E81458B90EEA}"/>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CE541DAC-0E52-7D2D-8153-8EBC687D327F}"/>
              </a:ext>
            </a:extLst>
          </p:cNvPr>
          <p:cNvSpPr>
            <a:spLocks noGrp="1"/>
          </p:cNvSpPr>
          <p:nvPr>
            <p:ph idx="1"/>
          </p:nvPr>
        </p:nvSpPr>
        <p:spPr/>
        <p:txBody>
          <a:bodyPr/>
          <a:lstStyle/>
          <a:p>
            <a:r>
              <a:rPr lang="en-US" dirty="0"/>
              <a:t>A subfield of artificial intelligence (AI) </a:t>
            </a:r>
          </a:p>
          <a:p>
            <a:endParaRPr lang="en-US" dirty="0"/>
          </a:p>
          <a:p>
            <a:r>
              <a:rPr lang="en-US" dirty="0"/>
              <a:t>Focuses on developing algorithms that enable computers to perform specific </a:t>
            </a:r>
            <a:r>
              <a:rPr lang="en-US" dirty="0">
                <a:solidFill>
                  <a:srgbClr val="FF0000"/>
                </a:solidFill>
              </a:rPr>
              <a:t>tasks</a:t>
            </a:r>
            <a:r>
              <a:rPr lang="en-US" dirty="0"/>
              <a:t> without being explicitly programmed. </a:t>
            </a:r>
          </a:p>
          <a:p>
            <a:endParaRPr lang="en-US" dirty="0"/>
          </a:p>
          <a:p>
            <a:r>
              <a:rPr lang="en-US" dirty="0"/>
              <a:t>In other words, it's about creating systems that can </a:t>
            </a:r>
            <a:r>
              <a:rPr lang="en-US" dirty="0">
                <a:solidFill>
                  <a:srgbClr val="FF0000"/>
                </a:solidFill>
              </a:rPr>
              <a:t>learn</a:t>
            </a:r>
            <a:r>
              <a:rPr lang="en-US" dirty="0"/>
              <a:t> from </a:t>
            </a:r>
            <a:r>
              <a:rPr lang="en-US" dirty="0">
                <a:solidFill>
                  <a:srgbClr val="FF0000"/>
                </a:solidFill>
              </a:rPr>
              <a:t>data</a:t>
            </a:r>
            <a:endParaRPr lang="en-US" dirty="0"/>
          </a:p>
        </p:txBody>
      </p:sp>
    </p:spTree>
    <p:extLst>
      <p:ext uri="{BB962C8B-B14F-4D97-AF65-F5344CB8AC3E}">
        <p14:creationId xmlns:p14="http://schemas.microsoft.com/office/powerpoint/2010/main" val="3663270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3BEE-9891-B1CB-FCD1-E81458B90EEA}"/>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CE541DAC-0E52-7D2D-8153-8EBC687D327F}"/>
              </a:ext>
            </a:extLst>
          </p:cNvPr>
          <p:cNvSpPr>
            <a:spLocks noGrp="1"/>
          </p:cNvSpPr>
          <p:nvPr>
            <p:ph idx="1"/>
          </p:nvPr>
        </p:nvSpPr>
        <p:spPr/>
        <p:txBody>
          <a:bodyPr>
            <a:normAutofit lnSpcReduction="10000"/>
          </a:bodyPr>
          <a:lstStyle/>
          <a:p>
            <a:r>
              <a:rPr lang="en-US" b="1" dirty="0"/>
              <a:t>Data</a:t>
            </a:r>
            <a:r>
              <a:rPr lang="en-US" dirty="0"/>
              <a:t>: The foundation of machine learning, where algorithms learn from vast amounts of data, such as text, images, or sensor readings.</a:t>
            </a:r>
          </a:p>
          <a:p>
            <a:endParaRPr lang="en-US" dirty="0"/>
          </a:p>
          <a:p>
            <a:r>
              <a:rPr lang="en-US" b="1" dirty="0"/>
              <a:t>Algorithms</a:t>
            </a:r>
            <a:r>
              <a:rPr lang="en-US" dirty="0"/>
              <a:t>: These are mathematical models that process data and learn from it. Common algorithms include linear regression, decision trees, neural networks, and support vector machines.</a:t>
            </a:r>
          </a:p>
          <a:p>
            <a:endParaRPr lang="en-US" dirty="0"/>
          </a:p>
          <a:p>
            <a:r>
              <a:rPr lang="en-US" b="1" dirty="0"/>
              <a:t>Training</a:t>
            </a:r>
            <a:r>
              <a:rPr lang="en-US" dirty="0"/>
              <a:t>: The process where a machine learning model learns from a dataset. During training, the model adjusts its internal parameters to make accurate predictions or decisions.</a:t>
            </a:r>
          </a:p>
          <a:p>
            <a:endParaRPr lang="en-US" dirty="0"/>
          </a:p>
        </p:txBody>
      </p:sp>
    </p:spTree>
    <p:extLst>
      <p:ext uri="{BB962C8B-B14F-4D97-AF65-F5344CB8AC3E}">
        <p14:creationId xmlns:p14="http://schemas.microsoft.com/office/powerpoint/2010/main" val="499253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3BEE-9891-B1CB-FCD1-E81458B90EEA}"/>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CE541DAC-0E52-7D2D-8153-8EBC687D327F}"/>
              </a:ext>
            </a:extLst>
          </p:cNvPr>
          <p:cNvSpPr>
            <a:spLocks noGrp="1"/>
          </p:cNvSpPr>
          <p:nvPr>
            <p:ph idx="1"/>
          </p:nvPr>
        </p:nvSpPr>
        <p:spPr/>
        <p:txBody>
          <a:bodyPr>
            <a:normAutofit fontScale="92500" lnSpcReduction="10000"/>
          </a:bodyPr>
          <a:lstStyle/>
          <a:p>
            <a:r>
              <a:rPr lang="en-US" b="1" dirty="0"/>
              <a:t>Supervised Learning</a:t>
            </a:r>
            <a:r>
              <a:rPr lang="en-US" dirty="0"/>
              <a:t>: A type of machine learning where the model is trained on labeled data. The model learns to map input data to known output labels. Examples include classification and regression tasks.</a:t>
            </a:r>
          </a:p>
          <a:p>
            <a:endParaRPr lang="en-US" dirty="0"/>
          </a:p>
          <a:p>
            <a:r>
              <a:rPr lang="en-US" b="1" dirty="0"/>
              <a:t>Unsupervised Learning</a:t>
            </a:r>
            <a:r>
              <a:rPr lang="en-US" dirty="0"/>
              <a:t>: Here, the model is trained on data without explicit labels. The goal is to find hidden patterns or structures in the data, such as clustering or association.</a:t>
            </a:r>
          </a:p>
          <a:p>
            <a:endParaRPr lang="en-US" dirty="0"/>
          </a:p>
          <a:p>
            <a:r>
              <a:rPr lang="en-US" b="1" dirty="0"/>
              <a:t>Reinforcement Learning</a:t>
            </a:r>
            <a:r>
              <a:rPr lang="en-US" dirty="0"/>
              <a:t>: In this approach, an agent learns to make decisions by performing actions in an environment and receiving feedback in the form of rewards or penalties.</a:t>
            </a:r>
          </a:p>
          <a:p>
            <a:endParaRPr lang="en-US" dirty="0"/>
          </a:p>
        </p:txBody>
      </p:sp>
    </p:spTree>
    <p:extLst>
      <p:ext uri="{BB962C8B-B14F-4D97-AF65-F5344CB8AC3E}">
        <p14:creationId xmlns:p14="http://schemas.microsoft.com/office/powerpoint/2010/main" val="63074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3BEE-9891-B1CB-FCD1-E81458B90EEA}"/>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CE541DAC-0E52-7D2D-8153-8EBC687D327F}"/>
              </a:ext>
            </a:extLst>
          </p:cNvPr>
          <p:cNvSpPr>
            <a:spLocks noGrp="1"/>
          </p:cNvSpPr>
          <p:nvPr>
            <p:ph idx="1"/>
          </p:nvPr>
        </p:nvSpPr>
        <p:spPr/>
        <p:txBody>
          <a:bodyPr>
            <a:normAutofit/>
          </a:bodyPr>
          <a:lstStyle/>
          <a:p>
            <a:r>
              <a:rPr lang="en-US" b="1" dirty="0"/>
              <a:t>Model Evaluation</a:t>
            </a:r>
            <a:r>
              <a:rPr lang="en-US" dirty="0"/>
              <a:t>: After training, the model is tested on new data to evaluate its performance. Common evaluation metrics include accuracy, precision, recall, and F1 score.</a:t>
            </a:r>
          </a:p>
          <a:p>
            <a:endParaRPr lang="en-US" dirty="0"/>
          </a:p>
          <a:p>
            <a:r>
              <a:rPr lang="en-US" b="1" dirty="0"/>
              <a:t>Overfitting and Underfitting</a:t>
            </a:r>
            <a:r>
              <a:rPr lang="en-US" dirty="0"/>
              <a:t>: Overfitting occurs when a model learns the training data too well, including noise, and performs poorly on new data. Underfitting happens when the model is too simple and fails to capture the underlying patterns in the data.</a:t>
            </a:r>
          </a:p>
          <a:p>
            <a:endParaRPr lang="en-US" dirty="0"/>
          </a:p>
        </p:txBody>
      </p:sp>
    </p:spTree>
    <p:extLst>
      <p:ext uri="{BB962C8B-B14F-4D97-AF65-F5344CB8AC3E}">
        <p14:creationId xmlns:p14="http://schemas.microsoft.com/office/powerpoint/2010/main" val="2651880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432</Words>
  <Application>Microsoft Macintosh PowerPoint</Application>
  <PresentationFormat>Widescreen</PresentationFormat>
  <Paragraphs>64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Machine Learning INT2</vt:lpstr>
      <vt:lpstr>Logistics</vt:lpstr>
      <vt:lpstr>Logistics</vt:lpstr>
      <vt:lpstr>Syllabus</vt:lpstr>
      <vt:lpstr>Syllabus</vt:lpstr>
      <vt:lpstr>Machine Learning</vt:lpstr>
      <vt:lpstr>Machine Learning</vt:lpstr>
      <vt:lpstr>Machine Learning</vt:lpstr>
      <vt:lpstr>Machine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8</cp:revision>
  <dcterms:created xsi:type="dcterms:W3CDTF">2024-09-03T21:44:57Z</dcterms:created>
  <dcterms:modified xsi:type="dcterms:W3CDTF">2024-09-10T23:08:15Z</dcterms:modified>
</cp:coreProperties>
</file>