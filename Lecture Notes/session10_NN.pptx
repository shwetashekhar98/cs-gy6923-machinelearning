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6"/>
  </p:notesMasterIdLst>
  <p:handoutMasterIdLst>
    <p:handoutMasterId r:id="rId67"/>
  </p:handoutMasterIdLst>
  <p:sldIdLst>
    <p:sldId id="256" r:id="rId2"/>
    <p:sldId id="405" r:id="rId3"/>
    <p:sldId id="412" r:id="rId4"/>
    <p:sldId id="413" r:id="rId5"/>
    <p:sldId id="414" r:id="rId6"/>
    <p:sldId id="415" r:id="rId7"/>
    <p:sldId id="429" r:id="rId8"/>
    <p:sldId id="416" r:id="rId9"/>
    <p:sldId id="430" r:id="rId10"/>
    <p:sldId id="1863" r:id="rId11"/>
    <p:sldId id="432" r:id="rId12"/>
    <p:sldId id="431" r:id="rId13"/>
    <p:sldId id="433" r:id="rId14"/>
    <p:sldId id="434" r:id="rId15"/>
    <p:sldId id="445" r:id="rId16"/>
    <p:sldId id="446" r:id="rId17"/>
    <p:sldId id="447" r:id="rId18"/>
    <p:sldId id="448" r:id="rId19"/>
    <p:sldId id="481" r:id="rId20"/>
    <p:sldId id="482" r:id="rId21"/>
    <p:sldId id="483" r:id="rId22"/>
    <p:sldId id="435" r:id="rId23"/>
    <p:sldId id="486" r:id="rId24"/>
    <p:sldId id="437" r:id="rId25"/>
    <p:sldId id="436" r:id="rId26"/>
    <p:sldId id="438" r:id="rId27"/>
    <p:sldId id="439" r:id="rId28"/>
    <p:sldId id="441" r:id="rId29"/>
    <p:sldId id="442" r:id="rId30"/>
    <p:sldId id="1630" r:id="rId31"/>
    <p:sldId id="1838" r:id="rId32"/>
    <p:sldId id="1857" r:id="rId33"/>
    <p:sldId id="1600" r:id="rId34"/>
    <p:sldId id="1839" r:id="rId35"/>
    <p:sldId id="449" r:id="rId36"/>
    <p:sldId id="451" r:id="rId37"/>
    <p:sldId id="452" r:id="rId38"/>
    <p:sldId id="1841" r:id="rId39"/>
    <p:sldId id="454" r:id="rId40"/>
    <p:sldId id="456" r:id="rId41"/>
    <p:sldId id="1845" r:id="rId42"/>
    <p:sldId id="1861" r:id="rId43"/>
    <p:sldId id="1844" r:id="rId44"/>
    <p:sldId id="457" r:id="rId45"/>
    <p:sldId id="473" r:id="rId46"/>
    <p:sldId id="474" r:id="rId47"/>
    <p:sldId id="475" r:id="rId48"/>
    <p:sldId id="1862" r:id="rId49"/>
    <p:sldId id="477" r:id="rId50"/>
    <p:sldId id="478" r:id="rId51"/>
    <p:sldId id="479" r:id="rId52"/>
    <p:sldId id="480" r:id="rId53"/>
    <p:sldId id="476" r:id="rId54"/>
    <p:sldId id="460" r:id="rId55"/>
    <p:sldId id="463" r:id="rId56"/>
    <p:sldId id="462" r:id="rId57"/>
    <p:sldId id="465" r:id="rId58"/>
    <p:sldId id="464" r:id="rId59"/>
    <p:sldId id="467" r:id="rId60"/>
    <p:sldId id="468" r:id="rId61"/>
    <p:sldId id="469" r:id="rId62"/>
    <p:sldId id="1858" r:id="rId63"/>
    <p:sldId id="470" r:id="rId64"/>
    <p:sldId id="422" r:id="rId65"/>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0093"/>
    <a:srgbClr val="008000"/>
    <a:srgbClr val="FF0000"/>
    <a:srgbClr val="FF0066"/>
    <a:srgbClr val="0000FF"/>
    <a:srgbClr val="D8D0FE"/>
    <a:srgbClr val="E4B1FF"/>
    <a:srgbClr val="33CC33"/>
    <a:srgbClr val="CC0066"/>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655587-CB54-AB66-5B2F-92C8D27C591D}" v="205" dt="2021-05-06T17:53:21.646"/>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21" autoAdjust="0"/>
    <p:restoredTop sz="96966" autoAdjust="0"/>
  </p:normalViewPr>
  <p:slideViewPr>
    <p:cSldViewPr>
      <p:cViewPr varScale="1">
        <p:scale>
          <a:sx n="157" d="100"/>
          <a:sy n="157" d="100"/>
        </p:scale>
        <p:origin x="2024" y="168"/>
      </p:cViewPr>
      <p:guideLst>
        <p:guide orient="horz" pos="2160"/>
        <p:guide pos="2880"/>
      </p:guideLst>
    </p:cSldViewPr>
  </p:slideViewPr>
  <p:notesTextViewPr>
    <p:cViewPr>
      <p:scale>
        <a:sx n="100" d="100"/>
        <a:sy n="100" d="100"/>
      </p:scale>
      <p:origin x="0" y="0"/>
    </p:cViewPr>
  </p:notesTextViewPr>
  <p:sorterViewPr>
    <p:cViewPr>
      <p:scale>
        <a:sx n="51" d="100"/>
        <a:sy n="51" d="100"/>
      </p:scale>
      <p:origin x="0" y="0"/>
    </p:cViewPr>
  </p:sorterViewPr>
  <p:notesViewPr>
    <p:cSldViewPr>
      <p:cViewPr varScale="1">
        <p:scale>
          <a:sx n="53" d="100"/>
          <a:sy n="53" d="100"/>
        </p:scale>
        <p:origin x="-1836" y="-84"/>
      </p:cViewPr>
      <p:guideLst>
        <p:guide orient="horz" pos="3024"/>
        <p:guide pos="2305"/>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jun Chen" userId="S::yanjunc@stanford.edu::69a9feac-3f92-4fa0-a42e-ddd57595d648" providerId="AD" clId="Web-{A2655587-CB54-AB66-5B2F-92C8D27C591D}"/>
    <pc:docChg chg="modSld">
      <pc:chgData name="Yanjun Chen" userId="S::yanjunc@stanford.edu::69a9feac-3f92-4fa0-a42e-ddd57595d648" providerId="AD" clId="Web-{A2655587-CB54-AB66-5B2F-92C8D27C591D}" dt="2021-05-06T17:53:21.646" v="105" actId="20577"/>
      <pc:docMkLst>
        <pc:docMk/>
      </pc:docMkLst>
      <pc:sldChg chg="addSp modSp">
        <pc:chgData name="Yanjun Chen" userId="S::yanjunc@stanford.edu::69a9feac-3f92-4fa0-a42e-ddd57595d648" providerId="AD" clId="Web-{A2655587-CB54-AB66-5B2F-92C8D27C591D}" dt="2021-05-06T17:53:21.646" v="105" actId="20577"/>
        <pc:sldMkLst>
          <pc:docMk/>
          <pc:sldMk cId="2856617955" sldId="461"/>
        </pc:sldMkLst>
        <pc:spChg chg="add mod">
          <ac:chgData name="Yanjun Chen" userId="S::yanjunc@stanford.edu::69a9feac-3f92-4fa0-a42e-ddd57595d648" providerId="AD" clId="Web-{A2655587-CB54-AB66-5B2F-92C8D27C591D}" dt="2021-05-06T17:53:21.646" v="105" actId="20577"/>
          <ac:spMkLst>
            <pc:docMk/>
            <pc:sldMk cId="2856617955" sldId="461"/>
            <ac:spMk id="7" creationId="{7A366160-03B3-434F-8DB4-B92486C4EDD8}"/>
          </ac:spMkLst>
        </pc:spChg>
      </pc:sldChg>
    </pc:docChg>
  </pc:docChgLst>
  <pc:docChgLst>
    <pc:chgData clId="Web-{E6B7530D-4727-41D9-AAB8-F76195362FA4}"/>
    <pc:docChg chg="modSld">
      <pc:chgData name="" userId="" providerId="" clId="Web-{E6B7530D-4727-41D9-AAB8-F76195362FA4}" dt="2020-02-01T05:33:13.891" v="49" actId="1076"/>
      <pc:docMkLst>
        <pc:docMk/>
      </pc:docMkLst>
      <pc:sldChg chg="addSp delSp modSp">
        <pc:chgData name="" userId="" providerId="" clId="Web-{E6B7530D-4727-41D9-AAB8-F76195362FA4}" dt="2020-02-01T05:28:13.405" v="25" actId="1076"/>
        <pc:sldMkLst>
          <pc:docMk/>
          <pc:sldMk cId="1011091379" sldId="366"/>
        </pc:sldMkLst>
        <pc:spChg chg="add del mod">
          <ac:chgData name="" userId="" providerId="" clId="Web-{E6B7530D-4727-41D9-AAB8-F76195362FA4}" dt="2020-02-01T05:25:20.281" v="3"/>
          <ac:spMkLst>
            <pc:docMk/>
            <pc:sldMk cId="1011091379" sldId="366"/>
            <ac:spMk id="9" creationId="{B5D58BBD-53EC-4E59-839F-A83D0FF64685}"/>
          </ac:spMkLst>
        </pc:spChg>
        <pc:picChg chg="add mod modCrop">
          <ac:chgData name="" userId="" providerId="" clId="Web-{E6B7530D-4727-41D9-AAB8-F76195362FA4}" dt="2020-02-01T05:28:13.405" v="25" actId="1076"/>
          <ac:picMkLst>
            <pc:docMk/>
            <pc:sldMk cId="1011091379" sldId="366"/>
            <ac:picMk id="10" creationId="{ECCC68C4-8083-44F8-944C-3E00D1306466}"/>
          </ac:picMkLst>
        </pc:picChg>
      </pc:sldChg>
      <pc:sldChg chg="addSp delSp modSp">
        <pc:chgData name="" userId="" providerId="" clId="Web-{E6B7530D-4727-41D9-AAB8-F76195362FA4}" dt="2020-02-01T05:33:13.891" v="49" actId="1076"/>
        <pc:sldMkLst>
          <pc:docMk/>
          <pc:sldMk cId="1483148179" sldId="434"/>
        </pc:sldMkLst>
        <pc:picChg chg="add mod modCrop">
          <ac:chgData name="" userId="" providerId="" clId="Web-{E6B7530D-4727-41D9-AAB8-F76195362FA4}" dt="2020-02-01T05:29:36.390" v="33" actId="1076"/>
          <ac:picMkLst>
            <pc:docMk/>
            <pc:sldMk cId="1483148179" sldId="434"/>
            <ac:picMk id="8" creationId="{9C073CAB-E13C-4EA9-9D2F-B734CD23B14D}"/>
          </ac:picMkLst>
        </pc:picChg>
        <pc:picChg chg="add mod">
          <ac:chgData name="" userId="" providerId="" clId="Web-{E6B7530D-4727-41D9-AAB8-F76195362FA4}" dt="2020-02-01T05:29:33.093" v="32" actId="1076"/>
          <ac:picMkLst>
            <pc:docMk/>
            <pc:sldMk cId="1483148179" sldId="434"/>
            <ac:picMk id="10" creationId="{8926C64F-845F-4166-B11B-DD21FA4297A7}"/>
          </ac:picMkLst>
        </pc:picChg>
        <pc:picChg chg="add del mod modCrop">
          <ac:chgData name="" userId="" providerId="" clId="Web-{E6B7530D-4727-41D9-AAB8-F76195362FA4}" dt="2020-02-01T05:30:48.172" v="39"/>
          <ac:picMkLst>
            <pc:docMk/>
            <pc:sldMk cId="1483148179" sldId="434"/>
            <ac:picMk id="11" creationId="{737EB9E3-C1C7-4CC5-93E8-E53D66C1E2AA}"/>
          </ac:picMkLst>
        </pc:picChg>
        <pc:picChg chg="add mod modCrop">
          <ac:chgData name="" userId="" providerId="" clId="Web-{E6B7530D-4727-41D9-AAB8-F76195362FA4}" dt="2020-02-01T05:33:13.891" v="49" actId="1076"/>
          <ac:picMkLst>
            <pc:docMk/>
            <pc:sldMk cId="1483148179" sldId="434"/>
            <ac:picMk id="13" creationId="{ED3AB4DE-3BE2-46D9-A519-FECB6E31D166}"/>
          </ac:picMkLst>
        </pc:picChg>
      </pc:sldChg>
    </pc:docChg>
  </pc:docChgLst>
  <pc:docChgLst>
    <pc:chgData name="Jure Leskovec" userId="c3375773-ce7f-444d-a7c6-e358fb579a72" providerId="ADAL" clId="{FB8B1DD9-68E8-444F-8441-340DE8A81DFC}"/>
    <pc:docChg chg="modSld modShowInfo">
      <pc:chgData name="Jure Leskovec" userId="c3375773-ce7f-444d-a7c6-e358fb579a72" providerId="ADAL" clId="{FB8B1DD9-68E8-444F-8441-340DE8A81DFC}" dt="2021-04-22T19:25:39.176" v="2" actId="2744"/>
      <pc:docMkLst>
        <pc:docMk/>
      </pc:docMkLst>
      <pc:sldChg chg="modSp mod">
        <pc:chgData name="Jure Leskovec" userId="c3375773-ce7f-444d-a7c6-e358fb579a72" providerId="ADAL" clId="{FB8B1DD9-68E8-444F-8441-340DE8A81DFC}" dt="2021-04-22T15:38:50.069" v="0" actId="20577"/>
        <pc:sldMkLst>
          <pc:docMk/>
          <pc:sldMk cId="3133750100" sldId="380"/>
        </pc:sldMkLst>
        <pc:spChg chg="mod">
          <ac:chgData name="Jure Leskovec" userId="c3375773-ce7f-444d-a7c6-e358fb579a72" providerId="ADAL" clId="{FB8B1DD9-68E8-444F-8441-340DE8A81DFC}" dt="2021-04-22T15:38:50.069" v="0" actId="20577"/>
          <ac:spMkLst>
            <pc:docMk/>
            <pc:sldMk cId="3133750100" sldId="380"/>
            <ac:spMk id="62466" creationId="{00000000-0000-0000-0000-000000000000}"/>
          </ac:spMkLst>
        </pc:spChg>
      </pc:sldChg>
      <pc:sldChg chg="modSp mod">
        <pc:chgData name="Jure Leskovec" userId="c3375773-ce7f-444d-a7c6-e358fb579a72" providerId="ADAL" clId="{FB8B1DD9-68E8-444F-8441-340DE8A81DFC}" dt="2021-04-22T15:39:07.461" v="1" actId="20577"/>
        <pc:sldMkLst>
          <pc:docMk/>
          <pc:sldMk cId="873625901" sldId="425"/>
        </pc:sldMkLst>
        <pc:spChg chg="mod">
          <ac:chgData name="Jure Leskovec" userId="c3375773-ce7f-444d-a7c6-e358fb579a72" providerId="ADAL" clId="{FB8B1DD9-68E8-444F-8441-340DE8A81DFC}" dt="2021-04-22T15:39:07.461" v="1" actId="20577"/>
          <ac:spMkLst>
            <pc:docMk/>
            <pc:sldMk cId="873625901" sldId="425"/>
            <ac:spMk id="72706" creationId="{00000000-0000-0000-0000-000000000000}"/>
          </ac:spMkLst>
        </pc:spChg>
      </pc:sldChg>
    </pc:docChg>
  </pc:docChgLst>
  <pc:docChgLst>
    <pc:chgData clId="Web-{B302ABFF-40EE-4A91-A17B-48B837068706}"/>
    <pc:docChg chg="modSld">
      <pc:chgData name="" userId="" providerId="" clId="Web-{B302ABFF-40EE-4A91-A17B-48B837068706}" dt="2020-02-01T05:39:35.474" v="4" actId="1076"/>
      <pc:docMkLst>
        <pc:docMk/>
      </pc:docMkLst>
      <pc:sldChg chg="addSp delSp modSp">
        <pc:chgData name="" userId="" providerId="" clId="Web-{B302ABFF-40EE-4A91-A17B-48B837068706}" dt="2020-02-01T05:39:35.474" v="4" actId="1076"/>
        <pc:sldMkLst>
          <pc:docMk/>
          <pc:sldMk cId="1483148179" sldId="434"/>
        </pc:sldMkLst>
        <pc:picChg chg="add mod">
          <ac:chgData name="" userId="" providerId="" clId="Web-{B302ABFF-40EE-4A91-A17B-48B837068706}" dt="2020-02-01T05:39:35.474" v="4" actId="1076"/>
          <ac:picMkLst>
            <pc:docMk/>
            <pc:sldMk cId="1483148179" sldId="434"/>
            <ac:picMk id="9" creationId="{A8B4C3BA-B8AA-48D6-9165-B2D9CAC8EA67}"/>
          </ac:picMkLst>
        </pc:picChg>
        <pc:picChg chg="del">
          <ac:chgData name="" userId="" providerId="" clId="Web-{B302ABFF-40EE-4A91-A17B-48B837068706}" dt="2020-02-01T05:39:11.425" v="0"/>
          <ac:picMkLst>
            <pc:docMk/>
            <pc:sldMk cId="1483148179" sldId="434"/>
            <ac:picMk id="13" creationId="{ED3AB4DE-3BE2-46D9-A519-FECB6E31D166}"/>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70238" cy="479425"/>
          </a:xfrm>
          <a:prstGeom prst="rect">
            <a:avLst/>
          </a:prstGeom>
        </p:spPr>
        <p:txBody>
          <a:bodyPr vert="horz" lIns="91430" tIns="45715" rIns="91430" bIns="45715" rtlCol="0"/>
          <a:lstStyle>
            <a:lvl1pPr algn="l">
              <a:defRPr sz="1200"/>
            </a:lvl1pPr>
          </a:lstStyle>
          <a:p>
            <a:endParaRPr lang="en-US"/>
          </a:p>
        </p:txBody>
      </p:sp>
      <p:sp>
        <p:nvSpPr>
          <p:cNvPr id="3" name="Date Placeholder 2"/>
          <p:cNvSpPr>
            <a:spLocks noGrp="1"/>
          </p:cNvSpPr>
          <p:nvPr>
            <p:ph type="dt" sz="quarter" idx="1"/>
          </p:nvPr>
        </p:nvSpPr>
        <p:spPr>
          <a:xfrm>
            <a:off x="4143375" y="1"/>
            <a:ext cx="3170238" cy="479425"/>
          </a:xfrm>
          <a:prstGeom prst="rect">
            <a:avLst/>
          </a:prstGeom>
        </p:spPr>
        <p:txBody>
          <a:bodyPr vert="horz" lIns="91430" tIns="45715" rIns="91430" bIns="45715" rtlCol="0"/>
          <a:lstStyle>
            <a:lvl1pPr algn="r">
              <a:defRPr sz="1200"/>
            </a:lvl1pPr>
          </a:lstStyle>
          <a:p>
            <a:fld id="{D3E28C4F-4FE9-4D22-93D8-487A4D01D983}" type="datetimeFigureOut">
              <a:rPr lang="en-US" smtClean="0"/>
              <a:pPr/>
              <a:t>11/3/24</a:t>
            </a:fld>
            <a:endParaRPr lang="en-US"/>
          </a:p>
        </p:txBody>
      </p:sp>
      <p:sp>
        <p:nvSpPr>
          <p:cNvPr id="4" name="Footer Placeholder 3"/>
          <p:cNvSpPr>
            <a:spLocks noGrp="1"/>
          </p:cNvSpPr>
          <p:nvPr>
            <p:ph type="ftr" sz="quarter" idx="2"/>
          </p:nvPr>
        </p:nvSpPr>
        <p:spPr>
          <a:xfrm>
            <a:off x="1" y="9120189"/>
            <a:ext cx="3170238" cy="479425"/>
          </a:xfrm>
          <a:prstGeom prst="rect">
            <a:avLst/>
          </a:prstGeom>
        </p:spPr>
        <p:txBody>
          <a:bodyPr vert="horz" lIns="91430" tIns="45715" rIns="91430" bIns="45715"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9"/>
            <a:ext cx="3170238" cy="479425"/>
          </a:xfrm>
          <a:prstGeom prst="rect">
            <a:avLst/>
          </a:prstGeom>
        </p:spPr>
        <p:txBody>
          <a:bodyPr vert="horz" lIns="91430" tIns="45715" rIns="91430" bIns="45715"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6651" tIns="48326" rIns="96651" bIns="48326" rtlCol="0"/>
          <a:lstStyle>
            <a:lvl1pPr algn="l">
              <a:defRPr sz="1300"/>
            </a:lvl1pPr>
          </a:lstStyle>
          <a:p>
            <a:endParaRPr lang="en-US"/>
          </a:p>
        </p:txBody>
      </p:sp>
      <p:sp>
        <p:nvSpPr>
          <p:cNvPr id="3" name="Date Placeholder 2"/>
          <p:cNvSpPr>
            <a:spLocks noGrp="1"/>
          </p:cNvSpPr>
          <p:nvPr>
            <p:ph type="dt" idx="1"/>
          </p:nvPr>
        </p:nvSpPr>
        <p:spPr>
          <a:xfrm>
            <a:off x="4143587" y="1"/>
            <a:ext cx="3169920" cy="480060"/>
          </a:xfrm>
          <a:prstGeom prst="rect">
            <a:avLst/>
          </a:prstGeom>
        </p:spPr>
        <p:txBody>
          <a:bodyPr vert="horz" lIns="96651" tIns="48326" rIns="96651" bIns="48326" rtlCol="0"/>
          <a:lstStyle>
            <a:lvl1pPr algn="r">
              <a:defRPr sz="1300"/>
            </a:lvl1pPr>
          </a:lstStyle>
          <a:p>
            <a:fld id="{EE18CB36-612C-4E4A-AC83-E89476AEC2BF}" type="datetimeFigureOut">
              <a:rPr lang="en-US" smtClean="0"/>
              <a:pPr/>
              <a:t>11/3/24</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51" tIns="48326" rIns="96651" bIns="48326" rtlCol="0" anchor="ctr"/>
          <a:lstStyle/>
          <a:p>
            <a:endParaRPr lang="en-US"/>
          </a:p>
        </p:txBody>
      </p:sp>
      <p:sp>
        <p:nvSpPr>
          <p:cNvPr id="5" name="Notes Placeholder 4"/>
          <p:cNvSpPr>
            <a:spLocks noGrp="1"/>
          </p:cNvSpPr>
          <p:nvPr>
            <p:ph type="body" sz="quarter" idx="3"/>
          </p:nvPr>
        </p:nvSpPr>
        <p:spPr>
          <a:xfrm>
            <a:off x="731521" y="4560571"/>
            <a:ext cx="5852160" cy="4320540"/>
          </a:xfrm>
          <a:prstGeom prst="rect">
            <a:avLst/>
          </a:prstGeom>
        </p:spPr>
        <p:txBody>
          <a:bodyPr vert="horz" lIns="96651" tIns="48326" rIns="96651" bIns="4832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6651" tIns="48326" rIns="96651" bIns="48326"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5"/>
            <a:ext cx="3169920" cy="480060"/>
          </a:xfrm>
          <a:prstGeom prst="rect">
            <a:avLst/>
          </a:prstGeom>
        </p:spPr>
        <p:txBody>
          <a:bodyPr vert="horz" lIns="96651" tIns="48326" rIns="96651" bIns="48326"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a:t>Embedding makes it easier to do ML on large inputs, we will define embeddings, explain why ML methods benefit from embedding, and discuss few ways of producing embedding. </a:t>
            </a:r>
          </a:p>
        </p:txBody>
      </p:sp>
      <p:sp>
        <p:nvSpPr>
          <p:cNvPr id="4" name="Slide Number Placeholder 3"/>
          <p:cNvSpPr>
            <a:spLocks noGrp="1"/>
          </p:cNvSpPr>
          <p:nvPr>
            <p:ph type="sldNum" sz="quarter" idx="10"/>
          </p:nvPr>
        </p:nvSpPr>
        <p:spPr/>
        <p:txBody>
          <a:bodyPr/>
          <a:lstStyle/>
          <a:p>
            <a:fld id="{EE707532-839C-41A2-9E71-D5288AEAE66A}" type="slidenum">
              <a:rPr lang="en-US" smtClean="0"/>
              <a:pPr/>
              <a:t>1</a:t>
            </a:fld>
            <a:endParaRPr lang="en-US" dirty="0"/>
          </a:p>
        </p:txBody>
      </p:sp>
    </p:spTree>
    <p:extLst>
      <p:ext uri="{BB962C8B-B14F-4D97-AF65-F5344CB8AC3E}">
        <p14:creationId xmlns:p14="http://schemas.microsoft.com/office/powerpoint/2010/main" val="78328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lvl="0"/>
            <a:r>
              <a:rPr lang="en-US" dirty="0"/>
              <a:t>Example of methods without this requirement:</a:t>
            </a:r>
          </a:p>
          <a:p>
            <a:pPr lvl="1"/>
            <a:r>
              <a:rPr lang="en-US" dirty="0"/>
              <a:t>Decision Trees, Random Forest, Boosted Trees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lot of effort in deploying ML algorithms goes into the design of </a:t>
            </a:r>
            <a:r>
              <a:rPr lang="en-US" dirty="0">
                <a:solidFill>
                  <a:srgbClr val="D60093"/>
                </a:solidFill>
              </a:rPr>
              <a:t>preprocessing pipelines </a:t>
            </a:r>
            <a:r>
              <a:rPr lang="en-US" dirty="0"/>
              <a:t>and </a:t>
            </a:r>
            <a:r>
              <a:rPr lang="en-US" dirty="0">
                <a:solidFill>
                  <a:srgbClr val="D60093"/>
                </a:solidFill>
              </a:rPr>
              <a:t>data transformations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Different representations can entangle and hide different explanatory factors of data</a:t>
            </a:r>
          </a:p>
          <a:p>
            <a:r>
              <a:rPr lang="en-US" dirty="0"/>
              <a:t>that result in a representation of the data that can support effective machine learning.</a:t>
            </a:r>
          </a:p>
          <a:p>
            <a:r>
              <a:rPr lang="en-US" dirty="0"/>
              <a:t>feature engineering is important but labor-intensive</a:t>
            </a:r>
          </a:p>
          <a:p>
            <a:r>
              <a:rPr lang="en-US" dirty="0"/>
              <a:t>Able to extract and organize the discriminative information from the data.</a:t>
            </a:r>
          </a:p>
          <a:p>
            <a:r>
              <a:rPr lang="en-US" dirty="0"/>
              <a:t>-------</a:t>
            </a:r>
          </a:p>
          <a:p>
            <a:r>
              <a:rPr lang="en-US" sz="1200" b="0" i="0" kern="1200" dirty="0">
                <a:solidFill>
                  <a:schemeClr val="tx1"/>
                </a:solidFill>
                <a:effectLst/>
                <a:latin typeface="+mn-lt"/>
                <a:ea typeface="+mn-ea"/>
                <a:cs typeface="+mn-cs"/>
              </a:rPr>
              <a:t>https://</a:t>
            </a:r>
            <a:r>
              <a:rPr lang="en-US" sz="1200" b="0" i="0" kern="1200" dirty="0" err="1">
                <a:solidFill>
                  <a:schemeClr val="tx1"/>
                </a:solidFill>
                <a:effectLst/>
                <a:latin typeface="+mn-lt"/>
                <a:ea typeface="+mn-ea"/>
                <a:cs typeface="+mn-cs"/>
              </a:rPr>
              <a:t>towardsdatascience.com</a:t>
            </a:r>
            <a:r>
              <a:rPr lang="en-US" sz="1200" b="0" i="0" kern="1200" dirty="0">
                <a:solidFill>
                  <a:schemeClr val="tx1"/>
                </a:solidFill>
                <a:effectLst/>
                <a:latin typeface="+mn-lt"/>
                <a:ea typeface="+mn-ea"/>
                <a:cs typeface="+mn-cs"/>
              </a:rPr>
              <a:t>/data-types-from-a-machine-learning-perspective-with-examples-111ac679e8bc</a:t>
            </a:r>
          </a:p>
          <a:p>
            <a:r>
              <a:rPr lang="en-US" sz="1200" b="0" i="0" kern="1200" dirty="0">
                <a:solidFill>
                  <a:schemeClr val="tx1"/>
                </a:solidFill>
                <a:effectLst/>
                <a:latin typeface="+mn-lt"/>
                <a:ea typeface="+mn-ea"/>
                <a:cs typeface="+mn-cs"/>
              </a:rPr>
              <a:t>Numerical data can be characterized by continuous or discrete data. Continuous data can assume any value within a range whereas discrete data has distinct values.</a:t>
            </a:r>
          </a:p>
          <a:p>
            <a:r>
              <a:rPr lang="en-US" sz="1200" b="0" i="0" kern="1200" dirty="0">
                <a:solidFill>
                  <a:schemeClr val="tx1"/>
                </a:solidFill>
                <a:effectLst/>
                <a:latin typeface="+mn-lt"/>
                <a:ea typeface="+mn-ea"/>
                <a:cs typeface="+mn-cs"/>
              </a:rPr>
              <a:t>The takeaway here is that numerical data is not ordered in time. They are just numbers that we have collected.</a:t>
            </a:r>
          </a:p>
          <a:p>
            <a:r>
              <a:rPr lang="en-US" sz="1200" b="0" i="0" kern="1200" dirty="0">
                <a:solidFill>
                  <a:schemeClr val="tx1"/>
                </a:solidFill>
                <a:effectLst/>
                <a:latin typeface="+mn-lt"/>
                <a:ea typeface="+mn-ea"/>
                <a:cs typeface="+mn-cs"/>
              </a:rPr>
              <a:t>Categorical data represents characteristics, such as a hockey player’s position, team, hometown. Categorical data can take numerical values. For example, maybe we would use 1 for the </a:t>
            </a:r>
            <a:r>
              <a:rPr lang="en-US" sz="1200" b="0" i="0" kern="1200" dirty="0" err="1">
                <a:solidFill>
                  <a:schemeClr val="tx1"/>
                </a:solidFill>
                <a:effectLst/>
                <a:latin typeface="+mn-lt"/>
                <a:ea typeface="+mn-ea"/>
                <a:cs typeface="+mn-cs"/>
              </a:rPr>
              <a:t>colour</a:t>
            </a:r>
            <a:r>
              <a:rPr lang="en-US" sz="1200" b="0" i="0" kern="1200" dirty="0">
                <a:solidFill>
                  <a:schemeClr val="tx1"/>
                </a:solidFill>
                <a:effectLst/>
                <a:latin typeface="+mn-lt"/>
                <a:ea typeface="+mn-ea"/>
                <a:cs typeface="+mn-cs"/>
              </a:rPr>
              <a:t> red and 2 for blue. But these numbers don’t have a mathematical meaning. That is, we can’t add them together or take the average.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the context of super classification, categorical data would be the class label. This would also be something like if a person is a man or woman, or property is residential or commercial.</a:t>
            </a:r>
          </a:p>
          <a:p>
            <a:r>
              <a:rPr lang="en-US" sz="1200" b="0" i="0" kern="1200" dirty="0">
                <a:solidFill>
                  <a:schemeClr val="tx1"/>
                </a:solidFill>
                <a:effectLst/>
                <a:latin typeface="+mn-lt"/>
                <a:ea typeface="+mn-ea"/>
                <a:cs typeface="+mn-cs"/>
              </a:rPr>
              <a:t>There is also something called ordinal data, which in some sense is a mix of numerical and categorical data. In ordinal data, the data still falls into categories, but those categories are ordered or ranked in some particular way. An example would be class difficulty, such as beginner, intermediate, and advanced. Those three types of classes would be a way that we could label the classes, and they have a natural order in increasing difficulty.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Time series data is a sequence of numbers collected at regular intervals over some period of time. It is very important, especially in particular fields like finance. Time series data has a temporal value attached to it, so this would be something like a date or a timestamp that you can look for trends in time.</a:t>
            </a:r>
          </a:p>
          <a:p>
            <a:r>
              <a:rPr lang="en-US" sz="1200" b="0" i="0" kern="1200" dirty="0">
                <a:solidFill>
                  <a:schemeClr val="tx1"/>
                </a:solidFill>
                <a:effectLst/>
                <a:latin typeface="+mn-lt"/>
                <a:ea typeface="+mn-ea"/>
                <a:cs typeface="+mn-cs"/>
              </a:rPr>
              <a:t>For example, we might measure the average number of home sales for many years. The difference of time series data and numerical data is that rather than having a bunch of numerical values that don’t have any time ordering, time-series data does have some implied ordering. There is a first data point collected and the last data point collected.</a:t>
            </a:r>
            <a:br>
              <a:rPr lang="en-US" dirty="0"/>
            </a:b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a:t>
            </a:fld>
            <a:endParaRPr lang="en-US"/>
          </a:p>
        </p:txBody>
      </p:sp>
    </p:spTree>
    <p:extLst>
      <p:ext uri="{BB962C8B-B14F-4D97-AF65-F5344CB8AC3E}">
        <p14:creationId xmlns:p14="http://schemas.microsoft.com/office/powerpoint/2010/main" val="36865052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floating-point value between 0 and 1</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8</a:t>
            </a:fld>
            <a:endParaRPr lang="en-US"/>
          </a:p>
        </p:txBody>
      </p:sp>
    </p:spTree>
    <p:extLst>
      <p:ext uri="{BB962C8B-B14F-4D97-AF65-F5344CB8AC3E}">
        <p14:creationId xmlns:p14="http://schemas.microsoft.com/office/powerpoint/2010/main" val="2977641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is a task independent embedder</a:t>
            </a:r>
          </a:p>
          <a:p>
            <a:r>
              <a:rPr lang="en-US" dirty="0"/>
              <a:t>Note if term-document matrix was populated as a binary matrix (capturing existence or absence of words in documents) then SVD would create embeddings would be of low quality. </a:t>
            </a:r>
          </a:p>
          <a:p>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22</a:t>
            </a:fld>
            <a:endParaRPr lang="en-US"/>
          </a:p>
        </p:txBody>
      </p:sp>
    </p:spTree>
    <p:extLst>
      <p:ext uri="{BB962C8B-B14F-4D97-AF65-F5344CB8AC3E}">
        <p14:creationId xmlns:p14="http://schemas.microsoft.com/office/powerpoint/2010/main" val="4127215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https://cs231n.github.io/neural-networks-1/#</a:t>
            </a:r>
            <a:r>
              <a:rPr lang="en-US" dirty="0" err="1"/>
              <a:t>nn</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25</a:t>
            </a:fld>
            <a:endParaRPr lang="en-US"/>
          </a:p>
        </p:txBody>
      </p:sp>
    </p:spTree>
    <p:extLst>
      <p:ext uri="{BB962C8B-B14F-4D97-AF65-F5344CB8AC3E}">
        <p14:creationId xmlns:p14="http://schemas.microsoft.com/office/powerpoint/2010/main" val="3220466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Activation functions are also typically differentiable, meaning the first-order derivative can be calculated for a given input value</a:t>
            </a:r>
          </a:p>
          <a:p>
            <a:r>
              <a:rPr lang="en-US" sz="1200" b="0" i="0" kern="1200" dirty="0">
                <a:solidFill>
                  <a:schemeClr val="tx1"/>
                </a:solidFill>
                <a:effectLst/>
                <a:latin typeface="+mn-lt"/>
                <a:ea typeface="+mn-ea"/>
                <a:cs typeface="+mn-cs"/>
              </a:rPr>
              <a:t>The choice of activation function has a large impact on the capability and performance of the neural network</a:t>
            </a:r>
          </a:p>
          <a:p>
            <a:r>
              <a:rPr lang="en-US" sz="1200" b="0" i="0" kern="1200" dirty="0">
                <a:solidFill>
                  <a:schemeClr val="tx1"/>
                </a:solidFill>
                <a:effectLst/>
                <a:latin typeface="+mn-lt"/>
                <a:ea typeface="+mn-ea"/>
                <a:cs typeface="+mn-cs"/>
              </a:rPr>
              <a:t>although networks are designed to use the same activation function for all nodes in a layer.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All hidden layers typically use the same activation function. The output layer will typically use a different activation function from the hidden layers and is dependent upon the type of prediction required by the model.</a:t>
            </a:r>
          </a:p>
          <a:p>
            <a:r>
              <a:rPr lang="en-US" sz="1200" b="0" i="0" kern="1200" dirty="0">
                <a:solidFill>
                  <a:schemeClr val="tx1"/>
                </a:solidFill>
                <a:effectLst/>
                <a:latin typeface="+mn-lt"/>
                <a:ea typeface="+mn-ea"/>
                <a:cs typeface="+mn-cs"/>
              </a:rPr>
              <a:t>The choice of activation function in the hidden layer </a:t>
            </a:r>
            <a:r>
              <a:rPr lang="en-US" sz="1200" b="1" i="0" kern="1200" dirty="0">
                <a:solidFill>
                  <a:schemeClr val="tx1"/>
                </a:solidFill>
                <a:effectLst/>
                <a:latin typeface="+mn-lt"/>
                <a:ea typeface="+mn-ea"/>
                <a:cs typeface="+mn-cs"/>
              </a:rPr>
              <a:t>will control how well the network model learns the training dataset</a:t>
            </a:r>
            <a:r>
              <a:rPr lang="en-US" sz="1200" b="0" i="0" kern="1200" dirty="0">
                <a:solidFill>
                  <a:schemeClr val="tx1"/>
                </a:solidFill>
                <a:effectLst/>
                <a:latin typeface="+mn-lt"/>
                <a:ea typeface="+mn-ea"/>
                <a:cs typeface="+mn-cs"/>
              </a:rPr>
              <a:t>. The choice of activation function in the output layer will define the type of predictions the model can make.</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27</a:t>
            </a:fld>
            <a:endParaRPr lang="en-US"/>
          </a:p>
        </p:txBody>
      </p:sp>
    </p:spTree>
    <p:extLst>
      <p:ext uri="{BB962C8B-B14F-4D97-AF65-F5344CB8AC3E}">
        <p14:creationId xmlns:p14="http://schemas.microsoft.com/office/powerpoint/2010/main" val="25886610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Each layer of MLP combines linear transformation and non-linearity: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First weight matrix is W_0 ?</a:t>
            </a:r>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28</a:t>
            </a:fld>
            <a:endParaRPr lang="en-US"/>
          </a:p>
        </p:txBody>
      </p:sp>
    </p:spTree>
    <p:extLst>
      <p:ext uri="{BB962C8B-B14F-4D97-AF65-F5344CB8AC3E}">
        <p14:creationId xmlns:p14="http://schemas.microsoft.com/office/powerpoint/2010/main" val="35561249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29</a:t>
            </a:fld>
            <a:endParaRPr lang="en-US"/>
          </a:p>
        </p:txBody>
      </p:sp>
    </p:spTree>
    <p:extLst>
      <p:ext uri="{BB962C8B-B14F-4D97-AF65-F5344CB8AC3E}">
        <p14:creationId xmlns:p14="http://schemas.microsoft.com/office/powerpoint/2010/main" val="20398844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Euclidean loss, absolute difference loss</a:t>
            </a:r>
          </a:p>
        </p:txBody>
      </p:sp>
      <p:sp>
        <p:nvSpPr>
          <p:cNvPr id="4" name="Slide Number Placeholder 3"/>
          <p:cNvSpPr>
            <a:spLocks noGrp="1"/>
          </p:cNvSpPr>
          <p:nvPr>
            <p:ph type="sldNum" sz="quarter" idx="5"/>
          </p:nvPr>
        </p:nvSpPr>
        <p:spPr/>
        <p:txBody>
          <a:bodyPr/>
          <a:lstStyle/>
          <a:p>
            <a:fld id="{EE707532-839C-41A2-9E71-D5288AEAE66A}" type="slidenum">
              <a:rPr lang="en-US" smtClean="0"/>
              <a:pPr/>
              <a:t>30</a:t>
            </a:fld>
            <a:endParaRPr lang="en-US"/>
          </a:p>
        </p:txBody>
      </p:sp>
    </p:spTree>
    <p:extLst>
      <p:ext uri="{BB962C8B-B14F-4D97-AF65-F5344CB8AC3E}">
        <p14:creationId xmlns:p14="http://schemas.microsoft.com/office/powerpoint/2010/main" val="23773519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tasks. Predicting what animal a given image is. </a:t>
            </a:r>
          </a:p>
        </p:txBody>
      </p:sp>
      <p:sp>
        <p:nvSpPr>
          <p:cNvPr id="4" name="Slide Number Placeholder 3"/>
          <p:cNvSpPr>
            <a:spLocks noGrp="1"/>
          </p:cNvSpPr>
          <p:nvPr>
            <p:ph type="sldNum" sz="quarter" idx="5"/>
          </p:nvPr>
        </p:nvSpPr>
        <p:spPr/>
        <p:txBody>
          <a:bodyPr/>
          <a:lstStyle/>
          <a:p>
            <a:fld id="{EE707532-839C-41A2-9E71-D5288AEAE66A}" type="slidenum">
              <a:rPr lang="en-US" smtClean="0"/>
              <a:pPr/>
              <a:t>31</a:t>
            </a:fld>
            <a:endParaRPr lang="en-US"/>
          </a:p>
        </p:txBody>
      </p:sp>
    </p:spTree>
    <p:extLst>
      <p:ext uri="{BB962C8B-B14F-4D97-AF65-F5344CB8AC3E}">
        <p14:creationId xmlns:p14="http://schemas.microsoft.com/office/powerpoint/2010/main" val="229174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G(x) gets feature vector x, transform it </a:t>
            </a:r>
            <a:r>
              <a:rPr lang="en-US" dirty="0" err="1"/>
              <a:t>hwoever</a:t>
            </a:r>
            <a:r>
              <a:rPr lang="en-US" dirty="0"/>
              <a:t> it wants, computes a real value for every class</a:t>
            </a:r>
          </a:p>
          <a:p>
            <a:r>
              <a:rPr lang="en-US" dirty="0"/>
              <a:t>It exponentiates the values and sum it to 1. </a:t>
            </a:r>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32</a:t>
            </a:fld>
            <a:endParaRPr lang="en-US"/>
          </a:p>
        </p:txBody>
      </p:sp>
    </p:spTree>
    <p:extLst>
      <p:ext uri="{BB962C8B-B14F-4D97-AF65-F5344CB8AC3E}">
        <p14:creationId xmlns:p14="http://schemas.microsoft.com/office/powerpoint/2010/main" val="10315224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point of the hidden layer is to map the words into a lower dimensionality while maintaining separation between dissimilar words. Most activation functions involve some "squishing" of space in one region and "expanding" of space in the other -- e.g., sigmoid/tanh will "squish together" all values &lt; -1, and same with all values &gt;1. </a:t>
            </a:r>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would "squish together" all values &lt;0, eliminating half of the representative capacity. As you can see, this actually </a:t>
            </a:r>
            <a:r>
              <a:rPr lang="en-US" sz="1200" b="0" i="1" kern="1200" dirty="0">
                <a:solidFill>
                  <a:schemeClr val="tx1"/>
                </a:solidFill>
                <a:effectLst/>
                <a:latin typeface="+mn-lt"/>
                <a:ea typeface="+mn-ea"/>
                <a:cs typeface="+mn-cs"/>
              </a:rPr>
              <a:t>hurts</a:t>
            </a:r>
            <a:r>
              <a:rPr lang="en-US" sz="1200" b="0" i="0" kern="1200" dirty="0">
                <a:solidFill>
                  <a:schemeClr val="tx1"/>
                </a:solidFill>
                <a:effectLst/>
                <a:latin typeface="+mn-lt"/>
                <a:ea typeface="+mn-ea"/>
                <a:cs typeface="+mn-cs"/>
              </a:rPr>
              <a:t> the separation quality, reducing the amount of "word mapping space" available</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40</a:t>
            </a:fld>
            <a:endParaRPr lang="en-US"/>
          </a:p>
        </p:txBody>
      </p:sp>
    </p:spTree>
    <p:extLst>
      <p:ext uri="{BB962C8B-B14F-4D97-AF65-F5344CB8AC3E}">
        <p14:creationId xmlns:p14="http://schemas.microsoft.com/office/powerpoint/2010/main" val="33187442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point of the hidden layer is to map the words into a lower dimensionality while maintaining separation between dissimilar words. Most activation functions involve some "squishing" of space in one region and "expanding" of space in the other -- e.g., sigmoid/tanh will "squish together" all values &lt; -1, and same with all values &gt;1. </a:t>
            </a:r>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would "squish together" all values &lt;0, eliminating half of the representative capacity. As you can see, this actually </a:t>
            </a:r>
            <a:r>
              <a:rPr lang="en-US" sz="1200" b="0" i="1" kern="1200" dirty="0">
                <a:solidFill>
                  <a:schemeClr val="tx1"/>
                </a:solidFill>
                <a:effectLst/>
                <a:latin typeface="+mn-lt"/>
                <a:ea typeface="+mn-ea"/>
                <a:cs typeface="+mn-cs"/>
              </a:rPr>
              <a:t>hurts</a:t>
            </a:r>
            <a:r>
              <a:rPr lang="en-US" sz="1200" b="0" i="0" kern="1200" dirty="0">
                <a:solidFill>
                  <a:schemeClr val="tx1"/>
                </a:solidFill>
                <a:effectLst/>
                <a:latin typeface="+mn-lt"/>
                <a:ea typeface="+mn-ea"/>
                <a:cs typeface="+mn-cs"/>
              </a:rPr>
              <a:t> the separation quality, reducing the amount of "word mapping space" available</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43</a:t>
            </a:fld>
            <a:endParaRPr lang="en-US"/>
          </a:p>
        </p:txBody>
      </p:sp>
    </p:spTree>
    <p:extLst>
      <p:ext uri="{BB962C8B-B14F-4D97-AF65-F5344CB8AC3E}">
        <p14:creationId xmlns:p14="http://schemas.microsoft.com/office/powerpoint/2010/main" val="12400701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point of the hidden layer is to map the words into a lower dimensionality while maintaining separation between dissimilar words. Most activation functions involve some "squishing" of space in one region and "expanding" of space in the other -- e.g., sigmoid/tanh will "squish together" all values &lt; -1, and same with all values &gt;1. </a:t>
            </a:r>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would "squish together" all values &lt;0, eliminating half of the representative capacity. As you can see, this actually </a:t>
            </a:r>
            <a:r>
              <a:rPr lang="en-US" sz="1200" b="0" i="1" kern="1200" dirty="0">
                <a:solidFill>
                  <a:schemeClr val="tx1"/>
                </a:solidFill>
                <a:effectLst/>
                <a:latin typeface="+mn-lt"/>
                <a:ea typeface="+mn-ea"/>
                <a:cs typeface="+mn-cs"/>
              </a:rPr>
              <a:t>hurts</a:t>
            </a:r>
            <a:r>
              <a:rPr lang="en-US" sz="1200" b="0" i="0" kern="1200" dirty="0">
                <a:solidFill>
                  <a:schemeClr val="tx1"/>
                </a:solidFill>
                <a:effectLst/>
                <a:latin typeface="+mn-lt"/>
                <a:ea typeface="+mn-ea"/>
                <a:cs typeface="+mn-cs"/>
              </a:rPr>
              <a:t> the separation quality, reducing the amount of "word mapping space" available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think a word2vec model is supposed to be a linear classifier. We want a model that can represent the relative meaning of words in an </a:t>
            </a:r>
            <a:r>
              <a:rPr lang="en-US" sz="1200" b="1" i="0" kern="1200" dirty="0">
                <a:solidFill>
                  <a:schemeClr val="tx1"/>
                </a:solidFill>
                <a:effectLst/>
                <a:latin typeface="+mn-lt"/>
                <a:ea typeface="+mn-ea"/>
                <a:cs typeface="+mn-cs"/>
              </a:rPr>
              <a:t>Euclidean</a:t>
            </a:r>
            <a:r>
              <a:rPr lang="en-US" sz="1200" b="0" i="0" kern="1200" dirty="0">
                <a:solidFill>
                  <a:schemeClr val="tx1"/>
                </a:solidFill>
                <a:effectLst/>
                <a:latin typeface="+mn-lt"/>
                <a:ea typeface="+mn-ea"/>
                <a:cs typeface="+mn-cs"/>
              </a:rPr>
              <a:t>, human-</a:t>
            </a:r>
            <a:r>
              <a:rPr lang="en-US" sz="1200" b="0" i="0" kern="1200" dirty="0" err="1">
                <a:solidFill>
                  <a:schemeClr val="tx1"/>
                </a:solidFill>
                <a:effectLst/>
                <a:latin typeface="+mn-lt"/>
                <a:ea typeface="+mn-ea"/>
                <a:cs typeface="+mn-cs"/>
              </a:rPr>
              <a:t>interpertable</a:t>
            </a:r>
            <a:r>
              <a:rPr lang="en-US" sz="1200" b="0" i="0" kern="1200" dirty="0">
                <a:solidFill>
                  <a:schemeClr val="tx1"/>
                </a:solidFill>
                <a:effectLst/>
                <a:latin typeface="+mn-lt"/>
                <a:ea typeface="+mn-ea"/>
                <a:cs typeface="+mn-cs"/>
              </a:rPr>
              <a:t> space. In that way, we can calculate distances between word vectors that are understandable and easy to interpret by us, humans.</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45</a:t>
            </a:fld>
            <a:endParaRPr lang="en-US"/>
          </a:p>
        </p:txBody>
      </p:sp>
    </p:spTree>
    <p:extLst>
      <p:ext uri="{BB962C8B-B14F-4D97-AF65-F5344CB8AC3E}">
        <p14:creationId xmlns:p14="http://schemas.microsoft.com/office/powerpoint/2010/main" val="27280252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point of the hidden layer is to map the words into a lower dimensionality while maintaining separation between dissimilar words. Most activation functions involve some "squishing" of space in one region and "expanding" of space in the other -- e.g., sigmoid/tanh will "squish together" all values &lt; -1, and same with all values &gt;1. </a:t>
            </a:r>
            <a:r>
              <a:rPr lang="en-US" sz="1200" b="0" i="0" kern="1200" dirty="0" err="1">
                <a:solidFill>
                  <a:schemeClr val="tx1"/>
                </a:solidFill>
                <a:effectLst/>
                <a:latin typeface="+mn-lt"/>
                <a:ea typeface="+mn-ea"/>
                <a:cs typeface="+mn-cs"/>
              </a:rPr>
              <a:t>ReLU</a:t>
            </a:r>
            <a:r>
              <a:rPr lang="en-US" sz="1200" b="0" i="0" kern="1200" dirty="0">
                <a:solidFill>
                  <a:schemeClr val="tx1"/>
                </a:solidFill>
                <a:effectLst/>
                <a:latin typeface="+mn-lt"/>
                <a:ea typeface="+mn-ea"/>
                <a:cs typeface="+mn-cs"/>
              </a:rPr>
              <a:t> would "squish together" all values &lt;0, eliminating half of the representative capacity. As you can see, this actually </a:t>
            </a:r>
            <a:r>
              <a:rPr lang="en-US" sz="1200" b="0" i="1" kern="1200" dirty="0">
                <a:solidFill>
                  <a:schemeClr val="tx1"/>
                </a:solidFill>
                <a:effectLst/>
                <a:latin typeface="+mn-lt"/>
                <a:ea typeface="+mn-ea"/>
                <a:cs typeface="+mn-cs"/>
              </a:rPr>
              <a:t>hurts</a:t>
            </a:r>
            <a:r>
              <a:rPr lang="en-US" sz="1200" b="0" i="0" kern="1200" dirty="0">
                <a:solidFill>
                  <a:schemeClr val="tx1"/>
                </a:solidFill>
                <a:effectLst/>
                <a:latin typeface="+mn-lt"/>
                <a:ea typeface="+mn-ea"/>
                <a:cs typeface="+mn-cs"/>
              </a:rPr>
              <a:t> the separation quality, reducing the amount of "word mapping space" available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think a word2vec model is supposed to be a linear classifier. We want a model that can represent the relative meaning of words in an </a:t>
            </a:r>
            <a:r>
              <a:rPr lang="en-US" sz="1200" b="1" i="0" kern="1200" dirty="0">
                <a:solidFill>
                  <a:schemeClr val="tx1"/>
                </a:solidFill>
                <a:effectLst/>
                <a:latin typeface="+mn-lt"/>
                <a:ea typeface="+mn-ea"/>
                <a:cs typeface="+mn-cs"/>
              </a:rPr>
              <a:t>Euclidean</a:t>
            </a:r>
            <a:r>
              <a:rPr lang="en-US" sz="1200" b="0" i="0" kern="1200" dirty="0">
                <a:solidFill>
                  <a:schemeClr val="tx1"/>
                </a:solidFill>
                <a:effectLst/>
                <a:latin typeface="+mn-lt"/>
                <a:ea typeface="+mn-ea"/>
                <a:cs typeface="+mn-cs"/>
              </a:rPr>
              <a:t>, human-</a:t>
            </a:r>
            <a:r>
              <a:rPr lang="en-US" sz="1200" b="0" i="0" kern="1200" dirty="0" err="1">
                <a:solidFill>
                  <a:schemeClr val="tx1"/>
                </a:solidFill>
                <a:effectLst/>
                <a:latin typeface="+mn-lt"/>
                <a:ea typeface="+mn-ea"/>
                <a:cs typeface="+mn-cs"/>
              </a:rPr>
              <a:t>interpertable</a:t>
            </a:r>
            <a:r>
              <a:rPr lang="en-US" sz="1200" b="0" i="0" kern="1200" dirty="0">
                <a:solidFill>
                  <a:schemeClr val="tx1"/>
                </a:solidFill>
                <a:effectLst/>
                <a:latin typeface="+mn-lt"/>
                <a:ea typeface="+mn-ea"/>
                <a:cs typeface="+mn-cs"/>
              </a:rPr>
              <a:t> space. In that way, we can calculate distances between word vectors that are understandable and easy to interpret by us, humans.</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46</a:t>
            </a:fld>
            <a:endParaRPr lang="en-US"/>
          </a:p>
        </p:txBody>
      </p:sp>
    </p:spTree>
    <p:extLst>
      <p:ext uri="{BB962C8B-B14F-4D97-AF65-F5344CB8AC3E}">
        <p14:creationId xmlns:p14="http://schemas.microsoft.com/office/powerpoint/2010/main" val="3334647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loss </a:t>
            </a:r>
            <a:r>
              <a:rPr lang="en-US" sz="1200" b="0" i="0" kern="1200" dirty="0" err="1">
                <a:solidFill>
                  <a:schemeClr val="tx1"/>
                </a:solidFill>
                <a:effectLst/>
                <a:latin typeface="+mn-lt"/>
                <a:ea typeface="+mn-ea"/>
                <a:cs typeface="+mn-cs"/>
              </a:rPr>
              <a:t>func</a:t>
            </a:r>
            <a:r>
              <a:rPr lang="en-US" sz="1200" b="0" i="0" kern="1200" dirty="0">
                <a:solidFill>
                  <a:schemeClr val="tx1"/>
                </a:solidFill>
                <a:effectLst/>
                <a:latin typeface="+mn-lt"/>
                <a:ea typeface="+mn-ea"/>
                <a:cs typeface="+mn-cs"/>
              </a:rPr>
              <a:t> is the quantity we want to minimize, given our training example, i.e., we want to maximize the probability that our model predicts the target word, given our context word.</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51</a:t>
            </a:fld>
            <a:endParaRPr lang="en-US"/>
          </a:p>
        </p:txBody>
      </p:sp>
    </p:spTree>
    <p:extLst>
      <p:ext uri="{BB962C8B-B14F-4D97-AF65-F5344CB8AC3E}">
        <p14:creationId xmlns:p14="http://schemas.microsoft.com/office/powerpoint/2010/main" val="20117213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56</a:t>
            </a:fld>
            <a:endParaRPr lang="en-US"/>
          </a:p>
        </p:txBody>
      </p:sp>
    </p:spTree>
    <p:extLst>
      <p:ext uri="{BB962C8B-B14F-4D97-AF65-F5344CB8AC3E}">
        <p14:creationId xmlns:p14="http://schemas.microsoft.com/office/powerpoint/2010/main" val="2705303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58</a:t>
            </a:fld>
            <a:endParaRPr lang="en-US"/>
          </a:p>
        </p:txBody>
      </p:sp>
    </p:spTree>
    <p:extLst>
      <p:ext uri="{BB962C8B-B14F-4D97-AF65-F5344CB8AC3E}">
        <p14:creationId xmlns:p14="http://schemas.microsoft.com/office/powerpoint/2010/main" val="28648181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59</a:t>
            </a:fld>
            <a:endParaRPr lang="en-US"/>
          </a:p>
        </p:txBody>
      </p:sp>
    </p:spTree>
    <p:extLst>
      <p:ext uri="{BB962C8B-B14F-4D97-AF65-F5344CB8AC3E}">
        <p14:creationId xmlns:p14="http://schemas.microsoft.com/office/powerpoint/2010/main" val="33431055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60</a:t>
            </a:fld>
            <a:endParaRPr lang="en-US"/>
          </a:p>
        </p:txBody>
      </p:sp>
    </p:spTree>
    <p:extLst>
      <p:ext uri="{BB962C8B-B14F-4D97-AF65-F5344CB8AC3E}">
        <p14:creationId xmlns:p14="http://schemas.microsoft.com/office/powerpoint/2010/main" val="19817456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61</a:t>
            </a:fld>
            <a:endParaRPr lang="en-US"/>
          </a:p>
        </p:txBody>
      </p:sp>
    </p:spTree>
    <p:extLst>
      <p:ext uri="{BB962C8B-B14F-4D97-AF65-F5344CB8AC3E}">
        <p14:creationId xmlns:p14="http://schemas.microsoft.com/office/powerpoint/2010/main" val="17196033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62</a:t>
            </a:fld>
            <a:endParaRPr lang="en-US"/>
          </a:p>
        </p:txBody>
      </p:sp>
    </p:spTree>
    <p:extLst>
      <p:ext uri="{BB962C8B-B14F-4D97-AF65-F5344CB8AC3E}">
        <p14:creationId xmlns:p14="http://schemas.microsoft.com/office/powerpoint/2010/main" val="5323176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According to </a:t>
            </a:r>
            <a:r>
              <a:rPr lang="en-US" dirty="0" err="1"/>
              <a:t>Mikolov</a:t>
            </a:r>
            <a:r>
              <a:rPr lang="en-US" dirty="0"/>
              <a:t>, </a:t>
            </a:r>
          </a:p>
          <a:p>
            <a:r>
              <a:rPr lang="en-US" dirty="0"/>
              <a:t>https://</a:t>
            </a:r>
            <a:r>
              <a:rPr lang="en-US" dirty="0" err="1"/>
              <a:t>towardsdatascience.com</a:t>
            </a:r>
            <a:r>
              <a:rPr lang="en-US" dirty="0"/>
              <a:t>/introduction-to-word-embedding-and-word2vec-652d0c2060fa</a:t>
            </a:r>
          </a:p>
        </p:txBody>
      </p:sp>
      <p:sp>
        <p:nvSpPr>
          <p:cNvPr id="4" name="Slide Number Placeholder 3"/>
          <p:cNvSpPr>
            <a:spLocks noGrp="1"/>
          </p:cNvSpPr>
          <p:nvPr>
            <p:ph type="sldNum" sz="quarter" idx="5"/>
          </p:nvPr>
        </p:nvSpPr>
        <p:spPr/>
        <p:txBody>
          <a:bodyPr/>
          <a:lstStyle/>
          <a:p>
            <a:fld id="{EE707532-839C-41A2-9E71-D5288AEAE66A}" type="slidenum">
              <a:rPr lang="en-US" smtClean="0"/>
              <a:pPr/>
              <a:t>64</a:t>
            </a:fld>
            <a:endParaRPr lang="en-US"/>
          </a:p>
        </p:txBody>
      </p:sp>
    </p:spTree>
    <p:extLst>
      <p:ext uri="{BB962C8B-B14F-4D97-AF65-F5344CB8AC3E}">
        <p14:creationId xmlns:p14="http://schemas.microsoft.com/office/powerpoint/2010/main" val="1160381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a:t>Click to edit Master subtitle style</a:t>
            </a:r>
          </a:p>
        </p:txBody>
      </p:sp>
      <p:sp>
        <p:nvSpPr>
          <p:cNvPr id="4" name="Date Placeholder 3"/>
          <p:cNvSpPr>
            <a:spLocks noGrp="1"/>
          </p:cNvSpPr>
          <p:nvPr>
            <p:ph type="dt" sz="half" idx="10"/>
          </p:nvPr>
        </p:nvSpPr>
        <p:spPr/>
        <p:txBody>
          <a:bodyPr/>
          <a:lstStyle/>
          <a:p>
            <a:fld id="{BB828F56-BF37-5C4D-BF1D-EFA22C153C3A}" type="datetime1">
              <a:rPr lang="en-US" smtClean="0"/>
              <a:t>11/3/24</a:t>
            </a:fld>
            <a:endParaRPr lang="en-US"/>
          </a:p>
        </p:txBody>
      </p:sp>
      <p:sp>
        <p:nvSpPr>
          <p:cNvPr id="5" name="Footer Placeholder 4"/>
          <p:cNvSpPr>
            <a:spLocks noGrp="1"/>
          </p:cNvSpPr>
          <p:nvPr>
            <p:ph type="ftr" sz="quarter" idx="11"/>
          </p:nvPr>
        </p:nvSpPr>
        <p:spPr/>
        <p:txBody>
          <a:bodyPr/>
          <a:lstStyle/>
          <a:p>
            <a:r>
              <a:rPr lang="en-US"/>
              <a:t>Jure Leskovec &amp; Mina Ghashami, Stanford University </a:t>
            </a:r>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87552"/>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p:txBody>
          <a:bodyPr/>
          <a:lstStyle/>
          <a:p>
            <a:fld id="{DDD5ACAC-7C8C-F44E-B89E-D442D730AAE5}" type="datetime1">
              <a:rPr lang="en-US" smtClean="0"/>
              <a:t>11/3/24</a:t>
            </a:fld>
            <a:endParaRPr lang="en-US"/>
          </a:p>
        </p:txBody>
      </p:sp>
      <p:sp>
        <p:nvSpPr>
          <p:cNvPr id="5" name="Footer Placeholder 4"/>
          <p:cNvSpPr>
            <a:spLocks noGrp="1"/>
          </p:cNvSpPr>
          <p:nvPr>
            <p:ph type="ftr" sz="quarter" idx="11"/>
          </p:nvPr>
        </p:nvSpPr>
        <p:spPr/>
        <p:txBody>
          <a:bodyPr/>
          <a:lstStyle/>
          <a:p>
            <a:r>
              <a:rPr lang="en-US"/>
              <a:t>Jure Leskovec &amp; Mina Ghashami, Stanford University </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914400"/>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dirty="0"/>
              <a:t>Click to edit Master title style</a:t>
            </a:r>
          </a:p>
        </p:txBody>
      </p:sp>
      <p:sp>
        <p:nvSpPr>
          <p:cNvPr id="3" name="Text Placeholder 2"/>
          <p:cNvSpPr>
            <a:spLocks noGrp="1"/>
          </p:cNvSpPr>
          <p:nvPr>
            <p:ph type="body" idx="1"/>
          </p:nvPr>
        </p:nvSpPr>
        <p:spPr>
          <a:xfrm>
            <a:off x="740664" y="2743200"/>
            <a:ext cx="8022336" cy="685800"/>
          </a:xfrm>
        </p:spPr>
        <p:txBody>
          <a:bodyPr lIns="146304" tIns="0" rIns="45720" bIns="0" anchor="t">
            <a:normAutofit/>
          </a:bodyPr>
          <a:lstStyle>
            <a:lvl1pPr marL="0" indent="0">
              <a:buNone/>
              <a:defRPr sz="4000" b="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dirty="0"/>
              <a:t>Click to edit Master text styles</a:t>
            </a:r>
          </a:p>
        </p:txBody>
      </p:sp>
      <p:sp>
        <p:nvSpPr>
          <p:cNvPr id="4" name="Date Placeholder 3"/>
          <p:cNvSpPr>
            <a:spLocks noGrp="1"/>
          </p:cNvSpPr>
          <p:nvPr>
            <p:ph type="dt" sz="half" idx="10"/>
          </p:nvPr>
        </p:nvSpPr>
        <p:spPr/>
        <p:txBody>
          <a:bodyPr/>
          <a:lstStyle/>
          <a:p>
            <a:fld id="{07E0C763-B0B8-804C-AD3A-800C31ABB730}" type="datetime1">
              <a:rPr lang="en-US" smtClean="0"/>
              <a:t>11/3/24</a:t>
            </a:fld>
            <a:endParaRPr lang="en-US"/>
          </a:p>
        </p:txBody>
      </p:sp>
      <p:sp>
        <p:nvSpPr>
          <p:cNvPr id="5" name="Footer Placeholder 4"/>
          <p:cNvSpPr>
            <a:spLocks noGrp="1"/>
          </p:cNvSpPr>
          <p:nvPr>
            <p:ph type="ftr" sz="quarter" idx="11"/>
          </p:nvPr>
        </p:nvSpPr>
        <p:spPr/>
        <p:txBody>
          <a:bodyPr/>
          <a:lstStyle/>
          <a:p>
            <a:r>
              <a:rPr lang="en-US"/>
              <a:t>Jure Leskovec &amp; Mina Ghashami, Stanford University </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295400"/>
            <a:ext cx="4038600" cy="5504688"/>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295400"/>
            <a:ext cx="4038600" cy="55046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83FC9A8-1EFA-0647-B70C-2C2AB1541169}" type="datetime1">
              <a:rPr lang="en-US" smtClean="0"/>
              <a:t>11/3/24</a:t>
            </a:fld>
            <a:endParaRPr lang="en-US"/>
          </a:p>
        </p:txBody>
      </p:sp>
      <p:sp>
        <p:nvSpPr>
          <p:cNvPr id="6" name="Footer Placeholder 5"/>
          <p:cNvSpPr>
            <a:spLocks noGrp="1"/>
          </p:cNvSpPr>
          <p:nvPr>
            <p:ph type="ftr" sz="quarter" idx="11"/>
          </p:nvPr>
        </p:nvSpPr>
        <p:spPr/>
        <p:txBody>
          <a:bodyPr/>
          <a:lstStyle/>
          <a:p>
            <a:r>
              <a:rPr lang="en-US"/>
              <a:t>Jure Leskovec &amp; Mina Ghashami, Stanford University </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295400"/>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023338"/>
            <a:ext cx="4040188"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295400"/>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023338"/>
            <a:ext cx="4041775"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5436BED-6640-E247-9D64-6724F23263DF}" type="datetime1">
              <a:rPr lang="en-US" smtClean="0"/>
              <a:t>11/3/24</a:t>
            </a:fld>
            <a:endParaRPr lang="en-US"/>
          </a:p>
        </p:txBody>
      </p:sp>
      <p:sp>
        <p:nvSpPr>
          <p:cNvPr id="8" name="Footer Placeholder 7"/>
          <p:cNvSpPr>
            <a:spLocks noGrp="1"/>
          </p:cNvSpPr>
          <p:nvPr>
            <p:ph type="ftr" sz="quarter" idx="11"/>
          </p:nvPr>
        </p:nvSpPr>
        <p:spPr/>
        <p:txBody>
          <a:bodyPr/>
          <a:lstStyle/>
          <a:p>
            <a:r>
              <a:rPr lang="en-US"/>
              <a:t>Jure Leskovec &amp; Mina Ghashami, Stanford University </a:t>
            </a:r>
          </a:p>
        </p:txBody>
      </p:sp>
      <p:sp>
        <p:nvSpPr>
          <p:cNvPr id="9" name="Slide Number Placeholder 8"/>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6F7EF7A6-BD45-EB4F-80D5-165E089D082C}" type="datetime1">
              <a:rPr lang="en-US" smtClean="0"/>
              <a:t>11/3/24</a:t>
            </a:fld>
            <a:endParaRPr lang="en-US"/>
          </a:p>
        </p:txBody>
      </p:sp>
      <p:sp>
        <p:nvSpPr>
          <p:cNvPr id="4" name="Footer Placeholder 3"/>
          <p:cNvSpPr>
            <a:spLocks noGrp="1"/>
          </p:cNvSpPr>
          <p:nvPr>
            <p:ph type="ftr" sz="quarter" idx="11"/>
          </p:nvPr>
        </p:nvSpPr>
        <p:spPr/>
        <p:txBody>
          <a:bodyPr/>
          <a:lstStyle/>
          <a:p>
            <a:r>
              <a:rPr lang="en-US"/>
              <a:t>Jure Leskovec &amp; Mina Ghashami, Stanford University </a:t>
            </a:r>
          </a:p>
        </p:txBody>
      </p:sp>
      <p:sp>
        <p:nvSpPr>
          <p:cNvPr id="5" name="Slide Number Placeholder 4"/>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3018F2-A654-9944-B8C8-E898B70CD8B9}" type="datetime1">
              <a:rPr lang="en-US" smtClean="0"/>
              <a:t>11/3/24</a:t>
            </a:fld>
            <a:endParaRPr lang="en-US"/>
          </a:p>
        </p:txBody>
      </p:sp>
      <p:sp>
        <p:nvSpPr>
          <p:cNvPr id="3" name="Footer Placeholder 2"/>
          <p:cNvSpPr>
            <a:spLocks noGrp="1"/>
          </p:cNvSpPr>
          <p:nvPr>
            <p:ph type="ftr" sz="quarter" idx="11"/>
          </p:nvPr>
        </p:nvSpPr>
        <p:spPr/>
        <p:txBody>
          <a:bodyPr/>
          <a:lstStyle/>
          <a:p>
            <a:r>
              <a:rPr lang="en-US"/>
              <a:t>Jure Leskovec &amp; Mina Ghashami, Stanford University </a:t>
            </a:r>
          </a:p>
        </p:txBody>
      </p:sp>
      <p:sp>
        <p:nvSpPr>
          <p:cNvPr id="4" name="Slide Number Placeholder 3"/>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6A1CA5AB-9354-B542-862B-452ADEDAB9E9}" type="datetime1">
              <a:rPr lang="en-US" smtClean="0"/>
              <a:t>11/3/24</a:t>
            </a:fld>
            <a:endParaRPr lang="en-US"/>
          </a:p>
        </p:txBody>
      </p:sp>
      <p:sp>
        <p:nvSpPr>
          <p:cNvPr id="6" name="Footer Placeholder 5"/>
          <p:cNvSpPr>
            <a:spLocks noGrp="1"/>
          </p:cNvSpPr>
          <p:nvPr>
            <p:ph type="ftr" sz="quarter" idx="11"/>
          </p:nvPr>
        </p:nvSpPr>
        <p:spPr/>
        <p:txBody>
          <a:bodyPr/>
          <a:lstStyle/>
          <a:p>
            <a:r>
              <a:rPr lang="en-US"/>
              <a:t>Jure Leskovec &amp; Mina Ghashami, Stanford University </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537B6AC7-22AC-844E-97A7-49F13C99D149}" type="datetime1">
              <a:rPr lang="en-US" smtClean="0"/>
              <a:t>11/3/24</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r>
              <a:rPr lang="en-US"/>
              <a:t>Jure Leskovec &amp; Mina Ghashami, Stanford University </a:t>
            </a:r>
          </a:p>
        </p:txBody>
      </p:sp>
      <p:sp>
        <p:nvSpPr>
          <p:cNvPr id="7" name="Slide Number Placeholder 6"/>
          <p:cNvSpPr>
            <a:spLocks noGrp="1"/>
          </p:cNvSpPr>
          <p:nvPr>
            <p:ph type="sldNum" sz="quarter" idx="12"/>
          </p:nvPr>
        </p:nvSpPr>
        <p:spPr>
          <a:xfrm>
            <a:off x="8339328" y="1170432"/>
            <a:ext cx="733864" cy="201168"/>
          </a:xfrm>
        </p:spPr>
        <p:txBody>
          <a:bodyPr/>
          <a:lstStyle/>
          <a:p>
            <a:fld id="{19B12225-5612-419B-A8D5-4B8EEE4C217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1A8FA8B-F932-5443-8DA4-AA8B4B0FA7E3}" type="datetime1">
              <a:rPr lang="en-US" smtClean="0"/>
              <a:t>11/3/24</a:t>
            </a:fld>
            <a:endParaRPr lang="en-US"/>
          </a:p>
        </p:txBody>
      </p:sp>
      <p:sp>
        <p:nvSpPr>
          <p:cNvPr id="5" name="Footer Placeholder 4"/>
          <p:cNvSpPr>
            <a:spLocks noGrp="1"/>
          </p:cNvSpPr>
          <p:nvPr>
            <p:ph type="ftr" sz="quarter" idx="11"/>
          </p:nvPr>
        </p:nvSpPr>
        <p:spPr/>
        <p:txBody>
          <a:bodyPr/>
          <a:lstStyle/>
          <a:p>
            <a:r>
              <a:rPr lang="en-US"/>
              <a:t>Jure Leskovec &amp; Mina Ghashami, Stanford University </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01E97BE-3B80-ED43-957E-186702FA3769}" type="datetime1">
              <a:rPr lang="en-US" smtClean="0"/>
              <a:t>11/3/24</a:t>
            </a:fld>
            <a:endParaRPr lang="en-US"/>
          </a:p>
        </p:txBody>
      </p:sp>
      <p:sp>
        <p:nvSpPr>
          <p:cNvPr id="5" name="Footer Placeholder 4"/>
          <p:cNvSpPr>
            <a:spLocks noGrp="1"/>
          </p:cNvSpPr>
          <p:nvPr>
            <p:ph type="ftr" sz="quarter" idx="11"/>
          </p:nvPr>
        </p:nvSpPr>
        <p:spPr>
          <a:xfrm>
            <a:off x="2640597" y="6377459"/>
            <a:ext cx="3836404" cy="365125"/>
          </a:xfrm>
        </p:spPr>
        <p:txBody>
          <a:bodyPr/>
          <a:lstStyle/>
          <a:p>
            <a:r>
              <a:rPr lang="en-US"/>
              <a:t>Jure Leskovec &amp; Mina Ghashami, Stanford University </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920" y="273629"/>
            <a:ext cx="8226720" cy="1143480"/>
          </a:xfrm>
        </p:spPr>
        <p:txBody>
          <a:bodyPr tIns="41473" bIns="41473"/>
          <a:lstStyle/>
          <a:p>
            <a:r>
              <a:rPr lang="en-US"/>
              <a:t>Click to edit Master title style</a:t>
            </a:r>
          </a:p>
        </p:txBody>
      </p:sp>
      <p:sp>
        <p:nvSpPr>
          <p:cNvPr id="3" name="Text Placeholder 2"/>
          <p:cNvSpPr>
            <a:spLocks noGrp="1"/>
          </p:cNvSpPr>
          <p:nvPr>
            <p:ph type="body" sz="half" idx="1"/>
          </p:nvPr>
        </p:nvSpPr>
        <p:spPr>
          <a:xfrm>
            <a:off x="457920" y="1604329"/>
            <a:ext cx="4043520" cy="4524955"/>
          </a:xfrm>
        </p:spPr>
        <p:txBody>
          <a:bodyPr rIns="82945" bIns="414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39680" y="1604329"/>
            <a:ext cx="4044960" cy="4524955"/>
          </a:xfrm>
        </p:spPr>
        <p:txBody>
          <a:bodyPr rIns="82945" bIns="41473"/>
          <a:lstStyle/>
          <a:p>
            <a:endParaRPr lang="en-US"/>
          </a:p>
        </p:txBody>
      </p:sp>
      <p:sp>
        <p:nvSpPr>
          <p:cNvPr id="5" name="Date Placeholder 4"/>
          <p:cNvSpPr>
            <a:spLocks noGrp="1"/>
          </p:cNvSpPr>
          <p:nvPr>
            <p:ph type="dt" idx="10"/>
          </p:nvPr>
        </p:nvSpPr>
        <p:spPr>
          <a:xfrm>
            <a:off x="457920" y="6247376"/>
            <a:ext cx="2126880" cy="472370"/>
          </a:xfrm>
        </p:spPr>
        <p:txBody>
          <a:bodyPr tIns="41473"/>
          <a:lstStyle>
            <a:lvl1pPr>
              <a:defRPr/>
            </a:lvl1pPr>
          </a:lstStyle>
          <a:p>
            <a:fld id="{524C9FCB-A71D-EF4C-9105-77E6054883B3}" type="datetime1">
              <a:rPr lang="en-US" smtClean="0"/>
              <a:t>11/3/24</a:t>
            </a:fld>
            <a:endParaRPr lang="en-GB"/>
          </a:p>
        </p:txBody>
      </p:sp>
      <p:sp>
        <p:nvSpPr>
          <p:cNvPr id="6" name="Footer Placeholder 5"/>
          <p:cNvSpPr>
            <a:spLocks noGrp="1"/>
          </p:cNvSpPr>
          <p:nvPr>
            <p:ph type="ftr" idx="11"/>
          </p:nvPr>
        </p:nvSpPr>
        <p:spPr>
          <a:xfrm>
            <a:off x="3126240" y="6247376"/>
            <a:ext cx="2897280" cy="472370"/>
          </a:xfrm>
        </p:spPr>
        <p:txBody>
          <a:bodyPr tIns="41473"/>
          <a:lstStyle>
            <a:lvl1pPr>
              <a:defRPr/>
            </a:lvl1pPr>
          </a:lstStyle>
          <a:p>
            <a:r>
              <a:rPr lang="en-US"/>
              <a:t>Jure Leskovec &amp; Mina Ghashami, Stanford University </a:t>
            </a:r>
            <a:endParaRPr lang="en-GB"/>
          </a:p>
        </p:txBody>
      </p:sp>
      <p:sp>
        <p:nvSpPr>
          <p:cNvPr id="7" name="Slide Number Placeholder 6"/>
          <p:cNvSpPr>
            <a:spLocks noGrp="1"/>
          </p:cNvSpPr>
          <p:nvPr>
            <p:ph type="sldNum" idx="12"/>
          </p:nvPr>
        </p:nvSpPr>
        <p:spPr>
          <a:xfrm>
            <a:off x="6554880" y="6247376"/>
            <a:ext cx="2128320" cy="472370"/>
          </a:xfrm>
        </p:spPr>
        <p:txBody>
          <a:bodyPr lIns="82945" tIns="41473" rIns="82945"/>
          <a:lstStyle>
            <a:lvl1pPr>
              <a:defRPr/>
            </a:lvl1pPr>
          </a:lstStyle>
          <a:p>
            <a:fld id="{10066599-523B-4641-9CCC-17D83CD935ED}" type="slidenum">
              <a:rPr lang="en-GB"/>
              <a:pPr/>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fld id="{1D885271-48E0-1842-8A06-6924B7AB5A54}" type="datetime1">
              <a:rPr lang="en-US" smtClean="0"/>
              <a:t>11/3/24</a:t>
            </a:fld>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r>
              <a:rPr lang="en-US"/>
              <a:t>Jure Leskovec &amp; Mina Ghashami, Stanford University </a:t>
            </a:r>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39826768-8FCE-4417-A22B-1D26CD2A846A}" type="slidenum">
              <a:rPr lang="en-US"/>
              <a:pPr/>
              <a:t>‹#›</a:t>
            </a:fld>
            <a:endParaRPr lang="en-US"/>
          </a:p>
        </p:txBody>
      </p:sp>
    </p:spTree>
    <p:extLst>
      <p:ext uri="{BB962C8B-B14F-4D97-AF65-F5344CB8AC3E}">
        <p14:creationId xmlns:p14="http://schemas.microsoft.com/office/powerpoint/2010/main" val="1420975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02108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1"/>
            <a:ext cx="9143999" cy="1021079"/>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8382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dirty="0"/>
              <a:t>Click to edit Master title style</a:t>
            </a:r>
          </a:p>
        </p:txBody>
      </p:sp>
      <p:sp>
        <p:nvSpPr>
          <p:cNvPr id="3" name="Text Placeholder 2"/>
          <p:cNvSpPr>
            <a:spLocks noGrp="1"/>
          </p:cNvSpPr>
          <p:nvPr>
            <p:ph type="body" idx="1"/>
          </p:nvPr>
        </p:nvSpPr>
        <p:spPr>
          <a:xfrm>
            <a:off x="457200" y="1295400"/>
            <a:ext cx="8229600" cy="5257801"/>
          </a:xfrm>
          <a:prstGeom prst="rect">
            <a:avLst/>
          </a:prstGeom>
        </p:spPr>
        <p:txBody>
          <a:bodyPr vert="horz" lIns="54864" tIns="91440" rtlCol="0">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4" name="Date Placeholder 3"/>
          <p:cNvSpPr>
            <a:spLocks noGrp="1"/>
          </p:cNvSpPr>
          <p:nvPr>
            <p:ph type="dt" sz="half" idx="2"/>
          </p:nvPr>
        </p:nvSpPr>
        <p:spPr>
          <a:xfrm>
            <a:off x="457200" y="6583680"/>
            <a:ext cx="2133600" cy="274320"/>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2BBDB9AE-0703-7C47-8751-F6ADA578CAC0}" type="datetime1">
              <a:rPr lang="en-US" smtClean="0"/>
              <a:t>11/3/24</a:t>
            </a:fld>
            <a:endParaRPr lang="en-US"/>
          </a:p>
        </p:txBody>
      </p:sp>
      <p:sp>
        <p:nvSpPr>
          <p:cNvPr id="5" name="Footer Placeholder 4"/>
          <p:cNvSpPr>
            <a:spLocks noGrp="1"/>
          </p:cNvSpPr>
          <p:nvPr>
            <p:ph type="ftr" sz="quarter" idx="3"/>
          </p:nvPr>
        </p:nvSpPr>
        <p:spPr>
          <a:xfrm>
            <a:off x="2640596" y="6583680"/>
            <a:ext cx="5507719" cy="274320"/>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r>
              <a:rPr lang="en-US"/>
              <a:t>Jure Leskovec &amp; Mina Ghashami, Stanford University </a:t>
            </a:r>
            <a:endParaRPr lang="en-US" dirty="0"/>
          </a:p>
        </p:txBody>
      </p:sp>
      <p:sp>
        <p:nvSpPr>
          <p:cNvPr id="6" name="Slide Number Placeholder 5"/>
          <p:cNvSpPr>
            <a:spLocks noGrp="1"/>
          </p:cNvSpPr>
          <p:nvPr>
            <p:ph type="sldNum" sz="quarter" idx="4"/>
          </p:nvPr>
        </p:nvSpPr>
        <p:spPr>
          <a:xfrm>
            <a:off x="8204396" y="6583680"/>
            <a:ext cx="733864" cy="27432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5" r:id="rId12"/>
    <p:sldLayoutId id="2147483677" r:id="rId13"/>
  </p:sldLayoutIdLst>
  <p:hf hdr="0"/>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www.mmds.org/"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cs231n.stanford.edu/"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5.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9.png"/><Relationship Id="rId5" Type="http://schemas.openxmlformats.org/officeDocument/2006/relationships/image" Target="../media/image17.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hyperlink" Target="http://cs231n.stanford.edu/" TargetMode="External"/></Relationships>
</file>

<file path=ppt/slides/_rels/slide2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3.pn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10.png"/><Relationship Id="rId5" Type="http://schemas.openxmlformats.org/officeDocument/2006/relationships/image" Target="../media/image200.png"/><Relationship Id="rId4" Type="http://schemas.openxmlformats.org/officeDocument/2006/relationships/image" Target="../media/image190.png"/><Relationship Id="rId9" Type="http://schemas.openxmlformats.org/officeDocument/2006/relationships/image" Target="../media/image26.png"/></Relationships>
</file>

<file path=ppt/slides/_rels/slide29.xml.rels><?xml version="1.0" encoding="UTF-8" standalone="yes"?>
<Relationships xmlns="http://schemas.openxmlformats.org/package/2006/relationships"><Relationship Id="rId8" Type="http://schemas.openxmlformats.org/officeDocument/2006/relationships/image" Target="../media/image270.png"/><Relationship Id="rId3" Type="http://schemas.openxmlformats.org/officeDocument/2006/relationships/image" Target="../media/image190.pn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10.png"/><Relationship Id="rId4" Type="http://schemas.openxmlformats.org/officeDocument/2006/relationships/image" Target="../media/image200.png"/><Relationship Id="rId9" Type="http://schemas.openxmlformats.org/officeDocument/2006/relationships/image" Target="../media/image280.png"/></Relationships>
</file>

<file path=ppt/slides/_rels/slide30.xml.rels><?xml version="1.0" encoding="UTF-8" standalone="yes"?>
<Relationships xmlns="http://schemas.openxmlformats.org/package/2006/relationships"><Relationship Id="rId3" Type="http://schemas.openxmlformats.org/officeDocument/2006/relationships/hyperlink" Target="https://pytorch.org/docs/stable/nn.html#loss-functions"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hyperlink" Target="https://proceedings.neurips.cc/paper/2013/file/9aa42b31882ec039965f3c4923ce901b-Paper.pdf"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2.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image" Target="../media/image380.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5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4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447800"/>
            <a:ext cx="8077200" cy="3581400"/>
          </a:xfrm>
        </p:spPr>
        <p:txBody>
          <a:bodyPr anchor="b">
            <a:normAutofit/>
          </a:bodyPr>
          <a:lstStyle/>
          <a:p>
            <a:r>
              <a:rPr lang="en-US" sz="5400" dirty="0"/>
              <a:t>Neural Networks</a:t>
            </a:r>
          </a:p>
        </p:txBody>
      </p:sp>
      <p:sp>
        <p:nvSpPr>
          <p:cNvPr id="7" name="TextBox 6"/>
          <p:cNvSpPr txBox="1"/>
          <p:nvPr/>
        </p:nvSpPr>
        <p:spPr>
          <a:xfrm>
            <a:off x="762000" y="5257800"/>
            <a:ext cx="6705600" cy="1692771"/>
          </a:xfrm>
          <a:prstGeom prst="rect">
            <a:avLst/>
          </a:prstGeom>
          <a:noFill/>
        </p:spPr>
        <p:txBody>
          <a:bodyPr wrap="square" rtlCol="0">
            <a:spAutoFit/>
          </a:bodyPr>
          <a:lstStyle/>
          <a:p>
            <a:r>
              <a:rPr lang="en-US" sz="2400" dirty="0"/>
              <a:t>CS246: Mining Massive Datasets</a:t>
            </a:r>
          </a:p>
          <a:p>
            <a:r>
              <a:rPr lang="en-US" sz="2400" dirty="0"/>
              <a:t>Jure Leskovec, </a:t>
            </a:r>
            <a:r>
              <a:rPr lang="en-US" sz="2000" dirty="0"/>
              <a:t>Stanford University</a:t>
            </a:r>
          </a:p>
          <a:p>
            <a:r>
              <a:rPr lang="en-US" sz="2400" dirty="0"/>
              <a:t>Mina </a:t>
            </a:r>
            <a:r>
              <a:rPr lang="en-US" sz="2400" dirty="0" err="1"/>
              <a:t>Ghashami</a:t>
            </a:r>
            <a:r>
              <a:rPr lang="en-US" sz="2400" dirty="0"/>
              <a:t>, </a:t>
            </a:r>
            <a:r>
              <a:rPr lang="en-US" sz="2000" dirty="0"/>
              <a:t>Amazon</a:t>
            </a:r>
          </a:p>
          <a:p>
            <a:r>
              <a:rPr lang="en-US" sz="3200" dirty="0"/>
              <a:t>http://cs246.stanford.edu</a:t>
            </a:r>
          </a:p>
        </p:txBody>
      </p:sp>
      <p:pic>
        <p:nvPicPr>
          <p:cNvPr id="5" name="Picture 6" descr="http://asia.stanford.edu/images/StanfordSealSmall.jpg"/>
          <p:cNvPicPr>
            <a:picLocks noChangeAspect="1" noChangeArrowheads="1"/>
          </p:cNvPicPr>
          <p:nvPr/>
        </p:nvPicPr>
        <p:blipFill>
          <a:blip r:embed="rId3" cstate="print"/>
          <a:srcRect/>
          <a:stretch>
            <a:fillRect/>
          </a:stretch>
        </p:blipFill>
        <p:spPr bwMode="auto">
          <a:xfrm>
            <a:off x="7452360" y="5166360"/>
            <a:ext cx="1691640" cy="1691640"/>
          </a:xfrm>
          <a:prstGeom prst="rect">
            <a:avLst/>
          </a:prstGeom>
          <a:noFill/>
        </p:spPr>
      </p:pic>
      <p:sp>
        <p:nvSpPr>
          <p:cNvPr id="6" name="TextBox 2">
            <a:extLst>
              <a:ext uri="{FF2B5EF4-FFF2-40B4-BE49-F238E27FC236}">
                <a16:creationId xmlns:a16="http://schemas.microsoft.com/office/drawing/2014/main" id="{04098AC8-F7E4-8A46-8332-DAAF72D61807}"/>
              </a:ext>
            </a:extLst>
          </p:cNvPr>
          <p:cNvSpPr txBox="1"/>
          <p:nvPr/>
        </p:nvSpPr>
        <p:spPr>
          <a:xfrm>
            <a:off x="1905000" y="130203"/>
            <a:ext cx="7239000" cy="116955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t>Note to other teachers and users of these slides: </a:t>
            </a:r>
            <a:r>
              <a:rPr lang="en-US" sz="1400" dirty="0"/>
              <a:t>We would be delighted if you found our </a:t>
            </a:r>
          </a:p>
          <a:p>
            <a:r>
              <a:rPr lang="en-US" sz="1400" dirty="0"/>
              <a:t>material useful for giving your own lectures. Feel free to use these slides verbatim, or to </a:t>
            </a:r>
          </a:p>
          <a:p>
            <a:r>
              <a:rPr lang="en-US" sz="1400" dirty="0"/>
              <a:t>modify them to fit your own needs. If you make use of a significant portion of these slides </a:t>
            </a:r>
          </a:p>
          <a:p>
            <a:r>
              <a:rPr lang="en-US" sz="1400" dirty="0"/>
              <a:t>in your own lecture, please include this message, or a link to our web site: </a:t>
            </a:r>
            <a:r>
              <a:rPr lang="en-US" sz="1400" dirty="0">
                <a:hlinkClick r:id="rId4"/>
              </a:rPr>
              <a:t>http://</a:t>
            </a:r>
            <a:r>
              <a:rPr lang="en-US" sz="1400" dirty="0" err="1">
                <a:hlinkClick r:id="rId4"/>
              </a:rPr>
              <a:t>www.mmds.org</a:t>
            </a:r>
            <a:r>
              <a:rPr lang="en-US" sz="1400" dirty="0">
                <a:hlinkClick r:id="rId4"/>
              </a:rPr>
              <a:t> </a:t>
            </a:r>
            <a:endParaRPr lang="en-US" sz="1400" dirty="0"/>
          </a:p>
          <a:p>
            <a:endParaRPr lang="en-US" sz="1400" dirty="0">
              <a:latin typeface="Arial" pitchFamily="34" charset="0"/>
              <a:cs typeface="Arial"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5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37367-0FDA-ED4C-AA83-9FB7D90937C4}"/>
              </a:ext>
            </a:extLst>
          </p:cNvPr>
          <p:cNvSpPr>
            <a:spLocks noGrp="1"/>
          </p:cNvSpPr>
          <p:nvPr>
            <p:ph type="title"/>
          </p:nvPr>
        </p:nvSpPr>
        <p:spPr/>
        <p:txBody>
          <a:bodyPr>
            <a:normAutofit/>
          </a:bodyPr>
          <a:lstStyle/>
          <a:p>
            <a:r>
              <a:rPr lang="en-US" dirty="0"/>
              <a:t>Input Feature Vectors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2806FD5-2023-5E4B-8EE2-824CA4D0B0A5}"/>
                  </a:ext>
                </a:extLst>
              </p:cNvPr>
              <p:cNvSpPr>
                <a:spLocks noGrp="1"/>
              </p:cNvSpPr>
              <p:nvPr>
                <p:ph idx="1"/>
              </p:nvPr>
            </p:nvSpPr>
            <p:spPr/>
            <p:txBody>
              <a:bodyPr>
                <a:normAutofit fontScale="85000" lnSpcReduction="20000"/>
              </a:bodyPr>
              <a:lstStyle/>
              <a:p>
                <a:r>
                  <a:rPr lang="en-US" dirty="0"/>
                  <a:t>All ML methods work with the </a:t>
                </a:r>
                <a:r>
                  <a:rPr lang="en-US" dirty="0">
                    <a:solidFill>
                      <a:srgbClr val="FF0066"/>
                    </a:solidFill>
                  </a:rPr>
                  <a:t>input feature vectors </a:t>
                </a:r>
                <a14:m>
                  <m:oMath xmlns:m="http://schemas.openxmlformats.org/officeDocument/2006/math">
                    <m:r>
                      <a:rPr lang="en-US" altLang="en-US" i="1" dirty="0">
                        <a:latin typeface="Cambria Math"/>
                      </a:rPr>
                      <m:t>{</m:t>
                    </m:r>
                    <m:sSub>
                      <m:sSubPr>
                        <m:ctrlPr>
                          <a:rPr lang="en-US" altLang="en-US" i="1" dirty="0">
                            <a:latin typeface="Cambria Math" panose="02040503050406030204" pitchFamily="18" charset="0"/>
                          </a:rPr>
                        </m:ctrlPr>
                      </m:sSubPr>
                      <m:e>
                        <m:r>
                          <a:rPr lang="en-US" altLang="en-US" i="1" dirty="0">
                            <a:latin typeface="Cambria Math" panose="02040503050406030204" pitchFamily="18" charset="0"/>
                          </a:rPr>
                          <m:t>𝑥</m:t>
                        </m:r>
                      </m:e>
                      <m:sub>
                        <m:r>
                          <a:rPr lang="en-US" altLang="en-US" i="1" dirty="0">
                            <a:latin typeface="Cambria Math" panose="02040503050406030204" pitchFamily="18" charset="0"/>
                          </a:rPr>
                          <m:t>1</m:t>
                        </m:r>
                      </m:sub>
                    </m:sSub>
                    <m:r>
                      <a:rPr lang="en-US" altLang="en-US" i="1" dirty="0">
                        <a:latin typeface="Cambria Math"/>
                      </a:rPr>
                      <m:t>,</m:t>
                    </m:r>
                    <m:r>
                      <a:rPr lang="en-US" altLang="en-US" i="1" dirty="0" smtClean="0">
                        <a:latin typeface="Cambria Math" panose="02040503050406030204" pitchFamily="18" charset="0"/>
                      </a:rPr>
                      <m:t> </m:t>
                    </m:r>
                    <m:sSub>
                      <m:sSubPr>
                        <m:ctrlPr>
                          <a:rPr lang="en-US" altLang="en-US" i="1" dirty="0">
                            <a:latin typeface="Cambria Math" panose="02040503050406030204" pitchFamily="18" charset="0"/>
                          </a:rPr>
                        </m:ctrlPr>
                      </m:sSubPr>
                      <m:e>
                        <m:r>
                          <a:rPr lang="en-US" altLang="en-US" i="1" dirty="0">
                            <a:latin typeface="Cambria Math" panose="02040503050406030204" pitchFamily="18" charset="0"/>
                          </a:rPr>
                          <m:t>𝑥</m:t>
                        </m:r>
                      </m:e>
                      <m:sub>
                        <m:r>
                          <a:rPr lang="en-US" altLang="en-US" i="1" dirty="0">
                            <a:latin typeface="Cambria Math" panose="02040503050406030204" pitchFamily="18" charset="0"/>
                          </a:rPr>
                          <m:t>2</m:t>
                        </m:r>
                      </m:sub>
                    </m:sSub>
                    <m:r>
                      <a:rPr lang="en-US" altLang="en-US" i="1" dirty="0">
                        <a:latin typeface="Cambria Math"/>
                      </a:rPr>
                      <m:t>, …, </m:t>
                    </m:r>
                    <m:sSub>
                      <m:sSubPr>
                        <m:ctrlPr>
                          <a:rPr lang="en-US" altLang="en-US" i="1" dirty="0">
                            <a:latin typeface="Cambria Math" panose="02040503050406030204" pitchFamily="18" charset="0"/>
                          </a:rPr>
                        </m:ctrlPr>
                      </m:sSubPr>
                      <m:e>
                        <m:r>
                          <a:rPr lang="en-US" altLang="en-US" i="1" dirty="0">
                            <a:latin typeface="Cambria Math" panose="02040503050406030204" pitchFamily="18" charset="0"/>
                          </a:rPr>
                          <m:t>𝑥</m:t>
                        </m:r>
                      </m:e>
                      <m:sub>
                        <m:r>
                          <a:rPr lang="en-US" altLang="en-US" i="1" dirty="0">
                            <a:latin typeface="Cambria Math" panose="02040503050406030204" pitchFamily="18" charset="0"/>
                          </a:rPr>
                          <m:t>𝑛</m:t>
                        </m:r>
                      </m:sub>
                    </m:sSub>
                    <m:r>
                      <a:rPr lang="en-US" altLang="en-US" i="1" dirty="0">
                        <a:latin typeface="Cambria Math"/>
                      </a:rPr>
                      <m:t>}</m:t>
                    </m:r>
                  </m:oMath>
                </a14:m>
                <a:r>
                  <a:rPr lang="en-US" altLang="en-US" i="1" dirty="0"/>
                  <a:t> </a:t>
                </a:r>
                <a:r>
                  <a:rPr lang="en-US" dirty="0"/>
                  <a:t>and almost all of them require input features to be </a:t>
                </a:r>
                <a:r>
                  <a:rPr lang="en-US" dirty="0">
                    <a:solidFill>
                      <a:srgbClr val="FF0066"/>
                    </a:solidFill>
                  </a:rPr>
                  <a:t>numerical</a:t>
                </a:r>
              </a:p>
              <a:p>
                <a:pPr marL="768096" lvl="2" indent="0">
                  <a:buNone/>
                </a:pPr>
                <a:endParaRPr lang="en-US" dirty="0"/>
              </a:p>
              <a:p>
                <a:r>
                  <a:rPr lang="en-US" dirty="0"/>
                  <a:t>From ML perspective, there are four types of features:</a:t>
                </a:r>
              </a:p>
              <a:p>
                <a:pPr lvl="1"/>
                <a:r>
                  <a:rPr lang="en-US" dirty="0"/>
                  <a:t>Numerical (continues or discrete)</a:t>
                </a:r>
              </a:p>
              <a:p>
                <a:pPr lvl="2"/>
                <a:r>
                  <a:rPr lang="en-US" dirty="0"/>
                  <a:t>Continues: height</a:t>
                </a:r>
              </a:p>
              <a:p>
                <a:pPr lvl="2"/>
                <a:r>
                  <a:rPr lang="en-US" dirty="0"/>
                  <a:t>Discrete: age</a:t>
                </a:r>
              </a:p>
              <a:p>
                <a:pPr lvl="1"/>
                <a:r>
                  <a:rPr lang="en-US" b="1" dirty="0">
                    <a:solidFill>
                      <a:srgbClr val="0000FF"/>
                    </a:solidFill>
                  </a:rPr>
                  <a:t>Categorical</a:t>
                </a:r>
                <a:r>
                  <a:rPr lang="en-US" dirty="0"/>
                  <a:t> (ordinal or nominal)</a:t>
                </a:r>
              </a:p>
              <a:p>
                <a:pPr lvl="2"/>
                <a:r>
                  <a:rPr lang="en-US" dirty="0"/>
                  <a:t>Ordinal: level={beginner, intermediate, advanced}</a:t>
                </a:r>
              </a:p>
              <a:p>
                <a:pPr lvl="2"/>
                <a:r>
                  <a:rPr lang="en-US" dirty="0"/>
                  <a:t>Nominal: gender={male, female}, color={red, blue, green}</a:t>
                </a:r>
              </a:p>
              <a:p>
                <a:pPr lvl="1"/>
                <a:r>
                  <a:rPr lang="en-US" dirty="0"/>
                  <a:t>Time series:</a:t>
                </a:r>
              </a:p>
              <a:p>
                <a:pPr lvl="2"/>
                <a:r>
                  <a:rPr lang="en-US" dirty="0"/>
                  <a:t>Average of home sale price over years</a:t>
                </a:r>
              </a:p>
              <a:p>
                <a:pPr lvl="1"/>
                <a:r>
                  <a:rPr lang="en-US" dirty="0"/>
                  <a:t>Text </a:t>
                </a:r>
              </a:p>
              <a:p>
                <a:pPr lvl="2"/>
                <a:r>
                  <a:rPr lang="en-US" dirty="0"/>
                  <a:t>Bag of words</a:t>
                </a:r>
              </a:p>
              <a:p>
                <a:pPr lvl="1"/>
                <a:endParaRPr lang="en-US" dirty="0"/>
              </a:p>
            </p:txBody>
          </p:sp>
        </mc:Choice>
        <mc:Fallback xmlns="">
          <p:sp>
            <p:nvSpPr>
              <p:cNvPr id="3" name="Content Placeholder 2">
                <a:extLst>
                  <a:ext uri="{FF2B5EF4-FFF2-40B4-BE49-F238E27FC236}">
                    <a16:creationId xmlns:a16="http://schemas.microsoft.com/office/drawing/2014/main" id="{92806FD5-2023-5E4B-8EE2-824CA4D0B0A5}"/>
                  </a:ext>
                </a:extLst>
              </p:cNvPr>
              <p:cNvSpPr>
                <a:spLocks noGrp="1" noRot="1" noChangeAspect="1" noMove="1" noResize="1" noEditPoints="1" noAdjustHandles="1" noChangeArrowheads="1" noChangeShapeType="1" noTextEdit="1"/>
              </p:cNvSpPr>
              <p:nvPr>
                <p:ph idx="1"/>
              </p:nvPr>
            </p:nvSpPr>
            <p:spPr>
              <a:blipFill>
                <a:blip r:embed="rId3"/>
                <a:stretch>
                  <a:fillRect t="-169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0B27183F-6A28-B34B-B8F9-603A658B51AC}"/>
              </a:ext>
            </a:extLst>
          </p:cNvPr>
          <p:cNvSpPr>
            <a:spLocks noGrp="1"/>
          </p:cNvSpPr>
          <p:nvPr>
            <p:ph type="dt" sz="half" idx="10"/>
          </p:nvPr>
        </p:nvSpPr>
        <p:spPr/>
        <p:txBody>
          <a:bodyPr/>
          <a:lstStyle/>
          <a:p>
            <a:fld id="{9A313F78-8AD5-CE45-B683-233B4DB75326}" type="datetime1">
              <a:rPr lang="en-US" smtClean="0"/>
              <a:t>11/3/24</a:t>
            </a:fld>
            <a:endParaRPr lang="en-US"/>
          </a:p>
        </p:txBody>
      </p:sp>
      <p:sp>
        <p:nvSpPr>
          <p:cNvPr id="5" name="Footer Placeholder 4">
            <a:extLst>
              <a:ext uri="{FF2B5EF4-FFF2-40B4-BE49-F238E27FC236}">
                <a16:creationId xmlns:a16="http://schemas.microsoft.com/office/drawing/2014/main" id="{0C0D9D59-E826-4548-9BAC-0647EAABFC83}"/>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8949AE94-D6ED-DF42-AC9F-0C8F66F4CE3B}"/>
              </a:ext>
            </a:extLst>
          </p:cNvPr>
          <p:cNvSpPr>
            <a:spLocks noGrp="1"/>
          </p:cNvSpPr>
          <p:nvPr>
            <p:ph type="sldNum" sz="quarter" idx="12"/>
          </p:nvPr>
        </p:nvSpPr>
        <p:spPr/>
        <p:txBody>
          <a:bodyPr/>
          <a:lstStyle/>
          <a:p>
            <a:fld id="{19B12225-5612-419B-A8D5-4B8EEE4C217E}" type="slidenum">
              <a:rPr lang="en-US" smtClean="0"/>
              <a:pPr/>
              <a:t>2</a:t>
            </a:fld>
            <a:endParaRPr lang="en-US"/>
          </a:p>
        </p:txBody>
      </p:sp>
    </p:spTree>
    <p:extLst>
      <p:ext uri="{BB962C8B-B14F-4D97-AF65-F5344CB8AC3E}">
        <p14:creationId xmlns:p14="http://schemas.microsoft.com/office/powerpoint/2010/main" val="2929082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23C8A-BB64-7142-8684-ACF610D9B97E}"/>
              </a:ext>
            </a:extLst>
          </p:cNvPr>
          <p:cNvSpPr>
            <a:spLocks noGrp="1"/>
          </p:cNvSpPr>
          <p:nvPr>
            <p:ph type="title"/>
          </p:nvPr>
        </p:nvSpPr>
        <p:spPr/>
        <p:txBody>
          <a:bodyPr/>
          <a:lstStyle/>
          <a:p>
            <a:r>
              <a:rPr lang="en-US" dirty="0"/>
              <a:t>Categorical Features</a:t>
            </a:r>
          </a:p>
        </p:txBody>
      </p:sp>
      <p:sp>
        <p:nvSpPr>
          <p:cNvPr id="3" name="Content Placeholder 2">
            <a:extLst>
              <a:ext uri="{FF2B5EF4-FFF2-40B4-BE49-F238E27FC236}">
                <a16:creationId xmlns:a16="http://schemas.microsoft.com/office/drawing/2014/main" id="{22DA332F-9CC3-0F49-8340-D4793E77A739}"/>
              </a:ext>
            </a:extLst>
          </p:cNvPr>
          <p:cNvSpPr>
            <a:spLocks noGrp="1"/>
          </p:cNvSpPr>
          <p:nvPr>
            <p:ph idx="1"/>
          </p:nvPr>
        </p:nvSpPr>
        <p:spPr/>
        <p:txBody>
          <a:bodyPr>
            <a:normAutofit/>
          </a:bodyPr>
          <a:lstStyle/>
          <a:p>
            <a:r>
              <a:rPr lang="en-US" dirty="0"/>
              <a:t>There are two ways to encode categorical var:</a:t>
            </a:r>
          </a:p>
          <a:p>
            <a:pPr lvl="1"/>
            <a:r>
              <a:rPr lang="en-US" sz="2600" dirty="0"/>
              <a:t>Integer encoding</a:t>
            </a:r>
          </a:p>
          <a:p>
            <a:pPr lvl="1"/>
            <a:r>
              <a:rPr lang="en-US" sz="2600" dirty="0"/>
              <a:t>One-hot encoding (and multi-hot encoding)</a:t>
            </a:r>
          </a:p>
          <a:p>
            <a:r>
              <a:rPr lang="en-US" dirty="0"/>
              <a:t>Consider the following movie dataset:</a:t>
            </a:r>
          </a:p>
          <a:p>
            <a:pPr marL="118872" indent="0">
              <a:buNone/>
            </a:pPr>
            <a:br>
              <a:rPr lang="en-US" dirty="0"/>
            </a:br>
            <a:endParaRPr lang="en-US" dirty="0"/>
          </a:p>
        </p:txBody>
      </p:sp>
      <p:sp>
        <p:nvSpPr>
          <p:cNvPr id="4" name="Date Placeholder 3">
            <a:extLst>
              <a:ext uri="{FF2B5EF4-FFF2-40B4-BE49-F238E27FC236}">
                <a16:creationId xmlns:a16="http://schemas.microsoft.com/office/drawing/2014/main" id="{2E7A90E7-6D9E-F04C-9961-74281E1C4790}"/>
              </a:ext>
            </a:extLst>
          </p:cNvPr>
          <p:cNvSpPr>
            <a:spLocks noGrp="1"/>
          </p:cNvSpPr>
          <p:nvPr>
            <p:ph type="dt" sz="half" idx="10"/>
          </p:nvPr>
        </p:nvSpPr>
        <p:spPr/>
        <p:txBody>
          <a:bodyPr/>
          <a:lstStyle/>
          <a:p>
            <a:fld id="{A0669C05-A074-6146-A6D3-927E8E660BB3}" type="datetime1">
              <a:rPr lang="en-US" smtClean="0"/>
              <a:t>11/3/24</a:t>
            </a:fld>
            <a:endParaRPr lang="en-US"/>
          </a:p>
        </p:txBody>
      </p:sp>
      <p:sp>
        <p:nvSpPr>
          <p:cNvPr id="5" name="Footer Placeholder 4">
            <a:extLst>
              <a:ext uri="{FF2B5EF4-FFF2-40B4-BE49-F238E27FC236}">
                <a16:creationId xmlns:a16="http://schemas.microsoft.com/office/drawing/2014/main" id="{E41D68A1-08C9-974D-9E07-6727F7193FDF}"/>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7AB2AC8A-2A52-E547-8A23-0F6E4935A63E}"/>
              </a:ext>
            </a:extLst>
          </p:cNvPr>
          <p:cNvSpPr>
            <a:spLocks noGrp="1"/>
          </p:cNvSpPr>
          <p:nvPr>
            <p:ph type="sldNum" sz="quarter" idx="12"/>
          </p:nvPr>
        </p:nvSpPr>
        <p:spPr/>
        <p:txBody>
          <a:bodyPr/>
          <a:lstStyle/>
          <a:p>
            <a:fld id="{19B12225-5612-419B-A8D5-4B8EEE4C217E}" type="slidenum">
              <a:rPr lang="en-US" smtClean="0"/>
              <a:pPr/>
              <a:t>3</a:t>
            </a:fld>
            <a:endParaRPr lang="en-US"/>
          </a:p>
        </p:txBody>
      </p:sp>
      <p:graphicFrame>
        <p:nvGraphicFramePr>
          <p:cNvPr id="7" name="Table 7">
            <a:extLst>
              <a:ext uri="{FF2B5EF4-FFF2-40B4-BE49-F238E27FC236}">
                <a16:creationId xmlns:a16="http://schemas.microsoft.com/office/drawing/2014/main" id="{6FE6036E-3442-5142-8CF4-9B67F5326736}"/>
              </a:ext>
            </a:extLst>
          </p:cNvPr>
          <p:cNvGraphicFramePr>
            <a:graphicFrameLocks noGrp="1"/>
          </p:cNvGraphicFramePr>
          <p:nvPr>
            <p:extLst>
              <p:ext uri="{D42A27DB-BD31-4B8C-83A1-F6EECF244321}">
                <p14:modId xmlns:p14="http://schemas.microsoft.com/office/powerpoint/2010/main" val="220362215"/>
              </p:ext>
            </p:extLst>
          </p:nvPr>
        </p:nvGraphicFramePr>
        <p:xfrm>
          <a:off x="1752600" y="3497981"/>
          <a:ext cx="5791200" cy="2834640"/>
        </p:xfrm>
        <a:graphic>
          <a:graphicData uri="http://schemas.openxmlformats.org/drawingml/2006/table">
            <a:tbl>
              <a:tblPr firstRow="1" bandRow="1">
                <a:tableStyleId>{7E9639D4-E3E2-4D34-9284-5A2195B3D0D7}</a:tableStyleId>
              </a:tblPr>
              <a:tblGrid>
                <a:gridCol w="1371600">
                  <a:extLst>
                    <a:ext uri="{9D8B030D-6E8A-4147-A177-3AD203B41FA5}">
                      <a16:colId xmlns:a16="http://schemas.microsoft.com/office/drawing/2014/main" val="2510842591"/>
                    </a:ext>
                  </a:extLst>
                </a:gridCol>
                <a:gridCol w="1066800">
                  <a:extLst>
                    <a:ext uri="{9D8B030D-6E8A-4147-A177-3AD203B41FA5}">
                      <a16:colId xmlns:a16="http://schemas.microsoft.com/office/drawing/2014/main" val="907399395"/>
                    </a:ext>
                  </a:extLst>
                </a:gridCol>
                <a:gridCol w="1524000">
                  <a:extLst>
                    <a:ext uri="{9D8B030D-6E8A-4147-A177-3AD203B41FA5}">
                      <a16:colId xmlns:a16="http://schemas.microsoft.com/office/drawing/2014/main" val="1141070144"/>
                    </a:ext>
                  </a:extLst>
                </a:gridCol>
                <a:gridCol w="990600">
                  <a:extLst>
                    <a:ext uri="{9D8B030D-6E8A-4147-A177-3AD203B41FA5}">
                      <a16:colId xmlns:a16="http://schemas.microsoft.com/office/drawing/2014/main" val="2082511682"/>
                    </a:ext>
                  </a:extLst>
                </a:gridCol>
                <a:gridCol w="838200">
                  <a:extLst>
                    <a:ext uri="{9D8B030D-6E8A-4147-A177-3AD203B41FA5}">
                      <a16:colId xmlns:a16="http://schemas.microsoft.com/office/drawing/2014/main" val="3041082918"/>
                    </a:ext>
                  </a:extLst>
                </a:gridCol>
              </a:tblGrid>
              <a:tr h="370840">
                <a:tc>
                  <a:txBody>
                    <a:bodyPr/>
                    <a:lstStyle/>
                    <a:p>
                      <a:r>
                        <a:rPr lang="en-US" b="1" dirty="0">
                          <a:solidFill>
                            <a:sysClr val="windowText" lastClr="000000"/>
                          </a:solidFill>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b="1" dirty="0">
                          <a:solidFill>
                            <a:sysClr val="windowText" lastClr="000000"/>
                          </a:solidFill>
                        </a:rPr>
                        <a:t>provider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b="1" dirty="0">
                          <a:solidFill>
                            <a:sysClr val="windowText" lastClr="000000"/>
                          </a:solidFill>
                        </a:rPr>
                        <a:t>IMDB genres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b="1" dirty="0">
                          <a:solidFill>
                            <a:sysClr val="windowText" lastClr="000000"/>
                          </a:solidFill>
                        </a:rPr>
                        <a:t>Release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b="1" dirty="0">
                          <a:solidFill>
                            <a:sysClr val="windowText" lastClr="000000"/>
                          </a:solidFill>
                        </a:rPr>
                        <a:t>IMDB rating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526488250"/>
                  </a:ext>
                </a:extLst>
              </a:tr>
              <a:tr h="370840">
                <a:tc>
                  <a:txBody>
                    <a:bodyPr/>
                    <a:lstStyle/>
                    <a:p>
                      <a:r>
                        <a:rPr lang="en-US" sz="1500" dirty="0">
                          <a:solidFill>
                            <a:sysClr val="windowText" lastClr="000000"/>
                          </a:solidFill>
                        </a:rPr>
                        <a:t>Stranger Things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solidFill>
                            <a:sysClr val="windowText" lastClr="000000"/>
                          </a:solidFill>
                        </a:rPr>
                        <a:t>Netflix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solidFill>
                            <a:sysClr val="windowText" lastClr="000000"/>
                          </a:solidFill>
                        </a:rPr>
                        <a:t>drama, fantasy, horror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solidFill>
                            <a:sysClr val="windowText" lastClr="000000"/>
                          </a:solidFill>
                        </a:rPr>
                        <a:t>2016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solidFill>
                            <a:sysClr val="windowText" lastClr="000000"/>
                          </a:solidFill>
                        </a:rPr>
                        <a:t>8.7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2228384"/>
                  </a:ext>
                </a:extLst>
              </a:tr>
              <a:tr h="370840">
                <a:tc>
                  <a:txBody>
                    <a:bodyPr/>
                    <a:lstStyle/>
                    <a:p>
                      <a:r>
                        <a:rPr lang="en-US" sz="1500" dirty="0">
                          <a:solidFill>
                            <a:sysClr val="windowText" lastClr="000000"/>
                          </a:solidFill>
                        </a:rPr>
                        <a:t>Cocomelon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solidFill>
                            <a:sysClr val="windowText" lastClr="000000"/>
                          </a:solidFill>
                        </a:rPr>
                        <a:t>Prime Video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solidFill>
                            <a:sysClr val="windowText" lastClr="000000"/>
                          </a:solidFill>
                        </a:rPr>
                        <a:t>animation, comedy, family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solidFill>
                            <a:sysClr val="windowText" lastClr="000000"/>
                          </a:solidFill>
                        </a:rPr>
                        <a:t>2019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solidFill>
                            <a:sysClr val="windowText" lastClr="000000"/>
                          </a:solidFill>
                        </a:rPr>
                        <a:t>4.7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2817639"/>
                  </a:ext>
                </a:extLst>
              </a:tr>
              <a:tr h="370840">
                <a:tc>
                  <a:txBody>
                    <a:bodyPr/>
                    <a:lstStyle/>
                    <a:p>
                      <a:r>
                        <a:rPr lang="en-US" sz="1500" dirty="0">
                          <a:solidFill>
                            <a:sysClr val="windowText" lastClr="000000"/>
                          </a:solidFill>
                        </a:rPr>
                        <a:t>100 Foot Waves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solidFill>
                            <a:sysClr val="windowText" lastClr="000000"/>
                          </a:solidFill>
                        </a:rPr>
                        <a:t>HBO Max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solidFill>
                            <a:sysClr val="windowText" lastClr="000000"/>
                          </a:solidFill>
                        </a:rPr>
                        <a:t>documentary, sport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solidFill>
                            <a:sysClr val="windowText" lastClr="000000"/>
                          </a:solidFill>
                        </a:rPr>
                        <a:t>2021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solidFill>
                            <a:sysClr val="windowText" lastClr="000000"/>
                          </a:solidFill>
                        </a:rPr>
                        <a:t>8.1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7765766"/>
                  </a:ext>
                </a:extLst>
              </a:tr>
              <a:tr h="370840">
                <a:tc>
                  <a:txBody>
                    <a:bodyPr/>
                    <a:lstStyle/>
                    <a:p>
                      <a:r>
                        <a:rPr lang="en-US" sz="1500" dirty="0">
                          <a:solidFill>
                            <a:sysClr val="windowText" lastClr="000000"/>
                          </a:solidFill>
                        </a:rPr>
                        <a:t>I, Tonya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solidFill>
                            <a:sysClr val="windowText" lastClr="000000"/>
                          </a:solidFill>
                        </a:rPr>
                        <a:t>Hulu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solidFill>
                            <a:sysClr val="windowText" lastClr="000000"/>
                          </a:solidFill>
                        </a:rPr>
                        <a:t>biography, drama, comedy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solidFill>
                            <a:sysClr val="windowText" lastClr="000000"/>
                          </a:solidFill>
                        </a:rPr>
                        <a:t>2017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solidFill>
                            <a:sysClr val="windowText" lastClr="000000"/>
                          </a:solidFill>
                        </a:rPr>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8324061"/>
                  </a:ext>
                </a:extLst>
              </a:tr>
            </a:tbl>
          </a:graphicData>
        </a:graphic>
      </p:graphicFrame>
    </p:spTree>
    <p:extLst>
      <p:ext uri="{BB962C8B-B14F-4D97-AF65-F5344CB8AC3E}">
        <p14:creationId xmlns:p14="http://schemas.microsoft.com/office/powerpoint/2010/main" val="3224571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B247C-2163-7342-B1CA-E6FA0142EFD6}"/>
              </a:ext>
            </a:extLst>
          </p:cNvPr>
          <p:cNvSpPr>
            <a:spLocks noGrp="1"/>
          </p:cNvSpPr>
          <p:nvPr>
            <p:ph type="title"/>
          </p:nvPr>
        </p:nvSpPr>
        <p:spPr/>
        <p:txBody>
          <a:bodyPr/>
          <a:lstStyle/>
          <a:p>
            <a:r>
              <a:rPr lang="en-US" dirty="0"/>
              <a:t>Integer Encoding</a:t>
            </a:r>
          </a:p>
        </p:txBody>
      </p:sp>
      <p:sp>
        <p:nvSpPr>
          <p:cNvPr id="3" name="Content Placeholder 2">
            <a:extLst>
              <a:ext uri="{FF2B5EF4-FFF2-40B4-BE49-F238E27FC236}">
                <a16:creationId xmlns:a16="http://schemas.microsoft.com/office/drawing/2014/main" id="{D8F0E785-506C-4B44-94BB-4C9D1A4642C3}"/>
              </a:ext>
            </a:extLst>
          </p:cNvPr>
          <p:cNvSpPr>
            <a:spLocks noGrp="1"/>
          </p:cNvSpPr>
          <p:nvPr>
            <p:ph idx="1"/>
          </p:nvPr>
        </p:nvSpPr>
        <p:spPr/>
        <p:txBody>
          <a:bodyPr>
            <a:normAutofit/>
          </a:bodyPr>
          <a:lstStyle/>
          <a:p>
            <a:r>
              <a:rPr lang="en-US" dirty="0">
                <a:solidFill>
                  <a:srgbClr val="D60093"/>
                </a:solidFill>
              </a:rPr>
              <a:t>Assigns each category value with an integer</a:t>
            </a:r>
            <a:r>
              <a:rPr lang="en-US" dirty="0"/>
              <a:t> </a:t>
            </a:r>
          </a:p>
          <a:p>
            <a:pPr lvl="1"/>
            <a:r>
              <a:rPr lang="en-US" sz="2200" i="1" dirty="0"/>
              <a:t>provider :=[Netflix, Prime Video, HBO Max, Hulu], </a:t>
            </a:r>
            <a:r>
              <a:rPr lang="en-US" sz="2200" dirty="0"/>
              <a:t>we assign them integers 1, 2, 3 and 4 respectively. </a:t>
            </a:r>
          </a:p>
          <a:p>
            <a:pPr marL="118872" indent="0">
              <a:buNone/>
            </a:pPr>
            <a:endParaRPr lang="en-US" sz="2600" dirty="0"/>
          </a:p>
          <a:p>
            <a:r>
              <a:rPr lang="en-US" sz="2200" dirty="0">
                <a:solidFill>
                  <a:srgbClr val="008000"/>
                </a:solidFill>
              </a:rPr>
              <a:t>Pros</a:t>
            </a:r>
            <a:r>
              <a:rPr lang="en-US" sz="2200" dirty="0"/>
              <a:t>: dense representation</a:t>
            </a:r>
          </a:p>
          <a:p>
            <a:r>
              <a:rPr lang="en-US" sz="2200" dirty="0">
                <a:solidFill>
                  <a:srgbClr val="FF0000"/>
                </a:solidFill>
              </a:rPr>
              <a:t>Cons</a:t>
            </a:r>
            <a:r>
              <a:rPr lang="en-US" sz="2200" dirty="0"/>
              <a:t>: It </a:t>
            </a:r>
            <a:r>
              <a:rPr lang="en-US" sz="2200" dirty="0">
                <a:solidFill>
                  <a:srgbClr val="D60093"/>
                </a:solidFill>
              </a:rPr>
              <a:t>implies ordering </a:t>
            </a:r>
          </a:p>
          <a:p>
            <a:pPr marL="118872" indent="0">
              <a:buNone/>
            </a:pPr>
            <a:r>
              <a:rPr lang="en-US" sz="2200" dirty="0">
                <a:solidFill>
                  <a:srgbClr val="D60093"/>
                </a:solidFill>
              </a:rPr>
              <a:t>     </a:t>
            </a:r>
            <a:r>
              <a:rPr lang="en-US" sz="2200" dirty="0"/>
              <a:t>between different categories: </a:t>
            </a:r>
          </a:p>
          <a:p>
            <a:pPr marL="118872" indent="0">
              <a:buNone/>
            </a:pPr>
            <a:r>
              <a:rPr lang="en-US" sz="1800" i="1" dirty="0"/>
              <a:t>      Netflix &lt; Prime Video &lt; HBO Max &lt; Hulu</a:t>
            </a:r>
          </a:p>
          <a:p>
            <a:pPr marL="457200" lvl="1" indent="0">
              <a:buNone/>
            </a:pPr>
            <a:endParaRPr lang="en-US" sz="2300" dirty="0"/>
          </a:p>
          <a:p>
            <a:endParaRPr lang="en-US" sz="2600" dirty="0"/>
          </a:p>
          <a:p>
            <a:r>
              <a:rPr lang="en-US" sz="2600" dirty="0"/>
              <a:t>Makes more sense to use it for </a:t>
            </a:r>
            <a:r>
              <a:rPr lang="en-US" sz="2600" dirty="0">
                <a:solidFill>
                  <a:srgbClr val="D60093"/>
                </a:solidFill>
              </a:rPr>
              <a:t>ordinal variables</a:t>
            </a:r>
            <a:r>
              <a:rPr lang="en-US" sz="2600" dirty="0"/>
              <a:t>:</a:t>
            </a:r>
          </a:p>
          <a:p>
            <a:pPr lvl="1"/>
            <a:r>
              <a:rPr lang="en-US" sz="2200" dirty="0"/>
              <a:t>Such as “Education”= {Diploma, Undergrad, Masters, PhD }</a:t>
            </a:r>
          </a:p>
          <a:p>
            <a:pPr lvl="1"/>
            <a:r>
              <a:rPr lang="en-US" sz="2200" dirty="0"/>
              <a:t>But still it implies values are equally spaced out</a:t>
            </a:r>
          </a:p>
          <a:p>
            <a:endParaRPr lang="en-US" sz="2600" dirty="0"/>
          </a:p>
          <a:p>
            <a:pPr marL="118872" indent="0">
              <a:buNone/>
            </a:pPr>
            <a:endParaRPr lang="en-US" sz="2600" dirty="0"/>
          </a:p>
        </p:txBody>
      </p:sp>
      <p:sp>
        <p:nvSpPr>
          <p:cNvPr id="4" name="Date Placeholder 3">
            <a:extLst>
              <a:ext uri="{FF2B5EF4-FFF2-40B4-BE49-F238E27FC236}">
                <a16:creationId xmlns:a16="http://schemas.microsoft.com/office/drawing/2014/main" id="{D12FAE12-0C89-C847-AB48-A794A3B60917}"/>
              </a:ext>
            </a:extLst>
          </p:cNvPr>
          <p:cNvSpPr>
            <a:spLocks noGrp="1"/>
          </p:cNvSpPr>
          <p:nvPr>
            <p:ph type="dt" sz="half" idx="10"/>
          </p:nvPr>
        </p:nvSpPr>
        <p:spPr/>
        <p:txBody>
          <a:bodyPr/>
          <a:lstStyle/>
          <a:p>
            <a:fld id="{8ED2A23D-1DAA-9A4C-83F1-37A1A9C49157}" type="datetime1">
              <a:rPr lang="en-US" smtClean="0"/>
              <a:t>11/3/24</a:t>
            </a:fld>
            <a:endParaRPr lang="en-US"/>
          </a:p>
        </p:txBody>
      </p:sp>
      <p:sp>
        <p:nvSpPr>
          <p:cNvPr id="5" name="Footer Placeholder 4">
            <a:extLst>
              <a:ext uri="{FF2B5EF4-FFF2-40B4-BE49-F238E27FC236}">
                <a16:creationId xmlns:a16="http://schemas.microsoft.com/office/drawing/2014/main" id="{1CDDD06C-4CD7-5B4F-B568-377AC2C31D3E}"/>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353866C6-F0D9-0D47-8C0D-D0607416067A}"/>
              </a:ext>
            </a:extLst>
          </p:cNvPr>
          <p:cNvSpPr>
            <a:spLocks noGrp="1"/>
          </p:cNvSpPr>
          <p:nvPr>
            <p:ph type="sldNum" sz="quarter" idx="12"/>
          </p:nvPr>
        </p:nvSpPr>
        <p:spPr/>
        <p:txBody>
          <a:bodyPr/>
          <a:lstStyle/>
          <a:p>
            <a:fld id="{19B12225-5612-419B-A8D5-4B8EEE4C217E}" type="slidenum">
              <a:rPr lang="en-US" smtClean="0"/>
              <a:pPr/>
              <a:t>4</a:t>
            </a:fld>
            <a:endParaRPr lang="en-US"/>
          </a:p>
        </p:txBody>
      </p:sp>
      <p:pic>
        <p:nvPicPr>
          <p:cNvPr id="8" name="Picture 7">
            <a:extLst>
              <a:ext uri="{FF2B5EF4-FFF2-40B4-BE49-F238E27FC236}">
                <a16:creationId xmlns:a16="http://schemas.microsoft.com/office/drawing/2014/main" id="{A8B0B34C-338C-DF40-BAA9-96CA2063CC5C}"/>
              </a:ext>
            </a:extLst>
          </p:cNvPr>
          <p:cNvPicPr>
            <a:picLocks noChangeAspect="1"/>
          </p:cNvPicPr>
          <p:nvPr/>
        </p:nvPicPr>
        <p:blipFill>
          <a:blip r:embed="rId2"/>
          <a:stretch>
            <a:fillRect/>
          </a:stretch>
        </p:blipFill>
        <p:spPr>
          <a:xfrm>
            <a:off x="4640966" y="2667000"/>
            <a:ext cx="4489531" cy="2209800"/>
          </a:xfrm>
          <a:prstGeom prst="rect">
            <a:avLst/>
          </a:prstGeom>
        </p:spPr>
      </p:pic>
    </p:spTree>
    <p:extLst>
      <p:ext uri="{BB962C8B-B14F-4D97-AF65-F5344CB8AC3E}">
        <p14:creationId xmlns:p14="http://schemas.microsoft.com/office/powerpoint/2010/main" val="3761493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46C8E-D459-004E-A6F1-5BD372079AE1}"/>
              </a:ext>
            </a:extLst>
          </p:cNvPr>
          <p:cNvSpPr>
            <a:spLocks noGrp="1"/>
          </p:cNvSpPr>
          <p:nvPr>
            <p:ph type="title"/>
          </p:nvPr>
        </p:nvSpPr>
        <p:spPr/>
        <p:txBody>
          <a:bodyPr/>
          <a:lstStyle/>
          <a:p>
            <a:r>
              <a:rPr lang="en-US" dirty="0"/>
              <a:t>One-hot Encoding</a:t>
            </a:r>
          </a:p>
        </p:txBody>
      </p:sp>
      <p:sp>
        <p:nvSpPr>
          <p:cNvPr id="3" name="Content Placeholder 2">
            <a:extLst>
              <a:ext uri="{FF2B5EF4-FFF2-40B4-BE49-F238E27FC236}">
                <a16:creationId xmlns:a16="http://schemas.microsoft.com/office/drawing/2014/main" id="{C0BE455E-4666-BD43-9C36-E3D66D0A247B}"/>
              </a:ext>
            </a:extLst>
          </p:cNvPr>
          <p:cNvSpPr>
            <a:spLocks noGrp="1"/>
          </p:cNvSpPr>
          <p:nvPr>
            <p:ph idx="1"/>
          </p:nvPr>
        </p:nvSpPr>
        <p:spPr/>
        <p:txBody>
          <a:bodyPr>
            <a:normAutofit/>
          </a:bodyPr>
          <a:lstStyle/>
          <a:p>
            <a:r>
              <a:rPr lang="en-US" dirty="0"/>
              <a:t>First do integer encoding, then create a </a:t>
            </a:r>
            <a:r>
              <a:rPr lang="en-US" dirty="0">
                <a:solidFill>
                  <a:srgbClr val="D60093"/>
                </a:solidFill>
              </a:rPr>
              <a:t>binary vector </a:t>
            </a:r>
            <a:r>
              <a:rPr lang="en-US" dirty="0"/>
              <a:t>that represents the numerical values</a:t>
            </a:r>
          </a:p>
          <a:p>
            <a:pPr lvl="1"/>
            <a:r>
              <a:rPr lang="en-US" sz="2200" dirty="0"/>
              <a:t>Ex: following integer encoding on provider:</a:t>
            </a:r>
          </a:p>
          <a:p>
            <a:pPr marL="457200" lvl="1" indent="0">
              <a:buNone/>
            </a:pPr>
            <a:r>
              <a:rPr lang="en-US" sz="2200" dirty="0"/>
              <a:t>     Netflix -&gt; 1, Prime Video -&gt; 2, HBO Max -&gt;3 , Hulu -&gt; 4</a:t>
            </a:r>
          </a:p>
          <a:p>
            <a:pPr lvl="1"/>
            <a:r>
              <a:rPr lang="en-US" sz="2200" dirty="0"/>
              <a:t>create a binary vector of length 4 for each value:</a:t>
            </a:r>
          </a:p>
          <a:p>
            <a:pPr lvl="1"/>
            <a:endParaRPr lang="en-US" sz="2200" dirty="0"/>
          </a:p>
        </p:txBody>
      </p:sp>
      <p:sp>
        <p:nvSpPr>
          <p:cNvPr id="4" name="Date Placeholder 3">
            <a:extLst>
              <a:ext uri="{FF2B5EF4-FFF2-40B4-BE49-F238E27FC236}">
                <a16:creationId xmlns:a16="http://schemas.microsoft.com/office/drawing/2014/main" id="{C685CB84-BCCA-E54C-A15A-6095ABD09BC0}"/>
              </a:ext>
            </a:extLst>
          </p:cNvPr>
          <p:cNvSpPr>
            <a:spLocks noGrp="1"/>
          </p:cNvSpPr>
          <p:nvPr>
            <p:ph type="dt" sz="half" idx="10"/>
          </p:nvPr>
        </p:nvSpPr>
        <p:spPr/>
        <p:txBody>
          <a:bodyPr/>
          <a:lstStyle/>
          <a:p>
            <a:fld id="{34ACEBBF-21B4-8446-A1AF-2C4E8808AA66}" type="datetime1">
              <a:rPr lang="en-US" smtClean="0"/>
              <a:t>11/3/24</a:t>
            </a:fld>
            <a:endParaRPr lang="en-US"/>
          </a:p>
        </p:txBody>
      </p:sp>
      <p:sp>
        <p:nvSpPr>
          <p:cNvPr id="5" name="Footer Placeholder 4">
            <a:extLst>
              <a:ext uri="{FF2B5EF4-FFF2-40B4-BE49-F238E27FC236}">
                <a16:creationId xmlns:a16="http://schemas.microsoft.com/office/drawing/2014/main" id="{284112B2-2FAC-4045-B3B1-3FF010170BEB}"/>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EC0A7D8E-9E83-FE45-B4F5-42D9E7B9B1A2}"/>
              </a:ext>
            </a:extLst>
          </p:cNvPr>
          <p:cNvSpPr>
            <a:spLocks noGrp="1"/>
          </p:cNvSpPr>
          <p:nvPr>
            <p:ph type="sldNum" sz="quarter" idx="12"/>
          </p:nvPr>
        </p:nvSpPr>
        <p:spPr/>
        <p:txBody>
          <a:bodyPr/>
          <a:lstStyle/>
          <a:p>
            <a:fld id="{19B12225-5612-419B-A8D5-4B8EEE4C217E}" type="slidenum">
              <a:rPr lang="en-US" smtClean="0"/>
              <a:pPr/>
              <a:t>5</a:t>
            </a:fld>
            <a:endParaRPr lang="en-US"/>
          </a:p>
        </p:txBody>
      </p:sp>
      <p:sp>
        <p:nvSpPr>
          <p:cNvPr id="7" name="TextBox 6">
            <a:extLst>
              <a:ext uri="{FF2B5EF4-FFF2-40B4-BE49-F238E27FC236}">
                <a16:creationId xmlns:a16="http://schemas.microsoft.com/office/drawing/2014/main" id="{E063588D-A47F-AA45-A8F3-CF7282677A15}"/>
              </a:ext>
            </a:extLst>
          </p:cNvPr>
          <p:cNvSpPr txBox="1"/>
          <p:nvPr/>
        </p:nvSpPr>
        <p:spPr>
          <a:xfrm>
            <a:off x="4026571" y="4771089"/>
            <a:ext cx="2819400" cy="923330"/>
          </a:xfrm>
          <a:prstGeom prst="rect">
            <a:avLst/>
          </a:prstGeom>
          <a:noFill/>
        </p:spPr>
        <p:txBody>
          <a:bodyPr wrap="square" rtlCol="0">
            <a:spAutoFit/>
          </a:bodyPr>
          <a:lstStyle/>
          <a:p>
            <a:r>
              <a:rPr lang="en-US" dirty="0">
                <a:solidFill>
                  <a:srgbClr val="D60093"/>
                </a:solidFill>
                <a:latin typeface="Arial" pitchFamily="34" charset="0"/>
                <a:cs typeface="Arial" pitchFamily="34" charset="0"/>
              </a:rPr>
              <a:t>The integer encoding is the index into the vector</a:t>
            </a:r>
          </a:p>
          <a:p>
            <a:endParaRPr lang="en-US" dirty="0">
              <a:solidFill>
                <a:srgbClr val="D60093"/>
              </a:solidFill>
              <a:latin typeface="Arial" pitchFamily="34" charset="0"/>
              <a:cs typeface="Arial" pitchFamily="34" charset="0"/>
            </a:endParaRPr>
          </a:p>
        </p:txBody>
      </p:sp>
      <p:sp>
        <p:nvSpPr>
          <p:cNvPr id="8" name="Right Brace 7">
            <a:extLst>
              <a:ext uri="{FF2B5EF4-FFF2-40B4-BE49-F238E27FC236}">
                <a16:creationId xmlns:a16="http://schemas.microsoft.com/office/drawing/2014/main" id="{15AEBC41-C252-C04D-8F44-ED0C42145FC3}"/>
              </a:ext>
            </a:extLst>
          </p:cNvPr>
          <p:cNvSpPr/>
          <p:nvPr/>
        </p:nvSpPr>
        <p:spPr>
          <a:xfrm>
            <a:off x="3657600" y="4267200"/>
            <a:ext cx="152400" cy="1905000"/>
          </a:xfrm>
          <a:prstGeom prst="rightBrace">
            <a:avLst/>
          </a:prstGeom>
          <a:ln>
            <a:solidFill>
              <a:srgbClr val="D60093"/>
            </a:solidFill>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en-US"/>
          </a:p>
        </p:txBody>
      </p:sp>
      <p:graphicFrame>
        <p:nvGraphicFramePr>
          <p:cNvPr id="9" name="Table 9">
            <a:extLst>
              <a:ext uri="{FF2B5EF4-FFF2-40B4-BE49-F238E27FC236}">
                <a16:creationId xmlns:a16="http://schemas.microsoft.com/office/drawing/2014/main" id="{F34D1531-DBA4-844D-B1E2-1BCBCCF21B3A}"/>
              </a:ext>
            </a:extLst>
          </p:cNvPr>
          <p:cNvGraphicFramePr>
            <a:graphicFrameLocks noGrp="1"/>
          </p:cNvGraphicFramePr>
          <p:nvPr>
            <p:extLst>
              <p:ext uri="{D42A27DB-BD31-4B8C-83A1-F6EECF244321}">
                <p14:modId xmlns:p14="http://schemas.microsoft.com/office/powerpoint/2010/main" val="2093382985"/>
              </p:ext>
            </p:extLst>
          </p:nvPr>
        </p:nvGraphicFramePr>
        <p:xfrm>
          <a:off x="2019300" y="4267200"/>
          <a:ext cx="1371600" cy="365760"/>
        </p:xfrm>
        <a:graphic>
          <a:graphicData uri="http://schemas.openxmlformats.org/drawingml/2006/table">
            <a:tbl>
              <a:tblPr firstRow="1" bandRow="1">
                <a:tableStyleId>{5940675A-B579-460E-94D1-54222C63F5DA}</a:tableStyleId>
              </a:tblPr>
              <a:tblGrid>
                <a:gridCol w="342900">
                  <a:extLst>
                    <a:ext uri="{9D8B030D-6E8A-4147-A177-3AD203B41FA5}">
                      <a16:colId xmlns:a16="http://schemas.microsoft.com/office/drawing/2014/main" val="1646841727"/>
                    </a:ext>
                  </a:extLst>
                </a:gridCol>
                <a:gridCol w="342900">
                  <a:extLst>
                    <a:ext uri="{9D8B030D-6E8A-4147-A177-3AD203B41FA5}">
                      <a16:colId xmlns:a16="http://schemas.microsoft.com/office/drawing/2014/main" val="2348150449"/>
                    </a:ext>
                  </a:extLst>
                </a:gridCol>
                <a:gridCol w="342900">
                  <a:extLst>
                    <a:ext uri="{9D8B030D-6E8A-4147-A177-3AD203B41FA5}">
                      <a16:colId xmlns:a16="http://schemas.microsoft.com/office/drawing/2014/main" val="2049976831"/>
                    </a:ext>
                  </a:extLst>
                </a:gridCol>
                <a:gridCol w="342900">
                  <a:extLst>
                    <a:ext uri="{9D8B030D-6E8A-4147-A177-3AD203B41FA5}">
                      <a16:colId xmlns:a16="http://schemas.microsoft.com/office/drawing/2014/main" val="1394392832"/>
                    </a:ext>
                  </a:extLst>
                </a:gridCol>
              </a:tblGrid>
              <a:tr h="248921">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2135864966"/>
                  </a:ext>
                </a:extLst>
              </a:tr>
            </a:tbl>
          </a:graphicData>
        </a:graphic>
      </p:graphicFrame>
      <p:sp>
        <p:nvSpPr>
          <p:cNvPr id="10" name="TextBox 9">
            <a:extLst>
              <a:ext uri="{FF2B5EF4-FFF2-40B4-BE49-F238E27FC236}">
                <a16:creationId xmlns:a16="http://schemas.microsoft.com/office/drawing/2014/main" id="{BE321034-F243-1340-B1FF-3CBB7216658C}"/>
              </a:ext>
            </a:extLst>
          </p:cNvPr>
          <p:cNvSpPr txBox="1"/>
          <p:nvPr/>
        </p:nvSpPr>
        <p:spPr>
          <a:xfrm>
            <a:off x="838200" y="4267200"/>
            <a:ext cx="990600" cy="323165"/>
          </a:xfrm>
          <a:prstGeom prst="rect">
            <a:avLst/>
          </a:prstGeom>
          <a:noFill/>
        </p:spPr>
        <p:txBody>
          <a:bodyPr wrap="square" rtlCol="0">
            <a:spAutoFit/>
          </a:bodyPr>
          <a:lstStyle/>
          <a:p>
            <a:r>
              <a:rPr lang="en-US" sz="1500" dirty="0">
                <a:latin typeface="Arial" pitchFamily="34" charset="0"/>
                <a:cs typeface="Arial" pitchFamily="34" charset="0"/>
              </a:rPr>
              <a:t>Netflix</a:t>
            </a:r>
          </a:p>
        </p:txBody>
      </p:sp>
      <p:graphicFrame>
        <p:nvGraphicFramePr>
          <p:cNvPr id="11" name="Table 9">
            <a:extLst>
              <a:ext uri="{FF2B5EF4-FFF2-40B4-BE49-F238E27FC236}">
                <a16:creationId xmlns:a16="http://schemas.microsoft.com/office/drawing/2014/main" id="{17958738-A48A-A144-B18B-1FD0F583AD7E}"/>
              </a:ext>
            </a:extLst>
          </p:cNvPr>
          <p:cNvGraphicFramePr>
            <a:graphicFrameLocks noGrp="1"/>
          </p:cNvGraphicFramePr>
          <p:nvPr>
            <p:extLst>
              <p:ext uri="{D42A27DB-BD31-4B8C-83A1-F6EECF244321}">
                <p14:modId xmlns:p14="http://schemas.microsoft.com/office/powerpoint/2010/main" val="2858555171"/>
              </p:ext>
            </p:extLst>
          </p:nvPr>
        </p:nvGraphicFramePr>
        <p:xfrm>
          <a:off x="2019300" y="4736068"/>
          <a:ext cx="1371600" cy="365760"/>
        </p:xfrm>
        <a:graphic>
          <a:graphicData uri="http://schemas.openxmlformats.org/drawingml/2006/table">
            <a:tbl>
              <a:tblPr firstRow="1" bandRow="1">
                <a:tableStyleId>{5940675A-B579-460E-94D1-54222C63F5DA}</a:tableStyleId>
              </a:tblPr>
              <a:tblGrid>
                <a:gridCol w="342900">
                  <a:extLst>
                    <a:ext uri="{9D8B030D-6E8A-4147-A177-3AD203B41FA5}">
                      <a16:colId xmlns:a16="http://schemas.microsoft.com/office/drawing/2014/main" val="1646841727"/>
                    </a:ext>
                  </a:extLst>
                </a:gridCol>
                <a:gridCol w="342900">
                  <a:extLst>
                    <a:ext uri="{9D8B030D-6E8A-4147-A177-3AD203B41FA5}">
                      <a16:colId xmlns:a16="http://schemas.microsoft.com/office/drawing/2014/main" val="2348150449"/>
                    </a:ext>
                  </a:extLst>
                </a:gridCol>
                <a:gridCol w="342900">
                  <a:extLst>
                    <a:ext uri="{9D8B030D-6E8A-4147-A177-3AD203B41FA5}">
                      <a16:colId xmlns:a16="http://schemas.microsoft.com/office/drawing/2014/main" val="2049976831"/>
                    </a:ext>
                  </a:extLst>
                </a:gridCol>
                <a:gridCol w="342900">
                  <a:extLst>
                    <a:ext uri="{9D8B030D-6E8A-4147-A177-3AD203B41FA5}">
                      <a16:colId xmlns:a16="http://schemas.microsoft.com/office/drawing/2014/main" val="1394392832"/>
                    </a:ext>
                  </a:extLst>
                </a:gridCol>
              </a:tblGrid>
              <a:tr h="248921">
                <a:tc>
                  <a:txBody>
                    <a:bodyPr/>
                    <a:lstStyle/>
                    <a:p>
                      <a:r>
                        <a:rPr lang="en-US" dirty="0"/>
                        <a:t>0</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2135864966"/>
                  </a:ext>
                </a:extLst>
              </a:tr>
            </a:tbl>
          </a:graphicData>
        </a:graphic>
      </p:graphicFrame>
      <p:sp>
        <p:nvSpPr>
          <p:cNvPr id="12" name="TextBox 11">
            <a:extLst>
              <a:ext uri="{FF2B5EF4-FFF2-40B4-BE49-F238E27FC236}">
                <a16:creationId xmlns:a16="http://schemas.microsoft.com/office/drawing/2014/main" id="{F91CD4D7-0398-D740-8132-D30985E6D3F6}"/>
              </a:ext>
            </a:extLst>
          </p:cNvPr>
          <p:cNvSpPr txBox="1"/>
          <p:nvPr/>
        </p:nvSpPr>
        <p:spPr>
          <a:xfrm>
            <a:off x="776438" y="4748630"/>
            <a:ext cx="1371600" cy="323165"/>
          </a:xfrm>
          <a:prstGeom prst="rect">
            <a:avLst/>
          </a:prstGeom>
          <a:noFill/>
        </p:spPr>
        <p:txBody>
          <a:bodyPr wrap="square" rtlCol="0">
            <a:spAutoFit/>
          </a:bodyPr>
          <a:lstStyle/>
          <a:p>
            <a:r>
              <a:rPr lang="en-US" sz="1500" dirty="0">
                <a:latin typeface="Arial" pitchFamily="34" charset="0"/>
                <a:cs typeface="Arial" pitchFamily="34" charset="0"/>
              </a:rPr>
              <a:t>Prime Video</a:t>
            </a:r>
          </a:p>
        </p:txBody>
      </p:sp>
      <p:graphicFrame>
        <p:nvGraphicFramePr>
          <p:cNvPr id="13" name="Table 9">
            <a:extLst>
              <a:ext uri="{FF2B5EF4-FFF2-40B4-BE49-F238E27FC236}">
                <a16:creationId xmlns:a16="http://schemas.microsoft.com/office/drawing/2014/main" id="{53C0F586-237D-C548-9CFC-319079BFCD97}"/>
              </a:ext>
            </a:extLst>
          </p:cNvPr>
          <p:cNvGraphicFramePr>
            <a:graphicFrameLocks noGrp="1"/>
          </p:cNvGraphicFramePr>
          <p:nvPr>
            <p:extLst>
              <p:ext uri="{D42A27DB-BD31-4B8C-83A1-F6EECF244321}">
                <p14:modId xmlns:p14="http://schemas.microsoft.com/office/powerpoint/2010/main" val="1182054007"/>
              </p:ext>
            </p:extLst>
          </p:nvPr>
        </p:nvGraphicFramePr>
        <p:xfrm>
          <a:off x="2019300" y="5257800"/>
          <a:ext cx="1371600" cy="365760"/>
        </p:xfrm>
        <a:graphic>
          <a:graphicData uri="http://schemas.openxmlformats.org/drawingml/2006/table">
            <a:tbl>
              <a:tblPr firstRow="1" bandRow="1">
                <a:tableStyleId>{5940675A-B579-460E-94D1-54222C63F5DA}</a:tableStyleId>
              </a:tblPr>
              <a:tblGrid>
                <a:gridCol w="342900">
                  <a:extLst>
                    <a:ext uri="{9D8B030D-6E8A-4147-A177-3AD203B41FA5}">
                      <a16:colId xmlns:a16="http://schemas.microsoft.com/office/drawing/2014/main" val="1646841727"/>
                    </a:ext>
                  </a:extLst>
                </a:gridCol>
                <a:gridCol w="342900">
                  <a:extLst>
                    <a:ext uri="{9D8B030D-6E8A-4147-A177-3AD203B41FA5}">
                      <a16:colId xmlns:a16="http://schemas.microsoft.com/office/drawing/2014/main" val="2348150449"/>
                    </a:ext>
                  </a:extLst>
                </a:gridCol>
                <a:gridCol w="342900">
                  <a:extLst>
                    <a:ext uri="{9D8B030D-6E8A-4147-A177-3AD203B41FA5}">
                      <a16:colId xmlns:a16="http://schemas.microsoft.com/office/drawing/2014/main" val="2049976831"/>
                    </a:ext>
                  </a:extLst>
                </a:gridCol>
                <a:gridCol w="342900">
                  <a:extLst>
                    <a:ext uri="{9D8B030D-6E8A-4147-A177-3AD203B41FA5}">
                      <a16:colId xmlns:a16="http://schemas.microsoft.com/office/drawing/2014/main" val="1394392832"/>
                    </a:ext>
                  </a:extLst>
                </a:gridCol>
              </a:tblGrid>
              <a:tr h="248921">
                <a:tc>
                  <a:txBody>
                    <a:bodyPr/>
                    <a:lstStyle/>
                    <a:p>
                      <a:r>
                        <a:rPr lang="en-US" dirty="0"/>
                        <a:t>0</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2135864966"/>
                  </a:ext>
                </a:extLst>
              </a:tr>
            </a:tbl>
          </a:graphicData>
        </a:graphic>
      </p:graphicFrame>
      <p:sp>
        <p:nvSpPr>
          <p:cNvPr id="14" name="TextBox 13">
            <a:extLst>
              <a:ext uri="{FF2B5EF4-FFF2-40B4-BE49-F238E27FC236}">
                <a16:creationId xmlns:a16="http://schemas.microsoft.com/office/drawing/2014/main" id="{07D3807D-EFAC-FA49-8E2A-2473B79F202C}"/>
              </a:ext>
            </a:extLst>
          </p:cNvPr>
          <p:cNvSpPr txBox="1"/>
          <p:nvPr/>
        </p:nvSpPr>
        <p:spPr>
          <a:xfrm>
            <a:off x="838200" y="5257800"/>
            <a:ext cx="1143000" cy="323165"/>
          </a:xfrm>
          <a:prstGeom prst="rect">
            <a:avLst/>
          </a:prstGeom>
          <a:noFill/>
        </p:spPr>
        <p:txBody>
          <a:bodyPr wrap="square" rtlCol="0">
            <a:spAutoFit/>
          </a:bodyPr>
          <a:lstStyle/>
          <a:p>
            <a:r>
              <a:rPr lang="en-US" sz="1500" dirty="0">
                <a:latin typeface="Arial" pitchFamily="34" charset="0"/>
                <a:cs typeface="Arial" pitchFamily="34" charset="0"/>
              </a:rPr>
              <a:t>HBO Max</a:t>
            </a:r>
          </a:p>
        </p:txBody>
      </p:sp>
      <p:graphicFrame>
        <p:nvGraphicFramePr>
          <p:cNvPr id="15" name="Table 9">
            <a:extLst>
              <a:ext uri="{FF2B5EF4-FFF2-40B4-BE49-F238E27FC236}">
                <a16:creationId xmlns:a16="http://schemas.microsoft.com/office/drawing/2014/main" id="{005DA6BC-6EE8-B244-9865-359E3CCB3261}"/>
              </a:ext>
            </a:extLst>
          </p:cNvPr>
          <p:cNvGraphicFramePr>
            <a:graphicFrameLocks noGrp="1"/>
          </p:cNvGraphicFramePr>
          <p:nvPr>
            <p:extLst>
              <p:ext uri="{D42A27DB-BD31-4B8C-83A1-F6EECF244321}">
                <p14:modId xmlns:p14="http://schemas.microsoft.com/office/powerpoint/2010/main" val="2775821808"/>
              </p:ext>
            </p:extLst>
          </p:nvPr>
        </p:nvGraphicFramePr>
        <p:xfrm>
          <a:off x="2019300" y="5726668"/>
          <a:ext cx="1371600" cy="365760"/>
        </p:xfrm>
        <a:graphic>
          <a:graphicData uri="http://schemas.openxmlformats.org/drawingml/2006/table">
            <a:tbl>
              <a:tblPr firstRow="1" bandRow="1">
                <a:tableStyleId>{5940675A-B579-460E-94D1-54222C63F5DA}</a:tableStyleId>
              </a:tblPr>
              <a:tblGrid>
                <a:gridCol w="342900">
                  <a:extLst>
                    <a:ext uri="{9D8B030D-6E8A-4147-A177-3AD203B41FA5}">
                      <a16:colId xmlns:a16="http://schemas.microsoft.com/office/drawing/2014/main" val="1646841727"/>
                    </a:ext>
                  </a:extLst>
                </a:gridCol>
                <a:gridCol w="342900">
                  <a:extLst>
                    <a:ext uri="{9D8B030D-6E8A-4147-A177-3AD203B41FA5}">
                      <a16:colId xmlns:a16="http://schemas.microsoft.com/office/drawing/2014/main" val="2348150449"/>
                    </a:ext>
                  </a:extLst>
                </a:gridCol>
                <a:gridCol w="342900">
                  <a:extLst>
                    <a:ext uri="{9D8B030D-6E8A-4147-A177-3AD203B41FA5}">
                      <a16:colId xmlns:a16="http://schemas.microsoft.com/office/drawing/2014/main" val="2049976831"/>
                    </a:ext>
                  </a:extLst>
                </a:gridCol>
                <a:gridCol w="342900">
                  <a:extLst>
                    <a:ext uri="{9D8B030D-6E8A-4147-A177-3AD203B41FA5}">
                      <a16:colId xmlns:a16="http://schemas.microsoft.com/office/drawing/2014/main" val="1394392832"/>
                    </a:ext>
                  </a:extLst>
                </a:gridCol>
              </a:tblGrid>
              <a:tr h="248921">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2135864966"/>
                  </a:ext>
                </a:extLst>
              </a:tr>
            </a:tbl>
          </a:graphicData>
        </a:graphic>
      </p:graphicFrame>
      <p:sp>
        <p:nvSpPr>
          <p:cNvPr id="16" name="TextBox 15">
            <a:extLst>
              <a:ext uri="{FF2B5EF4-FFF2-40B4-BE49-F238E27FC236}">
                <a16:creationId xmlns:a16="http://schemas.microsoft.com/office/drawing/2014/main" id="{17BB2076-A196-3B4D-966F-B454B8E97C39}"/>
              </a:ext>
            </a:extLst>
          </p:cNvPr>
          <p:cNvSpPr txBox="1"/>
          <p:nvPr/>
        </p:nvSpPr>
        <p:spPr>
          <a:xfrm>
            <a:off x="838200" y="5726668"/>
            <a:ext cx="990600" cy="323165"/>
          </a:xfrm>
          <a:prstGeom prst="rect">
            <a:avLst/>
          </a:prstGeom>
          <a:noFill/>
        </p:spPr>
        <p:txBody>
          <a:bodyPr wrap="square" rtlCol="0">
            <a:spAutoFit/>
          </a:bodyPr>
          <a:lstStyle/>
          <a:p>
            <a:r>
              <a:rPr lang="en-US" sz="1500" dirty="0">
                <a:latin typeface="Arial" pitchFamily="34" charset="0"/>
                <a:cs typeface="Arial" pitchFamily="34" charset="0"/>
              </a:rPr>
              <a:t>Hulu</a:t>
            </a:r>
          </a:p>
        </p:txBody>
      </p:sp>
    </p:spTree>
    <p:extLst>
      <p:ext uri="{BB962C8B-B14F-4D97-AF65-F5344CB8AC3E}">
        <p14:creationId xmlns:p14="http://schemas.microsoft.com/office/powerpoint/2010/main" val="3455086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9D575-357F-8E4F-9603-E3EE71F48724}"/>
              </a:ext>
            </a:extLst>
          </p:cNvPr>
          <p:cNvSpPr>
            <a:spLocks noGrp="1"/>
          </p:cNvSpPr>
          <p:nvPr>
            <p:ph type="title"/>
          </p:nvPr>
        </p:nvSpPr>
        <p:spPr/>
        <p:txBody>
          <a:bodyPr/>
          <a:lstStyle/>
          <a:p>
            <a:r>
              <a:rPr lang="en-US" dirty="0"/>
              <a:t>Multi-hot Encoding</a:t>
            </a:r>
          </a:p>
        </p:txBody>
      </p:sp>
      <p:sp>
        <p:nvSpPr>
          <p:cNvPr id="3" name="Content Placeholder 2">
            <a:extLst>
              <a:ext uri="{FF2B5EF4-FFF2-40B4-BE49-F238E27FC236}">
                <a16:creationId xmlns:a16="http://schemas.microsoft.com/office/drawing/2014/main" id="{3DBC537C-E0A0-384B-92FD-FDC6D39350D7}"/>
              </a:ext>
            </a:extLst>
          </p:cNvPr>
          <p:cNvSpPr>
            <a:spLocks noGrp="1"/>
          </p:cNvSpPr>
          <p:nvPr>
            <p:ph idx="1"/>
          </p:nvPr>
        </p:nvSpPr>
        <p:spPr/>
        <p:txBody>
          <a:bodyPr>
            <a:normAutofit/>
          </a:bodyPr>
          <a:lstStyle/>
          <a:p>
            <a:r>
              <a:rPr lang="en-US" sz="3000" dirty="0"/>
              <a:t>An extension of one-hot encoding when categorical variable can take </a:t>
            </a:r>
            <a:r>
              <a:rPr lang="en-US" sz="3000" dirty="0">
                <a:solidFill>
                  <a:srgbClr val="D60093"/>
                </a:solidFill>
              </a:rPr>
              <a:t>multiple </a:t>
            </a:r>
          </a:p>
          <a:p>
            <a:pPr marL="118872" indent="0">
              <a:buNone/>
            </a:pPr>
            <a:r>
              <a:rPr lang="en-US" sz="3000" dirty="0">
                <a:solidFill>
                  <a:srgbClr val="D60093"/>
                </a:solidFill>
              </a:rPr>
              <a:t>    values at the same time</a:t>
            </a:r>
          </a:p>
          <a:p>
            <a:pPr lvl="1"/>
            <a:r>
              <a:rPr lang="en-US" sz="2200" dirty="0"/>
              <a:t>Ex: There are 28 distinct IMDB genres </a:t>
            </a:r>
          </a:p>
          <a:p>
            <a:pPr marL="457200" lvl="1" indent="0">
              <a:buNone/>
            </a:pPr>
            <a:r>
              <a:rPr lang="en-US" sz="2200" dirty="0"/>
              <a:t>a movie can take multiple genres, e.g. </a:t>
            </a:r>
            <a:r>
              <a:rPr lang="en-US" sz="2200" i="1" dirty="0"/>
              <a:t>stranger things </a:t>
            </a:r>
          </a:p>
          <a:p>
            <a:pPr marL="457200" lvl="1" indent="0">
              <a:buNone/>
            </a:pPr>
            <a:r>
              <a:rPr lang="en-US" sz="2200" i="1" dirty="0"/>
              <a:t>is drama, fantasy, horror.</a:t>
            </a:r>
          </a:p>
          <a:p>
            <a:pPr marL="118872" indent="0">
              <a:buNone/>
            </a:pPr>
            <a:endParaRPr lang="en-US" dirty="0">
              <a:solidFill>
                <a:srgbClr val="D60093"/>
              </a:solidFill>
            </a:endParaRPr>
          </a:p>
          <a:p>
            <a:endParaRPr lang="en-US" dirty="0"/>
          </a:p>
          <a:p>
            <a:pPr marL="118872" indent="0">
              <a:buNone/>
            </a:pPr>
            <a:endParaRPr lang="en-US" dirty="0"/>
          </a:p>
        </p:txBody>
      </p:sp>
      <p:sp>
        <p:nvSpPr>
          <p:cNvPr id="4" name="Date Placeholder 3">
            <a:extLst>
              <a:ext uri="{FF2B5EF4-FFF2-40B4-BE49-F238E27FC236}">
                <a16:creationId xmlns:a16="http://schemas.microsoft.com/office/drawing/2014/main" id="{9BDD6799-A02D-5D47-9976-9F62A8C8B303}"/>
              </a:ext>
            </a:extLst>
          </p:cNvPr>
          <p:cNvSpPr>
            <a:spLocks noGrp="1"/>
          </p:cNvSpPr>
          <p:nvPr>
            <p:ph type="dt" sz="half" idx="10"/>
          </p:nvPr>
        </p:nvSpPr>
        <p:spPr/>
        <p:txBody>
          <a:bodyPr/>
          <a:lstStyle/>
          <a:p>
            <a:fld id="{38AE1249-37C4-4740-9F0D-577A4B463B6B}" type="datetime1">
              <a:rPr lang="en-US" smtClean="0"/>
              <a:t>11/3/24</a:t>
            </a:fld>
            <a:endParaRPr lang="en-US"/>
          </a:p>
        </p:txBody>
      </p:sp>
      <p:sp>
        <p:nvSpPr>
          <p:cNvPr id="5" name="Footer Placeholder 4">
            <a:extLst>
              <a:ext uri="{FF2B5EF4-FFF2-40B4-BE49-F238E27FC236}">
                <a16:creationId xmlns:a16="http://schemas.microsoft.com/office/drawing/2014/main" id="{741E6B0C-35F3-B345-8615-5DD1D3DC80DC}"/>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F0287082-5078-1D4D-BD17-DB99B86E1541}"/>
              </a:ext>
            </a:extLst>
          </p:cNvPr>
          <p:cNvSpPr>
            <a:spLocks noGrp="1"/>
          </p:cNvSpPr>
          <p:nvPr>
            <p:ph type="sldNum" sz="quarter" idx="12"/>
          </p:nvPr>
        </p:nvSpPr>
        <p:spPr/>
        <p:txBody>
          <a:bodyPr/>
          <a:lstStyle/>
          <a:p>
            <a:fld id="{19B12225-5612-419B-A8D5-4B8EEE4C217E}" type="slidenum">
              <a:rPr lang="en-US" smtClean="0"/>
              <a:pPr/>
              <a:t>6</a:t>
            </a:fld>
            <a:endParaRPr lang="en-US"/>
          </a:p>
        </p:txBody>
      </p:sp>
      <p:pic>
        <p:nvPicPr>
          <p:cNvPr id="8" name="Picture 7">
            <a:extLst>
              <a:ext uri="{FF2B5EF4-FFF2-40B4-BE49-F238E27FC236}">
                <a16:creationId xmlns:a16="http://schemas.microsoft.com/office/drawing/2014/main" id="{649F8772-1899-EC4A-BEDE-CD52BFECADB0}"/>
              </a:ext>
            </a:extLst>
          </p:cNvPr>
          <p:cNvPicPr>
            <a:picLocks noChangeAspect="1"/>
          </p:cNvPicPr>
          <p:nvPr/>
        </p:nvPicPr>
        <p:blipFill>
          <a:blip r:embed="rId2"/>
          <a:stretch>
            <a:fillRect/>
          </a:stretch>
        </p:blipFill>
        <p:spPr>
          <a:xfrm>
            <a:off x="7239000" y="1437644"/>
            <a:ext cx="1802983" cy="5257801"/>
          </a:xfrm>
          <a:prstGeom prst="rect">
            <a:avLst/>
          </a:prstGeom>
          <a:solidFill>
            <a:srgbClr val="FFFFFF">
              <a:shade val="85000"/>
            </a:srgbClr>
          </a:solidFill>
          <a:ln w="19050" cap="sq">
            <a:solidFill>
              <a:srgbClr val="0000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0" name="TextBox 9">
            <a:extLst>
              <a:ext uri="{FF2B5EF4-FFF2-40B4-BE49-F238E27FC236}">
                <a16:creationId xmlns:a16="http://schemas.microsoft.com/office/drawing/2014/main" id="{CAB2E654-9AE4-A74C-8587-ED54EE290371}"/>
              </a:ext>
            </a:extLst>
          </p:cNvPr>
          <p:cNvSpPr txBox="1"/>
          <p:nvPr/>
        </p:nvSpPr>
        <p:spPr>
          <a:xfrm>
            <a:off x="151579" y="4274553"/>
            <a:ext cx="1171475" cy="553998"/>
          </a:xfrm>
          <a:prstGeom prst="rect">
            <a:avLst/>
          </a:prstGeom>
          <a:noFill/>
        </p:spPr>
        <p:txBody>
          <a:bodyPr wrap="square" rtlCol="0">
            <a:spAutoFit/>
          </a:bodyPr>
          <a:lstStyle/>
          <a:p>
            <a:pPr algn="ctr"/>
            <a:r>
              <a:rPr lang="en-US" sz="1500" dirty="0">
                <a:solidFill>
                  <a:srgbClr val="FF0066"/>
                </a:solidFill>
                <a:latin typeface="Arial" pitchFamily="34" charset="0"/>
                <a:cs typeface="Arial" pitchFamily="34" charset="0"/>
              </a:rPr>
              <a:t>Stranger things</a:t>
            </a:r>
          </a:p>
        </p:txBody>
      </p:sp>
      <p:graphicFrame>
        <p:nvGraphicFramePr>
          <p:cNvPr id="11" name="Table 11">
            <a:extLst>
              <a:ext uri="{FF2B5EF4-FFF2-40B4-BE49-F238E27FC236}">
                <a16:creationId xmlns:a16="http://schemas.microsoft.com/office/drawing/2014/main" id="{4CBB5579-532A-C946-8DBF-2EA099217E83}"/>
              </a:ext>
            </a:extLst>
          </p:cNvPr>
          <p:cNvGraphicFramePr>
            <a:graphicFrameLocks noGrp="1"/>
          </p:cNvGraphicFramePr>
          <p:nvPr>
            <p:extLst>
              <p:ext uri="{D42A27DB-BD31-4B8C-83A1-F6EECF244321}">
                <p14:modId xmlns:p14="http://schemas.microsoft.com/office/powerpoint/2010/main" val="4216464176"/>
              </p:ext>
            </p:extLst>
          </p:nvPr>
        </p:nvGraphicFramePr>
        <p:xfrm>
          <a:off x="1203559" y="4345822"/>
          <a:ext cx="5831840" cy="36576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862581437"/>
                    </a:ext>
                  </a:extLst>
                </a:gridCol>
                <a:gridCol w="208280">
                  <a:extLst>
                    <a:ext uri="{9D8B030D-6E8A-4147-A177-3AD203B41FA5}">
                      <a16:colId xmlns:a16="http://schemas.microsoft.com/office/drawing/2014/main" val="542799575"/>
                    </a:ext>
                  </a:extLst>
                </a:gridCol>
                <a:gridCol w="208280">
                  <a:extLst>
                    <a:ext uri="{9D8B030D-6E8A-4147-A177-3AD203B41FA5}">
                      <a16:colId xmlns:a16="http://schemas.microsoft.com/office/drawing/2014/main" val="2017771861"/>
                    </a:ext>
                  </a:extLst>
                </a:gridCol>
                <a:gridCol w="208280">
                  <a:extLst>
                    <a:ext uri="{9D8B030D-6E8A-4147-A177-3AD203B41FA5}">
                      <a16:colId xmlns:a16="http://schemas.microsoft.com/office/drawing/2014/main" val="3872363045"/>
                    </a:ext>
                  </a:extLst>
                </a:gridCol>
                <a:gridCol w="208280">
                  <a:extLst>
                    <a:ext uri="{9D8B030D-6E8A-4147-A177-3AD203B41FA5}">
                      <a16:colId xmlns:a16="http://schemas.microsoft.com/office/drawing/2014/main" val="1416825768"/>
                    </a:ext>
                  </a:extLst>
                </a:gridCol>
                <a:gridCol w="208280">
                  <a:extLst>
                    <a:ext uri="{9D8B030D-6E8A-4147-A177-3AD203B41FA5}">
                      <a16:colId xmlns:a16="http://schemas.microsoft.com/office/drawing/2014/main" val="4112344660"/>
                    </a:ext>
                  </a:extLst>
                </a:gridCol>
                <a:gridCol w="208280">
                  <a:extLst>
                    <a:ext uri="{9D8B030D-6E8A-4147-A177-3AD203B41FA5}">
                      <a16:colId xmlns:a16="http://schemas.microsoft.com/office/drawing/2014/main" val="1562132188"/>
                    </a:ext>
                  </a:extLst>
                </a:gridCol>
                <a:gridCol w="208280">
                  <a:extLst>
                    <a:ext uri="{9D8B030D-6E8A-4147-A177-3AD203B41FA5}">
                      <a16:colId xmlns:a16="http://schemas.microsoft.com/office/drawing/2014/main" val="1680699977"/>
                    </a:ext>
                  </a:extLst>
                </a:gridCol>
                <a:gridCol w="208280">
                  <a:extLst>
                    <a:ext uri="{9D8B030D-6E8A-4147-A177-3AD203B41FA5}">
                      <a16:colId xmlns:a16="http://schemas.microsoft.com/office/drawing/2014/main" val="1727741282"/>
                    </a:ext>
                  </a:extLst>
                </a:gridCol>
                <a:gridCol w="208280">
                  <a:extLst>
                    <a:ext uri="{9D8B030D-6E8A-4147-A177-3AD203B41FA5}">
                      <a16:colId xmlns:a16="http://schemas.microsoft.com/office/drawing/2014/main" val="3008018322"/>
                    </a:ext>
                  </a:extLst>
                </a:gridCol>
                <a:gridCol w="208280">
                  <a:extLst>
                    <a:ext uri="{9D8B030D-6E8A-4147-A177-3AD203B41FA5}">
                      <a16:colId xmlns:a16="http://schemas.microsoft.com/office/drawing/2014/main" val="1827219844"/>
                    </a:ext>
                  </a:extLst>
                </a:gridCol>
                <a:gridCol w="208280">
                  <a:extLst>
                    <a:ext uri="{9D8B030D-6E8A-4147-A177-3AD203B41FA5}">
                      <a16:colId xmlns:a16="http://schemas.microsoft.com/office/drawing/2014/main" val="2749434627"/>
                    </a:ext>
                  </a:extLst>
                </a:gridCol>
                <a:gridCol w="208280">
                  <a:extLst>
                    <a:ext uri="{9D8B030D-6E8A-4147-A177-3AD203B41FA5}">
                      <a16:colId xmlns:a16="http://schemas.microsoft.com/office/drawing/2014/main" val="3527777149"/>
                    </a:ext>
                  </a:extLst>
                </a:gridCol>
                <a:gridCol w="208280">
                  <a:extLst>
                    <a:ext uri="{9D8B030D-6E8A-4147-A177-3AD203B41FA5}">
                      <a16:colId xmlns:a16="http://schemas.microsoft.com/office/drawing/2014/main" val="3503061559"/>
                    </a:ext>
                  </a:extLst>
                </a:gridCol>
                <a:gridCol w="208280">
                  <a:extLst>
                    <a:ext uri="{9D8B030D-6E8A-4147-A177-3AD203B41FA5}">
                      <a16:colId xmlns:a16="http://schemas.microsoft.com/office/drawing/2014/main" val="3111334691"/>
                    </a:ext>
                  </a:extLst>
                </a:gridCol>
                <a:gridCol w="208280">
                  <a:extLst>
                    <a:ext uri="{9D8B030D-6E8A-4147-A177-3AD203B41FA5}">
                      <a16:colId xmlns:a16="http://schemas.microsoft.com/office/drawing/2014/main" val="1795558087"/>
                    </a:ext>
                  </a:extLst>
                </a:gridCol>
                <a:gridCol w="208280">
                  <a:extLst>
                    <a:ext uri="{9D8B030D-6E8A-4147-A177-3AD203B41FA5}">
                      <a16:colId xmlns:a16="http://schemas.microsoft.com/office/drawing/2014/main" val="19639808"/>
                    </a:ext>
                  </a:extLst>
                </a:gridCol>
                <a:gridCol w="208280">
                  <a:extLst>
                    <a:ext uri="{9D8B030D-6E8A-4147-A177-3AD203B41FA5}">
                      <a16:colId xmlns:a16="http://schemas.microsoft.com/office/drawing/2014/main" val="3052112526"/>
                    </a:ext>
                  </a:extLst>
                </a:gridCol>
                <a:gridCol w="208280">
                  <a:extLst>
                    <a:ext uri="{9D8B030D-6E8A-4147-A177-3AD203B41FA5}">
                      <a16:colId xmlns:a16="http://schemas.microsoft.com/office/drawing/2014/main" val="112986972"/>
                    </a:ext>
                  </a:extLst>
                </a:gridCol>
                <a:gridCol w="208280">
                  <a:extLst>
                    <a:ext uri="{9D8B030D-6E8A-4147-A177-3AD203B41FA5}">
                      <a16:colId xmlns:a16="http://schemas.microsoft.com/office/drawing/2014/main" val="3348471992"/>
                    </a:ext>
                  </a:extLst>
                </a:gridCol>
                <a:gridCol w="208280">
                  <a:extLst>
                    <a:ext uri="{9D8B030D-6E8A-4147-A177-3AD203B41FA5}">
                      <a16:colId xmlns:a16="http://schemas.microsoft.com/office/drawing/2014/main" val="3280489927"/>
                    </a:ext>
                  </a:extLst>
                </a:gridCol>
                <a:gridCol w="208280">
                  <a:extLst>
                    <a:ext uri="{9D8B030D-6E8A-4147-A177-3AD203B41FA5}">
                      <a16:colId xmlns:a16="http://schemas.microsoft.com/office/drawing/2014/main" val="2012949713"/>
                    </a:ext>
                  </a:extLst>
                </a:gridCol>
                <a:gridCol w="208280">
                  <a:extLst>
                    <a:ext uri="{9D8B030D-6E8A-4147-A177-3AD203B41FA5}">
                      <a16:colId xmlns:a16="http://schemas.microsoft.com/office/drawing/2014/main" val="3697583002"/>
                    </a:ext>
                  </a:extLst>
                </a:gridCol>
                <a:gridCol w="208280">
                  <a:extLst>
                    <a:ext uri="{9D8B030D-6E8A-4147-A177-3AD203B41FA5}">
                      <a16:colId xmlns:a16="http://schemas.microsoft.com/office/drawing/2014/main" val="4128147424"/>
                    </a:ext>
                  </a:extLst>
                </a:gridCol>
                <a:gridCol w="208280">
                  <a:extLst>
                    <a:ext uri="{9D8B030D-6E8A-4147-A177-3AD203B41FA5}">
                      <a16:colId xmlns:a16="http://schemas.microsoft.com/office/drawing/2014/main" val="2108334555"/>
                    </a:ext>
                  </a:extLst>
                </a:gridCol>
                <a:gridCol w="208280">
                  <a:extLst>
                    <a:ext uri="{9D8B030D-6E8A-4147-A177-3AD203B41FA5}">
                      <a16:colId xmlns:a16="http://schemas.microsoft.com/office/drawing/2014/main" val="1536940019"/>
                    </a:ext>
                  </a:extLst>
                </a:gridCol>
                <a:gridCol w="208280">
                  <a:extLst>
                    <a:ext uri="{9D8B030D-6E8A-4147-A177-3AD203B41FA5}">
                      <a16:colId xmlns:a16="http://schemas.microsoft.com/office/drawing/2014/main" val="1285226037"/>
                    </a:ext>
                  </a:extLst>
                </a:gridCol>
                <a:gridCol w="208280">
                  <a:extLst>
                    <a:ext uri="{9D8B030D-6E8A-4147-A177-3AD203B41FA5}">
                      <a16:colId xmlns:a16="http://schemas.microsoft.com/office/drawing/2014/main" val="755871713"/>
                    </a:ext>
                  </a:extLst>
                </a:gridCol>
              </a:tblGrid>
              <a:tr h="239038">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1</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3966666007"/>
                  </a:ext>
                </a:extLst>
              </a:tr>
            </a:tbl>
          </a:graphicData>
        </a:graphic>
      </p:graphicFrame>
      <p:sp>
        <p:nvSpPr>
          <p:cNvPr id="12" name="TextBox 11">
            <a:extLst>
              <a:ext uri="{FF2B5EF4-FFF2-40B4-BE49-F238E27FC236}">
                <a16:creationId xmlns:a16="http://schemas.microsoft.com/office/drawing/2014/main" id="{9D1B67C3-648B-DF40-BA6A-05B72EB4175C}"/>
              </a:ext>
            </a:extLst>
          </p:cNvPr>
          <p:cNvSpPr txBox="1"/>
          <p:nvPr/>
        </p:nvSpPr>
        <p:spPr>
          <a:xfrm>
            <a:off x="96386" y="4892040"/>
            <a:ext cx="1171475" cy="323165"/>
          </a:xfrm>
          <a:prstGeom prst="rect">
            <a:avLst/>
          </a:prstGeom>
          <a:noFill/>
        </p:spPr>
        <p:txBody>
          <a:bodyPr wrap="square" rtlCol="0">
            <a:spAutoFit/>
          </a:bodyPr>
          <a:lstStyle/>
          <a:p>
            <a:r>
              <a:rPr lang="en-US" sz="1500" dirty="0">
                <a:solidFill>
                  <a:srgbClr val="FF0066"/>
                </a:solidFill>
                <a:latin typeface="Arial" pitchFamily="34" charset="0"/>
                <a:cs typeface="Arial" pitchFamily="34" charset="0"/>
              </a:rPr>
              <a:t>Cocomelon</a:t>
            </a:r>
          </a:p>
        </p:txBody>
      </p:sp>
      <p:graphicFrame>
        <p:nvGraphicFramePr>
          <p:cNvPr id="13" name="Table 11">
            <a:extLst>
              <a:ext uri="{FF2B5EF4-FFF2-40B4-BE49-F238E27FC236}">
                <a16:creationId xmlns:a16="http://schemas.microsoft.com/office/drawing/2014/main" id="{96B9C207-C7B3-754E-A2AB-CC3AAD7E3E72}"/>
              </a:ext>
            </a:extLst>
          </p:cNvPr>
          <p:cNvGraphicFramePr>
            <a:graphicFrameLocks noGrp="1"/>
          </p:cNvGraphicFramePr>
          <p:nvPr>
            <p:extLst>
              <p:ext uri="{D42A27DB-BD31-4B8C-83A1-F6EECF244321}">
                <p14:modId xmlns:p14="http://schemas.microsoft.com/office/powerpoint/2010/main" val="2194008089"/>
              </p:ext>
            </p:extLst>
          </p:nvPr>
        </p:nvGraphicFramePr>
        <p:xfrm>
          <a:off x="1178560" y="4892040"/>
          <a:ext cx="5831840" cy="36576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862581437"/>
                    </a:ext>
                  </a:extLst>
                </a:gridCol>
                <a:gridCol w="208280">
                  <a:extLst>
                    <a:ext uri="{9D8B030D-6E8A-4147-A177-3AD203B41FA5}">
                      <a16:colId xmlns:a16="http://schemas.microsoft.com/office/drawing/2014/main" val="542799575"/>
                    </a:ext>
                  </a:extLst>
                </a:gridCol>
                <a:gridCol w="208280">
                  <a:extLst>
                    <a:ext uri="{9D8B030D-6E8A-4147-A177-3AD203B41FA5}">
                      <a16:colId xmlns:a16="http://schemas.microsoft.com/office/drawing/2014/main" val="2017771861"/>
                    </a:ext>
                  </a:extLst>
                </a:gridCol>
                <a:gridCol w="208280">
                  <a:extLst>
                    <a:ext uri="{9D8B030D-6E8A-4147-A177-3AD203B41FA5}">
                      <a16:colId xmlns:a16="http://schemas.microsoft.com/office/drawing/2014/main" val="3872363045"/>
                    </a:ext>
                  </a:extLst>
                </a:gridCol>
                <a:gridCol w="208280">
                  <a:extLst>
                    <a:ext uri="{9D8B030D-6E8A-4147-A177-3AD203B41FA5}">
                      <a16:colId xmlns:a16="http://schemas.microsoft.com/office/drawing/2014/main" val="1416825768"/>
                    </a:ext>
                  </a:extLst>
                </a:gridCol>
                <a:gridCol w="208280">
                  <a:extLst>
                    <a:ext uri="{9D8B030D-6E8A-4147-A177-3AD203B41FA5}">
                      <a16:colId xmlns:a16="http://schemas.microsoft.com/office/drawing/2014/main" val="4112344660"/>
                    </a:ext>
                  </a:extLst>
                </a:gridCol>
                <a:gridCol w="208280">
                  <a:extLst>
                    <a:ext uri="{9D8B030D-6E8A-4147-A177-3AD203B41FA5}">
                      <a16:colId xmlns:a16="http://schemas.microsoft.com/office/drawing/2014/main" val="1562132188"/>
                    </a:ext>
                  </a:extLst>
                </a:gridCol>
                <a:gridCol w="208280">
                  <a:extLst>
                    <a:ext uri="{9D8B030D-6E8A-4147-A177-3AD203B41FA5}">
                      <a16:colId xmlns:a16="http://schemas.microsoft.com/office/drawing/2014/main" val="1680699977"/>
                    </a:ext>
                  </a:extLst>
                </a:gridCol>
                <a:gridCol w="208280">
                  <a:extLst>
                    <a:ext uri="{9D8B030D-6E8A-4147-A177-3AD203B41FA5}">
                      <a16:colId xmlns:a16="http://schemas.microsoft.com/office/drawing/2014/main" val="1727741282"/>
                    </a:ext>
                  </a:extLst>
                </a:gridCol>
                <a:gridCol w="208280">
                  <a:extLst>
                    <a:ext uri="{9D8B030D-6E8A-4147-A177-3AD203B41FA5}">
                      <a16:colId xmlns:a16="http://schemas.microsoft.com/office/drawing/2014/main" val="3008018322"/>
                    </a:ext>
                  </a:extLst>
                </a:gridCol>
                <a:gridCol w="208280">
                  <a:extLst>
                    <a:ext uri="{9D8B030D-6E8A-4147-A177-3AD203B41FA5}">
                      <a16:colId xmlns:a16="http://schemas.microsoft.com/office/drawing/2014/main" val="1827219844"/>
                    </a:ext>
                  </a:extLst>
                </a:gridCol>
                <a:gridCol w="208280">
                  <a:extLst>
                    <a:ext uri="{9D8B030D-6E8A-4147-A177-3AD203B41FA5}">
                      <a16:colId xmlns:a16="http://schemas.microsoft.com/office/drawing/2014/main" val="2749434627"/>
                    </a:ext>
                  </a:extLst>
                </a:gridCol>
                <a:gridCol w="208280">
                  <a:extLst>
                    <a:ext uri="{9D8B030D-6E8A-4147-A177-3AD203B41FA5}">
                      <a16:colId xmlns:a16="http://schemas.microsoft.com/office/drawing/2014/main" val="3527777149"/>
                    </a:ext>
                  </a:extLst>
                </a:gridCol>
                <a:gridCol w="208280">
                  <a:extLst>
                    <a:ext uri="{9D8B030D-6E8A-4147-A177-3AD203B41FA5}">
                      <a16:colId xmlns:a16="http://schemas.microsoft.com/office/drawing/2014/main" val="3503061559"/>
                    </a:ext>
                  </a:extLst>
                </a:gridCol>
                <a:gridCol w="208280">
                  <a:extLst>
                    <a:ext uri="{9D8B030D-6E8A-4147-A177-3AD203B41FA5}">
                      <a16:colId xmlns:a16="http://schemas.microsoft.com/office/drawing/2014/main" val="3111334691"/>
                    </a:ext>
                  </a:extLst>
                </a:gridCol>
                <a:gridCol w="208280">
                  <a:extLst>
                    <a:ext uri="{9D8B030D-6E8A-4147-A177-3AD203B41FA5}">
                      <a16:colId xmlns:a16="http://schemas.microsoft.com/office/drawing/2014/main" val="1795558087"/>
                    </a:ext>
                  </a:extLst>
                </a:gridCol>
                <a:gridCol w="208280">
                  <a:extLst>
                    <a:ext uri="{9D8B030D-6E8A-4147-A177-3AD203B41FA5}">
                      <a16:colId xmlns:a16="http://schemas.microsoft.com/office/drawing/2014/main" val="19639808"/>
                    </a:ext>
                  </a:extLst>
                </a:gridCol>
                <a:gridCol w="208280">
                  <a:extLst>
                    <a:ext uri="{9D8B030D-6E8A-4147-A177-3AD203B41FA5}">
                      <a16:colId xmlns:a16="http://schemas.microsoft.com/office/drawing/2014/main" val="3052112526"/>
                    </a:ext>
                  </a:extLst>
                </a:gridCol>
                <a:gridCol w="208280">
                  <a:extLst>
                    <a:ext uri="{9D8B030D-6E8A-4147-A177-3AD203B41FA5}">
                      <a16:colId xmlns:a16="http://schemas.microsoft.com/office/drawing/2014/main" val="112986972"/>
                    </a:ext>
                  </a:extLst>
                </a:gridCol>
                <a:gridCol w="208280">
                  <a:extLst>
                    <a:ext uri="{9D8B030D-6E8A-4147-A177-3AD203B41FA5}">
                      <a16:colId xmlns:a16="http://schemas.microsoft.com/office/drawing/2014/main" val="3348471992"/>
                    </a:ext>
                  </a:extLst>
                </a:gridCol>
                <a:gridCol w="208280">
                  <a:extLst>
                    <a:ext uri="{9D8B030D-6E8A-4147-A177-3AD203B41FA5}">
                      <a16:colId xmlns:a16="http://schemas.microsoft.com/office/drawing/2014/main" val="3280489927"/>
                    </a:ext>
                  </a:extLst>
                </a:gridCol>
                <a:gridCol w="208280">
                  <a:extLst>
                    <a:ext uri="{9D8B030D-6E8A-4147-A177-3AD203B41FA5}">
                      <a16:colId xmlns:a16="http://schemas.microsoft.com/office/drawing/2014/main" val="2012949713"/>
                    </a:ext>
                  </a:extLst>
                </a:gridCol>
                <a:gridCol w="208280">
                  <a:extLst>
                    <a:ext uri="{9D8B030D-6E8A-4147-A177-3AD203B41FA5}">
                      <a16:colId xmlns:a16="http://schemas.microsoft.com/office/drawing/2014/main" val="3697583002"/>
                    </a:ext>
                  </a:extLst>
                </a:gridCol>
                <a:gridCol w="208280">
                  <a:extLst>
                    <a:ext uri="{9D8B030D-6E8A-4147-A177-3AD203B41FA5}">
                      <a16:colId xmlns:a16="http://schemas.microsoft.com/office/drawing/2014/main" val="4128147424"/>
                    </a:ext>
                  </a:extLst>
                </a:gridCol>
                <a:gridCol w="208280">
                  <a:extLst>
                    <a:ext uri="{9D8B030D-6E8A-4147-A177-3AD203B41FA5}">
                      <a16:colId xmlns:a16="http://schemas.microsoft.com/office/drawing/2014/main" val="2108334555"/>
                    </a:ext>
                  </a:extLst>
                </a:gridCol>
                <a:gridCol w="208280">
                  <a:extLst>
                    <a:ext uri="{9D8B030D-6E8A-4147-A177-3AD203B41FA5}">
                      <a16:colId xmlns:a16="http://schemas.microsoft.com/office/drawing/2014/main" val="1536940019"/>
                    </a:ext>
                  </a:extLst>
                </a:gridCol>
                <a:gridCol w="208280">
                  <a:extLst>
                    <a:ext uri="{9D8B030D-6E8A-4147-A177-3AD203B41FA5}">
                      <a16:colId xmlns:a16="http://schemas.microsoft.com/office/drawing/2014/main" val="1285226037"/>
                    </a:ext>
                  </a:extLst>
                </a:gridCol>
                <a:gridCol w="208280">
                  <a:extLst>
                    <a:ext uri="{9D8B030D-6E8A-4147-A177-3AD203B41FA5}">
                      <a16:colId xmlns:a16="http://schemas.microsoft.com/office/drawing/2014/main" val="755871713"/>
                    </a:ext>
                  </a:extLst>
                </a:gridCol>
              </a:tblGrid>
              <a:tr h="239038">
                <a:tc>
                  <a:txBody>
                    <a:bodyPr/>
                    <a:lstStyle/>
                    <a:p>
                      <a:r>
                        <a:rPr lang="en-US" dirty="0"/>
                        <a:t>0</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3966666007"/>
                  </a:ext>
                </a:extLst>
              </a:tr>
            </a:tbl>
          </a:graphicData>
        </a:graphic>
      </p:graphicFrame>
      <p:sp>
        <p:nvSpPr>
          <p:cNvPr id="14" name="TextBox 13">
            <a:extLst>
              <a:ext uri="{FF2B5EF4-FFF2-40B4-BE49-F238E27FC236}">
                <a16:creationId xmlns:a16="http://schemas.microsoft.com/office/drawing/2014/main" id="{097B3F49-B6EA-BA4B-BF65-CE53C3D68E2C}"/>
              </a:ext>
            </a:extLst>
          </p:cNvPr>
          <p:cNvSpPr txBox="1"/>
          <p:nvPr/>
        </p:nvSpPr>
        <p:spPr>
          <a:xfrm>
            <a:off x="151579" y="5307540"/>
            <a:ext cx="1330644" cy="553998"/>
          </a:xfrm>
          <a:prstGeom prst="rect">
            <a:avLst/>
          </a:prstGeom>
          <a:noFill/>
        </p:spPr>
        <p:txBody>
          <a:bodyPr wrap="square" rtlCol="0">
            <a:spAutoFit/>
          </a:bodyPr>
          <a:lstStyle/>
          <a:p>
            <a:pPr algn="ctr"/>
            <a:r>
              <a:rPr lang="en-US" sz="1500" dirty="0">
                <a:solidFill>
                  <a:srgbClr val="FF0066"/>
                </a:solidFill>
                <a:latin typeface="Arial" pitchFamily="34" charset="0"/>
                <a:cs typeface="Arial" pitchFamily="34" charset="0"/>
              </a:rPr>
              <a:t>100 foot wave</a:t>
            </a:r>
          </a:p>
        </p:txBody>
      </p:sp>
      <p:graphicFrame>
        <p:nvGraphicFramePr>
          <p:cNvPr id="15" name="Table 11">
            <a:extLst>
              <a:ext uri="{FF2B5EF4-FFF2-40B4-BE49-F238E27FC236}">
                <a16:creationId xmlns:a16="http://schemas.microsoft.com/office/drawing/2014/main" id="{EB2C54E0-90E0-654E-A8A3-D72B8F9A01F4}"/>
              </a:ext>
            </a:extLst>
          </p:cNvPr>
          <p:cNvGraphicFramePr>
            <a:graphicFrameLocks noGrp="1"/>
          </p:cNvGraphicFramePr>
          <p:nvPr>
            <p:extLst>
              <p:ext uri="{D42A27DB-BD31-4B8C-83A1-F6EECF244321}">
                <p14:modId xmlns:p14="http://schemas.microsoft.com/office/powerpoint/2010/main" val="61171454"/>
              </p:ext>
            </p:extLst>
          </p:nvPr>
        </p:nvGraphicFramePr>
        <p:xfrm>
          <a:off x="1178560" y="5425440"/>
          <a:ext cx="5831840" cy="36576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862581437"/>
                    </a:ext>
                  </a:extLst>
                </a:gridCol>
                <a:gridCol w="208280">
                  <a:extLst>
                    <a:ext uri="{9D8B030D-6E8A-4147-A177-3AD203B41FA5}">
                      <a16:colId xmlns:a16="http://schemas.microsoft.com/office/drawing/2014/main" val="542799575"/>
                    </a:ext>
                  </a:extLst>
                </a:gridCol>
                <a:gridCol w="208280">
                  <a:extLst>
                    <a:ext uri="{9D8B030D-6E8A-4147-A177-3AD203B41FA5}">
                      <a16:colId xmlns:a16="http://schemas.microsoft.com/office/drawing/2014/main" val="2017771861"/>
                    </a:ext>
                  </a:extLst>
                </a:gridCol>
                <a:gridCol w="208280">
                  <a:extLst>
                    <a:ext uri="{9D8B030D-6E8A-4147-A177-3AD203B41FA5}">
                      <a16:colId xmlns:a16="http://schemas.microsoft.com/office/drawing/2014/main" val="3872363045"/>
                    </a:ext>
                  </a:extLst>
                </a:gridCol>
                <a:gridCol w="208280">
                  <a:extLst>
                    <a:ext uri="{9D8B030D-6E8A-4147-A177-3AD203B41FA5}">
                      <a16:colId xmlns:a16="http://schemas.microsoft.com/office/drawing/2014/main" val="1416825768"/>
                    </a:ext>
                  </a:extLst>
                </a:gridCol>
                <a:gridCol w="208280">
                  <a:extLst>
                    <a:ext uri="{9D8B030D-6E8A-4147-A177-3AD203B41FA5}">
                      <a16:colId xmlns:a16="http://schemas.microsoft.com/office/drawing/2014/main" val="4112344660"/>
                    </a:ext>
                  </a:extLst>
                </a:gridCol>
                <a:gridCol w="208280">
                  <a:extLst>
                    <a:ext uri="{9D8B030D-6E8A-4147-A177-3AD203B41FA5}">
                      <a16:colId xmlns:a16="http://schemas.microsoft.com/office/drawing/2014/main" val="1562132188"/>
                    </a:ext>
                  </a:extLst>
                </a:gridCol>
                <a:gridCol w="208280">
                  <a:extLst>
                    <a:ext uri="{9D8B030D-6E8A-4147-A177-3AD203B41FA5}">
                      <a16:colId xmlns:a16="http://schemas.microsoft.com/office/drawing/2014/main" val="1680699977"/>
                    </a:ext>
                  </a:extLst>
                </a:gridCol>
                <a:gridCol w="208280">
                  <a:extLst>
                    <a:ext uri="{9D8B030D-6E8A-4147-A177-3AD203B41FA5}">
                      <a16:colId xmlns:a16="http://schemas.microsoft.com/office/drawing/2014/main" val="1727741282"/>
                    </a:ext>
                  </a:extLst>
                </a:gridCol>
                <a:gridCol w="208280">
                  <a:extLst>
                    <a:ext uri="{9D8B030D-6E8A-4147-A177-3AD203B41FA5}">
                      <a16:colId xmlns:a16="http://schemas.microsoft.com/office/drawing/2014/main" val="3008018322"/>
                    </a:ext>
                  </a:extLst>
                </a:gridCol>
                <a:gridCol w="208280">
                  <a:extLst>
                    <a:ext uri="{9D8B030D-6E8A-4147-A177-3AD203B41FA5}">
                      <a16:colId xmlns:a16="http://schemas.microsoft.com/office/drawing/2014/main" val="1827219844"/>
                    </a:ext>
                  </a:extLst>
                </a:gridCol>
                <a:gridCol w="208280">
                  <a:extLst>
                    <a:ext uri="{9D8B030D-6E8A-4147-A177-3AD203B41FA5}">
                      <a16:colId xmlns:a16="http://schemas.microsoft.com/office/drawing/2014/main" val="2749434627"/>
                    </a:ext>
                  </a:extLst>
                </a:gridCol>
                <a:gridCol w="208280">
                  <a:extLst>
                    <a:ext uri="{9D8B030D-6E8A-4147-A177-3AD203B41FA5}">
                      <a16:colId xmlns:a16="http://schemas.microsoft.com/office/drawing/2014/main" val="3527777149"/>
                    </a:ext>
                  </a:extLst>
                </a:gridCol>
                <a:gridCol w="208280">
                  <a:extLst>
                    <a:ext uri="{9D8B030D-6E8A-4147-A177-3AD203B41FA5}">
                      <a16:colId xmlns:a16="http://schemas.microsoft.com/office/drawing/2014/main" val="3503061559"/>
                    </a:ext>
                  </a:extLst>
                </a:gridCol>
                <a:gridCol w="208280">
                  <a:extLst>
                    <a:ext uri="{9D8B030D-6E8A-4147-A177-3AD203B41FA5}">
                      <a16:colId xmlns:a16="http://schemas.microsoft.com/office/drawing/2014/main" val="3111334691"/>
                    </a:ext>
                  </a:extLst>
                </a:gridCol>
                <a:gridCol w="208280">
                  <a:extLst>
                    <a:ext uri="{9D8B030D-6E8A-4147-A177-3AD203B41FA5}">
                      <a16:colId xmlns:a16="http://schemas.microsoft.com/office/drawing/2014/main" val="1795558087"/>
                    </a:ext>
                  </a:extLst>
                </a:gridCol>
                <a:gridCol w="208280">
                  <a:extLst>
                    <a:ext uri="{9D8B030D-6E8A-4147-A177-3AD203B41FA5}">
                      <a16:colId xmlns:a16="http://schemas.microsoft.com/office/drawing/2014/main" val="19639808"/>
                    </a:ext>
                  </a:extLst>
                </a:gridCol>
                <a:gridCol w="208280">
                  <a:extLst>
                    <a:ext uri="{9D8B030D-6E8A-4147-A177-3AD203B41FA5}">
                      <a16:colId xmlns:a16="http://schemas.microsoft.com/office/drawing/2014/main" val="3052112526"/>
                    </a:ext>
                  </a:extLst>
                </a:gridCol>
                <a:gridCol w="208280">
                  <a:extLst>
                    <a:ext uri="{9D8B030D-6E8A-4147-A177-3AD203B41FA5}">
                      <a16:colId xmlns:a16="http://schemas.microsoft.com/office/drawing/2014/main" val="112986972"/>
                    </a:ext>
                  </a:extLst>
                </a:gridCol>
                <a:gridCol w="208280">
                  <a:extLst>
                    <a:ext uri="{9D8B030D-6E8A-4147-A177-3AD203B41FA5}">
                      <a16:colId xmlns:a16="http://schemas.microsoft.com/office/drawing/2014/main" val="3348471992"/>
                    </a:ext>
                  </a:extLst>
                </a:gridCol>
                <a:gridCol w="208280">
                  <a:extLst>
                    <a:ext uri="{9D8B030D-6E8A-4147-A177-3AD203B41FA5}">
                      <a16:colId xmlns:a16="http://schemas.microsoft.com/office/drawing/2014/main" val="3280489927"/>
                    </a:ext>
                  </a:extLst>
                </a:gridCol>
                <a:gridCol w="208280">
                  <a:extLst>
                    <a:ext uri="{9D8B030D-6E8A-4147-A177-3AD203B41FA5}">
                      <a16:colId xmlns:a16="http://schemas.microsoft.com/office/drawing/2014/main" val="2012949713"/>
                    </a:ext>
                  </a:extLst>
                </a:gridCol>
                <a:gridCol w="208280">
                  <a:extLst>
                    <a:ext uri="{9D8B030D-6E8A-4147-A177-3AD203B41FA5}">
                      <a16:colId xmlns:a16="http://schemas.microsoft.com/office/drawing/2014/main" val="3697583002"/>
                    </a:ext>
                  </a:extLst>
                </a:gridCol>
                <a:gridCol w="208280">
                  <a:extLst>
                    <a:ext uri="{9D8B030D-6E8A-4147-A177-3AD203B41FA5}">
                      <a16:colId xmlns:a16="http://schemas.microsoft.com/office/drawing/2014/main" val="4128147424"/>
                    </a:ext>
                  </a:extLst>
                </a:gridCol>
                <a:gridCol w="208280">
                  <a:extLst>
                    <a:ext uri="{9D8B030D-6E8A-4147-A177-3AD203B41FA5}">
                      <a16:colId xmlns:a16="http://schemas.microsoft.com/office/drawing/2014/main" val="2108334555"/>
                    </a:ext>
                  </a:extLst>
                </a:gridCol>
                <a:gridCol w="208280">
                  <a:extLst>
                    <a:ext uri="{9D8B030D-6E8A-4147-A177-3AD203B41FA5}">
                      <a16:colId xmlns:a16="http://schemas.microsoft.com/office/drawing/2014/main" val="1536940019"/>
                    </a:ext>
                  </a:extLst>
                </a:gridCol>
                <a:gridCol w="208280">
                  <a:extLst>
                    <a:ext uri="{9D8B030D-6E8A-4147-A177-3AD203B41FA5}">
                      <a16:colId xmlns:a16="http://schemas.microsoft.com/office/drawing/2014/main" val="1285226037"/>
                    </a:ext>
                  </a:extLst>
                </a:gridCol>
                <a:gridCol w="208280">
                  <a:extLst>
                    <a:ext uri="{9D8B030D-6E8A-4147-A177-3AD203B41FA5}">
                      <a16:colId xmlns:a16="http://schemas.microsoft.com/office/drawing/2014/main" val="755871713"/>
                    </a:ext>
                  </a:extLst>
                </a:gridCol>
              </a:tblGrid>
              <a:tr h="239038">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3966666007"/>
                  </a:ext>
                </a:extLst>
              </a:tr>
            </a:tbl>
          </a:graphicData>
        </a:graphic>
      </p:graphicFrame>
      <p:sp>
        <p:nvSpPr>
          <p:cNvPr id="16" name="TextBox 15">
            <a:extLst>
              <a:ext uri="{FF2B5EF4-FFF2-40B4-BE49-F238E27FC236}">
                <a16:creationId xmlns:a16="http://schemas.microsoft.com/office/drawing/2014/main" id="{E469B1CA-6A7E-1947-886A-DB12739A1467}"/>
              </a:ext>
            </a:extLst>
          </p:cNvPr>
          <p:cNvSpPr txBox="1"/>
          <p:nvPr/>
        </p:nvSpPr>
        <p:spPr>
          <a:xfrm>
            <a:off x="257075" y="6004561"/>
            <a:ext cx="990600" cy="323165"/>
          </a:xfrm>
          <a:prstGeom prst="rect">
            <a:avLst/>
          </a:prstGeom>
          <a:noFill/>
        </p:spPr>
        <p:txBody>
          <a:bodyPr wrap="square" rtlCol="0">
            <a:spAutoFit/>
          </a:bodyPr>
          <a:lstStyle/>
          <a:p>
            <a:pPr algn="ctr"/>
            <a:r>
              <a:rPr lang="en-US" sz="1500" dirty="0">
                <a:solidFill>
                  <a:srgbClr val="FF0066"/>
                </a:solidFill>
                <a:latin typeface="Arial" pitchFamily="34" charset="0"/>
                <a:cs typeface="Arial" pitchFamily="34" charset="0"/>
              </a:rPr>
              <a:t>I, Tonya</a:t>
            </a:r>
          </a:p>
        </p:txBody>
      </p:sp>
      <p:graphicFrame>
        <p:nvGraphicFramePr>
          <p:cNvPr id="17" name="Table 11">
            <a:extLst>
              <a:ext uri="{FF2B5EF4-FFF2-40B4-BE49-F238E27FC236}">
                <a16:creationId xmlns:a16="http://schemas.microsoft.com/office/drawing/2014/main" id="{4BAB8D7E-17BB-0147-AFED-0840D6BD4DC1}"/>
              </a:ext>
            </a:extLst>
          </p:cNvPr>
          <p:cNvGraphicFramePr>
            <a:graphicFrameLocks noGrp="1"/>
          </p:cNvGraphicFramePr>
          <p:nvPr>
            <p:extLst>
              <p:ext uri="{D42A27DB-BD31-4B8C-83A1-F6EECF244321}">
                <p14:modId xmlns:p14="http://schemas.microsoft.com/office/powerpoint/2010/main" val="3944354233"/>
              </p:ext>
            </p:extLst>
          </p:nvPr>
        </p:nvGraphicFramePr>
        <p:xfrm>
          <a:off x="1178560" y="6035040"/>
          <a:ext cx="5831840" cy="36576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862581437"/>
                    </a:ext>
                  </a:extLst>
                </a:gridCol>
                <a:gridCol w="208280">
                  <a:extLst>
                    <a:ext uri="{9D8B030D-6E8A-4147-A177-3AD203B41FA5}">
                      <a16:colId xmlns:a16="http://schemas.microsoft.com/office/drawing/2014/main" val="542799575"/>
                    </a:ext>
                  </a:extLst>
                </a:gridCol>
                <a:gridCol w="208280">
                  <a:extLst>
                    <a:ext uri="{9D8B030D-6E8A-4147-A177-3AD203B41FA5}">
                      <a16:colId xmlns:a16="http://schemas.microsoft.com/office/drawing/2014/main" val="2017771861"/>
                    </a:ext>
                  </a:extLst>
                </a:gridCol>
                <a:gridCol w="208280">
                  <a:extLst>
                    <a:ext uri="{9D8B030D-6E8A-4147-A177-3AD203B41FA5}">
                      <a16:colId xmlns:a16="http://schemas.microsoft.com/office/drawing/2014/main" val="3872363045"/>
                    </a:ext>
                  </a:extLst>
                </a:gridCol>
                <a:gridCol w="208280">
                  <a:extLst>
                    <a:ext uri="{9D8B030D-6E8A-4147-A177-3AD203B41FA5}">
                      <a16:colId xmlns:a16="http://schemas.microsoft.com/office/drawing/2014/main" val="1416825768"/>
                    </a:ext>
                  </a:extLst>
                </a:gridCol>
                <a:gridCol w="208280">
                  <a:extLst>
                    <a:ext uri="{9D8B030D-6E8A-4147-A177-3AD203B41FA5}">
                      <a16:colId xmlns:a16="http://schemas.microsoft.com/office/drawing/2014/main" val="4112344660"/>
                    </a:ext>
                  </a:extLst>
                </a:gridCol>
                <a:gridCol w="208280">
                  <a:extLst>
                    <a:ext uri="{9D8B030D-6E8A-4147-A177-3AD203B41FA5}">
                      <a16:colId xmlns:a16="http://schemas.microsoft.com/office/drawing/2014/main" val="1562132188"/>
                    </a:ext>
                  </a:extLst>
                </a:gridCol>
                <a:gridCol w="208280">
                  <a:extLst>
                    <a:ext uri="{9D8B030D-6E8A-4147-A177-3AD203B41FA5}">
                      <a16:colId xmlns:a16="http://schemas.microsoft.com/office/drawing/2014/main" val="1680699977"/>
                    </a:ext>
                  </a:extLst>
                </a:gridCol>
                <a:gridCol w="208280">
                  <a:extLst>
                    <a:ext uri="{9D8B030D-6E8A-4147-A177-3AD203B41FA5}">
                      <a16:colId xmlns:a16="http://schemas.microsoft.com/office/drawing/2014/main" val="1727741282"/>
                    </a:ext>
                  </a:extLst>
                </a:gridCol>
                <a:gridCol w="208280">
                  <a:extLst>
                    <a:ext uri="{9D8B030D-6E8A-4147-A177-3AD203B41FA5}">
                      <a16:colId xmlns:a16="http://schemas.microsoft.com/office/drawing/2014/main" val="3008018322"/>
                    </a:ext>
                  </a:extLst>
                </a:gridCol>
                <a:gridCol w="208280">
                  <a:extLst>
                    <a:ext uri="{9D8B030D-6E8A-4147-A177-3AD203B41FA5}">
                      <a16:colId xmlns:a16="http://schemas.microsoft.com/office/drawing/2014/main" val="1827219844"/>
                    </a:ext>
                  </a:extLst>
                </a:gridCol>
                <a:gridCol w="208280">
                  <a:extLst>
                    <a:ext uri="{9D8B030D-6E8A-4147-A177-3AD203B41FA5}">
                      <a16:colId xmlns:a16="http://schemas.microsoft.com/office/drawing/2014/main" val="2749434627"/>
                    </a:ext>
                  </a:extLst>
                </a:gridCol>
                <a:gridCol w="208280">
                  <a:extLst>
                    <a:ext uri="{9D8B030D-6E8A-4147-A177-3AD203B41FA5}">
                      <a16:colId xmlns:a16="http://schemas.microsoft.com/office/drawing/2014/main" val="3527777149"/>
                    </a:ext>
                  </a:extLst>
                </a:gridCol>
                <a:gridCol w="208280">
                  <a:extLst>
                    <a:ext uri="{9D8B030D-6E8A-4147-A177-3AD203B41FA5}">
                      <a16:colId xmlns:a16="http://schemas.microsoft.com/office/drawing/2014/main" val="3503061559"/>
                    </a:ext>
                  </a:extLst>
                </a:gridCol>
                <a:gridCol w="208280">
                  <a:extLst>
                    <a:ext uri="{9D8B030D-6E8A-4147-A177-3AD203B41FA5}">
                      <a16:colId xmlns:a16="http://schemas.microsoft.com/office/drawing/2014/main" val="3111334691"/>
                    </a:ext>
                  </a:extLst>
                </a:gridCol>
                <a:gridCol w="208280">
                  <a:extLst>
                    <a:ext uri="{9D8B030D-6E8A-4147-A177-3AD203B41FA5}">
                      <a16:colId xmlns:a16="http://schemas.microsoft.com/office/drawing/2014/main" val="1795558087"/>
                    </a:ext>
                  </a:extLst>
                </a:gridCol>
                <a:gridCol w="208280">
                  <a:extLst>
                    <a:ext uri="{9D8B030D-6E8A-4147-A177-3AD203B41FA5}">
                      <a16:colId xmlns:a16="http://schemas.microsoft.com/office/drawing/2014/main" val="19639808"/>
                    </a:ext>
                  </a:extLst>
                </a:gridCol>
                <a:gridCol w="208280">
                  <a:extLst>
                    <a:ext uri="{9D8B030D-6E8A-4147-A177-3AD203B41FA5}">
                      <a16:colId xmlns:a16="http://schemas.microsoft.com/office/drawing/2014/main" val="3052112526"/>
                    </a:ext>
                  </a:extLst>
                </a:gridCol>
                <a:gridCol w="208280">
                  <a:extLst>
                    <a:ext uri="{9D8B030D-6E8A-4147-A177-3AD203B41FA5}">
                      <a16:colId xmlns:a16="http://schemas.microsoft.com/office/drawing/2014/main" val="112986972"/>
                    </a:ext>
                  </a:extLst>
                </a:gridCol>
                <a:gridCol w="208280">
                  <a:extLst>
                    <a:ext uri="{9D8B030D-6E8A-4147-A177-3AD203B41FA5}">
                      <a16:colId xmlns:a16="http://schemas.microsoft.com/office/drawing/2014/main" val="3348471992"/>
                    </a:ext>
                  </a:extLst>
                </a:gridCol>
                <a:gridCol w="208280">
                  <a:extLst>
                    <a:ext uri="{9D8B030D-6E8A-4147-A177-3AD203B41FA5}">
                      <a16:colId xmlns:a16="http://schemas.microsoft.com/office/drawing/2014/main" val="3280489927"/>
                    </a:ext>
                  </a:extLst>
                </a:gridCol>
                <a:gridCol w="208280">
                  <a:extLst>
                    <a:ext uri="{9D8B030D-6E8A-4147-A177-3AD203B41FA5}">
                      <a16:colId xmlns:a16="http://schemas.microsoft.com/office/drawing/2014/main" val="2012949713"/>
                    </a:ext>
                  </a:extLst>
                </a:gridCol>
                <a:gridCol w="208280">
                  <a:extLst>
                    <a:ext uri="{9D8B030D-6E8A-4147-A177-3AD203B41FA5}">
                      <a16:colId xmlns:a16="http://schemas.microsoft.com/office/drawing/2014/main" val="3697583002"/>
                    </a:ext>
                  </a:extLst>
                </a:gridCol>
                <a:gridCol w="208280">
                  <a:extLst>
                    <a:ext uri="{9D8B030D-6E8A-4147-A177-3AD203B41FA5}">
                      <a16:colId xmlns:a16="http://schemas.microsoft.com/office/drawing/2014/main" val="4128147424"/>
                    </a:ext>
                  </a:extLst>
                </a:gridCol>
                <a:gridCol w="208280">
                  <a:extLst>
                    <a:ext uri="{9D8B030D-6E8A-4147-A177-3AD203B41FA5}">
                      <a16:colId xmlns:a16="http://schemas.microsoft.com/office/drawing/2014/main" val="2108334555"/>
                    </a:ext>
                  </a:extLst>
                </a:gridCol>
                <a:gridCol w="208280">
                  <a:extLst>
                    <a:ext uri="{9D8B030D-6E8A-4147-A177-3AD203B41FA5}">
                      <a16:colId xmlns:a16="http://schemas.microsoft.com/office/drawing/2014/main" val="1536940019"/>
                    </a:ext>
                  </a:extLst>
                </a:gridCol>
                <a:gridCol w="208280">
                  <a:extLst>
                    <a:ext uri="{9D8B030D-6E8A-4147-A177-3AD203B41FA5}">
                      <a16:colId xmlns:a16="http://schemas.microsoft.com/office/drawing/2014/main" val="1285226037"/>
                    </a:ext>
                  </a:extLst>
                </a:gridCol>
                <a:gridCol w="208280">
                  <a:extLst>
                    <a:ext uri="{9D8B030D-6E8A-4147-A177-3AD203B41FA5}">
                      <a16:colId xmlns:a16="http://schemas.microsoft.com/office/drawing/2014/main" val="755871713"/>
                    </a:ext>
                  </a:extLst>
                </a:gridCol>
              </a:tblGrid>
              <a:tr h="239038">
                <a:tc>
                  <a:txBody>
                    <a:bodyPr/>
                    <a:lstStyle/>
                    <a:p>
                      <a:r>
                        <a:rPr lang="en-US" dirty="0"/>
                        <a:t>0</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3966666007"/>
                  </a:ext>
                </a:extLst>
              </a:tr>
            </a:tbl>
          </a:graphicData>
        </a:graphic>
      </p:graphicFrame>
      <p:cxnSp>
        <p:nvCxnSpPr>
          <p:cNvPr id="9" name="Straight Arrow Connector 8">
            <a:extLst>
              <a:ext uri="{FF2B5EF4-FFF2-40B4-BE49-F238E27FC236}">
                <a16:creationId xmlns:a16="http://schemas.microsoft.com/office/drawing/2014/main" id="{22141707-CE44-9D45-BD82-39C5349C57B9}"/>
              </a:ext>
            </a:extLst>
          </p:cNvPr>
          <p:cNvCxnSpPr/>
          <p:nvPr/>
        </p:nvCxnSpPr>
        <p:spPr>
          <a:xfrm>
            <a:off x="5638800" y="3048000"/>
            <a:ext cx="1396599" cy="0"/>
          </a:xfrm>
          <a:prstGeom prst="straightConnector1">
            <a:avLst/>
          </a:prstGeom>
          <a:ln w="38100">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0E16A950-EA17-634C-B506-6B5340E7320F}"/>
              </a:ext>
            </a:extLst>
          </p:cNvPr>
          <p:cNvSpPr txBox="1"/>
          <p:nvPr/>
        </p:nvSpPr>
        <p:spPr>
          <a:xfrm>
            <a:off x="7315200" y="1118919"/>
            <a:ext cx="1447800" cy="338554"/>
          </a:xfrm>
          <a:prstGeom prst="rect">
            <a:avLst/>
          </a:prstGeom>
          <a:noFill/>
        </p:spPr>
        <p:txBody>
          <a:bodyPr wrap="square" rtlCol="0">
            <a:spAutoFit/>
          </a:bodyPr>
          <a:lstStyle/>
          <a:p>
            <a:r>
              <a:rPr lang="en-US" sz="1600" b="1" dirty="0">
                <a:solidFill>
                  <a:srgbClr val="0000FF"/>
                </a:solidFill>
                <a:latin typeface="Arial" pitchFamily="34" charset="0"/>
                <a:cs typeface="Arial" pitchFamily="34" charset="0"/>
              </a:rPr>
              <a:t>IMDB genres</a:t>
            </a:r>
          </a:p>
        </p:txBody>
      </p:sp>
    </p:spTree>
    <p:extLst>
      <p:ext uri="{BB962C8B-B14F-4D97-AF65-F5344CB8AC3E}">
        <p14:creationId xmlns:p14="http://schemas.microsoft.com/office/powerpoint/2010/main" val="3691157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76C1B-3251-D548-B244-5C4CCF62EECC}"/>
              </a:ext>
            </a:extLst>
          </p:cNvPr>
          <p:cNvSpPr>
            <a:spLocks noGrp="1"/>
          </p:cNvSpPr>
          <p:nvPr>
            <p:ph type="title"/>
          </p:nvPr>
        </p:nvSpPr>
        <p:spPr>
          <a:xfrm>
            <a:off x="228600" y="76200"/>
            <a:ext cx="8864616" cy="987552"/>
          </a:xfrm>
        </p:spPr>
        <p:txBody>
          <a:bodyPr>
            <a:normAutofit fontScale="90000"/>
          </a:bodyPr>
          <a:lstStyle/>
          <a:p>
            <a:r>
              <a:rPr lang="en-US" dirty="0"/>
              <a:t>Applying encodings on Movies dataset</a:t>
            </a:r>
          </a:p>
        </p:txBody>
      </p:sp>
      <p:graphicFrame>
        <p:nvGraphicFramePr>
          <p:cNvPr id="9" name="Table 9">
            <a:extLst>
              <a:ext uri="{FF2B5EF4-FFF2-40B4-BE49-F238E27FC236}">
                <a16:creationId xmlns:a16="http://schemas.microsoft.com/office/drawing/2014/main" id="{83129A5E-12FB-3942-90BC-E1022EAFDE0F}"/>
              </a:ext>
            </a:extLst>
          </p:cNvPr>
          <p:cNvGraphicFramePr>
            <a:graphicFrameLocks noGrp="1"/>
          </p:cNvGraphicFramePr>
          <p:nvPr>
            <p:ph idx="1"/>
            <p:extLst>
              <p:ext uri="{D42A27DB-BD31-4B8C-83A1-F6EECF244321}">
                <p14:modId xmlns:p14="http://schemas.microsoft.com/office/powerpoint/2010/main" val="2658759432"/>
              </p:ext>
            </p:extLst>
          </p:nvPr>
        </p:nvGraphicFramePr>
        <p:xfrm>
          <a:off x="94246" y="1844040"/>
          <a:ext cx="911594" cy="274320"/>
        </p:xfrm>
        <a:graphic>
          <a:graphicData uri="http://schemas.openxmlformats.org/drawingml/2006/table">
            <a:tbl>
              <a:tblPr firstRow="1" bandRow="1">
                <a:tableStyleId>{5940675A-B579-460E-94D1-54222C63F5DA}</a:tableStyleId>
              </a:tblPr>
              <a:tblGrid>
                <a:gridCol w="911594">
                  <a:extLst>
                    <a:ext uri="{9D8B030D-6E8A-4147-A177-3AD203B41FA5}">
                      <a16:colId xmlns:a16="http://schemas.microsoft.com/office/drawing/2014/main" val="1248963695"/>
                    </a:ext>
                  </a:extLst>
                </a:gridCol>
              </a:tblGrid>
              <a:tr h="274320">
                <a:tc>
                  <a:txBody>
                    <a:bodyPr/>
                    <a:lstStyle/>
                    <a:p>
                      <a:pPr algn="r"/>
                      <a:r>
                        <a:rPr lang="en-US" sz="900" dirty="0"/>
                        <a:t>Stranger things</a:t>
                      </a:r>
                    </a:p>
                  </a:txBody>
                  <a:tcPr/>
                </a:tc>
                <a:extLst>
                  <a:ext uri="{0D108BD9-81ED-4DB2-BD59-A6C34878D82A}">
                    <a16:rowId xmlns:a16="http://schemas.microsoft.com/office/drawing/2014/main" val="14700918"/>
                  </a:ext>
                </a:extLst>
              </a:tr>
            </a:tbl>
          </a:graphicData>
        </a:graphic>
      </p:graphicFrame>
      <p:sp>
        <p:nvSpPr>
          <p:cNvPr id="4" name="Date Placeholder 3">
            <a:extLst>
              <a:ext uri="{FF2B5EF4-FFF2-40B4-BE49-F238E27FC236}">
                <a16:creationId xmlns:a16="http://schemas.microsoft.com/office/drawing/2014/main" id="{77426842-B318-D948-8D46-67DF9F667DDE}"/>
              </a:ext>
            </a:extLst>
          </p:cNvPr>
          <p:cNvSpPr>
            <a:spLocks noGrp="1"/>
          </p:cNvSpPr>
          <p:nvPr>
            <p:ph type="dt" sz="half" idx="10"/>
          </p:nvPr>
        </p:nvSpPr>
        <p:spPr/>
        <p:txBody>
          <a:bodyPr/>
          <a:lstStyle/>
          <a:p>
            <a:fld id="{C49CFAEF-7969-FC43-94DC-709F2B6B005D}" type="datetime1">
              <a:rPr lang="en-US" smtClean="0"/>
              <a:t>11/3/24</a:t>
            </a:fld>
            <a:endParaRPr lang="en-US"/>
          </a:p>
        </p:txBody>
      </p:sp>
      <p:sp>
        <p:nvSpPr>
          <p:cNvPr id="5" name="Footer Placeholder 4">
            <a:extLst>
              <a:ext uri="{FF2B5EF4-FFF2-40B4-BE49-F238E27FC236}">
                <a16:creationId xmlns:a16="http://schemas.microsoft.com/office/drawing/2014/main" id="{5659F533-A966-AD45-81B6-1DAB3B654811}"/>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127C8747-48BA-BC44-9AC6-DF0F6B65ED08}"/>
              </a:ext>
            </a:extLst>
          </p:cNvPr>
          <p:cNvSpPr>
            <a:spLocks noGrp="1"/>
          </p:cNvSpPr>
          <p:nvPr>
            <p:ph type="sldNum" sz="quarter" idx="12"/>
          </p:nvPr>
        </p:nvSpPr>
        <p:spPr/>
        <p:txBody>
          <a:bodyPr/>
          <a:lstStyle/>
          <a:p>
            <a:fld id="{19B12225-5612-419B-A8D5-4B8EEE4C217E}" type="slidenum">
              <a:rPr lang="en-US" smtClean="0"/>
              <a:pPr/>
              <a:t>7</a:t>
            </a:fld>
            <a:endParaRPr lang="en-US"/>
          </a:p>
        </p:txBody>
      </p:sp>
      <p:graphicFrame>
        <p:nvGraphicFramePr>
          <p:cNvPr id="8" name="Table 11">
            <a:extLst>
              <a:ext uri="{FF2B5EF4-FFF2-40B4-BE49-F238E27FC236}">
                <a16:creationId xmlns:a16="http://schemas.microsoft.com/office/drawing/2014/main" id="{7C67A9E9-AF25-5748-84B5-CAABAA263E4F}"/>
              </a:ext>
            </a:extLst>
          </p:cNvPr>
          <p:cNvGraphicFramePr>
            <a:graphicFrameLocks noGrp="1"/>
          </p:cNvGraphicFramePr>
          <p:nvPr>
            <p:extLst>
              <p:ext uri="{D42A27DB-BD31-4B8C-83A1-F6EECF244321}">
                <p14:modId xmlns:p14="http://schemas.microsoft.com/office/powerpoint/2010/main" val="3159080792"/>
              </p:ext>
            </p:extLst>
          </p:nvPr>
        </p:nvGraphicFramePr>
        <p:xfrm>
          <a:off x="1005840" y="1848051"/>
          <a:ext cx="7081536" cy="274320"/>
        </p:xfrm>
        <a:graphic>
          <a:graphicData uri="http://schemas.openxmlformats.org/drawingml/2006/table">
            <a:tbl>
              <a:tblPr firstRow="1" bandRow="1">
                <a:tableStyleId>{5940675A-B579-460E-94D1-54222C63F5DA}</a:tableStyleId>
              </a:tblPr>
              <a:tblGrid>
                <a:gridCol w="221298">
                  <a:extLst>
                    <a:ext uri="{9D8B030D-6E8A-4147-A177-3AD203B41FA5}">
                      <a16:colId xmlns:a16="http://schemas.microsoft.com/office/drawing/2014/main" val="4043809934"/>
                    </a:ext>
                  </a:extLst>
                </a:gridCol>
                <a:gridCol w="221298">
                  <a:extLst>
                    <a:ext uri="{9D8B030D-6E8A-4147-A177-3AD203B41FA5}">
                      <a16:colId xmlns:a16="http://schemas.microsoft.com/office/drawing/2014/main" val="1083911802"/>
                    </a:ext>
                  </a:extLst>
                </a:gridCol>
                <a:gridCol w="221298">
                  <a:extLst>
                    <a:ext uri="{9D8B030D-6E8A-4147-A177-3AD203B41FA5}">
                      <a16:colId xmlns:a16="http://schemas.microsoft.com/office/drawing/2014/main" val="866725055"/>
                    </a:ext>
                  </a:extLst>
                </a:gridCol>
                <a:gridCol w="221298">
                  <a:extLst>
                    <a:ext uri="{9D8B030D-6E8A-4147-A177-3AD203B41FA5}">
                      <a16:colId xmlns:a16="http://schemas.microsoft.com/office/drawing/2014/main" val="392089196"/>
                    </a:ext>
                  </a:extLst>
                </a:gridCol>
                <a:gridCol w="221298">
                  <a:extLst>
                    <a:ext uri="{9D8B030D-6E8A-4147-A177-3AD203B41FA5}">
                      <a16:colId xmlns:a16="http://schemas.microsoft.com/office/drawing/2014/main" val="2862581437"/>
                    </a:ext>
                  </a:extLst>
                </a:gridCol>
                <a:gridCol w="221298">
                  <a:extLst>
                    <a:ext uri="{9D8B030D-6E8A-4147-A177-3AD203B41FA5}">
                      <a16:colId xmlns:a16="http://schemas.microsoft.com/office/drawing/2014/main" val="542799575"/>
                    </a:ext>
                  </a:extLst>
                </a:gridCol>
                <a:gridCol w="221298">
                  <a:extLst>
                    <a:ext uri="{9D8B030D-6E8A-4147-A177-3AD203B41FA5}">
                      <a16:colId xmlns:a16="http://schemas.microsoft.com/office/drawing/2014/main" val="2017771861"/>
                    </a:ext>
                  </a:extLst>
                </a:gridCol>
                <a:gridCol w="221298">
                  <a:extLst>
                    <a:ext uri="{9D8B030D-6E8A-4147-A177-3AD203B41FA5}">
                      <a16:colId xmlns:a16="http://schemas.microsoft.com/office/drawing/2014/main" val="3872363045"/>
                    </a:ext>
                  </a:extLst>
                </a:gridCol>
                <a:gridCol w="221298">
                  <a:extLst>
                    <a:ext uri="{9D8B030D-6E8A-4147-A177-3AD203B41FA5}">
                      <a16:colId xmlns:a16="http://schemas.microsoft.com/office/drawing/2014/main" val="1416825768"/>
                    </a:ext>
                  </a:extLst>
                </a:gridCol>
                <a:gridCol w="221298">
                  <a:extLst>
                    <a:ext uri="{9D8B030D-6E8A-4147-A177-3AD203B41FA5}">
                      <a16:colId xmlns:a16="http://schemas.microsoft.com/office/drawing/2014/main" val="4112344660"/>
                    </a:ext>
                  </a:extLst>
                </a:gridCol>
                <a:gridCol w="221298">
                  <a:extLst>
                    <a:ext uri="{9D8B030D-6E8A-4147-A177-3AD203B41FA5}">
                      <a16:colId xmlns:a16="http://schemas.microsoft.com/office/drawing/2014/main" val="1562132188"/>
                    </a:ext>
                  </a:extLst>
                </a:gridCol>
                <a:gridCol w="221298">
                  <a:extLst>
                    <a:ext uri="{9D8B030D-6E8A-4147-A177-3AD203B41FA5}">
                      <a16:colId xmlns:a16="http://schemas.microsoft.com/office/drawing/2014/main" val="1680699977"/>
                    </a:ext>
                  </a:extLst>
                </a:gridCol>
                <a:gridCol w="221298">
                  <a:extLst>
                    <a:ext uri="{9D8B030D-6E8A-4147-A177-3AD203B41FA5}">
                      <a16:colId xmlns:a16="http://schemas.microsoft.com/office/drawing/2014/main" val="1727741282"/>
                    </a:ext>
                  </a:extLst>
                </a:gridCol>
                <a:gridCol w="221298">
                  <a:extLst>
                    <a:ext uri="{9D8B030D-6E8A-4147-A177-3AD203B41FA5}">
                      <a16:colId xmlns:a16="http://schemas.microsoft.com/office/drawing/2014/main" val="3008018322"/>
                    </a:ext>
                  </a:extLst>
                </a:gridCol>
                <a:gridCol w="221298">
                  <a:extLst>
                    <a:ext uri="{9D8B030D-6E8A-4147-A177-3AD203B41FA5}">
                      <a16:colId xmlns:a16="http://schemas.microsoft.com/office/drawing/2014/main" val="1827219844"/>
                    </a:ext>
                  </a:extLst>
                </a:gridCol>
                <a:gridCol w="221298">
                  <a:extLst>
                    <a:ext uri="{9D8B030D-6E8A-4147-A177-3AD203B41FA5}">
                      <a16:colId xmlns:a16="http://schemas.microsoft.com/office/drawing/2014/main" val="2749434627"/>
                    </a:ext>
                  </a:extLst>
                </a:gridCol>
                <a:gridCol w="221298">
                  <a:extLst>
                    <a:ext uri="{9D8B030D-6E8A-4147-A177-3AD203B41FA5}">
                      <a16:colId xmlns:a16="http://schemas.microsoft.com/office/drawing/2014/main" val="3527777149"/>
                    </a:ext>
                  </a:extLst>
                </a:gridCol>
                <a:gridCol w="221298">
                  <a:extLst>
                    <a:ext uri="{9D8B030D-6E8A-4147-A177-3AD203B41FA5}">
                      <a16:colId xmlns:a16="http://schemas.microsoft.com/office/drawing/2014/main" val="3503061559"/>
                    </a:ext>
                  </a:extLst>
                </a:gridCol>
                <a:gridCol w="221298">
                  <a:extLst>
                    <a:ext uri="{9D8B030D-6E8A-4147-A177-3AD203B41FA5}">
                      <a16:colId xmlns:a16="http://schemas.microsoft.com/office/drawing/2014/main" val="3111334691"/>
                    </a:ext>
                  </a:extLst>
                </a:gridCol>
                <a:gridCol w="221298">
                  <a:extLst>
                    <a:ext uri="{9D8B030D-6E8A-4147-A177-3AD203B41FA5}">
                      <a16:colId xmlns:a16="http://schemas.microsoft.com/office/drawing/2014/main" val="1795558087"/>
                    </a:ext>
                  </a:extLst>
                </a:gridCol>
                <a:gridCol w="221298">
                  <a:extLst>
                    <a:ext uri="{9D8B030D-6E8A-4147-A177-3AD203B41FA5}">
                      <a16:colId xmlns:a16="http://schemas.microsoft.com/office/drawing/2014/main" val="19639808"/>
                    </a:ext>
                  </a:extLst>
                </a:gridCol>
                <a:gridCol w="221298">
                  <a:extLst>
                    <a:ext uri="{9D8B030D-6E8A-4147-A177-3AD203B41FA5}">
                      <a16:colId xmlns:a16="http://schemas.microsoft.com/office/drawing/2014/main" val="3052112526"/>
                    </a:ext>
                  </a:extLst>
                </a:gridCol>
                <a:gridCol w="221298">
                  <a:extLst>
                    <a:ext uri="{9D8B030D-6E8A-4147-A177-3AD203B41FA5}">
                      <a16:colId xmlns:a16="http://schemas.microsoft.com/office/drawing/2014/main" val="112986972"/>
                    </a:ext>
                  </a:extLst>
                </a:gridCol>
                <a:gridCol w="221298">
                  <a:extLst>
                    <a:ext uri="{9D8B030D-6E8A-4147-A177-3AD203B41FA5}">
                      <a16:colId xmlns:a16="http://schemas.microsoft.com/office/drawing/2014/main" val="3348471992"/>
                    </a:ext>
                  </a:extLst>
                </a:gridCol>
                <a:gridCol w="221298">
                  <a:extLst>
                    <a:ext uri="{9D8B030D-6E8A-4147-A177-3AD203B41FA5}">
                      <a16:colId xmlns:a16="http://schemas.microsoft.com/office/drawing/2014/main" val="3280489927"/>
                    </a:ext>
                  </a:extLst>
                </a:gridCol>
                <a:gridCol w="221298">
                  <a:extLst>
                    <a:ext uri="{9D8B030D-6E8A-4147-A177-3AD203B41FA5}">
                      <a16:colId xmlns:a16="http://schemas.microsoft.com/office/drawing/2014/main" val="2012949713"/>
                    </a:ext>
                  </a:extLst>
                </a:gridCol>
                <a:gridCol w="221298">
                  <a:extLst>
                    <a:ext uri="{9D8B030D-6E8A-4147-A177-3AD203B41FA5}">
                      <a16:colId xmlns:a16="http://schemas.microsoft.com/office/drawing/2014/main" val="3697583002"/>
                    </a:ext>
                  </a:extLst>
                </a:gridCol>
                <a:gridCol w="221298">
                  <a:extLst>
                    <a:ext uri="{9D8B030D-6E8A-4147-A177-3AD203B41FA5}">
                      <a16:colId xmlns:a16="http://schemas.microsoft.com/office/drawing/2014/main" val="4128147424"/>
                    </a:ext>
                  </a:extLst>
                </a:gridCol>
                <a:gridCol w="221298">
                  <a:extLst>
                    <a:ext uri="{9D8B030D-6E8A-4147-A177-3AD203B41FA5}">
                      <a16:colId xmlns:a16="http://schemas.microsoft.com/office/drawing/2014/main" val="2108334555"/>
                    </a:ext>
                  </a:extLst>
                </a:gridCol>
                <a:gridCol w="221298">
                  <a:extLst>
                    <a:ext uri="{9D8B030D-6E8A-4147-A177-3AD203B41FA5}">
                      <a16:colId xmlns:a16="http://schemas.microsoft.com/office/drawing/2014/main" val="1536940019"/>
                    </a:ext>
                  </a:extLst>
                </a:gridCol>
                <a:gridCol w="221298">
                  <a:extLst>
                    <a:ext uri="{9D8B030D-6E8A-4147-A177-3AD203B41FA5}">
                      <a16:colId xmlns:a16="http://schemas.microsoft.com/office/drawing/2014/main" val="1285226037"/>
                    </a:ext>
                  </a:extLst>
                </a:gridCol>
                <a:gridCol w="221298">
                  <a:extLst>
                    <a:ext uri="{9D8B030D-6E8A-4147-A177-3AD203B41FA5}">
                      <a16:colId xmlns:a16="http://schemas.microsoft.com/office/drawing/2014/main" val="755871713"/>
                    </a:ext>
                  </a:extLst>
                </a:gridCol>
              </a:tblGrid>
              <a:tr h="239038">
                <a:tc>
                  <a:txBody>
                    <a:bodyPr/>
                    <a:lstStyle/>
                    <a:p>
                      <a:r>
                        <a:rPr lang="en-US" sz="1200" dirty="0"/>
                        <a:t>1</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1</a:t>
                      </a:r>
                    </a:p>
                  </a:txBody>
                  <a:tcPr/>
                </a:tc>
                <a:tc>
                  <a:txBody>
                    <a:bodyPr/>
                    <a:lstStyle/>
                    <a:p>
                      <a:r>
                        <a:rPr lang="en-US" sz="1200" dirty="0"/>
                        <a:t>1</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1</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extLst>
                  <a:ext uri="{0D108BD9-81ED-4DB2-BD59-A6C34878D82A}">
                    <a16:rowId xmlns:a16="http://schemas.microsoft.com/office/drawing/2014/main" val="3966666007"/>
                  </a:ext>
                </a:extLst>
              </a:tr>
            </a:tbl>
          </a:graphicData>
        </a:graphic>
      </p:graphicFrame>
      <p:graphicFrame>
        <p:nvGraphicFramePr>
          <p:cNvPr id="10" name="Table 9">
            <a:extLst>
              <a:ext uri="{FF2B5EF4-FFF2-40B4-BE49-F238E27FC236}">
                <a16:creationId xmlns:a16="http://schemas.microsoft.com/office/drawing/2014/main" id="{11D7EF32-993F-2745-862A-B2C71E280D33}"/>
              </a:ext>
            </a:extLst>
          </p:cNvPr>
          <p:cNvGraphicFramePr>
            <a:graphicFrameLocks/>
          </p:cNvGraphicFramePr>
          <p:nvPr>
            <p:extLst>
              <p:ext uri="{D42A27DB-BD31-4B8C-83A1-F6EECF244321}">
                <p14:modId xmlns:p14="http://schemas.microsoft.com/office/powerpoint/2010/main" val="30559669"/>
              </p:ext>
            </p:extLst>
          </p:nvPr>
        </p:nvGraphicFramePr>
        <p:xfrm>
          <a:off x="8087376" y="1844040"/>
          <a:ext cx="1005840" cy="274320"/>
        </p:xfrm>
        <a:graphic>
          <a:graphicData uri="http://schemas.openxmlformats.org/drawingml/2006/table">
            <a:tbl>
              <a:tblPr firstRow="1" bandRow="1">
                <a:tableStyleId>{5940675A-B579-460E-94D1-54222C63F5DA}</a:tableStyleId>
              </a:tblPr>
              <a:tblGrid>
                <a:gridCol w="586740">
                  <a:extLst>
                    <a:ext uri="{9D8B030D-6E8A-4147-A177-3AD203B41FA5}">
                      <a16:colId xmlns:a16="http://schemas.microsoft.com/office/drawing/2014/main" val="1248963695"/>
                    </a:ext>
                  </a:extLst>
                </a:gridCol>
                <a:gridCol w="419100">
                  <a:extLst>
                    <a:ext uri="{9D8B030D-6E8A-4147-A177-3AD203B41FA5}">
                      <a16:colId xmlns:a16="http://schemas.microsoft.com/office/drawing/2014/main" val="2053419318"/>
                    </a:ext>
                  </a:extLst>
                </a:gridCol>
              </a:tblGrid>
              <a:tr h="274320">
                <a:tc>
                  <a:txBody>
                    <a:bodyPr/>
                    <a:lstStyle/>
                    <a:p>
                      <a:r>
                        <a:rPr lang="en-US" sz="1000" dirty="0"/>
                        <a:t>2016</a:t>
                      </a:r>
                    </a:p>
                  </a:txBody>
                  <a:tcPr/>
                </a:tc>
                <a:tc>
                  <a:txBody>
                    <a:bodyPr/>
                    <a:lstStyle/>
                    <a:p>
                      <a:r>
                        <a:rPr lang="en-US" sz="1000" dirty="0"/>
                        <a:t>8.7</a:t>
                      </a:r>
                    </a:p>
                  </a:txBody>
                  <a:tcPr/>
                </a:tc>
                <a:extLst>
                  <a:ext uri="{0D108BD9-81ED-4DB2-BD59-A6C34878D82A}">
                    <a16:rowId xmlns:a16="http://schemas.microsoft.com/office/drawing/2014/main" val="14700918"/>
                  </a:ext>
                </a:extLst>
              </a:tr>
            </a:tbl>
          </a:graphicData>
        </a:graphic>
      </p:graphicFrame>
      <p:graphicFrame>
        <p:nvGraphicFramePr>
          <p:cNvPr id="11" name="Table 9">
            <a:extLst>
              <a:ext uri="{FF2B5EF4-FFF2-40B4-BE49-F238E27FC236}">
                <a16:creationId xmlns:a16="http://schemas.microsoft.com/office/drawing/2014/main" id="{7CCC9319-F343-0F4B-AE9B-E3D18FCABA55}"/>
              </a:ext>
            </a:extLst>
          </p:cNvPr>
          <p:cNvGraphicFramePr>
            <a:graphicFrameLocks/>
          </p:cNvGraphicFramePr>
          <p:nvPr>
            <p:extLst>
              <p:ext uri="{D42A27DB-BD31-4B8C-83A1-F6EECF244321}">
                <p14:modId xmlns:p14="http://schemas.microsoft.com/office/powerpoint/2010/main" val="230831505"/>
              </p:ext>
            </p:extLst>
          </p:nvPr>
        </p:nvGraphicFramePr>
        <p:xfrm>
          <a:off x="94246" y="2133600"/>
          <a:ext cx="911594" cy="274320"/>
        </p:xfrm>
        <a:graphic>
          <a:graphicData uri="http://schemas.openxmlformats.org/drawingml/2006/table">
            <a:tbl>
              <a:tblPr firstRow="1" bandRow="1">
                <a:tableStyleId>{5940675A-B579-460E-94D1-54222C63F5DA}</a:tableStyleId>
              </a:tblPr>
              <a:tblGrid>
                <a:gridCol w="911594">
                  <a:extLst>
                    <a:ext uri="{9D8B030D-6E8A-4147-A177-3AD203B41FA5}">
                      <a16:colId xmlns:a16="http://schemas.microsoft.com/office/drawing/2014/main" val="1248963695"/>
                    </a:ext>
                  </a:extLst>
                </a:gridCol>
              </a:tblGrid>
              <a:tr h="274320">
                <a:tc>
                  <a:txBody>
                    <a:bodyPr/>
                    <a:lstStyle/>
                    <a:p>
                      <a:pPr algn="r"/>
                      <a:r>
                        <a:rPr lang="en-US" sz="900" dirty="0" err="1"/>
                        <a:t>cocomelon</a:t>
                      </a:r>
                      <a:endParaRPr lang="en-US" sz="900" dirty="0"/>
                    </a:p>
                  </a:txBody>
                  <a:tcPr/>
                </a:tc>
                <a:extLst>
                  <a:ext uri="{0D108BD9-81ED-4DB2-BD59-A6C34878D82A}">
                    <a16:rowId xmlns:a16="http://schemas.microsoft.com/office/drawing/2014/main" val="14700918"/>
                  </a:ext>
                </a:extLst>
              </a:tr>
            </a:tbl>
          </a:graphicData>
        </a:graphic>
      </p:graphicFrame>
      <p:graphicFrame>
        <p:nvGraphicFramePr>
          <p:cNvPr id="12" name="Table 11">
            <a:extLst>
              <a:ext uri="{FF2B5EF4-FFF2-40B4-BE49-F238E27FC236}">
                <a16:creationId xmlns:a16="http://schemas.microsoft.com/office/drawing/2014/main" id="{27C4E6B1-D0C0-E047-9DC9-CD3EB5F6BDA1}"/>
              </a:ext>
            </a:extLst>
          </p:cNvPr>
          <p:cNvGraphicFramePr>
            <a:graphicFrameLocks noGrp="1"/>
          </p:cNvGraphicFramePr>
          <p:nvPr>
            <p:extLst>
              <p:ext uri="{D42A27DB-BD31-4B8C-83A1-F6EECF244321}">
                <p14:modId xmlns:p14="http://schemas.microsoft.com/office/powerpoint/2010/main" val="428054269"/>
              </p:ext>
            </p:extLst>
          </p:nvPr>
        </p:nvGraphicFramePr>
        <p:xfrm>
          <a:off x="1005840" y="2137611"/>
          <a:ext cx="7081536" cy="274320"/>
        </p:xfrm>
        <a:graphic>
          <a:graphicData uri="http://schemas.openxmlformats.org/drawingml/2006/table">
            <a:tbl>
              <a:tblPr firstRow="1" bandRow="1">
                <a:tableStyleId>{5940675A-B579-460E-94D1-54222C63F5DA}</a:tableStyleId>
              </a:tblPr>
              <a:tblGrid>
                <a:gridCol w="221298">
                  <a:extLst>
                    <a:ext uri="{9D8B030D-6E8A-4147-A177-3AD203B41FA5}">
                      <a16:colId xmlns:a16="http://schemas.microsoft.com/office/drawing/2014/main" val="4043809934"/>
                    </a:ext>
                  </a:extLst>
                </a:gridCol>
                <a:gridCol w="221298">
                  <a:extLst>
                    <a:ext uri="{9D8B030D-6E8A-4147-A177-3AD203B41FA5}">
                      <a16:colId xmlns:a16="http://schemas.microsoft.com/office/drawing/2014/main" val="1083911802"/>
                    </a:ext>
                  </a:extLst>
                </a:gridCol>
                <a:gridCol w="221298">
                  <a:extLst>
                    <a:ext uri="{9D8B030D-6E8A-4147-A177-3AD203B41FA5}">
                      <a16:colId xmlns:a16="http://schemas.microsoft.com/office/drawing/2014/main" val="866725055"/>
                    </a:ext>
                  </a:extLst>
                </a:gridCol>
                <a:gridCol w="221298">
                  <a:extLst>
                    <a:ext uri="{9D8B030D-6E8A-4147-A177-3AD203B41FA5}">
                      <a16:colId xmlns:a16="http://schemas.microsoft.com/office/drawing/2014/main" val="392089196"/>
                    </a:ext>
                  </a:extLst>
                </a:gridCol>
                <a:gridCol w="221298">
                  <a:extLst>
                    <a:ext uri="{9D8B030D-6E8A-4147-A177-3AD203B41FA5}">
                      <a16:colId xmlns:a16="http://schemas.microsoft.com/office/drawing/2014/main" val="2862581437"/>
                    </a:ext>
                  </a:extLst>
                </a:gridCol>
                <a:gridCol w="221298">
                  <a:extLst>
                    <a:ext uri="{9D8B030D-6E8A-4147-A177-3AD203B41FA5}">
                      <a16:colId xmlns:a16="http://schemas.microsoft.com/office/drawing/2014/main" val="542799575"/>
                    </a:ext>
                  </a:extLst>
                </a:gridCol>
                <a:gridCol w="221298">
                  <a:extLst>
                    <a:ext uri="{9D8B030D-6E8A-4147-A177-3AD203B41FA5}">
                      <a16:colId xmlns:a16="http://schemas.microsoft.com/office/drawing/2014/main" val="2017771861"/>
                    </a:ext>
                  </a:extLst>
                </a:gridCol>
                <a:gridCol w="221298">
                  <a:extLst>
                    <a:ext uri="{9D8B030D-6E8A-4147-A177-3AD203B41FA5}">
                      <a16:colId xmlns:a16="http://schemas.microsoft.com/office/drawing/2014/main" val="3872363045"/>
                    </a:ext>
                  </a:extLst>
                </a:gridCol>
                <a:gridCol w="221298">
                  <a:extLst>
                    <a:ext uri="{9D8B030D-6E8A-4147-A177-3AD203B41FA5}">
                      <a16:colId xmlns:a16="http://schemas.microsoft.com/office/drawing/2014/main" val="1416825768"/>
                    </a:ext>
                  </a:extLst>
                </a:gridCol>
                <a:gridCol w="221298">
                  <a:extLst>
                    <a:ext uri="{9D8B030D-6E8A-4147-A177-3AD203B41FA5}">
                      <a16:colId xmlns:a16="http://schemas.microsoft.com/office/drawing/2014/main" val="4112344660"/>
                    </a:ext>
                  </a:extLst>
                </a:gridCol>
                <a:gridCol w="221298">
                  <a:extLst>
                    <a:ext uri="{9D8B030D-6E8A-4147-A177-3AD203B41FA5}">
                      <a16:colId xmlns:a16="http://schemas.microsoft.com/office/drawing/2014/main" val="1562132188"/>
                    </a:ext>
                  </a:extLst>
                </a:gridCol>
                <a:gridCol w="221298">
                  <a:extLst>
                    <a:ext uri="{9D8B030D-6E8A-4147-A177-3AD203B41FA5}">
                      <a16:colId xmlns:a16="http://schemas.microsoft.com/office/drawing/2014/main" val="1680699977"/>
                    </a:ext>
                  </a:extLst>
                </a:gridCol>
                <a:gridCol w="221298">
                  <a:extLst>
                    <a:ext uri="{9D8B030D-6E8A-4147-A177-3AD203B41FA5}">
                      <a16:colId xmlns:a16="http://schemas.microsoft.com/office/drawing/2014/main" val="1727741282"/>
                    </a:ext>
                  </a:extLst>
                </a:gridCol>
                <a:gridCol w="221298">
                  <a:extLst>
                    <a:ext uri="{9D8B030D-6E8A-4147-A177-3AD203B41FA5}">
                      <a16:colId xmlns:a16="http://schemas.microsoft.com/office/drawing/2014/main" val="3008018322"/>
                    </a:ext>
                  </a:extLst>
                </a:gridCol>
                <a:gridCol w="221298">
                  <a:extLst>
                    <a:ext uri="{9D8B030D-6E8A-4147-A177-3AD203B41FA5}">
                      <a16:colId xmlns:a16="http://schemas.microsoft.com/office/drawing/2014/main" val="1827219844"/>
                    </a:ext>
                  </a:extLst>
                </a:gridCol>
                <a:gridCol w="221298">
                  <a:extLst>
                    <a:ext uri="{9D8B030D-6E8A-4147-A177-3AD203B41FA5}">
                      <a16:colId xmlns:a16="http://schemas.microsoft.com/office/drawing/2014/main" val="2749434627"/>
                    </a:ext>
                  </a:extLst>
                </a:gridCol>
                <a:gridCol w="221298">
                  <a:extLst>
                    <a:ext uri="{9D8B030D-6E8A-4147-A177-3AD203B41FA5}">
                      <a16:colId xmlns:a16="http://schemas.microsoft.com/office/drawing/2014/main" val="3527777149"/>
                    </a:ext>
                  </a:extLst>
                </a:gridCol>
                <a:gridCol w="221298">
                  <a:extLst>
                    <a:ext uri="{9D8B030D-6E8A-4147-A177-3AD203B41FA5}">
                      <a16:colId xmlns:a16="http://schemas.microsoft.com/office/drawing/2014/main" val="3503061559"/>
                    </a:ext>
                  </a:extLst>
                </a:gridCol>
                <a:gridCol w="221298">
                  <a:extLst>
                    <a:ext uri="{9D8B030D-6E8A-4147-A177-3AD203B41FA5}">
                      <a16:colId xmlns:a16="http://schemas.microsoft.com/office/drawing/2014/main" val="3111334691"/>
                    </a:ext>
                  </a:extLst>
                </a:gridCol>
                <a:gridCol w="221298">
                  <a:extLst>
                    <a:ext uri="{9D8B030D-6E8A-4147-A177-3AD203B41FA5}">
                      <a16:colId xmlns:a16="http://schemas.microsoft.com/office/drawing/2014/main" val="1795558087"/>
                    </a:ext>
                  </a:extLst>
                </a:gridCol>
                <a:gridCol w="221298">
                  <a:extLst>
                    <a:ext uri="{9D8B030D-6E8A-4147-A177-3AD203B41FA5}">
                      <a16:colId xmlns:a16="http://schemas.microsoft.com/office/drawing/2014/main" val="19639808"/>
                    </a:ext>
                  </a:extLst>
                </a:gridCol>
                <a:gridCol w="221298">
                  <a:extLst>
                    <a:ext uri="{9D8B030D-6E8A-4147-A177-3AD203B41FA5}">
                      <a16:colId xmlns:a16="http://schemas.microsoft.com/office/drawing/2014/main" val="3052112526"/>
                    </a:ext>
                  </a:extLst>
                </a:gridCol>
                <a:gridCol w="221298">
                  <a:extLst>
                    <a:ext uri="{9D8B030D-6E8A-4147-A177-3AD203B41FA5}">
                      <a16:colId xmlns:a16="http://schemas.microsoft.com/office/drawing/2014/main" val="112986972"/>
                    </a:ext>
                  </a:extLst>
                </a:gridCol>
                <a:gridCol w="221298">
                  <a:extLst>
                    <a:ext uri="{9D8B030D-6E8A-4147-A177-3AD203B41FA5}">
                      <a16:colId xmlns:a16="http://schemas.microsoft.com/office/drawing/2014/main" val="3348471992"/>
                    </a:ext>
                  </a:extLst>
                </a:gridCol>
                <a:gridCol w="221298">
                  <a:extLst>
                    <a:ext uri="{9D8B030D-6E8A-4147-A177-3AD203B41FA5}">
                      <a16:colId xmlns:a16="http://schemas.microsoft.com/office/drawing/2014/main" val="3280489927"/>
                    </a:ext>
                  </a:extLst>
                </a:gridCol>
                <a:gridCol w="221298">
                  <a:extLst>
                    <a:ext uri="{9D8B030D-6E8A-4147-A177-3AD203B41FA5}">
                      <a16:colId xmlns:a16="http://schemas.microsoft.com/office/drawing/2014/main" val="2012949713"/>
                    </a:ext>
                  </a:extLst>
                </a:gridCol>
                <a:gridCol w="221298">
                  <a:extLst>
                    <a:ext uri="{9D8B030D-6E8A-4147-A177-3AD203B41FA5}">
                      <a16:colId xmlns:a16="http://schemas.microsoft.com/office/drawing/2014/main" val="3697583002"/>
                    </a:ext>
                  </a:extLst>
                </a:gridCol>
                <a:gridCol w="221298">
                  <a:extLst>
                    <a:ext uri="{9D8B030D-6E8A-4147-A177-3AD203B41FA5}">
                      <a16:colId xmlns:a16="http://schemas.microsoft.com/office/drawing/2014/main" val="4128147424"/>
                    </a:ext>
                  </a:extLst>
                </a:gridCol>
                <a:gridCol w="221298">
                  <a:extLst>
                    <a:ext uri="{9D8B030D-6E8A-4147-A177-3AD203B41FA5}">
                      <a16:colId xmlns:a16="http://schemas.microsoft.com/office/drawing/2014/main" val="2108334555"/>
                    </a:ext>
                  </a:extLst>
                </a:gridCol>
                <a:gridCol w="221298">
                  <a:extLst>
                    <a:ext uri="{9D8B030D-6E8A-4147-A177-3AD203B41FA5}">
                      <a16:colId xmlns:a16="http://schemas.microsoft.com/office/drawing/2014/main" val="1536940019"/>
                    </a:ext>
                  </a:extLst>
                </a:gridCol>
                <a:gridCol w="221298">
                  <a:extLst>
                    <a:ext uri="{9D8B030D-6E8A-4147-A177-3AD203B41FA5}">
                      <a16:colId xmlns:a16="http://schemas.microsoft.com/office/drawing/2014/main" val="1285226037"/>
                    </a:ext>
                  </a:extLst>
                </a:gridCol>
                <a:gridCol w="221298">
                  <a:extLst>
                    <a:ext uri="{9D8B030D-6E8A-4147-A177-3AD203B41FA5}">
                      <a16:colId xmlns:a16="http://schemas.microsoft.com/office/drawing/2014/main" val="755871713"/>
                    </a:ext>
                  </a:extLst>
                </a:gridCol>
              </a:tblGrid>
              <a:tr h="239038">
                <a:tc>
                  <a:txBody>
                    <a:bodyPr/>
                    <a:lstStyle/>
                    <a:p>
                      <a:r>
                        <a:rPr lang="en-US" sz="1200" dirty="0"/>
                        <a:t>0</a:t>
                      </a:r>
                    </a:p>
                  </a:txBody>
                  <a:tcPr/>
                </a:tc>
                <a:tc>
                  <a:txBody>
                    <a:bodyPr/>
                    <a:lstStyle/>
                    <a:p>
                      <a:r>
                        <a:rPr lang="en-US" sz="1200" dirty="0"/>
                        <a:t>1</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1</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1</a:t>
                      </a:r>
                    </a:p>
                  </a:txBody>
                  <a:tcPr/>
                </a:tc>
                <a:tc>
                  <a:txBody>
                    <a:bodyPr/>
                    <a:lstStyle/>
                    <a:p>
                      <a:r>
                        <a:rPr lang="en-US" sz="1200" dirty="0"/>
                        <a:t>0</a:t>
                      </a:r>
                    </a:p>
                  </a:txBody>
                  <a:tcPr/>
                </a:tc>
                <a:tc>
                  <a:txBody>
                    <a:bodyPr/>
                    <a:lstStyle/>
                    <a:p>
                      <a:r>
                        <a:rPr lang="en-US" sz="1200" dirty="0"/>
                        <a:t>1</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extLst>
                  <a:ext uri="{0D108BD9-81ED-4DB2-BD59-A6C34878D82A}">
                    <a16:rowId xmlns:a16="http://schemas.microsoft.com/office/drawing/2014/main" val="3966666007"/>
                  </a:ext>
                </a:extLst>
              </a:tr>
            </a:tbl>
          </a:graphicData>
        </a:graphic>
      </p:graphicFrame>
      <p:graphicFrame>
        <p:nvGraphicFramePr>
          <p:cNvPr id="13" name="Table 12">
            <a:extLst>
              <a:ext uri="{FF2B5EF4-FFF2-40B4-BE49-F238E27FC236}">
                <a16:creationId xmlns:a16="http://schemas.microsoft.com/office/drawing/2014/main" id="{2277ADF7-D576-EE46-9D9D-23FE709495D6}"/>
              </a:ext>
            </a:extLst>
          </p:cNvPr>
          <p:cNvGraphicFramePr>
            <a:graphicFrameLocks/>
          </p:cNvGraphicFramePr>
          <p:nvPr>
            <p:extLst>
              <p:ext uri="{D42A27DB-BD31-4B8C-83A1-F6EECF244321}">
                <p14:modId xmlns:p14="http://schemas.microsoft.com/office/powerpoint/2010/main" val="686589338"/>
              </p:ext>
            </p:extLst>
          </p:nvPr>
        </p:nvGraphicFramePr>
        <p:xfrm>
          <a:off x="8087376" y="2133600"/>
          <a:ext cx="1005840" cy="274320"/>
        </p:xfrm>
        <a:graphic>
          <a:graphicData uri="http://schemas.openxmlformats.org/drawingml/2006/table">
            <a:tbl>
              <a:tblPr firstRow="1" bandRow="1">
                <a:tableStyleId>{5940675A-B579-460E-94D1-54222C63F5DA}</a:tableStyleId>
              </a:tblPr>
              <a:tblGrid>
                <a:gridCol w="586740">
                  <a:extLst>
                    <a:ext uri="{9D8B030D-6E8A-4147-A177-3AD203B41FA5}">
                      <a16:colId xmlns:a16="http://schemas.microsoft.com/office/drawing/2014/main" val="1248963695"/>
                    </a:ext>
                  </a:extLst>
                </a:gridCol>
                <a:gridCol w="419100">
                  <a:extLst>
                    <a:ext uri="{9D8B030D-6E8A-4147-A177-3AD203B41FA5}">
                      <a16:colId xmlns:a16="http://schemas.microsoft.com/office/drawing/2014/main" val="2053419318"/>
                    </a:ext>
                  </a:extLst>
                </a:gridCol>
              </a:tblGrid>
              <a:tr h="274320">
                <a:tc>
                  <a:txBody>
                    <a:bodyPr/>
                    <a:lstStyle/>
                    <a:p>
                      <a:r>
                        <a:rPr lang="en-US" sz="1000" dirty="0"/>
                        <a:t>2019</a:t>
                      </a:r>
                    </a:p>
                  </a:txBody>
                  <a:tcPr/>
                </a:tc>
                <a:tc>
                  <a:txBody>
                    <a:bodyPr/>
                    <a:lstStyle/>
                    <a:p>
                      <a:r>
                        <a:rPr lang="en-US" sz="1000" dirty="0"/>
                        <a:t>4.7</a:t>
                      </a:r>
                    </a:p>
                  </a:txBody>
                  <a:tcPr/>
                </a:tc>
                <a:extLst>
                  <a:ext uri="{0D108BD9-81ED-4DB2-BD59-A6C34878D82A}">
                    <a16:rowId xmlns:a16="http://schemas.microsoft.com/office/drawing/2014/main" val="14700918"/>
                  </a:ext>
                </a:extLst>
              </a:tr>
            </a:tbl>
          </a:graphicData>
        </a:graphic>
      </p:graphicFrame>
      <p:graphicFrame>
        <p:nvGraphicFramePr>
          <p:cNvPr id="14" name="Table 9">
            <a:extLst>
              <a:ext uri="{FF2B5EF4-FFF2-40B4-BE49-F238E27FC236}">
                <a16:creationId xmlns:a16="http://schemas.microsoft.com/office/drawing/2014/main" id="{0D9127C4-6A2E-AF47-B525-B6C6186F1269}"/>
              </a:ext>
            </a:extLst>
          </p:cNvPr>
          <p:cNvGraphicFramePr>
            <a:graphicFrameLocks/>
          </p:cNvGraphicFramePr>
          <p:nvPr>
            <p:extLst>
              <p:ext uri="{D42A27DB-BD31-4B8C-83A1-F6EECF244321}">
                <p14:modId xmlns:p14="http://schemas.microsoft.com/office/powerpoint/2010/main" val="1288900930"/>
              </p:ext>
            </p:extLst>
          </p:nvPr>
        </p:nvGraphicFramePr>
        <p:xfrm>
          <a:off x="94246" y="2388669"/>
          <a:ext cx="911594" cy="274320"/>
        </p:xfrm>
        <a:graphic>
          <a:graphicData uri="http://schemas.openxmlformats.org/drawingml/2006/table">
            <a:tbl>
              <a:tblPr firstRow="1" bandRow="1">
                <a:tableStyleId>{5940675A-B579-460E-94D1-54222C63F5DA}</a:tableStyleId>
              </a:tblPr>
              <a:tblGrid>
                <a:gridCol w="911594">
                  <a:extLst>
                    <a:ext uri="{9D8B030D-6E8A-4147-A177-3AD203B41FA5}">
                      <a16:colId xmlns:a16="http://schemas.microsoft.com/office/drawing/2014/main" val="1248963695"/>
                    </a:ext>
                  </a:extLst>
                </a:gridCol>
              </a:tblGrid>
              <a:tr h="274320">
                <a:tc>
                  <a:txBody>
                    <a:bodyPr/>
                    <a:lstStyle/>
                    <a:p>
                      <a:pPr algn="r"/>
                      <a:r>
                        <a:rPr lang="en-US" sz="900" dirty="0"/>
                        <a:t>100 foot waves</a:t>
                      </a:r>
                    </a:p>
                  </a:txBody>
                  <a:tcPr/>
                </a:tc>
                <a:extLst>
                  <a:ext uri="{0D108BD9-81ED-4DB2-BD59-A6C34878D82A}">
                    <a16:rowId xmlns:a16="http://schemas.microsoft.com/office/drawing/2014/main" val="14700918"/>
                  </a:ext>
                </a:extLst>
              </a:tr>
            </a:tbl>
          </a:graphicData>
        </a:graphic>
      </p:graphicFrame>
      <p:graphicFrame>
        <p:nvGraphicFramePr>
          <p:cNvPr id="15" name="Table 11">
            <a:extLst>
              <a:ext uri="{FF2B5EF4-FFF2-40B4-BE49-F238E27FC236}">
                <a16:creationId xmlns:a16="http://schemas.microsoft.com/office/drawing/2014/main" id="{09F4EADF-5943-224F-BB94-E5F88114A711}"/>
              </a:ext>
            </a:extLst>
          </p:cNvPr>
          <p:cNvGraphicFramePr>
            <a:graphicFrameLocks noGrp="1"/>
          </p:cNvGraphicFramePr>
          <p:nvPr>
            <p:extLst>
              <p:ext uri="{D42A27DB-BD31-4B8C-83A1-F6EECF244321}">
                <p14:modId xmlns:p14="http://schemas.microsoft.com/office/powerpoint/2010/main" val="1707580667"/>
              </p:ext>
            </p:extLst>
          </p:nvPr>
        </p:nvGraphicFramePr>
        <p:xfrm>
          <a:off x="1005840" y="2392680"/>
          <a:ext cx="7081536" cy="274320"/>
        </p:xfrm>
        <a:graphic>
          <a:graphicData uri="http://schemas.openxmlformats.org/drawingml/2006/table">
            <a:tbl>
              <a:tblPr firstRow="1" bandRow="1">
                <a:tableStyleId>{5940675A-B579-460E-94D1-54222C63F5DA}</a:tableStyleId>
              </a:tblPr>
              <a:tblGrid>
                <a:gridCol w="221298">
                  <a:extLst>
                    <a:ext uri="{9D8B030D-6E8A-4147-A177-3AD203B41FA5}">
                      <a16:colId xmlns:a16="http://schemas.microsoft.com/office/drawing/2014/main" val="4043809934"/>
                    </a:ext>
                  </a:extLst>
                </a:gridCol>
                <a:gridCol w="221298">
                  <a:extLst>
                    <a:ext uri="{9D8B030D-6E8A-4147-A177-3AD203B41FA5}">
                      <a16:colId xmlns:a16="http://schemas.microsoft.com/office/drawing/2014/main" val="1083911802"/>
                    </a:ext>
                  </a:extLst>
                </a:gridCol>
                <a:gridCol w="221298">
                  <a:extLst>
                    <a:ext uri="{9D8B030D-6E8A-4147-A177-3AD203B41FA5}">
                      <a16:colId xmlns:a16="http://schemas.microsoft.com/office/drawing/2014/main" val="866725055"/>
                    </a:ext>
                  </a:extLst>
                </a:gridCol>
                <a:gridCol w="221298">
                  <a:extLst>
                    <a:ext uri="{9D8B030D-6E8A-4147-A177-3AD203B41FA5}">
                      <a16:colId xmlns:a16="http://schemas.microsoft.com/office/drawing/2014/main" val="392089196"/>
                    </a:ext>
                  </a:extLst>
                </a:gridCol>
                <a:gridCol w="221298">
                  <a:extLst>
                    <a:ext uri="{9D8B030D-6E8A-4147-A177-3AD203B41FA5}">
                      <a16:colId xmlns:a16="http://schemas.microsoft.com/office/drawing/2014/main" val="2862581437"/>
                    </a:ext>
                  </a:extLst>
                </a:gridCol>
                <a:gridCol w="221298">
                  <a:extLst>
                    <a:ext uri="{9D8B030D-6E8A-4147-A177-3AD203B41FA5}">
                      <a16:colId xmlns:a16="http://schemas.microsoft.com/office/drawing/2014/main" val="542799575"/>
                    </a:ext>
                  </a:extLst>
                </a:gridCol>
                <a:gridCol w="221298">
                  <a:extLst>
                    <a:ext uri="{9D8B030D-6E8A-4147-A177-3AD203B41FA5}">
                      <a16:colId xmlns:a16="http://schemas.microsoft.com/office/drawing/2014/main" val="2017771861"/>
                    </a:ext>
                  </a:extLst>
                </a:gridCol>
                <a:gridCol w="221298">
                  <a:extLst>
                    <a:ext uri="{9D8B030D-6E8A-4147-A177-3AD203B41FA5}">
                      <a16:colId xmlns:a16="http://schemas.microsoft.com/office/drawing/2014/main" val="3872363045"/>
                    </a:ext>
                  </a:extLst>
                </a:gridCol>
                <a:gridCol w="221298">
                  <a:extLst>
                    <a:ext uri="{9D8B030D-6E8A-4147-A177-3AD203B41FA5}">
                      <a16:colId xmlns:a16="http://schemas.microsoft.com/office/drawing/2014/main" val="1416825768"/>
                    </a:ext>
                  </a:extLst>
                </a:gridCol>
                <a:gridCol w="221298">
                  <a:extLst>
                    <a:ext uri="{9D8B030D-6E8A-4147-A177-3AD203B41FA5}">
                      <a16:colId xmlns:a16="http://schemas.microsoft.com/office/drawing/2014/main" val="4112344660"/>
                    </a:ext>
                  </a:extLst>
                </a:gridCol>
                <a:gridCol w="221298">
                  <a:extLst>
                    <a:ext uri="{9D8B030D-6E8A-4147-A177-3AD203B41FA5}">
                      <a16:colId xmlns:a16="http://schemas.microsoft.com/office/drawing/2014/main" val="1562132188"/>
                    </a:ext>
                  </a:extLst>
                </a:gridCol>
                <a:gridCol w="221298">
                  <a:extLst>
                    <a:ext uri="{9D8B030D-6E8A-4147-A177-3AD203B41FA5}">
                      <a16:colId xmlns:a16="http://schemas.microsoft.com/office/drawing/2014/main" val="1680699977"/>
                    </a:ext>
                  </a:extLst>
                </a:gridCol>
                <a:gridCol w="221298">
                  <a:extLst>
                    <a:ext uri="{9D8B030D-6E8A-4147-A177-3AD203B41FA5}">
                      <a16:colId xmlns:a16="http://schemas.microsoft.com/office/drawing/2014/main" val="1727741282"/>
                    </a:ext>
                  </a:extLst>
                </a:gridCol>
                <a:gridCol w="221298">
                  <a:extLst>
                    <a:ext uri="{9D8B030D-6E8A-4147-A177-3AD203B41FA5}">
                      <a16:colId xmlns:a16="http://schemas.microsoft.com/office/drawing/2014/main" val="3008018322"/>
                    </a:ext>
                  </a:extLst>
                </a:gridCol>
                <a:gridCol w="221298">
                  <a:extLst>
                    <a:ext uri="{9D8B030D-6E8A-4147-A177-3AD203B41FA5}">
                      <a16:colId xmlns:a16="http://schemas.microsoft.com/office/drawing/2014/main" val="1827219844"/>
                    </a:ext>
                  </a:extLst>
                </a:gridCol>
                <a:gridCol w="221298">
                  <a:extLst>
                    <a:ext uri="{9D8B030D-6E8A-4147-A177-3AD203B41FA5}">
                      <a16:colId xmlns:a16="http://schemas.microsoft.com/office/drawing/2014/main" val="2749434627"/>
                    </a:ext>
                  </a:extLst>
                </a:gridCol>
                <a:gridCol w="221298">
                  <a:extLst>
                    <a:ext uri="{9D8B030D-6E8A-4147-A177-3AD203B41FA5}">
                      <a16:colId xmlns:a16="http://schemas.microsoft.com/office/drawing/2014/main" val="3527777149"/>
                    </a:ext>
                  </a:extLst>
                </a:gridCol>
                <a:gridCol w="221298">
                  <a:extLst>
                    <a:ext uri="{9D8B030D-6E8A-4147-A177-3AD203B41FA5}">
                      <a16:colId xmlns:a16="http://schemas.microsoft.com/office/drawing/2014/main" val="3503061559"/>
                    </a:ext>
                  </a:extLst>
                </a:gridCol>
                <a:gridCol w="221298">
                  <a:extLst>
                    <a:ext uri="{9D8B030D-6E8A-4147-A177-3AD203B41FA5}">
                      <a16:colId xmlns:a16="http://schemas.microsoft.com/office/drawing/2014/main" val="3111334691"/>
                    </a:ext>
                  </a:extLst>
                </a:gridCol>
                <a:gridCol w="221298">
                  <a:extLst>
                    <a:ext uri="{9D8B030D-6E8A-4147-A177-3AD203B41FA5}">
                      <a16:colId xmlns:a16="http://schemas.microsoft.com/office/drawing/2014/main" val="1795558087"/>
                    </a:ext>
                  </a:extLst>
                </a:gridCol>
                <a:gridCol w="221298">
                  <a:extLst>
                    <a:ext uri="{9D8B030D-6E8A-4147-A177-3AD203B41FA5}">
                      <a16:colId xmlns:a16="http://schemas.microsoft.com/office/drawing/2014/main" val="19639808"/>
                    </a:ext>
                  </a:extLst>
                </a:gridCol>
                <a:gridCol w="221298">
                  <a:extLst>
                    <a:ext uri="{9D8B030D-6E8A-4147-A177-3AD203B41FA5}">
                      <a16:colId xmlns:a16="http://schemas.microsoft.com/office/drawing/2014/main" val="3052112526"/>
                    </a:ext>
                  </a:extLst>
                </a:gridCol>
                <a:gridCol w="221298">
                  <a:extLst>
                    <a:ext uri="{9D8B030D-6E8A-4147-A177-3AD203B41FA5}">
                      <a16:colId xmlns:a16="http://schemas.microsoft.com/office/drawing/2014/main" val="112986972"/>
                    </a:ext>
                  </a:extLst>
                </a:gridCol>
                <a:gridCol w="221298">
                  <a:extLst>
                    <a:ext uri="{9D8B030D-6E8A-4147-A177-3AD203B41FA5}">
                      <a16:colId xmlns:a16="http://schemas.microsoft.com/office/drawing/2014/main" val="3348471992"/>
                    </a:ext>
                  </a:extLst>
                </a:gridCol>
                <a:gridCol w="221298">
                  <a:extLst>
                    <a:ext uri="{9D8B030D-6E8A-4147-A177-3AD203B41FA5}">
                      <a16:colId xmlns:a16="http://schemas.microsoft.com/office/drawing/2014/main" val="3280489927"/>
                    </a:ext>
                  </a:extLst>
                </a:gridCol>
                <a:gridCol w="221298">
                  <a:extLst>
                    <a:ext uri="{9D8B030D-6E8A-4147-A177-3AD203B41FA5}">
                      <a16:colId xmlns:a16="http://schemas.microsoft.com/office/drawing/2014/main" val="2012949713"/>
                    </a:ext>
                  </a:extLst>
                </a:gridCol>
                <a:gridCol w="221298">
                  <a:extLst>
                    <a:ext uri="{9D8B030D-6E8A-4147-A177-3AD203B41FA5}">
                      <a16:colId xmlns:a16="http://schemas.microsoft.com/office/drawing/2014/main" val="3697583002"/>
                    </a:ext>
                  </a:extLst>
                </a:gridCol>
                <a:gridCol w="221298">
                  <a:extLst>
                    <a:ext uri="{9D8B030D-6E8A-4147-A177-3AD203B41FA5}">
                      <a16:colId xmlns:a16="http://schemas.microsoft.com/office/drawing/2014/main" val="4128147424"/>
                    </a:ext>
                  </a:extLst>
                </a:gridCol>
                <a:gridCol w="221298">
                  <a:extLst>
                    <a:ext uri="{9D8B030D-6E8A-4147-A177-3AD203B41FA5}">
                      <a16:colId xmlns:a16="http://schemas.microsoft.com/office/drawing/2014/main" val="2108334555"/>
                    </a:ext>
                  </a:extLst>
                </a:gridCol>
                <a:gridCol w="221298">
                  <a:extLst>
                    <a:ext uri="{9D8B030D-6E8A-4147-A177-3AD203B41FA5}">
                      <a16:colId xmlns:a16="http://schemas.microsoft.com/office/drawing/2014/main" val="1536940019"/>
                    </a:ext>
                  </a:extLst>
                </a:gridCol>
                <a:gridCol w="221298">
                  <a:extLst>
                    <a:ext uri="{9D8B030D-6E8A-4147-A177-3AD203B41FA5}">
                      <a16:colId xmlns:a16="http://schemas.microsoft.com/office/drawing/2014/main" val="1285226037"/>
                    </a:ext>
                  </a:extLst>
                </a:gridCol>
                <a:gridCol w="221298">
                  <a:extLst>
                    <a:ext uri="{9D8B030D-6E8A-4147-A177-3AD203B41FA5}">
                      <a16:colId xmlns:a16="http://schemas.microsoft.com/office/drawing/2014/main" val="755871713"/>
                    </a:ext>
                  </a:extLst>
                </a:gridCol>
              </a:tblGrid>
              <a:tr h="239038">
                <a:tc>
                  <a:txBody>
                    <a:bodyPr/>
                    <a:lstStyle/>
                    <a:p>
                      <a:r>
                        <a:rPr lang="en-US" sz="1200" dirty="0"/>
                        <a:t>0</a:t>
                      </a:r>
                    </a:p>
                  </a:txBody>
                  <a:tcPr/>
                </a:tc>
                <a:tc>
                  <a:txBody>
                    <a:bodyPr/>
                    <a:lstStyle/>
                    <a:p>
                      <a:r>
                        <a:rPr lang="en-US" sz="1200" dirty="0"/>
                        <a:t>0</a:t>
                      </a:r>
                    </a:p>
                  </a:txBody>
                  <a:tcPr/>
                </a:tc>
                <a:tc>
                  <a:txBody>
                    <a:bodyPr/>
                    <a:lstStyle/>
                    <a:p>
                      <a:r>
                        <a:rPr lang="en-US" sz="1200" dirty="0"/>
                        <a:t>1</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1</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1</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extLst>
                  <a:ext uri="{0D108BD9-81ED-4DB2-BD59-A6C34878D82A}">
                    <a16:rowId xmlns:a16="http://schemas.microsoft.com/office/drawing/2014/main" val="3966666007"/>
                  </a:ext>
                </a:extLst>
              </a:tr>
            </a:tbl>
          </a:graphicData>
        </a:graphic>
      </p:graphicFrame>
      <p:graphicFrame>
        <p:nvGraphicFramePr>
          <p:cNvPr id="16" name="Table 15">
            <a:extLst>
              <a:ext uri="{FF2B5EF4-FFF2-40B4-BE49-F238E27FC236}">
                <a16:creationId xmlns:a16="http://schemas.microsoft.com/office/drawing/2014/main" id="{39E74854-AFBE-AE45-93C5-9849E790236B}"/>
              </a:ext>
            </a:extLst>
          </p:cNvPr>
          <p:cNvGraphicFramePr>
            <a:graphicFrameLocks/>
          </p:cNvGraphicFramePr>
          <p:nvPr>
            <p:extLst>
              <p:ext uri="{D42A27DB-BD31-4B8C-83A1-F6EECF244321}">
                <p14:modId xmlns:p14="http://schemas.microsoft.com/office/powerpoint/2010/main" val="1177952185"/>
              </p:ext>
            </p:extLst>
          </p:nvPr>
        </p:nvGraphicFramePr>
        <p:xfrm>
          <a:off x="8087376" y="2388669"/>
          <a:ext cx="1005840" cy="274320"/>
        </p:xfrm>
        <a:graphic>
          <a:graphicData uri="http://schemas.openxmlformats.org/drawingml/2006/table">
            <a:tbl>
              <a:tblPr firstRow="1" bandRow="1">
                <a:tableStyleId>{5940675A-B579-460E-94D1-54222C63F5DA}</a:tableStyleId>
              </a:tblPr>
              <a:tblGrid>
                <a:gridCol w="586740">
                  <a:extLst>
                    <a:ext uri="{9D8B030D-6E8A-4147-A177-3AD203B41FA5}">
                      <a16:colId xmlns:a16="http://schemas.microsoft.com/office/drawing/2014/main" val="1248963695"/>
                    </a:ext>
                  </a:extLst>
                </a:gridCol>
                <a:gridCol w="419100">
                  <a:extLst>
                    <a:ext uri="{9D8B030D-6E8A-4147-A177-3AD203B41FA5}">
                      <a16:colId xmlns:a16="http://schemas.microsoft.com/office/drawing/2014/main" val="2053419318"/>
                    </a:ext>
                  </a:extLst>
                </a:gridCol>
              </a:tblGrid>
              <a:tr h="274320">
                <a:tc>
                  <a:txBody>
                    <a:bodyPr/>
                    <a:lstStyle/>
                    <a:p>
                      <a:r>
                        <a:rPr lang="en-US" sz="1000" dirty="0"/>
                        <a:t>2021</a:t>
                      </a:r>
                    </a:p>
                  </a:txBody>
                  <a:tcPr/>
                </a:tc>
                <a:tc>
                  <a:txBody>
                    <a:bodyPr/>
                    <a:lstStyle/>
                    <a:p>
                      <a:r>
                        <a:rPr lang="en-US" sz="1000" dirty="0"/>
                        <a:t>8.1</a:t>
                      </a:r>
                    </a:p>
                  </a:txBody>
                  <a:tcPr/>
                </a:tc>
                <a:extLst>
                  <a:ext uri="{0D108BD9-81ED-4DB2-BD59-A6C34878D82A}">
                    <a16:rowId xmlns:a16="http://schemas.microsoft.com/office/drawing/2014/main" val="14700918"/>
                  </a:ext>
                </a:extLst>
              </a:tr>
            </a:tbl>
          </a:graphicData>
        </a:graphic>
      </p:graphicFrame>
      <p:graphicFrame>
        <p:nvGraphicFramePr>
          <p:cNvPr id="17" name="Table 9">
            <a:extLst>
              <a:ext uri="{FF2B5EF4-FFF2-40B4-BE49-F238E27FC236}">
                <a16:creationId xmlns:a16="http://schemas.microsoft.com/office/drawing/2014/main" id="{28419FF2-04DD-4C4D-A321-85C57BECE9FC}"/>
              </a:ext>
            </a:extLst>
          </p:cNvPr>
          <p:cNvGraphicFramePr>
            <a:graphicFrameLocks/>
          </p:cNvGraphicFramePr>
          <p:nvPr>
            <p:extLst>
              <p:ext uri="{D42A27DB-BD31-4B8C-83A1-F6EECF244321}">
                <p14:modId xmlns:p14="http://schemas.microsoft.com/office/powerpoint/2010/main" val="981128276"/>
              </p:ext>
            </p:extLst>
          </p:nvPr>
        </p:nvGraphicFramePr>
        <p:xfrm>
          <a:off x="94246" y="2667000"/>
          <a:ext cx="911594" cy="274320"/>
        </p:xfrm>
        <a:graphic>
          <a:graphicData uri="http://schemas.openxmlformats.org/drawingml/2006/table">
            <a:tbl>
              <a:tblPr firstRow="1" bandRow="1">
                <a:tableStyleId>{5940675A-B579-460E-94D1-54222C63F5DA}</a:tableStyleId>
              </a:tblPr>
              <a:tblGrid>
                <a:gridCol w="911594">
                  <a:extLst>
                    <a:ext uri="{9D8B030D-6E8A-4147-A177-3AD203B41FA5}">
                      <a16:colId xmlns:a16="http://schemas.microsoft.com/office/drawing/2014/main" val="1248963695"/>
                    </a:ext>
                  </a:extLst>
                </a:gridCol>
              </a:tblGrid>
              <a:tr h="274320">
                <a:tc>
                  <a:txBody>
                    <a:bodyPr/>
                    <a:lstStyle/>
                    <a:p>
                      <a:pPr algn="r"/>
                      <a:r>
                        <a:rPr lang="en-US" sz="900" dirty="0"/>
                        <a:t>I, Tonya</a:t>
                      </a:r>
                    </a:p>
                  </a:txBody>
                  <a:tcPr/>
                </a:tc>
                <a:extLst>
                  <a:ext uri="{0D108BD9-81ED-4DB2-BD59-A6C34878D82A}">
                    <a16:rowId xmlns:a16="http://schemas.microsoft.com/office/drawing/2014/main" val="14700918"/>
                  </a:ext>
                </a:extLst>
              </a:tr>
            </a:tbl>
          </a:graphicData>
        </a:graphic>
      </p:graphicFrame>
      <p:graphicFrame>
        <p:nvGraphicFramePr>
          <p:cNvPr id="18" name="Table 11">
            <a:extLst>
              <a:ext uri="{FF2B5EF4-FFF2-40B4-BE49-F238E27FC236}">
                <a16:creationId xmlns:a16="http://schemas.microsoft.com/office/drawing/2014/main" id="{2145822B-3777-2845-8E5E-CACA23950CBB}"/>
              </a:ext>
            </a:extLst>
          </p:cNvPr>
          <p:cNvGraphicFramePr>
            <a:graphicFrameLocks noGrp="1"/>
          </p:cNvGraphicFramePr>
          <p:nvPr>
            <p:extLst>
              <p:ext uri="{D42A27DB-BD31-4B8C-83A1-F6EECF244321}">
                <p14:modId xmlns:p14="http://schemas.microsoft.com/office/powerpoint/2010/main" val="3353078375"/>
              </p:ext>
            </p:extLst>
          </p:nvPr>
        </p:nvGraphicFramePr>
        <p:xfrm>
          <a:off x="1005840" y="2671011"/>
          <a:ext cx="7081536" cy="274320"/>
        </p:xfrm>
        <a:graphic>
          <a:graphicData uri="http://schemas.openxmlformats.org/drawingml/2006/table">
            <a:tbl>
              <a:tblPr firstRow="1" bandRow="1">
                <a:tableStyleId>{5940675A-B579-460E-94D1-54222C63F5DA}</a:tableStyleId>
              </a:tblPr>
              <a:tblGrid>
                <a:gridCol w="221298">
                  <a:extLst>
                    <a:ext uri="{9D8B030D-6E8A-4147-A177-3AD203B41FA5}">
                      <a16:colId xmlns:a16="http://schemas.microsoft.com/office/drawing/2014/main" val="4043809934"/>
                    </a:ext>
                  </a:extLst>
                </a:gridCol>
                <a:gridCol w="221298">
                  <a:extLst>
                    <a:ext uri="{9D8B030D-6E8A-4147-A177-3AD203B41FA5}">
                      <a16:colId xmlns:a16="http://schemas.microsoft.com/office/drawing/2014/main" val="1083911802"/>
                    </a:ext>
                  </a:extLst>
                </a:gridCol>
                <a:gridCol w="221298">
                  <a:extLst>
                    <a:ext uri="{9D8B030D-6E8A-4147-A177-3AD203B41FA5}">
                      <a16:colId xmlns:a16="http://schemas.microsoft.com/office/drawing/2014/main" val="866725055"/>
                    </a:ext>
                  </a:extLst>
                </a:gridCol>
                <a:gridCol w="221298">
                  <a:extLst>
                    <a:ext uri="{9D8B030D-6E8A-4147-A177-3AD203B41FA5}">
                      <a16:colId xmlns:a16="http://schemas.microsoft.com/office/drawing/2014/main" val="392089196"/>
                    </a:ext>
                  </a:extLst>
                </a:gridCol>
                <a:gridCol w="221298">
                  <a:extLst>
                    <a:ext uri="{9D8B030D-6E8A-4147-A177-3AD203B41FA5}">
                      <a16:colId xmlns:a16="http://schemas.microsoft.com/office/drawing/2014/main" val="2862581437"/>
                    </a:ext>
                  </a:extLst>
                </a:gridCol>
                <a:gridCol w="221298">
                  <a:extLst>
                    <a:ext uri="{9D8B030D-6E8A-4147-A177-3AD203B41FA5}">
                      <a16:colId xmlns:a16="http://schemas.microsoft.com/office/drawing/2014/main" val="542799575"/>
                    </a:ext>
                  </a:extLst>
                </a:gridCol>
                <a:gridCol w="221298">
                  <a:extLst>
                    <a:ext uri="{9D8B030D-6E8A-4147-A177-3AD203B41FA5}">
                      <a16:colId xmlns:a16="http://schemas.microsoft.com/office/drawing/2014/main" val="2017771861"/>
                    </a:ext>
                  </a:extLst>
                </a:gridCol>
                <a:gridCol w="221298">
                  <a:extLst>
                    <a:ext uri="{9D8B030D-6E8A-4147-A177-3AD203B41FA5}">
                      <a16:colId xmlns:a16="http://schemas.microsoft.com/office/drawing/2014/main" val="3872363045"/>
                    </a:ext>
                  </a:extLst>
                </a:gridCol>
                <a:gridCol w="221298">
                  <a:extLst>
                    <a:ext uri="{9D8B030D-6E8A-4147-A177-3AD203B41FA5}">
                      <a16:colId xmlns:a16="http://schemas.microsoft.com/office/drawing/2014/main" val="1416825768"/>
                    </a:ext>
                  </a:extLst>
                </a:gridCol>
                <a:gridCol w="221298">
                  <a:extLst>
                    <a:ext uri="{9D8B030D-6E8A-4147-A177-3AD203B41FA5}">
                      <a16:colId xmlns:a16="http://schemas.microsoft.com/office/drawing/2014/main" val="4112344660"/>
                    </a:ext>
                  </a:extLst>
                </a:gridCol>
                <a:gridCol w="221298">
                  <a:extLst>
                    <a:ext uri="{9D8B030D-6E8A-4147-A177-3AD203B41FA5}">
                      <a16:colId xmlns:a16="http://schemas.microsoft.com/office/drawing/2014/main" val="1562132188"/>
                    </a:ext>
                  </a:extLst>
                </a:gridCol>
                <a:gridCol w="221298">
                  <a:extLst>
                    <a:ext uri="{9D8B030D-6E8A-4147-A177-3AD203B41FA5}">
                      <a16:colId xmlns:a16="http://schemas.microsoft.com/office/drawing/2014/main" val="1680699977"/>
                    </a:ext>
                  </a:extLst>
                </a:gridCol>
                <a:gridCol w="221298">
                  <a:extLst>
                    <a:ext uri="{9D8B030D-6E8A-4147-A177-3AD203B41FA5}">
                      <a16:colId xmlns:a16="http://schemas.microsoft.com/office/drawing/2014/main" val="1727741282"/>
                    </a:ext>
                  </a:extLst>
                </a:gridCol>
                <a:gridCol w="221298">
                  <a:extLst>
                    <a:ext uri="{9D8B030D-6E8A-4147-A177-3AD203B41FA5}">
                      <a16:colId xmlns:a16="http://schemas.microsoft.com/office/drawing/2014/main" val="3008018322"/>
                    </a:ext>
                  </a:extLst>
                </a:gridCol>
                <a:gridCol w="221298">
                  <a:extLst>
                    <a:ext uri="{9D8B030D-6E8A-4147-A177-3AD203B41FA5}">
                      <a16:colId xmlns:a16="http://schemas.microsoft.com/office/drawing/2014/main" val="1827219844"/>
                    </a:ext>
                  </a:extLst>
                </a:gridCol>
                <a:gridCol w="221298">
                  <a:extLst>
                    <a:ext uri="{9D8B030D-6E8A-4147-A177-3AD203B41FA5}">
                      <a16:colId xmlns:a16="http://schemas.microsoft.com/office/drawing/2014/main" val="2749434627"/>
                    </a:ext>
                  </a:extLst>
                </a:gridCol>
                <a:gridCol w="221298">
                  <a:extLst>
                    <a:ext uri="{9D8B030D-6E8A-4147-A177-3AD203B41FA5}">
                      <a16:colId xmlns:a16="http://schemas.microsoft.com/office/drawing/2014/main" val="3527777149"/>
                    </a:ext>
                  </a:extLst>
                </a:gridCol>
                <a:gridCol w="221298">
                  <a:extLst>
                    <a:ext uri="{9D8B030D-6E8A-4147-A177-3AD203B41FA5}">
                      <a16:colId xmlns:a16="http://schemas.microsoft.com/office/drawing/2014/main" val="3503061559"/>
                    </a:ext>
                  </a:extLst>
                </a:gridCol>
                <a:gridCol w="221298">
                  <a:extLst>
                    <a:ext uri="{9D8B030D-6E8A-4147-A177-3AD203B41FA5}">
                      <a16:colId xmlns:a16="http://schemas.microsoft.com/office/drawing/2014/main" val="3111334691"/>
                    </a:ext>
                  </a:extLst>
                </a:gridCol>
                <a:gridCol w="221298">
                  <a:extLst>
                    <a:ext uri="{9D8B030D-6E8A-4147-A177-3AD203B41FA5}">
                      <a16:colId xmlns:a16="http://schemas.microsoft.com/office/drawing/2014/main" val="1795558087"/>
                    </a:ext>
                  </a:extLst>
                </a:gridCol>
                <a:gridCol w="221298">
                  <a:extLst>
                    <a:ext uri="{9D8B030D-6E8A-4147-A177-3AD203B41FA5}">
                      <a16:colId xmlns:a16="http://schemas.microsoft.com/office/drawing/2014/main" val="19639808"/>
                    </a:ext>
                  </a:extLst>
                </a:gridCol>
                <a:gridCol w="221298">
                  <a:extLst>
                    <a:ext uri="{9D8B030D-6E8A-4147-A177-3AD203B41FA5}">
                      <a16:colId xmlns:a16="http://schemas.microsoft.com/office/drawing/2014/main" val="3052112526"/>
                    </a:ext>
                  </a:extLst>
                </a:gridCol>
                <a:gridCol w="221298">
                  <a:extLst>
                    <a:ext uri="{9D8B030D-6E8A-4147-A177-3AD203B41FA5}">
                      <a16:colId xmlns:a16="http://schemas.microsoft.com/office/drawing/2014/main" val="112986972"/>
                    </a:ext>
                  </a:extLst>
                </a:gridCol>
                <a:gridCol w="221298">
                  <a:extLst>
                    <a:ext uri="{9D8B030D-6E8A-4147-A177-3AD203B41FA5}">
                      <a16:colId xmlns:a16="http://schemas.microsoft.com/office/drawing/2014/main" val="3348471992"/>
                    </a:ext>
                  </a:extLst>
                </a:gridCol>
                <a:gridCol w="221298">
                  <a:extLst>
                    <a:ext uri="{9D8B030D-6E8A-4147-A177-3AD203B41FA5}">
                      <a16:colId xmlns:a16="http://schemas.microsoft.com/office/drawing/2014/main" val="3280489927"/>
                    </a:ext>
                  </a:extLst>
                </a:gridCol>
                <a:gridCol w="221298">
                  <a:extLst>
                    <a:ext uri="{9D8B030D-6E8A-4147-A177-3AD203B41FA5}">
                      <a16:colId xmlns:a16="http://schemas.microsoft.com/office/drawing/2014/main" val="2012949713"/>
                    </a:ext>
                  </a:extLst>
                </a:gridCol>
                <a:gridCol w="221298">
                  <a:extLst>
                    <a:ext uri="{9D8B030D-6E8A-4147-A177-3AD203B41FA5}">
                      <a16:colId xmlns:a16="http://schemas.microsoft.com/office/drawing/2014/main" val="3697583002"/>
                    </a:ext>
                  </a:extLst>
                </a:gridCol>
                <a:gridCol w="221298">
                  <a:extLst>
                    <a:ext uri="{9D8B030D-6E8A-4147-A177-3AD203B41FA5}">
                      <a16:colId xmlns:a16="http://schemas.microsoft.com/office/drawing/2014/main" val="4128147424"/>
                    </a:ext>
                  </a:extLst>
                </a:gridCol>
                <a:gridCol w="221298">
                  <a:extLst>
                    <a:ext uri="{9D8B030D-6E8A-4147-A177-3AD203B41FA5}">
                      <a16:colId xmlns:a16="http://schemas.microsoft.com/office/drawing/2014/main" val="2108334555"/>
                    </a:ext>
                  </a:extLst>
                </a:gridCol>
                <a:gridCol w="221298">
                  <a:extLst>
                    <a:ext uri="{9D8B030D-6E8A-4147-A177-3AD203B41FA5}">
                      <a16:colId xmlns:a16="http://schemas.microsoft.com/office/drawing/2014/main" val="1536940019"/>
                    </a:ext>
                  </a:extLst>
                </a:gridCol>
                <a:gridCol w="221298">
                  <a:extLst>
                    <a:ext uri="{9D8B030D-6E8A-4147-A177-3AD203B41FA5}">
                      <a16:colId xmlns:a16="http://schemas.microsoft.com/office/drawing/2014/main" val="1285226037"/>
                    </a:ext>
                  </a:extLst>
                </a:gridCol>
                <a:gridCol w="221298">
                  <a:extLst>
                    <a:ext uri="{9D8B030D-6E8A-4147-A177-3AD203B41FA5}">
                      <a16:colId xmlns:a16="http://schemas.microsoft.com/office/drawing/2014/main" val="755871713"/>
                    </a:ext>
                  </a:extLst>
                </a:gridCol>
              </a:tblGrid>
              <a:tr h="239038">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1</a:t>
                      </a:r>
                    </a:p>
                  </a:txBody>
                  <a:tcPr/>
                </a:tc>
                <a:tc>
                  <a:txBody>
                    <a:bodyPr/>
                    <a:lstStyle/>
                    <a:p>
                      <a:r>
                        <a:rPr lang="en-US" sz="1200" dirty="0"/>
                        <a:t>0</a:t>
                      </a:r>
                    </a:p>
                  </a:txBody>
                  <a:tcPr/>
                </a:tc>
                <a:tc>
                  <a:txBody>
                    <a:bodyPr/>
                    <a:lstStyle/>
                    <a:p>
                      <a:r>
                        <a:rPr lang="en-US" sz="1200" dirty="0"/>
                        <a:t>1</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1</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1</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tc>
                  <a:txBody>
                    <a:bodyPr/>
                    <a:lstStyle/>
                    <a:p>
                      <a:r>
                        <a:rPr lang="en-US" sz="1200" dirty="0"/>
                        <a:t>0</a:t>
                      </a:r>
                    </a:p>
                  </a:txBody>
                  <a:tcPr/>
                </a:tc>
                <a:extLst>
                  <a:ext uri="{0D108BD9-81ED-4DB2-BD59-A6C34878D82A}">
                    <a16:rowId xmlns:a16="http://schemas.microsoft.com/office/drawing/2014/main" val="3966666007"/>
                  </a:ext>
                </a:extLst>
              </a:tr>
            </a:tbl>
          </a:graphicData>
        </a:graphic>
      </p:graphicFrame>
      <p:graphicFrame>
        <p:nvGraphicFramePr>
          <p:cNvPr id="19" name="Table 18">
            <a:extLst>
              <a:ext uri="{FF2B5EF4-FFF2-40B4-BE49-F238E27FC236}">
                <a16:creationId xmlns:a16="http://schemas.microsoft.com/office/drawing/2014/main" id="{EC0BEC9F-3236-FC43-9958-17CAFC430FD6}"/>
              </a:ext>
            </a:extLst>
          </p:cNvPr>
          <p:cNvGraphicFramePr>
            <a:graphicFrameLocks/>
          </p:cNvGraphicFramePr>
          <p:nvPr>
            <p:extLst>
              <p:ext uri="{D42A27DB-BD31-4B8C-83A1-F6EECF244321}">
                <p14:modId xmlns:p14="http://schemas.microsoft.com/office/powerpoint/2010/main" val="76923818"/>
              </p:ext>
            </p:extLst>
          </p:nvPr>
        </p:nvGraphicFramePr>
        <p:xfrm>
          <a:off x="8087376" y="2667000"/>
          <a:ext cx="1005840" cy="274320"/>
        </p:xfrm>
        <a:graphic>
          <a:graphicData uri="http://schemas.openxmlformats.org/drawingml/2006/table">
            <a:tbl>
              <a:tblPr firstRow="1" bandRow="1">
                <a:tableStyleId>{5940675A-B579-460E-94D1-54222C63F5DA}</a:tableStyleId>
              </a:tblPr>
              <a:tblGrid>
                <a:gridCol w="586740">
                  <a:extLst>
                    <a:ext uri="{9D8B030D-6E8A-4147-A177-3AD203B41FA5}">
                      <a16:colId xmlns:a16="http://schemas.microsoft.com/office/drawing/2014/main" val="1248963695"/>
                    </a:ext>
                  </a:extLst>
                </a:gridCol>
                <a:gridCol w="419100">
                  <a:extLst>
                    <a:ext uri="{9D8B030D-6E8A-4147-A177-3AD203B41FA5}">
                      <a16:colId xmlns:a16="http://schemas.microsoft.com/office/drawing/2014/main" val="2053419318"/>
                    </a:ext>
                  </a:extLst>
                </a:gridCol>
              </a:tblGrid>
              <a:tr h="274320">
                <a:tc>
                  <a:txBody>
                    <a:bodyPr/>
                    <a:lstStyle/>
                    <a:p>
                      <a:r>
                        <a:rPr lang="en-US" sz="1000" dirty="0"/>
                        <a:t>2017</a:t>
                      </a:r>
                    </a:p>
                  </a:txBody>
                  <a:tcPr/>
                </a:tc>
                <a:tc>
                  <a:txBody>
                    <a:bodyPr/>
                    <a:lstStyle/>
                    <a:p>
                      <a:r>
                        <a:rPr lang="en-US" sz="1000" dirty="0"/>
                        <a:t>7.5</a:t>
                      </a:r>
                    </a:p>
                  </a:txBody>
                  <a:tcPr/>
                </a:tc>
                <a:extLst>
                  <a:ext uri="{0D108BD9-81ED-4DB2-BD59-A6C34878D82A}">
                    <a16:rowId xmlns:a16="http://schemas.microsoft.com/office/drawing/2014/main" val="14700918"/>
                  </a:ext>
                </a:extLst>
              </a:tr>
            </a:tbl>
          </a:graphicData>
        </a:graphic>
      </p:graphicFrame>
      <p:sp>
        <p:nvSpPr>
          <p:cNvPr id="20" name="Right Brace 19">
            <a:extLst>
              <a:ext uri="{FF2B5EF4-FFF2-40B4-BE49-F238E27FC236}">
                <a16:creationId xmlns:a16="http://schemas.microsoft.com/office/drawing/2014/main" id="{C444577D-D82D-4242-ABF1-127FCAAD057D}"/>
              </a:ext>
            </a:extLst>
          </p:cNvPr>
          <p:cNvSpPr/>
          <p:nvPr/>
        </p:nvSpPr>
        <p:spPr>
          <a:xfrm rot="16200000">
            <a:off x="1312043" y="1160605"/>
            <a:ext cx="274320" cy="911593"/>
          </a:xfrm>
          <a:prstGeom prst="rightBrace">
            <a:avLst/>
          </a:prstGeom>
          <a:ln w="28575">
            <a:solidFill>
              <a:srgbClr val="D60093"/>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1" name="Right Brace 20">
            <a:extLst>
              <a:ext uri="{FF2B5EF4-FFF2-40B4-BE49-F238E27FC236}">
                <a16:creationId xmlns:a16="http://schemas.microsoft.com/office/drawing/2014/main" id="{43FC80BB-FE54-4644-99EE-5ACBCDD14891}"/>
              </a:ext>
            </a:extLst>
          </p:cNvPr>
          <p:cNvSpPr/>
          <p:nvPr/>
        </p:nvSpPr>
        <p:spPr>
          <a:xfrm rot="16200000">
            <a:off x="4897130" y="-1436687"/>
            <a:ext cx="274320" cy="6106177"/>
          </a:xfrm>
          <a:prstGeom prst="rightBrace">
            <a:avLst/>
          </a:prstGeom>
          <a:ln w="28575">
            <a:solidFill>
              <a:srgbClr val="D60093"/>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12B61144-327D-3E4C-980F-3DD365953461}"/>
              </a:ext>
            </a:extLst>
          </p:cNvPr>
          <p:cNvSpPr txBox="1"/>
          <p:nvPr/>
        </p:nvSpPr>
        <p:spPr>
          <a:xfrm>
            <a:off x="1007444" y="1193417"/>
            <a:ext cx="975361" cy="323165"/>
          </a:xfrm>
          <a:prstGeom prst="rect">
            <a:avLst/>
          </a:prstGeom>
          <a:noFill/>
        </p:spPr>
        <p:txBody>
          <a:bodyPr wrap="square" rtlCol="0">
            <a:spAutoFit/>
          </a:bodyPr>
          <a:lstStyle/>
          <a:p>
            <a:r>
              <a:rPr lang="en-US" sz="1500" dirty="0">
                <a:latin typeface="Arial" pitchFamily="34" charset="0"/>
                <a:cs typeface="Arial" pitchFamily="34" charset="0"/>
              </a:rPr>
              <a:t>provider</a:t>
            </a:r>
          </a:p>
        </p:txBody>
      </p:sp>
      <p:sp>
        <p:nvSpPr>
          <p:cNvPr id="23" name="TextBox 22">
            <a:extLst>
              <a:ext uri="{FF2B5EF4-FFF2-40B4-BE49-F238E27FC236}">
                <a16:creationId xmlns:a16="http://schemas.microsoft.com/office/drawing/2014/main" id="{F573A5F1-4C54-EA47-ABF7-937D6C4723FD}"/>
              </a:ext>
            </a:extLst>
          </p:cNvPr>
          <p:cNvSpPr txBox="1"/>
          <p:nvPr/>
        </p:nvSpPr>
        <p:spPr>
          <a:xfrm>
            <a:off x="4546608" y="1157238"/>
            <a:ext cx="1396992" cy="323165"/>
          </a:xfrm>
          <a:prstGeom prst="rect">
            <a:avLst/>
          </a:prstGeom>
          <a:noFill/>
        </p:spPr>
        <p:txBody>
          <a:bodyPr wrap="square" rtlCol="0">
            <a:spAutoFit/>
          </a:bodyPr>
          <a:lstStyle/>
          <a:p>
            <a:r>
              <a:rPr lang="en-US" sz="1500" dirty="0">
                <a:latin typeface="Arial" pitchFamily="34" charset="0"/>
                <a:cs typeface="Arial" pitchFamily="34" charset="0"/>
              </a:rPr>
              <a:t>IMDB genres</a:t>
            </a:r>
          </a:p>
        </p:txBody>
      </p:sp>
      <p:sp>
        <p:nvSpPr>
          <p:cNvPr id="24" name="Content Placeholder 2">
            <a:extLst>
              <a:ext uri="{FF2B5EF4-FFF2-40B4-BE49-F238E27FC236}">
                <a16:creationId xmlns:a16="http://schemas.microsoft.com/office/drawing/2014/main" id="{763C1802-F253-1E41-B01A-5C0C655E6828}"/>
              </a:ext>
            </a:extLst>
          </p:cNvPr>
          <p:cNvSpPr txBox="1">
            <a:spLocks/>
          </p:cNvSpPr>
          <p:nvPr/>
        </p:nvSpPr>
        <p:spPr>
          <a:xfrm>
            <a:off x="457200" y="1295400"/>
            <a:ext cx="8229600" cy="5257801"/>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endParaRPr lang="en-US" dirty="0"/>
          </a:p>
          <a:p>
            <a:endParaRPr lang="en-US" dirty="0"/>
          </a:p>
          <a:p>
            <a:endParaRPr lang="en-US" dirty="0"/>
          </a:p>
          <a:p>
            <a:endParaRPr lang="en-US" dirty="0"/>
          </a:p>
          <a:p>
            <a:r>
              <a:rPr lang="en-US" dirty="0"/>
              <a:t>Data dimensions increased from 5 to 35.  It will blow up to thousands or a million if we multi-hot encode title! </a:t>
            </a:r>
          </a:p>
          <a:p>
            <a:endParaRPr lang="en-US" dirty="0"/>
          </a:p>
          <a:p>
            <a:r>
              <a:rPr lang="en-US" dirty="0">
                <a:solidFill>
                  <a:srgbClr val="D60093"/>
                </a:solidFill>
              </a:rPr>
              <a:t>One-hot and multi-hot encodings are not practical for features with large value sets.</a:t>
            </a:r>
          </a:p>
        </p:txBody>
      </p:sp>
    </p:spTree>
    <p:extLst>
      <p:ext uri="{BB962C8B-B14F-4D97-AF65-F5344CB8AC3E}">
        <p14:creationId xmlns:p14="http://schemas.microsoft.com/office/powerpoint/2010/main" val="2958039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A964F-4C72-444F-AE4C-EBD37821493B}"/>
              </a:ext>
            </a:extLst>
          </p:cNvPr>
          <p:cNvSpPr>
            <a:spLocks noGrp="1"/>
          </p:cNvSpPr>
          <p:nvPr>
            <p:ph type="title"/>
          </p:nvPr>
        </p:nvSpPr>
        <p:spPr/>
        <p:txBody>
          <a:bodyPr/>
          <a:lstStyle/>
          <a:p>
            <a:r>
              <a:rPr lang="en-US" dirty="0"/>
              <a:t>From encoding to embedding</a:t>
            </a:r>
          </a:p>
        </p:txBody>
      </p:sp>
      <p:sp>
        <p:nvSpPr>
          <p:cNvPr id="3" name="Content Placeholder 2">
            <a:extLst>
              <a:ext uri="{FF2B5EF4-FFF2-40B4-BE49-F238E27FC236}">
                <a16:creationId xmlns:a16="http://schemas.microsoft.com/office/drawing/2014/main" id="{9EEBBDD3-06FE-F546-9BEA-13A5DEABB8AB}"/>
              </a:ext>
            </a:extLst>
          </p:cNvPr>
          <p:cNvSpPr>
            <a:spLocks noGrp="1"/>
          </p:cNvSpPr>
          <p:nvPr>
            <p:ph idx="1"/>
          </p:nvPr>
        </p:nvSpPr>
        <p:spPr>
          <a:xfrm>
            <a:off x="457200" y="1295400"/>
            <a:ext cx="8382000" cy="5257801"/>
          </a:xfrm>
        </p:spPr>
        <p:txBody>
          <a:bodyPr>
            <a:normAutofit fontScale="70000" lnSpcReduction="20000"/>
          </a:bodyPr>
          <a:lstStyle/>
          <a:p>
            <a:r>
              <a:rPr lang="en-US" sz="4000" b="1" dirty="0"/>
              <a:t>One-hot/multi-hot encodings</a:t>
            </a:r>
            <a:r>
              <a:rPr lang="en-US" dirty="0"/>
              <a:t>:</a:t>
            </a:r>
          </a:p>
          <a:p>
            <a:pPr lvl="1"/>
            <a:r>
              <a:rPr lang="en-US" dirty="0">
                <a:solidFill>
                  <a:srgbClr val="008000"/>
                </a:solidFill>
              </a:rPr>
              <a:t>pros</a:t>
            </a:r>
            <a:r>
              <a:rPr lang="en-US" dirty="0"/>
              <a:t>: simple, robust, the observation that simple models trained on huge amounts of data outperform complex systems trained on less data </a:t>
            </a:r>
          </a:p>
          <a:p>
            <a:pPr lvl="1"/>
            <a:r>
              <a:rPr lang="en-US" dirty="0">
                <a:solidFill>
                  <a:srgbClr val="FF0000"/>
                </a:solidFill>
              </a:rPr>
              <a:t>cons</a:t>
            </a:r>
            <a:r>
              <a:rPr lang="en-US" dirty="0"/>
              <a:t>: </a:t>
            </a:r>
            <a:r>
              <a:rPr lang="en-US" dirty="0">
                <a:solidFill>
                  <a:srgbClr val="D60093"/>
                </a:solidFill>
              </a:rPr>
              <a:t>sparse</a:t>
            </a:r>
            <a:r>
              <a:rPr lang="en-US" dirty="0"/>
              <a:t> and </a:t>
            </a:r>
            <a:r>
              <a:rPr lang="en-US" dirty="0">
                <a:solidFill>
                  <a:srgbClr val="D60093"/>
                </a:solidFill>
              </a:rPr>
              <a:t>high dimensional, </a:t>
            </a:r>
            <a:r>
              <a:rPr lang="en-US" dirty="0"/>
              <a:t>does not capture </a:t>
            </a:r>
            <a:r>
              <a:rPr lang="en-US" dirty="0">
                <a:solidFill>
                  <a:srgbClr val="D60093"/>
                </a:solidFill>
              </a:rPr>
              <a:t>semantic similarity</a:t>
            </a:r>
          </a:p>
          <a:p>
            <a:endParaRPr lang="en-US" dirty="0">
              <a:solidFill>
                <a:srgbClr val="D60093"/>
              </a:solidFill>
            </a:endParaRPr>
          </a:p>
          <a:p>
            <a:pPr lvl="1"/>
            <a:r>
              <a:rPr lang="en-US" dirty="0"/>
              <a:t>In a corpus of documents with one </a:t>
            </a:r>
            <a:r>
              <a:rPr lang="en-US" dirty="0">
                <a:solidFill>
                  <a:srgbClr val="0000FF"/>
                </a:solidFill>
              </a:rPr>
              <a:t>million</a:t>
            </a:r>
            <a:r>
              <a:rPr lang="en-US" dirty="0"/>
              <a:t> distinct words:</a:t>
            </a:r>
          </a:p>
          <a:p>
            <a:pPr lvl="2"/>
            <a:r>
              <a:rPr lang="en-US" dirty="0">
                <a:solidFill>
                  <a:srgbClr val="D60093"/>
                </a:solidFill>
              </a:rPr>
              <a:t>high dimensional: </a:t>
            </a:r>
            <a:r>
              <a:rPr lang="en-US" dirty="0"/>
              <a:t>multi-hot encodings are 1-million dimensional</a:t>
            </a:r>
          </a:p>
          <a:p>
            <a:pPr lvl="2"/>
            <a:r>
              <a:rPr lang="en-US" dirty="0">
                <a:solidFill>
                  <a:srgbClr val="D60093"/>
                </a:solidFill>
              </a:rPr>
              <a:t>Sparse: </a:t>
            </a:r>
            <a:r>
              <a:rPr lang="en-US" dirty="0"/>
              <a:t>an average document contains 500 words therefore the multi-hot encodings are &gt; 99.95% sparse</a:t>
            </a:r>
          </a:p>
          <a:p>
            <a:pPr lvl="2"/>
            <a:r>
              <a:rPr lang="en-US" dirty="0">
                <a:solidFill>
                  <a:srgbClr val="D60093"/>
                </a:solidFill>
              </a:rPr>
              <a:t>lack of semantic: </a:t>
            </a:r>
            <a:r>
              <a:rPr lang="en-US" dirty="0"/>
              <a:t>encoding of two words ‘good’ and ‘great’ are as different as encoding of ‘good’ and ‘bad’! </a:t>
            </a:r>
          </a:p>
          <a:p>
            <a:pPr lvl="1"/>
            <a:endParaRPr lang="en-US" dirty="0"/>
          </a:p>
          <a:p>
            <a:r>
              <a:rPr lang="en-US" dirty="0"/>
              <a:t>An </a:t>
            </a:r>
            <a:r>
              <a:rPr lang="en-US" dirty="0">
                <a:solidFill>
                  <a:srgbClr val="D60093"/>
                </a:solidFill>
              </a:rPr>
              <a:t>embedding</a:t>
            </a:r>
            <a:r>
              <a:rPr lang="en-US" dirty="0"/>
              <a:t> is a translation of a high-dim vector into a low-dim space. An embedding is a:</a:t>
            </a:r>
          </a:p>
          <a:p>
            <a:pPr lvl="1"/>
            <a:r>
              <a:rPr lang="en-US" dirty="0"/>
              <a:t>Dense representation (floating-point value)</a:t>
            </a:r>
          </a:p>
          <a:p>
            <a:pPr lvl="1"/>
            <a:r>
              <a:rPr lang="en-US" dirty="0"/>
              <a:t>Low-dimensional vector</a:t>
            </a:r>
          </a:p>
          <a:p>
            <a:pPr lvl="1"/>
            <a:r>
              <a:rPr lang="en-US" dirty="0"/>
              <a:t>Captures semantic similarity</a:t>
            </a:r>
          </a:p>
        </p:txBody>
      </p:sp>
      <p:sp>
        <p:nvSpPr>
          <p:cNvPr id="4" name="Date Placeholder 3">
            <a:extLst>
              <a:ext uri="{FF2B5EF4-FFF2-40B4-BE49-F238E27FC236}">
                <a16:creationId xmlns:a16="http://schemas.microsoft.com/office/drawing/2014/main" id="{231B1A12-67A2-9C4A-A028-E92611DD8B81}"/>
              </a:ext>
            </a:extLst>
          </p:cNvPr>
          <p:cNvSpPr>
            <a:spLocks noGrp="1"/>
          </p:cNvSpPr>
          <p:nvPr>
            <p:ph type="dt" sz="half" idx="10"/>
          </p:nvPr>
        </p:nvSpPr>
        <p:spPr/>
        <p:txBody>
          <a:bodyPr/>
          <a:lstStyle/>
          <a:p>
            <a:fld id="{2871184E-EC2E-AB46-AE26-0B0E53AD7914}" type="datetime1">
              <a:rPr lang="en-US" smtClean="0"/>
              <a:t>11/3/24</a:t>
            </a:fld>
            <a:endParaRPr lang="en-US"/>
          </a:p>
        </p:txBody>
      </p:sp>
      <p:sp>
        <p:nvSpPr>
          <p:cNvPr id="5" name="Footer Placeholder 4">
            <a:extLst>
              <a:ext uri="{FF2B5EF4-FFF2-40B4-BE49-F238E27FC236}">
                <a16:creationId xmlns:a16="http://schemas.microsoft.com/office/drawing/2014/main" id="{CBA20B4D-C2CB-4E40-B84F-62A18EC4F3D2}"/>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F3A75FCF-4DCF-7742-B641-C2A3A8AB2587}"/>
              </a:ext>
            </a:extLst>
          </p:cNvPr>
          <p:cNvSpPr>
            <a:spLocks noGrp="1"/>
          </p:cNvSpPr>
          <p:nvPr>
            <p:ph type="sldNum" sz="quarter" idx="12"/>
          </p:nvPr>
        </p:nvSpPr>
        <p:spPr/>
        <p:txBody>
          <a:bodyPr/>
          <a:lstStyle/>
          <a:p>
            <a:fld id="{19B12225-5612-419B-A8D5-4B8EEE4C217E}" type="slidenum">
              <a:rPr lang="en-US" smtClean="0"/>
              <a:pPr/>
              <a:t>8</a:t>
            </a:fld>
            <a:endParaRPr lang="en-US"/>
          </a:p>
        </p:txBody>
      </p:sp>
    </p:spTree>
    <p:extLst>
      <p:ext uri="{BB962C8B-B14F-4D97-AF65-F5344CB8AC3E}">
        <p14:creationId xmlns:p14="http://schemas.microsoft.com/office/powerpoint/2010/main" val="2676972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4EBCF-B74C-654E-85D6-9DC04B55C718}"/>
              </a:ext>
            </a:extLst>
          </p:cNvPr>
          <p:cNvSpPr>
            <a:spLocks noGrp="1"/>
          </p:cNvSpPr>
          <p:nvPr>
            <p:ph type="title"/>
          </p:nvPr>
        </p:nvSpPr>
        <p:spPr/>
        <p:txBody>
          <a:bodyPr/>
          <a:lstStyle/>
          <a:p>
            <a:r>
              <a:rPr lang="en-US" dirty="0"/>
              <a:t>Review: SVD as an embedder</a:t>
            </a:r>
          </a:p>
        </p:txBody>
      </p:sp>
      <p:sp>
        <p:nvSpPr>
          <p:cNvPr id="3" name="Content Placeholder 2">
            <a:extLst>
              <a:ext uri="{FF2B5EF4-FFF2-40B4-BE49-F238E27FC236}">
                <a16:creationId xmlns:a16="http://schemas.microsoft.com/office/drawing/2014/main" id="{5B0D6EDC-0EE0-4E45-AAA9-9E0A0FFE6467}"/>
              </a:ext>
            </a:extLst>
          </p:cNvPr>
          <p:cNvSpPr>
            <a:spLocks noGrp="1"/>
          </p:cNvSpPr>
          <p:nvPr>
            <p:ph idx="1"/>
          </p:nvPr>
        </p:nvSpPr>
        <p:spPr/>
        <p:txBody>
          <a:bodyPr>
            <a:normAutofit lnSpcReduction="10000"/>
          </a:bodyPr>
          <a:lstStyle/>
          <a:p>
            <a:r>
              <a:rPr lang="en-US" dirty="0">
                <a:solidFill>
                  <a:srgbClr val="D60093"/>
                </a:solidFill>
              </a:rPr>
              <a:t>Standard dimensionality Reduction methods</a:t>
            </a:r>
          </a:p>
          <a:p>
            <a:pPr lvl="1"/>
            <a:r>
              <a:rPr lang="en-US" sz="2500" dirty="0"/>
              <a:t>Singular value decompositions (SVD)</a:t>
            </a:r>
          </a:p>
          <a:p>
            <a:pPr lvl="1"/>
            <a:endParaRPr lang="en-US" sz="2500" dirty="0"/>
          </a:p>
          <a:p>
            <a:pPr lvl="1"/>
            <a:endParaRPr lang="en-US" sz="2500" dirty="0"/>
          </a:p>
          <a:p>
            <a:pPr lvl="1"/>
            <a:endParaRPr lang="en-US" sz="2500" dirty="0"/>
          </a:p>
          <a:p>
            <a:pPr lvl="1"/>
            <a:endParaRPr lang="en-US" sz="2500" dirty="0"/>
          </a:p>
          <a:p>
            <a:pPr lvl="1"/>
            <a:endParaRPr lang="en-US" sz="2500" dirty="0"/>
          </a:p>
          <a:p>
            <a:pPr marL="457200" lvl="1" indent="0">
              <a:buNone/>
            </a:pPr>
            <a:endParaRPr lang="en-US" sz="2400" dirty="0"/>
          </a:p>
          <a:p>
            <a:pPr>
              <a:lnSpc>
                <a:spcPct val="90000"/>
              </a:lnSpc>
            </a:pPr>
            <a:endParaRPr lang="en-US" sz="2200" b="1" dirty="0"/>
          </a:p>
          <a:p>
            <a:pPr>
              <a:lnSpc>
                <a:spcPct val="90000"/>
              </a:lnSpc>
            </a:pPr>
            <a:r>
              <a:rPr lang="en-US" sz="2200" b="1" dirty="0"/>
              <a:t>A</a:t>
            </a:r>
            <a:r>
              <a:rPr lang="en-US" sz="2200" dirty="0"/>
              <a:t>: </a:t>
            </a:r>
            <a:r>
              <a:rPr lang="en-US" sz="2200" b="1" dirty="0">
                <a:solidFill>
                  <a:srgbClr val="FF0066"/>
                </a:solidFill>
              </a:rPr>
              <a:t>Input data matrix: </a:t>
            </a:r>
            <a:r>
              <a:rPr lang="en-US" sz="2200" i="1" dirty="0"/>
              <a:t>m</a:t>
            </a:r>
            <a:r>
              <a:rPr lang="en-US" sz="2200" dirty="0"/>
              <a:t> x </a:t>
            </a:r>
            <a:r>
              <a:rPr lang="en-US" sz="2200" i="1" dirty="0"/>
              <a:t>n</a:t>
            </a:r>
            <a:r>
              <a:rPr lang="en-US" sz="2200" dirty="0"/>
              <a:t> matrix (e.g., </a:t>
            </a:r>
            <a:r>
              <a:rPr lang="en-US" sz="2200" i="1" dirty="0"/>
              <a:t>m</a:t>
            </a:r>
            <a:r>
              <a:rPr lang="en-US" sz="2200" dirty="0"/>
              <a:t> documents, </a:t>
            </a:r>
            <a:r>
              <a:rPr lang="en-US" sz="2200" i="1" dirty="0"/>
              <a:t>n</a:t>
            </a:r>
            <a:r>
              <a:rPr lang="en-US" sz="2200" dirty="0"/>
              <a:t> terms)</a:t>
            </a:r>
          </a:p>
          <a:p>
            <a:pPr marL="118872" indent="0">
              <a:lnSpc>
                <a:spcPct val="90000"/>
              </a:lnSpc>
              <a:buNone/>
            </a:pPr>
            <a:r>
              <a:rPr lang="en-US" sz="2200" dirty="0">
                <a:solidFill>
                  <a:srgbClr val="0000FF"/>
                </a:solidFill>
              </a:rPr>
              <a:t>         (</a:t>
            </a:r>
            <a:r>
              <a:rPr lang="en-US" sz="2200" i="1" dirty="0">
                <a:solidFill>
                  <a:srgbClr val="0000FF"/>
                </a:solidFill>
              </a:rPr>
              <a:t>r</a:t>
            </a:r>
            <a:r>
              <a:rPr lang="en-US" sz="2200" dirty="0">
                <a:solidFill>
                  <a:srgbClr val="0000FF"/>
                </a:solidFill>
              </a:rPr>
              <a:t> : rank of the matrix </a:t>
            </a:r>
            <a:r>
              <a:rPr lang="en-US" sz="2200" b="1" dirty="0">
                <a:solidFill>
                  <a:srgbClr val="0000FF"/>
                </a:solidFill>
              </a:rPr>
              <a:t>A – </a:t>
            </a:r>
            <a:r>
              <a:rPr lang="en-US" sz="2200" dirty="0">
                <a:solidFill>
                  <a:srgbClr val="0000FF"/>
                </a:solidFill>
              </a:rPr>
              <a:t>often r &lt; min(</a:t>
            </a:r>
            <a:r>
              <a:rPr lang="en-US" sz="2200" dirty="0" err="1">
                <a:solidFill>
                  <a:srgbClr val="0000FF"/>
                </a:solidFill>
              </a:rPr>
              <a:t>m,n</a:t>
            </a:r>
            <a:r>
              <a:rPr lang="en-US" sz="2200" dirty="0">
                <a:solidFill>
                  <a:srgbClr val="0000FF"/>
                </a:solidFill>
              </a:rPr>
              <a:t>) )</a:t>
            </a:r>
            <a:endParaRPr lang="en-US" sz="2200" dirty="0"/>
          </a:p>
          <a:p>
            <a:pPr>
              <a:lnSpc>
                <a:spcPct val="90000"/>
              </a:lnSpc>
            </a:pPr>
            <a:r>
              <a:rPr lang="en-US" sz="2200" b="1" dirty="0"/>
              <a:t>U</a:t>
            </a:r>
            <a:r>
              <a:rPr lang="en-US" sz="2200" dirty="0"/>
              <a:t>: </a:t>
            </a:r>
            <a:r>
              <a:rPr lang="en-US" sz="2200" b="1" dirty="0">
                <a:solidFill>
                  <a:srgbClr val="FF0066"/>
                </a:solidFill>
              </a:rPr>
              <a:t>Left singular vectors: </a:t>
            </a:r>
            <a:r>
              <a:rPr lang="en-US" sz="2200" i="1" dirty="0"/>
              <a:t>m</a:t>
            </a:r>
            <a:r>
              <a:rPr lang="en-US" sz="2200" dirty="0"/>
              <a:t> x </a:t>
            </a:r>
            <a:r>
              <a:rPr lang="en-US" sz="2200" i="1" dirty="0"/>
              <a:t>r</a:t>
            </a:r>
            <a:r>
              <a:rPr lang="en-US" sz="2200" dirty="0"/>
              <a:t> matrix  (</a:t>
            </a:r>
            <a:r>
              <a:rPr lang="en-US" sz="2200" i="1" dirty="0"/>
              <a:t>m</a:t>
            </a:r>
            <a:r>
              <a:rPr lang="en-US" sz="2200" dirty="0"/>
              <a:t> documents, </a:t>
            </a:r>
            <a:r>
              <a:rPr lang="en-US" sz="2200" i="1" dirty="0"/>
              <a:t>r</a:t>
            </a:r>
            <a:r>
              <a:rPr lang="en-US" sz="2200" dirty="0"/>
              <a:t> concepts)</a:t>
            </a:r>
          </a:p>
          <a:p>
            <a:pPr>
              <a:lnSpc>
                <a:spcPct val="90000"/>
              </a:lnSpc>
            </a:pPr>
            <a:r>
              <a:rPr lang="en-US" sz="2200" b="1" dirty="0">
                <a:latin typeface="Symbol" pitchFamily="18" charset="2"/>
                <a:sym typeface="Symbol"/>
              </a:rPr>
              <a:t></a:t>
            </a:r>
            <a:r>
              <a:rPr lang="en-US" sz="2200" dirty="0"/>
              <a:t>: </a:t>
            </a:r>
            <a:r>
              <a:rPr lang="en-US" sz="2200" b="1" dirty="0">
                <a:solidFill>
                  <a:srgbClr val="FF0066"/>
                </a:solidFill>
              </a:rPr>
              <a:t>Singular values: </a:t>
            </a:r>
            <a:r>
              <a:rPr lang="en-US" sz="2200" i="1" dirty="0"/>
              <a:t>r</a:t>
            </a:r>
            <a:r>
              <a:rPr lang="en-US" sz="2200" dirty="0"/>
              <a:t> x </a:t>
            </a:r>
            <a:r>
              <a:rPr lang="en-US" sz="2200" i="1" dirty="0"/>
              <a:t>r</a:t>
            </a:r>
            <a:r>
              <a:rPr lang="en-US" sz="2200" dirty="0"/>
              <a:t> diagonal matrix (strength of each ‘concept’) </a:t>
            </a:r>
          </a:p>
          <a:p>
            <a:pPr>
              <a:lnSpc>
                <a:spcPct val="90000"/>
              </a:lnSpc>
            </a:pPr>
            <a:r>
              <a:rPr lang="en-US" sz="2200" b="1" dirty="0"/>
              <a:t>V</a:t>
            </a:r>
            <a:r>
              <a:rPr lang="en-US" sz="2200" dirty="0"/>
              <a:t>: </a:t>
            </a:r>
            <a:r>
              <a:rPr lang="en-US" sz="2200" b="1" dirty="0">
                <a:solidFill>
                  <a:srgbClr val="FF0066"/>
                </a:solidFill>
              </a:rPr>
              <a:t>Right singular vectors: </a:t>
            </a:r>
            <a:r>
              <a:rPr lang="en-US" sz="2200" i="1" dirty="0"/>
              <a:t>n</a:t>
            </a:r>
            <a:r>
              <a:rPr lang="en-US" sz="2200" dirty="0"/>
              <a:t> x </a:t>
            </a:r>
            <a:r>
              <a:rPr lang="en-US" sz="2200" i="1" dirty="0"/>
              <a:t>r</a:t>
            </a:r>
            <a:r>
              <a:rPr lang="en-US" sz="2200" dirty="0"/>
              <a:t> matrix (</a:t>
            </a:r>
            <a:r>
              <a:rPr lang="en-US" sz="2200" i="1" dirty="0"/>
              <a:t>n</a:t>
            </a:r>
            <a:r>
              <a:rPr lang="en-US" sz="2200" dirty="0"/>
              <a:t> terms, </a:t>
            </a:r>
            <a:r>
              <a:rPr lang="en-US" sz="2200" i="1" dirty="0"/>
              <a:t>r</a:t>
            </a:r>
            <a:r>
              <a:rPr lang="en-US" sz="2200" dirty="0"/>
              <a:t> concepts)</a:t>
            </a:r>
          </a:p>
          <a:p>
            <a:pPr>
              <a:lnSpc>
                <a:spcPct val="90000"/>
              </a:lnSpc>
            </a:pPr>
            <a:endParaRPr lang="en-US" sz="2200" dirty="0"/>
          </a:p>
          <a:p>
            <a:pPr>
              <a:lnSpc>
                <a:spcPct val="90000"/>
              </a:lnSpc>
            </a:pPr>
            <a:endParaRPr lang="en-US" sz="2200" dirty="0"/>
          </a:p>
          <a:p>
            <a:pPr lvl="1"/>
            <a:endParaRPr lang="en-US" dirty="0"/>
          </a:p>
          <a:p>
            <a:endParaRPr lang="en-US" dirty="0"/>
          </a:p>
        </p:txBody>
      </p:sp>
      <p:sp>
        <p:nvSpPr>
          <p:cNvPr id="4" name="Date Placeholder 3">
            <a:extLst>
              <a:ext uri="{FF2B5EF4-FFF2-40B4-BE49-F238E27FC236}">
                <a16:creationId xmlns:a16="http://schemas.microsoft.com/office/drawing/2014/main" id="{4D1F593A-1334-5C4A-9B31-808EE0B9DBB7}"/>
              </a:ext>
            </a:extLst>
          </p:cNvPr>
          <p:cNvSpPr>
            <a:spLocks noGrp="1"/>
          </p:cNvSpPr>
          <p:nvPr>
            <p:ph type="dt" sz="half" idx="10"/>
          </p:nvPr>
        </p:nvSpPr>
        <p:spPr/>
        <p:txBody>
          <a:bodyPr/>
          <a:lstStyle/>
          <a:p>
            <a:fld id="{1BA9208C-17ED-F74F-98FA-A21A10776C80}" type="datetime1">
              <a:rPr lang="en-US" smtClean="0"/>
              <a:t>11/3/24</a:t>
            </a:fld>
            <a:endParaRPr lang="en-US"/>
          </a:p>
        </p:txBody>
      </p:sp>
      <p:sp>
        <p:nvSpPr>
          <p:cNvPr id="5" name="Footer Placeholder 4">
            <a:extLst>
              <a:ext uri="{FF2B5EF4-FFF2-40B4-BE49-F238E27FC236}">
                <a16:creationId xmlns:a16="http://schemas.microsoft.com/office/drawing/2014/main" id="{386AFFF0-6898-3B41-B906-807A4708C3FD}"/>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89BCFE41-C3A7-1140-812A-AD1773699A4C}"/>
              </a:ext>
            </a:extLst>
          </p:cNvPr>
          <p:cNvSpPr>
            <a:spLocks noGrp="1"/>
          </p:cNvSpPr>
          <p:nvPr>
            <p:ph type="sldNum" sz="quarter" idx="12"/>
          </p:nvPr>
        </p:nvSpPr>
        <p:spPr/>
        <p:txBody>
          <a:bodyPr/>
          <a:lstStyle/>
          <a:p>
            <a:fld id="{19B12225-5612-419B-A8D5-4B8EEE4C217E}" type="slidenum">
              <a:rPr lang="en-US" smtClean="0"/>
              <a:pPr/>
              <a:t>9</a:t>
            </a:fld>
            <a:endParaRPr lang="en-US"/>
          </a:p>
        </p:txBody>
      </p:sp>
      <p:sp>
        <p:nvSpPr>
          <p:cNvPr id="8" name="Rectangle 7">
            <a:extLst>
              <a:ext uri="{FF2B5EF4-FFF2-40B4-BE49-F238E27FC236}">
                <a16:creationId xmlns:a16="http://schemas.microsoft.com/office/drawing/2014/main" id="{72DF2429-01AB-AB43-BFBD-7BEEF020EF4A}"/>
              </a:ext>
            </a:extLst>
          </p:cNvPr>
          <p:cNvSpPr/>
          <p:nvPr/>
        </p:nvSpPr>
        <p:spPr>
          <a:xfrm>
            <a:off x="3671141" y="2869971"/>
            <a:ext cx="900859" cy="1752600"/>
          </a:xfrm>
          <a:prstGeom prst="rect">
            <a:avLst/>
          </a:prstGeom>
          <a:ln cmpd="sng"/>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solidFill>
              </a:rPr>
              <a:t>U</a:t>
            </a:r>
          </a:p>
        </p:txBody>
      </p:sp>
      <p:grpSp>
        <p:nvGrpSpPr>
          <p:cNvPr id="9" name="Group 8">
            <a:extLst>
              <a:ext uri="{FF2B5EF4-FFF2-40B4-BE49-F238E27FC236}">
                <a16:creationId xmlns:a16="http://schemas.microsoft.com/office/drawing/2014/main" id="{85C9C84B-58E1-7E46-A6F1-9BAB43792831}"/>
              </a:ext>
            </a:extLst>
          </p:cNvPr>
          <p:cNvGrpSpPr/>
          <p:nvPr/>
        </p:nvGrpSpPr>
        <p:grpSpPr>
          <a:xfrm>
            <a:off x="6857998" y="2438400"/>
            <a:ext cx="1511006" cy="919296"/>
            <a:chOff x="5027066" y="1664026"/>
            <a:chExt cx="1984223" cy="1079174"/>
          </a:xfrm>
        </p:grpSpPr>
        <p:sp>
          <p:nvSpPr>
            <p:cNvPr id="10" name="Rectangle 9">
              <a:extLst>
                <a:ext uri="{FF2B5EF4-FFF2-40B4-BE49-F238E27FC236}">
                  <a16:creationId xmlns:a16="http://schemas.microsoft.com/office/drawing/2014/main" id="{858FBA19-3530-544D-962A-A7ED248F4031}"/>
                </a:ext>
              </a:extLst>
            </p:cNvPr>
            <p:cNvSpPr/>
            <p:nvPr/>
          </p:nvSpPr>
          <p:spPr>
            <a:xfrm>
              <a:off x="5027066" y="2136266"/>
              <a:ext cx="1524000" cy="606934"/>
            </a:xfrm>
            <a:prstGeom prst="rect">
              <a:avLst/>
            </a:prstGeom>
            <a:ln cmpd="sng"/>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rPr>
                <a:t>V</a:t>
              </a:r>
              <a:r>
                <a:rPr lang="en-US" baseline="30000" dirty="0">
                  <a:solidFill>
                    <a:schemeClr val="tx1"/>
                  </a:solidFill>
                </a:rPr>
                <a:t>T</a:t>
              </a:r>
            </a:p>
          </p:txBody>
        </p:sp>
        <p:sp>
          <p:nvSpPr>
            <p:cNvPr id="11" name="TextBox 10">
              <a:extLst>
                <a:ext uri="{FF2B5EF4-FFF2-40B4-BE49-F238E27FC236}">
                  <a16:creationId xmlns:a16="http://schemas.microsoft.com/office/drawing/2014/main" id="{B8106B19-67C9-1140-B7A7-146F920A4D65}"/>
                </a:ext>
              </a:extLst>
            </p:cNvPr>
            <p:cNvSpPr txBox="1"/>
            <p:nvPr/>
          </p:nvSpPr>
          <p:spPr>
            <a:xfrm>
              <a:off x="5615781" y="1664026"/>
              <a:ext cx="346570" cy="461665"/>
            </a:xfrm>
            <a:prstGeom prst="rect">
              <a:avLst/>
            </a:prstGeom>
            <a:noFill/>
          </p:spPr>
          <p:txBody>
            <a:bodyPr wrap="none" rtlCol="0">
              <a:spAutoFit/>
            </a:bodyPr>
            <a:lstStyle/>
            <a:p>
              <a:r>
                <a:rPr lang="en-US" sz="2400" dirty="0"/>
                <a:t>n</a:t>
              </a:r>
            </a:p>
          </p:txBody>
        </p:sp>
        <p:sp>
          <p:nvSpPr>
            <p:cNvPr id="12" name="TextBox 11">
              <a:extLst>
                <a:ext uri="{FF2B5EF4-FFF2-40B4-BE49-F238E27FC236}">
                  <a16:creationId xmlns:a16="http://schemas.microsoft.com/office/drawing/2014/main" id="{273A5ED9-05DE-C041-ADF8-05DAF85EEC1C}"/>
                </a:ext>
              </a:extLst>
            </p:cNvPr>
            <p:cNvSpPr txBox="1"/>
            <p:nvPr/>
          </p:nvSpPr>
          <p:spPr>
            <a:xfrm>
              <a:off x="6634068" y="2200740"/>
              <a:ext cx="377221" cy="541955"/>
            </a:xfrm>
            <a:prstGeom prst="rect">
              <a:avLst/>
            </a:prstGeom>
            <a:noFill/>
          </p:spPr>
          <p:txBody>
            <a:bodyPr wrap="none" rtlCol="0">
              <a:spAutoFit/>
            </a:bodyPr>
            <a:lstStyle/>
            <a:p>
              <a:r>
                <a:rPr lang="en-US" sz="2400" dirty="0"/>
                <a:t>r</a:t>
              </a:r>
            </a:p>
          </p:txBody>
        </p:sp>
      </p:grpSp>
      <p:sp>
        <p:nvSpPr>
          <p:cNvPr id="13" name="TextBox 12">
            <a:extLst>
              <a:ext uri="{FF2B5EF4-FFF2-40B4-BE49-F238E27FC236}">
                <a16:creationId xmlns:a16="http://schemas.microsoft.com/office/drawing/2014/main" id="{2448EC68-80A3-184E-ADFE-44A865243435}"/>
              </a:ext>
            </a:extLst>
          </p:cNvPr>
          <p:cNvSpPr txBox="1"/>
          <p:nvPr/>
        </p:nvSpPr>
        <p:spPr>
          <a:xfrm>
            <a:off x="3024491" y="3462635"/>
            <a:ext cx="379883" cy="461665"/>
          </a:xfrm>
          <a:prstGeom prst="rect">
            <a:avLst/>
          </a:prstGeom>
          <a:noFill/>
        </p:spPr>
        <p:txBody>
          <a:bodyPr wrap="square" rtlCol="0">
            <a:spAutoFit/>
          </a:bodyPr>
          <a:lstStyle/>
          <a:p>
            <a:r>
              <a:rPr lang="en-US" sz="2400" dirty="0"/>
              <a:t>=</a:t>
            </a:r>
          </a:p>
        </p:txBody>
      </p:sp>
      <p:sp>
        <p:nvSpPr>
          <p:cNvPr id="14" name="TextBox 13">
            <a:extLst>
              <a:ext uri="{FF2B5EF4-FFF2-40B4-BE49-F238E27FC236}">
                <a16:creationId xmlns:a16="http://schemas.microsoft.com/office/drawing/2014/main" id="{2F912529-A3FF-0844-B8F1-1D38C7346F0D}"/>
              </a:ext>
            </a:extLst>
          </p:cNvPr>
          <p:cNvSpPr txBox="1"/>
          <p:nvPr/>
        </p:nvSpPr>
        <p:spPr>
          <a:xfrm>
            <a:off x="4905300" y="2895601"/>
            <a:ext cx="268799" cy="461665"/>
          </a:xfrm>
          <a:prstGeom prst="rect">
            <a:avLst/>
          </a:prstGeom>
          <a:noFill/>
        </p:spPr>
        <p:txBody>
          <a:bodyPr wrap="square" rtlCol="0">
            <a:spAutoFit/>
          </a:bodyPr>
          <a:lstStyle/>
          <a:p>
            <a:r>
              <a:rPr lang="en-US" sz="2400" dirty="0">
                <a:sym typeface="Symbol"/>
              </a:rPr>
              <a:t></a:t>
            </a:r>
            <a:endParaRPr lang="en-US" sz="2400" dirty="0"/>
          </a:p>
        </p:txBody>
      </p:sp>
      <p:sp>
        <p:nvSpPr>
          <p:cNvPr id="15" name="TextBox 14">
            <a:extLst>
              <a:ext uri="{FF2B5EF4-FFF2-40B4-BE49-F238E27FC236}">
                <a16:creationId xmlns:a16="http://schemas.microsoft.com/office/drawing/2014/main" id="{4E3FB106-482E-434C-940D-8031F40B24FC}"/>
              </a:ext>
            </a:extLst>
          </p:cNvPr>
          <p:cNvSpPr txBox="1"/>
          <p:nvPr/>
        </p:nvSpPr>
        <p:spPr>
          <a:xfrm>
            <a:off x="6079891" y="2870692"/>
            <a:ext cx="268799" cy="461665"/>
          </a:xfrm>
          <a:prstGeom prst="rect">
            <a:avLst/>
          </a:prstGeom>
          <a:noFill/>
        </p:spPr>
        <p:txBody>
          <a:bodyPr wrap="square" rtlCol="0">
            <a:spAutoFit/>
          </a:bodyPr>
          <a:lstStyle/>
          <a:p>
            <a:r>
              <a:rPr lang="en-US" sz="2400" dirty="0">
                <a:sym typeface="Symbol"/>
              </a:rPr>
              <a:t></a:t>
            </a:r>
            <a:endParaRPr lang="en-US" sz="2400" dirty="0"/>
          </a:p>
        </p:txBody>
      </p:sp>
      <p:sp>
        <p:nvSpPr>
          <p:cNvPr id="16" name="Rectangle 15">
            <a:extLst>
              <a:ext uri="{FF2B5EF4-FFF2-40B4-BE49-F238E27FC236}">
                <a16:creationId xmlns:a16="http://schemas.microsoft.com/office/drawing/2014/main" id="{E8CCCCE4-61F3-A840-A91E-6AB135EB83D0}"/>
              </a:ext>
            </a:extLst>
          </p:cNvPr>
          <p:cNvSpPr/>
          <p:nvPr/>
        </p:nvSpPr>
        <p:spPr>
          <a:xfrm>
            <a:off x="5326982" y="2869971"/>
            <a:ext cx="464217" cy="511683"/>
          </a:xfrm>
          <a:prstGeom prst="rect">
            <a:avLst/>
          </a:prstGeom>
          <a:ln cmpd="sng">
            <a:solidFill>
              <a:srgbClr val="7030A0"/>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solidFill>
                  <a:schemeClr val="tx1"/>
                </a:solidFill>
                <a:sym typeface="Symbol"/>
              </a:rPr>
              <a:t></a:t>
            </a:r>
            <a:endParaRPr lang="en-US" dirty="0">
              <a:solidFill>
                <a:schemeClr val="tx1"/>
              </a:solidFill>
            </a:endParaRPr>
          </a:p>
        </p:txBody>
      </p:sp>
      <p:grpSp>
        <p:nvGrpSpPr>
          <p:cNvPr id="29" name="Group 28">
            <a:extLst>
              <a:ext uri="{FF2B5EF4-FFF2-40B4-BE49-F238E27FC236}">
                <a16:creationId xmlns:a16="http://schemas.microsoft.com/office/drawing/2014/main" id="{BC14D2A7-6461-B548-9513-533D43009F95}"/>
              </a:ext>
            </a:extLst>
          </p:cNvPr>
          <p:cNvGrpSpPr/>
          <p:nvPr/>
        </p:nvGrpSpPr>
        <p:grpSpPr>
          <a:xfrm>
            <a:off x="1161469" y="2468925"/>
            <a:ext cx="1675473" cy="2179275"/>
            <a:chOff x="1161469" y="2057400"/>
            <a:chExt cx="1675473" cy="2179275"/>
          </a:xfrm>
        </p:grpSpPr>
        <p:sp>
          <p:nvSpPr>
            <p:cNvPr id="7" name="Rectangle 6">
              <a:extLst>
                <a:ext uri="{FF2B5EF4-FFF2-40B4-BE49-F238E27FC236}">
                  <a16:creationId xmlns:a16="http://schemas.microsoft.com/office/drawing/2014/main" id="{8AAD5383-9FA5-1D45-9761-349F2AD9D6E9}"/>
                </a:ext>
              </a:extLst>
            </p:cNvPr>
            <p:cNvSpPr/>
            <p:nvPr/>
          </p:nvSpPr>
          <p:spPr>
            <a:xfrm>
              <a:off x="1676400" y="2484075"/>
              <a:ext cx="1160542" cy="1752600"/>
            </a:xfrm>
            <a:prstGeom prst="rect">
              <a:avLst/>
            </a:prstGeom>
            <a:solidFill>
              <a:schemeClr val="accent3">
                <a:lumMod val="20000"/>
                <a:lumOff val="80000"/>
              </a:schemeClr>
            </a:solidFill>
            <a:ln cmpd="sng">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a:t>
              </a:r>
            </a:p>
          </p:txBody>
        </p:sp>
        <p:sp>
          <p:nvSpPr>
            <p:cNvPr id="27" name="TextBox 26">
              <a:extLst>
                <a:ext uri="{FF2B5EF4-FFF2-40B4-BE49-F238E27FC236}">
                  <a16:creationId xmlns:a16="http://schemas.microsoft.com/office/drawing/2014/main" id="{C64062DF-7549-894A-8D59-D53A404035A9}"/>
                </a:ext>
              </a:extLst>
            </p:cNvPr>
            <p:cNvSpPr txBox="1"/>
            <p:nvPr/>
          </p:nvSpPr>
          <p:spPr>
            <a:xfrm>
              <a:off x="1161469" y="3116509"/>
              <a:ext cx="334717" cy="461665"/>
            </a:xfrm>
            <a:prstGeom prst="rect">
              <a:avLst/>
            </a:prstGeom>
            <a:noFill/>
          </p:spPr>
          <p:txBody>
            <a:bodyPr wrap="square" rtlCol="0">
              <a:spAutoFit/>
            </a:bodyPr>
            <a:lstStyle/>
            <a:p>
              <a:r>
                <a:rPr lang="en-US" sz="2400" dirty="0"/>
                <a:t>m</a:t>
              </a:r>
            </a:p>
          </p:txBody>
        </p:sp>
        <p:sp>
          <p:nvSpPr>
            <p:cNvPr id="28" name="TextBox 27">
              <a:extLst>
                <a:ext uri="{FF2B5EF4-FFF2-40B4-BE49-F238E27FC236}">
                  <a16:creationId xmlns:a16="http://schemas.microsoft.com/office/drawing/2014/main" id="{24B0AAE0-AAA2-834B-B72A-9024B8EC04BB}"/>
                </a:ext>
              </a:extLst>
            </p:cNvPr>
            <p:cNvSpPr txBox="1"/>
            <p:nvPr/>
          </p:nvSpPr>
          <p:spPr>
            <a:xfrm>
              <a:off x="2063387" y="2057400"/>
              <a:ext cx="334717" cy="461665"/>
            </a:xfrm>
            <a:prstGeom prst="rect">
              <a:avLst/>
            </a:prstGeom>
            <a:noFill/>
          </p:spPr>
          <p:txBody>
            <a:bodyPr wrap="square" rtlCol="0">
              <a:spAutoFit/>
            </a:bodyPr>
            <a:lstStyle/>
            <a:p>
              <a:r>
                <a:rPr lang="en-US" sz="2400" dirty="0"/>
                <a:t>n</a:t>
              </a:r>
            </a:p>
          </p:txBody>
        </p:sp>
      </p:grpSp>
      <p:sp>
        <p:nvSpPr>
          <p:cNvPr id="31" name="TextBox 30">
            <a:extLst>
              <a:ext uri="{FF2B5EF4-FFF2-40B4-BE49-F238E27FC236}">
                <a16:creationId xmlns:a16="http://schemas.microsoft.com/office/drawing/2014/main" id="{427D458F-29C9-774D-AB27-C96F4C637ACA}"/>
              </a:ext>
            </a:extLst>
          </p:cNvPr>
          <p:cNvSpPr txBox="1"/>
          <p:nvPr/>
        </p:nvSpPr>
        <p:spPr>
          <a:xfrm>
            <a:off x="4004291" y="2505173"/>
            <a:ext cx="334717" cy="461665"/>
          </a:xfrm>
          <a:prstGeom prst="rect">
            <a:avLst/>
          </a:prstGeom>
          <a:noFill/>
        </p:spPr>
        <p:txBody>
          <a:bodyPr wrap="square" rtlCol="0">
            <a:spAutoFit/>
          </a:bodyPr>
          <a:lstStyle/>
          <a:p>
            <a:r>
              <a:rPr lang="en-US" sz="2400" dirty="0"/>
              <a:t>r</a:t>
            </a:r>
          </a:p>
        </p:txBody>
      </p:sp>
      <p:sp>
        <p:nvSpPr>
          <p:cNvPr id="34" name="TextBox 33">
            <a:extLst>
              <a:ext uri="{FF2B5EF4-FFF2-40B4-BE49-F238E27FC236}">
                <a16:creationId xmlns:a16="http://schemas.microsoft.com/office/drawing/2014/main" id="{B5E7064A-92D3-E747-AD66-1AEC1F179C3A}"/>
              </a:ext>
            </a:extLst>
          </p:cNvPr>
          <p:cNvSpPr txBox="1"/>
          <p:nvPr/>
        </p:nvSpPr>
        <p:spPr>
          <a:xfrm>
            <a:off x="5406708" y="2505172"/>
            <a:ext cx="334717" cy="461665"/>
          </a:xfrm>
          <a:prstGeom prst="rect">
            <a:avLst/>
          </a:prstGeom>
          <a:noFill/>
        </p:spPr>
        <p:txBody>
          <a:bodyPr wrap="square" rtlCol="0">
            <a:spAutoFit/>
          </a:bodyPr>
          <a:lstStyle/>
          <a:p>
            <a:r>
              <a:rPr lang="en-US" sz="2400" dirty="0"/>
              <a:t>r</a:t>
            </a:r>
          </a:p>
        </p:txBody>
      </p:sp>
    </p:spTree>
    <p:extLst>
      <p:ext uri="{BB962C8B-B14F-4D97-AF65-F5344CB8AC3E}">
        <p14:creationId xmlns:p14="http://schemas.microsoft.com/office/powerpoint/2010/main" val="318938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5B366-26BC-C0B3-1CD1-D900333C682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7EAD005-C346-455E-EEE3-78596E5B655A}"/>
              </a:ext>
            </a:extLst>
          </p:cNvPr>
          <p:cNvSpPr>
            <a:spLocks noGrp="1"/>
          </p:cNvSpPr>
          <p:nvPr>
            <p:ph idx="1"/>
          </p:nvPr>
        </p:nvSpPr>
        <p:spPr/>
        <p:txBody>
          <a:bodyPr/>
          <a:lstStyle/>
          <a:p>
            <a:r>
              <a:rPr lang="en-US" dirty="0"/>
              <a:t>Random vector x</a:t>
            </a:r>
          </a:p>
          <a:p>
            <a:pPr lvl="1"/>
            <a:r>
              <a:rPr lang="en-US" dirty="0"/>
              <a:t>Step1: Ax</a:t>
            </a:r>
          </a:p>
          <a:p>
            <a:pPr lvl="1"/>
            <a:r>
              <a:rPr lang="en-US" dirty="0"/>
              <a:t>Step 2: Normalize it: x = Ax/|Ax| </a:t>
            </a:r>
            <a:r>
              <a:rPr lang="en-US" dirty="0">
                <a:sym typeface="Wingdings" pitchFamily="2" charset="2"/>
              </a:rPr>
              <a:t> x is of unit norm</a:t>
            </a:r>
          </a:p>
          <a:p>
            <a:r>
              <a:rPr lang="en-US" dirty="0">
                <a:sym typeface="Wingdings" pitchFamily="2" charset="2"/>
              </a:rPr>
              <a:t>Repeat step 1 and 2</a:t>
            </a:r>
            <a:endParaRPr lang="en-US" dirty="0"/>
          </a:p>
        </p:txBody>
      </p:sp>
      <p:sp>
        <p:nvSpPr>
          <p:cNvPr id="4" name="Date Placeholder 3">
            <a:extLst>
              <a:ext uri="{FF2B5EF4-FFF2-40B4-BE49-F238E27FC236}">
                <a16:creationId xmlns:a16="http://schemas.microsoft.com/office/drawing/2014/main" id="{3DAC2168-0D65-8598-E84A-DD843C4FB820}"/>
              </a:ext>
            </a:extLst>
          </p:cNvPr>
          <p:cNvSpPr>
            <a:spLocks noGrp="1"/>
          </p:cNvSpPr>
          <p:nvPr>
            <p:ph type="dt" sz="half" idx="10"/>
          </p:nvPr>
        </p:nvSpPr>
        <p:spPr/>
        <p:txBody>
          <a:bodyPr/>
          <a:lstStyle/>
          <a:p>
            <a:fld id="{DDD5ACAC-7C8C-F44E-B89E-D442D730AAE5}" type="datetime1">
              <a:rPr lang="en-US" smtClean="0"/>
              <a:t>11/5/24</a:t>
            </a:fld>
            <a:endParaRPr lang="en-US"/>
          </a:p>
        </p:txBody>
      </p:sp>
      <p:sp>
        <p:nvSpPr>
          <p:cNvPr id="5" name="Footer Placeholder 4">
            <a:extLst>
              <a:ext uri="{FF2B5EF4-FFF2-40B4-BE49-F238E27FC236}">
                <a16:creationId xmlns:a16="http://schemas.microsoft.com/office/drawing/2014/main" id="{996E0B0E-6EA4-3E4C-0446-A824FFD73E35}"/>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4D9DCD91-F4C7-CBA6-EF4C-101738F3CA2E}"/>
              </a:ext>
            </a:extLst>
          </p:cNvPr>
          <p:cNvSpPr>
            <a:spLocks noGrp="1"/>
          </p:cNvSpPr>
          <p:nvPr>
            <p:ph type="sldNum" sz="quarter" idx="12"/>
          </p:nvPr>
        </p:nvSpPr>
        <p:spPr/>
        <p:txBody>
          <a:bodyPr/>
          <a:lstStyle/>
          <a:p>
            <a:fld id="{19B12225-5612-419B-A8D5-4B8EEE4C217E}" type="slidenum">
              <a:rPr lang="en-US" smtClean="0"/>
              <a:pPr/>
              <a:t>10</a:t>
            </a:fld>
            <a:endParaRPr lang="en-US"/>
          </a:p>
        </p:txBody>
      </p:sp>
    </p:spTree>
    <p:extLst>
      <p:ext uri="{BB962C8B-B14F-4D97-AF65-F5344CB8AC3E}">
        <p14:creationId xmlns:p14="http://schemas.microsoft.com/office/powerpoint/2010/main" val="1574128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F1447-A2CA-A544-878C-3177944C6675}"/>
              </a:ext>
            </a:extLst>
          </p:cNvPr>
          <p:cNvSpPr>
            <a:spLocks noGrp="1"/>
          </p:cNvSpPr>
          <p:nvPr>
            <p:ph type="title"/>
          </p:nvPr>
        </p:nvSpPr>
        <p:spPr/>
        <p:txBody>
          <a:bodyPr/>
          <a:lstStyle/>
          <a:p>
            <a:r>
              <a:rPr lang="en-US" dirty="0"/>
              <a:t>Review: SVD as an embedder</a:t>
            </a:r>
          </a:p>
        </p:txBody>
      </p:sp>
      <p:sp>
        <p:nvSpPr>
          <p:cNvPr id="3" name="Content Placeholder 2">
            <a:extLst>
              <a:ext uri="{FF2B5EF4-FFF2-40B4-BE49-F238E27FC236}">
                <a16:creationId xmlns:a16="http://schemas.microsoft.com/office/drawing/2014/main" id="{F88BEEEF-0E91-4B40-9D82-72E26F3D4760}"/>
              </a:ext>
            </a:extLst>
          </p:cNvPr>
          <p:cNvSpPr>
            <a:spLocks noGrp="1"/>
          </p:cNvSpPr>
          <p:nvPr>
            <p:ph idx="1"/>
          </p:nvPr>
        </p:nvSpPr>
        <p:spPr>
          <a:xfrm>
            <a:off x="457200" y="1295400"/>
            <a:ext cx="8534400" cy="5257801"/>
          </a:xfrm>
        </p:spPr>
        <p:txBody>
          <a:bodyPr>
            <a:normAutofit/>
          </a:bodyPr>
          <a:lstStyle/>
          <a:p>
            <a:r>
              <a:rPr lang="en-US" b="1" i="1" dirty="0"/>
              <a:t>U, V</a:t>
            </a:r>
            <a:r>
              <a:rPr lang="en-US" dirty="0"/>
              <a:t>: </a:t>
            </a:r>
            <a:r>
              <a:rPr lang="en-US" dirty="0">
                <a:solidFill>
                  <a:srgbClr val="D60093"/>
                </a:solidFill>
              </a:rPr>
              <a:t>column orthonormal</a:t>
            </a:r>
          </a:p>
          <a:p>
            <a:pPr lvl="1"/>
            <a:r>
              <a:rPr lang="en-US" b="1" i="1" dirty="0"/>
              <a:t>U</a:t>
            </a:r>
            <a:r>
              <a:rPr lang="en-US" b="1" i="1" baseline="30000" dirty="0"/>
              <a:t>T</a:t>
            </a:r>
            <a:r>
              <a:rPr lang="en-US" b="1" i="1" dirty="0"/>
              <a:t> U = I</a:t>
            </a:r>
            <a:r>
              <a:rPr lang="en-US" i="1" dirty="0"/>
              <a:t>; </a:t>
            </a:r>
            <a:r>
              <a:rPr lang="en-US" b="1" i="1" dirty="0"/>
              <a:t>V</a:t>
            </a:r>
            <a:r>
              <a:rPr lang="en-US" b="1" i="1" baseline="30000" dirty="0"/>
              <a:t>T</a:t>
            </a:r>
            <a:r>
              <a:rPr lang="en-US" b="1" i="1" dirty="0"/>
              <a:t> V = I</a:t>
            </a:r>
            <a:r>
              <a:rPr lang="en-US" i="1" dirty="0"/>
              <a:t>  </a:t>
            </a:r>
            <a:r>
              <a:rPr lang="en-US" dirty="0"/>
              <a:t>(</a:t>
            </a:r>
            <a:r>
              <a:rPr lang="en-US" b="1" i="1" dirty="0"/>
              <a:t>I</a:t>
            </a:r>
            <a:r>
              <a:rPr lang="en-US" dirty="0"/>
              <a:t>: identity matrix)</a:t>
            </a:r>
          </a:p>
          <a:p>
            <a:pPr lvl="1"/>
            <a:r>
              <a:rPr lang="en-US" dirty="0"/>
              <a:t>Columns are orthogonal unit vectors hence they define an r-dimensional subspace</a:t>
            </a:r>
          </a:p>
          <a:p>
            <a:pPr lvl="2"/>
            <a:r>
              <a:rPr lang="en-US" b="1" i="1" dirty="0"/>
              <a:t>U</a:t>
            </a:r>
            <a:r>
              <a:rPr lang="en-US" dirty="0"/>
              <a:t> defines an r-dim subspace in </a:t>
            </a:r>
            <a:r>
              <a:rPr lang="en-US" b="1" i="1" dirty="0"/>
              <a:t>R</a:t>
            </a:r>
            <a:r>
              <a:rPr lang="en-US" b="1" i="1" baseline="30000" dirty="0"/>
              <a:t>m</a:t>
            </a:r>
          </a:p>
          <a:p>
            <a:pPr lvl="2"/>
            <a:r>
              <a:rPr lang="en-US" b="1" i="1" dirty="0"/>
              <a:t>V</a:t>
            </a:r>
            <a:r>
              <a:rPr lang="en-US" dirty="0"/>
              <a:t> defines an r-dim subspace in </a:t>
            </a:r>
            <a:r>
              <a:rPr lang="en-US" b="1" i="1" dirty="0"/>
              <a:t>R</a:t>
            </a:r>
            <a:r>
              <a:rPr lang="en-US" b="1" i="1" baseline="30000" dirty="0"/>
              <a:t>n</a:t>
            </a:r>
          </a:p>
          <a:p>
            <a:pPr marL="457200" lvl="1" indent="0">
              <a:buNone/>
            </a:pPr>
            <a:endParaRPr lang="en-US" dirty="0"/>
          </a:p>
          <a:p>
            <a:r>
              <a:rPr lang="en-US" sz="2800" dirty="0"/>
              <a:t>Projecting </a:t>
            </a:r>
            <a:r>
              <a:rPr lang="en-US" sz="2800" b="1" i="1" dirty="0"/>
              <a:t>A</a:t>
            </a:r>
            <a:r>
              <a:rPr lang="en-US" sz="2800" dirty="0"/>
              <a:t> onto </a:t>
            </a:r>
            <a:r>
              <a:rPr lang="en-US" sz="2800" b="1" i="1" dirty="0"/>
              <a:t>V</a:t>
            </a:r>
            <a:r>
              <a:rPr lang="en-US" sz="2800" dirty="0"/>
              <a:t> and </a:t>
            </a:r>
            <a:r>
              <a:rPr lang="en-US" sz="2800" b="1" i="1" dirty="0"/>
              <a:t>U</a:t>
            </a:r>
            <a:r>
              <a:rPr lang="en-US" sz="2800" dirty="0"/>
              <a:t> produces embeddings:</a:t>
            </a:r>
          </a:p>
          <a:p>
            <a:pPr lvl="1"/>
            <a:r>
              <a:rPr lang="en-US" b="1" dirty="0">
                <a:solidFill>
                  <a:srgbClr val="0000FF"/>
                </a:solidFill>
              </a:rPr>
              <a:t>Since A = U </a:t>
            </a:r>
            <a:r>
              <a:rPr lang="en-US" b="1" dirty="0">
                <a:solidFill>
                  <a:srgbClr val="0000FF"/>
                </a:solidFill>
                <a:latin typeface="Symbol" pitchFamily="18" charset="2"/>
                <a:sym typeface="Symbol"/>
              </a:rPr>
              <a:t></a:t>
            </a:r>
            <a:r>
              <a:rPr lang="en-US" b="1" dirty="0">
                <a:solidFill>
                  <a:srgbClr val="0000FF"/>
                </a:solidFill>
              </a:rPr>
              <a:t> V</a:t>
            </a:r>
            <a:r>
              <a:rPr lang="en-US" b="1" baseline="30000" dirty="0">
                <a:solidFill>
                  <a:srgbClr val="0000FF"/>
                </a:solidFill>
              </a:rPr>
              <a:t>T </a:t>
            </a:r>
            <a:r>
              <a:rPr lang="en-US" b="1" dirty="0">
                <a:solidFill>
                  <a:srgbClr val="0000FF"/>
                </a:solidFill>
              </a:rPr>
              <a:t>then AV = U</a:t>
            </a:r>
            <a:r>
              <a:rPr lang="en-US" b="1" dirty="0">
                <a:solidFill>
                  <a:srgbClr val="0000FF"/>
                </a:solidFill>
                <a:latin typeface="Symbol" pitchFamily="18" charset="2"/>
                <a:sym typeface="Symbol"/>
              </a:rPr>
              <a:t>  </a:t>
            </a:r>
            <a:r>
              <a:rPr lang="en-US" b="1" dirty="0">
                <a:solidFill>
                  <a:srgbClr val="0000FF"/>
                </a:solidFill>
              </a:rPr>
              <a:t>are row embeddings</a:t>
            </a:r>
          </a:p>
          <a:p>
            <a:pPr lvl="1"/>
            <a:r>
              <a:rPr lang="en-US" b="1" dirty="0">
                <a:solidFill>
                  <a:srgbClr val="0000FF"/>
                </a:solidFill>
              </a:rPr>
              <a:t>Since A = U </a:t>
            </a:r>
            <a:r>
              <a:rPr lang="en-US" b="1" dirty="0">
                <a:solidFill>
                  <a:srgbClr val="0000FF"/>
                </a:solidFill>
                <a:latin typeface="Symbol" pitchFamily="18" charset="2"/>
                <a:sym typeface="Symbol"/>
              </a:rPr>
              <a:t></a:t>
            </a:r>
            <a:r>
              <a:rPr lang="en-US" b="1" dirty="0">
                <a:solidFill>
                  <a:srgbClr val="0000FF"/>
                </a:solidFill>
              </a:rPr>
              <a:t> V</a:t>
            </a:r>
            <a:r>
              <a:rPr lang="en-US" b="1" baseline="30000" dirty="0">
                <a:solidFill>
                  <a:srgbClr val="0000FF"/>
                </a:solidFill>
              </a:rPr>
              <a:t>T </a:t>
            </a:r>
            <a:r>
              <a:rPr lang="en-US" b="1" dirty="0">
                <a:solidFill>
                  <a:srgbClr val="0000FF"/>
                </a:solidFill>
              </a:rPr>
              <a:t>then U</a:t>
            </a:r>
            <a:r>
              <a:rPr lang="en-US" b="1" baseline="30000" dirty="0">
                <a:solidFill>
                  <a:srgbClr val="0000FF"/>
                </a:solidFill>
              </a:rPr>
              <a:t>T</a:t>
            </a:r>
            <a:r>
              <a:rPr lang="en-US" b="1" dirty="0">
                <a:solidFill>
                  <a:srgbClr val="0000FF"/>
                </a:solidFill>
              </a:rPr>
              <a:t>A = </a:t>
            </a:r>
            <a:r>
              <a:rPr lang="en-US" b="1" dirty="0">
                <a:solidFill>
                  <a:srgbClr val="0000FF"/>
                </a:solidFill>
                <a:latin typeface="Symbol" pitchFamily="18" charset="2"/>
                <a:sym typeface="Symbol"/>
              </a:rPr>
              <a:t></a:t>
            </a:r>
            <a:r>
              <a:rPr lang="en-US" b="1" dirty="0">
                <a:solidFill>
                  <a:srgbClr val="0000FF"/>
                </a:solidFill>
              </a:rPr>
              <a:t> V</a:t>
            </a:r>
            <a:r>
              <a:rPr lang="en-US" b="1" baseline="30000" dirty="0">
                <a:solidFill>
                  <a:srgbClr val="0000FF"/>
                </a:solidFill>
              </a:rPr>
              <a:t>T</a:t>
            </a:r>
            <a:r>
              <a:rPr lang="en-US" b="1" dirty="0">
                <a:solidFill>
                  <a:srgbClr val="0000FF"/>
                </a:solidFill>
                <a:latin typeface="Symbol" pitchFamily="18" charset="2"/>
                <a:sym typeface="Symbol"/>
              </a:rPr>
              <a:t> </a:t>
            </a:r>
            <a:r>
              <a:rPr lang="en-US" b="1" dirty="0">
                <a:solidFill>
                  <a:srgbClr val="0000FF"/>
                </a:solidFill>
              </a:rPr>
              <a:t>are col embeddings</a:t>
            </a:r>
          </a:p>
          <a:p>
            <a:pPr lvl="1"/>
            <a:endParaRPr lang="en-US" b="1" dirty="0">
              <a:solidFill>
                <a:srgbClr val="0000FF"/>
              </a:solidFill>
            </a:endParaRPr>
          </a:p>
          <a:p>
            <a:pPr lvl="1"/>
            <a:endParaRPr lang="en-US" b="1" dirty="0">
              <a:solidFill>
                <a:srgbClr val="0000FF"/>
              </a:solidFill>
            </a:endParaRPr>
          </a:p>
        </p:txBody>
      </p:sp>
      <p:sp>
        <p:nvSpPr>
          <p:cNvPr id="4" name="Date Placeholder 3">
            <a:extLst>
              <a:ext uri="{FF2B5EF4-FFF2-40B4-BE49-F238E27FC236}">
                <a16:creationId xmlns:a16="http://schemas.microsoft.com/office/drawing/2014/main" id="{0A3B3216-6174-D04F-A71B-3BA02035B471}"/>
              </a:ext>
            </a:extLst>
          </p:cNvPr>
          <p:cNvSpPr>
            <a:spLocks noGrp="1"/>
          </p:cNvSpPr>
          <p:nvPr>
            <p:ph type="dt" sz="half" idx="10"/>
          </p:nvPr>
        </p:nvSpPr>
        <p:spPr/>
        <p:txBody>
          <a:bodyPr/>
          <a:lstStyle/>
          <a:p>
            <a:fld id="{F1233083-406E-3646-AE6B-0B560CA2B05D}" type="datetime1">
              <a:rPr lang="en-US" smtClean="0"/>
              <a:t>11/3/24</a:t>
            </a:fld>
            <a:endParaRPr lang="en-US"/>
          </a:p>
        </p:txBody>
      </p:sp>
      <p:sp>
        <p:nvSpPr>
          <p:cNvPr id="5" name="Footer Placeholder 4">
            <a:extLst>
              <a:ext uri="{FF2B5EF4-FFF2-40B4-BE49-F238E27FC236}">
                <a16:creationId xmlns:a16="http://schemas.microsoft.com/office/drawing/2014/main" id="{EA6C2607-7EE3-FB4C-A8B1-23F4E019ACF9}"/>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51A010F5-CECA-1342-8B7F-DE2EA377AF24}"/>
              </a:ext>
            </a:extLst>
          </p:cNvPr>
          <p:cNvSpPr>
            <a:spLocks noGrp="1"/>
          </p:cNvSpPr>
          <p:nvPr>
            <p:ph type="sldNum" sz="quarter" idx="12"/>
          </p:nvPr>
        </p:nvSpPr>
        <p:spPr/>
        <p:txBody>
          <a:bodyPr/>
          <a:lstStyle/>
          <a:p>
            <a:fld id="{19B12225-5612-419B-A8D5-4B8EEE4C217E}" type="slidenum">
              <a:rPr lang="en-US" smtClean="0"/>
              <a:pPr/>
              <a:t>11</a:t>
            </a:fld>
            <a:endParaRPr lang="en-US"/>
          </a:p>
        </p:txBody>
      </p:sp>
    </p:spTree>
    <p:extLst>
      <p:ext uri="{BB962C8B-B14F-4D97-AF65-F5344CB8AC3E}">
        <p14:creationId xmlns:p14="http://schemas.microsoft.com/office/powerpoint/2010/main" val="16574415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5BB3D-5C11-AF4F-B24A-05A1CF6734F7}"/>
              </a:ext>
            </a:extLst>
          </p:cNvPr>
          <p:cNvSpPr>
            <a:spLocks noGrp="1"/>
          </p:cNvSpPr>
          <p:nvPr>
            <p:ph type="title"/>
          </p:nvPr>
        </p:nvSpPr>
        <p:spPr/>
        <p:txBody>
          <a:bodyPr/>
          <a:lstStyle/>
          <a:p>
            <a:r>
              <a:rPr lang="en-US" dirty="0"/>
              <a:t>Review: SVD as an embedder</a:t>
            </a:r>
          </a:p>
        </p:txBody>
      </p:sp>
      <p:sp>
        <p:nvSpPr>
          <p:cNvPr id="3" name="Content Placeholder 2">
            <a:extLst>
              <a:ext uri="{FF2B5EF4-FFF2-40B4-BE49-F238E27FC236}">
                <a16:creationId xmlns:a16="http://schemas.microsoft.com/office/drawing/2014/main" id="{93BD6B8F-FFA0-1F4C-99F1-069FFC25010D}"/>
              </a:ext>
            </a:extLst>
          </p:cNvPr>
          <p:cNvSpPr>
            <a:spLocks noGrp="1"/>
          </p:cNvSpPr>
          <p:nvPr>
            <p:ph idx="1"/>
          </p:nvPr>
        </p:nvSpPr>
        <p:spPr/>
        <p:txBody>
          <a:bodyPr/>
          <a:lstStyle/>
          <a:p>
            <a:pPr marL="118872" indent="0">
              <a:buNone/>
            </a:pPr>
            <a:r>
              <a:rPr lang="en-US" dirty="0">
                <a:solidFill>
                  <a:srgbClr val="D60093"/>
                </a:solidFill>
              </a:rPr>
              <a:t>Ex: compute document &amp; word embeddings </a:t>
            </a:r>
          </a:p>
          <a:p>
            <a:pPr marL="118872" indent="0">
              <a:buNone/>
            </a:pPr>
            <a:r>
              <a:rPr lang="en-US" dirty="0">
                <a:solidFill>
                  <a:srgbClr val="0000FF"/>
                </a:solidFill>
              </a:rPr>
              <a:t>Step 1</a:t>
            </a:r>
            <a:r>
              <a:rPr lang="en-US" dirty="0"/>
              <a:t>: given a corpus of documents convert it to BOW vectors </a:t>
            </a:r>
            <a:r>
              <a:rPr lang="en-US" dirty="0">
                <a:sym typeface="Wingdings" pitchFamily="2" charset="2"/>
              </a:rPr>
              <a:t> get a term-document matrix</a:t>
            </a:r>
            <a:endParaRPr lang="en-US" dirty="0"/>
          </a:p>
          <a:p>
            <a:pPr lvl="2"/>
            <a:r>
              <a:rPr lang="en-US" dirty="0"/>
              <a:t>Use term frequencies (</a:t>
            </a:r>
            <a:r>
              <a:rPr lang="en-US" dirty="0" err="1"/>
              <a:t>tf</a:t>
            </a:r>
            <a:r>
              <a:rPr lang="en-US" dirty="0"/>
              <a:t>), or normalize using </a:t>
            </a:r>
            <a:r>
              <a:rPr lang="en-US" dirty="0" err="1"/>
              <a:t>tf-idf</a:t>
            </a:r>
            <a:endParaRPr lang="en-US" dirty="0"/>
          </a:p>
          <a:p>
            <a:pPr lvl="1"/>
            <a:endParaRPr lang="en-US" dirty="0"/>
          </a:p>
        </p:txBody>
      </p:sp>
      <p:sp>
        <p:nvSpPr>
          <p:cNvPr id="4" name="Date Placeholder 3">
            <a:extLst>
              <a:ext uri="{FF2B5EF4-FFF2-40B4-BE49-F238E27FC236}">
                <a16:creationId xmlns:a16="http://schemas.microsoft.com/office/drawing/2014/main" id="{8889D2AA-C2AC-7945-955F-7D89323EACC8}"/>
              </a:ext>
            </a:extLst>
          </p:cNvPr>
          <p:cNvSpPr>
            <a:spLocks noGrp="1"/>
          </p:cNvSpPr>
          <p:nvPr>
            <p:ph type="dt" sz="half" idx="10"/>
          </p:nvPr>
        </p:nvSpPr>
        <p:spPr/>
        <p:txBody>
          <a:bodyPr/>
          <a:lstStyle/>
          <a:p>
            <a:fld id="{25759F80-973B-E240-B7D9-01588ECC23A7}" type="datetime1">
              <a:rPr lang="en-US" smtClean="0"/>
              <a:t>11/3/24</a:t>
            </a:fld>
            <a:endParaRPr lang="en-US"/>
          </a:p>
        </p:txBody>
      </p:sp>
      <p:sp>
        <p:nvSpPr>
          <p:cNvPr id="5" name="Footer Placeholder 4">
            <a:extLst>
              <a:ext uri="{FF2B5EF4-FFF2-40B4-BE49-F238E27FC236}">
                <a16:creationId xmlns:a16="http://schemas.microsoft.com/office/drawing/2014/main" id="{33C81322-89C0-7C43-B6D3-5302BDAB38E1}"/>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F7493E76-AD02-0040-9D09-4D814E21D7AE}"/>
              </a:ext>
            </a:extLst>
          </p:cNvPr>
          <p:cNvSpPr>
            <a:spLocks noGrp="1"/>
          </p:cNvSpPr>
          <p:nvPr>
            <p:ph type="sldNum" sz="quarter" idx="12"/>
          </p:nvPr>
        </p:nvSpPr>
        <p:spPr/>
        <p:txBody>
          <a:bodyPr/>
          <a:lstStyle/>
          <a:p>
            <a:fld id="{19B12225-5612-419B-A8D5-4B8EEE4C217E}" type="slidenum">
              <a:rPr lang="en-US" smtClean="0"/>
              <a:pPr/>
              <a:t>12</a:t>
            </a:fld>
            <a:endParaRPr lang="en-US"/>
          </a:p>
        </p:txBody>
      </p:sp>
      <p:graphicFrame>
        <p:nvGraphicFramePr>
          <p:cNvPr id="8" name="Table 8">
            <a:extLst>
              <a:ext uri="{FF2B5EF4-FFF2-40B4-BE49-F238E27FC236}">
                <a16:creationId xmlns:a16="http://schemas.microsoft.com/office/drawing/2014/main" id="{104C16CD-A3BB-D044-8FC0-F349A2A3F99B}"/>
              </a:ext>
            </a:extLst>
          </p:cNvPr>
          <p:cNvGraphicFramePr>
            <a:graphicFrameLocks noGrp="1"/>
          </p:cNvGraphicFramePr>
          <p:nvPr>
            <p:extLst>
              <p:ext uri="{D42A27DB-BD31-4B8C-83A1-F6EECF244321}">
                <p14:modId xmlns:p14="http://schemas.microsoft.com/office/powerpoint/2010/main" val="2466278543"/>
              </p:ext>
            </p:extLst>
          </p:nvPr>
        </p:nvGraphicFramePr>
        <p:xfrm>
          <a:off x="1295400" y="3441834"/>
          <a:ext cx="6324600" cy="2966720"/>
        </p:xfrm>
        <a:graphic>
          <a:graphicData uri="http://schemas.openxmlformats.org/drawingml/2006/table">
            <a:tbl>
              <a:tblPr firstRow="1" bandRow="1">
                <a:tableStyleId>{9D7B26C5-4107-4FEC-AEDC-1716B250A1EF}</a:tableStyleId>
              </a:tblPr>
              <a:tblGrid>
                <a:gridCol w="1371600">
                  <a:extLst>
                    <a:ext uri="{9D8B030D-6E8A-4147-A177-3AD203B41FA5}">
                      <a16:colId xmlns:a16="http://schemas.microsoft.com/office/drawing/2014/main" val="2968521419"/>
                    </a:ext>
                  </a:extLst>
                </a:gridCol>
                <a:gridCol w="736600">
                  <a:extLst>
                    <a:ext uri="{9D8B030D-6E8A-4147-A177-3AD203B41FA5}">
                      <a16:colId xmlns:a16="http://schemas.microsoft.com/office/drawing/2014/main" val="191304773"/>
                    </a:ext>
                  </a:extLst>
                </a:gridCol>
                <a:gridCol w="1054100">
                  <a:extLst>
                    <a:ext uri="{9D8B030D-6E8A-4147-A177-3AD203B41FA5}">
                      <a16:colId xmlns:a16="http://schemas.microsoft.com/office/drawing/2014/main" val="348612275"/>
                    </a:ext>
                  </a:extLst>
                </a:gridCol>
                <a:gridCol w="876300">
                  <a:extLst>
                    <a:ext uri="{9D8B030D-6E8A-4147-A177-3AD203B41FA5}">
                      <a16:colId xmlns:a16="http://schemas.microsoft.com/office/drawing/2014/main" val="3907915613"/>
                    </a:ext>
                  </a:extLst>
                </a:gridCol>
                <a:gridCol w="1231900">
                  <a:extLst>
                    <a:ext uri="{9D8B030D-6E8A-4147-A177-3AD203B41FA5}">
                      <a16:colId xmlns:a16="http://schemas.microsoft.com/office/drawing/2014/main" val="806374435"/>
                    </a:ext>
                  </a:extLst>
                </a:gridCol>
                <a:gridCol w="1054100">
                  <a:extLst>
                    <a:ext uri="{9D8B030D-6E8A-4147-A177-3AD203B41FA5}">
                      <a16:colId xmlns:a16="http://schemas.microsoft.com/office/drawing/2014/main" val="4213779714"/>
                    </a:ext>
                  </a:extLst>
                </a:gridCol>
              </a:tblGrid>
              <a:tr h="370840">
                <a:tc>
                  <a:txBody>
                    <a:bodyPr/>
                    <a:lstStyle/>
                    <a:p>
                      <a:endParaRPr lang="en-US" dirty="0"/>
                    </a:p>
                  </a:txBody>
                  <a:tcPr/>
                </a:tc>
                <a:tc>
                  <a:txBody>
                    <a:bodyPr/>
                    <a:lstStyle/>
                    <a:p>
                      <a:r>
                        <a:rPr lang="en-US" dirty="0">
                          <a:solidFill>
                            <a:srgbClr val="00B050"/>
                          </a:solidFill>
                        </a:rPr>
                        <a:t>data</a:t>
                      </a:r>
                    </a:p>
                  </a:txBody>
                  <a:tcPr/>
                </a:tc>
                <a:tc>
                  <a:txBody>
                    <a:bodyPr/>
                    <a:lstStyle/>
                    <a:p>
                      <a:r>
                        <a:rPr lang="en-US" dirty="0">
                          <a:solidFill>
                            <a:srgbClr val="00B050"/>
                          </a:solidFill>
                        </a:rPr>
                        <a:t>science</a:t>
                      </a:r>
                    </a:p>
                  </a:txBody>
                  <a:tcPr/>
                </a:tc>
                <a:tc>
                  <a:txBody>
                    <a:bodyPr/>
                    <a:lstStyle/>
                    <a:p>
                      <a:r>
                        <a:rPr lang="en-US" dirty="0">
                          <a:solidFill>
                            <a:srgbClr val="00B050"/>
                          </a:solidFill>
                        </a:rPr>
                        <a:t>spark</a:t>
                      </a:r>
                    </a:p>
                  </a:txBody>
                  <a:tcPr/>
                </a:tc>
                <a:tc>
                  <a:txBody>
                    <a:bodyPr/>
                    <a:lstStyle/>
                    <a:p>
                      <a:r>
                        <a:rPr lang="en-US" dirty="0">
                          <a:solidFill>
                            <a:srgbClr val="00B050"/>
                          </a:solidFill>
                        </a:rPr>
                        <a:t>Stanford</a:t>
                      </a:r>
                    </a:p>
                  </a:txBody>
                  <a:tcPr/>
                </a:tc>
                <a:tc>
                  <a:txBody>
                    <a:bodyPr/>
                    <a:lstStyle/>
                    <a:p>
                      <a:r>
                        <a:rPr lang="en-US" dirty="0">
                          <a:solidFill>
                            <a:srgbClr val="00B050"/>
                          </a:solidFill>
                        </a:rPr>
                        <a:t>learning</a:t>
                      </a:r>
                    </a:p>
                  </a:txBody>
                  <a:tcPr/>
                </a:tc>
                <a:extLst>
                  <a:ext uri="{0D108BD9-81ED-4DB2-BD59-A6C34878D82A}">
                    <a16:rowId xmlns:a16="http://schemas.microsoft.com/office/drawing/2014/main" val="1029938688"/>
                  </a:ext>
                </a:extLst>
              </a:tr>
              <a:tr h="370840">
                <a:tc>
                  <a:txBody>
                    <a:bodyPr/>
                    <a:lstStyle/>
                    <a:p>
                      <a:r>
                        <a:rPr lang="en-US" b="1" dirty="0">
                          <a:solidFill>
                            <a:srgbClr val="FF0066"/>
                          </a:solidFill>
                        </a:rPr>
                        <a:t>document 1</a:t>
                      </a:r>
                    </a:p>
                  </a:txBody>
                  <a:tcPr/>
                </a:tc>
                <a:tc>
                  <a:txBody>
                    <a:bodyPr/>
                    <a:lstStyle/>
                    <a:p>
                      <a:r>
                        <a:rPr lang="en-US" dirty="0"/>
                        <a:t>10</a:t>
                      </a:r>
                    </a:p>
                  </a:txBody>
                  <a:tcPr/>
                </a:tc>
                <a:tc>
                  <a:txBody>
                    <a:bodyPr/>
                    <a:lstStyle/>
                    <a:p>
                      <a:r>
                        <a:rPr lang="en-US" dirty="0"/>
                        <a:t>15</a:t>
                      </a:r>
                    </a:p>
                  </a:txBody>
                  <a:tcPr/>
                </a:tc>
                <a:tc>
                  <a:txBody>
                    <a:bodyPr/>
                    <a:lstStyle/>
                    <a:p>
                      <a:r>
                        <a:rPr lang="en-US" dirty="0"/>
                        <a:t>3</a:t>
                      </a:r>
                    </a:p>
                  </a:txBody>
                  <a:tcPr/>
                </a:tc>
                <a:tc>
                  <a:txBody>
                    <a:bodyPr/>
                    <a:lstStyle/>
                    <a:p>
                      <a:r>
                        <a:rPr lang="en-US" dirty="0"/>
                        <a:t>0</a:t>
                      </a:r>
                    </a:p>
                  </a:txBody>
                  <a:tcPr/>
                </a:tc>
                <a:tc>
                  <a:txBody>
                    <a:bodyPr/>
                    <a:lstStyle/>
                    <a:p>
                      <a:r>
                        <a:rPr lang="en-US" dirty="0"/>
                        <a:t>10</a:t>
                      </a:r>
                    </a:p>
                  </a:txBody>
                  <a:tcPr/>
                </a:tc>
                <a:extLst>
                  <a:ext uri="{0D108BD9-81ED-4DB2-BD59-A6C34878D82A}">
                    <a16:rowId xmlns:a16="http://schemas.microsoft.com/office/drawing/2014/main" val="288103177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FF0066"/>
                          </a:solidFill>
                        </a:rPr>
                        <a:t>document 2</a:t>
                      </a:r>
                    </a:p>
                  </a:txBody>
                  <a:tcPr/>
                </a:tc>
                <a:tc>
                  <a:txBody>
                    <a:bodyPr/>
                    <a:lstStyle/>
                    <a:p>
                      <a:r>
                        <a:rPr lang="en-US" dirty="0"/>
                        <a:t>0</a:t>
                      </a:r>
                    </a:p>
                  </a:txBody>
                  <a:tcPr/>
                </a:tc>
                <a:tc>
                  <a:txBody>
                    <a:bodyPr/>
                    <a:lstStyle/>
                    <a:p>
                      <a:r>
                        <a:rPr lang="en-US" dirty="0"/>
                        <a:t>9</a:t>
                      </a:r>
                    </a:p>
                  </a:txBody>
                  <a:tcPr/>
                </a:tc>
                <a:tc>
                  <a:txBody>
                    <a:bodyPr/>
                    <a:lstStyle/>
                    <a:p>
                      <a:r>
                        <a:rPr lang="en-US" dirty="0"/>
                        <a:t>2</a:t>
                      </a:r>
                    </a:p>
                  </a:txBody>
                  <a:tcPr/>
                </a:tc>
                <a:tc>
                  <a:txBody>
                    <a:bodyPr/>
                    <a:lstStyle/>
                    <a:p>
                      <a:r>
                        <a:rPr lang="en-US" dirty="0"/>
                        <a:t>8</a:t>
                      </a:r>
                    </a:p>
                  </a:txBody>
                  <a:tcPr/>
                </a:tc>
                <a:tc>
                  <a:txBody>
                    <a:bodyPr/>
                    <a:lstStyle/>
                    <a:p>
                      <a:r>
                        <a:rPr lang="en-US" dirty="0"/>
                        <a:t>2</a:t>
                      </a:r>
                    </a:p>
                  </a:txBody>
                  <a:tcPr/>
                </a:tc>
                <a:extLst>
                  <a:ext uri="{0D108BD9-81ED-4DB2-BD59-A6C34878D82A}">
                    <a16:rowId xmlns:a16="http://schemas.microsoft.com/office/drawing/2014/main" val="1722014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FF0066"/>
                          </a:solidFill>
                        </a:rPr>
                        <a:t>document 3</a:t>
                      </a:r>
                    </a:p>
                  </a:txBody>
                  <a:tcPr/>
                </a:tc>
                <a:tc>
                  <a:txBody>
                    <a:bodyPr/>
                    <a:lstStyle/>
                    <a:p>
                      <a:r>
                        <a:rPr lang="en-US" dirty="0"/>
                        <a:t>1</a:t>
                      </a:r>
                    </a:p>
                  </a:txBody>
                  <a:tcPr/>
                </a:tc>
                <a:tc>
                  <a:txBody>
                    <a:bodyPr/>
                    <a:lstStyle/>
                    <a:p>
                      <a:r>
                        <a:rPr lang="en-US" dirty="0"/>
                        <a:t>2</a:t>
                      </a:r>
                    </a:p>
                  </a:txBody>
                  <a:tcPr/>
                </a:tc>
                <a:tc>
                  <a:txBody>
                    <a:bodyPr/>
                    <a:lstStyle/>
                    <a:p>
                      <a:r>
                        <a:rPr lang="en-US" dirty="0"/>
                        <a:t>20</a:t>
                      </a:r>
                    </a:p>
                  </a:txBody>
                  <a:tcPr/>
                </a:tc>
                <a:tc>
                  <a:txBody>
                    <a:bodyPr/>
                    <a:lstStyle/>
                    <a:p>
                      <a:r>
                        <a:rPr lang="en-US" dirty="0"/>
                        <a:t>0</a:t>
                      </a:r>
                    </a:p>
                  </a:txBody>
                  <a:tcPr/>
                </a:tc>
                <a:tc>
                  <a:txBody>
                    <a:bodyPr/>
                    <a:lstStyle/>
                    <a:p>
                      <a:r>
                        <a:rPr lang="en-US" dirty="0"/>
                        <a:t>4</a:t>
                      </a:r>
                    </a:p>
                  </a:txBody>
                  <a:tcPr/>
                </a:tc>
                <a:extLst>
                  <a:ext uri="{0D108BD9-81ED-4DB2-BD59-A6C34878D82A}">
                    <a16:rowId xmlns:a16="http://schemas.microsoft.com/office/drawing/2014/main" val="26211520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FF0066"/>
                          </a:solidFill>
                        </a:rPr>
                        <a:t>document 4</a:t>
                      </a:r>
                    </a:p>
                  </a:txBody>
                  <a:tcPr/>
                </a:tc>
                <a:tc>
                  <a:txBody>
                    <a:bodyPr/>
                    <a:lstStyle/>
                    <a:p>
                      <a:r>
                        <a:rPr lang="en-US" dirty="0"/>
                        <a:t>14</a:t>
                      </a:r>
                    </a:p>
                  </a:txBody>
                  <a:tcPr/>
                </a:tc>
                <a:tc>
                  <a:txBody>
                    <a:bodyPr/>
                    <a:lstStyle/>
                    <a:p>
                      <a:r>
                        <a:rPr lang="en-US" dirty="0"/>
                        <a:t>11</a:t>
                      </a:r>
                    </a:p>
                  </a:txBody>
                  <a:tcPr/>
                </a:tc>
                <a:tc>
                  <a:txBody>
                    <a:bodyPr/>
                    <a:lstStyle/>
                    <a:p>
                      <a:r>
                        <a:rPr lang="en-US" dirty="0"/>
                        <a:t>1</a:t>
                      </a:r>
                    </a:p>
                  </a:txBody>
                  <a:tcPr/>
                </a:tc>
                <a:tc>
                  <a:txBody>
                    <a:bodyPr/>
                    <a:lstStyle/>
                    <a:p>
                      <a:r>
                        <a:rPr lang="en-US" dirty="0"/>
                        <a:t>32</a:t>
                      </a:r>
                    </a:p>
                  </a:txBody>
                  <a:tcPr/>
                </a:tc>
                <a:tc>
                  <a:txBody>
                    <a:bodyPr/>
                    <a:lstStyle/>
                    <a:p>
                      <a:r>
                        <a:rPr lang="en-US" dirty="0"/>
                        <a:t>2</a:t>
                      </a:r>
                    </a:p>
                  </a:txBody>
                  <a:tcPr/>
                </a:tc>
                <a:extLst>
                  <a:ext uri="{0D108BD9-81ED-4DB2-BD59-A6C34878D82A}">
                    <a16:rowId xmlns:a16="http://schemas.microsoft.com/office/drawing/2014/main" val="360074387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FF0066"/>
                          </a:solidFill>
                        </a:rPr>
                        <a:t>document 5</a:t>
                      </a:r>
                    </a:p>
                  </a:txBody>
                  <a:tcPr/>
                </a:tc>
                <a:tc>
                  <a:txBody>
                    <a:bodyPr/>
                    <a:lstStyle/>
                    <a:p>
                      <a:r>
                        <a:rPr lang="en-US" dirty="0"/>
                        <a:t>5</a:t>
                      </a:r>
                    </a:p>
                  </a:txBody>
                  <a:tcPr/>
                </a:tc>
                <a:tc>
                  <a:txBody>
                    <a:bodyPr/>
                    <a:lstStyle/>
                    <a:p>
                      <a:r>
                        <a:rPr lang="en-US" dirty="0"/>
                        <a:t>1</a:t>
                      </a:r>
                    </a:p>
                  </a:txBody>
                  <a:tcPr/>
                </a:tc>
                <a:tc>
                  <a:txBody>
                    <a:bodyPr/>
                    <a:lstStyle/>
                    <a:p>
                      <a:r>
                        <a:rPr lang="en-US" dirty="0"/>
                        <a:t>7</a:t>
                      </a:r>
                    </a:p>
                  </a:txBody>
                  <a:tcPr/>
                </a:tc>
                <a:tc>
                  <a:txBody>
                    <a:bodyPr/>
                    <a:lstStyle/>
                    <a:p>
                      <a:r>
                        <a:rPr lang="en-US" dirty="0"/>
                        <a:t>12</a:t>
                      </a:r>
                    </a:p>
                  </a:txBody>
                  <a:tcPr/>
                </a:tc>
                <a:tc>
                  <a:txBody>
                    <a:bodyPr/>
                    <a:lstStyle/>
                    <a:p>
                      <a:r>
                        <a:rPr lang="en-US" dirty="0"/>
                        <a:t>5</a:t>
                      </a:r>
                    </a:p>
                  </a:txBody>
                  <a:tcPr/>
                </a:tc>
                <a:extLst>
                  <a:ext uri="{0D108BD9-81ED-4DB2-BD59-A6C34878D82A}">
                    <a16:rowId xmlns:a16="http://schemas.microsoft.com/office/drawing/2014/main" val="18071065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FF0066"/>
                          </a:solidFill>
                        </a:rPr>
                        <a:t>document 6</a:t>
                      </a:r>
                    </a:p>
                  </a:txBody>
                  <a:tcPr/>
                </a:tc>
                <a:tc>
                  <a:txBody>
                    <a:bodyPr/>
                    <a:lstStyle/>
                    <a:p>
                      <a:r>
                        <a:rPr lang="en-US" dirty="0"/>
                        <a:t>6</a:t>
                      </a:r>
                    </a:p>
                  </a:txBody>
                  <a:tcPr/>
                </a:tc>
                <a:tc>
                  <a:txBody>
                    <a:bodyPr/>
                    <a:lstStyle/>
                    <a:p>
                      <a:r>
                        <a:rPr lang="en-US" dirty="0"/>
                        <a:t>3</a:t>
                      </a:r>
                    </a:p>
                  </a:txBody>
                  <a:tcPr/>
                </a:tc>
                <a:tc>
                  <a:txBody>
                    <a:bodyPr/>
                    <a:lstStyle/>
                    <a:p>
                      <a:r>
                        <a:rPr lang="en-US" dirty="0"/>
                        <a:t>5</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276703055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FF0066"/>
                          </a:solidFill>
                        </a:rPr>
                        <a:t>document 7</a:t>
                      </a:r>
                    </a:p>
                  </a:txBody>
                  <a:tcPr/>
                </a:tc>
                <a:tc>
                  <a:txBody>
                    <a:bodyPr/>
                    <a:lstStyle/>
                    <a:p>
                      <a:r>
                        <a:rPr lang="en-US" dirty="0"/>
                        <a:t>2</a:t>
                      </a:r>
                    </a:p>
                  </a:txBody>
                  <a:tcPr/>
                </a:tc>
                <a:tc>
                  <a:txBody>
                    <a:bodyPr/>
                    <a:lstStyle/>
                    <a:p>
                      <a:r>
                        <a:rPr lang="en-US" dirty="0"/>
                        <a:t>3</a:t>
                      </a:r>
                    </a:p>
                  </a:txBody>
                  <a:tcPr/>
                </a:tc>
                <a:tc>
                  <a:txBody>
                    <a:bodyPr/>
                    <a:lstStyle/>
                    <a:p>
                      <a:r>
                        <a:rPr lang="en-US" dirty="0"/>
                        <a:t>5</a:t>
                      </a:r>
                    </a:p>
                  </a:txBody>
                  <a:tcPr/>
                </a:tc>
                <a:tc>
                  <a:txBody>
                    <a:bodyPr/>
                    <a:lstStyle/>
                    <a:p>
                      <a:r>
                        <a:rPr lang="en-US" dirty="0"/>
                        <a:t>2</a:t>
                      </a:r>
                    </a:p>
                  </a:txBody>
                  <a:tcPr/>
                </a:tc>
                <a:tc>
                  <a:txBody>
                    <a:bodyPr/>
                    <a:lstStyle/>
                    <a:p>
                      <a:r>
                        <a:rPr lang="en-US" dirty="0"/>
                        <a:t>7</a:t>
                      </a:r>
                    </a:p>
                  </a:txBody>
                  <a:tcPr/>
                </a:tc>
                <a:extLst>
                  <a:ext uri="{0D108BD9-81ED-4DB2-BD59-A6C34878D82A}">
                    <a16:rowId xmlns:a16="http://schemas.microsoft.com/office/drawing/2014/main" val="1871603502"/>
                  </a:ext>
                </a:extLst>
              </a:tr>
            </a:tbl>
          </a:graphicData>
        </a:graphic>
      </p:graphicFrame>
    </p:spTree>
    <p:extLst>
      <p:ext uri="{BB962C8B-B14F-4D97-AF65-F5344CB8AC3E}">
        <p14:creationId xmlns:p14="http://schemas.microsoft.com/office/powerpoint/2010/main" val="554626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288CE-E263-FA4C-A22B-D9E8C188D762}"/>
              </a:ext>
            </a:extLst>
          </p:cNvPr>
          <p:cNvSpPr>
            <a:spLocks noGrp="1"/>
          </p:cNvSpPr>
          <p:nvPr>
            <p:ph type="title"/>
          </p:nvPr>
        </p:nvSpPr>
        <p:spPr/>
        <p:txBody>
          <a:bodyPr/>
          <a:lstStyle/>
          <a:p>
            <a:r>
              <a:rPr lang="en-US" dirty="0"/>
              <a:t>Review: SVD as an embedder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0BD9C00-F34C-F04C-864C-623CD6A2FDFF}"/>
                  </a:ext>
                </a:extLst>
              </p:cNvPr>
              <p:cNvSpPr>
                <a:spLocks noGrp="1"/>
              </p:cNvSpPr>
              <p:nvPr>
                <p:ph idx="1"/>
              </p:nvPr>
            </p:nvSpPr>
            <p:spPr/>
            <p:txBody>
              <a:bodyPr/>
              <a:lstStyle/>
              <a:p>
                <a:pPr marL="118872" indent="0">
                  <a:buNone/>
                </a:pPr>
                <a:r>
                  <a:rPr lang="en-US" dirty="0">
                    <a:solidFill>
                      <a:srgbClr val="0000FF"/>
                    </a:solidFill>
                  </a:rPr>
                  <a:t>Step 2</a:t>
                </a:r>
                <a:r>
                  <a:rPr lang="en-US" dirty="0"/>
                  <a:t>: apply SVD on the term-document matrix</a:t>
                </a:r>
              </a:p>
              <a:p>
                <a:pPr marL="118872" indent="0">
                  <a:buNone/>
                </a:pPr>
                <a:r>
                  <a:rPr lang="en-US" dirty="0"/>
                  <a:t>              and pick a value </a:t>
                </a:r>
                <a14:m>
                  <m:oMath xmlns:m="http://schemas.openxmlformats.org/officeDocument/2006/math">
                    <m:r>
                      <a:rPr lang="en-US" sz="2800" b="0" i="1" smtClean="0">
                        <a:latin typeface="Cambria Math" panose="02040503050406030204" pitchFamily="18" charset="0"/>
                      </a:rPr>
                      <m:t>𝑟</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𝑟𝑎𝑛𝑘</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𝐴</m:t>
                    </m:r>
                    <m:r>
                      <a:rPr lang="en-US" sz="2800" b="0" i="1" smtClean="0">
                        <a:latin typeface="Cambria Math" panose="02040503050406030204" pitchFamily="18" charset="0"/>
                        <a:ea typeface="Cambria Math" panose="02040503050406030204" pitchFamily="18" charset="0"/>
                      </a:rPr>
                      <m:t>)</m:t>
                    </m:r>
                  </m:oMath>
                </a14:m>
                <a:endParaRPr lang="en-US" sz="2800" dirty="0"/>
              </a:p>
              <a:p>
                <a:endParaRPr lang="en-US" dirty="0"/>
              </a:p>
            </p:txBody>
          </p:sp>
        </mc:Choice>
        <mc:Fallback xmlns="">
          <p:sp>
            <p:nvSpPr>
              <p:cNvPr id="3" name="Content Placeholder 2">
                <a:extLst>
                  <a:ext uri="{FF2B5EF4-FFF2-40B4-BE49-F238E27FC236}">
                    <a16:creationId xmlns:a16="http://schemas.microsoft.com/office/drawing/2014/main" id="{10BD9C00-F34C-F04C-864C-623CD6A2FDFF}"/>
                  </a:ext>
                </a:extLst>
              </p:cNvPr>
              <p:cNvSpPr>
                <a:spLocks noGrp="1" noRot="1" noChangeAspect="1" noMove="1" noResize="1" noEditPoints="1" noAdjustHandles="1" noChangeArrowheads="1" noChangeShapeType="1" noTextEdit="1"/>
              </p:cNvSpPr>
              <p:nvPr>
                <p:ph idx="1"/>
              </p:nvPr>
            </p:nvSpPr>
            <p:spPr>
              <a:blipFill>
                <a:blip r:embed="rId2"/>
                <a:stretch>
                  <a:fillRect l="-926" t="-725" r="-1389"/>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41EAA7F6-CD04-274E-99F2-E9027A340DA6}"/>
              </a:ext>
            </a:extLst>
          </p:cNvPr>
          <p:cNvSpPr>
            <a:spLocks noGrp="1"/>
          </p:cNvSpPr>
          <p:nvPr>
            <p:ph type="dt" sz="half" idx="10"/>
          </p:nvPr>
        </p:nvSpPr>
        <p:spPr/>
        <p:txBody>
          <a:bodyPr/>
          <a:lstStyle/>
          <a:p>
            <a:fld id="{0132871C-024E-0549-A17C-885EF7CBA82E}" type="datetime1">
              <a:rPr lang="en-US" smtClean="0"/>
              <a:t>11/3/24</a:t>
            </a:fld>
            <a:endParaRPr lang="en-US"/>
          </a:p>
        </p:txBody>
      </p:sp>
      <p:sp>
        <p:nvSpPr>
          <p:cNvPr id="5" name="Footer Placeholder 4">
            <a:extLst>
              <a:ext uri="{FF2B5EF4-FFF2-40B4-BE49-F238E27FC236}">
                <a16:creationId xmlns:a16="http://schemas.microsoft.com/office/drawing/2014/main" id="{00A52E5B-C634-534E-8055-ED0C253E5FFF}"/>
              </a:ext>
            </a:extLst>
          </p:cNvPr>
          <p:cNvSpPr>
            <a:spLocks noGrp="1"/>
          </p:cNvSpPr>
          <p:nvPr>
            <p:ph type="ftr" sz="quarter" idx="11"/>
          </p:nvPr>
        </p:nvSpPr>
        <p:spPr/>
        <p:txBody>
          <a:bodyPr/>
          <a:lstStyle/>
          <a:p>
            <a:r>
              <a:rPr lang="en-US"/>
              <a:t>Jure Leskovec &amp; Mina Ghashami, Stanford University </a:t>
            </a:r>
            <a:endParaRPr lang="en-US" dirty="0"/>
          </a:p>
        </p:txBody>
      </p:sp>
      <p:sp>
        <p:nvSpPr>
          <p:cNvPr id="6" name="Slide Number Placeholder 5">
            <a:extLst>
              <a:ext uri="{FF2B5EF4-FFF2-40B4-BE49-F238E27FC236}">
                <a16:creationId xmlns:a16="http://schemas.microsoft.com/office/drawing/2014/main" id="{FDB9157D-C15A-2843-A4B3-124784C57D28}"/>
              </a:ext>
            </a:extLst>
          </p:cNvPr>
          <p:cNvSpPr>
            <a:spLocks noGrp="1"/>
          </p:cNvSpPr>
          <p:nvPr>
            <p:ph type="sldNum" sz="quarter" idx="12"/>
          </p:nvPr>
        </p:nvSpPr>
        <p:spPr/>
        <p:txBody>
          <a:bodyPr/>
          <a:lstStyle/>
          <a:p>
            <a:fld id="{19B12225-5612-419B-A8D5-4B8EEE4C217E}" type="slidenum">
              <a:rPr lang="en-US" smtClean="0"/>
              <a:pPr/>
              <a:t>13</a:t>
            </a:fld>
            <a:endParaRPr lang="en-US"/>
          </a:p>
        </p:txBody>
      </p:sp>
      <p:sp>
        <p:nvSpPr>
          <p:cNvPr id="8" name="Rectangle 7">
            <a:extLst>
              <a:ext uri="{FF2B5EF4-FFF2-40B4-BE49-F238E27FC236}">
                <a16:creationId xmlns:a16="http://schemas.microsoft.com/office/drawing/2014/main" id="{214ACE27-2B2B-E44D-A146-60CB30A9B7FE}"/>
              </a:ext>
            </a:extLst>
          </p:cNvPr>
          <p:cNvSpPr/>
          <p:nvPr/>
        </p:nvSpPr>
        <p:spPr>
          <a:xfrm>
            <a:off x="2971800" y="3018528"/>
            <a:ext cx="2590800" cy="2677656"/>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2400" dirty="0">
                <a:latin typeface="Times New Roman" pitchFamily="18" charset="0"/>
                <a:cs typeface="Times New Roman" pitchFamily="18" charset="0"/>
              </a:rPr>
              <a:t>-0.30    0.41  -0.79</a:t>
            </a:r>
          </a:p>
          <a:p>
            <a:r>
              <a:rPr lang="en-US" sz="2400" dirty="0">
                <a:latin typeface="Times New Roman" pitchFamily="18" charset="0"/>
                <a:cs typeface="Times New Roman" pitchFamily="18" charset="0"/>
              </a:rPr>
              <a:t>-0.25    0.03  -0.12</a:t>
            </a:r>
          </a:p>
          <a:p>
            <a:r>
              <a:rPr lang="en-US" sz="2400" dirty="0">
                <a:latin typeface="Times New Roman" pitchFamily="18" charset="0"/>
                <a:cs typeface="Times New Roman" pitchFamily="18" charset="0"/>
              </a:rPr>
              <a:t>-0.14    0.74   0.5</a:t>
            </a:r>
          </a:p>
          <a:p>
            <a:r>
              <a:rPr lang="en-US" sz="2400" dirty="0">
                <a:latin typeface="Times New Roman" pitchFamily="18" charset="0"/>
                <a:cs typeface="Times New Roman" pitchFamily="18" charset="0"/>
              </a:rPr>
              <a:t>-0.83   -0.40   0.12</a:t>
            </a:r>
          </a:p>
          <a:p>
            <a:r>
              <a:rPr lang="en-US" sz="2400" dirty="0">
                <a:latin typeface="Times New Roman" pitchFamily="18" charset="0"/>
                <a:cs typeface="Times New Roman" pitchFamily="18" charset="0"/>
              </a:rPr>
              <a:t>-0.33    0.11    0.31</a:t>
            </a:r>
          </a:p>
          <a:p>
            <a:r>
              <a:rPr lang="en-US" sz="2400" dirty="0">
                <a:latin typeface="Times New Roman" pitchFamily="18" charset="0"/>
                <a:cs typeface="Times New Roman" pitchFamily="18" charset="0"/>
              </a:rPr>
              <a:t>-0.13    0.20   -0.04</a:t>
            </a:r>
          </a:p>
          <a:p>
            <a:r>
              <a:rPr lang="en-US" sz="2400" dirty="0">
                <a:latin typeface="Times New Roman" pitchFamily="18" charset="0"/>
                <a:cs typeface="Times New Roman" pitchFamily="18" charset="0"/>
              </a:rPr>
              <a:t>-0.14    0.27   -0.05</a:t>
            </a:r>
          </a:p>
        </p:txBody>
      </p:sp>
      <p:sp>
        <p:nvSpPr>
          <p:cNvPr id="9" name="Rectangle 8">
            <a:extLst>
              <a:ext uri="{FF2B5EF4-FFF2-40B4-BE49-F238E27FC236}">
                <a16:creationId xmlns:a16="http://schemas.microsoft.com/office/drawing/2014/main" id="{728CF800-B6AC-3847-96B4-38ACBDD7838E}"/>
              </a:ext>
            </a:extLst>
          </p:cNvPr>
          <p:cNvSpPr/>
          <p:nvPr/>
        </p:nvSpPr>
        <p:spPr>
          <a:xfrm>
            <a:off x="6076950" y="3676471"/>
            <a:ext cx="1984528" cy="1200329"/>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2400" b="1" dirty="0">
                <a:latin typeface="Times New Roman" pitchFamily="18" charset="0"/>
                <a:cs typeface="Times New Roman" pitchFamily="18" charset="0"/>
              </a:rPr>
              <a:t>42.7</a:t>
            </a:r>
            <a:r>
              <a:rPr lang="en-US" sz="2400" dirty="0">
                <a:latin typeface="Times New Roman" pitchFamily="18" charset="0"/>
                <a:cs typeface="Times New Roman" pitchFamily="18" charset="0"/>
              </a:rPr>
              <a:t>  0     0</a:t>
            </a:r>
          </a:p>
          <a:p>
            <a:r>
              <a:rPr lang="en-US" sz="2400" dirty="0">
                <a:latin typeface="Times New Roman" pitchFamily="18" charset="0"/>
                <a:cs typeface="Times New Roman" pitchFamily="18" charset="0"/>
              </a:rPr>
              <a:t>0       </a:t>
            </a:r>
            <a:r>
              <a:rPr lang="en-US" sz="2400" b="1" dirty="0">
                <a:latin typeface="Times New Roman" pitchFamily="18" charset="0"/>
                <a:cs typeface="Times New Roman" pitchFamily="18" charset="0"/>
              </a:rPr>
              <a:t>23.8</a:t>
            </a:r>
            <a:r>
              <a:rPr lang="en-US" sz="2400" dirty="0">
                <a:latin typeface="Times New Roman" pitchFamily="18" charset="0"/>
                <a:cs typeface="Times New Roman" pitchFamily="18" charset="0"/>
              </a:rPr>
              <a:t>  0</a:t>
            </a:r>
          </a:p>
          <a:p>
            <a:r>
              <a:rPr lang="en-US" sz="2400" dirty="0">
                <a:latin typeface="Times New Roman" pitchFamily="18" charset="0"/>
                <a:cs typeface="Times New Roman" pitchFamily="18" charset="0"/>
              </a:rPr>
              <a:t>0       0     </a:t>
            </a:r>
            <a:r>
              <a:rPr lang="en-US" sz="2400" b="1" dirty="0">
                <a:latin typeface="Times New Roman" pitchFamily="18" charset="0"/>
                <a:cs typeface="Times New Roman" pitchFamily="18" charset="0"/>
              </a:rPr>
              <a:t>16.7</a:t>
            </a:r>
          </a:p>
        </p:txBody>
      </p:sp>
      <p:sp>
        <p:nvSpPr>
          <p:cNvPr id="10" name="Rectangle 9">
            <a:extLst>
              <a:ext uri="{FF2B5EF4-FFF2-40B4-BE49-F238E27FC236}">
                <a16:creationId xmlns:a16="http://schemas.microsoft.com/office/drawing/2014/main" id="{81929AD1-36EC-D146-A516-7A907F77F901}"/>
              </a:ext>
            </a:extLst>
          </p:cNvPr>
          <p:cNvSpPr/>
          <p:nvPr/>
        </p:nvSpPr>
        <p:spPr>
          <a:xfrm>
            <a:off x="5334000" y="5562600"/>
            <a:ext cx="3810000" cy="1015663"/>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2000" dirty="0">
                <a:latin typeface="Times New Roman" pitchFamily="18" charset="0"/>
                <a:cs typeface="Times New Roman" pitchFamily="18" charset="0"/>
              </a:rPr>
              <a:t>-0.41   -0.40  -0.20   -0.77    -0.20</a:t>
            </a:r>
          </a:p>
          <a:p>
            <a:r>
              <a:rPr lang="en-US" sz="2000" dirty="0">
                <a:latin typeface="Times New Roman" pitchFamily="18" charset="0"/>
                <a:cs typeface="Times New Roman" pitchFamily="18" charset="0"/>
              </a:rPr>
              <a:t>0.06     0.21   0.78    -0.45     0.37</a:t>
            </a:r>
          </a:p>
          <a:p>
            <a:r>
              <a:rPr lang="en-US" sz="2000" dirty="0">
                <a:latin typeface="Times New Roman" pitchFamily="18" charset="0"/>
                <a:cs typeface="Times New Roman" pitchFamily="18" charset="0"/>
              </a:rPr>
              <a:t>-0.26  -0.63   0.55     0.40    -0.28</a:t>
            </a:r>
          </a:p>
        </p:txBody>
      </p:sp>
      <p:sp>
        <p:nvSpPr>
          <p:cNvPr id="11" name="Text Box 21">
            <a:extLst>
              <a:ext uri="{FF2B5EF4-FFF2-40B4-BE49-F238E27FC236}">
                <a16:creationId xmlns:a16="http://schemas.microsoft.com/office/drawing/2014/main" id="{D99E0CCD-ED31-7743-9905-124298F52058}"/>
              </a:ext>
            </a:extLst>
          </p:cNvPr>
          <p:cNvSpPr txBox="1">
            <a:spLocks noChangeArrowheads="1"/>
          </p:cNvSpPr>
          <p:nvPr/>
        </p:nvSpPr>
        <p:spPr bwMode="auto">
          <a:xfrm>
            <a:off x="2623627" y="3984247"/>
            <a:ext cx="401072"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a:t>
            </a:r>
          </a:p>
        </p:txBody>
      </p:sp>
      <p:sp>
        <p:nvSpPr>
          <p:cNvPr id="12" name="Text Box 32">
            <a:extLst>
              <a:ext uri="{FF2B5EF4-FFF2-40B4-BE49-F238E27FC236}">
                <a16:creationId xmlns:a16="http://schemas.microsoft.com/office/drawing/2014/main" id="{242D87D5-92DA-9C4D-8586-500129FA680A}"/>
              </a:ext>
            </a:extLst>
          </p:cNvPr>
          <p:cNvSpPr txBox="1">
            <a:spLocks noChangeArrowheads="1"/>
          </p:cNvSpPr>
          <p:nvPr/>
        </p:nvSpPr>
        <p:spPr bwMode="auto">
          <a:xfrm>
            <a:off x="5696532" y="401356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13" name="Text Box 35">
            <a:extLst>
              <a:ext uri="{FF2B5EF4-FFF2-40B4-BE49-F238E27FC236}">
                <a16:creationId xmlns:a16="http://schemas.microsoft.com/office/drawing/2014/main" id="{7F3060E5-841E-F242-BF72-42CF78AC999D}"/>
              </a:ext>
            </a:extLst>
          </p:cNvPr>
          <p:cNvSpPr txBox="1">
            <a:spLocks noChangeArrowheads="1"/>
          </p:cNvSpPr>
          <p:nvPr/>
        </p:nvSpPr>
        <p:spPr bwMode="auto">
          <a:xfrm>
            <a:off x="8204353" y="4020922"/>
            <a:ext cx="399468" cy="584775"/>
          </a:xfrm>
          <a:prstGeom prst="rect">
            <a:avLst/>
          </a:prstGeom>
          <a:noFill/>
          <a:ln w="15875">
            <a:noFill/>
            <a:miter lim="800000"/>
            <a:headEnd type="none" w="sm" len="sm"/>
            <a:tailEnd/>
          </a:ln>
          <a:effectLst/>
        </p:spPr>
        <p:txBody>
          <a:bodyPr wrap="none" anchor="ctr">
            <a:spAutoFit/>
          </a:bodyPr>
          <a:lstStyle/>
          <a:p>
            <a:r>
              <a:rPr lang="en-US" sz="3200" b="1" dirty="0">
                <a:solidFill>
                  <a:srgbClr val="008000"/>
                </a:solidFill>
              </a:rPr>
              <a:t>x</a:t>
            </a:r>
          </a:p>
        </p:txBody>
      </p:sp>
      <p:sp>
        <p:nvSpPr>
          <p:cNvPr id="17" name="Rectangle 16">
            <a:extLst>
              <a:ext uri="{FF2B5EF4-FFF2-40B4-BE49-F238E27FC236}">
                <a16:creationId xmlns:a16="http://schemas.microsoft.com/office/drawing/2014/main" id="{BE87378B-D37C-9F4C-ABB1-37A2DF7FEDA3}"/>
              </a:ext>
            </a:extLst>
          </p:cNvPr>
          <p:cNvSpPr/>
          <p:nvPr/>
        </p:nvSpPr>
        <p:spPr>
          <a:xfrm>
            <a:off x="228600" y="3024349"/>
            <a:ext cx="2457450" cy="2677656"/>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2400" dirty="0">
                <a:latin typeface="Times New Roman" pitchFamily="18" charset="0"/>
                <a:cs typeface="Times New Roman" pitchFamily="18" charset="0"/>
              </a:rPr>
              <a:t>10   15   3    0   10 0     9     2    8    2</a:t>
            </a:r>
          </a:p>
          <a:p>
            <a:r>
              <a:rPr lang="en-US" sz="2400" dirty="0">
                <a:latin typeface="Times New Roman" pitchFamily="18" charset="0"/>
                <a:cs typeface="Times New Roman" pitchFamily="18" charset="0"/>
              </a:rPr>
              <a:t>1     2     20  0    4</a:t>
            </a:r>
          </a:p>
          <a:p>
            <a:r>
              <a:rPr lang="en-US" sz="2400" dirty="0">
                <a:latin typeface="Times New Roman" pitchFamily="18" charset="0"/>
                <a:cs typeface="Times New Roman" pitchFamily="18" charset="0"/>
              </a:rPr>
              <a:t>14   11   1    32   2</a:t>
            </a:r>
          </a:p>
          <a:p>
            <a:r>
              <a:rPr lang="en-US" sz="2400" dirty="0">
                <a:latin typeface="Times New Roman" pitchFamily="18" charset="0"/>
                <a:cs typeface="Times New Roman" pitchFamily="18" charset="0"/>
              </a:rPr>
              <a:t>5     1     7   12    5 6     3     5   1      1</a:t>
            </a:r>
          </a:p>
          <a:p>
            <a:r>
              <a:rPr lang="en-US" sz="2400" dirty="0">
                <a:latin typeface="Times New Roman" pitchFamily="18" charset="0"/>
                <a:cs typeface="Times New Roman" pitchFamily="18" charset="0"/>
              </a:rPr>
              <a:t>2     3     5   2      7</a:t>
            </a:r>
          </a:p>
        </p:txBody>
      </p:sp>
      <p:sp>
        <p:nvSpPr>
          <p:cNvPr id="18" name="TextBox 17">
            <a:extLst>
              <a:ext uri="{FF2B5EF4-FFF2-40B4-BE49-F238E27FC236}">
                <a16:creationId xmlns:a16="http://schemas.microsoft.com/office/drawing/2014/main" id="{2CB5E188-256B-1A4A-8D59-8BF60A29D4DC}"/>
              </a:ext>
            </a:extLst>
          </p:cNvPr>
          <p:cNvSpPr txBox="1"/>
          <p:nvPr/>
        </p:nvSpPr>
        <p:spPr>
          <a:xfrm>
            <a:off x="1066800" y="5791200"/>
            <a:ext cx="685800" cy="430887"/>
          </a:xfrm>
          <a:prstGeom prst="rect">
            <a:avLst/>
          </a:prstGeom>
          <a:noFill/>
        </p:spPr>
        <p:txBody>
          <a:bodyPr wrap="square" rtlCol="0">
            <a:spAutoFit/>
          </a:bodyPr>
          <a:lstStyle/>
          <a:p>
            <a:r>
              <a:rPr lang="en-US" sz="2200" b="1" dirty="0">
                <a:solidFill>
                  <a:srgbClr val="FF0066"/>
                </a:solidFill>
              </a:rPr>
              <a:t>A</a:t>
            </a:r>
            <a:endParaRPr lang="en-US" sz="2200" dirty="0">
              <a:latin typeface="Arial" pitchFamily="34" charset="0"/>
              <a:cs typeface="Arial" pitchFamily="34" charset="0"/>
            </a:endParaRPr>
          </a:p>
        </p:txBody>
      </p:sp>
      <p:sp>
        <p:nvSpPr>
          <p:cNvPr id="19" name="TextBox 18">
            <a:extLst>
              <a:ext uri="{FF2B5EF4-FFF2-40B4-BE49-F238E27FC236}">
                <a16:creationId xmlns:a16="http://schemas.microsoft.com/office/drawing/2014/main" id="{985C0191-01CC-1F40-8EA7-D7A046DF262E}"/>
              </a:ext>
            </a:extLst>
          </p:cNvPr>
          <p:cNvSpPr txBox="1"/>
          <p:nvPr/>
        </p:nvSpPr>
        <p:spPr>
          <a:xfrm>
            <a:off x="3760204" y="5720489"/>
            <a:ext cx="685800" cy="430887"/>
          </a:xfrm>
          <a:prstGeom prst="rect">
            <a:avLst/>
          </a:prstGeom>
          <a:noFill/>
        </p:spPr>
        <p:txBody>
          <a:bodyPr wrap="square" rtlCol="0">
            <a:spAutoFit/>
          </a:bodyPr>
          <a:lstStyle/>
          <a:p>
            <a:r>
              <a:rPr lang="en-US" sz="2200" b="1" dirty="0">
                <a:solidFill>
                  <a:srgbClr val="FF0066"/>
                </a:solidFill>
              </a:rPr>
              <a:t>U</a:t>
            </a:r>
            <a:endParaRPr lang="en-US" sz="2200" dirty="0">
              <a:latin typeface="Arial" pitchFamily="34" charset="0"/>
              <a:cs typeface="Arial" pitchFamily="34" charset="0"/>
            </a:endParaRPr>
          </a:p>
        </p:txBody>
      </p:sp>
      <p:sp>
        <p:nvSpPr>
          <p:cNvPr id="20" name="TextBox 19">
            <a:extLst>
              <a:ext uri="{FF2B5EF4-FFF2-40B4-BE49-F238E27FC236}">
                <a16:creationId xmlns:a16="http://schemas.microsoft.com/office/drawing/2014/main" id="{B1E4A082-14B9-1648-978D-BDACC1C033EA}"/>
              </a:ext>
            </a:extLst>
          </p:cNvPr>
          <p:cNvSpPr txBox="1"/>
          <p:nvPr/>
        </p:nvSpPr>
        <p:spPr>
          <a:xfrm>
            <a:off x="4876800" y="6057722"/>
            <a:ext cx="685800" cy="430887"/>
          </a:xfrm>
          <a:prstGeom prst="rect">
            <a:avLst/>
          </a:prstGeom>
          <a:noFill/>
        </p:spPr>
        <p:txBody>
          <a:bodyPr wrap="square" rtlCol="0">
            <a:spAutoFit/>
          </a:bodyPr>
          <a:lstStyle/>
          <a:p>
            <a:r>
              <a:rPr lang="en-US" sz="2200" b="1" dirty="0">
                <a:solidFill>
                  <a:srgbClr val="FF0066"/>
                </a:solidFill>
                <a:latin typeface="Arial" pitchFamily="34" charset="0"/>
                <a:cs typeface="Arial" pitchFamily="34" charset="0"/>
              </a:rPr>
              <a:t>V</a:t>
            </a:r>
            <a:r>
              <a:rPr lang="en-US" sz="2200" b="1" baseline="30000" dirty="0">
                <a:solidFill>
                  <a:srgbClr val="FF0066"/>
                </a:solidFill>
                <a:latin typeface="Arial" pitchFamily="34" charset="0"/>
                <a:cs typeface="Arial" pitchFamily="34" charset="0"/>
              </a:rPr>
              <a:t>T</a:t>
            </a:r>
            <a:endParaRPr lang="en-US" sz="2200" baseline="30000" dirty="0">
              <a:latin typeface="Arial" pitchFamily="34" charset="0"/>
              <a:cs typeface="Arial" pitchFamily="34" charset="0"/>
            </a:endParaRPr>
          </a:p>
        </p:txBody>
      </p:sp>
      <p:sp>
        <p:nvSpPr>
          <p:cNvPr id="21" name="TextBox 20">
            <a:extLst>
              <a:ext uri="{FF2B5EF4-FFF2-40B4-BE49-F238E27FC236}">
                <a16:creationId xmlns:a16="http://schemas.microsoft.com/office/drawing/2014/main" id="{A13F63FC-F5AF-2043-B2B8-5B49DCDA627C}"/>
              </a:ext>
            </a:extLst>
          </p:cNvPr>
          <p:cNvSpPr txBox="1"/>
          <p:nvPr/>
        </p:nvSpPr>
        <p:spPr>
          <a:xfrm>
            <a:off x="6744502" y="3302673"/>
            <a:ext cx="685800" cy="461665"/>
          </a:xfrm>
          <a:prstGeom prst="rect">
            <a:avLst/>
          </a:prstGeom>
          <a:noFill/>
        </p:spPr>
        <p:txBody>
          <a:bodyPr wrap="square" rtlCol="0">
            <a:spAutoFit/>
          </a:bodyPr>
          <a:lstStyle/>
          <a:p>
            <a:r>
              <a:rPr lang="en-US" sz="2400" b="1" dirty="0">
                <a:solidFill>
                  <a:srgbClr val="FF0066"/>
                </a:solidFill>
                <a:sym typeface="Symbol"/>
              </a:rPr>
              <a:t></a:t>
            </a:r>
            <a:endParaRPr lang="en-US" sz="2200" dirty="0">
              <a:latin typeface="Arial" pitchFamily="34" charset="0"/>
              <a:cs typeface="Arial" pitchFamily="34" charset="0"/>
            </a:endParaRPr>
          </a:p>
        </p:txBody>
      </p:sp>
      <p:sp>
        <p:nvSpPr>
          <p:cNvPr id="23" name="TextBox 22">
            <a:extLst>
              <a:ext uri="{FF2B5EF4-FFF2-40B4-BE49-F238E27FC236}">
                <a16:creationId xmlns:a16="http://schemas.microsoft.com/office/drawing/2014/main" id="{AFEA66C1-44EC-1843-94F8-262E9E657A4B}"/>
              </a:ext>
            </a:extLst>
          </p:cNvPr>
          <p:cNvSpPr txBox="1"/>
          <p:nvPr/>
        </p:nvSpPr>
        <p:spPr>
          <a:xfrm>
            <a:off x="457200" y="2580330"/>
            <a:ext cx="3048000" cy="381000"/>
          </a:xfrm>
          <a:prstGeom prst="rect">
            <a:avLst/>
          </a:prstGeom>
          <a:noFill/>
        </p:spPr>
        <p:txBody>
          <a:bodyPr wrap="square" rtlCol="0">
            <a:spAutoFit/>
          </a:bodyPr>
          <a:lstStyle/>
          <a:p>
            <a:r>
              <a:rPr lang="en-US" dirty="0">
                <a:solidFill>
                  <a:srgbClr val="0000FF"/>
                </a:solidFill>
                <a:latin typeface="Arial" pitchFamily="34" charset="0"/>
                <a:cs typeface="Arial" pitchFamily="34" charset="0"/>
              </a:rPr>
              <a:t>Here, we set r = 3. </a:t>
            </a:r>
          </a:p>
        </p:txBody>
      </p:sp>
    </p:spTree>
    <p:extLst>
      <p:ext uri="{BB962C8B-B14F-4D97-AF65-F5344CB8AC3E}">
        <p14:creationId xmlns:p14="http://schemas.microsoft.com/office/powerpoint/2010/main" val="2371571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F1161-D27C-D746-8954-933B3CA8E264}"/>
              </a:ext>
            </a:extLst>
          </p:cNvPr>
          <p:cNvSpPr>
            <a:spLocks noGrp="1"/>
          </p:cNvSpPr>
          <p:nvPr>
            <p:ph type="title"/>
          </p:nvPr>
        </p:nvSpPr>
        <p:spPr/>
        <p:txBody>
          <a:bodyPr/>
          <a:lstStyle/>
          <a:p>
            <a:r>
              <a:rPr lang="en-US" dirty="0"/>
              <a:t>Review: SVD as an embedder</a:t>
            </a:r>
          </a:p>
        </p:txBody>
      </p:sp>
      <p:sp>
        <p:nvSpPr>
          <p:cNvPr id="3" name="Content Placeholder 2">
            <a:extLst>
              <a:ext uri="{FF2B5EF4-FFF2-40B4-BE49-F238E27FC236}">
                <a16:creationId xmlns:a16="http://schemas.microsoft.com/office/drawing/2014/main" id="{D1D7004E-C24C-C94A-8897-70DB7366E938}"/>
              </a:ext>
            </a:extLst>
          </p:cNvPr>
          <p:cNvSpPr>
            <a:spLocks noGrp="1"/>
          </p:cNvSpPr>
          <p:nvPr>
            <p:ph idx="1"/>
          </p:nvPr>
        </p:nvSpPr>
        <p:spPr/>
        <p:txBody>
          <a:bodyPr/>
          <a:lstStyle/>
          <a:p>
            <a:pPr marL="118872" indent="0">
              <a:buNone/>
            </a:pPr>
            <a:r>
              <a:rPr lang="en-US" dirty="0">
                <a:solidFill>
                  <a:srgbClr val="0000FF"/>
                </a:solidFill>
              </a:rPr>
              <a:t>Step 3</a:t>
            </a:r>
            <a:r>
              <a:rPr lang="en-US" dirty="0"/>
              <a:t>: compute embedding of documents as </a:t>
            </a:r>
            <a:r>
              <a:rPr lang="en-US" sz="2800" dirty="0" err="1"/>
              <a:t>emb</a:t>
            </a:r>
            <a:r>
              <a:rPr lang="en-US" sz="2800" dirty="0"/>
              <a:t> = [&lt;doc, v1&gt; , &lt;doc, v2&gt; , &lt;doc, v3&gt;]</a:t>
            </a:r>
          </a:p>
          <a:p>
            <a:endParaRPr lang="en-US" dirty="0"/>
          </a:p>
          <a:p>
            <a:endParaRPr lang="en-US" dirty="0"/>
          </a:p>
          <a:p>
            <a:endParaRPr lang="en-US" dirty="0"/>
          </a:p>
          <a:p>
            <a:endParaRPr lang="en-US" dirty="0"/>
          </a:p>
          <a:p>
            <a:endParaRPr lang="en-US" dirty="0"/>
          </a:p>
          <a:p>
            <a:endParaRPr lang="en-US" dirty="0"/>
          </a:p>
          <a:p>
            <a:r>
              <a:rPr lang="en-US" sz="2200" dirty="0">
                <a:solidFill>
                  <a:srgbClr val="008000"/>
                </a:solidFill>
              </a:rPr>
              <a:t>&lt;doc, v1&gt; = &lt;[10,15,3,0,10] , v1&gt;= -12.7</a:t>
            </a:r>
          </a:p>
          <a:p>
            <a:endParaRPr lang="en-US" sz="2200" dirty="0"/>
          </a:p>
        </p:txBody>
      </p:sp>
      <p:sp>
        <p:nvSpPr>
          <p:cNvPr id="4" name="Date Placeholder 3">
            <a:extLst>
              <a:ext uri="{FF2B5EF4-FFF2-40B4-BE49-F238E27FC236}">
                <a16:creationId xmlns:a16="http://schemas.microsoft.com/office/drawing/2014/main" id="{9E471B7A-4AA3-6E41-A299-36C8BADF058E}"/>
              </a:ext>
            </a:extLst>
          </p:cNvPr>
          <p:cNvSpPr>
            <a:spLocks noGrp="1"/>
          </p:cNvSpPr>
          <p:nvPr>
            <p:ph type="dt" sz="half" idx="10"/>
          </p:nvPr>
        </p:nvSpPr>
        <p:spPr/>
        <p:txBody>
          <a:bodyPr/>
          <a:lstStyle/>
          <a:p>
            <a:fld id="{74240213-8C59-4345-B2D1-624A97F9DA3C}" type="datetime1">
              <a:rPr lang="en-US" smtClean="0"/>
              <a:t>11/3/24</a:t>
            </a:fld>
            <a:endParaRPr lang="en-US"/>
          </a:p>
        </p:txBody>
      </p:sp>
      <p:sp>
        <p:nvSpPr>
          <p:cNvPr id="5" name="Footer Placeholder 4">
            <a:extLst>
              <a:ext uri="{FF2B5EF4-FFF2-40B4-BE49-F238E27FC236}">
                <a16:creationId xmlns:a16="http://schemas.microsoft.com/office/drawing/2014/main" id="{649DAB6C-A177-BD49-9DCE-9F2A3A1AC93E}"/>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93B5E18E-1995-644D-8B59-28BE1700B9B9}"/>
              </a:ext>
            </a:extLst>
          </p:cNvPr>
          <p:cNvSpPr>
            <a:spLocks noGrp="1"/>
          </p:cNvSpPr>
          <p:nvPr>
            <p:ph type="sldNum" sz="quarter" idx="12"/>
          </p:nvPr>
        </p:nvSpPr>
        <p:spPr/>
        <p:txBody>
          <a:bodyPr/>
          <a:lstStyle/>
          <a:p>
            <a:fld id="{19B12225-5612-419B-A8D5-4B8EEE4C217E}" type="slidenum">
              <a:rPr lang="en-US" smtClean="0"/>
              <a:pPr/>
              <a:t>14</a:t>
            </a:fld>
            <a:endParaRPr lang="en-US"/>
          </a:p>
        </p:txBody>
      </p:sp>
      <p:pic>
        <p:nvPicPr>
          <p:cNvPr id="7" name="Picture 6">
            <a:extLst>
              <a:ext uri="{FF2B5EF4-FFF2-40B4-BE49-F238E27FC236}">
                <a16:creationId xmlns:a16="http://schemas.microsoft.com/office/drawing/2014/main" id="{E0291839-FFF0-C74A-820A-07623BC2F4E5}"/>
              </a:ext>
            </a:extLst>
          </p:cNvPr>
          <p:cNvPicPr>
            <a:picLocks noChangeAspect="1"/>
          </p:cNvPicPr>
          <p:nvPr/>
        </p:nvPicPr>
        <p:blipFill>
          <a:blip r:embed="rId2"/>
          <a:stretch>
            <a:fillRect/>
          </a:stretch>
        </p:blipFill>
        <p:spPr>
          <a:xfrm>
            <a:off x="2916856" y="2362200"/>
            <a:ext cx="6019800" cy="2616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ounded Rectangle 7">
            <a:extLst>
              <a:ext uri="{FF2B5EF4-FFF2-40B4-BE49-F238E27FC236}">
                <a16:creationId xmlns:a16="http://schemas.microsoft.com/office/drawing/2014/main" id="{1645BD50-8C35-A244-9D64-47E291F70702}"/>
              </a:ext>
            </a:extLst>
          </p:cNvPr>
          <p:cNvSpPr/>
          <p:nvPr/>
        </p:nvSpPr>
        <p:spPr>
          <a:xfrm>
            <a:off x="2964782" y="2590800"/>
            <a:ext cx="1731344" cy="304800"/>
          </a:xfrm>
          <a:prstGeom prst="round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6547FA85-15F3-2E4A-97A2-69E7306148FF}"/>
              </a:ext>
            </a:extLst>
          </p:cNvPr>
          <p:cNvSpPr txBox="1"/>
          <p:nvPr/>
        </p:nvSpPr>
        <p:spPr>
          <a:xfrm>
            <a:off x="2280587" y="2618601"/>
            <a:ext cx="533400" cy="276999"/>
          </a:xfrm>
          <a:prstGeom prst="rect">
            <a:avLst/>
          </a:prstGeom>
          <a:noFill/>
        </p:spPr>
        <p:txBody>
          <a:bodyPr wrap="square" rtlCol="0">
            <a:spAutoFit/>
          </a:bodyPr>
          <a:lstStyle/>
          <a:p>
            <a:r>
              <a:rPr lang="en-US" sz="1200" dirty="0">
                <a:latin typeface="Arial" pitchFamily="34" charset="0"/>
                <a:cs typeface="Arial" pitchFamily="34" charset="0"/>
              </a:rPr>
              <a:t>doc</a:t>
            </a:r>
          </a:p>
        </p:txBody>
      </p:sp>
      <p:sp>
        <p:nvSpPr>
          <p:cNvPr id="10" name="Rounded Rectangle 9">
            <a:extLst>
              <a:ext uri="{FF2B5EF4-FFF2-40B4-BE49-F238E27FC236}">
                <a16:creationId xmlns:a16="http://schemas.microsoft.com/office/drawing/2014/main" id="{93DA9B4E-7077-E848-A535-F489A63540FA}"/>
              </a:ext>
            </a:extLst>
          </p:cNvPr>
          <p:cNvSpPr/>
          <p:nvPr/>
        </p:nvSpPr>
        <p:spPr>
          <a:xfrm>
            <a:off x="6416970" y="4191000"/>
            <a:ext cx="2422229" cy="304800"/>
          </a:xfrm>
          <a:prstGeom prst="round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9F550AA4-F4BA-8F43-AF93-625796ECE550}"/>
              </a:ext>
            </a:extLst>
          </p:cNvPr>
          <p:cNvCxnSpPr>
            <a:stCxn id="8" idx="1"/>
          </p:cNvCxnSpPr>
          <p:nvPr/>
        </p:nvCxnSpPr>
        <p:spPr>
          <a:xfrm flipH="1">
            <a:off x="2674119" y="2743200"/>
            <a:ext cx="290663" cy="0"/>
          </a:xfrm>
          <a:prstGeom prst="straightConnector1">
            <a:avLst/>
          </a:prstGeom>
          <a:ln w="28575">
            <a:solidFill>
              <a:srgbClr val="008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691843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F1161-D27C-D746-8954-933B3CA8E264}"/>
              </a:ext>
            </a:extLst>
          </p:cNvPr>
          <p:cNvSpPr>
            <a:spLocks noGrp="1"/>
          </p:cNvSpPr>
          <p:nvPr>
            <p:ph type="title"/>
          </p:nvPr>
        </p:nvSpPr>
        <p:spPr/>
        <p:txBody>
          <a:bodyPr/>
          <a:lstStyle/>
          <a:p>
            <a:r>
              <a:rPr lang="en-US" dirty="0"/>
              <a:t>Review: SVD as an embedder</a:t>
            </a:r>
          </a:p>
        </p:txBody>
      </p:sp>
      <p:sp>
        <p:nvSpPr>
          <p:cNvPr id="3" name="Content Placeholder 2">
            <a:extLst>
              <a:ext uri="{FF2B5EF4-FFF2-40B4-BE49-F238E27FC236}">
                <a16:creationId xmlns:a16="http://schemas.microsoft.com/office/drawing/2014/main" id="{D1D7004E-C24C-C94A-8897-70DB7366E938}"/>
              </a:ext>
            </a:extLst>
          </p:cNvPr>
          <p:cNvSpPr>
            <a:spLocks noGrp="1"/>
          </p:cNvSpPr>
          <p:nvPr>
            <p:ph idx="1"/>
          </p:nvPr>
        </p:nvSpPr>
        <p:spPr/>
        <p:txBody>
          <a:bodyPr/>
          <a:lstStyle/>
          <a:p>
            <a:r>
              <a:rPr lang="en-US" dirty="0">
                <a:solidFill>
                  <a:srgbClr val="0000FF"/>
                </a:solidFill>
              </a:rPr>
              <a:t>Step 3</a:t>
            </a:r>
            <a:r>
              <a:rPr lang="en-US" dirty="0"/>
              <a:t>: compute embedding of documents as </a:t>
            </a:r>
            <a:r>
              <a:rPr lang="en-US" sz="2800" dirty="0" err="1"/>
              <a:t>emb</a:t>
            </a:r>
            <a:r>
              <a:rPr lang="en-US" sz="2800" dirty="0"/>
              <a:t> = [&lt;doc, v1&gt; , &lt;doc, v2&gt; , &lt;doc, v3&gt;]</a:t>
            </a:r>
          </a:p>
          <a:p>
            <a:endParaRPr lang="en-US" dirty="0"/>
          </a:p>
          <a:p>
            <a:endParaRPr lang="en-US" dirty="0"/>
          </a:p>
          <a:p>
            <a:endParaRPr lang="en-US" dirty="0"/>
          </a:p>
          <a:p>
            <a:endParaRPr lang="en-US" dirty="0"/>
          </a:p>
          <a:p>
            <a:endParaRPr lang="en-US" dirty="0"/>
          </a:p>
          <a:p>
            <a:endParaRPr lang="en-US" dirty="0"/>
          </a:p>
          <a:p>
            <a:r>
              <a:rPr lang="en-US" sz="2200" dirty="0"/>
              <a:t>&lt;doc, v1&gt; = &lt;[10,15,3,0,10] , v1&gt;= -12.7</a:t>
            </a:r>
          </a:p>
          <a:p>
            <a:r>
              <a:rPr lang="en-US" sz="2200" dirty="0">
                <a:solidFill>
                  <a:srgbClr val="008000"/>
                </a:solidFill>
              </a:rPr>
              <a:t>&lt;doc, v2&gt; = &lt;[10,15,3,0,10] , v2&gt; = 9.79</a:t>
            </a:r>
          </a:p>
          <a:p>
            <a:endParaRPr lang="en-US" sz="2200" dirty="0"/>
          </a:p>
        </p:txBody>
      </p:sp>
      <p:sp>
        <p:nvSpPr>
          <p:cNvPr id="4" name="Date Placeholder 3">
            <a:extLst>
              <a:ext uri="{FF2B5EF4-FFF2-40B4-BE49-F238E27FC236}">
                <a16:creationId xmlns:a16="http://schemas.microsoft.com/office/drawing/2014/main" id="{9E471B7A-4AA3-6E41-A299-36C8BADF058E}"/>
              </a:ext>
            </a:extLst>
          </p:cNvPr>
          <p:cNvSpPr>
            <a:spLocks noGrp="1"/>
          </p:cNvSpPr>
          <p:nvPr>
            <p:ph type="dt" sz="half" idx="10"/>
          </p:nvPr>
        </p:nvSpPr>
        <p:spPr/>
        <p:txBody>
          <a:bodyPr/>
          <a:lstStyle/>
          <a:p>
            <a:fld id="{DFD1491B-14FE-F048-869B-424D9D1B21D2}" type="datetime1">
              <a:rPr lang="en-US" smtClean="0"/>
              <a:t>11/3/24</a:t>
            </a:fld>
            <a:endParaRPr lang="en-US"/>
          </a:p>
        </p:txBody>
      </p:sp>
      <p:sp>
        <p:nvSpPr>
          <p:cNvPr id="5" name="Footer Placeholder 4">
            <a:extLst>
              <a:ext uri="{FF2B5EF4-FFF2-40B4-BE49-F238E27FC236}">
                <a16:creationId xmlns:a16="http://schemas.microsoft.com/office/drawing/2014/main" id="{649DAB6C-A177-BD49-9DCE-9F2A3A1AC93E}"/>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93B5E18E-1995-644D-8B59-28BE1700B9B9}"/>
              </a:ext>
            </a:extLst>
          </p:cNvPr>
          <p:cNvSpPr>
            <a:spLocks noGrp="1"/>
          </p:cNvSpPr>
          <p:nvPr>
            <p:ph type="sldNum" sz="quarter" idx="12"/>
          </p:nvPr>
        </p:nvSpPr>
        <p:spPr/>
        <p:txBody>
          <a:bodyPr/>
          <a:lstStyle/>
          <a:p>
            <a:fld id="{19B12225-5612-419B-A8D5-4B8EEE4C217E}" type="slidenum">
              <a:rPr lang="en-US" smtClean="0"/>
              <a:pPr/>
              <a:t>15</a:t>
            </a:fld>
            <a:endParaRPr lang="en-US"/>
          </a:p>
        </p:txBody>
      </p:sp>
      <p:pic>
        <p:nvPicPr>
          <p:cNvPr id="7" name="Picture 6">
            <a:extLst>
              <a:ext uri="{FF2B5EF4-FFF2-40B4-BE49-F238E27FC236}">
                <a16:creationId xmlns:a16="http://schemas.microsoft.com/office/drawing/2014/main" id="{E0291839-FFF0-C74A-820A-07623BC2F4E5}"/>
              </a:ext>
            </a:extLst>
          </p:cNvPr>
          <p:cNvPicPr>
            <a:picLocks noChangeAspect="1"/>
          </p:cNvPicPr>
          <p:nvPr/>
        </p:nvPicPr>
        <p:blipFill>
          <a:blip r:embed="rId2"/>
          <a:stretch>
            <a:fillRect/>
          </a:stretch>
        </p:blipFill>
        <p:spPr>
          <a:xfrm>
            <a:off x="2916856" y="2362200"/>
            <a:ext cx="6019800" cy="2616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ounded Rectangle 7">
            <a:extLst>
              <a:ext uri="{FF2B5EF4-FFF2-40B4-BE49-F238E27FC236}">
                <a16:creationId xmlns:a16="http://schemas.microsoft.com/office/drawing/2014/main" id="{1645BD50-8C35-A244-9D64-47E291F70702}"/>
              </a:ext>
            </a:extLst>
          </p:cNvPr>
          <p:cNvSpPr/>
          <p:nvPr/>
        </p:nvSpPr>
        <p:spPr>
          <a:xfrm>
            <a:off x="2964782" y="2590800"/>
            <a:ext cx="1731344" cy="304800"/>
          </a:xfrm>
          <a:prstGeom prst="round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6547FA85-15F3-2E4A-97A2-69E7306148FF}"/>
              </a:ext>
            </a:extLst>
          </p:cNvPr>
          <p:cNvSpPr txBox="1"/>
          <p:nvPr/>
        </p:nvSpPr>
        <p:spPr>
          <a:xfrm>
            <a:off x="2280587" y="2618601"/>
            <a:ext cx="533400" cy="276999"/>
          </a:xfrm>
          <a:prstGeom prst="rect">
            <a:avLst/>
          </a:prstGeom>
          <a:noFill/>
        </p:spPr>
        <p:txBody>
          <a:bodyPr wrap="square" rtlCol="0">
            <a:spAutoFit/>
          </a:bodyPr>
          <a:lstStyle/>
          <a:p>
            <a:r>
              <a:rPr lang="en-US" sz="1200" dirty="0">
                <a:latin typeface="Arial" pitchFamily="34" charset="0"/>
                <a:cs typeface="Arial" pitchFamily="34" charset="0"/>
              </a:rPr>
              <a:t>doc</a:t>
            </a:r>
          </a:p>
        </p:txBody>
      </p:sp>
      <p:sp>
        <p:nvSpPr>
          <p:cNvPr id="10" name="Rounded Rectangle 9">
            <a:extLst>
              <a:ext uri="{FF2B5EF4-FFF2-40B4-BE49-F238E27FC236}">
                <a16:creationId xmlns:a16="http://schemas.microsoft.com/office/drawing/2014/main" id="{93DA9B4E-7077-E848-A535-F489A63540FA}"/>
              </a:ext>
            </a:extLst>
          </p:cNvPr>
          <p:cNvSpPr/>
          <p:nvPr/>
        </p:nvSpPr>
        <p:spPr>
          <a:xfrm>
            <a:off x="6416970" y="4419600"/>
            <a:ext cx="2422229" cy="304800"/>
          </a:xfrm>
          <a:prstGeom prst="round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9F550AA4-F4BA-8F43-AF93-625796ECE550}"/>
              </a:ext>
            </a:extLst>
          </p:cNvPr>
          <p:cNvCxnSpPr>
            <a:stCxn id="8" idx="1"/>
          </p:cNvCxnSpPr>
          <p:nvPr/>
        </p:nvCxnSpPr>
        <p:spPr>
          <a:xfrm flipH="1">
            <a:off x="2674119" y="2743200"/>
            <a:ext cx="290663" cy="0"/>
          </a:xfrm>
          <a:prstGeom prst="straightConnector1">
            <a:avLst/>
          </a:prstGeom>
          <a:ln w="28575">
            <a:solidFill>
              <a:srgbClr val="008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146367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F1161-D27C-D746-8954-933B3CA8E264}"/>
              </a:ext>
            </a:extLst>
          </p:cNvPr>
          <p:cNvSpPr>
            <a:spLocks noGrp="1"/>
          </p:cNvSpPr>
          <p:nvPr>
            <p:ph type="title"/>
          </p:nvPr>
        </p:nvSpPr>
        <p:spPr/>
        <p:txBody>
          <a:bodyPr/>
          <a:lstStyle/>
          <a:p>
            <a:r>
              <a:rPr lang="en-US" dirty="0"/>
              <a:t>Review: SVD as an embedder</a:t>
            </a:r>
          </a:p>
        </p:txBody>
      </p:sp>
      <p:sp>
        <p:nvSpPr>
          <p:cNvPr id="3" name="Content Placeholder 2">
            <a:extLst>
              <a:ext uri="{FF2B5EF4-FFF2-40B4-BE49-F238E27FC236}">
                <a16:creationId xmlns:a16="http://schemas.microsoft.com/office/drawing/2014/main" id="{D1D7004E-C24C-C94A-8897-70DB7366E938}"/>
              </a:ext>
            </a:extLst>
          </p:cNvPr>
          <p:cNvSpPr>
            <a:spLocks noGrp="1"/>
          </p:cNvSpPr>
          <p:nvPr>
            <p:ph idx="1"/>
          </p:nvPr>
        </p:nvSpPr>
        <p:spPr/>
        <p:txBody>
          <a:bodyPr/>
          <a:lstStyle/>
          <a:p>
            <a:r>
              <a:rPr lang="en-US" dirty="0">
                <a:solidFill>
                  <a:srgbClr val="0000FF"/>
                </a:solidFill>
              </a:rPr>
              <a:t>Step 3</a:t>
            </a:r>
            <a:r>
              <a:rPr lang="en-US" dirty="0"/>
              <a:t>: compute embedding of documents as </a:t>
            </a:r>
            <a:r>
              <a:rPr lang="en-US" sz="2800" dirty="0" err="1"/>
              <a:t>emb</a:t>
            </a:r>
            <a:r>
              <a:rPr lang="en-US" sz="2800" dirty="0"/>
              <a:t> = [&lt;doc, v1&gt; , &lt;doc, v2&gt; , &lt;doc, v3&gt;]</a:t>
            </a:r>
          </a:p>
          <a:p>
            <a:endParaRPr lang="en-US" dirty="0"/>
          </a:p>
          <a:p>
            <a:endParaRPr lang="en-US" dirty="0"/>
          </a:p>
          <a:p>
            <a:endParaRPr lang="en-US" dirty="0"/>
          </a:p>
          <a:p>
            <a:endParaRPr lang="en-US" dirty="0"/>
          </a:p>
          <a:p>
            <a:endParaRPr lang="en-US" dirty="0"/>
          </a:p>
          <a:p>
            <a:endParaRPr lang="en-US" dirty="0"/>
          </a:p>
          <a:p>
            <a:r>
              <a:rPr lang="en-US" sz="2200" dirty="0"/>
              <a:t>&lt;doc, v1&gt; = &lt;[10,15,3,0,10] , v1&gt;= -12.7</a:t>
            </a:r>
          </a:p>
          <a:p>
            <a:r>
              <a:rPr lang="en-US" sz="2200" dirty="0"/>
              <a:t>&lt;doc, v2&gt; = &lt;[10,15,3,0,10] , v2&gt; = 9.79</a:t>
            </a:r>
          </a:p>
          <a:p>
            <a:r>
              <a:rPr lang="en-US" sz="2200" dirty="0">
                <a:solidFill>
                  <a:srgbClr val="008000"/>
                </a:solidFill>
              </a:rPr>
              <a:t>&lt;doc, v3&gt; = &lt;[10,15,3,0,10] , v3&gt;= -13.9</a:t>
            </a:r>
          </a:p>
          <a:p>
            <a:endParaRPr lang="en-US" sz="2200" dirty="0"/>
          </a:p>
        </p:txBody>
      </p:sp>
      <p:sp>
        <p:nvSpPr>
          <p:cNvPr id="4" name="Date Placeholder 3">
            <a:extLst>
              <a:ext uri="{FF2B5EF4-FFF2-40B4-BE49-F238E27FC236}">
                <a16:creationId xmlns:a16="http://schemas.microsoft.com/office/drawing/2014/main" id="{9E471B7A-4AA3-6E41-A299-36C8BADF058E}"/>
              </a:ext>
            </a:extLst>
          </p:cNvPr>
          <p:cNvSpPr>
            <a:spLocks noGrp="1"/>
          </p:cNvSpPr>
          <p:nvPr>
            <p:ph type="dt" sz="half" idx="10"/>
          </p:nvPr>
        </p:nvSpPr>
        <p:spPr/>
        <p:txBody>
          <a:bodyPr/>
          <a:lstStyle/>
          <a:p>
            <a:fld id="{BF253585-BD93-E846-AFBC-FE9AAF1FD48A}" type="datetime1">
              <a:rPr lang="en-US" smtClean="0"/>
              <a:t>11/3/24</a:t>
            </a:fld>
            <a:endParaRPr lang="en-US"/>
          </a:p>
        </p:txBody>
      </p:sp>
      <p:sp>
        <p:nvSpPr>
          <p:cNvPr id="5" name="Footer Placeholder 4">
            <a:extLst>
              <a:ext uri="{FF2B5EF4-FFF2-40B4-BE49-F238E27FC236}">
                <a16:creationId xmlns:a16="http://schemas.microsoft.com/office/drawing/2014/main" id="{649DAB6C-A177-BD49-9DCE-9F2A3A1AC93E}"/>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93B5E18E-1995-644D-8B59-28BE1700B9B9}"/>
              </a:ext>
            </a:extLst>
          </p:cNvPr>
          <p:cNvSpPr>
            <a:spLocks noGrp="1"/>
          </p:cNvSpPr>
          <p:nvPr>
            <p:ph type="sldNum" sz="quarter" idx="12"/>
          </p:nvPr>
        </p:nvSpPr>
        <p:spPr/>
        <p:txBody>
          <a:bodyPr/>
          <a:lstStyle/>
          <a:p>
            <a:fld id="{19B12225-5612-419B-A8D5-4B8EEE4C217E}" type="slidenum">
              <a:rPr lang="en-US" smtClean="0"/>
              <a:pPr/>
              <a:t>16</a:t>
            </a:fld>
            <a:endParaRPr lang="en-US"/>
          </a:p>
        </p:txBody>
      </p:sp>
      <p:pic>
        <p:nvPicPr>
          <p:cNvPr id="7" name="Picture 6">
            <a:extLst>
              <a:ext uri="{FF2B5EF4-FFF2-40B4-BE49-F238E27FC236}">
                <a16:creationId xmlns:a16="http://schemas.microsoft.com/office/drawing/2014/main" id="{E0291839-FFF0-C74A-820A-07623BC2F4E5}"/>
              </a:ext>
            </a:extLst>
          </p:cNvPr>
          <p:cNvPicPr>
            <a:picLocks noChangeAspect="1"/>
          </p:cNvPicPr>
          <p:nvPr/>
        </p:nvPicPr>
        <p:blipFill>
          <a:blip r:embed="rId2"/>
          <a:stretch>
            <a:fillRect/>
          </a:stretch>
        </p:blipFill>
        <p:spPr>
          <a:xfrm>
            <a:off x="2916856" y="2362200"/>
            <a:ext cx="6019800" cy="2616200"/>
          </a:xfrm>
          <a:prstGeom prst="rect">
            <a:avLst/>
          </a:prstGeom>
        </p:spPr>
      </p:pic>
      <p:sp>
        <p:nvSpPr>
          <p:cNvPr id="8" name="Rounded Rectangle 7">
            <a:extLst>
              <a:ext uri="{FF2B5EF4-FFF2-40B4-BE49-F238E27FC236}">
                <a16:creationId xmlns:a16="http://schemas.microsoft.com/office/drawing/2014/main" id="{1645BD50-8C35-A244-9D64-47E291F70702}"/>
              </a:ext>
            </a:extLst>
          </p:cNvPr>
          <p:cNvSpPr/>
          <p:nvPr/>
        </p:nvSpPr>
        <p:spPr>
          <a:xfrm>
            <a:off x="2964782" y="2590800"/>
            <a:ext cx="1731344" cy="304800"/>
          </a:xfrm>
          <a:prstGeom prst="round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6547FA85-15F3-2E4A-97A2-69E7306148FF}"/>
              </a:ext>
            </a:extLst>
          </p:cNvPr>
          <p:cNvSpPr txBox="1"/>
          <p:nvPr/>
        </p:nvSpPr>
        <p:spPr>
          <a:xfrm>
            <a:off x="2280587" y="2618601"/>
            <a:ext cx="533400" cy="276999"/>
          </a:xfrm>
          <a:prstGeom prst="rect">
            <a:avLst/>
          </a:prstGeom>
          <a:noFill/>
        </p:spPr>
        <p:txBody>
          <a:bodyPr wrap="square" rtlCol="0">
            <a:spAutoFit/>
          </a:bodyPr>
          <a:lstStyle/>
          <a:p>
            <a:r>
              <a:rPr lang="en-US" sz="1200" dirty="0">
                <a:latin typeface="Arial" pitchFamily="34" charset="0"/>
                <a:cs typeface="Arial" pitchFamily="34" charset="0"/>
              </a:rPr>
              <a:t>doc</a:t>
            </a:r>
          </a:p>
        </p:txBody>
      </p:sp>
      <p:sp>
        <p:nvSpPr>
          <p:cNvPr id="10" name="Rounded Rectangle 9">
            <a:extLst>
              <a:ext uri="{FF2B5EF4-FFF2-40B4-BE49-F238E27FC236}">
                <a16:creationId xmlns:a16="http://schemas.microsoft.com/office/drawing/2014/main" id="{93DA9B4E-7077-E848-A535-F489A63540FA}"/>
              </a:ext>
            </a:extLst>
          </p:cNvPr>
          <p:cNvSpPr/>
          <p:nvPr/>
        </p:nvSpPr>
        <p:spPr>
          <a:xfrm>
            <a:off x="6416970" y="4648200"/>
            <a:ext cx="2422229" cy="304800"/>
          </a:xfrm>
          <a:prstGeom prst="round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9F550AA4-F4BA-8F43-AF93-625796ECE550}"/>
              </a:ext>
            </a:extLst>
          </p:cNvPr>
          <p:cNvCxnSpPr>
            <a:stCxn id="8" idx="1"/>
          </p:cNvCxnSpPr>
          <p:nvPr/>
        </p:nvCxnSpPr>
        <p:spPr>
          <a:xfrm flipH="1">
            <a:off x="2674119" y="2743200"/>
            <a:ext cx="290663" cy="0"/>
          </a:xfrm>
          <a:prstGeom prst="straightConnector1">
            <a:avLst/>
          </a:prstGeom>
          <a:ln w="28575">
            <a:solidFill>
              <a:srgbClr val="008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167301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F1161-D27C-D746-8954-933B3CA8E264}"/>
              </a:ext>
            </a:extLst>
          </p:cNvPr>
          <p:cNvSpPr>
            <a:spLocks noGrp="1"/>
          </p:cNvSpPr>
          <p:nvPr>
            <p:ph type="title"/>
          </p:nvPr>
        </p:nvSpPr>
        <p:spPr/>
        <p:txBody>
          <a:bodyPr/>
          <a:lstStyle/>
          <a:p>
            <a:r>
              <a:rPr lang="en-US" dirty="0"/>
              <a:t>Review: SVD as an embedder</a:t>
            </a:r>
          </a:p>
        </p:txBody>
      </p:sp>
      <p:sp>
        <p:nvSpPr>
          <p:cNvPr id="3" name="Content Placeholder 2">
            <a:extLst>
              <a:ext uri="{FF2B5EF4-FFF2-40B4-BE49-F238E27FC236}">
                <a16:creationId xmlns:a16="http://schemas.microsoft.com/office/drawing/2014/main" id="{D1D7004E-C24C-C94A-8897-70DB7366E938}"/>
              </a:ext>
            </a:extLst>
          </p:cNvPr>
          <p:cNvSpPr>
            <a:spLocks noGrp="1"/>
          </p:cNvSpPr>
          <p:nvPr>
            <p:ph idx="1"/>
          </p:nvPr>
        </p:nvSpPr>
        <p:spPr/>
        <p:txBody>
          <a:bodyPr/>
          <a:lstStyle/>
          <a:p>
            <a:r>
              <a:rPr lang="en-US" dirty="0">
                <a:solidFill>
                  <a:srgbClr val="0000FF"/>
                </a:solidFill>
              </a:rPr>
              <a:t>Step 3</a:t>
            </a:r>
            <a:r>
              <a:rPr lang="en-US" dirty="0"/>
              <a:t>: compute embedding of documents as </a:t>
            </a:r>
            <a:r>
              <a:rPr lang="en-US" sz="2800" dirty="0" err="1"/>
              <a:t>emb</a:t>
            </a:r>
            <a:r>
              <a:rPr lang="en-US" sz="2800" dirty="0"/>
              <a:t> = [&lt;doc, v1&gt; , &lt;doc, v2&gt; , &lt;doc, v3&gt;]</a:t>
            </a:r>
          </a:p>
          <a:p>
            <a:endParaRPr lang="en-US" dirty="0"/>
          </a:p>
          <a:p>
            <a:endParaRPr lang="en-US" dirty="0"/>
          </a:p>
          <a:p>
            <a:endParaRPr lang="en-US" dirty="0"/>
          </a:p>
          <a:p>
            <a:endParaRPr lang="en-US" dirty="0"/>
          </a:p>
          <a:p>
            <a:endParaRPr lang="en-US" dirty="0"/>
          </a:p>
          <a:p>
            <a:endParaRPr lang="en-US" dirty="0"/>
          </a:p>
          <a:p>
            <a:r>
              <a:rPr lang="en-US" sz="2200" dirty="0"/>
              <a:t>&lt;doc, v1&gt; = &lt;[10,15,3,0,10] , v1&gt;= -12.7</a:t>
            </a:r>
          </a:p>
          <a:p>
            <a:r>
              <a:rPr lang="en-US" sz="2200" dirty="0"/>
              <a:t>&lt;doc, v2&gt; = &lt;[10,15,3,0,10] , v2&gt; = 9.79</a:t>
            </a:r>
          </a:p>
          <a:p>
            <a:r>
              <a:rPr lang="en-US" sz="2200" dirty="0"/>
              <a:t>&lt;doc, v3&gt; = &lt;[10,15,3,0,10] , v3&gt;= -13.9</a:t>
            </a:r>
          </a:p>
          <a:p>
            <a:endParaRPr lang="en-US" sz="2200" dirty="0"/>
          </a:p>
        </p:txBody>
      </p:sp>
      <p:sp>
        <p:nvSpPr>
          <p:cNvPr id="4" name="Date Placeholder 3">
            <a:extLst>
              <a:ext uri="{FF2B5EF4-FFF2-40B4-BE49-F238E27FC236}">
                <a16:creationId xmlns:a16="http://schemas.microsoft.com/office/drawing/2014/main" id="{9E471B7A-4AA3-6E41-A299-36C8BADF058E}"/>
              </a:ext>
            </a:extLst>
          </p:cNvPr>
          <p:cNvSpPr>
            <a:spLocks noGrp="1"/>
          </p:cNvSpPr>
          <p:nvPr>
            <p:ph type="dt" sz="half" idx="10"/>
          </p:nvPr>
        </p:nvSpPr>
        <p:spPr/>
        <p:txBody>
          <a:bodyPr/>
          <a:lstStyle/>
          <a:p>
            <a:fld id="{11C87021-1C40-6940-BBB1-838B22ADAE4B}" type="datetime1">
              <a:rPr lang="en-US" smtClean="0"/>
              <a:t>11/3/24</a:t>
            </a:fld>
            <a:endParaRPr lang="en-US"/>
          </a:p>
        </p:txBody>
      </p:sp>
      <p:sp>
        <p:nvSpPr>
          <p:cNvPr id="5" name="Footer Placeholder 4">
            <a:extLst>
              <a:ext uri="{FF2B5EF4-FFF2-40B4-BE49-F238E27FC236}">
                <a16:creationId xmlns:a16="http://schemas.microsoft.com/office/drawing/2014/main" id="{649DAB6C-A177-BD49-9DCE-9F2A3A1AC93E}"/>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93B5E18E-1995-644D-8B59-28BE1700B9B9}"/>
              </a:ext>
            </a:extLst>
          </p:cNvPr>
          <p:cNvSpPr>
            <a:spLocks noGrp="1"/>
          </p:cNvSpPr>
          <p:nvPr>
            <p:ph type="sldNum" sz="quarter" idx="12"/>
          </p:nvPr>
        </p:nvSpPr>
        <p:spPr/>
        <p:txBody>
          <a:bodyPr/>
          <a:lstStyle/>
          <a:p>
            <a:fld id="{19B12225-5612-419B-A8D5-4B8EEE4C217E}" type="slidenum">
              <a:rPr lang="en-US" smtClean="0"/>
              <a:pPr/>
              <a:t>17</a:t>
            </a:fld>
            <a:endParaRPr lang="en-US"/>
          </a:p>
        </p:txBody>
      </p:sp>
      <p:pic>
        <p:nvPicPr>
          <p:cNvPr id="7" name="Picture 6">
            <a:extLst>
              <a:ext uri="{FF2B5EF4-FFF2-40B4-BE49-F238E27FC236}">
                <a16:creationId xmlns:a16="http://schemas.microsoft.com/office/drawing/2014/main" id="{E0291839-FFF0-C74A-820A-07623BC2F4E5}"/>
              </a:ext>
            </a:extLst>
          </p:cNvPr>
          <p:cNvPicPr>
            <a:picLocks noChangeAspect="1"/>
          </p:cNvPicPr>
          <p:nvPr/>
        </p:nvPicPr>
        <p:blipFill>
          <a:blip r:embed="rId2"/>
          <a:stretch>
            <a:fillRect/>
          </a:stretch>
        </p:blipFill>
        <p:spPr>
          <a:xfrm>
            <a:off x="2916856" y="2362200"/>
            <a:ext cx="6019800" cy="2616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ounded Rectangle 7">
            <a:extLst>
              <a:ext uri="{FF2B5EF4-FFF2-40B4-BE49-F238E27FC236}">
                <a16:creationId xmlns:a16="http://schemas.microsoft.com/office/drawing/2014/main" id="{1645BD50-8C35-A244-9D64-47E291F70702}"/>
              </a:ext>
            </a:extLst>
          </p:cNvPr>
          <p:cNvSpPr/>
          <p:nvPr/>
        </p:nvSpPr>
        <p:spPr>
          <a:xfrm>
            <a:off x="2964782" y="2590800"/>
            <a:ext cx="1731344" cy="304800"/>
          </a:xfrm>
          <a:prstGeom prst="round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6547FA85-15F3-2E4A-97A2-69E7306148FF}"/>
              </a:ext>
            </a:extLst>
          </p:cNvPr>
          <p:cNvSpPr txBox="1"/>
          <p:nvPr/>
        </p:nvSpPr>
        <p:spPr>
          <a:xfrm>
            <a:off x="2280587" y="2618601"/>
            <a:ext cx="533400" cy="276999"/>
          </a:xfrm>
          <a:prstGeom prst="rect">
            <a:avLst/>
          </a:prstGeom>
          <a:noFill/>
        </p:spPr>
        <p:txBody>
          <a:bodyPr wrap="square" rtlCol="0">
            <a:spAutoFit/>
          </a:bodyPr>
          <a:lstStyle/>
          <a:p>
            <a:r>
              <a:rPr lang="en-US" sz="1200" dirty="0">
                <a:latin typeface="Arial" pitchFamily="34" charset="0"/>
                <a:cs typeface="Arial" pitchFamily="34" charset="0"/>
              </a:rPr>
              <a:t>doc</a:t>
            </a:r>
          </a:p>
        </p:txBody>
      </p:sp>
      <p:cxnSp>
        <p:nvCxnSpPr>
          <p:cNvPr id="12" name="Straight Arrow Connector 11">
            <a:extLst>
              <a:ext uri="{FF2B5EF4-FFF2-40B4-BE49-F238E27FC236}">
                <a16:creationId xmlns:a16="http://schemas.microsoft.com/office/drawing/2014/main" id="{9F550AA4-F4BA-8F43-AF93-625796ECE550}"/>
              </a:ext>
            </a:extLst>
          </p:cNvPr>
          <p:cNvCxnSpPr>
            <a:stCxn id="8" idx="1"/>
          </p:cNvCxnSpPr>
          <p:nvPr/>
        </p:nvCxnSpPr>
        <p:spPr>
          <a:xfrm flipH="1">
            <a:off x="2674119" y="2743200"/>
            <a:ext cx="290663" cy="0"/>
          </a:xfrm>
          <a:prstGeom prst="straightConnector1">
            <a:avLst/>
          </a:prstGeom>
          <a:ln w="28575">
            <a:solidFill>
              <a:srgbClr val="008000"/>
            </a:solidFill>
            <a:tailEnd type="triangle"/>
          </a:ln>
        </p:spPr>
        <p:style>
          <a:lnRef idx="1">
            <a:schemeClr val="dk1"/>
          </a:lnRef>
          <a:fillRef idx="0">
            <a:schemeClr val="dk1"/>
          </a:fillRef>
          <a:effectRef idx="0">
            <a:schemeClr val="dk1"/>
          </a:effectRef>
          <a:fontRef idx="minor">
            <a:schemeClr val="tx1"/>
          </a:fontRef>
        </p:style>
      </p:cxnSp>
      <p:sp>
        <p:nvSpPr>
          <p:cNvPr id="13" name="Right Brace 12">
            <a:extLst>
              <a:ext uri="{FF2B5EF4-FFF2-40B4-BE49-F238E27FC236}">
                <a16:creationId xmlns:a16="http://schemas.microsoft.com/office/drawing/2014/main" id="{45C2DD0C-6B01-D240-9DA1-34A16365B95B}"/>
              </a:ext>
            </a:extLst>
          </p:cNvPr>
          <p:cNvSpPr/>
          <p:nvPr/>
        </p:nvSpPr>
        <p:spPr>
          <a:xfrm>
            <a:off x="5562600" y="5257800"/>
            <a:ext cx="152400" cy="990600"/>
          </a:xfrm>
          <a:prstGeom prst="rightBrace">
            <a:avLst/>
          </a:prstGeom>
          <a:ln w="28575">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183C707D-6C33-CF4C-AE74-B6020C1AB575}"/>
              </a:ext>
            </a:extLst>
          </p:cNvPr>
          <p:cNvSpPr txBox="1"/>
          <p:nvPr/>
        </p:nvSpPr>
        <p:spPr>
          <a:xfrm>
            <a:off x="5715000" y="5627301"/>
            <a:ext cx="3048000" cy="369332"/>
          </a:xfrm>
          <a:prstGeom prst="rect">
            <a:avLst/>
          </a:prstGeom>
          <a:noFill/>
        </p:spPr>
        <p:txBody>
          <a:bodyPr wrap="square" rtlCol="0">
            <a:spAutoFit/>
          </a:bodyPr>
          <a:lstStyle/>
          <a:p>
            <a:r>
              <a:rPr lang="en-US" dirty="0">
                <a:solidFill>
                  <a:srgbClr val="008000"/>
                </a:solidFill>
                <a:latin typeface="Arial" pitchFamily="34" charset="0"/>
                <a:cs typeface="Arial" pitchFamily="34" charset="0"/>
              </a:rPr>
              <a:t>emb1 = [-12.7, 9.79, -13.9] </a:t>
            </a:r>
          </a:p>
        </p:txBody>
      </p:sp>
    </p:spTree>
    <p:extLst>
      <p:ext uri="{BB962C8B-B14F-4D97-AF65-F5344CB8AC3E}">
        <p14:creationId xmlns:p14="http://schemas.microsoft.com/office/powerpoint/2010/main" val="21138824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D3522-5216-3846-AB13-3297DDB17E58}"/>
              </a:ext>
            </a:extLst>
          </p:cNvPr>
          <p:cNvSpPr>
            <a:spLocks noGrp="1"/>
          </p:cNvSpPr>
          <p:nvPr>
            <p:ph type="title"/>
          </p:nvPr>
        </p:nvSpPr>
        <p:spPr/>
        <p:txBody>
          <a:bodyPr/>
          <a:lstStyle/>
          <a:p>
            <a:r>
              <a:rPr lang="en-US" dirty="0"/>
              <a:t>Review: SVD as an embedder</a:t>
            </a:r>
          </a:p>
        </p:txBody>
      </p:sp>
      <p:sp>
        <p:nvSpPr>
          <p:cNvPr id="3" name="Content Placeholder 2">
            <a:extLst>
              <a:ext uri="{FF2B5EF4-FFF2-40B4-BE49-F238E27FC236}">
                <a16:creationId xmlns:a16="http://schemas.microsoft.com/office/drawing/2014/main" id="{FE4B4161-CE95-6E43-B61C-DEB26DF03B92}"/>
              </a:ext>
            </a:extLst>
          </p:cNvPr>
          <p:cNvSpPr>
            <a:spLocks noGrp="1"/>
          </p:cNvSpPr>
          <p:nvPr>
            <p:ph idx="1"/>
          </p:nvPr>
        </p:nvSpPr>
        <p:spPr/>
        <p:txBody>
          <a:bodyPr>
            <a:normAutofit/>
          </a:bodyPr>
          <a:lstStyle/>
          <a:p>
            <a:r>
              <a:rPr lang="en-US" sz="2800" dirty="0"/>
              <a:t>Similarly we can compute term (word) embeddings</a:t>
            </a:r>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200" dirty="0"/>
          </a:p>
          <a:p>
            <a:r>
              <a:rPr lang="en-US" sz="2200" dirty="0">
                <a:solidFill>
                  <a:srgbClr val="008000"/>
                </a:solidFill>
              </a:rPr>
              <a:t>&lt;term, u1&gt; = &lt;[10,0,1,14,5,6,2] , u1&gt;= -3.9</a:t>
            </a:r>
          </a:p>
          <a:p>
            <a:endParaRPr lang="en-US" sz="2800" dirty="0"/>
          </a:p>
          <a:p>
            <a:endParaRPr lang="en-US" dirty="0"/>
          </a:p>
          <a:p>
            <a:pPr lvl="1"/>
            <a:endParaRPr lang="en-US" dirty="0"/>
          </a:p>
        </p:txBody>
      </p:sp>
      <p:sp>
        <p:nvSpPr>
          <p:cNvPr id="4" name="Date Placeholder 3">
            <a:extLst>
              <a:ext uri="{FF2B5EF4-FFF2-40B4-BE49-F238E27FC236}">
                <a16:creationId xmlns:a16="http://schemas.microsoft.com/office/drawing/2014/main" id="{71FEF007-228C-C946-9860-B00B05164FAB}"/>
              </a:ext>
            </a:extLst>
          </p:cNvPr>
          <p:cNvSpPr>
            <a:spLocks noGrp="1"/>
          </p:cNvSpPr>
          <p:nvPr>
            <p:ph type="dt" sz="half" idx="10"/>
          </p:nvPr>
        </p:nvSpPr>
        <p:spPr/>
        <p:txBody>
          <a:bodyPr/>
          <a:lstStyle/>
          <a:p>
            <a:fld id="{8E40031B-365D-CB43-9B92-6997145A6B94}" type="datetime1">
              <a:rPr lang="en-US" smtClean="0"/>
              <a:t>11/3/24</a:t>
            </a:fld>
            <a:endParaRPr lang="en-US"/>
          </a:p>
        </p:txBody>
      </p:sp>
      <p:sp>
        <p:nvSpPr>
          <p:cNvPr id="5" name="Footer Placeholder 4">
            <a:extLst>
              <a:ext uri="{FF2B5EF4-FFF2-40B4-BE49-F238E27FC236}">
                <a16:creationId xmlns:a16="http://schemas.microsoft.com/office/drawing/2014/main" id="{777366DC-AA95-F94A-A7F6-EBB5E6EA758E}"/>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8EED7BF9-35CC-A242-80A0-6FE894BD4947}"/>
              </a:ext>
            </a:extLst>
          </p:cNvPr>
          <p:cNvSpPr>
            <a:spLocks noGrp="1"/>
          </p:cNvSpPr>
          <p:nvPr>
            <p:ph type="sldNum" sz="quarter" idx="12"/>
          </p:nvPr>
        </p:nvSpPr>
        <p:spPr/>
        <p:txBody>
          <a:bodyPr/>
          <a:lstStyle/>
          <a:p>
            <a:fld id="{19B12225-5612-419B-A8D5-4B8EEE4C217E}" type="slidenum">
              <a:rPr lang="en-US" smtClean="0"/>
              <a:pPr/>
              <a:t>18</a:t>
            </a:fld>
            <a:endParaRPr lang="en-US"/>
          </a:p>
        </p:txBody>
      </p:sp>
      <p:pic>
        <p:nvPicPr>
          <p:cNvPr id="7" name="Picture 6">
            <a:extLst>
              <a:ext uri="{FF2B5EF4-FFF2-40B4-BE49-F238E27FC236}">
                <a16:creationId xmlns:a16="http://schemas.microsoft.com/office/drawing/2014/main" id="{08638555-111C-9449-86E2-37A789C86916}"/>
              </a:ext>
            </a:extLst>
          </p:cNvPr>
          <p:cNvPicPr>
            <a:picLocks noChangeAspect="1"/>
          </p:cNvPicPr>
          <p:nvPr/>
        </p:nvPicPr>
        <p:blipFill>
          <a:blip r:embed="rId2"/>
          <a:stretch>
            <a:fillRect/>
          </a:stretch>
        </p:blipFill>
        <p:spPr>
          <a:xfrm>
            <a:off x="2538298" y="2133600"/>
            <a:ext cx="6148502" cy="2590800"/>
          </a:xfrm>
          <a:prstGeom prst="rect">
            <a:avLst/>
          </a:prstGeom>
        </p:spPr>
      </p:pic>
      <p:sp>
        <p:nvSpPr>
          <p:cNvPr id="9" name="Rounded Rectangle 8">
            <a:extLst>
              <a:ext uri="{FF2B5EF4-FFF2-40B4-BE49-F238E27FC236}">
                <a16:creationId xmlns:a16="http://schemas.microsoft.com/office/drawing/2014/main" id="{C1D523AC-A033-FD46-852F-9C064E0988EB}"/>
              </a:ext>
            </a:extLst>
          </p:cNvPr>
          <p:cNvSpPr/>
          <p:nvPr/>
        </p:nvSpPr>
        <p:spPr>
          <a:xfrm>
            <a:off x="2640596" y="2286000"/>
            <a:ext cx="331204" cy="1828800"/>
          </a:xfrm>
          <a:prstGeom prst="round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51057894-D1B3-D640-BCC5-4A3B309A5512}"/>
              </a:ext>
            </a:extLst>
          </p:cNvPr>
          <p:cNvSpPr txBox="1"/>
          <p:nvPr/>
        </p:nvSpPr>
        <p:spPr>
          <a:xfrm>
            <a:off x="2584704" y="1893177"/>
            <a:ext cx="533400" cy="276999"/>
          </a:xfrm>
          <a:prstGeom prst="rect">
            <a:avLst/>
          </a:prstGeom>
          <a:noFill/>
        </p:spPr>
        <p:txBody>
          <a:bodyPr wrap="square" rtlCol="0">
            <a:spAutoFit/>
          </a:bodyPr>
          <a:lstStyle/>
          <a:p>
            <a:r>
              <a:rPr lang="en-US" sz="1200" dirty="0">
                <a:latin typeface="Arial" pitchFamily="34" charset="0"/>
                <a:cs typeface="Arial" pitchFamily="34" charset="0"/>
              </a:rPr>
              <a:t>word</a:t>
            </a:r>
          </a:p>
        </p:txBody>
      </p:sp>
      <p:cxnSp>
        <p:nvCxnSpPr>
          <p:cNvPr id="11" name="Straight Arrow Connector 10">
            <a:extLst>
              <a:ext uri="{FF2B5EF4-FFF2-40B4-BE49-F238E27FC236}">
                <a16:creationId xmlns:a16="http://schemas.microsoft.com/office/drawing/2014/main" id="{747C30C8-73E7-D34B-82AD-1FAA708FE09D}"/>
              </a:ext>
            </a:extLst>
          </p:cNvPr>
          <p:cNvCxnSpPr>
            <a:cxnSpLocks/>
          </p:cNvCxnSpPr>
          <p:nvPr/>
        </p:nvCxnSpPr>
        <p:spPr>
          <a:xfrm flipV="1">
            <a:off x="2819400" y="2103121"/>
            <a:ext cx="0" cy="152401"/>
          </a:xfrm>
          <a:prstGeom prst="straightConnector1">
            <a:avLst/>
          </a:prstGeom>
          <a:ln w="28575">
            <a:solidFill>
              <a:srgbClr val="008000"/>
            </a:solidFill>
            <a:tailEnd type="triangle"/>
          </a:ln>
        </p:spPr>
        <p:style>
          <a:lnRef idx="1">
            <a:schemeClr val="dk1"/>
          </a:lnRef>
          <a:fillRef idx="0">
            <a:schemeClr val="dk1"/>
          </a:fillRef>
          <a:effectRef idx="0">
            <a:schemeClr val="dk1"/>
          </a:effectRef>
          <a:fontRef idx="minor">
            <a:schemeClr val="tx1"/>
          </a:fontRef>
        </p:style>
      </p:cxnSp>
      <p:sp>
        <p:nvSpPr>
          <p:cNvPr id="14" name="Rounded Rectangle 13">
            <a:extLst>
              <a:ext uri="{FF2B5EF4-FFF2-40B4-BE49-F238E27FC236}">
                <a16:creationId xmlns:a16="http://schemas.microsoft.com/office/drawing/2014/main" id="{0366AEF7-493D-E642-B1A1-D53599495420}"/>
              </a:ext>
            </a:extLst>
          </p:cNvPr>
          <p:cNvSpPr/>
          <p:nvPr/>
        </p:nvSpPr>
        <p:spPr>
          <a:xfrm>
            <a:off x="4571999" y="2286000"/>
            <a:ext cx="480889" cy="1828800"/>
          </a:xfrm>
          <a:prstGeom prst="round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0879658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D3522-5216-3846-AB13-3297DDB17E58}"/>
              </a:ext>
            </a:extLst>
          </p:cNvPr>
          <p:cNvSpPr>
            <a:spLocks noGrp="1"/>
          </p:cNvSpPr>
          <p:nvPr>
            <p:ph type="title"/>
          </p:nvPr>
        </p:nvSpPr>
        <p:spPr/>
        <p:txBody>
          <a:bodyPr/>
          <a:lstStyle/>
          <a:p>
            <a:r>
              <a:rPr lang="en-US" dirty="0"/>
              <a:t>Review: SVD as an embedder</a:t>
            </a:r>
          </a:p>
        </p:txBody>
      </p:sp>
      <p:sp>
        <p:nvSpPr>
          <p:cNvPr id="3" name="Content Placeholder 2">
            <a:extLst>
              <a:ext uri="{FF2B5EF4-FFF2-40B4-BE49-F238E27FC236}">
                <a16:creationId xmlns:a16="http://schemas.microsoft.com/office/drawing/2014/main" id="{FE4B4161-CE95-6E43-B61C-DEB26DF03B92}"/>
              </a:ext>
            </a:extLst>
          </p:cNvPr>
          <p:cNvSpPr>
            <a:spLocks noGrp="1"/>
          </p:cNvSpPr>
          <p:nvPr>
            <p:ph idx="1"/>
          </p:nvPr>
        </p:nvSpPr>
        <p:spPr/>
        <p:txBody>
          <a:bodyPr>
            <a:normAutofit/>
          </a:bodyPr>
          <a:lstStyle/>
          <a:p>
            <a:r>
              <a:rPr lang="en-US" sz="2800" dirty="0"/>
              <a:t>Similarly we can compute term (word) embeddings</a:t>
            </a:r>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200" dirty="0"/>
          </a:p>
          <a:p>
            <a:r>
              <a:rPr lang="en-US" sz="2200" dirty="0"/>
              <a:t>&lt;term, u1&gt; = &lt;[10,0,1,14,5,6,2] , u1&gt;= -3.9</a:t>
            </a:r>
          </a:p>
          <a:p>
            <a:r>
              <a:rPr lang="en-US" sz="2200" dirty="0">
                <a:solidFill>
                  <a:srgbClr val="008000"/>
                </a:solidFill>
              </a:rPr>
              <a:t>&lt;term, u2&gt; = &lt;[10,0,1,14,5,6,2] , u2&gt; = -12.19</a:t>
            </a:r>
          </a:p>
          <a:p>
            <a:endParaRPr lang="en-US" sz="2800" dirty="0"/>
          </a:p>
          <a:p>
            <a:endParaRPr lang="en-US" dirty="0"/>
          </a:p>
          <a:p>
            <a:pPr lvl="1"/>
            <a:endParaRPr lang="en-US" dirty="0"/>
          </a:p>
        </p:txBody>
      </p:sp>
      <p:sp>
        <p:nvSpPr>
          <p:cNvPr id="4" name="Date Placeholder 3">
            <a:extLst>
              <a:ext uri="{FF2B5EF4-FFF2-40B4-BE49-F238E27FC236}">
                <a16:creationId xmlns:a16="http://schemas.microsoft.com/office/drawing/2014/main" id="{71FEF007-228C-C946-9860-B00B05164FAB}"/>
              </a:ext>
            </a:extLst>
          </p:cNvPr>
          <p:cNvSpPr>
            <a:spLocks noGrp="1"/>
          </p:cNvSpPr>
          <p:nvPr>
            <p:ph type="dt" sz="half" idx="10"/>
          </p:nvPr>
        </p:nvSpPr>
        <p:spPr/>
        <p:txBody>
          <a:bodyPr/>
          <a:lstStyle/>
          <a:p>
            <a:fld id="{4C7799D8-297D-E343-85E1-CC51EC7C46C4}" type="datetime1">
              <a:rPr lang="en-US" smtClean="0"/>
              <a:t>11/3/24</a:t>
            </a:fld>
            <a:endParaRPr lang="en-US"/>
          </a:p>
        </p:txBody>
      </p:sp>
      <p:sp>
        <p:nvSpPr>
          <p:cNvPr id="5" name="Footer Placeholder 4">
            <a:extLst>
              <a:ext uri="{FF2B5EF4-FFF2-40B4-BE49-F238E27FC236}">
                <a16:creationId xmlns:a16="http://schemas.microsoft.com/office/drawing/2014/main" id="{777366DC-AA95-F94A-A7F6-EBB5E6EA758E}"/>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8EED7BF9-35CC-A242-80A0-6FE894BD4947}"/>
              </a:ext>
            </a:extLst>
          </p:cNvPr>
          <p:cNvSpPr>
            <a:spLocks noGrp="1"/>
          </p:cNvSpPr>
          <p:nvPr>
            <p:ph type="sldNum" sz="quarter" idx="12"/>
          </p:nvPr>
        </p:nvSpPr>
        <p:spPr/>
        <p:txBody>
          <a:bodyPr/>
          <a:lstStyle/>
          <a:p>
            <a:fld id="{19B12225-5612-419B-A8D5-4B8EEE4C217E}" type="slidenum">
              <a:rPr lang="en-US" smtClean="0"/>
              <a:pPr/>
              <a:t>19</a:t>
            </a:fld>
            <a:endParaRPr lang="en-US"/>
          </a:p>
        </p:txBody>
      </p:sp>
      <p:pic>
        <p:nvPicPr>
          <p:cNvPr id="7" name="Picture 6">
            <a:extLst>
              <a:ext uri="{FF2B5EF4-FFF2-40B4-BE49-F238E27FC236}">
                <a16:creationId xmlns:a16="http://schemas.microsoft.com/office/drawing/2014/main" id="{08638555-111C-9449-86E2-37A789C86916}"/>
              </a:ext>
            </a:extLst>
          </p:cNvPr>
          <p:cNvPicPr>
            <a:picLocks noChangeAspect="1"/>
          </p:cNvPicPr>
          <p:nvPr/>
        </p:nvPicPr>
        <p:blipFill>
          <a:blip r:embed="rId2"/>
          <a:stretch>
            <a:fillRect/>
          </a:stretch>
        </p:blipFill>
        <p:spPr>
          <a:xfrm>
            <a:off x="2538298" y="2133600"/>
            <a:ext cx="6148502" cy="2590800"/>
          </a:xfrm>
          <a:prstGeom prst="rect">
            <a:avLst/>
          </a:prstGeom>
        </p:spPr>
      </p:pic>
      <p:sp>
        <p:nvSpPr>
          <p:cNvPr id="9" name="Rounded Rectangle 8">
            <a:extLst>
              <a:ext uri="{FF2B5EF4-FFF2-40B4-BE49-F238E27FC236}">
                <a16:creationId xmlns:a16="http://schemas.microsoft.com/office/drawing/2014/main" id="{C1D523AC-A033-FD46-852F-9C064E0988EB}"/>
              </a:ext>
            </a:extLst>
          </p:cNvPr>
          <p:cNvSpPr/>
          <p:nvPr/>
        </p:nvSpPr>
        <p:spPr>
          <a:xfrm>
            <a:off x="2640596" y="2286000"/>
            <a:ext cx="331204" cy="1828800"/>
          </a:xfrm>
          <a:prstGeom prst="round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51057894-D1B3-D640-BCC5-4A3B309A5512}"/>
              </a:ext>
            </a:extLst>
          </p:cNvPr>
          <p:cNvSpPr txBox="1"/>
          <p:nvPr/>
        </p:nvSpPr>
        <p:spPr>
          <a:xfrm>
            <a:off x="2584704" y="1893177"/>
            <a:ext cx="533400" cy="276999"/>
          </a:xfrm>
          <a:prstGeom prst="rect">
            <a:avLst/>
          </a:prstGeom>
          <a:noFill/>
        </p:spPr>
        <p:txBody>
          <a:bodyPr wrap="square" rtlCol="0">
            <a:spAutoFit/>
          </a:bodyPr>
          <a:lstStyle/>
          <a:p>
            <a:r>
              <a:rPr lang="en-US" sz="1200" dirty="0">
                <a:latin typeface="Arial" pitchFamily="34" charset="0"/>
                <a:cs typeface="Arial" pitchFamily="34" charset="0"/>
              </a:rPr>
              <a:t>term</a:t>
            </a:r>
          </a:p>
        </p:txBody>
      </p:sp>
      <p:cxnSp>
        <p:nvCxnSpPr>
          <p:cNvPr id="11" name="Straight Arrow Connector 10">
            <a:extLst>
              <a:ext uri="{FF2B5EF4-FFF2-40B4-BE49-F238E27FC236}">
                <a16:creationId xmlns:a16="http://schemas.microsoft.com/office/drawing/2014/main" id="{747C30C8-73E7-D34B-82AD-1FAA708FE09D}"/>
              </a:ext>
            </a:extLst>
          </p:cNvPr>
          <p:cNvCxnSpPr>
            <a:cxnSpLocks/>
          </p:cNvCxnSpPr>
          <p:nvPr/>
        </p:nvCxnSpPr>
        <p:spPr>
          <a:xfrm flipV="1">
            <a:off x="2819400" y="2103121"/>
            <a:ext cx="0" cy="152401"/>
          </a:xfrm>
          <a:prstGeom prst="straightConnector1">
            <a:avLst/>
          </a:prstGeom>
          <a:ln w="28575">
            <a:solidFill>
              <a:srgbClr val="008000"/>
            </a:solidFill>
            <a:tailEnd type="triangle"/>
          </a:ln>
        </p:spPr>
        <p:style>
          <a:lnRef idx="1">
            <a:schemeClr val="dk1"/>
          </a:lnRef>
          <a:fillRef idx="0">
            <a:schemeClr val="dk1"/>
          </a:fillRef>
          <a:effectRef idx="0">
            <a:schemeClr val="dk1"/>
          </a:effectRef>
          <a:fontRef idx="minor">
            <a:schemeClr val="tx1"/>
          </a:fontRef>
        </p:style>
      </p:cxnSp>
      <p:sp>
        <p:nvSpPr>
          <p:cNvPr id="14" name="Rounded Rectangle 13">
            <a:extLst>
              <a:ext uri="{FF2B5EF4-FFF2-40B4-BE49-F238E27FC236}">
                <a16:creationId xmlns:a16="http://schemas.microsoft.com/office/drawing/2014/main" id="{0366AEF7-493D-E642-B1A1-D53599495420}"/>
              </a:ext>
            </a:extLst>
          </p:cNvPr>
          <p:cNvSpPr/>
          <p:nvPr/>
        </p:nvSpPr>
        <p:spPr>
          <a:xfrm>
            <a:off x="5157911" y="2286000"/>
            <a:ext cx="480889" cy="1828800"/>
          </a:xfrm>
          <a:prstGeom prst="round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23740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D3522-5216-3846-AB13-3297DDB17E58}"/>
              </a:ext>
            </a:extLst>
          </p:cNvPr>
          <p:cNvSpPr>
            <a:spLocks noGrp="1"/>
          </p:cNvSpPr>
          <p:nvPr>
            <p:ph type="title"/>
          </p:nvPr>
        </p:nvSpPr>
        <p:spPr/>
        <p:txBody>
          <a:bodyPr/>
          <a:lstStyle/>
          <a:p>
            <a:r>
              <a:rPr lang="en-US" dirty="0"/>
              <a:t>Review: SVD as an embedder</a:t>
            </a:r>
          </a:p>
        </p:txBody>
      </p:sp>
      <p:sp>
        <p:nvSpPr>
          <p:cNvPr id="3" name="Content Placeholder 2">
            <a:extLst>
              <a:ext uri="{FF2B5EF4-FFF2-40B4-BE49-F238E27FC236}">
                <a16:creationId xmlns:a16="http://schemas.microsoft.com/office/drawing/2014/main" id="{FE4B4161-CE95-6E43-B61C-DEB26DF03B92}"/>
              </a:ext>
            </a:extLst>
          </p:cNvPr>
          <p:cNvSpPr>
            <a:spLocks noGrp="1"/>
          </p:cNvSpPr>
          <p:nvPr>
            <p:ph idx="1"/>
          </p:nvPr>
        </p:nvSpPr>
        <p:spPr/>
        <p:txBody>
          <a:bodyPr>
            <a:normAutofit/>
          </a:bodyPr>
          <a:lstStyle/>
          <a:p>
            <a:r>
              <a:rPr lang="en-US" sz="2800" dirty="0"/>
              <a:t>Similarly we can compute term (word) embeddings</a:t>
            </a:r>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200" dirty="0"/>
          </a:p>
          <a:p>
            <a:r>
              <a:rPr lang="en-US" sz="2200" dirty="0"/>
              <a:t>&lt;term, u1&gt; = &lt;[10,0,1,14,5,6,2] , u1&gt;= -3.9</a:t>
            </a:r>
          </a:p>
          <a:p>
            <a:r>
              <a:rPr lang="en-US" sz="2200" dirty="0"/>
              <a:t>&lt;term, u2&gt; = &lt;[10,0,1,14,5,6,2] , u2&gt; = -12.19</a:t>
            </a:r>
          </a:p>
          <a:p>
            <a:r>
              <a:rPr lang="en-US" sz="2200" dirty="0">
                <a:solidFill>
                  <a:srgbClr val="008000"/>
                </a:solidFill>
              </a:rPr>
              <a:t>&lt;term, u3&gt; = &lt;[10,0,1,14,5,6,2] , u3&gt;= -3.4</a:t>
            </a:r>
          </a:p>
          <a:p>
            <a:pPr marL="118872" indent="0">
              <a:buNone/>
            </a:pPr>
            <a:r>
              <a:rPr lang="en-US" sz="2400" dirty="0"/>
              <a:t>     </a:t>
            </a:r>
            <a:endParaRPr lang="en-US" sz="2800" dirty="0"/>
          </a:p>
          <a:p>
            <a:endParaRPr lang="en-US" dirty="0"/>
          </a:p>
          <a:p>
            <a:pPr lvl="1"/>
            <a:endParaRPr lang="en-US" dirty="0"/>
          </a:p>
        </p:txBody>
      </p:sp>
      <p:sp>
        <p:nvSpPr>
          <p:cNvPr id="4" name="Date Placeholder 3">
            <a:extLst>
              <a:ext uri="{FF2B5EF4-FFF2-40B4-BE49-F238E27FC236}">
                <a16:creationId xmlns:a16="http://schemas.microsoft.com/office/drawing/2014/main" id="{71FEF007-228C-C946-9860-B00B05164FAB}"/>
              </a:ext>
            </a:extLst>
          </p:cNvPr>
          <p:cNvSpPr>
            <a:spLocks noGrp="1"/>
          </p:cNvSpPr>
          <p:nvPr>
            <p:ph type="dt" sz="half" idx="10"/>
          </p:nvPr>
        </p:nvSpPr>
        <p:spPr/>
        <p:txBody>
          <a:bodyPr/>
          <a:lstStyle/>
          <a:p>
            <a:fld id="{B72E48F1-359C-0A4F-84A3-993789943BD6}" type="datetime1">
              <a:rPr lang="en-US" smtClean="0"/>
              <a:t>11/3/24</a:t>
            </a:fld>
            <a:endParaRPr lang="en-US"/>
          </a:p>
        </p:txBody>
      </p:sp>
      <p:sp>
        <p:nvSpPr>
          <p:cNvPr id="5" name="Footer Placeholder 4">
            <a:extLst>
              <a:ext uri="{FF2B5EF4-FFF2-40B4-BE49-F238E27FC236}">
                <a16:creationId xmlns:a16="http://schemas.microsoft.com/office/drawing/2014/main" id="{777366DC-AA95-F94A-A7F6-EBB5E6EA758E}"/>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8EED7BF9-35CC-A242-80A0-6FE894BD4947}"/>
              </a:ext>
            </a:extLst>
          </p:cNvPr>
          <p:cNvSpPr>
            <a:spLocks noGrp="1"/>
          </p:cNvSpPr>
          <p:nvPr>
            <p:ph type="sldNum" sz="quarter" idx="12"/>
          </p:nvPr>
        </p:nvSpPr>
        <p:spPr/>
        <p:txBody>
          <a:bodyPr/>
          <a:lstStyle/>
          <a:p>
            <a:fld id="{19B12225-5612-419B-A8D5-4B8EEE4C217E}" type="slidenum">
              <a:rPr lang="en-US" smtClean="0"/>
              <a:pPr/>
              <a:t>20</a:t>
            </a:fld>
            <a:endParaRPr lang="en-US"/>
          </a:p>
        </p:txBody>
      </p:sp>
      <p:pic>
        <p:nvPicPr>
          <p:cNvPr id="7" name="Picture 6">
            <a:extLst>
              <a:ext uri="{FF2B5EF4-FFF2-40B4-BE49-F238E27FC236}">
                <a16:creationId xmlns:a16="http://schemas.microsoft.com/office/drawing/2014/main" id="{08638555-111C-9449-86E2-37A789C86916}"/>
              </a:ext>
            </a:extLst>
          </p:cNvPr>
          <p:cNvPicPr>
            <a:picLocks noChangeAspect="1"/>
          </p:cNvPicPr>
          <p:nvPr/>
        </p:nvPicPr>
        <p:blipFill>
          <a:blip r:embed="rId2"/>
          <a:stretch>
            <a:fillRect/>
          </a:stretch>
        </p:blipFill>
        <p:spPr>
          <a:xfrm>
            <a:off x="2538298" y="2133600"/>
            <a:ext cx="6148502" cy="2590800"/>
          </a:xfrm>
          <a:prstGeom prst="rect">
            <a:avLst/>
          </a:prstGeom>
        </p:spPr>
      </p:pic>
      <p:sp>
        <p:nvSpPr>
          <p:cNvPr id="9" name="Rounded Rectangle 8">
            <a:extLst>
              <a:ext uri="{FF2B5EF4-FFF2-40B4-BE49-F238E27FC236}">
                <a16:creationId xmlns:a16="http://schemas.microsoft.com/office/drawing/2014/main" id="{C1D523AC-A033-FD46-852F-9C064E0988EB}"/>
              </a:ext>
            </a:extLst>
          </p:cNvPr>
          <p:cNvSpPr/>
          <p:nvPr/>
        </p:nvSpPr>
        <p:spPr>
          <a:xfrm>
            <a:off x="2640596" y="2286000"/>
            <a:ext cx="331204" cy="1828800"/>
          </a:xfrm>
          <a:prstGeom prst="round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51057894-D1B3-D640-BCC5-4A3B309A5512}"/>
              </a:ext>
            </a:extLst>
          </p:cNvPr>
          <p:cNvSpPr txBox="1"/>
          <p:nvPr/>
        </p:nvSpPr>
        <p:spPr>
          <a:xfrm>
            <a:off x="2584704" y="1893177"/>
            <a:ext cx="533400" cy="276999"/>
          </a:xfrm>
          <a:prstGeom prst="rect">
            <a:avLst/>
          </a:prstGeom>
          <a:noFill/>
        </p:spPr>
        <p:txBody>
          <a:bodyPr wrap="square" rtlCol="0">
            <a:spAutoFit/>
          </a:bodyPr>
          <a:lstStyle/>
          <a:p>
            <a:r>
              <a:rPr lang="en-US" sz="1200" dirty="0">
                <a:latin typeface="Arial" pitchFamily="34" charset="0"/>
                <a:cs typeface="Arial" pitchFamily="34" charset="0"/>
              </a:rPr>
              <a:t>term</a:t>
            </a:r>
          </a:p>
        </p:txBody>
      </p:sp>
      <p:cxnSp>
        <p:nvCxnSpPr>
          <p:cNvPr id="11" name="Straight Arrow Connector 10">
            <a:extLst>
              <a:ext uri="{FF2B5EF4-FFF2-40B4-BE49-F238E27FC236}">
                <a16:creationId xmlns:a16="http://schemas.microsoft.com/office/drawing/2014/main" id="{747C30C8-73E7-D34B-82AD-1FAA708FE09D}"/>
              </a:ext>
            </a:extLst>
          </p:cNvPr>
          <p:cNvCxnSpPr>
            <a:cxnSpLocks/>
          </p:cNvCxnSpPr>
          <p:nvPr/>
        </p:nvCxnSpPr>
        <p:spPr>
          <a:xfrm flipV="1">
            <a:off x="2819400" y="2103121"/>
            <a:ext cx="0" cy="152401"/>
          </a:xfrm>
          <a:prstGeom prst="straightConnector1">
            <a:avLst/>
          </a:prstGeom>
          <a:ln w="28575">
            <a:solidFill>
              <a:srgbClr val="008000"/>
            </a:solidFill>
            <a:tailEnd type="triangle"/>
          </a:ln>
        </p:spPr>
        <p:style>
          <a:lnRef idx="1">
            <a:schemeClr val="dk1"/>
          </a:lnRef>
          <a:fillRef idx="0">
            <a:schemeClr val="dk1"/>
          </a:fillRef>
          <a:effectRef idx="0">
            <a:schemeClr val="dk1"/>
          </a:effectRef>
          <a:fontRef idx="minor">
            <a:schemeClr val="tx1"/>
          </a:fontRef>
        </p:style>
      </p:cxnSp>
      <p:sp>
        <p:nvSpPr>
          <p:cNvPr id="14" name="Rounded Rectangle 13">
            <a:extLst>
              <a:ext uri="{FF2B5EF4-FFF2-40B4-BE49-F238E27FC236}">
                <a16:creationId xmlns:a16="http://schemas.microsoft.com/office/drawing/2014/main" id="{0366AEF7-493D-E642-B1A1-D53599495420}"/>
              </a:ext>
            </a:extLst>
          </p:cNvPr>
          <p:cNvSpPr/>
          <p:nvPr/>
        </p:nvSpPr>
        <p:spPr>
          <a:xfrm>
            <a:off x="5691311" y="2286000"/>
            <a:ext cx="480889" cy="1828800"/>
          </a:xfrm>
          <a:prstGeom prst="round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1042631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D3522-5216-3846-AB13-3297DDB17E58}"/>
              </a:ext>
            </a:extLst>
          </p:cNvPr>
          <p:cNvSpPr>
            <a:spLocks noGrp="1"/>
          </p:cNvSpPr>
          <p:nvPr>
            <p:ph type="title"/>
          </p:nvPr>
        </p:nvSpPr>
        <p:spPr/>
        <p:txBody>
          <a:bodyPr/>
          <a:lstStyle/>
          <a:p>
            <a:r>
              <a:rPr lang="en-US" dirty="0"/>
              <a:t>Review: SVD as an embedder</a:t>
            </a:r>
          </a:p>
        </p:txBody>
      </p:sp>
      <p:sp>
        <p:nvSpPr>
          <p:cNvPr id="3" name="Content Placeholder 2">
            <a:extLst>
              <a:ext uri="{FF2B5EF4-FFF2-40B4-BE49-F238E27FC236}">
                <a16:creationId xmlns:a16="http://schemas.microsoft.com/office/drawing/2014/main" id="{FE4B4161-CE95-6E43-B61C-DEB26DF03B92}"/>
              </a:ext>
            </a:extLst>
          </p:cNvPr>
          <p:cNvSpPr>
            <a:spLocks noGrp="1"/>
          </p:cNvSpPr>
          <p:nvPr>
            <p:ph idx="1"/>
          </p:nvPr>
        </p:nvSpPr>
        <p:spPr/>
        <p:txBody>
          <a:bodyPr>
            <a:normAutofit fontScale="92500" lnSpcReduction="10000"/>
          </a:bodyPr>
          <a:lstStyle/>
          <a:p>
            <a:r>
              <a:rPr lang="en-US" sz="2800" dirty="0"/>
              <a:t>Similarly we can compute term (word) embeddings</a:t>
            </a:r>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200" dirty="0"/>
          </a:p>
          <a:p>
            <a:endParaRPr lang="en-US" sz="2200" dirty="0"/>
          </a:p>
          <a:p>
            <a:endParaRPr lang="en-US" sz="2200" dirty="0"/>
          </a:p>
          <a:p>
            <a:r>
              <a:rPr lang="en-US" sz="2200" dirty="0"/>
              <a:t>&lt;term, u1&gt; = &lt;[10,0,1,14,5,6,2] , u1&gt;= -3.9</a:t>
            </a:r>
          </a:p>
          <a:p>
            <a:r>
              <a:rPr lang="en-US" sz="2200" dirty="0"/>
              <a:t>&lt;term, u2&gt; = &lt;[10,0,1,14,5,6,2] , u2&gt; = -12.19</a:t>
            </a:r>
          </a:p>
          <a:p>
            <a:r>
              <a:rPr lang="en-US" sz="2200" dirty="0"/>
              <a:t>&lt;term, u3&gt; = &lt;[10,0,1,14,5,6,2] , u3&gt;= -3.4</a:t>
            </a:r>
          </a:p>
          <a:p>
            <a:pPr marL="118872" indent="0">
              <a:buNone/>
            </a:pPr>
            <a:r>
              <a:rPr lang="en-US" sz="2400" dirty="0"/>
              <a:t>     </a:t>
            </a:r>
            <a:endParaRPr lang="en-US" dirty="0"/>
          </a:p>
          <a:p>
            <a:pPr lvl="1"/>
            <a:endParaRPr lang="en-US" dirty="0"/>
          </a:p>
        </p:txBody>
      </p:sp>
      <p:sp>
        <p:nvSpPr>
          <p:cNvPr id="4" name="Date Placeholder 3">
            <a:extLst>
              <a:ext uri="{FF2B5EF4-FFF2-40B4-BE49-F238E27FC236}">
                <a16:creationId xmlns:a16="http://schemas.microsoft.com/office/drawing/2014/main" id="{71FEF007-228C-C946-9860-B00B05164FAB}"/>
              </a:ext>
            </a:extLst>
          </p:cNvPr>
          <p:cNvSpPr>
            <a:spLocks noGrp="1"/>
          </p:cNvSpPr>
          <p:nvPr>
            <p:ph type="dt" sz="half" idx="10"/>
          </p:nvPr>
        </p:nvSpPr>
        <p:spPr/>
        <p:txBody>
          <a:bodyPr/>
          <a:lstStyle/>
          <a:p>
            <a:fld id="{DA413738-AA43-1D4B-BCBA-3AC877A2625E}" type="datetime1">
              <a:rPr lang="en-US" smtClean="0"/>
              <a:t>11/3/24</a:t>
            </a:fld>
            <a:endParaRPr lang="en-US"/>
          </a:p>
        </p:txBody>
      </p:sp>
      <p:sp>
        <p:nvSpPr>
          <p:cNvPr id="5" name="Footer Placeholder 4">
            <a:extLst>
              <a:ext uri="{FF2B5EF4-FFF2-40B4-BE49-F238E27FC236}">
                <a16:creationId xmlns:a16="http://schemas.microsoft.com/office/drawing/2014/main" id="{777366DC-AA95-F94A-A7F6-EBB5E6EA758E}"/>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8EED7BF9-35CC-A242-80A0-6FE894BD4947}"/>
              </a:ext>
            </a:extLst>
          </p:cNvPr>
          <p:cNvSpPr>
            <a:spLocks noGrp="1"/>
          </p:cNvSpPr>
          <p:nvPr>
            <p:ph type="sldNum" sz="quarter" idx="12"/>
          </p:nvPr>
        </p:nvSpPr>
        <p:spPr/>
        <p:txBody>
          <a:bodyPr/>
          <a:lstStyle/>
          <a:p>
            <a:fld id="{19B12225-5612-419B-A8D5-4B8EEE4C217E}" type="slidenum">
              <a:rPr lang="en-US" smtClean="0"/>
              <a:pPr/>
              <a:t>21</a:t>
            </a:fld>
            <a:endParaRPr lang="en-US"/>
          </a:p>
        </p:txBody>
      </p:sp>
      <p:pic>
        <p:nvPicPr>
          <p:cNvPr id="7" name="Picture 6">
            <a:extLst>
              <a:ext uri="{FF2B5EF4-FFF2-40B4-BE49-F238E27FC236}">
                <a16:creationId xmlns:a16="http://schemas.microsoft.com/office/drawing/2014/main" id="{08638555-111C-9449-86E2-37A789C86916}"/>
              </a:ext>
            </a:extLst>
          </p:cNvPr>
          <p:cNvPicPr>
            <a:picLocks noChangeAspect="1"/>
          </p:cNvPicPr>
          <p:nvPr/>
        </p:nvPicPr>
        <p:blipFill>
          <a:blip r:embed="rId2"/>
          <a:stretch>
            <a:fillRect/>
          </a:stretch>
        </p:blipFill>
        <p:spPr>
          <a:xfrm>
            <a:off x="2538298" y="2133600"/>
            <a:ext cx="6148502" cy="25908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Rounded Rectangle 8">
            <a:extLst>
              <a:ext uri="{FF2B5EF4-FFF2-40B4-BE49-F238E27FC236}">
                <a16:creationId xmlns:a16="http://schemas.microsoft.com/office/drawing/2014/main" id="{C1D523AC-A033-FD46-852F-9C064E0988EB}"/>
              </a:ext>
            </a:extLst>
          </p:cNvPr>
          <p:cNvSpPr/>
          <p:nvPr/>
        </p:nvSpPr>
        <p:spPr>
          <a:xfrm>
            <a:off x="2640596" y="2286000"/>
            <a:ext cx="331204" cy="1828800"/>
          </a:xfrm>
          <a:prstGeom prst="round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51057894-D1B3-D640-BCC5-4A3B309A5512}"/>
              </a:ext>
            </a:extLst>
          </p:cNvPr>
          <p:cNvSpPr txBox="1"/>
          <p:nvPr/>
        </p:nvSpPr>
        <p:spPr>
          <a:xfrm>
            <a:off x="2584704" y="1893177"/>
            <a:ext cx="533400" cy="276999"/>
          </a:xfrm>
          <a:prstGeom prst="rect">
            <a:avLst/>
          </a:prstGeom>
          <a:noFill/>
        </p:spPr>
        <p:txBody>
          <a:bodyPr wrap="square" rtlCol="0">
            <a:spAutoFit/>
          </a:bodyPr>
          <a:lstStyle/>
          <a:p>
            <a:r>
              <a:rPr lang="en-US" sz="1200" dirty="0">
                <a:latin typeface="Arial" pitchFamily="34" charset="0"/>
                <a:cs typeface="Arial" pitchFamily="34" charset="0"/>
              </a:rPr>
              <a:t>term</a:t>
            </a:r>
          </a:p>
        </p:txBody>
      </p:sp>
      <p:cxnSp>
        <p:nvCxnSpPr>
          <p:cNvPr id="11" name="Straight Arrow Connector 10">
            <a:extLst>
              <a:ext uri="{FF2B5EF4-FFF2-40B4-BE49-F238E27FC236}">
                <a16:creationId xmlns:a16="http://schemas.microsoft.com/office/drawing/2014/main" id="{747C30C8-73E7-D34B-82AD-1FAA708FE09D}"/>
              </a:ext>
            </a:extLst>
          </p:cNvPr>
          <p:cNvCxnSpPr>
            <a:cxnSpLocks/>
          </p:cNvCxnSpPr>
          <p:nvPr/>
        </p:nvCxnSpPr>
        <p:spPr>
          <a:xfrm flipV="1">
            <a:off x="2819400" y="2103121"/>
            <a:ext cx="0" cy="152401"/>
          </a:xfrm>
          <a:prstGeom prst="straightConnector1">
            <a:avLst/>
          </a:prstGeom>
          <a:ln w="28575">
            <a:solidFill>
              <a:srgbClr val="008000"/>
            </a:solidFill>
            <a:tailEnd type="triangle"/>
          </a:ln>
        </p:spPr>
        <p:style>
          <a:lnRef idx="1">
            <a:schemeClr val="dk1"/>
          </a:lnRef>
          <a:fillRef idx="0">
            <a:schemeClr val="dk1"/>
          </a:fillRef>
          <a:effectRef idx="0">
            <a:schemeClr val="dk1"/>
          </a:effectRef>
          <a:fontRef idx="minor">
            <a:schemeClr val="tx1"/>
          </a:fontRef>
        </p:style>
      </p:cxnSp>
      <p:sp>
        <p:nvSpPr>
          <p:cNvPr id="8" name="Right Brace 7">
            <a:extLst>
              <a:ext uri="{FF2B5EF4-FFF2-40B4-BE49-F238E27FC236}">
                <a16:creationId xmlns:a16="http://schemas.microsoft.com/office/drawing/2014/main" id="{1D6637D0-EE5A-AA6B-9DA4-4DBB6EB85EA1}"/>
              </a:ext>
            </a:extLst>
          </p:cNvPr>
          <p:cNvSpPr/>
          <p:nvPr/>
        </p:nvSpPr>
        <p:spPr>
          <a:xfrm>
            <a:off x="5638800" y="4953000"/>
            <a:ext cx="152400" cy="990600"/>
          </a:xfrm>
          <a:prstGeom prst="rightBrace">
            <a:avLst/>
          </a:prstGeom>
          <a:ln w="28575">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AD5C71ED-7F2C-BF72-DEDA-D122715FCE7C}"/>
              </a:ext>
            </a:extLst>
          </p:cNvPr>
          <p:cNvSpPr txBox="1"/>
          <p:nvPr/>
        </p:nvSpPr>
        <p:spPr>
          <a:xfrm>
            <a:off x="5890260" y="5263634"/>
            <a:ext cx="3048000" cy="369332"/>
          </a:xfrm>
          <a:prstGeom prst="rect">
            <a:avLst/>
          </a:prstGeom>
          <a:noFill/>
        </p:spPr>
        <p:txBody>
          <a:bodyPr wrap="square" rtlCol="0">
            <a:spAutoFit/>
          </a:bodyPr>
          <a:lstStyle/>
          <a:p>
            <a:r>
              <a:rPr lang="en-US" dirty="0">
                <a:solidFill>
                  <a:srgbClr val="008000"/>
                </a:solidFill>
                <a:latin typeface="Arial" pitchFamily="34" charset="0"/>
                <a:cs typeface="Arial" pitchFamily="34" charset="0"/>
              </a:rPr>
              <a:t>emb1 = [-3.9, -12.19, -3.4] </a:t>
            </a:r>
          </a:p>
        </p:txBody>
      </p:sp>
    </p:spTree>
    <p:extLst>
      <p:ext uri="{BB962C8B-B14F-4D97-AF65-F5344CB8AC3E}">
        <p14:creationId xmlns:p14="http://schemas.microsoft.com/office/powerpoint/2010/main" val="7429275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D3522-5216-3846-AB13-3297DDB17E58}"/>
              </a:ext>
            </a:extLst>
          </p:cNvPr>
          <p:cNvSpPr>
            <a:spLocks noGrp="1"/>
          </p:cNvSpPr>
          <p:nvPr>
            <p:ph type="title"/>
          </p:nvPr>
        </p:nvSpPr>
        <p:spPr/>
        <p:txBody>
          <a:bodyPr/>
          <a:lstStyle/>
          <a:p>
            <a:r>
              <a:rPr lang="en-US" dirty="0"/>
              <a:t>Review: SVD as an embedder</a:t>
            </a:r>
          </a:p>
        </p:txBody>
      </p:sp>
      <p:sp>
        <p:nvSpPr>
          <p:cNvPr id="3" name="Content Placeholder 2">
            <a:extLst>
              <a:ext uri="{FF2B5EF4-FFF2-40B4-BE49-F238E27FC236}">
                <a16:creationId xmlns:a16="http://schemas.microsoft.com/office/drawing/2014/main" id="{FE4B4161-CE95-6E43-B61C-DEB26DF03B92}"/>
              </a:ext>
            </a:extLst>
          </p:cNvPr>
          <p:cNvSpPr>
            <a:spLocks noGrp="1"/>
          </p:cNvSpPr>
          <p:nvPr>
            <p:ph idx="1"/>
          </p:nvPr>
        </p:nvSpPr>
        <p:spPr>
          <a:xfrm>
            <a:off x="457200" y="1295400"/>
            <a:ext cx="8686800" cy="5257801"/>
          </a:xfrm>
        </p:spPr>
        <p:txBody>
          <a:bodyPr>
            <a:normAutofit/>
          </a:bodyPr>
          <a:lstStyle/>
          <a:p>
            <a:r>
              <a:rPr lang="en-US" dirty="0">
                <a:solidFill>
                  <a:srgbClr val="0000FF"/>
                </a:solidFill>
              </a:rPr>
              <a:t>SVD is impractical on real-world datasets</a:t>
            </a:r>
            <a:endParaRPr lang="en-US" dirty="0"/>
          </a:p>
          <a:p>
            <a:pPr lvl="1"/>
            <a:r>
              <a:rPr lang="en-US" dirty="0"/>
              <a:t>There are 0.5 billion wiki pages, and 4 billion words.</a:t>
            </a:r>
          </a:p>
          <a:p>
            <a:pPr lvl="1"/>
            <a:r>
              <a:rPr lang="en-US" dirty="0"/>
              <a:t>SVD is computationally prohibitive, as it requires to load all data in memory</a:t>
            </a:r>
          </a:p>
          <a:p>
            <a:pPr lvl="1"/>
            <a:r>
              <a:rPr lang="en-US" dirty="0"/>
              <a:t>SVD is a linear embedder</a:t>
            </a:r>
          </a:p>
          <a:p>
            <a:pPr lvl="1"/>
            <a:r>
              <a:rPr lang="en-US" dirty="0"/>
              <a:t>Not utilizing sparsity</a:t>
            </a:r>
          </a:p>
          <a:p>
            <a:pPr lvl="1"/>
            <a:r>
              <a:rPr lang="en-US" dirty="0"/>
              <a:t>Orthonormality constraint is an overkill</a:t>
            </a:r>
          </a:p>
          <a:p>
            <a:endParaRPr lang="en-US" dirty="0"/>
          </a:p>
          <a:p>
            <a:endParaRPr lang="en-US" dirty="0"/>
          </a:p>
          <a:p>
            <a:pPr lvl="1"/>
            <a:endParaRPr lang="en-US" dirty="0"/>
          </a:p>
        </p:txBody>
      </p:sp>
      <p:sp>
        <p:nvSpPr>
          <p:cNvPr id="4" name="Date Placeholder 3">
            <a:extLst>
              <a:ext uri="{FF2B5EF4-FFF2-40B4-BE49-F238E27FC236}">
                <a16:creationId xmlns:a16="http://schemas.microsoft.com/office/drawing/2014/main" id="{71FEF007-228C-C946-9860-B00B05164FAB}"/>
              </a:ext>
            </a:extLst>
          </p:cNvPr>
          <p:cNvSpPr>
            <a:spLocks noGrp="1"/>
          </p:cNvSpPr>
          <p:nvPr>
            <p:ph type="dt" sz="half" idx="10"/>
          </p:nvPr>
        </p:nvSpPr>
        <p:spPr/>
        <p:txBody>
          <a:bodyPr/>
          <a:lstStyle/>
          <a:p>
            <a:fld id="{A4111B25-2FDB-F84B-B073-92D2D0987775}" type="datetime1">
              <a:rPr lang="en-US" smtClean="0"/>
              <a:t>11/3/24</a:t>
            </a:fld>
            <a:endParaRPr lang="en-US"/>
          </a:p>
        </p:txBody>
      </p:sp>
      <p:sp>
        <p:nvSpPr>
          <p:cNvPr id="5" name="Footer Placeholder 4">
            <a:extLst>
              <a:ext uri="{FF2B5EF4-FFF2-40B4-BE49-F238E27FC236}">
                <a16:creationId xmlns:a16="http://schemas.microsoft.com/office/drawing/2014/main" id="{777366DC-AA95-F94A-A7F6-EBB5E6EA758E}"/>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8EED7BF9-35CC-A242-80A0-6FE894BD4947}"/>
              </a:ext>
            </a:extLst>
          </p:cNvPr>
          <p:cNvSpPr>
            <a:spLocks noGrp="1"/>
          </p:cNvSpPr>
          <p:nvPr>
            <p:ph type="sldNum" sz="quarter" idx="12"/>
          </p:nvPr>
        </p:nvSpPr>
        <p:spPr/>
        <p:txBody>
          <a:bodyPr/>
          <a:lstStyle/>
          <a:p>
            <a:fld id="{19B12225-5612-419B-A8D5-4B8EEE4C217E}" type="slidenum">
              <a:rPr lang="en-US" smtClean="0"/>
              <a:pPr/>
              <a:t>22</a:t>
            </a:fld>
            <a:endParaRPr lang="en-US"/>
          </a:p>
        </p:txBody>
      </p:sp>
    </p:spTree>
    <p:extLst>
      <p:ext uri="{BB962C8B-B14F-4D97-AF65-F5344CB8AC3E}">
        <p14:creationId xmlns:p14="http://schemas.microsoft.com/office/powerpoint/2010/main" val="1081121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896A5-B21B-8446-8A5F-1F6446156ADF}"/>
              </a:ext>
            </a:extLst>
          </p:cNvPr>
          <p:cNvSpPr>
            <a:spLocks noGrp="1"/>
          </p:cNvSpPr>
          <p:nvPr>
            <p:ph type="title"/>
          </p:nvPr>
        </p:nvSpPr>
        <p:spPr/>
        <p:txBody>
          <a:bodyPr/>
          <a:lstStyle/>
          <a:p>
            <a:r>
              <a:rPr lang="en-US" dirty="0"/>
              <a:t>From SVD to Neural Networks</a:t>
            </a:r>
          </a:p>
        </p:txBody>
      </p:sp>
      <p:sp>
        <p:nvSpPr>
          <p:cNvPr id="3" name="Content Placeholder 2">
            <a:extLst>
              <a:ext uri="{FF2B5EF4-FFF2-40B4-BE49-F238E27FC236}">
                <a16:creationId xmlns:a16="http://schemas.microsoft.com/office/drawing/2014/main" id="{59ACFC88-B681-C74E-AD95-84015A8F9F34}"/>
              </a:ext>
            </a:extLst>
          </p:cNvPr>
          <p:cNvSpPr>
            <a:spLocks noGrp="1"/>
          </p:cNvSpPr>
          <p:nvPr>
            <p:ph idx="1"/>
          </p:nvPr>
        </p:nvSpPr>
        <p:spPr/>
        <p:txBody>
          <a:bodyPr/>
          <a:lstStyle/>
          <a:p>
            <a:r>
              <a:rPr lang="en-US" dirty="0"/>
              <a:t>State of the art embedders are among </a:t>
            </a:r>
            <a:r>
              <a:rPr lang="en-US" dirty="0">
                <a:solidFill>
                  <a:srgbClr val="0000FF"/>
                </a:solidFill>
              </a:rPr>
              <a:t>neural networks</a:t>
            </a:r>
          </a:p>
          <a:p>
            <a:endParaRPr lang="en-US" dirty="0"/>
          </a:p>
          <a:p>
            <a:r>
              <a:rPr lang="en-US" dirty="0"/>
              <a:t>Can we use neural networks to create non-linear embedding? </a:t>
            </a:r>
          </a:p>
          <a:p>
            <a:endParaRPr lang="en-US" dirty="0"/>
          </a:p>
        </p:txBody>
      </p:sp>
      <p:sp>
        <p:nvSpPr>
          <p:cNvPr id="4" name="Date Placeholder 3">
            <a:extLst>
              <a:ext uri="{FF2B5EF4-FFF2-40B4-BE49-F238E27FC236}">
                <a16:creationId xmlns:a16="http://schemas.microsoft.com/office/drawing/2014/main" id="{CAE3F8B4-1100-9949-9279-7E4AA3541099}"/>
              </a:ext>
            </a:extLst>
          </p:cNvPr>
          <p:cNvSpPr>
            <a:spLocks noGrp="1"/>
          </p:cNvSpPr>
          <p:nvPr>
            <p:ph type="dt" sz="half" idx="10"/>
          </p:nvPr>
        </p:nvSpPr>
        <p:spPr/>
        <p:txBody>
          <a:bodyPr/>
          <a:lstStyle/>
          <a:p>
            <a:fld id="{DD25E680-4104-B54F-9B72-F23216CAAD07}" type="datetime1">
              <a:rPr lang="en-US" smtClean="0"/>
              <a:t>11/3/24</a:t>
            </a:fld>
            <a:endParaRPr lang="en-US"/>
          </a:p>
        </p:txBody>
      </p:sp>
      <p:sp>
        <p:nvSpPr>
          <p:cNvPr id="5" name="Footer Placeholder 4">
            <a:extLst>
              <a:ext uri="{FF2B5EF4-FFF2-40B4-BE49-F238E27FC236}">
                <a16:creationId xmlns:a16="http://schemas.microsoft.com/office/drawing/2014/main" id="{AA11ED4B-1EF4-254A-B933-1D7BFF6D7A0C}"/>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C41F59C4-F946-F147-8905-0D09E4556F55}"/>
              </a:ext>
            </a:extLst>
          </p:cNvPr>
          <p:cNvSpPr>
            <a:spLocks noGrp="1"/>
          </p:cNvSpPr>
          <p:nvPr>
            <p:ph type="sldNum" sz="quarter" idx="12"/>
          </p:nvPr>
        </p:nvSpPr>
        <p:spPr/>
        <p:txBody>
          <a:bodyPr/>
          <a:lstStyle/>
          <a:p>
            <a:fld id="{19B12225-5612-419B-A8D5-4B8EEE4C217E}" type="slidenum">
              <a:rPr lang="en-US" smtClean="0"/>
              <a:pPr/>
              <a:t>23</a:t>
            </a:fld>
            <a:endParaRPr lang="en-US"/>
          </a:p>
        </p:txBody>
      </p:sp>
    </p:spTree>
    <p:extLst>
      <p:ext uri="{BB962C8B-B14F-4D97-AF65-F5344CB8AC3E}">
        <p14:creationId xmlns:p14="http://schemas.microsoft.com/office/powerpoint/2010/main" val="13532102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en-US" dirty="0"/>
              <a:t>Neural Networks Fundamentals</a:t>
            </a:r>
          </a:p>
        </p:txBody>
      </p:sp>
      <p:sp>
        <p:nvSpPr>
          <p:cNvPr id="8" name="Subtitle 7"/>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0681570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3456C-B21B-C043-9AA3-E1E6CCA48504}"/>
              </a:ext>
            </a:extLst>
          </p:cNvPr>
          <p:cNvSpPr>
            <a:spLocks noGrp="1"/>
          </p:cNvSpPr>
          <p:nvPr>
            <p:ph type="title"/>
          </p:nvPr>
        </p:nvSpPr>
        <p:spPr/>
        <p:txBody>
          <a:bodyPr/>
          <a:lstStyle/>
          <a:p>
            <a:r>
              <a:rPr lang="en-US" dirty="0"/>
              <a:t>Neural Network: Architecture</a:t>
            </a:r>
          </a:p>
        </p:txBody>
      </p:sp>
      <p:sp>
        <p:nvSpPr>
          <p:cNvPr id="3" name="Content Placeholder 2">
            <a:extLst>
              <a:ext uri="{FF2B5EF4-FFF2-40B4-BE49-F238E27FC236}">
                <a16:creationId xmlns:a16="http://schemas.microsoft.com/office/drawing/2014/main" id="{0FD6EB80-7C42-5447-B23C-371EDD9C3911}"/>
              </a:ext>
            </a:extLst>
          </p:cNvPr>
          <p:cNvSpPr>
            <a:spLocks noGrp="1"/>
          </p:cNvSpPr>
          <p:nvPr>
            <p:ph idx="1"/>
          </p:nvPr>
        </p:nvSpPr>
        <p:spPr/>
        <p:txBody>
          <a:bodyPr/>
          <a:lstStyle/>
          <a:p>
            <a:r>
              <a:rPr lang="en-US" dirty="0"/>
              <a:t>A neural network is a collection of neurons that are connected in an </a:t>
            </a:r>
            <a:r>
              <a:rPr lang="en-US" i="1" dirty="0"/>
              <a:t>acyclic graph</a:t>
            </a:r>
          </a:p>
          <a:p>
            <a:r>
              <a:rPr lang="en-US" dirty="0"/>
              <a:t>Outputs of some neurons are inputs to other neurons, and they are organized into layers</a:t>
            </a:r>
          </a:p>
        </p:txBody>
      </p:sp>
      <p:sp>
        <p:nvSpPr>
          <p:cNvPr id="4" name="Date Placeholder 3">
            <a:extLst>
              <a:ext uri="{FF2B5EF4-FFF2-40B4-BE49-F238E27FC236}">
                <a16:creationId xmlns:a16="http://schemas.microsoft.com/office/drawing/2014/main" id="{FD95855E-9032-2D46-9D4B-83CBF6AC9EE8}"/>
              </a:ext>
            </a:extLst>
          </p:cNvPr>
          <p:cNvSpPr>
            <a:spLocks noGrp="1"/>
          </p:cNvSpPr>
          <p:nvPr>
            <p:ph type="dt" sz="half" idx="10"/>
          </p:nvPr>
        </p:nvSpPr>
        <p:spPr/>
        <p:txBody>
          <a:bodyPr/>
          <a:lstStyle/>
          <a:p>
            <a:fld id="{FDEED2AB-37D3-CC48-8A98-381F3494C470}" type="datetime1">
              <a:rPr lang="en-US" smtClean="0"/>
              <a:t>11/3/24</a:t>
            </a:fld>
            <a:endParaRPr lang="en-US"/>
          </a:p>
        </p:txBody>
      </p:sp>
      <p:sp>
        <p:nvSpPr>
          <p:cNvPr id="5" name="Footer Placeholder 4">
            <a:extLst>
              <a:ext uri="{FF2B5EF4-FFF2-40B4-BE49-F238E27FC236}">
                <a16:creationId xmlns:a16="http://schemas.microsoft.com/office/drawing/2014/main" id="{29E64EF6-AABA-754F-861E-6D3148C27886}"/>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9B225854-7F9E-E34A-9827-887958E9797E}"/>
              </a:ext>
            </a:extLst>
          </p:cNvPr>
          <p:cNvSpPr>
            <a:spLocks noGrp="1"/>
          </p:cNvSpPr>
          <p:nvPr>
            <p:ph type="sldNum" sz="quarter" idx="12"/>
          </p:nvPr>
        </p:nvSpPr>
        <p:spPr/>
        <p:txBody>
          <a:bodyPr/>
          <a:lstStyle/>
          <a:p>
            <a:fld id="{19B12225-5612-419B-A8D5-4B8EEE4C217E}" type="slidenum">
              <a:rPr lang="en-US" smtClean="0"/>
              <a:pPr/>
              <a:t>25</a:t>
            </a:fld>
            <a:endParaRPr lang="en-US"/>
          </a:p>
        </p:txBody>
      </p:sp>
      <p:pic>
        <p:nvPicPr>
          <p:cNvPr id="7" name="Picture 6">
            <a:extLst>
              <a:ext uri="{FF2B5EF4-FFF2-40B4-BE49-F238E27FC236}">
                <a16:creationId xmlns:a16="http://schemas.microsoft.com/office/drawing/2014/main" id="{46895D4D-81A7-D943-B1B6-21B90A9BE054}"/>
              </a:ext>
            </a:extLst>
          </p:cNvPr>
          <p:cNvPicPr>
            <a:picLocks noChangeAspect="1"/>
          </p:cNvPicPr>
          <p:nvPr/>
        </p:nvPicPr>
        <p:blipFill>
          <a:blip r:embed="rId3"/>
          <a:stretch>
            <a:fillRect/>
          </a:stretch>
        </p:blipFill>
        <p:spPr>
          <a:xfrm>
            <a:off x="0" y="3456432"/>
            <a:ext cx="9144000" cy="2602955"/>
          </a:xfrm>
          <a:prstGeom prst="rect">
            <a:avLst/>
          </a:prstGeom>
        </p:spPr>
      </p:pic>
      <p:sp>
        <p:nvSpPr>
          <p:cNvPr id="8" name="TextBox 7">
            <a:extLst>
              <a:ext uri="{FF2B5EF4-FFF2-40B4-BE49-F238E27FC236}">
                <a16:creationId xmlns:a16="http://schemas.microsoft.com/office/drawing/2014/main" id="{474D538A-4EB5-0B40-BE5E-FD8B124712B1}"/>
              </a:ext>
            </a:extLst>
          </p:cNvPr>
          <p:cNvSpPr txBox="1"/>
          <p:nvPr/>
        </p:nvSpPr>
        <p:spPr>
          <a:xfrm>
            <a:off x="7239000" y="6260068"/>
            <a:ext cx="1600200" cy="369332"/>
          </a:xfrm>
          <a:prstGeom prst="rect">
            <a:avLst/>
          </a:prstGeom>
          <a:noFill/>
        </p:spPr>
        <p:txBody>
          <a:bodyPr wrap="square" rtlCol="0">
            <a:spAutoFit/>
          </a:bodyPr>
          <a:lstStyle/>
          <a:p>
            <a:r>
              <a:rPr lang="en-US" dirty="0">
                <a:latin typeface="Arial" pitchFamily="34" charset="0"/>
                <a:cs typeface="Arial" pitchFamily="34" charset="0"/>
              </a:rPr>
              <a:t>credit: </a:t>
            </a:r>
            <a:r>
              <a:rPr lang="en-US" dirty="0">
                <a:latin typeface="Arial" pitchFamily="34" charset="0"/>
                <a:cs typeface="Arial" pitchFamily="34" charset="0"/>
                <a:hlinkClick r:id="rId4"/>
              </a:rPr>
              <a:t>cs231</a:t>
            </a:r>
            <a:endParaRPr lang="en-US" dirty="0">
              <a:latin typeface="Arial" pitchFamily="34" charset="0"/>
              <a:cs typeface="Arial" pitchFamily="34" charset="0"/>
            </a:endParaRPr>
          </a:p>
        </p:txBody>
      </p:sp>
    </p:spTree>
    <p:extLst>
      <p:ext uri="{BB962C8B-B14F-4D97-AF65-F5344CB8AC3E}">
        <p14:creationId xmlns:p14="http://schemas.microsoft.com/office/powerpoint/2010/main" val="27470742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497EB-B10C-1F40-847E-8A5384DDB1FA}"/>
              </a:ext>
            </a:extLst>
          </p:cNvPr>
          <p:cNvSpPr>
            <a:spLocks noGrp="1"/>
          </p:cNvSpPr>
          <p:nvPr>
            <p:ph type="title"/>
          </p:nvPr>
        </p:nvSpPr>
        <p:spPr/>
        <p:txBody>
          <a:bodyPr/>
          <a:lstStyle/>
          <a:p>
            <a:r>
              <a:rPr lang="en-US" dirty="0"/>
              <a:t>Neural Network</a:t>
            </a:r>
          </a:p>
        </p:txBody>
      </p:sp>
      <p:sp>
        <p:nvSpPr>
          <p:cNvPr id="3" name="Content Placeholder 2">
            <a:extLst>
              <a:ext uri="{FF2B5EF4-FFF2-40B4-BE49-F238E27FC236}">
                <a16:creationId xmlns:a16="http://schemas.microsoft.com/office/drawing/2014/main" id="{A0226134-84BD-EB46-83FA-A1852299DE62}"/>
              </a:ext>
            </a:extLst>
          </p:cNvPr>
          <p:cNvSpPr>
            <a:spLocks noGrp="1"/>
          </p:cNvSpPr>
          <p:nvPr>
            <p:ph idx="1"/>
          </p:nvPr>
        </p:nvSpPr>
        <p:spPr/>
        <p:txBody>
          <a:bodyPr/>
          <a:lstStyle/>
          <a:p>
            <a:r>
              <a:rPr lang="en-US" b="1" dirty="0"/>
              <a:t>Fully-connected layer</a:t>
            </a:r>
            <a:r>
              <a:rPr lang="en-US" dirty="0"/>
              <a:t> is the most common layer type: </a:t>
            </a:r>
          </a:p>
          <a:p>
            <a:pPr lvl="1"/>
            <a:r>
              <a:rPr lang="en-US" sz="2500" dirty="0"/>
              <a:t>neurons between two adjacent layers are fully pairwise connected </a:t>
            </a:r>
          </a:p>
          <a:p>
            <a:pPr lvl="1"/>
            <a:r>
              <a:rPr lang="en-US" sz="2500" dirty="0"/>
              <a:t>neurons within a single layer share no connections</a:t>
            </a:r>
          </a:p>
          <a:p>
            <a:pPr lvl="1"/>
            <a:endParaRPr lang="en-US" sz="2500" dirty="0"/>
          </a:p>
          <a:p>
            <a:r>
              <a:rPr lang="en-US" sz="2300" dirty="0"/>
              <a:t>Number of hidden layers and neurons in each hidden layer are hyperparameters of the network</a:t>
            </a:r>
          </a:p>
        </p:txBody>
      </p:sp>
      <p:sp>
        <p:nvSpPr>
          <p:cNvPr id="4" name="Date Placeholder 3">
            <a:extLst>
              <a:ext uri="{FF2B5EF4-FFF2-40B4-BE49-F238E27FC236}">
                <a16:creationId xmlns:a16="http://schemas.microsoft.com/office/drawing/2014/main" id="{A47D7194-080E-BD4D-8A1A-DF22CEA0571F}"/>
              </a:ext>
            </a:extLst>
          </p:cNvPr>
          <p:cNvSpPr>
            <a:spLocks noGrp="1"/>
          </p:cNvSpPr>
          <p:nvPr>
            <p:ph type="dt" sz="half" idx="10"/>
          </p:nvPr>
        </p:nvSpPr>
        <p:spPr/>
        <p:txBody>
          <a:bodyPr/>
          <a:lstStyle/>
          <a:p>
            <a:fld id="{5FFCC78B-5C32-3446-AB6E-FB1F098EDAAF}" type="datetime1">
              <a:rPr lang="en-US" smtClean="0"/>
              <a:t>11/3/24</a:t>
            </a:fld>
            <a:endParaRPr lang="en-US"/>
          </a:p>
        </p:txBody>
      </p:sp>
      <p:sp>
        <p:nvSpPr>
          <p:cNvPr id="5" name="Footer Placeholder 4">
            <a:extLst>
              <a:ext uri="{FF2B5EF4-FFF2-40B4-BE49-F238E27FC236}">
                <a16:creationId xmlns:a16="http://schemas.microsoft.com/office/drawing/2014/main" id="{8DCE5BAB-6CDC-D143-8DCA-DF88074B9173}"/>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1700D971-B733-1E48-9CB6-F7E020B08889}"/>
              </a:ext>
            </a:extLst>
          </p:cNvPr>
          <p:cNvSpPr>
            <a:spLocks noGrp="1"/>
          </p:cNvSpPr>
          <p:nvPr>
            <p:ph type="sldNum" sz="quarter" idx="12"/>
          </p:nvPr>
        </p:nvSpPr>
        <p:spPr/>
        <p:txBody>
          <a:bodyPr/>
          <a:lstStyle/>
          <a:p>
            <a:fld id="{19B12225-5612-419B-A8D5-4B8EEE4C217E}" type="slidenum">
              <a:rPr lang="en-US" smtClean="0"/>
              <a:pPr/>
              <a:t>26</a:t>
            </a:fld>
            <a:endParaRPr lang="en-US"/>
          </a:p>
        </p:txBody>
      </p:sp>
      <p:pic>
        <p:nvPicPr>
          <p:cNvPr id="8" name="Picture 7">
            <a:extLst>
              <a:ext uri="{FF2B5EF4-FFF2-40B4-BE49-F238E27FC236}">
                <a16:creationId xmlns:a16="http://schemas.microsoft.com/office/drawing/2014/main" id="{068CD546-9EB4-3447-9F78-93EE20346692}"/>
              </a:ext>
            </a:extLst>
          </p:cNvPr>
          <p:cNvPicPr>
            <a:picLocks noChangeAspect="1"/>
          </p:cNvPicPr>
          <p:nvPr/>
        </p:nvPicPr>
        <p:blipFill>
          <a:blip r:embed="rId2"/>
          <a:stretch>
            <a:fillRect/>
          </a:stretch>
        </p:blipFill>
        <p:spPr>
          <a:xfrm>
            <a:off x="7239000" y="76200"/>
            <a:ext cx="1874901" cy="1317498"/>
          </a:xfrm>
          <a:prstGeom prst="rect">
            <a:avLst/>
          </a:prstGeom>
        </p:spPr>
      </p:pic>
      <p:pic>
        <p:nvPicPr>
          <p:cNvPr id="9" name="Picture 8">
            <a:extLst>
              <a:ext uri="{FF2B5EF4-FFF2-40B4-BE49-F238E27FC236}">
                <a16:creationId xmlns:a16="http://schemas.microsoft.com/office/drawing/2014/main" id="{43E615BE-A2D5-AD46-A7D0-74A33D7B7237}"/>
              </a:ext>
            </a:extLst>
          </p:cNvPr>
          <p:cNvPicPr>
            <a:picLocks noChangeAspect="1"/>
          </p:cNvPicPr>
          <p:nvPr/>
        </p:nvPicPr>
        <p:blipFill>
          <a:blip r:embed="rId3"/>
          <a:stretch>
            <a:fillRect/>
          </a:stretch>
        </p:blipFill>
        <p:spPr>
          <a:xfrm>
            <a:off x="5646031" y="4419600"/>
            <a:ext cx="2925297" cy="2038350"/>
          </a:xfrm>
          <a:prstGeom prst="rect">
            <a:avLst/>
          </a:prstGeom>
        </p:spPr>
      </p:pic>
    </p:spTree>
    <p:extLst>
      <p:ext uri="{BB962C8B-B14F-4D97-AF65-F5344CB8AC3E}">
        <p14:creationId xmlns:p14="http://schemas.microsoft.com/office/powerpoint/2010/main" val="36700945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A4B01-5CC2-FE44-AC15-8409DC54E706}"/>
              </a:ext>
            </a:extLst>
          </p:cNvPr>
          <p:cNvSpPr>
            <a:spLocks noGrp="1"/>
          </p:cNvSpPr>
          <p:nvPr>
            <p:ph type="title"/>
          </p:nvPr>
        </p:nvSpPr>
        <p:spPr/>
        <p:txBody>
          <a:bodyPr/>
          <a:lstStyle/>
          <a:p>
            <a:r>
              <a:rPr lang="en-US" dirty="0"/>
              <a:t>Neural Network: A Neuron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804275-8EFE-8143-9F75-DF0252C3A194}"/>
                  </a:ext>
                </a:extLst>
              </p:cNvPr>
              <p:cNvSpPr>
                <a:spLocks noGrp="1"/>
              </p:cNvSpPr>
              <p:nvPr>
                <p:ph idx="1"/>
              </p:nvPr>
            </p:nvSpPr>
            <p:spPr/>
            <p:txBody>
              <a:bodyPr>
                <a:normAutofit/>
              </a:bodyPr>
              <a:lstStyle/>
              <a:p>
                <a:r>
                  <a:rPr lang="en-US" dirty="0"/>
                  <a:t>A neuron is a classifier</a:t>
                </a:r>
              </a:p>
              <a:p>
                <a:pPr lvl="1"/>
                <a:r>
                  <a:rPr lang="en-US" sz="2200" dirty="0"/>
                  <a:t>Input: [x</a:t>
                </a:r>
                <a:r>
                  <a:rPr lang="en-US" sz="2200" baseline="-25000" dirty="0"/>
                  <a:t>0</a:t>
                </a:r>
                <a:r>
                  <a:rPr lang="en-US" sz="2200" dirty="0"/>
                  <a:t>, x</a:t>
                </a:r>
                <a:r>
                  <a:rPr lang="en-US" sz="2200" baseline="-25000" dirty="0"/>
                  <a:t>1</a:t>
                </a:r>
                <a:r>
                  <a:rPr lang="en-US" sz="2200" dirty="0"/>
                  <a:t>, x</a:t>
                </a:r>
                <a:r>
                  <a:rPr lang="en-US" sz="2200" baseline="-25000" dirty="0"/>
                  <a:t>2</a:t>
                </a:r>
                <a:r>
                  <a:rPr lang="en-US" sz="2200" dirty="0"/>
                  <a:t>]</a:t>
                </a:r>
              </a:p>
              <a:p>
                <a:pPr lvl="1"/>
                <a:r>
                  <a:rPr lang="en-US" sz="2200" dirty="0"/>
                  <a:t>Output =  </a:t>
                </a:r>
                <a14:m>
                  <m:oMath xmlns:m="http://schemas.openxmlformats.org/officeDocument/2006/math">
                    <m:r>
                      <a:rPr lang="en-US" sz="2200" b="0" i="1" smtClean="0">
                        <a:latin typeface="Cambria Math" panose="02040503050406030204" pitchFamily="18" charset="0"/>
                      </a:rPr>
                      <m:t>𝑓</m:t>
                    </m:r>
                    <m:d>
                      <m:dPr>
                        <m:ctrlPr>
                          <a:rPr lang="en-US" sz="2200" i="1" smtClean="0">
                            <a:latin typeface="Cambria Math" panose="02040503050406030204" pitchFamily="18" charset="0"/>
                          </a:rPr>
                        </m:ctrlPr>
                      </m:dPr>
                      <m:e>
                        <m:nary>
                          <m:naryPr>
                            <m:chr m:val="∑"/>
                            <m:subHide m:val="on"/>
                            <m:supHide m:val="on"/>
                            <m:ctrlPr>
                              <a:rPr lang="en-US" sz="2200" i="1">
                                <a:latin typeface="Cambria Math" panose="02040503050406030204" pitchFamily="18" charset="0"/>
                              </a:rPr>
                            </m:ctrlPr>
                          </m:naryPr>
                          <m:sub/>
                          <m:sup/>
                          <m:e>
                            <m:r>
                              <a:rPr lang="en-US" sz="2200" i="1">
                                <a:latin typeface="Cambria Math" panose="02040503050406030204" pitchFamily="18" charset="0"/>
                              </a:rPr>
                              <m:t>𝑤</m:t>
                            </m:r>
                            <m:r>
                              <a:rPr lang="en-US" sz="2200" i="1" baseline="-25000">
                                <a:latin typeface="Cambria Math" panose="02040503050406030204" pitchFamily="18" charset="0"/>
                              </a:rPr>
                              <m:t>𝑖</m:t>
                            </m:r>
                            <m:r>
                              <a:rPr lang="en-US" sz="2200" i="1">
                                <a:latin typeface="Cambria Math" panose="02040503050406030204" pitchFamily="18" charset="0"/>
                              </a:rPr>
                              <m:t>𝑥</m:t>
                            </m:r>
                            <m:r>
                              <a:rPr lang="en-US" sz="2200" i="1" baseline="-25000">
                                <a:latin typeface="Cambria Math" panose="02040503050406030204" pitchFamily="18" charset="0"/>
                              </a:rPr>
                              <m:t>𝑖</m:t>
                            </m:r>
                            <m:r>
                              <a:rPr lang="en-US" sz="2200" i="1">
                                <a:latin typeface="Cambria Math" panose="02040503050406030204" pitchFamily="18" charset="0"/>
                              </a:rPr>
                              <m:t>+</m:t>
                            </m:r>
                            <m:r>
                              <a:rPr lang="en-US" sz="2200" i="1">
                                <a:latin typeface="Cambria Math" panose="02040503050406030204" pitchFamily="18" charset="0"/>
                              </a:rPr>
                              <m:t>𝑏</m:t>
                            </m:r>
                          </m:e>
                        </m:nary>
                      </m:e>
                    </m:d>
                  </m:oMath>
                </a14:m>
                <a:endParaRPr lang="en-US" sz="2200"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20804275-8EFE-8143-9F75-DF0252C3A194}"/>
                  </a:ext>
                </a:extLst>
              </p:cNvPr>
              <p:cNvSpPr>
                <a:spLocks noGrp="1" noRot="1" noChangeAspect="1" noMove="1" noResize="1" noEditPoints="1" noAdjustHandles="1" noChangeArrowheads="1" noChangeShapeType="1" noTextEdit="1"/>
              </p:cNvSpPr>
              <p:nvPr>
                <p:ph idx="1"/>
              </p:nvPr>
            </p:nvSpPr>
            <p:spPr>
              <a:blipFill>
                <a:blip r:embed="rId3"/>
                <a:stretch>
                  <a:fillRect t="-725"/>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E5D17B5E-DEBC-674B-AA01-F259087074BC}"/>
              </a:ext>
            </a:extLst>
          </p:cNvPr>
          <p:cNvSpPr>
            <a:spLocks noGrp="1"/>
          </p:cNvSpPr>
          <p:nvPr>
            <p:ph type="dt" sz="half" idx="10"/>
          </p:nvPr>
        </p:nvSpPr>
        <p:spPr/>
        <p:txBody>
          <a:bodyPr/>
          <a:lstStyle/>
          <a:p>
            <a:fld id="{3C0FA64E-D964-5C44-BA5B-4D1ADB8E2442}" type="datetime1">
              <a:rPr lang="en-US" smtClean="0"/>
              <a:t>11/3/24</a:t>
            </a:fld>
            <a:endParaRPr lang="en-US"/>
          </a:p>
        </p:txBody>
      </p:sp>
      <p:sp>
        <p:nvSpPr>
          <p:cNvPr id="5" name="Footer Placeholder 4">
            <a:extLst>
              <a:ext uri="{FF2B5EF4-FFF2-40B4-BE49-F238E27FC236}">
                <a16:creationId xmlns:a16="http://schemas.microsoft.com/office/drawing/2014/main" id="{9850AFF0-6971-C646-8254-3FBE0B40DDCC}"/>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7962C315-3154-EF44-94FF-8658A60AA9DB}"/>
              </a:ext>
            </a:extLst>
          </p:cNvPr>
          <p:cNvSpPr>
            <a:spLocks noGrp="1"/>
          </p:cNvSpPr>
          <p:nvPr>
            <p:ph type="sldNum" sz="quarter" idx="12"/>
          </p:nvPr>
        </p:nvSpPr>
        <p:spPr/>
        <p:txBody>
          <a:bodyPr/>
          <a:lstStyle/>
          <a:p>
            <a:fld id="{19B12225-5612-419B-A8D5-4B8EEE4C217E}" type="slidenum">
              <a:rPr lang="en-US" smtClean="0"/>
              <a:pPr/>
              <a:t>27</a:t>
            </a:fld>
            <a:endParaRPr lang="en-US"/>
          </a:p>
        </p:txBody>
      </p:sp>
      <p:grpSp>
        <p:nvGrpSpPr>
          <p:cNvPr id="11" name="Group 10">
            <a:extLst>
              <a:ext uri="{FF2B5EF4-FFF2-40B4-BE49-F238E27FC236}">
                <a16:creationId xmlns:a16="http://schemas.microsoft.com/office/drawing/2014/main" id="{650CF8AC-11B1-714B-A5A2-0AC263574593}"/>
              </a:ext>
            </a:extLst>
          </p:cNvPr>
          <p:cNvGrpSpPr/>
          <p:nvPr/>
        </p:nvGrpSpPr>
        <p:grpSpPr>
          <a:xfrm>
            <a:off x="1143000" y="2964892"/>
            <a:ext cx="5118100" cy="2971800"/>
            <a:chOff x="2012950" y="2209800"/>
            <a:chExt cx="5118100" cy="2971800"/>
          </a:xfrm>
        </p:grpSpPr>
        <p:pic>
          <p:nvPicPr>
            <p:cNvPr id="7" name="Picture 6">
              <a:extLst>
                <a:ext uri="{FF2B5EF4-FFF2-40B4-BE49-F238E27FC236}">
                  <a16:creationId xmlns:a16="http://schemas.microsoft.com/office/drawing/2014/main" id="{9F0A2D7C-0E48-C14D-96CF-E019FA037680}"/>
                </a:ext>
              </a:extLst>
            </p:cNvPr>
            <p:cNvPicPr>
              <a:picLocks noChangeAspect="1"/>
            </p:cNvPicPr>
            <p:nvPr/>
          </p:nvPicPr>
          <p:blipFill>
            <a:blip r:embed="rId4"/>
            <a:stretch>
              <a:fillRect/>
            </a:stretch>
          </p:blipFill>
          <p:spPr>
            <a:xfrm>
              <a:off x="2012950" y="2209800"/>
              <a:ext cx="5118100" cy="2971800"/>
            </a:xfrm>
            <a:prstGeom prst="rect">
              <a:avLst/>
            </a:prstGeom>
          </p:spPr>
        </p:pic>
        <p:sp>
          <p:nvSpPr>
            <p:cNvPr id="8" name="Rectangle 7">
              <a:extLst>
                <a:ext uri="{FF2B5EF4-FFF2-40B4-BE49-F238E27FC236}">
                  <a16:creationId xmlns:a16="http://schemas.microsoft.com/office/drawing/2014/main" id="{EB4BEF0A-35F3-9949-8FE6-8632C3EBFA89}"/>
                </a:ext>
              </a:extLst>
            </p:cNvPr>
            <p:cNvSpPr/>
            <p:nvPr/>
          </p:nvSpPr>
          <p:spPr>
            <a:xfrm>
              <a:off x="3276600" y="3124200"/>
              <a:ext cx="685800" cy="4572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9" name="Rectangle 8">
              <a:extLst>
                <a:ext uri="{FF2B5EF4-FFF2-40B4-BE49-F238E27FC236}">
                  <a16:creationId xmlns:a16="http://schemas.microsoft.com/office/drawing/2014/main" id="{080F486E-2BB0-EF47-80D5-92A9F195C41B}"/>
                </a:ext>
              </a:extLst>
            </p:cNvPr>
            <p:cNvSpPr/>
            <p:nvPr/>
          </p:nvSpPr>
          <p:spPr>
            <a:xfrm>
              <a:off x="3677412" y="2313432"/>
              <a:ext cx="685800" cy="4572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CC8E6B4E-C1E2-8345-9777-84F07F019660}"/>
              </a:ext>
            </a:extLst>
          </p:cNvPr>
          <p:cNvGrpSpPr/>
          <p:nvPr/>
        </p:nvGrpSpPr>
        <p:grpSpPr>
          <a:xfrm>
            <a:off x="5867400" y="1136963"/>
            <a:ext cx="3124200" cy="2308324"/>
            <a:chOff x="6105144" y="1600200"/>
            <a:chExt cx="3124200" cy="2438444"/>
          </a:xfrm>
        </p:grpSpPr>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4AC3CBF-CE29-AE47-BB43-EB59027BC855}"/>
                    </a:ext>
                  </a:extLst>
                </p:cNvPr>
                <p:cNvSpPr txBox="1"/>
                <p:nvPr/>
              </p:nvSpPr>
              <p:spPr>
                <a:xfrm>
                  <a:off x="6105144" y="1600200"/>
                  <a:ext cx="3048000" cy="2438444"/>
                </a:xfrm>
                <a:prstGeom prst="rect">
                  <a:avLst/>
                </a:prstGeom>
                <a:noFill/>
              </p:spPr>
              <p:style>
                <a:lnRef idx="2">
                  <a:schemeClr val="accent1"/>
                </a:lnRef>
                <a:fillRef idx="1">
                  <a:schemeClr val="lt1"/>
                </a:fillRef>
                <a:effectRef idx="0">
                  <a:schemeClr val="accent1"/>
                </a:effectRef>
                <a:fontRef idx="minor">
                  <a:schemeClr val="dk1"/>
                </a:fontRef>
              </p:style>
              <p:txBody>
                <a:bodyPr wrap="square" rtlCol="0">
                  <a:spAutoFit/>
                </a:bodyPr>
                <a:lstStyle/>
                <a:p>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 </m:t>
                      </m:r>
                    </m:oMath>
                  </a14:m>
                  <a:r>
                    <a:rPr lang="en-US" dirty="0">
                      <a:latin typeface="Calibri" panose="020F0502020204030204" pitchFamily="34" charset="0"/>
                      <a:cs typeface="Calibri" panose="020F0502020204030204" pitchFamily="34" charset="0"/>
                    </a:rPr>
                    <a:t>is the activation function, It takes a single number and performs an operation on it. Some choices are:</a:t>
                  </a:r>
                </a:p>
                <a:p>
                  <a:pPr marL="342900" indent="-342900">
                    <a:buAutoNum type="arabicPeriod"/>
                  </a:pPr>
                  <a:r>
                    <a:rPr lang="en-US" dirty="0">
                      <a:latin typeface="Calibri" panose="020F0502020204030204" pitchFamily="34" charset="0"/>
                      <a:cs typeface="Calibri" panose="020F0502020204030204" pitchFamily="34" charset="0"/>
                    </a:rPr>
                    <a:t>Sigmoid</a:t>
                  </a:r>
                </a:p>
                <a:p>
                  <a:pPr marL="342900" indent="-342900">
                    <a:buAutoNum type="arabicPeriod"/>
                  </a:pPr>
                  <a:r>
                    <a:rPr lang="en-US" dirty="0">
                      <a:latin typeface="Calibri" panose="020F0502020204030204" pitchFamily="34" charset="0"/>
                      <a:cs typeface="Calibri" panose="020F0502020204030204" pitchFamily="34" charset="0"/>
                    </a:rPr>
                    <a:t>Tanh</a:t>
                  </a:r>
                </a:p>
                <a:p>
                  <a:pPr marL="342900" indent="-342900">
                    <a:buAutoNum type="arabicPeriod"/>
                  </a:pPr>
                  <a:r>
                    <a:rPr lang="en-US" dirty="0" err="1">
                      <a:latin typeface="Calibri" panose="020F0502020204030204" pitchFamily="34" charset="0"/>
                      <a:cs typeface="Calibri" panose="020F0502020204030204" pitchFamily="34" charset="0"/>
                    </a:rPr>
                    <a:t>Relu</a:t>
                  </a:r>
                  <a:endParaRPr lang="en-US" dirty="0">
                    <a:latin typeface="Calibri" panose="020F0502020204030204" pitchFamily="34" charset="0"/>
                    <a:cs typeface="Calibri" panose="020F0502020204030204" pitchFamily="34" charset="0"/>
                  </a:endParaRPr>
                </a:p>
                <a:p>
                  <a:pPr marL="342900" indent="-342900">
                    <a:buAutoNum type="arabicPeriod" startAt="4"/>
                  </a:pPr>
                  <a:endParaRPr lang="en-US" dirty="0">
                    <a:latin typeface="Arial" panose="020B0604020202020204" pitchFamily="34" charset="0"/>
                    <a:cs typeface="Arial" panose="020B0604020202020204" pitchFamily="34" charset="0"/>
                  </a:endParaRPr>
                </a:p>
              </p:txBody>
            </p:sp>
          </mc:Choice>
          <mc:Fallback xmlns="">
            <p:sp>
              <p:nvSpPr>
                <p:cNvPr id="17" name="TextBox 16">
                  <a:extLst>
                    <a:ext uri="{FF2B5EF4-FFF2-40B4-BE49-F238E27FC236}">
                      <a16:creationId xmlns:a16="http://schemas.microsoft.com/office/drawing/2014/main" id="{74AC3CBF-CE29-AE47-BB43-EB59027BC855}"/>
                    </a:ext>
                  </a:extLst>
                </p:cNvPr>
                <p:cNvSpPr txBox="1">
                  <a:spLocks noRot="1" noChangeAspect="1" noMove="1" noResize="1" noEditPoints="1" noAdjustHandles="1" noChangeArrowheads="1" noChangeShapeType="1" noTextEdit="1"/>
                </p:cNvSpPr>
                <p:nvPr/>
              </p:nvSpPr>
              <p:spPr>
                <a:xfrm>
                  <a:off x="6105144" y="1600200"/>
                  <a:ext cx="3048000" cy="2438444"/>
                </a:xfrm>
                <a:prstGeom prst="rect">
                  <a:avLst/>
                </a:prstGeom>
                <a:blipFill>
                  <a:blip r:embed="rId5"/>
                  <a:stretch>
                    <a:fillRect l="-1224"/>
                  </a:stretch>
                </a:blipFill>
              </p:spPr>
              <p:txBody>
                <a:bodyPr/>
                <a:lstStyle/>
                <a:p>
                  <a:r>
                    <a:rPr lang="en-US">
                      <a:noFill/>
                    </a:rPr>
                    <a:t> </a:t>
                  </a:r>
                </a:p>
              </p:txBody>
            </p:sp>
          </mc:Fallback>
        </mc:AlternateContent>
        <p:pic>
          <p:nvPicPr>
            <p:cNvPr id="18" name="Picture 17">
              <a:extLst>
                <a:ext uri="{FF2B5EF4-FFF2-40B4-BE49-F238E27FC236}">
                  <a16:creationId xmlns:a16="http://schemas.microsoft.com/office/drawing/2014/main" id="{02EB5A46-D4CF-3A4E-A747-0A3518D21AA7}"/>
                </a:ext>
              </a:extLst>
            </p:cNvPr>
            <p:cNvPicPr>
              <a:picLocks noChangeAspect="1"/>
            </p:cNvPicPr>
            <p:nvPr/>
          </p:nvPicPr>
          <p:blipFill>
            <a:blip r:embed="rId6"/>
            <a:stretch>
              <a:fillRect/>
            </a:stretch>
          </p:blipFill>
          <p:spPr>
            <a:xfrm>
              <a:off x="7299140" y="2764610"/>
              <a:ext cx="1930204" cy="368300"/>
            </a:xfrm>
            <a:prstGeom prst="rect">
              <a:avLst/>
            </a:prstGeom>
          </p:spPr>
        </p:pic>
        <p:pic>
          <p:nvPicPr>
            <p:cNvPr id="19" name="Picture 18">
              <a:extLst>
                <a:ext uri="{FF2B5EF4-FFF2-40B4-BE49-F238E27FC236}">
                  <a16:creationId xmlns:a16="http://schemas.microsoft.com/office/drawing/2014/main" id="{4EF950B9-2B28-8A40-9D38-887C90BB63FD}"/>
                </a:ext>
              </a:extLst>
            </p:cNvPr>
            <p:cNvPicPr>
              <a:picLocks noChangeAspect="1"/>
            </p:cNvPicPr>
            <p:nvPr/>
          </p:nvPicPr>
          <p:blipFill>
            <a:blip r:embed="rId7"/>
            <a:stretch>
              <a:fillRect/>
            </a:stretch>
          </p:blipFill>
          <p:spPr>
            <a:xfrm>
              <a:off x="7057644" y="3114674"/>
              <a:ext cx="2171700" cy="304800"/>
            </a:xfrm>
            <a:prstGeom prst="rect">
              <a:avLst/>
            </a:prstGeom>
          </p:spPr>
        </p:pic>
        <p:pic>
          <p:nvPicPr>
            <p:cNvPr id="21" name="Picture 20">
              <a:extLst>
                <a:ext uri="{FF2B5EF4-FFF2-40B4-BE49-F238E27FC236}">
                  <a16:creationId xmlns:a16="http://schemas.microsoft.com/office/drawing/2014/main" id="{942E751C-68C3-4647-A316-E2DD0C75692C}"/>
                </a:ext>
              </a:extLst>
            </p:cNvPr>
            <p:cNvPicPr>
              <a:picLocks noChangeAspect="1"/>
            </p:cNvPicPr>
            <p:nvPr/>
          </p:nvPicPr>
          <p:blipFill>
            <a:blip r:embed="rId8"/>
            <a:stretch>
              <a:fillRect/>
            </a:stretch>
          </p:blipFill>
          <p:spPr>
            <a:xfrm>
              <a:off x="7057644" y="3366069"/>
              <a:ext cx="1714500" cy="330200"/>
            </a:xfrm>
            <a:prstGeom prst="rect">
              <a:avLst/>
            </a:prstGeom>
          </p:spPr>
        </p:pic>
      </p:grpSp>
      <p:sp>
        <p:nvSpPr>
          <p:cNvPr id="23" name="TextBox 22">
            <a:extLst>
              <a:ext uri="{FF2B5EF4-FFF2-40B4-BE49-F238E27FC236}">
                <a16:creationId xmlns:a16="http://schemas.microsoft.com/office/drawing/2014/main" id="{EC985022-ECA4-E049-BC2E-A5D1F52BFBA8}"/>
              </a:ext>
            </a:extLst>
          </p:cNvPr>
          <p:cNvSpPr txBox="1"/>
          <p:nvPr/>
        </p:nvSpPr>
        <p:spPr>
          <a:xfrm>
            <a:off x="5715000" y="5105400"/>
            <a:ext cx="3223260" cy="147732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latin typeface="Calibri" panose="020F0502020204030204" pitchFamily="34" charset="0"/>
                <a:cs typeface="Calibri" panose="020F0502020204030204" pitchFamily="34" charset="0"/>
              </a:rPr>
              <a:t>Each neuron performs a dot product with the input and its weights, adds the bias and applies the activation function</a:t>
            </a:r>
          </a:p>
          <a:p>
            <a:endParaRPr lang="en-US" dirty="0">
              <a:latin typeface="Arial" pitchFamily="34" charset="0"/>
              <a:cs typeface="Arial" pitchFamily="34" charset="0"/>
            </a:endParaRPr>
          </a:p>
        </p:txBody>
      </p:sp>
      <p:sp>
        <p:nvSpPr>
          <p:cNvPr id="20" name="TextBox 19">
            <a:extLst>
              <a:ext uri="{FF2B5EF4-FFF2-40B4-BE49-F238E27FC236}">
                <a16:creationId xmlns:a16="http://schemas.microsoft.com/office/drawing/2014/main" id="{A597F3F3-FD10-364F-A1E7-86D0667A9089}"/>
              </a:ext>
            </a:extLst>
          </p:cNvPr>
          <p:cNvSpPr txBox="1"/>
          <p:nvPr/>
        </p:nvSpPr>
        <p:spPr>
          <a:xfrm>
            <a:off x="195585" y="6305782"/>
            <a:ext cx="1600200" cy="369332"/>
          </a:xfrm>
          <a:prstGeom prst="rect">
            <a:avLst/>
          </a:prstGeom>
          <a:noFill/>
        </p:spPr>
        <p:txBody>
          <a:bodyPr wrap="square" rtlCol="0">
            <a:spAutoFit/>
          </a:bodyPr>
          <a:lstStyle/>
          <a:p>
            <a:r>
              <a:rPr lang="en-US" dirty="0">
                <a:latin typeface="Arial" pitchFamily="34" charset="0"/>
                <a:cs typeface="Arial" pitchFamily="34" charset="0"/>
              </a:rPr>
              <a:t>credit: </a:t>
            </a:r>
            <a:r>
              <a:rPr lang="en-US" dirty="0">
                <a:latin typeface="Arial" pitchFamily="34" charset="0"/>
                <a:cs typeface="Arial" pitchFamily="34" charset="0"/>
                <a:hlinkClick r:id="rId9"/>
              </a:rPr>
              <a:t>cs231</a:t>
            </a:r>
            <a:endParaRPr lang="en-US" dirty="0">
              <a:latin typeface="Arial" pitchFamily="34" charset="0"/>
              <a:cs typeface="Arial" pitchFamily="34" charset="0"/>
            </a:endParaRPr>
          </a:p>
        </p:txBody>
      </p:sp>
      <p:sp>
        <p:nvSpPr>
          <p:cNvPr id="10" name="Rectangle 9">
            <a:extLst>
              <a:ext uri="{FF2B5EF4-FFF2-40B4-BE49-F238E27FC236}">
                <a16:creationId xmlns:a16="http://schemas.microsoft.com/office/drawing/2014/main" id="{6CA0A534-1103-5547-BACC-DEF4B5EAA4C5}"/>
              </a:ext>
            </a:extLst>
          </p:cNvPr>
          <p:cNvSpPr/>
          <p:nvPr/>
        </p:nvSpPr>
        <p:spPr>
          <a:xfrm>
            <a:off x="995685" y="3068524"/>
            <a:ext cx="1811777" cy="665276"/>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6" name="Rectangle 25">
            <a:extLst>
              <a:ext uri="{FF2B5EF4-FFF2-40B4-BE49-F238E27FC236}">
                <a16:creationId xmlns:a16="http://schemas.microsoft.com/office/drawing/2014/main" id="{E370F60E-2689-3C43-B179-DD9A78378316}"/>
              </a:ext>
            </a:extLst>
          </p:cNvPr>
          <p:cNvSpPr/>
          <p:nvPr/>
        </p:nvSpPr>
        <p:spPr>
          <a:xfrm rot="2444913">
            <a:off x="2538879" y="3686907"/>
            <a:ext cx="938105" cy="398184"/>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E789C5E8-0478-8640-AA08-F9584B290898}"/>
              </a:ext>
            </a:extLst>
          </p:cNvPr>
          <p:cNvCxnSpPr>
            <a:cxnSpLocks/>
          </p:cNvCxnSpPr>
          <p:nvPr/>
        </p:nvCxnSpPr>
        <p:spPr>
          <a:xfrm>
            <a:off x="2747407" y="3525724"/>
            <a:ext cx="685800" cy="64008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pic>
        <p:nvPicPr>
          <p:cNvPr id="27" name="Picture 26">
            <a:extLst>
              <a:ext uri="{FF2B5EF4-FFF2-40B4-BE49-F238E27FC236}">
                <a16:creationId xmlns:a16="http://schemas.microsoft.com/office/drawing/2014/main" id="{83299A1B-5100-0D4E-8105-547AAE18BB5D}"/>
              </a:ext>
            </a:extLst>
          </p:cNvPr>
          <p:cNvPicPr>
            <a:picLocks noChangeAspect="1"/>
          </p:cNvPicPr>
          <p:nvPr/>
        </p:nvPicPr>
        <p:blipFill>
          <a:blip r:embed="rId10"/>
          <a:stretch>
            <a:fillRect/>
          </a:stretch>
        </p:blipFill>
        <p:spPr>
          <a:xfrm>
            <a:off x="4114800" y="2929705"/>
            <a:ext cx="1682237" cy="981850"/>
          </a:xfrm>
          <a:prstGeom prst="rect">
            <a:avLst/>
          </a:prstGeom>
        </p:spPr>
      </p:pic>
      <p:pic>
        <p:nvPicPr>
          <p:cNvPr id="28" name="Picture 27">
            <a:extLst>
              <a:ext uri="{FF2B5EF4-FFF2-40B4-BE49-F238E27FC236}">
                <a16:creationId xmlns:a16="http://schemas.microsoft.com/office/drawing/2014/main" id="{55064180-22EC-D243-9BC6-0A97D53C9069}"/>
              </a:ext>
            </a:extLst>
          </p:cNvPr>
          <p:cNvPicPr>
            <a:picLocks noChangeAspect="1"/>
          </p:cNvPicPr>
          <p:nvPr/>
        </p:nvPicPr>
        <p:blipFill>
          <a:blip r:embed="rId11"/>
          <a:stretch>
            <a:fillRect/>
          </a:stretch>
        </p:blipFill>
        <p:spPr>
          <a:xfrm>
            <a:off x="4232164" y="1877307"/>
            <a:ext cx="1514488" cy="981850"/>
          </a:xfrm>
          <a:prstGeom prst="rect">
            <a:avLst/>
          </a:prstGeom>
        </p:spPr>
      </p:pic>
    </p:spTree>
    <p:extLst>
      <p:ext uri="{BB962C8B-B14F-4D97-AF65-F5344CB8AC3E}">
        <p14:creationId xmlns:p14="http://schemas.microsoft.com/office/powerpoint/2010/main" val="38807248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53A8A-28DA-1248-B9C6-93D8601021BD}"/>
              </a:ext>
            </a:extLst>
          </p:cNvPr>
          <p:cNvSpPr>
            <a:spLocks noGrp="1"/>
          </p:cNvSpPr>
          <p:nvPr>
            <p:ph type="title"/>
          </p:nvPr>
        </p:nvSpPr>
        <p:spPr/>
        <p:txBody>
          <a:bodyPr/>
          <a:lstStyle/>
          <a:p>
            <a:r>
              <a:rPr lang="en-US" dirty="0"/>
              <a:t>Neural Network: A Layer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352CE8A-2E53-E84A-B6EA-FEAD71A18CC4}"/>
                  </a:ext>
                </a:extLst>
              </p:cNvPr>
              <p:cNvSpPr>
                <a:spLocks noGrp="1"/>
              </p:cNvSpPr>
              <p:nvPr>
                <p:ph idx="1"/>
              </p:nvPr>
            </p:nvSpPr>
            <p:spPr/>
            <p:txBody>
              <a:bodyPr>
                <a:normAutofit fontScale="92500" lnSpcReduction="10000"/>
              </a:bodyPr>
              <a:lstStyle/>
              <a:p>
                <a:r>
                  <a:rPr lang="en-US" sz="2800" dirty="0"/>
                  <a:t>Consider two neurons in a hidden layer</a:t>
                </a:r>
              </a:p>
              <a:p>
                <a:endParaRPr lang="en-US" sz="2800" dirty="0"/>
              </a:p>
              <a:p>
                <a:endParaRPr lang="en-US" dirty="0"/>
              </a:p>
              <a:p>
                <a:endParaRPr lang="en-US" dirty="0"/>
              </a:p>
              <a:p>
                <a:endParaRPr lang="en-US" dirty="0"/>
              </a:p>
              <a:p>
                <a:endParaRPr lang="en-US" dirty="0"/>
              </a:p>
              <a:p>
                <a:endParaRPr lang="en-US" dirty="0"/>
              </a:p>
              <a:p>
                <a:endParaRPr lang="en-US" dirty="0"/>
              </a:p>
              <a:p>
                <a:pPr lvl="1"/>
                <a:endParaRPr lang="en-US" sz="2000" dirty="0"/>
              </a:p>
              <a:p>
                <a:pPr lvl="1"/>
                <a:r>
                  <a:rPr lang="en-US" sz="2000" dirty="0"/>
                  <a:t>Each layer computes</a:t>
                </a:r>
              </a:p>
              <a:p>
                <a:pPr lvl="1"/>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𝑊</m:t>
                        </m:r>
                      </m:e>
                      <m:sub>
                        <m:r>
                          <a:rPr lang="en-US" sz="2000" i="1">
                            <a:latin typeface="Cambria Math" panose="02040503050406030204" pitchFamily="18" charset="0"/>
                          </a:rPr>
                          <m:t>𝑙</m:t>
                        </m:r>
                      </m:sub>
                    </m:sSub>
                  </m:oMath>
                </a14:m>
                <a:r>
                  <a:rPr lang="en-US" sz="2000" dirty="0"/>
                  <a:t> is weight matrix </a:t>
                </a:r>
                <a:r>
                  <a:rPr lang="en-US" altLang="zh-CN" sz="2000" dirty="0"/>
                  <a:t>that transforms representation at</a:t>
                </a:r>
                <a:r>
                  <a:rPr lang="en-US" sz="2000" dirty="0"/>
                  <a:t> layer </a:t>
                </a:r>
                <a14:m>
                  <m:oMath xmlns:m="http://schemas.openxmlformats.org/officeDocument/2006/math">
                    <m:r>
                      <a:rPr lang="en-US" sz="2000">
                        <a:latin typeface="Cambria Math" panose="02040503050406030204" pitchFamily="18" charset="0"/>
                      </a:rPr>
                      <m:t>𝑙</m:t>
                    </m:r>
                  </m:oMath>
                </a14:m>
                <a:r>
                  <a:rPr lang="en-US" sz="2000" dirty="0"/>
                  <a:t> to layer </a:t>
                </a:r>
                <a14:m>
                  <m:oMath xmlns:m="http://schemas.openxmlformats.org/officeDocument/2006/math">
                    <m:r>
                      <a:rPr lang="en-US" sz="2000">
                        <a:latin typeface="Cambria Math" panose="02040503050406030204" pitchFamily="18" charset="0"/>
                      </a:rPr>
                      <m:t>𝑙</m:t>
                    </m:r>
                    <m:r>
                      <a:rPr lang="en-US" sz="2000">
                        <a:latin typeface="Cambria Math" panose="02040503050406030204" pitchFamily="18" charset="0"/>
                      </a:rPr>
                      <m:t>+1</m:t>
                    </m:r>
                  </m:oMath>
                </a14:m>
                <a:endParaRPr lang="en-US" sz="2000" dirty="0">
                  <a:latin typeface="Cambria Math" panose="02040503050406030204" pitchFamily="18" charset="0"/>
                </a:endParaRPr>
              </a:p>
              <a:p>
                <a:pPr lvl="1"/>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𝑏</m:t>
                        </m:r>
                      </m:e>
                      <m:sup>
                        <m:r>
                          <a:rPr lang="en-US" sz="2000">
                            <a:latin typeface="Cambria Math" panose="02040503050406030204" pitchFamily="18" charset="0"/>
                          </a:rPr>
                          <m:t>𝑙</m:t>
                        </m:r>
                      </m:sup>
                    </m:sSup>
                  </m:oMath>
                </a14:m>
                <a:r>
                  <a:rPr lang="en-US" sz="2000" dirty="0"/>
                  <a:t> is bias at layer </a:t>
                </a:r>
                <a14:m>
                  <m:oMath xmlns:m="http://schemas.openxmlformats.org/officeDocument/2006/math">
                    <m:r>
                      <a:rPr lang="en-US" sz="2000">
                        <a:latin typeface="Cambria Math" panose="02040503050406030204" pitchFamily="18" charset="0"/>
                      </a:rPr>
                      <m:t>𝑙</m:t>
                    </m:r>
                  </m:oMath>
                </a14:m>
                <a:r>
                  <a:rPr lang="en-US" sz="2000" dirty="0"/>
                  <a:t>, and is added to the linear transformation of </a:t>
                </a:r>
                <a14:m>
                  <m:oMath xmlns:m="http://schemas.openxmlformats.org/officeDocument/2006/math">
                    <m:r>
                      <a:rPr lang="en-US" sz="2000" b="1" i="1">
                        <a:latin typeface="Cambria Math" panose="02040503050406030204" pitchFamily="18" charset="0"/>
                        <a:ea typeface="Cambria Math" panose="02040503050406030204" pitchFamily="18" charset="0"/>
                      </a:rPr>
                      <m:t>𝒙</m:t>
                    </m:r>
                  </m:oMath>
                </a14:m>
                <a:endParaRPr lang="en-US" sz="2000" dirty="0">
                  <a:latin typeface="Cambria Math" panose="02040503050406030204" pitchFamily="18" charset="0"/>
                </a:endParaRPr>
              </a:p>
              <a:p>
                <a:pPr lvl="1"/>
                <a14:m>
                  <m:oMath xmlns:m="http://schemas.openxmlformats.org/officeDocument/2006/math">
                    <m:r>
                      <a:rPr lang="en-US" sz="2000">
                        <a:latin typeface="Cambria Math" panose="02040503050406030204" pitchFamily="18" charset="0"/>
                      </a:rPr>
                      <m:t>𝜎</m:t>
                    </m:r>
                  </m:oMath>
                </a14:m>
                <a:r>
                  <a:rPr lang="en-US" sz="2000" dirty="0"/>
                  <a:t> is sigmoid activation function</a:t>
                </a:r>
                <a:endParaRPr lang="en-US" dirty="0"/>
              </a:p>
            </p:txBody>
          </p:sp>
        </mc:Choice>
        <mc:Fallback xmlns="">
          <p:sp>
            <p:nvSpPr>
              <p:cNvPr id="3" name="Content Placeholder 2">
                <a:extLst>
                  <a:ext uri="{FF2B5EF4-FFF2-40B4-BE49-F238E27FC236}">
                    <a16:creationId xmlns:a16="http://schemas.microsoft.com/office/drawing/2014/main" id="{D352CE8A-2E53-E84A-B6EA-FEAD71A18CC4}"/>
                  </a:ext>
                </a:extLst>
              </p:cNvPr>
              <p:cNvSpPr>
                <a:spLocks noGrp="1" noRot="1" noChangeAspect="1" noMove="1" noResize="1" noEditPoints="1" noAdjustHandles="1" noChangeArrowheads="1" noChangeShapeType="1" noTextEdit="1"/>
              </p:cNvSpPr>
              <p:nvPr>
                <p:ph idx="1"/>
              </p:nvPr>
            </p:nvSpPr>
            <p:spPr>
              <a:blipFill>
                <a:blip r:embed="rId3"/>
                <a:stretch>
                  <a:fillRect t="-966"/>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4EDAB038-9FB3-D94A-9DCD-A28D77A3A647}"/>
              </a:ext>
            </a:extLst>
          </p:cNvPr>
          <p:cNvSpPr>
            <a:spLocks noGrp="1"/>
          </p:cNvSpPr>
          <p:nvPr>
            <p:ph type="dt" sz="half" idx="10"/>
          </p:nvPr>
        </p:nvSpPr>
        <p:spPr/>
        <p:txBody>
          <a:bodyPr/>
          <a:lstStyle/>
          <a:p>
            <a:fld id="{522AE7B5-EB26-F241-9ADF-F873F32B0383}" type="datetime1">
              <a:rPr lang="en-US" smtClean="0"/>
              <a:t>11/3/24</a:t>
            </a:fld>
            <a:endParaRPr lang="en-US"/>
          </a:p>
        </p:txBody>
      </p:sp>
      <p:sp>
        <p:nvSpPr>
          <p:cNvPr id="5" name="Footer Placeholder 4">
            <a:extLst>
              <a:ext uri="{FF2B5EF4-FFF2-40B4-BE49-F238E27FC236}">
                <a16:creationId xmlns:a16="http://schemas.microsoft.com/office/drawing/2014/main" id="{6CC26974-0610-E54C-B435-EA6278C7F144}"/>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397A0144-1334-4D4B-82C0-94248952E3E5}"/>
              </a:ext>
            </a:extLst>
          </p:cNvPr>
          <p:cNvSpPr>
            <a:spLocks noGrp="1"/>
          </p:cNvSpPr>
          <p:nvPr>
            <p:ph type="sldNum" sz="quarter" idx="12"/>
          </p:nvPr>
        </p:nvSpPr>
        <p:spPr/>
        <p:txBody>
          <a:bodyPr/>
          <a:lstStyle/>
          <a:p>
            <a:fld id="{19B12225-5612-419B-A8D5-4B8EEE4C217E}" type="slidenum">
              <a:rPr lang="en-US" smtClean="0"/>
              <a:pPr/>
              <a:t>28</a:t>
            </a:fld>
            <a:endParaRPr lang="en-US"/>
          </a:p>
        </p:txBody>
      </p:sp>
      <p:sp>
        <p:nvSpPr>
          <p:cNvPr id="8" name="Oval 7">
            <a:extLst>
              <a:ext uri="{FF2B5EF4-FFF2-40B4-BE49-F238E27FC236}">
                <a16:creationId xmlns:a16="http://schemas.microsoft.com/office/drawing/2014/main" id="{49D2CDAE-BC0C-B242-9240-EB129960376E}"/>
              </a:ext>
            </a:extLst>
          </p:cNvPr>
          <p:cNvSpPr/>
          <p:nvPr/>
        </p:nvSpPr>
        <p:spPr>
          <a:xfrm>
            <a:off x="3539168" y="3205252"/>
            <a:ext cx="252248" cy="252248"/>
          </a:xfrm>
          <a:prstGeom prst="ellipse">
            <a:avLst/>
          </a:prstGeom>
          <a:solidFill>
            <a:srgbClr val="00B0F0"/>
          </a:solidFill>
          <a:ln w="25400" cmpd="sng">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Oval 8">
            <a:extLst>
              <a:ext uri="{FF2B5EF4-FFF2-40B4-BE49-F238E27FC236}">
                <a16:creationId xmlns:a16="http://schemas.microsoft.com/office/drawing/2014/main" id="{4C09467A-75B2-4D48-B2B2-B6CB40E74001}"/>
              </a:ext>
            </a:extLst>
          </p:cNvPr>
          <p:cNvSpPr/>
          <p:nvPr/>
        </p:nvSpPr>
        <p:spPr>
          <a:xfrm>
            <a:off x="3539168" y="3658746"/>
            <a:ext cx="252248" cy="252248"/>
          </a:xfrm>
          <a:prstGeom prst="ellipse">
            <a:avLst/>
          </a:prstGeom>
          <a:solidFill>
            <a:srgbClr val="00B0F0"/>
          </a:solidFill>
          <a:ln w="25400" cmpd="sng">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83A71309-6C08-8B45-AA64-7392960167A5}"/>
              </a:ext>
            </a:extLst>
          </p:cNvPr>
          <p:cNvCxnSpPr>
            <a:stCxn id="11" idx="6"/>
            <a:endCxn id="8" idx="2"/>
          </p:cNvCxnSpPr>
          <p:nvPr/>
        </p:nvCxnSpPr>
        <p:spPr>
          <a:xfrm>
            <a:off x="2109761" y="3146595"/>
            <a:ext cx="1429407" cy="18478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E2BE65D8-CE67-594E-BFF1-9358C0D2BBE1}"/>
              </a:ext>
            </a:extLst>
          </p:cNvPr>
          <p:cNvCxnSpPr>
            <a:cxnSpLocks/>
            <a:stCxn id="12" idx="6"/>
            <a:endCxn id="9" idx="2"/>
          </p:cNvCxnSpPr>
          <p:nvPr/>
        </p:nvCxnSpPr>
        <p:spPr>
          <a:xfrm>
            <a:off x="2109761" y="3608418"/>
            <a:ext cx="1429407" cy="17645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DD16D614-1EB8-164C-B56E-9F6BF56CCCB0}"/>
              </a:ext>
            </a:extLst>
          </p:cNvPr>
          <p:cNvCxnSpPr>
            <a:cxnSpLocks/>
            <a:stCxn id="20" idx="7"/>
            <a:endCxn id="9" idx="3"/>
          </p:cNvCxnSpPr>
          <p:nvPr/>
        </p:nvCxnSpPr>
        <p:spPr>
          <a:xfrm flipV="1">
            <a:off x="2072820" y="3874053"/>
            <a:ext cx="1503289" cy="1376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919F97EA-0666-1E46-B88A-D78E21870241}"/>
              </a:ext>
            </a:extLst>
          </p:cNvPr>
          <p:cNvCxnSpPr>
            <a:cxnSpLocks/>
            <a:stCxn id="20" idx="7"/>
          </p:cNvCxnSpPr>
          <p:nvPr/>
        </p:nvCxnSpPr>
        <p:spPr>
          <a:xfrm flipV="1">
            <a:off x="2072820" y="3419204"/>
            <a:ext cx="1486048" cy="59250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047C11EC-00A5-604A-8123-F18ED40620CB}"/>
              </a:ext>
            </a:extLst>
          </p:cNvPr>
          <p:cNvCxnSpPr>
            <a:cxnSpLocks/>
            <a:stCxn id="12" idx="6"/>
          </p:cNvCxnSpPr>
          <p:nvPr/>
        </p:nvCxnSpPr>
        <p:spPr>
          <a:xfrm flipV="1">
            <a:off x="2109761" y="3393096"/>
            <a:ext cx="1397466" cy="21532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ADBEE999-F514-D441-81EB-57C4B3252382}"/>
              </a:ext>
            </a:extLst>
          </p:cNvPr>
          <p:cNvCxnSpPr>
            <a:cxnSpLocks/>
            <a:stCxn id="11" idx="6"/>
            <a:endCxn id="9" idx="0"/>
          </p:cNvCxnSpPr>
          <p:nvPr/>
        </p:nvCxnSpPr>
        <p:spPr>
          <a:xfrm>
            <a:off x="2109761" y="3146595"/>
            <a:ext cx="1555531" cy="51215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nvGrpSpPr>
          <p:cNvPr id="64" name="Group 63">
            <a:extLst>
              <a:ext uri="{FF2B5EF4-FFF2-40B4-BE49-F238E27FC236}">
                <a16:creationId xmlns:a16="http://schemas.microsoft.com/office/drawing/2014/main" id="{BDD92AB7-A43A-7142-8AD9-206F6A8BD36D}"/>
              </a:ext>
            </a:extLst>
          </p:cNvPr>
          <p:cNvGrpSpPr/>
          <p:nvPr/>
        </p:nvGrpSpPr>
        <p:grpSpPr>
          <a:xfrm>
            <a:off x="1219200" y="2743200"/>
            <a:ext cx="990600" cy="1752600"/>
            <a:chOff x="2286000" y="2743200"/>
            <a:chExt cx="990600" cy="1752600"/>
          </a:xfrm>
        </p:grpSpPr>
        <p:sp>
          <p:nvSpPr>
            <p:cNvPr id="11" name="Oval 10">
              <a:extLst>
                <a:ext uri="{FF2B5EF4-FFF2-40B4-BE49-F238E27FC236}">
                  <a16:creationId xmlns:a16="http://schemas.microsoft.com/office/drawing/2014/main" id="{24C93111-B4F3-444A-A15A-A081B50D7C01}"/>
                </a:ext>
              </a:extLst>
            </p:cNvPr>
            <p:cNvSpPr/>
            <p:nvPr/>
          </p:nvSpPr>
          <p:spPr>
            <a:xfrm>
              <a:off x="2924313" y="3020471"/>
              <a:ext cx="252248" cy="252248"/>
            </a:xfrm>
            <a:prstGeom prst="ellipse">
              <a:avLst/>
            </a:prstGeom>
            <a:ln w="25400" cmpd="sng">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Oval 11">
              <a:extLst>
                <a:ext uri="{FF2B5EF4-FFF2-40B4-BE49-F238E27FC236}">
                  <a16:creationId xmlns:a16="http://schemas.microsoft.com/office/drawing/2014/main" id="{D41509F8-873C-1447-97DE-ECFEEA703AEF}"/>
                </a:ext>
              </a:extLst>
            </p:cNvPr>
            <p:cNvSpPr/>
            <p:nvPr/>
          </p:nvSpPr>
          <p:spPr>
            <a:xfrm>
              <a:off x="2924313" y="3482294"/>
              <a:ext cx="252248" cy="252248"/>
            </a:xfrm>
            <a:prstGeom prst="ellipse">
              <a:avLst/>
            </a:prstGeom>
            <a:ln w="25400" cmpd="sng">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FD56257E-3D26-4D4E-B8A8-5FA9C8398C1E}"/>
                </a:ext>
              </a:extLst>
            </p:cNvPr>
            <p:cNvCxnSpPr>
              <a:cxnSpLocks/>
            </p:cNvCxnSpPr>
            <p:nvPr/>
          </p:nvCxnSpPr>
          <p:spPr>
            <a:xfrm>
              <a:off x="2624275" y="3137136"/>
              <a:ext cx="318266" cy="315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CB8288FE-E825-6E46-A226-863A74A1264D}"/>
                </a:ext>
              </a:extLst>
            </p:cNvPr>
            <p:cNvCxnSpPr>
              <a:cxnSpLocks/>
            </p:cNvCxnSpPr>
            <p:nvPr/>
          </p:nvCxnSpPr>
          <p:spPr>
            <a:xfrm>
              <a:off x="2639056" y="3616647"/>
              <a:ext cx="318266" cy="315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E4FB482-FD6C-2148-A9D5-8146A95832C1}"/>
                    </a:ext>
                  </a:extLst>
                </p:cNvPr>
                <p:cNvSpPr txBox="1"/>
                <p:nvPr/>
              </p:nvSpPr>
              <p:spPr>
                <a:xfrm>
                  <a:off x="2292017" y="2962506"/>
                  <a:ext cx="26968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endParaRPr lang="en-US" dirty="0"/>
                </a:p>
              </p:txBody>
            </p:sp>
          </mc:Choice>
          <mc:Fallback xmlns="">
            <p:sp>
              <p:nvSpPr>
                <p:cNvPr id="18" name="TextBox 17">
                  <a:extLst>
                    <a:ext uri="{FF2B5EF4-FFF2-40B4-BE49-F238E27FC236}">
                      <a16:creationId xmlns:a16="http://schemas.microsoft.com/office/drawing/2014/main" id="{2E4FB482-FD6C-2148-A9D5-8146A95832C1}"/>
                    </a:ext>
                  </a:extLst>
                </p:cNvPr>
                <p:cNvSpPr txBox="1">
                  <a:spLocks noRot="1" noChangeAspect="1" noMove="1" noResize="1" noEditPoints="1" noAdjustHandles="1" noChangeArrowheads="1" noChangeShapeType="1" noTextEdit="1"/>
                </p:cNvSpPr>
                <p:nvPr/>
              </p:nvSpPr>
              <p:spPr>
                <a:xfrm>
                  <a:off x="2292017" y="2962506"/>
                  <a:ext cx="269689" cy="276999"/>
                </a:xfrm>
                <a:prstGeom prst="rect">
                  <a:avLst/>
                </a:prstGeom>
                <a:blipFill>
                  <a:blip r:embed="rId4"/>
                  <a:stretch>
                    <a:fillRect l="-13636" r="-9091"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EDF982C-DFF2-C64C-92AB-30248557EB05}"/>
                    </a:ext>
                  </a:extLst>
                </p:cNvPr>
                <p:cNvSpPr txBox="1"/>
                <p:nvPr/>
              </p:nvSpPr>
              <p:spPr>
                <a:xfrm>
                  <a:off x="2292019" y="3450982"/>
                  <a:ext cx="27501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endParaRPr lang="en-US" dirty="0"/>
                </a:p>
              </p:txBody>
            </p:sp>
          </mc:Choice>
          <mc:Fallback xmlns="">
            <p:sp>
              <p:nvSpPr>
                <p:cNvPr id="19" name="TextBox 18">
                  <a:extLst>
                    <a:ext uri="{FF2B5EF4-FFF2-40B4-BE49-F238E27FC236}">
                      <a16:creationId xmlns:a16="http://schemas.microsoft.com/office/drawing/2014/main" id="{1EDF982C-DFF2-C64C-92AB-30248557EB05}"/>
                    </a:ext>
                  </a:extLst>
                </p:cNvPr>
                <p:cNvSpPr txBox="1">
                  <a:spLocks noRot="1" noChangeAspect="1" noMove="1" noResize="1" noEditPoints="1" noAdjustHandles="1" noChangeArrowheads="1" noChangeShapeType="1" noTextEdit="1"/>
                </p:cNvSpPr>
                <p:nvPr/>
              </p:nvSpPr>
              <p:spPr>
                <a:xfrm>
                  <a:off x="2292019" y="3450982"/>
                  <a:ext cx="275011" cy="276999"/>
                </a:xfrm>
                <a:prstGeom prst="rect">
                  <a:avLst/>
                </a:prstGeom>
                <a:blipFill>
                  <a:blip r:embed="rId5"/>
                  <a:stretch>
                    <a:fillRect l="-13043" r="-4348" b="-13043"/>
                  </a:stretch>
                </a:blipFill>
              </p:spPr>
              <p:txBody>
                <a:bodyPr/>
                <a:lstStyle/>
                <a:p>
                  <a:r>
                    <a:rPr lang="en-US">
                      <a:noFill/>
                    </a:rPr>
                    <a:t> </a:t>
                  </a:r>
                </a:p>
              </p:txBody>
            </p:sp>
          </mc:Fallback>
        </mc:AlternateContent>
        <p:sp>
          <p:nvSpPr>
            <p:cNvPr id="20" name="Oval 19">
              <a:extLst>
                <a:ext uri="{FF2B5EF4-FFF2-40B4-BE49-F238E27FC236}">
                  <a16:creationId xmlns:a16="http://schemas.microsoft.com/office/drawing/2014/main" id="{0F55D453-2445-8A4B-904B-0D396702774B}"/>
                </a:ext>
              </a:extLst>
            </p:cNvPr>
            <p:cNvSpPr/>
            <p:nvPr/>
          </p:nvSpPr>
          <p:spPr>
            <a:xfrm>
              <a:off x="2924313" y="3974766"/>
              <a:ext cx="252248" cy="252248"/>
            </a:xfrm>
            <a:prstGeom prst="ellipse">
              <a:avLst/>
            </a:prstGeom>
            <a:ln w="25400" cmpd="sng">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403E194B-66CB-764F-9E8E-046A1B904544}"/>
                </a:ext>
              </a:extLst>
            </p:cNvPr>
            <p:cNvCxnSpPr>
              <a:cxnSpLocks/>
            </p:cNvCxnSpPr>
            <p:nvPr/>
          </p:nvCxnSpPr>
          <p:spPr>
            <a:xfrm>
              <a:off x="2633037" y="4079666"/>
              <a:ext cx="318266" cy="315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BF5565A-AA2B-9C4E-AF9D-5C8F5E4C2F62}"/>
                    </a:ext>
                  </a:extLst>
                </p:cNvPr>
                <p:cNvSpPr txBox="1"/>
                <p:nvPr/>
              </p:nvSpPr>
              <p:spPr>
                <a:xfrm>
                  <a:off x="2286000" y="3914001"/>
                  <a:ext cx="27501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m:oMathPara>
                  </a14:m>
                  <a:endParaRPr lang="en-US" dirty="0"/>
                </a:p>
              </p:txBody>
            </p:sp>
          </mc:Choice>
          <mc:Fallback xmlns="">
            <p:sp>
              <p:nvSpPr>
                <p:cNvPr id="22" name="TextBox 21">
                  <a:extLst>
                    <a:ext uri="{FF2B5EF4-FFF2-40B4-BE49-F238E27FC236}">
                      <a16:creationId xmlns:a16="http://schemas.microsoft.com/office/drawing/2014/main" id="{0BF5565A-AA2B-9C4E-AF9D-5C8F5E4C2F62}"/>
                    </a:ext>
                  </a:extLst>
                </p:cNvPr>
                <p:cNvSpPr txBox="1">
                  <a:spLocks noRot="1" noChangeAspect="1" noMove="1" noResize="1" noEditPoints="1" noAdjustHandles="1" noChangeArrowheads="1" noChangeShapeType="1" noTextEdit="1"/>
                </p:cNvSpPr>
                <p:nvPr/>
              </p:nvSpPr>
              <p:spPr>
                <a:xfrm>
                  <a:off x="2286000" y="3914001"/>
                  <a:ext cx="275011" cy="276999"/>
                </a:xfrm>
                <a:prstGeom prst="rect">
                  <a:avLst/>
                </a:prstGeom>
                <a:blipFill>
                  <a:blip r:embed="rId6"/>
                  <a:stretch>
                    <a:fillRect l="-13636" r="-9091" b="-13043"/>
                  </a:stretch>
                </a:blipFill>
              </p:spPr>
              <p:txBody>
                <a:bodyPr/>
                <a:lstStyle/>
                <a:p>
                  <a:r>
                    <a:rPr lang="en-US">
                      <a:noFill/>
                    </a:rPr>
                    <a:t> </a:t>
                  </a:r>
                </a:p>
              </p:txBody>
            </p:sp>
          </mc:Fallback>
        </mc:AlternateContent>
        <p:sp>
          <p:nvSpPr>
            <p:cNvPr id="36" name="Rounded Rectangle 35">
              <a:extLst>
                <a:ext uri="{FF2B5EF4-FFF2-40B4-BE49-F238E27FC236}">
                  <a16:creationId xmlns:a16="http://schemas.microsoft.com/office/drawing/2014/main" id="{E2656F58-BE7B-9D4E-AEE5-6B95B9E9C827}"/>
                </a:ext>
              </a:extLst>
            </p:cNvPr>
            <p:cNvSpPr/>
            <p:nvPr/>
          </p:nvSpPr>
          <p:spPr>
            <a:xfrm>
              <a:off x="2783408" y="2743200"/>
              <a:ext cx="493192" cy="1752600"/>
            </a:xfrm>
            <a:prstGeom prst="round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sp>
        <p:nvSpPr>
          <p:cNvPr id="37" name="TextBox 36">
            <a:extLst>
              <a:ext uri="{FF2B5EF4-FFF2-40B4-BE49-F238E27FC236}">
                <a16:creationId xmlns:a16="http://schemas.microsoft.com/office/drawing/2014/main" id="{47AAF639-6C8B-6F47-B521-67B8246D9506}"/>
              </a:ext>
            </a:extLst>
          </p:cNvPr>
          <p:cNvSpPr txBox="1"/>
          <p:nvPr/>
        </p:nvSpPr>
        <p:spPr>
          <a:xfrm>
            <a:off x="1328241" y="2354774"/>
            <a:ext cx="1439607" cy="369332"/>
          </a:xfrm>
          <a:prstGeom prst="rect">
            <a:avLst/>
          </a:prstGeom>
          <a:noFill/>
        </p:spPr>
        <p:txBody>
          <a:bodyPr wrap="square" rtlCol="0">
            <a:spAutoFit/>
          </a:bodyPr>
          <a:lstStyle/>
          <a:p>
            <a:r>
              <a:rPr lang="en-US" dirty="0">
                <a:solidFill>
                  <a:srgbClr val="008000"/>
                </a:solidFill>
                <a:latin typeface="Arial" pitchFamily="34" charset="0"/>
                <a:cs typeface="Arial" pitchFamily="34" charset="0"/>
              </a:rPr>
              <a:t>Input layer</a:t>
            </a:r>
          </a:p>
        </p:txBody>
      </p:sp>
      <p:sp>
        <p:nvSpPr>
          <p:cNvPr id="38" name="Rounded Rectangle 37">
            <a:extLst>
              <a:ext uri="{FF2B5EF4-FFF2-40B4-BE49-F238E27FC236}">
                <a16:creationId xmlns:a16="http://schemas.microsoft.com/office/drawing/2014/main" id="{53B87FE5-BCED-634F-9E09-21351312BFD2}"/>
              </a:ext>
            </a:extLst>
          </p:cNvPr>
          <p:cNvSpPr/>
          <p:nvPr/>
        </p:nvSpPr>
        <p:spPr>
          <a:xfrm>
            <a:off x="3505200" y="3020471"/>
            <a:ext cx="347032" cy="1080419"/>
          </a:xfrm>
          <a:prstGeom prst="roundRect">
            <a:avLst/>
          </a:prstGeom>
          <a:ln w="38100">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9" name="TextBox 38">
            <a:extLst>
              <a:ext uri="{FF2B5EF4-FFF2-40B4-BE49-F238E27FC236}">
                <a16:creationId xmlns:a16="http://schemas.microsoft.com/office/drawing/2014/main" id="{32F31C0D-AF43-E94E-85C2-C40C3F010EAC}"/>
              </a:ext>
            </a:extLst>
          </p:cNvPr>
          <p:cNvSpPr txBox="1"/>
          <p:nvPr/>
        </p:nvSpPr>
        <p:spPr>
          <a:xfrm>
            <a:off x="3343530" y="2214561"/>
            <a:ext cx="1085339" cy="646331"/>
          </a:xfrm>
          <a:prstGeom prst="rect">
            <a:avLst/>
          </a:prstGeom>
          <a:noFill/>
          <a:ln>
            <a:noFill/>
          </a:ln>
        </p:spPr>
        <p:txBody>
          <a:bodyPr wrap="square" rtlCol="0">
            <a:spAutoFit/>
          </a:bodyPr>
          <a:lstStyle/>
          <a:p>
            <a:r>
              <a:rPr lang="en-US" dirty="0">
                <a:solidFill>
                  <a:srgbClr val="0000FF"/>
                </a:solidFill>
                <a:latin typeface="Arial" pitchFamily="34" charset="0"/>
                <a:cs typeface="Arial" pitchFamily="34" charset="0"/>
              </a:rPr>
              <a:t>hidden</a:t>
            </a:r>
          </a:p>
          <a:p>
            <a:r>
              <a:rPr lang="en-US" dirty="0">
                <a:solidFill>
                  <a:srgbClr val="0000FF"/>
                </a:solidFill>
                <a:latin typeface="Arial" pitchFamily="34" charset="0"/>
                <a:cs typeface="Arial" pitchFamily="34" charset="0"/>
              </a:rPr>
              <a:t> layer</a:t>
            </a:r>
          </a:p>
        </p:txBody>
      </p:sp>
      <p:sp>
        <p:nvSpPr>
          <p:cNvPr id="40" name="Oval 39">
            <a:extLst>
              <a:ext uri="{FF2B5EF4-FFF2-40B4-BE49-F238E27FC236}">
                <a16:creationId xmlns:a16="http://schemas.microsoft.com/office/drawing/2014/main" id="{81A315A4-792E-474F-984E-4A9E9DDD6592}"/>
              </a:ext>
            </a:extLst>
          </p:cNvPr>
          <p:cNvSpPr/>
          <p:nvPr/>
        </p:nvSpPr>
        <p:spPr>
          <a:xfrm>
            <a:off x="4191000" y="3467121"/>
            <a:ext cx="252248" cy="252248"/>
          </a:xfrm>
          <a:prstGeom prst="ellipse">
            <a:avLst/>
          </a:prstGeom>
          <a:ln w="25400" cmpd="sng">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41" name="Straight Arrow Connector 40">
            <a:extLst>
              <a:ext uri="{FF2B5EF4-FFF2-40B4-BE49-F238E27FC236}">
                <a16:creationId xmlns:a16="http://schemas.microsoft.com/office/drawing/2014/main" id="{3BEA64CA-E724-374C-BED4-426A51D94322}"/>
              </a:ext>
            </a:extLst>
          </p:cNvPr>
          <p:cNvCxnSpPr>
            <a:cxnSpLocks/>
          </p:cNvCxnSpPr>
          <p:nvPr/>
        </p:nvCxnSpPr>
        <p:spPr>
          <a:xfrm>
            <a:off x="4495800" y="3593245"/>
            <a:ext cx="318266" cy="315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FFE33347-CAB0-E145-B8A1-B4EC4506F61C}"/>
              </a:ext>
            </a:extLst>
          </p:cNvPr>
          <p:cNvSpPr txBox="1"/>
          <p:nvPr/>
        </p:nvSpPr>
        <p:spPr>
          <a:xfrm>
            <a:off x="4873352" y="3352800"/>
            <a:ext cx="1615827" cy="553998"/>
          </a:xfrm>
          <a:prstGeom prst="rect">
            <a:avLst/>
          </a:prstGeom>
          <a:noFill/>
        </p:spPr>
        <p:txBody>
          <a:bodyPr wrap="none" lIns="0" tIns="0" rIns="0" bIns="0" rtlCol="0">
            <a:spAutoFit/>
          </a:bodyPr>
          <a:lstStyle/>
          <a:p>
            <a:r>
              <a:rPr lang="en-US" b="1" dirty="0">
                <a:latin typeface="Arial" panose="020B0604020202020204" pitchFamily="34" charset="0"/>
                <a:cs typeface="Arial" panose="020B0604020202020204" pitchFamily="34" charset="0"/>
              </a:rPr>
              <a:t>1-dimensional </a:t>
            </a:r>
            <a:br>
              <a:rPr lang="en-US" b="1" dirty="0">
                <a:latin typeface="Arial" panose="020B0604020202020204" pitchFamily="34" charset="0"/>
                <a:cs typeface="Arial" panose="020B0604020202020204" pitchFamily="34" charset="0"/>
              </a:rPr>
            </a:br>
            <a:r>
              <a:rPr lang="en-US" b="1" dirty="0">
                <a:latin typeface="Arial" panose="020B0604020202020204" pitchFamily="34" charset="0"/>
                <a:cs typeface="Arial" panose="020B0604020202020204" pitchFamily="34" charset="0"/>
              </a:rPr>
              <a:t>output</a:t>
            </a:r>
          </a:p>
        </p:txBody>
      </p:sp>
      <p:cxnSp>
        <p:nvCxnSpPr>
          <p:cNvPr id="43" name="Straight Arrow Connector 42">
            <a:extLst>
              <a:ext uri="{FF2B5EF4-FFF2-40B4-BE49-F238E27FC236}">
                <a16:creationId xmlns:a16="http://schemas.microsoft.com/office/drawing/2014/main" id="{02D62E6A-D6F8-1248-A016-EE1A828E7448}"/>
              </a:ext>
            </a:extLst>
          </p:cNvPr>
          <p:cNvCxnSpPr>
            <a:cxnSpLocks/>
            <a:endCxn id="40" idx="2"/>
          </p:cNvCxnSpPr>
          <p:nvPr/>
        </p:nvCxnSpPr>
        <p:spPr>
          <a:xfrm flipV="1">
            <a:off x="3801736" y="3593245"/>
            <a:ext cx="389264" cy="15319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275A4533-60CE-8345-93DB-8787095A1AA8}"/>
              </a:ext>
            </a:extLst>
          </p:cNvPr>
          <p:cNvCxnSpPr>
            <a:cxnSpLocks/>
            <a:endCxn id="40" idx="2"/>
          </p:cNvCxnSpPr>
          <p:nvPr/>
        </p:nvCxnSpPr>
        <p:spPr>
          <a:xfrm>
            <a:off x="3814499" y="3336609"/>
            <a:ext cx="376501" cy="25663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9" name="Curved Connector 48">
            <a:extLst>
              <a:ext uri="{FF2B5EF4-FFF2-40B4-BE49-F238E27FC236}">
                <a16:creationId xmlns:a16="http://schemas.microsoft.com/office/drawing/2014/main" id="{08CDABED-B43B-B54B-BC3B-0E83E2698CDF}"/>
              </a:ext>
            </a:extLst>
          </p:cNvPr>
          <p:cNvCxnSpPr>
            <a:cxnSpLocks/>
          </p:cNvCxnSpPr>
          <p:nvPr/>
        </p:nvCxnSpPr>
        <p:spPr>
          <a:xfrm>
            <a:off x="2767848" y="4011707"/>
            <a:ext cx="3866616" cy="480855"/>
          </a:xfrm>
          <a:prstGeom prst="curvedConnector3">
            <a:avLst>
              <a:gd name="adj1" fmla="val -37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9006CAEA-A790-F743-8D4C-EF02FFD60B28}"/>
                  </a:ext>
                </a:extLst>
              </p:cNvPr>
              <p:cNvSpPr txBox="1"/>
              <p:nvPr/>
            </p:nvSpPr>
            <p:spPr>
              <a:xfrm>
                <a:off x="6705600" y="4047728"/>
                <a:ext cx="2053226" cy="66999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𝑊</m:t>
                        </m:r>
                      </m:e>
                      <m:sub>
                        <m:r>
                          <a:rPr lang="en-US" b="0" i="1" smtClean="0">
                            <a:latin typeface="Cambria Math" panose="02040503050406030204" pitchFamily="18" charset="0"/>
                          </a:rPr>
                          <m:t>0</m:t>
                        </m:r>
                      </m:sub>
                    </m:sSub>
                  </m:oMath>
                </a14:m>
                <a:r>
                  <a:rPr lang="en-US" dirty="0">
                    <a:latin typeface="Arial" pitchFamily="34" charset="0"/>
                    <a:cs typeface="Arial" pitchFamily="34" charset="0"/>
                  </a:rPr>
                  <a:t> is a 2x3 matrix</a:t>
                </a:r>
              </a:p>
              <a:p>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0</m:t>
                        </m:r>
                      </m:sup>
                    </m:sSup>
                    <m:r>
                      <a:rPr lang="en-US" b="0" i="1" smtClean="0">
                        <a:latin typeface="Cambria Math" panose="02040503050406030204" pitchFamily="18" charset="0"/>
                      </a:rPr>
                      <m:t>  </m:t>
                    </m:r>
                  </m:oMath>
                </a14:m>
                <a:r>
                  <a:rPr lang="en-US" dirty="0">
                    <a:latin typeface="Arial" pitchFamily="34" charset="0"/>
                    <a:cs typeface="Arial" pitchFamily="34" charset="0"/>
                  </a:rPr>
                  <a:t>is a 2x1 vector</a:t>
                </a:r>
              </a:p>
            </p:txBody>
          </p:sp>
        </mc:Choice>
        <mc:Fallback xmlns="">
          <p:sp>
            <p:nvSpPr>
              <p:cNvPr id="53" name="TextBox 52">
                <a:extLst>
                  <a:ext uri="{FF2B5EF4-FFF2-40B4-BE49-F238E27FC236}">
                    <a16:creationId xmlns:a16="http://schemas.microsoft.com/office/drawing/2014/main" id="{9006CAEA-A790-F743-8D4C-EF02FFD60B28}"/>
                  </a:ext>
                </a:extLst>
              </p:cNvPr>
              <p:cNvSpPr txBox="1">
                <a:spLocks noRot="1" noChangeAspect="1" noMove="1" noResize="1" noEditPoints="1" noAdjustHandles="1" noChangeArrowheads="1" noChangeShapeType="1" noTextEdit="1"/>
              </p:cNvSpPr>
              <p:nvPr/>
            </p:nvSpPr>
            <p:spPr>
              <a:xfrm>
                <a:off x="6705600" y="4047728"/>
                <a:ext cx="2053226" cy="669992"/>
              </a:xfrm>
              <a:prstGeom prst="rect">
                <a:avLst/>
              </a:prstGeom>
              <a:blipFill>
                <a:blip r:embed="rId7"/>
                <a:stretch>
                  <a:fillRect b="-5172"/>
                </a:stretch>
              </a:blipFill>
            </p:spPr>
            <p:txBody>
              <a:bodyPr/>
              <a:lstStyle/>
              <a:p>
                <a:r>
                  <a:rPr lang="en-US">
                    <a:noFill/>
                  </a:rPr>
                  <a:t> </a:t>
                </a:r>
              </a:p>
            </p:txBody>
          </p:sp>
        </mc:Fallback>
      </mc:AlternateContent>
      <p:cxnSp>
        <p:nvCxnSpPr>
          <p:cNvPr id="55" name="Curved Connector 54">
            <a:extLst>
              <a:ext uri="{FF2B5EF4-FFF2-40B4-BE49-F238E27FC236}">
                <a16:creationId xmlns:a16="http://schemas.microsoft.com/office/drawing/2014/main" id="{AFF38433-BFE8-6446-AE39-558AEA2713C7}"/>
              </a:ext>
            </a:extLst>
          </p:cNvPr>
          <p:cNvCxnSpPr>
            <a:cxnSpLocks/>
          </p:cNvCxnSpPr>
          <p:nvPr/>
        </p:nvCxnSpPr>
        <p:spPr>
          <a:xfrm flipV="1">
            <a:off x="3988972" y="2810272"/>
            <a:ext cx="2259428" cy="618728"/>
          </a:xfrm>
          <a:prstGeom prst="curvedConnector3">
            <a:avLst>
              <a:gd name="adj1" fmla="val 1435"/>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D1E9C9B2-CA23-4640-8155-83F55A9F619D}"/>
                  </a:ext>
                </a:extLst>
              </p:cNvPr>
              <p:cNvSpPr txBox="1"/>
              <p:nvPr/>
            </p:nvSpPr>
            <p:spPr>
              <a:xfrm>
                <a:off x="6319514" y="2602468"/>
                <a:ext cx="2053225"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𝑊</m:t>
                        </m:r>
                      </m:e>
                      <m:sub>
                        <m:r>
                          <a:rPr lang="en-US" b="0" i="1" smtClean="0">
                            <a:latin typeface="Cambria Math" panose="02040503050406030204" pitchFamily="18" charset="0"/>
                          </a:rPr>
                          <m:t>1</m:t>
                        </m:r>
                      </m:sub>
                    </m:sSub>
                  </m:oMath>
                </a14:m>
                <a:r>
                  <a:rPr lang="en-US" dirty="0">
                    <a:latin typeface="Arial" pitchFamily="34" charset="0"/>
                    <a:cs typeface="Arial" pitchFamily="34" charset="0"/>
                  </a:rPr>
                  <a:t> is a 1x2 matrix</a:t>
                </a:r>
              </a:p>
            </p:txBody>
          </p:sp>
        </mc:Choice>
        <mc:Fallback xmlns="">
          <p:sp>
            <p:nvSpPr>
              <p:cNvPr id="63" name="TextBox 62">
                <a:extLst>
                  <a:ext uri="{FF2B5EF4-FFF2-40B4-BE49-F238E27FC236}">
                    <a16:creationId xmlns:a16="http://schemas.microsoft.com/office/drawing/2014/main" id="{D1E9C9B2-CA23-4640-8155-83F55A9F619D}"/>
                  </a:ext>
                </a:extLst>
              </p:cNvPr>
              <p:cNvSpPr txBox="1">
                <a:spLocks noRot="1" noChangeAspect="1" noMove="1" noResize="1" noEditPoints="1" noAdjustHandles="1" noChangeArrowheads="1" noChangeShapeType="1" noTextEdit="1"/>
              </p:cNvSpPr>
              <p:nvPr/>
            </p:nvSpPr>
            <p:spPr>
              <a:xfrm>
                <a:off x="6319514" y="2602468"/>
                <a:ext cx="2053225" cy="369332"/>
              </a:xfrm>
              <a:prstGeom prst="rect">
                <a:avLst/>
              </a:prstGeom>
              <a:blipFill>
                <a:blip r:embed="rId8"/>
                <a:stretch>
                  <a:fillRect t="-2941" b="-147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7BBBFDA3-DD14-604B-BBBC-71494CDAEA91}"/>
                  </a:ext>
                </a:extLst>
              </p:cNvPr>
              <p:cNvSpPr txBox="1"/>
              <p:nvPr/>
            </p:nvSpPr>
            <p:spPr>
              <a:xfrm>
                <a:off x="2880176" y="4866014"/>
                <a:ext cx="3641959" cy="361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200" i="1" smtClean="0">
                              <a:solidFill>
                                <a:schemeClr val="tx1"/>
                              </a:solidFill>
                              <a:latin typeface="Cambria Math" panose="02040503050406030204" pitchFamily="18" charset="0"/>
                            </a:rPr>
                          </m:ctrlPr>
                        </m:sSupPr>
                        <m:e>
                          <m:r>
                            <a:rPr lang="en-US" sz="2200" b="1" i="1" smtClean="0">
                              <a:solidFill>
                                <a:schemeClr val="tx1"/>
                              </a:solidFill>
                              <a:latin typeface="Cambria Math" panose="02040503050406030204" pitchFamily="18" charset="0"/>
                            </a:rPr>
                            <m:t>𝒙</m:t>
                          </m:r>
                        </m:e>
                        <m:sup>
                          <m:r>
                            <a:rPr lang="en-US" sz="2200" b="0" i="1" smtClean="0">
                              <a:solidFill>
                                <a:schemeClr val="tx1"/>
                              </a:solidFill>
                              <a:latin typeface="Cambria Math" panose="02040503050406030204" pitchFamily="18" charset="0"/>
                            </a:rPr>
                            <m:t>(</m:t>
                          </m:r>
                          <m:r>
                            <a:rPr lang="en-US" sz="2200" b="0" i="1" smtClean="0">
                              <a:solidFill>
                                <a:schemeClr val="tx1"/>
                              </a:solidFill>
                              <a:latin typeface="Cambria Math" panose="02040503050406030204" pitchFamily="18" charset="0"/>
                            </a:rPr>
                            <m:t>𝑙</m:t>
                          </m:r>
                          <m:r>
                            <a:rPr lang="en-US" sz="2200" b="0" i="1" smtClean="0">
                              <a:solidFill>
                                <a:schemeClr val="tx1"/>
                              </a:solidFill>
                              <a:latin typeface="Cambria Math" panose="02040503050406030204" pitchFamily="18" charset="0"/>
                            </a:rPr>
                            <m:t>+1)</m:t>
                          </m:r>
                        </m:sup>
                      </m:sSup>
                      <m:r>
                        <a:rPr lang="en-US" sz="2200" b="0" i="1" smtClean="0">
                          <a:solidFill>
                            <a:schemeClr val="tx1"/>
                          </a:solidFill>
                          <a:latin typeface="Cambria Math" panose="02040503050406030204" pitchFamily="18" charset="0"/>
                        </a:rPr>
                        <m:t>=</m:t>
                      </m:r>
                      <m:r>
                        <a:rPr lang="en-US" sz="2200" b="0" i="1" smtClean="0">
                          <a:solidFill>
                            <a:schemeClr val="tx1"/>
                          </a:solidFill>
                          <a:latin typeface="Cambria Math" panose="02040503050406030204" pitchFamily="18" charset="0"/>
                          <a:ea typeface="Cambria Math" panose="02040503050406030204" pitchFamily="18" charset="0"/>
                        </a:rPr>
                        <m:t>𝜎</m:t>
                      </m:r>
                      <m:r>
                        <a:rPr lang="en-US" sz="2200" b="0" i="1" smtClean="0">
                          <a:solidFill>
                            <a:schemeClr val="tx1"/>
                          </a:solidFill>
                          <a:latin typeface="Cambria Math" panose="02040503050406030204" pitchFamily="18" charset="0"/>
                          <a:ea typeface="Cambria Math" panose="02040503050406030204" pitchFamily="18" charset="0"/>
                        </a:rPr>
                        <m:t>(</m:t>
                      </m:r>
                      <m:sSup>
                        <m:sSupPr>
                          <m:ctrlPr>
                            <a:rPr lang="en-US" sz="2200" b="0" i="1" smtClean="0">
                              <a:solidFill>
                                <a:schemeClr val="tx1"/>
                              </a:solidFill>
                              <a:latin typeface="Cambria Math" panose="02040503050406030204" pitchFamily="18" charset="0"/>
                              <a:ea typeface="Cambria Math" panose="02040503050406030204" pitchFamily="18" charset="0"/>
                            </a:rPr>
                          </m:ctrlPr>
                        </m:sSupPr>
                        <m:e>
                          <m:sSub>
                            <m:sSubPr>
                              <m:ctrlPr>
                                <a:rPr lang="en-US" sz="2200" i="1">
                                  <a:solidFill>
                                    <a:schemeClr val="tx1"/>
                                  </a:solidFill>
                                  <a:latin typeface="Cambria Math" panose="02040503050406030204" pitchFamily="18" charset="0"/>
                                  <a:ea typeface="Cambria Math" panose="02040503050406030204" pitchFamily="18" charset="0"/>
                                </a:rPr>
                              </m:ctrlPr>
                            </m:sSubPr>
                            <m:e>
                              <m:r>
                                <a:rPr lang="en-US" sz="2200" i="1">
                                  <a:solidFill>
                                    <a:schemeClr val="tx1"/>
                                  </a:solidFill>
                                  <a:latin typeface="Cambria Math" panose="02040503050406030204" pitchFamily="18" charset="0"/>
                                  <a:ea typeface="Cambria Math" panose="02040503050406030204" pitchFamily="18" charset="0"/>
                                </a:rPr>
                                <m:t>𝑊</m:t>
                              </m:r>
                            </m:e>
                            <m:sub>
                              <m:r>
                                <a:rPr lang="en-US" sz="2200" i="1">
                                  <a:solidFill>
                                    <a:schemeClr val="tx1"/>
                                  </a:solidFill>
                                  <a:latin typeface="Cambria Math" panose="02040503050406030204" pitchFamily="18" charset="0"/>
                                  <a:ea typeface="Cambria Math" panose="02040503050406030204" pitchFamily="18" charset="0"/>
                                </a:rPr>
                                <m:t>𝑙</m:t>
                              </m:r>
                            </m:sub>
                          </m:sSub>
                          <m:r>
                            <a:rPr lang="en-US" sz="2200" b="1" i="1" smtClean="0">
                              <a:solidFill>
                                <a:schemeClr val="tx1"/>
                              </a:solidFill>
                              <a:latin typeface="Cambria Math" panose="02040503050406030204" pitchFamily="18" charset="0"/>
                              <a:ea typeface="Cambria Math" panose="02040503050406030204" pitchFamily="18" charset="0"/>
                            </a:rPr>
                            <m:t>𝒙</m:t>
                          </m:r>
                        </m:e>
                        <m:sup>
                          <m:d>
                            <m:dPr>
                              <m:ctrlPr>
                                <a:rPr lang="en-US" sz="2200" b="0" i="1" smtClean="0">
                                  <a:solidFill>
                                    <a:schemeClr val="tx1"/>
                                  </a:solidFill>
                                  <a:latin typeface="Cambria Math" panose="02040503050406030204" pitchFamily="18" charset="0"/>
                                  <a:ea typeface="Cambria Math" panose="02040503050406030204" pitchFamily="18" charset="0"/>
                                </a:rPr>
                              </m:ctrlPr>
                            </m:dPr>
                            <m:e>
                              <m:r>
                                <a:rPr lang="en-US" sz="2200" b="0" i="1" smtClean="0">
                                  <a:solidFill>
                                    <a:schemeClr val="tx1"/>
                                  </a:solidFill>
                                  <a:latin typeface="Cambria Math" panose="02040503050406030204" pitchFamily="18" charset="0"/>
                                  <a:ea typeface="Cambria Math" panose="02040503050406030204" pitchFamily="18" charset="0"/>
                                </a:rPr>
                                <m:t>𝑙</m:t>
                              </m:r>
                            </m:e>
                          </m:d>
                        </m:sup>
                      </m:sSup>
                      <m:r>
                        <a:rPr lang="en-US" sz="2200" b="0" i="1" smtClean="0">
                          <a:solidFill>
                            <a:schemeClr val="tx1"/>
                          </a:solidFill>
                          <a:latin typeface="Cambria Math" panose="02040503050406030204" pitchFamily="18" charset="0"/>
                          <a:ea typeface="Cambria Math" panose="02040503050406030204" pitchFamily="18" charset="0"/>
                        </a:rPr>
                        <m:t>+</m:t>
                      </m:r>
                      <m:sSup>
                        <m:sSupPr>
                          <m:ctrlPr>
                            <a:rPr lang="en-US" sz="2200" b="0" i="1" smtClean="0">
                              <a:solidFill>
                                <a:schemeClr val="tx1"/>
                              </a:solidFill>
                              <a:latin typeface="Cambria Math" panose="02040503050406030204" pitchFamily="18" charset="0"/>
                              <a:ea typeface="Cambria Math" panose="02040503050406030204" pitchFamily="18" charset="0"/>
                            </a:rPr>
                          </m:ctrlPr>
                        </m:sSupPr>
                        <m:e>
                          <m:r>
                            <a:rPr lang="en-US" sz="2200" b="0" i="1" smtClean="0">
                              <a:solidFill>
                                <a:schemeClr val="tx1"/>
                              </a:solidFill>
                              <a:latin typeface="Cambria Math" panose="02040503050406030204" pitchFamily="18" charset="0"/>
                              <a:ea typeface="Cambria Math" panose="02040503050406030204" pitchFamily="18" charset="0"/>
                            </a:rPr>
                            <m:t>𝑏</m:t>
                          </m:r>
                        </m:e>
                        <m:sup>
                          <m:r>
                            <a:rPr lang="en-US" sz="2200" b="0" i="1" smtClean="0">
                              <a:solidFill>
                                <a:schemeClr val="tx1"/>
                              </a:solidFill>
                              <a:latin typeface="Cambria Math" panose="02040503050406030204" pitchFamily="18" charset="0"/>
                              <a:ea typeface="Cambria Math" panose="02040503050406030204" pitchFamily="18" charset="0"/>
                            </a:rPr>
                            <m:t>𝑙</m:t>
                          </m:r>
                        </m:sup>
                      </m:sSup>
                      <m:r>
                        <a:rPr lang="en-US" sz="2200" b="0" i="1" smtClean="0">
                          <a:solidFill>
                            <a:schemeClr val="tx1"/>
                          </a:solidFill>
                          <a:latin typeface="Cambria Math" panose="02040503050406030204" pitchFamily="18" charset="0"/>
                          <a:ea typeface="Cambria Math" panose="02040503050406030204" pitchFamily="18" charset="0"/>
                        </a:rPr>
                        <m:t>)</m:t>
                      </m:r>
                    </m:oMath>
                  </m:oMathPara>
                </a14:m>
                <a:endParaRPr lang="en-US" sz="2200" dirty="0">
                  <a:solidFill>
                    <a:schemeClr val="tx1"/>
                  </a:solidFill>
                </a:endParaRPr>
              </a:p>
            </p:txBody>
          </p:sp>
        </mc:Choice>
        <mc:Fallback xmlns="">
          <p:sp>
            <p:nvSpPr>
              <p:cNvPr id="70" name="TextBox 69">
                <a:extLst>
                  <a:ext uri="{FF2B5EF4-FFF2-40B4-BE49-F238E27FC236}">
                    <a16:creationId xmlns:a16="http://schemas.microsoft.com/office/drawing/2014/main" id="{7BBBFDA3-DD14-604B-BBBC-71494CDAEA91}"/>
                  </a:ext>
                </a:extLst>
              </p:cNvPr>
              <p:cNvSpPr txBox="1">
                <a:spLocks noRot="1" noChangeAspect="1" noMove="1" noResize="1" noEditPoints="1" noAdjustHandles="1" noChangeArrowheads="1" noChangeShapeType="1" noTextEdit="1"/>
              </p:cNvSpPr>
              <p:nvPr/>
            </p:nvSpPr>
            <p:spPr>
              <a:xfrm>
                <a:off x="2880176" y="4866014"/>
                <a:ext cx="3641959" cy="361509"/>
              </a:xfrm>
              <a:prstGeom prst="rect">
                <a:avLst/>
              </a:prstGeom>
              <a:blipFill>
                <a:blip r:embed="rId9"/>
                <a:stretch>
                  <a:fillRect b="-34483"/>
                </a:stretch>
              </a:blipFill>
            </p:spPr>
            <p:txBody>
              <a:bodyPr/>
              <a:lstStyle/>
              <a:p>
                <a:r>
                  <a:rPr lang="en-US">
                    <a:noFill/>
                  </a:rPr>
                  <a:t> </a:t>
                </a:r>
              </a:p>
            </p:txBody>
          </p:sp>
        </mc:Fallback>
      </mc:AlternateContent>
    </p:spTree>
    <p:extLst>
      <p:ext uri="{BB962C8B-B14F-4D97-AF65-F5344CB8AC3E}">
        <p14:creationId xmlns:p14="http://schemas.microsoft.com/office/powerpoint/2010/main" val="13560623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53A8A-28DA-1248-B9C6-93D8601021BD}"/>
              </a:ext>
            </a:extLst>
          </p:cNvPr>
          <p:cNvSpPr>
            <a:spLocks noGrp="1"/>
          </p:cNvSpPr>
          <p:nvPr>
            <p:ph type="title"/>
          </p:nvPr>
        </p:nvSpPr>
        <p:spPr/>
        <p:txBody>
          <a:bodyPr/>
          <a:lstStyle/>
          <a:p>
            <a:r>
              <a:rPr lang="en-US" dirty="0"/>
              <a:t>Neural Network: A Layer</a:t>
            </a:r>
          </a:p>
        </p:txBody>
      </p:sp>
      <p:sp>
        <p:nvSpPr>
          <p:cNvPr id="3" name="Content Placeholder 2">
            <a:extLst>
              <a:ext uri="{FF2B5EF4-FFF2-40B4-BE49-F238E27FC236}">
                <a16:creationId xmlns:a16="http://schemas.microsoft.com/office/drawing/2014/main" id="{D352CE8A-2E53-E84A-B6EA-FEAD71A18CC4}"/>
              </a:ext>
            </a:extLst>
          </p:cNvPr>
          <p:cNvSpPr>
            <a:spLocks noGrp="1"/>
          </p:cNvSpPr>
          <p:nvPr>
            <p:ph idx="1"/>
          </p:nvPr>
        </p:nvSpPr>
        <p:spPr/>
        <p:txBody>
          <a:bodyPr>
            <a:normAutofit/>
          </a:bodyPr>
          <a:lstStyle/>
          <a:p>
            <a:r>
              <a:rPr lang="en-US" sz="2800" dirty="0"/>
              <a:t>This network computes</a:t>
            </a:r>
          </a:p>
          <a:p>
            <a:endParaRPr lang="en-US" sz="2800" dirty="0"/>
          </a:p>
          <a:p>
            <a:endParaRPr lang="en-US" dirty="0"/>
          </a:p>
          <a:p>
            <a:endParaRPr lang="en-US" dirty="0"/>
          </a:p>
          <a:p>
            <a:endParaRPr lang="en-US" dirty="0"/>
          </a:p>
          <a:p>
            <a:endParaRPr lang="en-US" dirty="0"/>
          </a:p>
          <a:p>
            <a:endParaRPr lang="en-US" dirty="0"/>
          </a:p>
          <a:p>
            <a:endParaRPr lang="en-US" dirty="0"/>
          </a:p>
          <a:p>
            <a:r>
              <a:rPr lang="en-US" sz="2200" dirty="0"/>
              <a:t>Notice without activation functions, </a:t>
            </a:r>
            <a:r>
              <a:rPr lang="en-US" sz="2200" i="1" dirty="0"/>
              <a:t>f(x) will be linear in x</a:t>
            </a:r>
            <a:r>
              <a:rPr lang="en-US" sz="2200" dirty="0"/>
              <a:t> !!</a:t>
            </a:r>
          </a:p>
        </p:txBody>
      </p:sp>
      <p:sp>
        <p:nvSpPr>
          <p:cNvPr id="4" name="Date Placeholder 3">
            <a:extLst>
              <a:ext uri="{FF2B5EF4-FFF2-40B4-BE49-F238E27FC236}">
                <a16:creationId xmlns:a16="http://schemas.microsoft.com/office/drawing/2014/main" id="{4EDAB038-9FB3-D94A-9DCD-A28D77A3A647}"/>
              </a:ext>
            </a:extLst>
          </p:cNvPr>
          <p:cNvSpPr>
            <a:spLocks noGrp="1"/>
          </p:cNvSpPr>
          <p:nvPr>
            <p:ph type="dt" sz="half" idx="10"/>
          </p:nvPr>
        </p:nvSpPr>
        <p:spPr/>
        <p:txBody>
          <a:bodyPr/>
          <a:lstStyle/>
          <a:p>
            <a:fld id="{3409F950-AF31-844D-B60D-9D0CE4B832D6}" type="datetime1">
              <a:rPr lang="en-US" smtClean="0"/>
              <a:t>11/3/24</a:t>
            </a:fld>
            <a:endParaRPr lang="en-US"/>
          </a:p>
        </p:txBody>
      </p:sp>
      <p:sp>
        <p:nvSpPr>
          <p:cNvPr id="5" name="Footer Placeholder 4">
            <a:extLst>
              <a:ext uri="{FF2B5EF4-FFF2-40B4-BE49-F238E27FC236}">
                <a16:creationId xmlns:a16="http://schemas.microsoft.com/office/drawing/2014/main" id="{6CC26974-0610-E54C-B435-EA6278C7F144}"/>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397A0144-1334-4D4B-82C0-94248952E3E5}"/>
              </a:ext>
            </a:extLst>
          </p:cNvPr>
          <p:cNvSpPr>
            <a:spLocks noGrp="1"/>
          </p:cNvSpPr>
          <p:nvPr>
            <p:ph type="sldNum" sz="quarter" idx="12"/>
          </p:nvPr>
        </p:nvSpPr>
        <p:spPr/>
        <p:txBody>
          <a:bodyPr/>
          <a:lstStyle/>
          <a:p>
            <a:fld id="{19B12225-5612-419B-A8D5-4B8EEE4C217E}" type="slidenum">
              <a:rPr lang="en-US" smtClean="0"/>
              <a:pPr/>
              <a:t>29</a:t>
            </a:fld>
            <a:endParaRPr lang="en-US"/>
          </a:p>
        </p:txBody>
      </p:sp>
      <p:sp>
        <p:nvSpPr>
          <p:cNvPr id="8" name="Oval 7">
            <a:extLst>
              <a:ext uri="{FF2B5EF4-FFF2-40B4-BE49-F238E27FC236}">
                <a16:creationId xmlns:a16="http://schemas.microsoft.com/office/drawing/2014/main" id="{49D2CDAE-BC0C-B242-9240-EB129960376E}"/>
              </a:ext>
            </a:extLst>
          </p:cNvPr>
          <p:cNvSpPr/>
          <p:nvPr/>
        </p:nvSpPr>
        <p:spPr>
          <a:xfrm>
            <a:off x="3539168" y="3205252"/>
            <a:ext cx="252248" cy="252248"/>
          </a:xfrm>
          <a:prstGeom prst="ellipse">
            <a:avLst/>
          </a:prstGeom>
          <a:solidFill>
            <a:srgbClr val="00B0F0"/>
          </a:solidFill>
          <a:ln w="25400" cmpd="sng">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Oval 8">
            <a:extLst>
              <a:ext uri="{FF2B5EF4-FFF2-40B4-BE49-F238E27FC236}">
                <a16:creationId xmlns:a16="http://schemas.microsoft.com/office/drawing/2014/main" id="{4C09467A-75B2-4D48-B2B2-B6CB40E74001}"/>
              </a:ext>
            </a:extLst>
          </p:cNvPr>
          <p:cNvSpPr/>
          <p:nvPr/>
        </p:nvSpPr>
        <p:spPr>
          <a:xfrm>
            <a:off x="3539168" y="3658746"/>
            <a:ext cx="252248" cy="252248"/>
          </a:xfrm>
          <a:prstGeom prst="ellipse">
            <a:avLst/>
          </a:prstGeom>
          <a:solidFill>
            <a:srgbClr val="00B0F0"/>
          </a:solidFill>
          <a:ln w="25400" cmpd="sng">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83A71309-6C08-8B45-AA64-7392960167A5}"/>
              </a:ext>
            </a:extLst>
          </p:cNvPr>
          <p:cNvCxnSpPr>
            <a:stCxn id="11" idx="6"/>
            <a:endCxn id="8" idx="2"/>
          </p:cNvCxnSpPr>
          <p:nvPr/>
        </p:nvCxnSpPr>
        <p:spPr>
          <a:xfrm>
            <a:off x="2109761" y="3146595"/>
            <a:ext cx="1429407" cy="18478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E2BE65D8-CE67-594E-BFF1-9358C0D2BBE1}"/>
              </a:ext>
            </a:extLst>
          </p:cNvPr>
          <p:cNvCxnSpPr>
            <a:cxnSpLocks/>
            <a:stCxn id="12" idx="6"/>
            <a:endCxn id="9" idx="2"/>
          </p:cNvCxnSpPr>
          <p:nvPr/>
        </p:nvCxnSpPr>
        <p:spPr>
          <a:xfrm>
            <a:off x="2109761" y="3608418"/>
            <a:ext cx="1429407" cy="17645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DD16D614-1EB8-164C-B56E-9F6BF56CCCB0}"/>
              </a:ext>
            </a:extLst>
          </p:cNvPr>
          <p:cNvCxnSpPr>
            <a:cxnSpLocks/>
            <a:stCxn id="20" idx="7"/>
            <a:endCxn id="9" idx="3"/>
          </p:cNvCxnSpPr>
          <p:nvPr/>
        </p:nvCxnSpPr>
        <p:spPr>
          <a:xfrm flipV="1">
            <a:off x="2072820" y="3874053"/>
            <a:ext cx="1503289" cy="1376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919F97EA-0666-1E46-B88A-D78E21870241}"/>
              </a:ext>
            </a:extLst>
          </p:cNvPr>
          <p:cNvCxnSpPr>
            <a:cxnSpLocks/>
            <a:stCxn id="20" idx="7"/>
          </p:cNvCxnSpPr>
          <p:nvPr/>
        </p:nvCxnSpPr>
        <p:spPr>
          <a:xfrm flipV="1">
            <a:off x="2072820" y="3419204"/>
            <a:ext cx="1486048" cy="59250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047C11EC-00A5-604A-8123-F18ED40620CB}"/>
              </a:ext>
            </a:extLst>
          </p:cNvPr>
          <p:cNvCxnSpPr>
            <a:cxnSpLocks/>
            <a:stCxn id="12" idx="6"/>
          </p:cNvCxnSpPr>
          <p:nvPr/>
        </p:nvCxnSpPr>
        <p:spPr>
          <a:xfrm flipV="1">
            <a:off x="2109761" y="3393096"/>
            <a:ext cx="1397466" cy="21532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ADBEE999-F514-D441-81EB-57C4B3252382}"/>
              </a:ext>
            </a:extLst>
          </p:cNvPr>
          <p:cNvCxnSpPr>
            <a:cxnSpLocks/>
            <a:stCxn id="11" idx="6"/>
            <a:endCxn id="9" idx="0"/>
          </p:cNvCxnSpPr>
          <p:nvPr/>
        </p:nvCxnSpPr>
        <p:spPr>
          <a:xfrm>
            <a:off x="2109761" y="3146595"/>
            <a:ext cx="1555531" cy="51215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nvGrpSpPr>
          <p:cNvPr id="64" name="Group 63">
            <a:extLst>
              <a:ext uri="{FF2B5EF4-FFF2-40B4-BE49-F238E27FC236}">
                <a16:creationId xmlns:a16="http://schemas.microsoft.com/office/drawing/2014/main" id="{BDD92AB7-A43A-7142-8AD9-206F6A8BD36D}"/>
              </a:ext>
            </a:extLst>
          </p:cNvPr>
          <p:cNvGrpSpPr/>
          <p:nvPr/>
        </p:nvGrpSpPr>
        <p:grpSpPr>
          <a:xfrm>
            <a:off x="1219200" y="2743200"/>
            <a:ext cx="990600" cy="1752600"/>
            <a:chOff x="2286000" y="2743200"/>
            <a:chExt cx="990600" cy="1752600"/>
          </a:xfrm>
        </p:grpSpPr>
        <p:sp>
          <p:nvSpPr>
            <p:cNvPr id="11" name="Oval 10">
              <a:extLst>
                <a:ext uri="{FF2B5EF4-FFF2-40B4-BE49-F238E27FC236}">
                  <a16:creationId xmlns:a16="http://schemas.microsoft.com/office/drawing/2014/main" id="{24C93111-B4F3-444A-A15A-A081B50D7C01}"/>
                </a:ext>
              </a:extLst>
            </p:cNvPr>
            <p:cNvSpPr/>
            <p:nvPr/>
          </p:nvSpPr>
          <p:spPr>
            <a:xfrm>
              <a:off x="2924313" y="3020471"/>
              <a:ext cx="252248" cy="252248"/>
            </a:xfrm>
            <a:prstGeom prst="ellipse">
              <a:avLst/>
            </a:prstGeom>
            <a:ln w="25400" cmpd="sng">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Oval 11">
              <a:extLst>
                <a:ext uri="{FF2B5EF4-FFF2-40B4-BE49-F238E27FC236}">
                  <a16:creationId xmlns:a16="http://schemas.microsoft.com/office/drawing/2014/main" id="{D41509F8-873C-1447-97DE-ECFEEA703AEF}"/>
                </a:ext>
              </a:extLst>
            </p:cNvPr>
            <p:cNvSpPr/>
            <p:nvPr/>
          </p:nvSpPr>
          <p:spPr>
            <a:xfrm>
              <a:off x="2924313" y="3482294"/>
              <a:ext cx="252248" cy="252248"/>
            </a:xfrm>
            <a:prstGeom prst="ellipse">
              <a:avLst/>
            </a:prstGeom>
            <a:ln w="25400" cmpd="sng">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FD56257E-3D26-4D4E-B8A8-5FA9C8398C1E}"/>
                </a:ext>
              </a:extLst>
            </p:cNvPr>
            <p:cNvCxnSpPr>
              <a:cxnSpLocks/>
            </p:cNvCxnSpPr>
            <p:nvPr/>
          </p:nvCxnSpPr>
          <p:spPr>
            <a:xfrm>
              <a:off x="2624275" y="3137136"/>
              <a:ext cx="318266" cy="315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CB8288FE-E825-6E46-A226-863A74A1264D}"/>
                </a:ext>
              </a:extLst>
            </p:cNvPr>
            <p:cNvCxnSpPr>
              <a:cxnSpLocks/>
            </p:cNvCxnSpPr>
            <p:nvPr/>
          </p:nvCxnSpPr>
          <p:spPr>
            <a:xfrm>
              <a:off x="2639056" y="3616647"/>
              <a:ext cx="318266" cy="315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E4FB482-FD6C-2148-A9D5-8146A95832C1}"/>
                    </a:ext>
                  </a:extLst>
                </p:cNvPr>
                <p:cNvSpPr txBox="1"/>
                <p:nvPr/>
              </p:nvSpPr>
              <p:spPr>
                <a:xfrm>
                  <a:off x="2292017" y="2962506"/>
                  <a:ext cx="26968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endParaRPr lang="en-US" dirty="0"/>
                </a:p>
              </p:txBody>
            </p:sp>
          </mc:Choice>
          <mc:Fallback xmlns="">
            <p:sp>
              <p:nvSpPr>
                <p:cNvPr id="18" name="TextBox 17">
                  <a:extLst>
                    <a:ext uri="{FF2B5EF4-FFF2-40B4-BE49-F238E27FC236}">
                      <a16:creationId xmlns:a16="http://schemas.microsoft.com/office/drawing/2014/main" id="{2E4FB482-FD6C-2148-A9D5-8146A95832C1}"/>
                    </a:ext>
                  </a:extLst>
                </p:cNvPr>
                <p:cNvSpPr txBox="1">
                  <a:spLocks noRot="1" noChangeAspect="1" noMove="1" noResize="1" noEditPoints="1" noAdjustHandles="1" noChangeArrowheads="1" noChangeShapeType="1" noTextEdit="1"/>
                </p:cNvSpPr>
                <p:nvPr/>
              </p:nvSpPr>
              <p:spPr>
                <a:xfrm>
                  <a:off x="2292017" y="2962506"/>
                  <a:ext cx="269689" cy="276999"/>
                </a:xfrm>
                <a:prstGeom prst="rect">
                  <a:avLst/>
                </a:prstGeom>
                <a:blipFill>
                  <a:blip r:embed="rId3"/>
                  <a:stretch>
                    <a:fillRect l="-13636" r="-9091"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EDF982C-DFF2-C64C-92AB-30248557EB05}"/>
                    </a:ext>
                  </a:extLst>
                </p:cNvPr>
                <p:cNvSpPr txBox="1"/>
                <p:nvPr/>
              </p:nvSpPr>
              <p:spPr>
                <a:xfrm>
                  <a:off x="2292019" y="3450982"/>
                  <a:ext cx="27501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endParaRPr lang="en-US" dirty="0"/>
                </a:p>
              </p:txBody>
            </p:sp>
          </mc:Choice>
          <mc:Fallback xmlns="">
            <p:sp>
              <p:nvSpPr>
                <p:cNvPr id="19" name="TextBox 18">
                  <a:extLst>
                    <a:ext uri="{FF2B5EF4-FFF2-40B4-BE49-F238E27FC236}">
                      <a16:creationId xmlns:a16="http://schemas.microsoft.com/office/drawing/2014/main" id="{1EDF982C-DFF2-C64C-92AB-30248557EB05}"/>
                    </a:ext>
                  </a:extLst>
                </p:cNvPr>
                <p:cNvSpPr txBox="1">
                  <a:spLocks noRot="1" noChangeAspect="1" noMove="1" noResize="1" noEditPoints="1" noAdjustHandles="1" noChangeArrowheads="1" noChangeShapeType="1" noTextEdit="1"/>
                </p:cNvSpPr>
                <p:nvPr/>
              </p:nvSpPr>
              <p:spPr>
                <a:xfrm>
                  <a:off x="2292019" y="3450982"/>
                  <a:ext cx="275011" cy="276999"/>
                </a:xfrm>
                <a:prstGeom prst="rect">
                  <a:avLst/>
                </a:prstGeom>
                <a:blipFill>
                  <a:blip r:embed="rId4"/>
                  <a:stretch>
                    <a:fillRect l="-13043" r="-4348" b="-13043"/>
                  </a:stretch>
                </a:blipFill>
              </p:spPr>
              <p:txBody>
                <a:bodyPr/>
                <a:lstStyle/>
                <a:p>
                  <a:r>
                    <a:rPr lang="en-US">
                      <a:noFill/>
                    </a:rPr>
                    <a:t> </a:t>
                  </a:r>
                </a:p>
              </p:txBody>
            </p:sp>
          </mc:Fallback>
        </mc:AlternateContent>
        <p:sp>
          <p:nvSpPr>
            <p:cNvPr id="20" name="Oval 19">
              <a:extLst>
                <a:ext uri="{FF2B5EF4-FFF2-40B4-BE49-F238E27FC236}">
                  <a16:creationId xmlns:a16="http://schemas.microsoft.com/office/drawing/2014/main" id="{0F55D453-2445-8A4B-904B-0D396702774B}"/>
                </a:ext>
              </a:extLst>
            </p:cNvPr>
            <p:cNvSpPr/>
            <p:nvPr/>
          </p:nvSpPr>
          <p:spPr>
            <a:xfrm>
              <a:off x="2924313" y="3974766"/>
              <a:ext cx="252248" cy="252248"/>
            </a:xfrm>
            <a:prstGeom prst="ellipse">
              <a:avLst/>
            </a:prstGeom>
            <a:ln w="25400" cmpd="sng">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403E194B-66CB-764F-9E8E-046A1B904544}"/>
                </a:ext>
              </a:extLst>
            </p:cNvPr>
            <p:cNvCxnSpPr>
              <a:cxnSpLocks/>
            </p:cNvCxnSpPr>
            <p:nvPr/>
          </p:nvCxnSpPr>
          <p:spPr>
            <a:xfrm>
              <a:off x="2633037" y="4079666"/>
              <a:ext cx="318266" cy="315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BF5565A-AA2B-9C4E-AF9D-5C8F5E4C2F62}"/>
                    </a:ext>
                  </a:extLst>
                </p:cNvPr>
                <p:cNvSpPr txBox="1"/>
                <p:nvPr/>
              </p:nvSpPr>
              <p:spPr>
                <a:xfrm>
                  <a:off x="2286000" y="3914001"/>
                  <a:ext cx="27501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m:oMathPara>
                  </a14:m>
                  <a:endParaRPr lang="en-US" dirty="0"/>
                </a:p>
              </p:txBody>
            </p:sp>
          </mc:Choice>
          <mc:Fallback xmlns="">
            <p:sp>
              <p:nvSpPr>
                <p:cNvPr id="22" name="TextBox 21">
                  <a:extLst>
                    <a:ext uri="{FF2B5EF4-FFF2-40B4-BE49-F238E27FC236}">
                      <a16:creationId xmlns:a16="http://schemas.microsoft.com/office/drawing/2014/main" id="{0BF5565A-AA2B-9C4E-AF9D-5C8F5E4C2F62}"/>
                    </a:ext>
                  </a:extLst>
                </p:cNvPr>
                <p:cNvSpPr txBox="1">
                  <a:spLocks noRot="1" noChangeAspect="1" noMove="1" noResize="1" noEditPoints="1" noAdjustHandles="1" noChangeArrowheads="1" noChangeShapeType="1" noTextEdit="1"/>
                </p:cNvSpPr>
                <p:nvPr/>
              </p:nvSpPr>
              <p:spPr>
                <a:xfrm>
                  <a:off x="2286000" y="3914001"/>
                  <a:ext cx="275011" cy="276999"/>
                </a:xfrm>
                <a:prstGeom prst="rect">
                  <a:avLst/>
                </a:prstGeom>
                <a:blipFill>
                  <a:blip r:embed="rId5"/>
                  <a:stretch>
                    <a:fillRect l="-13636" r="-9091" b="-13043"/>
                  </a:stretch>
                </a:blipFill>
              </p:spPr>
              <p:txBody>
                <a:bodyPr/>
                <a:lstStyle/>
                <a:p>
                  <a:r>
                    <a:rPr lang="en-US">
                      <a:noFill/>
                    </a:rPr>
                    <a:t> </a:t>
                  </a:r>
                </a:p>
              </p:txBody>
            </p:sp>
          </mc:Fallback>
        </mc:AlternateContent>
        <p:sp>
          <p:nvSpPr>
            <p:cNvPr id="36" name="Rounded Rectangle 35">
              <a:extLst>
                <a:ext uri="{FF2B5EF4-FFF2-40B4-BE49-F238E27FC236}">
                  <a16:creationId xmlns:a16="http://schemas.microsoft.com/office/drawing/2014/main" id="{E2656F58-BE7B-9D4E-AEE5-6B95B9E9C827}"/>
                </a:ext>
              </a:extLst>
            </p:cNvPr>
            <p:cNvSpPr/>
            <p:nvPr/>
          </p:nvSpPr>
          <p:spPr>
            <a:xfrm>
              <a:off x="2783408" y="2743200"/>
              <a:ext cx="493192" cy="1752600"/>
            </a:xfrm>
            <a:prstGeom prst="round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sp>
        <p:nvSpPr>
          <p:cNvPr id="37" name="TextBox 36">
            <a:extLst>
              <a:ext uri="{FF2B5EF4-FFF2-40B4-BE49-F238E27FC236}">
                <a16:creationId xmlns:a16="http://schemas.microsoft.com/office/drawing/2014/main" id="{47AAF639-6C8B-6F47-B521-67B8246D9506}"/>
              </a:ext>
            </a:extLst>
          </p:cNvPr>
          <p:cNvSpPr txBox="1"/>
          <p:nvPr/>
        </p:nvSpPr>
        <p:spPr>
          <a:xfrm>
            <a:off x="1328241" y="2354774"/>
            <a:ext cx="1439607" cy="369332"/>
          </a:xfrm>
          <a:prstGeom prst="rect">
            <a:avLst/>
          </a:prstGeom>
          <a:noFill/>
        </p:spPr>
        <p:txBody>
          <a:bodyPr wrap="square" rtlCol="0">
            <a:spAutoFit/>
          </a:bodyPr>
          <a:lstStyle/>
          <a:p>
            <a:r>
              <a:rPr lang="en-US" dirty="0">
                <a:solidFill>
                  <a:srgbClr val="008000"/>
                </a:solidFill>
                <a:latin typeface="Arial" pitchFamily="34" charset="0"/>
                <a:cs typeface="Arial" pitchFamily="34" charset="0"/>
              </a:rPr>
              <a:t>Input layer</a:t>
            </a:r>
          </a:p>
        </p:txBody>
      </p:sp>
      <p:sp>
        <p:nvSpPr>
          <p:cNvPr id="38" name="Rounded Rectangle 37">
            <a:extLst>
              <a:ext uri="{FF2B5EF4-FFF2-40B4-BE49-F238E27FC236}">
                <a16:creationId xmlns:a16="http://schemas.microsoft.com/office/drawing/2014/main" id="{53B87FE5-BCED-634F-9E09-21351312BFD2}"/>
              </a:ext>
            </a:extLst>
          </p:cNvPr>
          <p:cNvSpPr/>
          <p:nvPr/>
        </p:nvSpPr>
        <p:spPr>
          <a:xfrm>
            <a:off x="3505200" y="3020471"/>
            <a:ext cx="347032" cy="1080419"/>
          </a:xfrm>
          <a:prstGeom prst="roundRect">
            <a:avLst/>
          </a:prstGeom>
          <a:ln w="38100">
            <a:solidFill>
              <a:srgbClr val="0000FF"/>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9" name="TextBox 38">
            <a:extLst>
              <a:ext uri="{FF2B5EF4-FFF2-40B4-BE49-F238E27FC236}">
                <a16:creationId xmlns:a16="http://schemas.microsoft.com/office/drawing/2014/main" id="{32F31C0D-AF43-E94E-85C2-C40C3F010EAC}"/>
              </a:ext>
            </a:extLst>
          </p:cNvPr>
          <p:cNvSpPr txBox="1"/>
          <p:nvPr/>
        </p:nvSpPr>
        <p:spPr>
          <a:xfrm>
            <a:off x="3343530" y="2214561"/>
            <a:ext cx="1085339" cy="646331"/>
          </a:xfrm>
          <a:prstGeom prst="rect">
            <a:avLst/>
          </a:prstGeom>
          <a:noFill/>
          <a:ln>
            <a:noFill/>
          </a:ln>
        </p:spPr>
        <p:txBody>
          <a:bodyPr wrap="square" rtlCol="0">
            <a:spAutoFit/>
          </a:bodyPr>
          <a:lstStyle/>
          <a:p>
            <a:r>
              <a:rPr lang="en-US" dirty="0">
                <a:solidFill>
                  <a:srgbClr val="0000FF"/>
                </a:solidFill>
                <a:latin typeface="Arial" pitchFamily="34" charset="0"/>
                <a:cs typeface="Arial" pitchFamily="34" charset="0"/>
              </a:rPr>
              <a:t>hidden</a:t>
            </a:r>
          </a:p>
          <a:p>
            <a:r>
              <a:rPr lang="en-US" dirty="0">
                <a:solidFill>
                  <a:srgbClr val="0000FF"/>
                </a:solidFill>
                <a:latin typeface="Arial" pitchFamily="34" charset="0"/>
                <a:cs typeface="Arial" pitchFamily="34" charset="0"/>
              </a:rPr>
              <a:t> layer</a:t>
            </a:r>
          </a:p>
        </p:txBody>
      </p:sp>
      <p:sp>
        <p:nvSpPr>
          <p:cNvPr id="40" name="Oval 39">
            <a:extLst>
              <a:ext uri="{FF2B5EF4-FFF2-40B4-BE49-F238E27FC236}">
                <a16:creationId xmlns:a16="http://schemas.microsoft.com/office/drawing/2014/main" id="{81A315A4-792E-474F-984E-4A9E9DDD6592}"/>
              </a:ext>
            </a:extLst>
          </p:cNvPr>
          <p:cNvSpPr/>
          <p:nvPr/>
        </p:nvSpPr>
        <p:spPr>
          <a:xfrm>
            <a:off x="4191000" y="3467121"/>
            <a:ext cx="252248" cy="252248"/>
          </a:xfrm>
          <a:prstGeom prst="ellipse">
            <a:avLst/>
          </a:prstGeom>
          <a:ln w="25400" cmpd="sng">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41" name="Straight Arrow Connector 40">
            <a:extLst>
              <a:ext uri="{FF2B5EF4-FFF2-40B4-BE49-F238E27FC236}">
                <a16:creationId xmlns:a16="http://schemas.microsoft.com/office/drawing/2014/main" id="{3BEA64CA-E724-374C-BED4-426A51D94322}"/>
              </a:ext>
            </a:extLst>
          </p:cNvPr>
          <p:cNvCxnSpPr>
            <a:cxnSpLocks/>
          </p:cNvCxnSpPr>
          <p:nvPr/>
        </p:nvCxnSpPr>
        <p:spPr>
          <a:xfrm>
            <a:off x="4495800" y="3593245"/>
            <a:ext cx="318266" cy="315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FFE33347-CAB0-E145-B8A1-B4EC4506F61C}"/>
              </a:ext>
            </a:extLst>
          </p:cNvPr>
          <p:cNvSpPr txBox="1"/>
          <p:nvPr/>
        </p:nvSpPr>
        <p:spPr>
          <a:xfrm>
            <a:off x="4873352" y="3352800"/>
            <a:ext cx="1615827" cy="553998"/>
          </a:xfrm>
          <a:prstGeom prst="rect">
            <a:avLst/>
          </a:prstGeom>
          <a:noFill/>
        </p:spPr>
        <p:txBody>
          <a:bodyPr wrap="none" lIns="0" tIns="0" rIns="0" bIns="0" rtlCol="0">
            <a:spAutoFit/>
          </a:bodyPr>
          <a:lstStyle/>
          <a:p>
            <a:r>
              <a:rPr lang="en-US" b="1">
                <a:latin typeface="Arial" panose="020B0604020202020204" pitchFamily="34" charset="0"/>
                <a:cs typeface="Arial" panose="020B0604020202020204" pitchFamily="34" charset="0"/>
              </a:rPr>
              <a:t>1-dimensional </a:t>
            </a:r>
            <a:br>
              <a:rPr lang="en-US" b="1">
                <a:latin typeface="Arial" panose="020B0604020202020204" pitchFamily="34" charset="0"/>
                <a:cs typeface="Arial" panose="020B0604020202020204" pitchFamily="34" charset="0"/>
              </a:rPr>
            </a:br>
            <a:r>
              <a:rPr lang="en-US" b="1">
                <a:latin typeface="Arial" panose="020B0604020202020204" pitchFamily="34" charset="0"/>
                <a:cs typeface="Arial" panose="020B0604020202020204" pitchFamily="34" charset="0"/>
              </a:rPr>
              <a:t>output</a:t>
            </a:r>
          </a:p>
        </p:txBody>
      </p:sp>
      <p:cxnSp>
        <p:nvCxnSpPr>
          <p:cNvPr id="43" name="Straight Arrow Connector 42">
            <a:extLst>
              <a:ext uri="{FF2B5EF4-FFF2-40B4-BE49-F238E27FC236}">
                <a16:creationId xmlns:a16="http://schemas.microsoft.com/office/drawing/2014/main" id="{02D62E6A-D6F8-1248-A016-EE1A828E7448}"/>
              </a:ext>
            </a:extLst>
          </p:cNvPr>
          <p:cNvCxnSpPr>
            <a:cxnSpLocks/>
            <a:endCxn id="40" idx="2"/>
          </p:cNvCxnSpPr>
          <p:nvPr/>
        </p:nvCxnSpPr>
        <p:spPr>
          <a:xfrm flipV="1">
            <a:off x="3801736" y="3593245"/>
            <a:ext cx="389264" cy="15319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275A4533-60CE-8345-93DB-8787095A1AA8}"/>
              </a:ext>
            </a:extLst>
          </p:cNvPr>
          <p:cNvCxnSpPr>
            <a:cxnSpLocks/>
            <a:endCxn id="40" idx="2"/>
          </p:cNvCxnSpPr>
          <p:nvPr/>
        </p:nvCxnSpPr>
        <p:spPr>
          <a:xfrm>
            <a:off x="3814499" y="3336609"/>
            <a:ext cx="376501" cy="25663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9" name="Curved Connector 48">
            <a:extLst>
              <a:ext uri="{FF2B5EF4-FFF2-40B4-BE49-F238E27FC236}">
                <a16:creationId xmlns:a16="http://schemas.microsoft.com/office/drawing/2014/main" id="{08CDABED-B43B-B54B-BC3B-0E83E2698CDF}"/>
              </a:ext>
            </a:extLst>
          </p:cNvPr>
          <p:cNvCxnSpPr>
            <a:cxnSpLocks/>
          </p:cNvCxnSpPr>
          <p:nvPr/>
        </p:nvCxnSpPr>
        <p:spPr>
          <a:xfrm>
            <a:off x="2767848" y="4011707"/>
            <a:ext cx="3866616" cy="480855"/>
          </a:xfrm>
          <a:prstGeom prst="curvedConnector3">
            <a:avLst>
              <a:gd name="adj1" fmla="val -37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9006CAEA-A790-F743-8D4C-EF02FFD60B28}"/>
                  </a:ext>
                </a:extLst>
              </p:cNvPr>
              <p:cNvSpPr txBox="1"/>
              <p:nvPr/>
            </p:nvSpPr>
            <p:spPr>
              <a:xfrm>
                <a:off x="6705599" y="4047728"/>
                <a:ext cx="2122105"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𝑊</m:t>
                        </m:r>
                      </m:e>
                      <m:sub>
                        <m:r>
                          <a:rPr lang="en-US" b="0" i="1" smtClean="0">
                            <a:latin typeface="Cambria Math" panose="02040503050406030204" pitchFamily="18" charset="0"/>
                          </a:rPr>
                          <m:t>0</m:t>
                        </m:r>
                      </m:sub>
                    </m:sSub>
                  </m:oMath>
                </a14:m>
                <a:r>
                  <a:rPr lang="en-US" dirty="0">
                    <a:latin typeface="Arial" pitchFamily="34" charset="0"/>
                    <a:cs typeface="Arial" pitchFamily="34" charset="0"/>
                  </a:rPr>
                  <a:t> is a 2x3 matrix</a:t>
                </a:r>
              </a:p>
            </p:txBody>
          </p:sp>
        </mc:Choice>
        <mc:Fallback xmlns="">
          <p:sp>
            <p:nvSpPr>
              <p:cNvPr id="53" name="TextBox 52">
                <a:extLst>
                  <a:ext uri="{FF2B5EF4-FFF2-40B4-BE49-F238E27FC236}">
                    <a16:creationId xmlns:a16="http://schemas.microsoft.com/office/drawing/2014/main" id="{9006CAEA-A790-F743-8D4C-EF02FFD60B28}"/>
                  </a:ext>
                </a:extLst>
              </p:cNvPr>
              <p:cNvSpPr txBox="1">
                <a:spLocks noRot="1" noChangeAspect="1" noMove="1" noResize="1" noEditPoints="1" noAdjustHandles="1" noChangeArrowheads="1" noChangeShapeType="1" noTextEdit="1"/>
              </p:cNvSpPr>
              <p:nvPr/>
            </p:nvSpPr>
            <p:spPr>
              <a:xfrm>
                <a:off x="6705599" y="4047728"/>
                <a:ext cx="2122105" cy="369332"/>
              </a:xfrm>
              <a:prstGeom prst="rect">
                <a:avLst/>
              </a:prstGeom>
              <a:blipFill>
                <a:blip r:embed="rId6"/>
                <a:stretch>
                  <a:fillRect b="-17647"/>
                </a:stretch>
              </a:blipFill>
            </p:spPr>
            <p:txBody>
              <a:bodyPr/>
              <a:lstStyle/>
              <a:p>
                <a:r>
                  <a:rPr lang="en-US">
                    <a:noFill/>
                  </a:rPr>
                  <a:t> </a:t>
                </a:r>
              </a:p>
            </p:txBody>
          </p:sp>
        </mc:Fallback>
      </mc:AlternateContent>
      <p:cxnSp>
        <p:nvCxnSpPr>
          <p:cNvPr id="55" name="Curved Connector 54">
            <a:extLst>
              <a:ext uri="{FF2B5EF4-FFF2-40B4-BE49-F238E27FC236}">
                <a16:creationId xmlns:a16="http://schemas.microsoft.com/office/drawing/2014/main" id="{AFF38433-BFE8-6446-AE39-558AEA2713C7}"/>
              </a:ext>
            </a:extLst>
          </p:cNvPr>
          <p:cNvCxnSpPr>
            <a:cxnSpLocks/>
          </p:cNvCxnSpPr>
          <p:nvPr/>
        </p:nvCxnSpPr>
        <p:spPr>
          <a:xfrm flipV="1">
            <a:off x="3988972" y="2810272"/>
            <a:ext cx="2259428" cy="618728"/>
          </a:xfrm>
          <a:prstGeom prst="curvedConnector3">
            <a:avLst>
              <a:gd name="adj1" fmla="val 1435"/>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D1E9C9B2-CA23-4640-8155-83F55A9F619D}"/>
                  </a:ext>
                </a:extLst>
              </p:cNvPr>
              <p:cNvSpPr txBox="1"/>
              <p:nvPr/>
            </p:nvSpPr>
            <p:spPr>
              <a:xfrm>
                <a:off x="6319514" y="2435205"/>
                <a:ext cx="2062485"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𝑊</m:t>
                        </m:r>
                      </m:e>
                      <m:sub>
                        <m:r>
                          <a:rPr lang="en-US" b="0" i="1" smtClean="0">
                            <a:latin typeface="Cambria Math" panose="02040503050406030204" pitchFamily="18" charset="0"/>
                          </a:rPr>
                          <m:t>1</m:t>
                        </m:r>
                      </m:sub>
                    </m:sSub>
                  </m:oMath>
                </a14:m>
                <a:r>
                  <a:rPr lang="en-US" dirty="0">
                    <a:latin typeface="Arial" pitchFamily="34" charset="0"/>
                    <a:cs typeface="Arial" pitchFamily="34" charset="0"/>
                  </a:rPr>
                  <a:t> is a 1x2 matrix</a:t>
                </a:r>
              </a:p>
            </p:txBody>
          </p:sp>
        </mc:Choice>
        <mc:Fallback xmlns="">
          <p:sp>
            <p:nvSpPr>
              <p:cNvPr id="63" name="TextBox 62">
                <a:extLst>
                  <a:ext uri="{FF2B5EF4-FFF2-40B4-BE49-F238E27FC236}">
                    <a16:creationId xmlns:a16="http://schemas.microsoft.com/office/drawing/2014/main" id="{D1E9C9B2-CA23-4640-8155-83F55A9F619D}"/>
                  </a:ext>
                </a:extLst>
              </p:cNvPr>
              <p:cNvSpPr txBox="1">
                <a:spLocks noRot="1" noChangeAspect="1" noMove="1" noResize="1" noEditPoints="1" noAdjustHandles="1" noChangeArrowheads="1" noChangeShapeType="1" noTextEdit="1"/>
              </p:cNvSpPr>
              <p:nvPr/>
            </p:nvSpPr>
            <p:spPr>
              <a:xfrm>
                <a:off x="6319514" y="2435205"/>
                <a:ext cx="2062485" cy="369332"/>
              </a:xfrm>
              <a:prstGeom prst="rect">
                <a:avLst/>
              </a:prstGeom>
              <a:blipFill>
                <a:blip r:embed="rId7"/>
                <a:stretch>
                  <a:fillRect b="-176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7BBBFDA3-DD14-604B-BBBC-71494CDAEA91}"/>
                  </a:ext>
                </a:extLst>
              </p:cNvPr>
              <p:cNvSpPr txBox="1"/>
              <p:nvPr/>
            </p:nvSpPr>
            <p:spPr>
              <a:xfrm>
                <a:off x="4154156" y="1404233"/>
                <a:ext cx="4517823" cy="3886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200" i="1" smtClean="0">
                          <a:solidFill>
                            <a:srgbClr val="C00000"/>
                          </a:solidFill>
                          <a:latin typeface="Cambria Math" panose="02040503050406030204" pitchFamily="18" charset="0"/>
                        </a:rPr>
                        <m:t>𝑓</m:t>
                      </m:r>
                      <m:r>
                        <a:rPr lang="en-US" sz="2200" b="0" i="1" smtClean="0">
                          <a:solidFill>
                            <a:srgbClr val="C00000"/>
                          </a:solidFill>
                          <a:latin typeface="Cambria Math" panose="02040503050406030204" pitchFamily="18" charset="0"/>
                        </a:rPr>
                        <m:t>(</m:t>
                      </m:r>
                      <m:r>
                        <a:rPr lang="en-US" sz="2200" b="0" i="1" smtClean="0">
                          <a:solidFill>
                            <a:srgbClr val="C00000"/>
                          </a:solidFill>
                          <a:latin typeface="Cambria Math" panose="02040503050406030204" pitchFamily="18" charset="0"/>
                        </a:rPr>
                        <m:t>𝑥</m:t>
                      </m:r>
                      <m:r>
                        <a:rPr lang="en-US" sz="2200" b="0" i="1" smtClean="0">
                          <a:solidFill>
                            <a:srgbClr val="C00000"/>
                          </a:solidFill>
                          <a:latin typeface="Cambria Math" panose="02040503050406030204" pitchFamily="18" charset="0"/>
                        </a:rPr>
                        <m:t>)=</m:t>
                      </m:r>
                      <m:r>
                        <a:rPr lang="en-US" sz="2200" b="0" i="1" smtClean="0">
                          <a:solidFill>
                            <a:srgbClr val="C00000"/>
                          </a:solidFill>
                          <a:latin typeface="Cambria Math" panose="02040503050406030204" pitchFamily="18" charset="0"/>
                        </a:rPr>
                        <m:t>𝑊</m:t>
                      </m:r>
                      <m:r>
                        <a:rPr lang="en-US" sz="2200" b="0" i="1" baseline="-25000" smtClean="0">
                          <a:solidFill>
                            <a:srgbClr val="C00000"/>
                          </a:solidFill>
                          <a:latin typeface="Cambria Math" panose="02040503050406030204" pitchFamily="18" charset="0"/>
                        </a:rPr>
                        <m:t>1</m:t>
                      </m:r>
                      <m:r>
                        <a:rPr lang="en-US" sz="2200" b="0" i="1" smtClean="0">
                          <a:solidFill>
                            <a:srgbClr val="C00000"/>
                          </a:solidFill>
                          <a:latin typeface="Cambria Math" panose="02040503050406030204" pitchFamily="18" charset="0"/>
                        </a:rPr>
                        <m:t>(</m:t>
                      </m:r>
                      <m:r>
                        <a:rPr lang="en-US" sz="2200" b="0" i="1" smtClean="0">
                          <a:solidFill>
                            <a:srgbClr val="C00000"/>
                          </a:solidFill>
                          <a:latin typeface="Cambria Math" panose="02040503050406030204" pitchFamily="18" charset="0"/>
                          <a:ea typeface="Cambria Math" panose="02040503050406030204" pitchFamily="18" charset="0"/>
                        </a:rPr>
                        <m:t>𝜎</m:t>
                      </m:r>
                      <m:d>
                        <m:dPr>
                          <m:ctrlPr>
                            <a:rPr lang="en-US" sz="2200" b="0" i="1" smtClean="0">
                              <a:solidFill>
                                <a:srgbClr val="C00000"/>
                              </a:solidFill>
                              <a:latin typeface="Cambria Math" panose="02040503050406030204" pitchFamily="18" charset="0"/>
                              <a:ea typeface="Cambria Math" panose="02040503050406030204" pitchFamily="18" charset="0"/>
                            </a:rPr>
                          </m:ctrlPr>
                        </m:dPr>
                        <m:e>
                          <m:sSup>
                            <m:sSupPr>
                              <m:ctrlPr>
                                <a:rPr lang="en-US" sz="2200" b="0" i="1" smtClean="0">
                                  <a:solidFill>
                                    <a:srgbClr val="C00000"/>
                                  </a:solidFill>
                                  <a:latin typeface="Cambria Math" panose="02040503050406030204" pitchFamily="18" charset="0"/>
                                  <a:ea typeface="Cambria Math" panose="02040503050406030204" pitchFamily="18" charset="0"/>
                                </a:rPr>
                              </m:ctrlPr>
                            </m:sSupPr>
                            <m:e>
                              <m:sSub>
                                <m:sSubPr>
                                  <m:ctrlPr>
                                    <a:rPr lang="en-US" sz="2200" i="1">
                                      <a:solidFill>
                                        <a:srgbClr val="C00000"/>
                                      </a:solidFill>
                                      <a:latin typeface="Cambria Math" panose="02040503050406030204" pitchFamily="18" charset="0"/>
                                      <a:ea typeface="Cambria Math" panose="02040503050406030204" pitchFamily="18" charset="0"/>
                                    </a:rPr>
                                  </m:ctrlPr>
                                </m:sSubPr>
                                <m:e>
                                  <m:r>
                                    <a:rPr lang="en-US" sz="2200" i="1">
                                      <a:solidFill>
                                        <a:srgbClr val="C00000"/>
                                      </a:solidFill>
                                      <a:latin typeface="Cambria Math" panose="02040503050406030204" pitchFamily="18" charset="0"/>
                                      <a:ea typeface="Cambria Math" panose="02040503050406030204" pitchFamily="18" charset="0"/>
                                    </a:rPr>
                                    <m:t>𝑊</m:t>
                                  </m:r>
                                </m:e>
                                <m:sub>
                                  <m:r>
                                    <a:rPr lang="en-US" sz="2200" b="0" i="1" smtClean="0">
                                      <a:solidFill>
                                        <a:srgbClr val="C00000"/>
                                      </a:solidFill>
                                      <a:latin typeface="Cambria Math" panose="02040503050406030204" pitchFamily="18" charset="0"/>
                                      <a:ea typeface="Cambria Math" panose="02040503050406030204" pitchFamily="18" charset="0"/>
                                    </a:rPr>
                                    <m:t>0</m:t>
                                  </m:r>
                                </m:sub>
                              </m:sSub>
                              <m:r>
                                <a:rPr lang="en-US" sz="2200" b="1" i="1" smtClean="0">
                                  <a:solidFill>
                                    <a:srgbClr val="C00000"/>
                                  </a:solidFill>
                                  <a:latin typeface="Cambria Math" panose="02040503050406030204" pitchFamily="18" charset="0"/>
                                  <a:ea typeface="Cambria Math" panose="02040503050406030204" pitchFamily="18" charset="0"/>
                                </a:rPr>
                                <m:t>𝒙</m:t>
                              </m:r>
                            </m:e>
                            <m:sup>
                              <m:d>
                                <m:dPr>
                                  <m:ctrlPr>
                                    <a:rPr lang="en-US" sz="2200" b="0" i="1" smtClean="0">
                                      <a:solidFill>
                                        <a:srgbClr val="C00000"/>
                                      </a:solidFill>
                                      <a:latin typeface="Cambria Math" panose="02040503050406030204" pitchFamily="18" charset="0"/>
                                      <a:ea typeface="Cambria Math" panose="02040503050406030204" pitchFamily="18" charset="0"/>
                                    </a:rPr>
                                  </m:ctrlPr>
                                </m:dPr>
                                <m:e>
                                  <m:r>
                                    <a:rPr lang="en-US" sz="2200" b="0" i="1" smtClean="0">
                                      <a:solidFill>
                                        <a:srgbClr val="C00000"/>
                                      </a:solidFill>
                                      <a:latin typeface="Cambria Math" panose="02040503050406030204" pitchFamily="18" charset="0"/>
                                      <a:ea typeface="Cambria Math" panose="02040503050406030204" pitchFamily="18" charset="0"/>
                                    </a:rPr>
                                    <m:t>0</m:t>
                                  </m:r>
                                </m:e>
                              </m:d>
                            </m:sup>
                          </m:sSup>
                          <m:r>
                            <a:rPr lang="en-US" sz="2200" b="0" i="1" smtClean="0">
                              <a:solidFill>
                                <a:srgbClr val="C00000"/>
                              </a:solidFill>
                              <a:latin typeface="Cambria Math" panose="02040503050406030204" pitchFamily="18" charset="0"/>
                              <a:ea typeface="Cambria Math" panose="02040503050406030204" pitchFamily="18" charset="0"/>
                            </a:rPr>
                            <m:t>+</m:t>
                          </m:r>
                          <m:sSup>
                            <m:sSupPr>
                              <m:ctrlPr>
                                <a:rPr lang="en-US" sz="2200" b="0" i="1" smtClean="0">
                                  <a:solidFill>
                                    <a:srgbClr val="C00000"/>
                                  </a:solidFill>
                                  <a:latin typeface="Cambria Math" panose="02040503050406030204" pitchFamily="18" charset="0"/>
                                  <a:ea typeface="Cambria Math" panose="02040503050406030204" pitchFamily="18" charset="0"/>
                                </a:rPr>
                              </m:ctrlPr>
                            </m:sSupPr>
                            <m:e>
                              <m:r>
                                <a:rPr lang="en-US" sz="2200" b="0" i="1" smtClean="0">
                                  <a:solidFill>
                                    <a:srgbClr val="C00000"/>
                                  </a:solidFill>
                                  <a:latin typeface="Cambria Math" panose="02040503050406030204" pitchFamily="18" charset="0"/>
                                  <a:ea typeface="Cambria Math" panose="02040503050406030204" pitchFamily="18" charset="0"/>
                                </a:rPr>
                                <m:t>𝑏</m:t>
                              </m:r>
                            </m:e>
                            <m:sup>
                              <m:r>
                                <a:rPr lang="en-US" sz="2200" b="0" i="1" smtClean="0">
                                  <a:solidFill>
                                    <a:srgbClr val="C00000"/>
                                  </a:solidFill>
                                  <a:latin typeface="Cambria Math" panose="02040503050406030204" pitchFamily="18" charset="0"/>
                                  <a:ea typeface="Cambria Math" panose="02040503050406030204" pitchFamily="18" charset="0"/>
                                </a:rPr>
                                <m:t>0</m:t>
                              </m:r>
                            </m:sup>
                          </m:sSup>
                        </m:e>
                      </m:d>
                      <m:r>
                        <a:rPr lang="en-US" sz="2200" b="0" i="1" smtClean="0">
                          <a:solidFill>
                            <a:srgbClr val="C00000"/>
                          </a:solidFill>
                          <a:latin typeface="Cambria Math" panose="02040503050406030204" pitchFamily="18" charset="0"/>
                          <a:ea typeface="Cambria Math" panose="02040503050406030204" pitchFamily="18" charset="0"/>
                        </a:rPr>
                        <m:t>+</m:t>
                      </m:r>
                      <m:sSup>
                        <m:sSupPr>
                          <m:ctrlPr>
                            <a:rPr lang="en-US" sz="2200" i="1">
                              <a:solidFill>
                                <a:srgbClr val="C00000"/>
                              </a:solidFill>
                              <a:latin typeface="Cambria Math" panose="02040503050406030204" pitchFamily="18" charset="0"/>
                              <a:ea typeface="Cambria Math" panose="02040503050406030204" pitchFamily="18" charset="0"/>
                            </a:rPr>
                          </m:ctrlPr>
                        </m:sSupPr>
                        <m:e>
                          <m:r>
                            <a:rPr lang="en-US" sz="2200" i="1">
                              <a:solidFill>
                                <a:srgbClr val="C00000"/>
                              </a:solidFill>
                              <a:latin typeface="Cambria Math" panose="02040503050406030204" pitchFamily="18" charset="0"/>
                              <a:ea typeface="Cambria Math" panose="02040503050406030204" pitchFamily="18" charset="0"/>
                            </a:rPr>
                            <m:t>𝑏</m:t>
                          </m:r>
                        </m:e>
                        <m:sup>
                          <m:r>
                            <a:rPr lang="en-US" sz="2200" b="0" i="1" smtClean="0">
                              <a:solidFill>
                                <a:srgbClr val="C00000"/>
                              </a:solidFill>
                              <a:latin typeface="Cambria Math" panose="02040503050406030204" pitchFamily="18" charset="0"/>
                              <a:ea typeface="Cambria Math" panose="02040503050406030204" pitchFamily="18" charset="0"/>
                            </a:rPr>
                            <m:t>1</m:t>
                          </m:r>
                        </m:sup>
                      </m:sSup>
                      <m:r>
                        <a:rPr lang="en-US" sz="2200" b="0" i="1" smtClean="0">
                          <a:solidFill>
                            <a:srgbClr val="C00000"/>
                          </a:solidFill>
                          <a:latin typeface="Cambria Math" panose="02040503050406030204" pitchFamily="18" charset="0"/>
                          <a:ea typeface="Cambria Math" panose="02040503050406030204" pitchFamily="18" charset="0"/>
                        </a:rPr>
                        <m:t>)</m:t>
                      </m:r>
                    </m:oMath>
                  </m:oMathPara>
                </a14:m>
                <a:endParaRPr lang="en-US" sz="2200" dirty="0">
                  <a:solidFill>
                    <a:srgbClr val="C00000"/>
                  </a:solidFill>
                </a:endParaRPr>
              </a:p>
            </p:txBody>
          </p:sp>
        </mc:Choice>
        <mc:Fallback xmlns="">
          <p:sp>
            <p:nvSpPr>
              <p:cNvPr id="70" name="TextBox 69">
                <a:extLst>
                  <a:ext uri="{FF2B5EF4-FFF2-40B4-BE49-F238E27FC236}">
                    <a16:creationId xmlns:a16="http://schemas.microsoft.com/office/drawing/2014/main" id="{7BBBFDA3-DD14-604B-BBBC-71494CDAEA91}"/>
                  </a:ext>
                </a:extLst>
              </p:cNvPr>
              <p:cNvSpPr txBox="1">
                <a:spLocks noRot="1" noChangeAspect="1" noMove="1" noResize="1" noEditPoints="1" noAdjustHandles="1" noChangeArrowheads="1" noChangeShapeType="1" noTextEdit="1"/>
              </p:cNvSpPr>
              <p:nvPr/>
            </p:nvSpPr>
            <p:spPr>
              <a:xfrm>
                <a:off x="4154156" y="1404233"/>
                <a:ext cx="4517823" cy="388633"/>
              </a:xfrm>
              <a:prstGeom prst="rect">
                <a:avLst/>
              </a:prstGeom>
              <a:blipFill>
                <a:blip r:embed="rId8"/>
                <a:stretch>
                  <a:fillRect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E175195C-A1B2-E84A-B859-C0E083931AEA}"/>
                  </a:ext>
                </a:extLst>
              </p:cNvPr>
              <p:cNvSpPr txBox="1"/>
              <p:nvPr/>
            </p:nvSpPr>
            <p:spPr>
              <a:xfrm>
                <a:off x="2614440" y="5579650"/>
                <a:ext cx="4517823" cy="361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200" i="1" smtClean="0">
                          <a:solidFill>
                            <a:srgbClr val="0000FF"/>
                          </a:solidFill>
                          <a:latin typeface="Cambria Math" panose="02040503050406030204" pitchFamily="18" charset="0"/>
                        </a:rPr>
                        <m:t>𝑓</m:t>
                      </m:r>
                      <m:r>
                        <a:rPr lang="en-US" sz="2200" b="0" i="1" smtClean="0">
                          <a:solidFill>
                            <a:srgbClr val="0000FF"/>
                          </a:solidFill>
                          <a:latin typeface="Cambria Math" panose="02040503050406030204" pitchFamily="18" charset="0"/>
                        </a:rPr>
                        <m:t>(</m:t>
                      </m:r>
                      <m:r>
                        <a:rPr lang="en-US" sz="2200" b="0" i="1" smtClean="0">
                          <a:solidFill>
                            <a:srgbClr val="0000FF"/>
                          </a:solidFill>
                          <a:latin typeface="Cambria Math" panose="02040503050406030204" pitchFamily="18" charset="0"/>
                        </a:rPr>
                        <m:t>𝑥</m:t>
                      </m:r>
                      <m:r>
                        <a:rPr lang="en-US" sz="2200" b="0" i="1" smtClean="0">
                          <a:solidFill>
                            <a:srgbClr val="0000FF"/>
                          </a:solidFill>
                          <a:latin typeface="Cambria Math" panose="02040503050406030204" pitchFamily="18" charset="0"/>
                        </a:rPr>
                        <m:t>)=</m:t>
                      </m:r>
                      <m:sSup>
                        <m:sSupPr>
                          <m:ctrlPr>
                            <a:rPr lang="en-US" sz="2200" i="1">
                              <a:solidFill>
                                <a:srgbClr val="0000FF"/>
                              </a:solidFill>
                              <a:latin typeface="Cambria Math" panose="02040503050406030204" pitchFamily="18" charset="0"/>
                              <a:ea typeface="Cambria Math" panose="02040503050406030204" pitchFamily="18" charset="0"/>
                            </a:rPr>
                          </m:ctrlPr>
                        </m:sSupPr>
                        <m:e>
                          <m:sSub>
                            <m:sSubPr>
                              <m:ctrlPr>
                                <a:rPr lang="en-US" sz="2200" i="1">
                                  <a:solidFill>
                                    <a:srgbClr val="0000FF"/>
                                  </a:solidFill>
                                  <a:latin typeface="Cambria Math" panose="02040503050406030204" pitchFamily="18" charset="0"/>
                                  <a:ea typeface="Cambria Math" panose="02040503050406030204" pitchFamily="18" charset="0"/>
                                </a:rPr>
                              </m:ctrlPr>
                            </m:sSubPr>
                            <m:e>
                              <m:r>
                                <a:rPr lang="en-US" sz="2200" i="1">
                                  <a:solidFill>
                                    <a:srgbClr val="0000FF"/>
                                  </a:solidFill>
                                  <a:latin typeface="Cambria Math" panose="02040503050406030204" pitchFamily="18" charset="0"/>
                                  <a:ea typeface="Cambria Math" panose="02040503050406030204" pitchFamily="18" charset="0"/>
                                </a:rPr>
                                <m:t>𝑊</m:t>
                              </m:r>
                              <m:r>
                                <a:rPr lang="en-US" sz="2200" i="1" baseline="-25000">
                                  <a:solidFill>
                                    <a:srgbClr val="0000FF"/>
                                  </a:solidFill>
                                  <a:latin typeface="Cambria Math" panose="02040503050406030204" pitchFamily="18" charset="0"/>
                                  <a:ea typeface="Cambria Math" panose="02040503050406030204" pitchFamily="18" charset="0"/>
                                </a:rPr>
                                <m:t>1</m:t>
                              </m:r>
                              <m:r>
                                <a:rPr lang="en-US" sz="2200" i="1">
                                  <a:solidFill>
                                    <a:srgbClr val="0000FF"/>
                                  </a:solidFill>
                                  <a:latin typeface="Cambria Math" panose="02040503050406030204" pitchFamily="18" charset="0"/>
                                  <a:ea typeface="Cambria Math" panose="02040503050406030204" pitchFamily="18" charset="0"/>
                                </a:rPr>
                                <m:t>𝑊</m:t>
                              </m:r>
                            </m:e>
                            <m:sub>
                              <m:r>
                                <a:rPr lang="en-US" sz="2200" i="1">
                                  <a:solidFill>
                                    <a:srgbClr val="0000FF"/>
                                  </a:solidFill>
                                  <a:latin typeface="Cambria Math" panose="02040503050406030204" pitchFamily="18" charset="0"/>
                                  <a:ea typeface="Cambria Math" panose="02040503050406030204" pitchFamily="18" charset="0"/>
                                </a:rPr>
                                <m:t>0</m:t>
                              </m:r>
                            </m:sub>
                          </m:sSub>
                          <m:r>
                            <a:rPr lang="en-US" sz="2200" b="1" i="1">
                              <a:solidFill>
                                <a:srgbClr val="0000FF"/>
                              </a:solidFill>
                              <a:latin typeface="Cambria Math" panose="02040503050406030204" pitchFamily="18" charset="0"/>
                              <a:ea typeface="Cambria Math" panose="02040503050406030204" pitchFamily="18" charset="0"/>
                            </a:rPr>
                            <m:t>𝒙</m:t>
                          </m:r>
                        </m:e>
                        <m:sup>
                          <m:d>
                            <m:dPr>
                              <m:ctrlPr>
                                <a:rPr lang="en-US" sz="2200" i="1">
                                  <a:solidFill>
                                    <a:srgbClr val="0000FF"/>
                                  </a:solidFill>
                                  <a:latin typeface="Cambria Math" panose="02040503050406030204" pitchFamily="18" charset="0"/>
                                  <a:ea typeface="Cambria Math" panose="02040503050406030204" pitchFamily="18" charset="0"/>
                                </a:rPr>
                              </m:ctrlPr>
                            </m:dPr>
                            <m:e>
                              <m:r>
                                <a:rPr lang="en-US" sz="2200" i="1">
                                  <a:solidFill>
                                    <a:srgbClr val="0000FF"/>
                                  </a:solidFill>
                                  <a:latin typeface="Cambria Math" panose="02040503050406030204" pitchFamily="18" charset="0"/>
                                  <a:ea typeface="Cambria Math" panose="02040503050406030204" pitchFamily="18" charset="0"/>
                                </a:rPr>
                                <m:t>0</m:t>
                              </m:r>
                            </m:e>
                          </m:d>
                        </m:sup>
                      </m:sSup>
                      <m:r>
                        <a:rPr lang="en-US" sz="2200" i="1">
                          <a:solidFill>
                            <a:srgbClr val="0000FF"/>
                          </a:solidFill>
                          <a:latin typeface="Cambria Math" panose="02040503050406030204" pitchFamily="18" charset="0"/>
                          <a:ea typeface="Cambria Math" panose="02040503050406030204" pitchFamily="18" charset="0"/>
                        </a:rPr>
                        <m:t>+</m:t>
                      </m:r>
                      <m:sSup>
                        <m:sSupPr>
                          <m:ctrlPr>
                            <a:rPr lang="en-US" sz="2200" i="1">
                              <a:solidFill>
                                <a:srgbClr val="0000FF"/>
                              </a:solidFill>
                              <a:latin typeface="Cambria Math" panose="02040503050406030204" pitchFamily="18" charset="0"/>
                              <a:ea typeface="Cambria Math" panose="02040503050406030204" pitchFamily="18" charset="0"/>
                            </a:rPr>
                          </m:ctrlPr>
                        </m:sSupPr>
                        <m:e>
                          <m:r>
                            <a:rPr lang="en-US" sz="2200" i="1">
                              <a:solidFill>
                                <a:srgbClr val="0000FF"/>
                              </a:solidFill>
                              <a:latin typeface="Cambria Math" panose="02040503050406030204" pitchFamily="18" charset="0"/>
                            </a:rPr>
                            <m:t>𝑊</m:t>
                          </m:r>
                          <m:r>
                            <a:rPr lang="en-US" sz="2200" i="1" baseline="-25000">
                              <a:solidFill>
                                <a:srgbClr val="0000FF"/>
                              </a:solidFill>
                              <a:latin typeface="Cambria Math" panose="02040503050406030204" pitchFamily="18" charset="0"/>
                            </a:rPr>
                            <m:t>1</m:t>
                          </m:r>
                          <m:r>
                            <a:rPr lang="en-US" sz="2200" i="1">
                              <a:solidFill>
                                <a:srgbClr val="0000FF"/>
                              </a:solidFill>
                              <a:latin typeface="Cambria Math" panose="02040503050406030204" pitchFamily="18" charset="0"/>
                              <a:ea typeface="Cambria Math" panose="02040503050406030204" pitchFamily="18" charset="0"/>
                            </a:rPr>
                            <m:t>𝑏</m:t>
                          </m:r>
                        </m:e>
                        <m:sup>
                          <m:r>
                            <a:rPr lang="en-US" sz="2200" i="1">
                              <a:solidFill>
                                <a:srgbClr val="0000FF"/>
                              </a:solidFill>
                              <a:latin typeface="Cambria Math" panose="02040503050406030204" pitchFamily="18" charset="0"/>
                              <a:ea typeface="Cambria Math" panose="02040503050406030204" pitchFamily="18" charset="0"/>
                            </a:rPr>
                            <m:t>0</m:t>
                          </m:r>
                        </m:sup>
                      </m:sSup>
                      <m:r>
                        <a:rPr lang="en-US" sz="2200" b="0" i="1" smtClean="0">
                          <a:solidFill>
                            <a:srgbClr val="0000FF"/>
                          </a:solidFill>
                          <a:latin typeface="Cambria Math" panose="02040503050406030204" pitchFamily="18" charset="0"/>
                          <a:ea typeface="Cambria Math" panose="02040503050406030204" pitchFamily="18" charset="0"/>
                        </a:rPr>
                        <m:t>+</m:t>
                      </m:r>
                      <m:sSup>
                        <m:sSupPr>
                          <m:ctrlPr>
                            <a:rPr lang="en-US" sz="2200" i="1">
                              <a:solidFill>
                                <a:srgbClr val="0000FF"/>
                              </a:solidFill>
                              <a:latin typeface="Cambria Math" panose="02040503050406030204" pitchFamily="18" charset="0"/>
                              <a:ea typeface="Cambria Math" panose="02040503050406030204" pitchFamily="18" charset="0"/>
                            </a:rPr>
                          </m:ctrlPr>
                        </m:sSupPr>
                        <m:e>
                          <m:r>
                            <a:rPr lang="en-US" sz="2200" i="1">
                              <a:solidFill>
                                <a:srgbClr val="0000FF"/>
                              </a:solidFill>
                              <a:latin typeface="Cambria Math" panose="02040503050406030204" pitchFamily="18" charset="0"/>
                              <a:ea typeface="Cambria Math" panose="02040503050406030204" pitchFamily="18" charset="0"/>
                            </a:rPr>
                            <m:t>𝑏</m:t>
                          </m:r>
                        </m:e>
                        <m:sup>
                          <m:r>
                            <a:rPr lang="en-US" sz="2200" b="0" i="1" smtClean="0">
                              <a:solidFill>
                                <a:srgbClr val="0000FF"/>
                              </a:solidFill>
                              <a:latin typeface="Cambria Math" panose="02040503050406030204" pitchFamily="18" charset="0"/>
                              <a:ea typeface="Cambria Math" panose="02040503050406030204" pitchFamily="18" charset="0"/>
                            </a:rPr>
                            <m:t>1</m:t>
                          </m:r>
                        </m:sup>
                      </m:sSup>
                    </m:oMath>
                  </m:oMathPara>
                </a14:m>
                <a:endParaRPr lang="en-US" sz="2200" dirty="0">
                  <a:solidFill>
                    <a:srgbClr val="0000FF"/>
                  </a:solidFill>
                </a:endParaRPr>
              </a:p>
            </p:txBody>
          </p:sp>
        </mc:Choice>
        <mc:Fallback xmlns="">
          <p:sp>
            <p:nvSpPr>
              <p:cNvPr id="45" name="TextBox 44">
                <a:extLst>
                  <a:ext uri="{FF2B5EF4-FFF2-40B4-BE49-F238E27FC236}">
                    <a16:creationId xmlns:a16="http://schemas.microsoft.com/office/drawing/2014/main" id="{E175195C-A1B2-E84A-B859-C0E083931AEA}"/>
                  </a:ext>
                </a:extLst>
              </p:cNvPr>
              <p:cNvSpPr txBox="1">
                <a:spLocks noRot="1" noChangeAspect="1" noMove="1" noResize="1" noEditPoints="1" noAdjustHandles="1" noChangeArrowheads="1" noChangeShapeType="1" noTextEdit="1"/>
              </p:cNvSpPr>
              <p:nvPr/>
            </p:nvSpPr>
            <p:spPr>
              <a:xfrm>
                <a:off x="2614440" y="5579650"/>
                <a:ext cx="4517823" cy="361509"/>
              </a:xfrm>
              <a:prstGeom prst="rect">
                <a:avLst/>
              </a:prstGeom>
              <a:blipFill>
                <a:blip r:embed="rId9"/>
                <a:stretch>
                  <a:fillRect b="-33333"/>
                </a:stretch>
              </a:blipFill>
            </p:spPr>
            <p:txBody>
              <a:bodyPr/>
              <a:lstStyle/>
              <a:p>
                <a:r>
                  <a:rPr lang="en-US">
                    <a:noFill/>
                  </a:rPr>
                  <a:t> </a:t>
                </a:r>
              </a:p>
            </p:txBody>
          </p:sp>
        </mc:Fallback>
      </mc:AlternateContent>
    </p:spTree>
    <p:extLst>
      <p:ext uri="{BB962C8B-B14F-4D97-AF65-F5344CB8AC3E}">
        <p14:creationId xmlns:p14="http://schemas.microsoft.com/office/powerpoint/2010/main" val="28154124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91457-F70C-904C-8A8B-AE4900E2010C}"/>
              </a:ext>
            </a:extLst>
          </p:cNvPr>
          <p:cNvSpPr>
            <a:spLocks noGrp="1"/>
          </p:cNvSpPr>
          <p:nvPr>
            <p:ph type="title"/>
          </p:nvPr>
        </p:nvSpPr>
        <p:spPr/>
        <p:txBody>
          <a:bodyPr>
            <a:normAutofit/>
          </a:bodyPr>
          <a:lstStyle/>
          <a:p>
            <a:r>
              <a:rPr lang="en-US" dirty="0"/>
              <a:t>Neural Network: Loss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B91AD7-8C3B-D945-A342-D374246BD902}"/>
                  </a:ext>
                </a:extLst>
              </p:cNvPr>
              <p:cNvSpPr>
                <a:spLocks noGrp="1"/>
              </p:cNvSpPr>
              <p:nvPr>
                <p:ph idx="1"/>
              </p:nvPr>
            </p:nvSpPr>
            <p:spPr/>
            <p:txBody>
              <a:bodyPr/>
              <a:lstStyle/>
              <a:p>
                <a:r>
                  <a:rPr lang="en-US" dirty="0">
                    <a:solidFill>
                      <a:srgbClr val="C00000"/>
                    </a:solidFill>
                    <a:ea typeface="Cambria Math" panose="02040503050406030204" pitchFamily="18" charset="0"/>
                  </a:rPr>
                  <a:t>A loss function </a:t>
                </a:r>
                <a14:m>
                  <m:oMath xmlns:m="http://schemas.openxmlformats.org/officeDocument/2006/math">
                    <m:r>
                      <a:rPr lang="en-US" i="1">
                        <a:solidFill>
                          <a:srgbClr val="C00000"/>
                        </a:solidFill>
                        <a:latin typeface="Cambria Math" panose="02040503050406030204" pitchFamily="18" charset="0"/>
                        <a:ea typeface="Cambria Math" panose="02040503050406030204" pitchFamily="18" charset="0"/>
                      </a:rPr>
                      <m:t>ℒ</m:t>
                    </m:r>
                    <m:r>
                      <a:rPr lang="en-US" b="0" i="0" smtClean="0">
                        <a:solidFill>
                          <a:srgbClr val="C00000"/>
                        </a:solidFill>
                        <a:latin typeface="Cambria Math" panose="02040503050406030204" pitchFamily="18" charset="0"/>
                        <a:ea typeface="Cambria Math" panose="02040503050406030204" pitchFamily="18" charset="0"/>
                      </a:rPr>
                      <m:t> </m:t>
                    </m:r>
                  </m:oMath>
                </a14:m>
                <a:r>
                  <a:rPr lang="en-US" dirty="0">
                    <a:solidFill>
                      <a:srgbClr val="C00000"/>
                    </a:solidFill>
                    <a:ea typeface="Cambria Math" panose="02040503050406030204" pitchFamily="18" charset="0"/>
                  </a:rPr>
                  <a:t>is required to train the NN.</a:t>
                </a:r>
              </a:p>
              <a:p>
                <a:pPr lvl="1"/>
                <a:r>
                  <a:rPr lang="en-US" dirty="0"/>
                  <a:t>Example: L2 loss</a:t>
                </a:r>
                <a:br>
                  <a:rPr lang="en-US" dirty="0"/>
                </a:br>
                <a14:m>
                  <m:oMath xmlns:m="http://schemas.openxmlformats.org/officeDocument/2006/math">
                    <m:r>
                      <a:rPr lang="en-US" i="1">
                        <a:latin typeface="Cambria Math" panose="02040503050406030204" pitchFamily="18" charset="0"/>
                        <a:ea typeface="Cambria Math" panose="02040503050406030204" pitchFamily="18" charset="0"/>
                      </a:rPr>
                      <m:t>ℒ</m:t>
                    </m:r>
                    <m:d>
                      <m:dPr>
                        <m:ctrlPr>
                          <a:rPr lang="en-US"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𝒚</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𝑓</m:t>
                        </m:r>
                        <m:d>
                          <m:dPr>
                            <m:ctrlPr>
                              <a:rPr lang="en-US"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e>
                        </m:d>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𝑦</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𝑓</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e>
                        </m:d>
                      </m:e>
                      <m:sub>
                        <m:r>
                          <a:rPr lang="en-US" i="1">
                            <a:latin typeface="Cambria Math" panose="02040503050406030204" pitchFamily="18" charset="0"/>
                            <a:ea typeface="Cambria Math" panose="02040503050406030204" pitchFamily="18" charset="0"/>
                          </a:rPr>
                          <m:t>2</m:t>
                        </m:r>
                      </m:sub>
                    </m:sSub>
                  </m:oMath>
                </a14:m>
                <a:endParaRPr lang="en-US" dirty="0"/>
              </a:p>
              <a:p>
                <a:r>
                  <a:rPr lang="en-US" dirty="0"/>
                  <a:t>Common loss functions for </a:t>
                </a:r>
                <a:r>
                  <a:rPr lang="en-US" b="1" dirty="0">
                    <a:solidFill>
                      <a:srgbClr val="C00000"/>
                    </a:solidFill>
                  </a:rPr>
                  <a:t>regression</a:t>
                </a:r>
                <a:r>
                  <a:rPr lang="en-US" dirty="0"/>
                  <a:t>:</a:t>
                </a:r>
              </a:p>
              <a:p>
                <a:pPr lvl="1"/>
                <a:r>
                  <a:rPr lang="en-US" dirty="0"/>
                  <a:t>L2 loss, L1 loss, </a:t>
                </a:r>
                <a:r>
                  <a:rPr lang="en-US" dirty="0" err="1"/>
                  <a:t>huber</a:t>
                </a:r>
                <a:r>
                  <a:rPr lang="en-US" dirty="0"/>
                  <a:t> loss, …</a:t>
                </a:r>
              </a:p>
              <a:p>
                <a:r>
                  <a:rPr lang="en-US" dirty="0"/>
                  <a:t>Common loss functions for </a:t>
                </a:r>
                <a:r>
                  <a:rPr lang="en-US" b="1" dirty="0">
                    <a:solidFill>
                      <a:srgbClr val="C00000"/>
                    </a:solidFill>
                  </a:rPr>
                  <a:t>classification</a:t>
                </a:r>
                <a:r>
                  <a:rPr lang="en-US" dirty="0"/>
                  <a:t>:</a:t>
                </a:r>
              </a:p>
              <a:p>
                <a:pPr lvl="1"/>
                <a:r>
                  <a:rPr lang="en-US" dirty="0"/>
                  <a:t>Cross entropy, max margin (hinge loss), … </a:t>
                </a:r>
              </a:p>
              <a:p>
                <a:r>
                  <a:rPr lang="en-US" dirty="0"/>
                  <a:t>Example</a:t>
                </a:r>
              </a:p>
              <a:p>
                <a:pPr lvl="1"/>
                <a:r>
                  <a:rPr lang="en-US" sz="2600" dirty="0"/>
                  <a:t>See </a:t>
                </a:r>
                <a:r>
                  <a:rPr lang="en-US" sz="2600" dirty="0">
                    <a:hlinkClick r:id="rId3"/>
                  </a:rPr>
                  <a:t>https://pytorch.org/docs/stable/nn.html#loss-functions</a:t>
                </a:r>
                <a:r>
                  <a:rPr lang="en-US" sz="2600" dirty="0"/>
                  <a:t> </a:t>
                </a:r>
              </a:p>
              <a:p>
                <a:endParaRPr lang="en-US" dirty="0"/>
              </a:p>
            </p:txBody>
          </p:sp>
        </mc:Choice>
        <mc:Fallback xmlns="">
          <p:sp>
            <p:nvSpPr>
              <p:cNvPr id="3" name="Content Placeholder 2">
                <a:extLst>
                  <a:ext uri="{FF2B5EF4-FFF2-40B4-BE49-F238E27FC236}">
                    <a16:creationId xmlns:a16="http://schemas.microsoft.com/office/drawing/2014/main" id="{04B91AD7-8C3B-D945-A342-D374246BD902}"/>
                  </a:ext>
                </a:extLst>
              </p:cNvPr>
              <p:cNvSpPr>
                <a:spLocks noGrp="1" noRot="1" noChangeAspect="1" noMove="1" noResize="1" noEditPoints="1" noAdjustHandles="1" noChangeArrowheads="1" noChangeShapeType="1" noTextEdit="1"/>
              </p:cNvSpPr>
              <p:nvPr>
                <p:ph idx="1"/>
              </p:nvPr>
            </p:nvSpPr>
            <p:spPr>
              <a:blipFill>
                <a:blip r:embed="rId4"/>
                <a:stretch>
                  <a:fillRect t="-725"/>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E8946895-13C6-9849-A3A1-88E8C6DBA202}"/>
              </a:ext>
            </a:extLst>
          </p:cNvPr>
          <p:cNvSpPr>
            <a:spLocks noGrp="1"/>
          </p:cNvSpPr>
          <p:nvPr>
            <p:ph type="dt" sz="half" idx="10"/>
          </p:nvPr>
        </p:nvSpPr>
        <p:spPr/>
        <p:txBody>
          <a:bodyPr/>
          <a:lstStyle/>
          <a:p>
            <a:fld id="{E0D9A70F-399A-1641-A17C-45F4EB51A2AF}" type="datetime1">
              <a:rPr lang="en-US" smtClean="0"/>
              <a:t>11/3/24</a:t>
            </a:fld>
            <a:endParaRPr lang="en-US"/>
          </a:p>
        </p:txBody>
      </p:sp>
      <p:sp>
        <p:nvSpPr>
          <p:cNvPr id="5" name="Footer Placeholder 4">
            <a:extLst>
              <a:ext uri="{FF2B5EF4-FFF2-40B4-BE49-F238E27FC236}">
                <a16:creationId xmlns:a16="http://schemas.microsoft.com/office/drawing/2014/main" id="{E159B7B0-1E66-8448-8A8F-DDD589D3F5F5}"/>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B2AF992C-7C9F-AD41-9CBC-3A98CD0A4B98}"/>
              </a:ext>
            </a:extLst>
          </p:cNvPr>
          <p:cNvSpPr>
            <a:spLocks noGrp="1"/>
          </p:cNvSpPr>
          <p:nvPr>
            <p:ph type="sldNum" sz="quarter" idx="12"/>
          </p:nvPr>
        </p:nvSpPr>
        <p:spPr/>
        <p:txBody>
          <a:bodyPr/>
          <a:lstStyle/>
          <a:p>
            <a:fld id="{19B12225-5612-419B-A8D5-4B8EEE4C217E}" type="slidenum">
              <a:rPr lang="en-US" smtClean="0"/>
              <a:pPr/>
              <a:t>30</a:t>
            </a:fld>
            <a:endParaRPr lang="en-US"/>
          </a:p>
        </p:txBody>
      </p:sp>
    </p:spTree>
    <p:extLst>
      <p:ext uri="{BB962C8B-B14F-4D97-AF65-F5344CB8AC3E}">
        <p14:creationId xmlns:p14="http://schemas.microsoft.com/office/powerpoint/2010/main" val="15616703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2BCF4-E95F-40DB-81E9-E906C6142097}"/>
              </a:ext>
            </a:extLst>
          </p:cNvPr>
          <p:cNvSpPr>
            <a:spLocks noGrp="1"/>
          </p:cNvSpPr>
          <p:nvPr>
            <p:ph type="title"/>
          </p:nvPr>
        </p:nvSpPr>
        <p:spPr/>
        <p:txBody>
          <a:bodyPr>
            <a:normAutofit/>
          </a:bodyPr>
          <a:lstStyle/>
          <a:p>
            <a:r>
              <a:rPr lang="en-US" dirty="0"/>
              <a:t>Cross Entropy Loss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BB5F910-B8C5-43E6-8D93-C1532BB9FB6F}"/>
                  </a:ext>
                </a:extLst>
              </p:cNvPr>
              <p:cNvSpPr>
                <a:spLocks noGrp="1"/>
              </p:cNvSpPr>
              <p:nvPr>
                <p:ph idx="1"/>
              </p:nvPr>
            </p:nvSpPr>
            <p:spPr>
              <a:xfrm>
                <a:off x="457200" y="1295400"/>
                <a:ext cx="8686800" cy="5562600"/>
              </a:xfrm>
            </p:spPr>
            <p:txBody>
              <a:bodyPr>
                <a:normAutofit fontScale="77500" lnSpcReduction="20000"/>
              </a:bodyPr>
              <a:lstStyle/>
              <a:p>
                <a:r>
                  <a:rPr lang="en-US" sz="3700" dirty="0"/>
                  <a:t>Common loss for classification tasks</a:t>
                </a:r>
              </a:p>
              <a:p>
                <a:pPr lvl="1"/>
                <a:r>
                  <a:rPr lang="en-US" sz="2900" dirty="0"/>
                  <a:t>Defined between </a:t>
                </a:r>
                <a:r>
                  <a:rPr lang="en-US" sz="2900" dirty="0">
                    <a:solidFill>
                      <a:srgbClr val="0000FF"/>
                    </a:solidFill>
                  </a:rPr>
                  <a:t>one-hot of true label</a:t>
                </a:r>
                <a:r>
                  <a:rPr lang="en-US" sz="2900" dirty="0"/>
                  <a:t> and the </a:t>
                </a:r>
                <a:r>
                  <a:rPr lang="en-US" sz="2900" dirty="0">
                    <a:solidFill>
                      <a:srgbClr val="0000FF"/>
                    </a:solidFill>
                  </a:rPr>
                  <a:t>predicted probability distribution over classes</a:t>
                </a:r>
                <a:r>
                  <a:rPr lang="en-US" sz="2900" dirty="0"/>
                  <a:t> </a:t>
                </a:r>
              </a:p>
              <a:p>
                <a:pPr lvl="1"/>
                <a:endParaRPr lang="en-US" sz="2900" dirty="0"/>
              </a:p>
              <a:p>
                <a:r>
                  <a:rPr lang="en-US" sz="3500" dirty="0"/>
                  <a:t>Ex: Task = multi-class classification with 5 classes </a:t>
                </a:r>
              </a:p>
              <a:p>
                <a:pPr lvl="1"/>
                <a:r>
                  <a:rPr lang="en-US" sz="3100" dirty="0"/>
                  <a:t>True label</a:t>
                </a:r>
                <a:r>
                  <a:rPr lang="en-US" dirty="0"/>
                  <a:t> </a:t>
                </a:r>
                <a14:m>
                  <m:oMath xmlns:m="http://schemas.openxmlformats.org/officeDocument/2006/math">
                    <m:r>
                      <a:rPr lang="en-US" b="0" i="1" dirty="0">
                        <a:solidFill>
                          <a:srgbClr val="0070C0"/>
                        </a:solidFill>
                        <a:latin typeface="Cambria Math" panose="02040503050406030204" pitchFamily="18" charset="0"/>
                      </a:rPr>
                      <m:t>𝑦</m:t>
                    </m:r>
                  </m:oMath>
                </a14:m>
                <a:r>
                  <a:rPr lang="en-US" dirty="0"/>
                  <a:t> </a:t>
                </a:r>
                <a:r>
                  <a:rPr lang="en-US" sz="3100" dirty="0"/>
                  <a:t>belongs to class 3, so one-hot of </a:t>
                </a:r>
                <a14:m>
                  <m:oMath xmlns:m="http://schemas.openxmlformats.org/officeDocument/2006/math">
                    <m:r>
                      <a:rPr lang="en-US" b="0" i="1" dirty="0">
                        <a:solidFill>
                          <a:srgbClr val="0070C0"/>
                        </a:solidFill>
                        <a:latin typeface="Cambria Math" panose="02040503050406030204" pitchFamily="18" charset="0"/>
                      </a:rPr>
                      <m:t>𝑦</m:t>
                    </m:r>
                  </m:oMath>
                </a14:m>
                <a:r>
                  <a:rPr lang="en-US" sz="3100" dirty="0"/>
                  <a:t> =</a:t>
                </a:r>
              </a:p>
              <a:p>
                <a:pPr lvl="1"/>
                <a:r>
                  <a:rPr lang="en-US" dirty="0"/>
                  <a:t>Predicted probability distribution </a:t>
                </a:r>
                <a14:m>
                  <m:oMath xmlns:m="http://schemas.openxmlformats.org/officeDocument/2006/math">
                    <m:acc>
                      <m:accPr>
                        <m:chr m:val="̂"/>
                        <m:ctrlPr>
                          <a:rPr lang="en-US" i="1" dirty="0">
                            <a:solidFill>
                              <a:srgbClr val="0070C0"/>
                            </a:solidFill>
                            <a:latin typeface="Cambria Math" panose="02040503050406030204" pitchFamily="18" charset="0"/>
                          </a:rPr>
                        </m:ctrlPr>
                      </m:accPr>
                      <m:e>
                        <m:r>
                          <a:rPr lang="en-US" i="1" dirty="0">
                            <a:solidFill>
                              <a:srgbClr val="0070C0"/>
                            </a:solidFill>
                            <a:latin typeface="Cambria Math" panose="02040503050406030204" pitchFamily="18" charset="0"/>
                          </a:rPr>
                          <m:t>𝑦</m:t>
                        </m:r>
                      </m:e>
                    </m:acc>
                    <m:r>
                      <a:rPr lang="en-US" i="1" dirty="0">
                        <a:solidFill>
                          <a:srgbClr val="0070C0"/>
                        </a:solidFill>
                        <a:latin typeface="Cambria Math" panose="02040503050406030204" pitchFamily="18" charset="0"/>
                      </a:rPr>
                      <m:t>=</m:t>
                    </m:r>
                    <m:r>
                      <a:rPr lang="en-US" i="1" dirty="0">
                        <a:solidFill>
                          <a:srgbClr val="0070C0"/>
                        </a:solidFill>
                        <a:latin typeface="Cambria Math" panose="02040503050406030204" pitchFamily="18" charset="0"/>
                      </a:rPr>
                      <m:t>𝑓</m:t>
                    </m:r>
                    <m:r>
                      <a:rPr lang="en-US" i="1" dirty="0">
                        <a:solidFill>
                          <a:srgbClr val="0070C0"/>
                        </a:solidFill>
                        <a:latin typeface="Cambria Math" panose="02040503050406030204" pitchFamily="18" charset="0"/>
                      </a:rPr>
                      <m:t>(</m:t>
                    </m:r>
                    <m:r>
                      <a:rPr lang="en-US" i="1" dirty="0">
                        <a:solidFill>
                          <a:srgbClr val="0070C0"/>
                        </a:solidFill>
                        <a:latin typeface="Cambria Math" panose="02040503050406030204" pitchFamily="18" charset="0"/>
                      </a:rPr>
                      <m:t>𝑥</m:t>
                    </m:r>
                    <m:r>
                      <a:rPr lang="en-US" i="1" dirty="0">
                        <a:solidFill>
                          <a:srgbClr val="0070C0"/>
                        </a:solidFill>
                        <a:latin typeface="Cambria Math" panose="02040503050406030204" pitchFamily="18" charset="0"/>
                      </a:rPr>
                      <m:t>)</m:t>
                    </m:r>
                  </m:oMath>
                </a14:m>
                <a:r>
                  <a:rPr lang="en-US" dirty="0"/>
                  <a:t> = </a:t>
                </a:r>
              </a:p>
              <a:p>
                <a:pPr lvl="1"/>
                <a:endParaRPr lang="en-US" sz="700" dirty="0"/>
              </a:p>
              <a:p>
                <a:pPr marL="118872" indent="0">
                  <a:buNone/>
                </a:pPr>
                <a:endParaRPr lang="en-US" dirty="0"/>
              </a:p>
              <a:p>
                <a:pPr lvl="1">
                  <a:spcAft>
                    <a:spcPts val="600"/>
                  </a:spcAft>
                </a:pPr>
                <a14:m>
                  <m:oMath xmlns:m="http://schemas.openxmlformats.org/officeDocument/2006/math">
                    <m:r>
                      <m:rPr>
                        <m:sty m:val="p"/>
                      </m:rPr>
                      <a:rPr lang="en-US" sz="3300" b="0" i="0" smtClean="0">
                        <a:solidFill>
                          <a:srgbClr val="C00000"/>
                        </a:solidFill>
                        <a:latin typeface="Cambria Math" panose="02040503050406030204" pitchFamily="18" charset="0"/>
                        <a:ea typeface="Cambria Math" panose="02040503050406030204" pitchFamily="18" charset="0"/>
                      </a:rPr>
                      <m:t>CE</m:t>
                    </m:r>
                    <m:d>
                      <m:dPr>
                        <m:ctrlPr>
                          <a:rPr lang="en-US" sz="3300" b="0" i="1" smtClean="0">
                            <a:solidFill>
                              <a:srgbClr val="C00000"/>
                            </a:solidFill>
                            <a:latin typeface="Cambria Math" panose="02040503050406030204" pitchFamily="18" charset="0"/>
                            <a:ea typeface="Cambria Math" panose="02040503050406030204" pitchFamily="18" charset="0"/>
                          </a:rPr>
                        </m:ctrlPr>
                      </m:dPr>
                      <m:e>
                        <m:r>
                          <a:rPr lang="en-US" sz="3300" b="1" i="1" smtClean="0">
                            <a:latin typeface="Cambria Math" panose="02040503050406030204" pitchFamily="18" charset="0"/>
                            <a:ea typeface="Cambria Math" panose="02040503050406030204" pitchFamily="18" charset="0"/>
                          </a:rPr>
                          <m:t>𝒚</m:t>
                        </m:r>
                        <m:r>
                          <a:rPr lang="en-US" sz="3300" b="0" i="1" smtClean="0">
                            <a:latin typeface="Cambria Math" panose="02040503050406030204" pitchFamily="18" charset="0"/>
                            <a:ea typeface="Cambria Math" panose="02040503050406030204" pitchFamily="18" charset="0"/>
                          </a:rPr>
                          <m:t>,</m:t>
                        </m:r>
                        <m:acc>
                          <m:accPr>
                            <m:chr m:val="̂"/>
                            <m:ctrlPr>
                              <a:rPr lang="en-US" sz="3300" b="1" i="1" smtClean="0">
                                <a:solidFill>
                                  <a:schemeClr val="tx1"/>
                                </a:solidFill>
                                <a:latin typeface="Cambria Math" panose="02040503050406030204" pitchFamily="18" charset="0"/>
                                <a:ea typeface="Cambria Math" panose="02040503050406030204" pitchFamily="18" charset="0"/>
                              </a:rPr>
                            </m:ctrlPr>
                          </m:accPr>
                          <m:e>
                            <m:r>
                              <a:rPr lang="en-US" sz="3300" b="1" i="1" smtClean="0">
                                <a:solidFill>
                                  <a:schemeClr val="tx1"/>
                                </a:solidFill>
                                <a:latin typeface="Cambria Math" panose="02040503050406030204" pitchFamily="18" charset="0"/>
                                <a:ea typeface="Cambria Math" panose="02040503050406030204" pitchFamily="18" charset="0"/>
                              </a:rPr>
                              <m:t>𝒚</m:t>
                            </m:r>
                          </m:e>
                        </m:acc>
                      </m:e>
                    </m:d>
                    <m:r>
                      <a:rPr lang="en-US" sz="3300" b="0" i="1" smtClean="0">
                        <a:latin typeface="Cambria Math" panose="02040503050406030204" pitchFamily="18" charset="0"/>
                        <a:ea typeface="Cambria Math" panose="02040503050406030204" pitchFamily="18" charset="0"/>
                      </a:rPr>
                      <m:t>=−</m:t>
                    </m:r>
                    <m:nary>
                      <m:naryPr>
                        <m:chr m:val="∑"/>
                        <m:ctrlPr>
                          <a:rPr lang="en-US" sz="3300" b="0" i="1" smtClean="0">
                            <a:latin typeface="Cambria Math" panose="02040503050406030204" pitchFamily="18" charset="0"/>
                            <a:ea typeface="Cambria Math" panose="02040503050406030204" pitchFamily="18" charset="0"/>
                          </a:rPr>
                        </m:ctrlPr>
                      </m:naryPr>
                      <m:sub>
                        <m:r>
                          <m:rPr>
                            <m:brk m:alnAt="23"/>
                          </m:rPr>
                          <a:rPr lang="en-US" sz="3300" b="0" i="1" smtClean="0">
                            <a:latin typeface="Cambria Math" panose="02040503050406030204" pitchFamily="18" charset="0"/>
                            <a:ea typeface="Cambria Math" panose="02040503050406030204" pitchFamily="18" charset="0"/>
                          </a:rPr>
                          <m:t>𝑖</m:t>
                        </m:r>
                        <m:r>
                          <a:rPr lang="en-US" sz="3300" b="0" i="1" smtClean="0">
                            <a:latin typeface="Cambria Math" panose="02040503050406030204" pitchFamily="18" charset="0"/>
                            <a:ea typeface="Cambria Math" panose="02040503050406030204" pitchFamily="18" charset="0"/>
                          </a:rPr>
                          <m:t>=1</m:t>
                        </m:r>
                      </m:sub>
                      <m:sup>
                        <m:r>
                          <a:rPr lang="en-US" sz="3300" b="0" i="1" smtClean="0">
                            <a:latin typeface="Cambria Math" panose="02040503050406030204" pitchFamily="18" charset="0"/>
                            <a:ea typeface="Cambria Math" panose="02040503050406030204" pitchFamily="18" charset="0"/>
                          </a:rPr>
                          <m:t>𝐶</m:t>
                        </m:r>
                      </m:sup>
                      <m:e>
                        <m:d>
                          <m:dPr>
                            <m:ctrlPr>
                              <a:rPr lang="en-US" sz="3300" b="0" i="1" smtClean="0">
                                <a:latin typeface="Cambria Math" panose="02040503050406030204" pitchFamily="18" charset="0"/>
                                <a:ea typeface="Cambria Math" panose="02040503050406030204" pitchFamily="18" charset="0"/>
                              </a:rPr>
                            </m:ctrlPr>
                          </m:dPr>
                          <m:e>
                            <m:sSub>
                              <m:sSubPr>
                                <m:ctrlPr>
                                  <a:rPr lang="en-US" sz="3300" b="0" i="1" smtClean="0">
                                    <a:latin typeface="Cambria Math" panose="02040503050406030204" pitchFamily="18" charset="0"/>
                                    <a:ea typeface="Cambria Math" panose="02040503050406030204" pitchFamily="18" charset="0"/>
                                  </a:rPr>
                                </m:ctrlPr>
                              </m:sSubPr>
                              <m:e>
                                <m:r>
                                  <a:rPr lang="en-US" sz="3300" b="0" i="1" smtClean="0">
                                    <a:latin typeface="Cambria Math" panose="02040503050406030204" pitchFamily="18" charset="0"/>
                                    <a:ea typeface="Cambria Math" panose="02040503050406030204" pitchFamily="18" charset="0"/>
                                  </a:rPr>
                                  <m:t>𝑦</m:t>
                                </m:r>
                              </m:e>
                              <m:sub>
                                <m:r>
                                  <a:rPr lang="en-US" sz="3300" b="0" i="1" smtClean="0">
                                    <a:latin typeface="Cambria Math" panose="02040503050406030204" pitchFamily="18" charset="0"/>
                                    <a:ea typeface="Cambria Math" panose="02040503050406030204" pitchFamily="18" charset="0"/>
                                  </a:rPr>
                                  <m:t>𝑖</m:t>
                                </m:r>
                              </m:sub>
                            </m:sSub>
                            <m:func>
                              <m:funcPr>
                                <m:ctrlPr>
                                  <a:rPr lang="en-US" sz="3300" b="0" i="1" smtClean="0">
                                    <a:latin typeface="Cambria Math" panose="02040503050406030204" pitchFamily="18" charset="0"/>
                                    <a:ea typeface="Cambria Math" panose="02040503050406030204" pitchFamily="18" charset="0"/>
                                  </a:rPr>
                                </m:ctrlPr>
                              </m:funcPr>
                              <m:fName>
                                <m:r>
                                  <m:rPr>
                                    <m:sty m:val="p"/>
                                  </m:rPr>
                                  <a:rPr lang="en-US" sz="3300" b="0" i="0" smtClean="0">
                                    <a:latin typeface="Cambria Math" panose="02040503050406030204" pitchFamily="18" charset="0"/>
                                    <a:ea typeface="Cambria Math" panose="02040503050406030204" pitchFamily="18" charset="0"/>
                                  </a:rPr>
                                  <m:t>log</m:t>
                                </m:r>
                              </m:fName>
                              <m:e>
                                <m:acc>
                                  <m:accPr>
                                    <m:chr m:val="̂"/>
                                    <m:ctrlPr>
                                      <a:rPr lang="en-US" sz="3300" i="1">
                                        <a:latin typeface="Cambria Math" panose="02040503050406030204" pitchFamily="18" charset="0"/>
                                        <a:ea typeface="Cambria Math" panose="02040503050406030204" pitchFamily="18" charset="0"/>
                                      </a:rPr>
                                    </m:ctrlPr>
                                  </m:accPr>
                                  <m:e>
                                    <m:r>
                                      <a:rPr lang="en-US" sz="3300" b="0" i="1">
                                        <a:latin typeface="Cambria Math" panose="02040503050406030204" pitchFamily="18" charset="0"/>
                                        <a:ea typeface="Cambria Math" panose="02040503050406030204" pitchFamily="18" charset="0"/>
                                      </a:rPr>
                                      <m:t>𝑦</m:t>
                                    </m:r>
                                  </m:e>
                                </m:acc>
                                <m:r>
                                  <a:rPr lang="en-US" sz="3300" b="0" i="1" baseline="-25000" smtClean="0">
                                    <a:latin typeface="Cambria Math" panose="02040503050406030204" pitchFamily="18" charset="0"/>
                                    <a:ea typeface="Cambria Math" panose="02040503050406030204" pitchFamily="18" charset="0"/>
                                  </a:rPr>
                                  <m:t>𝑖</m:t>
                                </m:r>
                              </m:e>
                            </m:func>
                          </m:e>
                        </m:d>
                      </m:e>
                    </m:nary>
                    <m:r>
                      <a:rPr lang="en-US" sz="3700" b="0" i="1" smtClean="0">
                        <a:latin typeface="Cambria Math" panose="02040503050406030204" pitchFamily="18" charset="0"/>
                        <a:ea typeface="Cambria Math" panose="02040503050406030204" pitchFamily="18" charset="0"/>
                      </a:rPr>
                      <m:t>=−</m:t>
                    </m:r>
                    <m:r>
                      <m:rPr>
                        <m:sty m:val="p"/>
                      </m:rPr>
                      <a:rPr lang="en-US" sz="3700" b="0" i="0" smtClean="0">
                        <a:latin typeface="Cambria Math" panose="02040503050406030204" pitchFamily="18" charset="0"/>
                        <a:ea typeface="Cambria Math" panose="02040503050406030204" pitchFamily="18" charset="0"/>
                      </a:rPr>
                      <m:t>log</m:t>
                    </m:r>
                    <m:r>
                      <a:rPr lang="en-US" sz="3700" b="0" i="1" smtClean="0">
                        <a:latin typeface="Cambria Math" panose="02040503050406030204" pitchFamily="18" charset="0"/>
                        <a:ea typeface="Cambria Math" panose="02040503050406030204" pitchFamily="18" charset="0"/>
                      </a:rPr>
                      <m:t>⁡(</m:t>
                    </m:r>
                    <m:acc>
                      <m:accPr>
                        <m:chr m:val="̂"/>
                        <m:ctrlPr>
                          <a:rPr lang="en-US" sz="4000" i="1">
                            <a:latin typeface="Cambria Math" panose="02040503050406030204" pitchFamily="18" charset="0"/>
                            <a:ea typeface="Cambria Math" panose="02040503050406030204" pitchFamily="18" charset="0"/>
                          </a:rPr>
                        </m:ctrlPr>
                      </m:accPr>
                      <m:e>
                        <m:r>
                          <a:rPr lang="en-US" sz="4000" b="0" i="1">
                            <a:latin typeface="Cambria Math" panose="02040503050406030204" pitchFamily="18" charset="0"/>
                            <a:ea typeface="Cambria Math" panose="02040503050406030204" pitchFamily="18" charset="0"/>
                          </a:rPr>
                          <m:t>𝑦</m:t>
                        </m:r>
                      </m:e>
                    </m:acc>
                    <m:r>
                      <m:rPr>
                        <m:sty m:val="p"/>
                      </m:rPr>
                      <a:rPr lang="en-US" sz="4000" b="0" i="0" baseline="-25000" smtClean="0">
                        <a:latin typeface="Cambria Math" panose="02040503050406030204" pitchFamily="18" charset="0"/>
                        <a:ea typeface="Cambria Math" panose="02040503050406030204" pitchFamily="18" charset="0"/>
                      </a:rPr>
                      <m:t>correct</m:t>
                    </m:r>
                    <m:r>
                      <a:rPr lang="en-US" sz="4000" b="0" i="0" baseline="-25000" smtClean="0">
                        <a:latin typeface="Cambria Math" panose="02040503050406030204" pitchFamily="18" charset="0"/>
                        <a:ea typeface="Cambria Math" panose="02040503050406030204" pitchFamily="18" charset="0"/>
                      </a:rPr>
                      <m:t> </m:t>
                    </m:r>
                    <m:r>
                      <m:rPr>
                        <m:sty m:val="p"/>
                      </m:rPr>
                      <a:rPr lang="en-US" sz="4000" b="0" i="0" baseline="-25000" smtClean="0">
                        <a:latin typeface="Cambria Math" panose="02040503050406030204" pitchFamily="18" charset="0"/>
                        <a:ea typeface="Cambria Math" panose="02040503050406030204" pitchFamily="18" charset="0"/>
                      </a:rPr>
                      <m:t>class</m:t>
                    </m:r>
                    <m:r>
                      <a:rPr lang="en-US" sz="3700" b="0" i="1" smtClean="0">
                        <a:latin typeface="Cambria Math" panose="02040503050406030204" pitchFamily="18" charset="0"/>
                        <a:ea typeface="Cambria Math" panose="02040503050406030204" pitchFamily="18" charset="0"/>
                      </a:rPr>
                      <m:t>)</m:t>
                    </m:r>
                  </m:oMath>
                </a14:m>
                <a:endParaRPr lang="en-US" sz="3700" dirty="0">
                  <a:highlight>
                    <a:srgbClr val="FFFF00"/>
                  </a:highlight>
                </a:endParaRPr>
              </a:p>
              <a:p>
                <a:pPr lvl="1">
                  <a:spcBef>
                    <a:spcPts val="600"/>
                  </a:spcBef>
                  <a:spcAft>
                    <a:spcPts val="600"/>
                  </a:spcAft>
                </a:pPr>
                <a:endParaRPr lang="en-US" i="1" dirty="0">
                  <a:latin typeface="Cambria Math" panose="02040503050406030204" pitchFamily="18" charset="0"/>
                  <a:ea typeface="Cambria Math" panose="02040503050406030204" pitchFamily="18" charset="0"/>
                </a:endParaRPr>
              </a:p>
              <a:p>
                <a:pPr lvl="1">
                  <a:spcBef>
                    <a:spcPts val="600"/>
                  </a:spcBef>
                  <a:spcAft>
                    <a:spcPts val="600"/>
                  </a:spcAft>
                </a:pP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𝑦</m:t>
                        </m:r>
                      </m:e>
                      <m:sub>
                        <m:r>
                          <a:rPr lang="en-US" i="1">
                            <a:latin typeface="Cambria Math" panose="02040503050406030204" pitchFamily="18" charset="0"/>
                            <a:ea typeface="Cambria Math" panose="02040503050406030204" pitchFamily="18" charset="0"/>
                          </a:rPr>
                          <m:t>𝑖</m:t>
                        </m:r>
                      </m:sub>
                    </m:sSub>
                  </m:oMath>
                </a14:m>
                <a:r>
                  <a:rPr lang="en-US" b="0" dirty="0"/>
                  <a:t>, </a:t>
                </a:r>
                <a14:m>
                  <m:oMath xmlns:m="http://schemas.openxmlformats.org/officeDocument/2006/math">
                    <m:acc>
                      <m:accPr>
                        <m:chr m:val="̂"/>
                        <m:ctrlPr>
                          <a:rPr lang="en-US" i="1">
                            <a:latin typeface="Cambria Math" panose="02040503050406030204" pitchFamily="18" charset="0"/>
                            <a:ea typeface="Cambria Math" panose="02040503050406030204" pitchFamily="18" charset="0"/>
                          </a:rPr>
                        </m:ctrlPr>
                      </m:accPr>
                      <m:e>
                        <m:r>
                          <a:rPr lang="en-US" b="0" i="1">
                            <a:latin typeface="Cambria Math" panose="02040503050406030204" pitchFamily="18" charset="0"/>
                            <a:ea typeface="Cambria Math" panose="02040503050406030204" pitchFamily="18" charset="0"/>
                          </a:rPr>
                          <m:t>𝑦</m:t>
                        </m:r>
                      </m:e>
                    </m:acc>
                    <m:r>
                      <a:rPr lang="en-US" b="0" i="1" baseline="-25000" smtClean="0">
                        <a:latin typeface="Cambria Math" panose="02040503050406030204" pitchFamily="18" charset="0"/>
                        <a:ea typeface="Cambria Math" panose="02040503050406030204" pitchFamily="18" charset="0"/>
                      </a:rPr>
                      <m:t>𝑖</m:t>
                    </m:r>
                  </m:oMath>
                </a14:m>
                <a:r>
                  <a:rPr lang="en-US" b="0" dirty="0"/>
                  <a:t> are the </a:t>
                </a:r>
                <a:r>
                  <a:rPr lang="en-US" b="1" dirty="0"/>
                  <a:t>actual</a:t>
                </a:r>
                <a:r>
                  <a:rPr lang="en-US" b="0" dirty="0"/>
                  <a:t> and </a:t>
                </a:r>
                <a:r>
                  <a:rPr lang="en-US" b="1" dirty="0"/>
                  <a:t>predicted</a:t>
                </a:r>
                <a:r>
                  <a:rPr lang="en-US" b="0" dirty="0"/>
                  <a:t> value of the </a:t>
                </a:r>
                <a14:m>
                  <m:oMath xmlns:m="http://schemas.openxmlformats.org/officeDocument/2006/math">
                    <m:r>
                      <a:rPr lang="en-US" i="1">
                        <a:latin typeface="Cambria Math" panose="02040503050406030204" pitchFamily="18" charset="0"/>
                        <a:ea typeface="Cambria Math" panose="02040503050406030204" pitchFamily="18" charset="0"/>
                      </a:rPr>
                      <m:t>𝑖</m:t>
                    </m:r>
                  </m:oMath>
                </a14:m>
                <a:r>
                  <a:rPr lang="en-US" b="0" dirty="0"/>
                  <a:t>-</a:t>
                </a:r>
                <a:r>
                  <a:rPr lang="en-US" b="0" dirty="0" err="1"/>
                  <a:t>th</a:t>
                </a:r>
                <a:r>
                  <a:rPr lang="en-US" b="0" dirty="0"/>
                  <a:t> class.</a:t>
                </a:r>
              </a:p>
              <a:p>
                <a:pPr>
                  <a:spcBef>
                    <a:spcPts val="600"/>
                  </a:spcBef>
                  <a:spcAft>
                    <a:spcPts val="600"/>
                  </a:spcAft>
                </a:pPr>
                <a:endParaRPr lang="en-US" b="1" dirty="0"/>
              </a:p>
              <a:p>
                <a:pPr>
                  <a:spcBef>
                    <a:spcPts val="600"/>
                  </a:spcBef>
                  <a:spcAft>
                    <a:spcPts val="600"/>
                  </a:spcAft>
                </a:pPr>
                <a:r>
                  <a:rPr lang="en-US" b="1" dirty="0"/>
                  <a:t>Intuition:</a:t>
                </a:r>
                <a:r>
                  <a:rPr lang="en-US" dirty="0"/>
                  <a:t> the lower the loss, the closer the prediction is to one-hot </a:t>
                </a:r>
                <a14:m>
                  <m:oMath xmlns:m="http://schemas.openxmlformats.org/officeDocument/2006/math">
                    <m:r>
                      <a:rPr lang="en-US" b="1" i="1" dirty="0">
                        <a:solidFill>
                          <a:srgbClr val="0070C0"/>
                        </a:solidFill>
                        <a:latin typeface="Cambria Math" panose="02040503050406030204" pitchFamily="18" charset="0"/>
                      </a:rPr>
                      <m:t>𝒚</m:t>
                    </m:r>
                  </m:oMath>
                </a14:m>
                <a:endParaRPr lang="en-US" dirty="0"/>
              </a:p>
            </p:txBody>
          </p:sp>
        </mc:Choice>
        <mc:Fallback xmlns="">
          <p:sp>
            <p:nvSpPr>
              <p:cNvPr id="3" name="Content Placeholder 2">
                <a:extLst>
                  <a:ext uri="{FF2B5EF4-FFF2-40B4-BE49-F238E27FC236}">
                    <a16:creationId xmlns:a16="http://schemas.microsoft.com/office/drawing/2014/main" id="{9BB5F910-B8C5-43E6-8D93-C1532BB9FB6F}"/>
                  </a:ext>
                </a:extLst>
              </p:cNvPr>
              <p:cNvSpPr>
                <a:spLocks noGrp="1" noRot="1" noChangeAspect="1" noMove="1" noResize="1" noEditPoints="1" noAdjustHandles="1" noChangeArrowheads="1" noChangeShapeType="1" noTextEdit="1"/>
              </p:cNvSpPr>
              <p:nvPr>
                <p:ph idx="1"/>
              </p:nvPr>
            </p:nvSpPr>
            <p:spPr>
              <a:xfrm>
                <a:off x="457200" y="1295400"/>
                <a:ext cx="8686800" cy="5562600"/>
              </a:xfrm>
              <a:blipFill>
                <a:blip r:embed="rId3"/>
                <a:stretch>
                  <a:fillRect t="-1826" r="-877" b="-685"/>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4F30763B-5E9A-413C-B576-1A9E1EEDAEC1}"/>
              </a:ext>
            </a:extLst>
          </p:cNvPr>
          <p:cNvSpPr>
            <a:spLocks noGrp="1"/>
          </p:cNvSpPr>
          <p:nvPr>
            <p:ph type="dt" sz="half" idx="10"/>
          </p:nvPr>
        </p:nvSpPr>
        <p:spPr/>
        <p:txBody>
          <a:bodyPr/>
          <a:lstStyle/>
          <a:p>
            <a:fld id="{17CBAA14-3A24-E245-817F-EE12C764B054}" type="datetime1">
              <a:rPr lang="en-US" smtClean="0"/>
              <a:t>11/3/24</a:t>
            </a:fld>
            <a:endParaRPr lang="en-US"/>
          </a:p>
        </p:txBody>
      </p:sp>
      <p:sp>
        <p:nvSpPr>
          <p:cNvPr id="5" name="Footer Placeholder 4">
            <a:extLst>
              <a:ext uri="{FF2B5EF4-FFF2-40B4-BE49-F238E27FC236}">
                <a16:creationId xmlns:a16="http://schemas.microsoft.com/office/drawing/2014/main" id="{FA761425-A2F7-41BB-A3BA-619D0213F82E}"/>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689E3C34-ECBA-4269-94DD-C11C7C0476DF}"/>
              </a:ext>
            </a:extLst>
          </p:cNvPr>
          <p:cNvSpPr>
            <a:spLocks noGrp="1"/>
          </p:cNvSpPr>
          <p:nvPr>
            <p:ph type="sldNum" sz="quarter" idx="12"/>
          </p:nvPr>
        </p:nvSpPr>
        <p:spPr/>
        <p:txBody>
          <a:bodyPr/>
          <a:lstStyle/>
          <a:p>
            <a:fld id="{19B12225-5612-419B-A8D5-4B8EEE4C217E}" type="slidenum">
              <a:rPr lang="en-US" smtClean="0"/>
              <a:pPr/>
              <a:t>31</a:t>
            </a:fld>
            <a:endParaRPr lang="en-US"/>
          </a:p>
        </p:txBody>
      </p:sp>
      <p:graphicFrame>
        <p:nvGraphicFramePr>
          <p:cNvPr id="7" name="Table 7">
            <a:extLst>
              <a:ext uri="{FF2B5EF4-FFF2-40B4-BE49-F238E27FC236}">
                <a16:creationId xmlns:a16="http://schemas.microsoft.com/office/drawing/2014/main" id="{B591E133-3915-42BD-84C8-DAC273145B28}"/>
              </a:ext>
            </a:extLst>
          </p:cNvPr>
          <p:cNvGraphicFramePr>
            <a:graphicFrameLocks noGrp="1"/>
          </p:cNvGraphicFramePr>
          <p:nvPr>
            <p:extLst>
              <p:ext uri="{D42A27DB-BD31-4B8C-83A1-F6EECF244321}">
                <p14:modId xmlns:p14="http://schemas.microsoft.com/office/powerpoint/2010/main" val="1050084734"/>
              </p:ext>
            </p:extLst>
          </p:nvPr>
        </p:nvGraphicFramePr>
        <p:xfrm>
          <a:off x="7170550" y="3048000"/>
          <a:ext cx="1767710" cy="320040"/>
        </p:xfrm>
        <a:graphic>
          <a:graphicData uri="http://schemas.openxmlformats.org/drawingml/2006/table">
            <a:tbl>
              <a:tblPr firstRow="1" bandRow="1">
                <a:tableStyleId>{5940675A-B579-460E-94D1-54222C63F5DA}</a:tableStyleId>
              </a:tblPr>
              <a:tblGrid>
                <a:gridCol w="353542">
                  <a:extLst>
                    <a:ext uri="{9D8B030D-6E8A-4147-A177-3AD203B41FA5}">
                      <a16:colId xmlns:a16="http://schemas.microsoft.com/office/drawing/2014/main" val="2803509473"/>
                    </a:ext>
                  </a:extLst>
                </a:gridCol>
                <a:gridCol w="353542">
                  <a:extLst>
                    <a:ext uri="{9D8B030D-6E8A-4147-A177-3AD203B41FA5}">
                      <a16:colId xmlns:a16="http://schemas.microsoft.com/office/drawing/2014/main" val="2781578608"/>
                    </a:ext>
                  </a:extLst>
                </a:gridCol>
                <a:gridCol w="353542">
                  <a:extLst>
                    <a:ext uri="{9D8B030D-6E8A-4147-A177-3AD203B41FA5}">
                      <a16:colId xmlns:a16="http://schemas.microsoft.com/office/drawing/2014/main" val="1704327119"/>
                    </a:ext>
                  </a:extLst>
                </a:gridCol>
                <a:gridCol w="353542">
                  <a:extLst>
                    <a:ext uri="{9D8B030D-6E8A-4147-A177-3AD203B41FA5}">
                      <a16:colId xmlns:a16="http://schemas.microsoft.com/office/drawing/2014/main" val="611479000"/>
                    </a:ext>
                  </a:extLst>
                </a:gridCol>
                <a:gridCol w="353542">
                  <a:extLst>
                    <a:ext uri="{9D8B030D-6E8A-4147-A177-3AD203B41FA5}">
                      <a16:colId xmlns:a16="http://schemas.microsoft.com/office/drawing/2014/main" val="4086214590"/>
                    </a:ext>
                  </a:extLst>
                </a:gridCol>
              </a:tblGrid>
              <a:tr h="182880">
                <a:tc>
                  <a:txBody>
                    <a:bodyPr/>
                    <a:lstStyle/>
                    <a:p>
                      <a:pPr algn="ctr"/>
                      <a:r>
                        <a:rPr lang="en-US" sz="1500" dirty="0"/>
                        <a:t>0</a:t>
                      </a:r>
                    </a:p>
                  </a:txBody>
                  <a:tcPr/>
                </a:tc>
                <a:tc>
                  <a:txBody>
                    <a:bodyPr/>
                    <a:lstStyle/>
                    <a:p>
                      <a:pPr algn="ctr"/>
                      <a:r>
                        <a:rPr lang="en-US" sz="1500" dirty="0"/>
                        <a:t>0</a:t>
                      </a:r>
                    </a:p>
                  </a:txBody>
                  <a:tcPr/>
                </a:tc>
                <a:tc>
                  <a:txBody>
                    <a:bodyPr/>
                    <a:lstStyle/>
                    <a:p>
                      <a:pPr algn="ctr"/>
                      <a:r>
                        <a:rPr lang="en-US" sz="1500" dirty="0"/>
                        <a:t>1</a:t>
                      </a:r>
                    </a:p>
                  </a:txBody>
                  <a:tcPr/>
                </a:tc>
                <a:tc>
                  <a:txBody>
                    <a:bodyPr/>
                    <a:lstStyle/>
                    <a:p>
                      <a:pPr algn="ctr"/>
                      <a:r>
                        <a:rPr lang="en-US" sz="1500" dirty="0"/>
                        <a:t>0</a:t>
                      </a:r>
                    </a:p>
                  </a:txBody>
                  <a:tcPr/>
                </a:tc>
                <a:tc>
                  <a:txBody>
                    <a:bodyPr/>
                    <a:lstStyle/>
                    <a:p>
                      <a:pPr algn="ctr"/>
                      <a:r>
                        <a:rPr lang="en-US" sz="1500" dirty="0"/>
                        <a:t>0</a:t>
                      </a:r>
                    </a:p>
                  </a:txBody>
                  <a:tcPr/>
                </a:tc>
                <a:extLst>
                  <a:ext uri="{0D108BD9-81ED-4DB2-BD59-A6C34878D82A}">
                    <a16:rowId xmlns:a16="http://schemas.microsoft.com/office/drawing/2014/main" val="2067912320"/>
                  </a:ext>
                </a:extLst>
              </a:tr>
            </a:tbl>
          </a:graphicData>
        </a:graphic>
      </p:graphicFrame>
      <p:graphicFrame>
        <p:nvGraphicFramePr>
          <p:cNvPr id="11" name="Table 7">
            <a:extLst>
              <a:ext uri="{FF2B5EF4-FFF2-40B4-BE49-F238E27FC236}">
                <a16:creationId xmlns:a16="http://schemas.microsoft.com/office/drawing/2014/main" id="{9F4E957D-D070-D847-91D3-1B80638CDE2E}"/>
              </a:ext>
            </a:extLst>
          </p:cNvPr>
          <p:cNvGraphicFramePr>
            <a:graphicFrameLocks noGrp="1"/>
          </p:cNvGraphicFramePr>
          <p:nvPr>
            <p:extLst>
              <p:ext uri="{D42A27DB-BD31-4B8C-83A1-F6EECF244321}">
                <p14:modId xmlns:p14="http://schemas.microsoft.com/office/powerpoint/2010/main" val="3616705963"/>
              </p:ext>
            </p:extLst>
          </p:nvPr>
        </p:nvGraphicFramePr>
        <p:xfrm>
          <a:off x="6553200" y="3429000"/>
          <a:ext cx="2385060" cy="320040"/>
        </p:xfrm>
        <a:graphic>
          <a:graphicData uri="http://schemas.openxmlformats.org/drawingml/2006/table">
            <a:tbl>
              <a:tblPr firstRow="1" bandRow="1">
                <a:tableStyleId>{5940675A-B579-460E-94D1-54222C63F5DA}</a:tableStyleId>
              </a:tblPr>
              <a:tblGrid>
                <a:gridCol w="477012">
                  <a:extLst>
                    <a:ext uri="{9D8B030D-6E8A-4147-A177-3AD203B41FA5}">
                      <a16:colId xmlns:a16="http://schemas.microsoft.com/office/drawing/2014/main" val="2803509473"/>
                    </a:ext>
                  </a:extLst>
                </a:gridCol>
                <a:gridCol w="477012">
                  <a:extLst>
                    <a:ext uri="{9D8B030D-6E8A-4147-A177-3AD203B41FA5}">
                      <a16:colId xmlns:a16="http://schemas.microsoft.com/office/drawing/2014/main" val="2781578608"/>
                    </a:ext>
                  </a:extLst>
                </a:gridCol>
                <a:gridCol w="477012">
                  <a:extLst>
                    <a:ext uri="{9D8B030D-6E8A-4147-A177-3AD203B41FA5}">
                      <a16:colId xmlns:a16="http://schemas.microsoft.com/office/drawing/2014/main" val="1704327119"/>
                    </a:ext>
                  </a:extLst>
                </a:gridCol>
                <a:gridCol w="477012">
                  <a:extLst>
                    <a:ext uri="{9D8B030D-6E8A-4147-A177-3AD203B41FA5}">
                      <a16:colId xmlns:a16="http://schemas.microsoft.com/office/drawing/2014/main" val="611479000"/>
                    </a:ext>
                  </a:extLst>
                </a:gridCol>
                <a:gridCol w="477012">
                  <a:extLst>
                    <a:ext uri="{9D8B030D-6E8A-4147-A177-3AD203B41FA5}">
                      <a16:colId xmlns:a16="http://schemas.microsoft.com/office/drawing/2014/main" val="4086214590"/>
                    </a:ext>
                  </a:extLst>
                </a:gridCol>
              </a:tblGrid>
              <a:tr h="182880">
                <a:tc>
                  <a:txBody>
                    <a:bodyPr/>
                    <a:lstStyle/>
                    <a:p>
                      <a:pPr algn="ctr"/>
                      <a:r>
                        <a:rPr lang="en-US" sz="1500" dirty="0"/>
                        <a:t>0.1</a:t>
                      </a:r>
                    </a:p>
                  </a:txBody>
                  <a:tcPr/>
                </a:tc>
                <a:tc>
                  <a:txBody>
                    <a:bodyPr/>
                    <a:lstStyle/>
                    <a:p>
                      <a:pPr algn="ctr"/>
                      <a:r>
                        <a:rPr lang="en-US" sz="1500" dirty="0"/>
                        <a:t>0.3</a:t>
                      </a:r>
                    </a:p>
                  </a:txBody>
                  <a:tcPr/>
                </a:tc>
                <a:tc>
                  <a:txBody>
                    <a:bodyPr/>
                    <a:lstStyle/>
                    <a:p>
                      <a:pPr algn="ctr"/>
                      <a:r>
                        <a:rPr lang="en-US" sz="1500" dirty="0"/>
                        <a:t>0.4</a:t>
                      </a:r>
                    </a:p>
                  </a:txBody>
                  <a:tcPr/>
                </a:tc>
                <a:tc>
                  <a:txBody>
                    <a:bodyPr/>
                    <a:lstStyle/>
                    <a:p>
                      <a:pPr algn="ctr"/>
                      <a:r>
                        <a:rPr lang="en-US" sz="1500" dirty="0"/>
                        <a:t>0.1</a:t>
                      </a:r>
                    </a:p>
                  </a:txBody>
                  <a:tcPr/>
                </a:tc>
                <a:tc>
                  <a:txBody>
                    <a:bodyPr/>
                    <a:lstStyle/>
                    <a:p>
                      <a:pPr algn="ctr"/>
                      <a:r>
                        <a:rPr lang="en-US" sz="1500" dirty="0"/>
                        <a:t>0.1</a:t>
                      </a:r>
                    </a:p>
                  </a:txBody>
                  <a:tcPr/>
                </a:tc>
                <a:extLst>
                  <a:ext uri="{0D108BD9-81ED-4DB2-BD59-A6C34878D82A}">
                    <a16:rowId xmlns:a16="http://schemas.microsoft.com/office/drawing/2014/main" val="2067912320"/>
                  </a:ext>
                </a:extLst>
              </a:tr>
            </a:tbl>
          </a:graphicData>
        </a:graphic>
      </p:graphicFrame>
    </p:spTree>
    <p:extLst>
      <p:ext uri="{BB962C8B-B14F-4D97-AF65-F5344CB8AC3E}">
        <p14:creationId xmlns:p14="http://schemas.microsoft.com/office/powerpoint/2010/main" val="37176331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A3F6C-BCC5-1A4B-A7E2-72EC5C552419}"/>
              </a:ext>
            </a:extLst>
          </p:cNvPr>
          <p:cNvSpPr>
            <a:spLocks noGrp="1"/>
          </p:cNvSpPr>
          <p:nvPr>
            <p:ph type="title"/>
          </p:nvPr>
        </p:nvSpPr>
        <p:spPr/>
        <p:txBody>
          <a:bodyPr/>
          <a:lstStyle/>
          <a:p>
            <a:r>
              <a:rPr lang="en-US" dirty="0"/>
              <a:t>Cross Entropy Loss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0A52C9D-8658-FC4D-AD10-12DA011F62EE}"/>
                  </a:ext>
                </a:extLst>
              </p:cNvPr>
              <p:cNvSpPr>
                <a:spLocks noGrp="1"/>
              </p:cNvSpPr>
              <p:nvPr>
                <p:ph idx="1"/>
              </p:nvPr>
            </p:nvSpPr>
            <p:spPr/>
            <p:txBody>
              <a:bodyPr>
                <a:normAutofit/>
              </a:bodyPr>
              <a:lstStyle/>
              <a:p>
                <a:r>
                  <a:rPr lang="en-US" dirty="0"/>
                  <a:t>Often model’s output is a score for each class, not a probability distribution</a:t>
                </a:r>
              </a:p>
              <a:p>
                <a:r>
                  <a:rPr lang="en-US" dirty="0"/>
                  <a:t>To convert to probability distribution:</a:t>
                </a:r>
              </a:p>
              <a:p>
                <a:pPr marL="457200" lvl="1"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𝑓</m:t>
                      </m:r>
                      <m:d>
                        <m:dPr>
                          <m:ctrlPr>
                            <a:rPr lang="en-US"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e>
                      </m:d>
                      <m:r>
                        <a:rPr lang="en-US" i="1" dirty="0">
                          <a:latin typeface="Cambria Math" panose="02040503050406030204" pitchFamily="18" charset="0"/>
                          <a:ea typeface="Cambria Math" panose="02040503050406030204" pitchFamily="18" charset="0"/>
                        </a:rPr>
                        <m:t>=</m:t>
                      </m:r>
                      <m:r>
                        <m:rPr>
                          <m:sty m:val="p"/>
                        </m:rPr>
                        <a:rPr lang="en-US" dirty="0" err="1">
                          <a:latin typeface="Cambria Math" panose="02040503050406030204" pitchFamily="18" charset="0"/>
                        </a:rPr>
                        <m:t>Softmax</m:t>
                      </m:r>
                      <m:d>
                        <m:dPr>
                          <m:ctrlPr>
                            <a:rPr lang="en-US" i="1" dirty="0">
                              <a:latin typeface="Cambria Math" panose="02040503050406030204" pitchFamily="18" charset="0"/>
                            </a:rPr>
                          </m:ctrlPr>
                        </m:dPr>
                        <m:e>
                          <m:r>
                            <a:rPr lang="en-US" i="1" dirty="0">
                              <a:latin typeface="Cambria Math" panose="02040503050406030204" pitchFamily="18" charset="0"/>
                            </a:rPr>
                            <m:t>𝑔</m:t>
                          </m:r>
                          <m:d>
                            <m:dPr>
                              <m:ctrlPr>
                                <a:rPr lang="en-US" i="1" dirty="0">
                                  <a:latin typeface="Cambria Math" panose="02040503050406030204" pitchFamily="18" charset="0"/>
                                </a:rPr>
                              </m:ctrlPr>
                            </m:dPr>
                            <m:e>
                              <m:r>
                                <a:rPr lang="en-US" b="1" i="1" dirty="0">
                                  <a:latin typeface="Cambria Math" panose="02040503050406030204" pitchFamily="18" charset="0"/>
                                </a:rPr>
                                <m:t>𝒙</m:t>
                              </m:r>
                            </m:e>
                          </m:d>
                        </m:e>
                      </m:d>
                    </m:oMath>
                  </m:oMathPara>
                </a14:m>
                <a:endParaRPr lang="en-US" dirty="0"/>
              </a:p>
              <a:p>
                <a:pPr lvl="1"/>
                <a:endParaRPr lang="en-US" dirty="0"/>
              </a:p>
              <a:p>
                <a:pPr lvl="1"/>
                <a:endParaRPr lang="en-US" dirty="0"/>
              </a:p>
              <a:p>
                <a:pPr lvl="1"/>
                <a:endParaRPr lang="en-US" dirty="0"/>
              </a:p>
              <a:p>
                <a:pPr lvl="1">
                  <a:spcBef>
                    <a:spcPts val="0"/>
                  </a:spcBef>
                </a:pPr>
                <a14:m>
                  <m:oMath xmlns:m="http://schemas.openxmlformats.org/officeDocument/2006/math">
                    <m:r>
                      <a:rPr lang="en-US" i="1">
                        <a:latin typeface="Cambria Math" panose="02040503050406030204" pitchFamily="18" charset="0"/>
                        <a:ea typeface="Cambria Math" panose="02040503050406030204" pitchFamily="18" charset="0"/>
                      </a:rPr>
                      <m:t>𝑓</m:t>
                    </m:r>
                    <m:sSub>
                      <m:sSubPr>
                        <m:ctrlPr>
                          <a:rPr lang="en-US" i="1">
                            <a:latin typeface="Cambria Math" panose="02040503050406030204" pitchFamily="18" charset="0"/>
                            <a:ea typeface="Cambria Math" panose="02040503050406030204" pitchFamily="18" charset="0"/>
                          </a:rPr>
                        </m:ctrlPr>
                      </m:sSubPr>
                      <m:e>
                        <m:d>
                          <m:dPr>
                            <m:ctrlPr>
                              <a:rPr lang="en-US"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e>
                        </m:d>
                      </m:e>
                      <m:sub>
                        <m:r>
                          <a:rPr lang="en-US" i="1">
                            <a:latin typeface="Cambria Math" panose="02040503050406030204" pitchFamily="18" charset="0"/>
                            <a:ea typeface="Cambria Math" panose="02040503050406030204" pitchFamily="18" charset="0"/>
                          </a:rPr>
                          <m:t>𝑖</m:t>
                        </m:r>
                      </m:sub>
                    </m:sSub>
                    <m:r>
                      <a:rPr lang="en-US" i="1">
                        <a:latin typeface="Cambria Math" panose="02040503050406030204" pitchFamily="18" charset="0"/>
                        <a:ea typeface="Cambria Math" panose="02040503050406030204" pitchFamily="18" charset="0"/>
                        <a:cs typeface="Calibri"/>
                      </a:rPr>
                      <m:t>=</m:t>
                    </m:r>
                    <m:f>
                      <m:fPr>
                        <m:ctrlPr>
                          <a:rPr lang="en-US" i="1">
                            <a:latin typeface="Cambria Math" panose="02040503050406030204" pitchFamily="18" charset="0"/>
                            <a:ea typeface="Cambria Math" panose="02040503050406030204" pitchFamily="18" charset="0"/>
                            <a:cs typeface="Calibri"/>
                          </a:rPr>
                        </m:ctrlPr>
                      </m:fPr>
                      <m:num>
                        <m:sSup>
                          <m:sSupPr>
                            <m:ctrlPr>
                              <a:rPr lang="en-US" i="1">
                                <a:latin typeface="Cambria Math" panose="02040503050406030204" pitchFamily="18" charset="0"/>
                                <a:ea typeface="Cambria Math" panose="02040503050406030204" pitchFamily="18" charset="0"/>
                                <a:cs typeface="Calibri"/>
                              </a:rPr>
                            </m:ctrlPr>
                          </m:sSupPr>
                          <m:e>
                            <m:r>
                              <a:rPr lang="en-US" i="1">
                                <a:latin typeface="Cambria Math" panose="02040503050406030204" pitchFamily="18" charset="0"/>
                                <a:ea typeface="Cambria Math" panose="02040503050406030204" pitchFamily="18" charset="0"/>
                                <a:cs typeface="Calibri"/>
                              </a:rPr>
                              <m:t>𝑒</m:t>
                            </m:r>
                          </m:e>
                          <m:sup>
                            <m:sSubSup>
                              <m:sSubSupPr>
                                <m:ctrlPr>
                                  <a:rPr lang="en-US" i="1">
                                    <a:latin typeface="Cambria Math" panose="02040503050406030204" pitchFamily="18" charset="0"/>
                                    <a:ea typeface="Cambria Math" panose="02040503050406030204" pitchFamily="18" charset="0"/>
                                    <a:cs typeface="Calibri"/>
                                  </a:rPr>
                                </m:ctrlPr>
                              </m:sSubSupPr>
                              <m:e>
                                <m:r>
                                  <a:rPr lang="en-US" i="1">
                                    <a:latin typeface="Cambria Math" panose="02040503050406030204" pitchFamily="18" charset="0"/>
                                    <a:ea typeface="Cambria Math" panose="02040503050406030204" pitchFamily="18" charset="0"/>
                                    <a:cs typeface="Calibri"/>
                                  </a:rPr>
                                  <m:t>𝑔</m:t>
                                </m:r>
                                <m:r>
                                  <a:rPr lang="en-US" i="1">
                                    <a:latin typeface="Cambria Math" panose="02040503050406030204" pitchFamily="18" charset="0"/>
                                    <a:ea typeface="Cambria Math" panose="02040503050406030204" pitchFamily="18" charset="0"/>
                                    <a:cs typeface="Calibri"/>
                                  </a:rPr>
                                  <m:t>(</m:t>
                                </m:r>
                                <m:r>
                                  <a:rPr lang="en-US" i="1">
                                    <a:latin typeface="Cambria Math" panose="02040503050406030204" pitchFamily="18" charset="0"/>
                                    <a:ea typeface="Cambria Math" panose="02040503050406030204" pitchFamily="18" charset="0"/>
                                    <a:cs typeface="Calibri"/>
                                  </a:rPr>
                                  <m:t>𝑥</m:t>
                                </m:r>
                                <m:r>
                                  <a:rPr lang="en-US" i="1">
                                    <a:latin typeface="Cambria Math" panose="02040503050406030204" pitchFamily="18" charset="0"/>
                                    <a:ea typeface="Cambria Math" panose="02040503050406030204" pitchFamily="18" charset="0"/>
                                    <a:cs typeface="Calibri"/>
                                  </a:rPr>
                                  <m:t>)</m:t>
                                </m:r>
                              </m:e>
                              <m:sub>
                                <m:r>
                                  <a:rPr lang="en-US" i="1">
                                    <a:latin typeface="Cambria Math" panose="02040503050406030204" pitchFamily="18" charset="0"/>
                                  </a:rPr>
                                  <m:t>𝑖</m:t>
                                </m:r>
                              </m:sub>
                              <m:sup>
                                <m:r>
                                  <a:rPr lang="en-US" i="1">
                                    <a:latin typeface="Cambria Math" panose="02040503050406030204" pitchFamily="18" charset="0"/>
                                  </a:rPr>
                                  <m:t> </m:t>
                                </m:r>
                              </m:sup>
                            </m:sSubSup>
                          </m:sup>
                        </m:sSup>
                      </m:num>
                      <m:den>
                        <m:nary>
                          <m:naryPr>
                            <m:chr m:val="∑"/>
                            <m:ctrlPr>
                              <a:rPr lang="en-US" i="1">
                                <a:latin typeface="Cambria Math" panose="02040503050406030204" pitchFamily="18" charset="0"/>
                                <a:ea typeface="Cambria Math" panose="02040503050406030204" pitchFamily="18" charset="0"/>
                                <a:cs typeface="Calibri"/>
                              </a:rPr>
                            </m:ctrlPr>
                          </m:naryPr>
                          <m:sub>
                            <m:r>
                              <m:rPr>
                                <m:brk m:alnAt="23"/>
                              </m:rPr>
                              <a:rPr lang="en-US" i="1">
                                <a:latin typeface="Cambria Math" panose="02040503050406030204" pitchFamily="18" charset="0"/>
                                <a:ea typeface="Cambria Math" panose="02040503050406030204" pitchFamily="18" charset="0"/>
                                <a:cs typeface="Calibri"/>
                              </a:rPr>
                              <m:t>𝑗</m:t>
                            </m:r>
                            <m:r>
                              <a:rPr lang="en-US" i="1">
                                <a:latin typeface="Cambria Math" panose="02040503050406030204" pitchFamily="18" charset="0"/>
                                <a:ea typeface="Cambria Math" panose="02040503050406030204" pitchFamily="18" charset="0"/>
                                <a:cs typeface="Calibri"/>
                              </a:rPr>
                              <m:t>=1</m:t>
                            </m:r>
                          </m:sub>
                          <m:sup>
                            <m:r>
                              <a:rPr lang="en-US" i="1">
                                <a:latin typeface="Cambria Math" panose="02040503050406030204" pitchFamily="18" charset="0"/>
                                <a:ea typeface="Cambria Math" panose="02040503050406030204" pitchFamily="18" charset="0"/>
                                <a:cs typeface="Calibri"/>
                              </a:rPr>
                              <m:t>𝐶</m:t>
                            </m:r>
                          </m:sup>
                          <m:e>
                            <m:sSup>
                              <m:sSupPr>
                                <m:ctrlPr>
                                  <a:rPr lang="en-US" i="1">
                                    <a:latin typeface="Cambria Math" panose="02040503050406030204" pitchFamily="18" charset="0"/>
                                    <a:ea typeface="Cambria Math" panose="02040503050406030204" pitchFamily="18" charset="0"/>
                                    <a:cs typeface="Calibri"/>
                                  </a:rPr>
                                </m:ctrlPr>
                              </m:sSupPr>
                              <m:e>
                                <m:r>
                                  <a:rPr lang="en-US" i="1">
                                    <a:latin typeface="Cambria Math" panose="02040503050406030204" pitchFamily="18" charset="0"/>
                                    <a:ea typeface="Cambria Math" panose="02040503050406030204" pitchFamily="18" charset="0"/>
                                    <a:cs typeface="Calibri"/>
                                  </a:rPr>
                                  <m:t>𝑒</m:t>
                                </m:r>
                              </m:e>
                              <m:sup>
                                <m:sSubSup>
                                  <m:sSubSupPr>
                                    <m:ctrlPr>
                                      <a:rPr lang="en-US" i="1">
                                        <a:latin typeface="Cambria Math" panose="02040503050406030204" pitchFamily="18" charset="0"/>
                                        <a:ea typeface="Cambria Math" panose="02040503050406030204" pitchFamily="18" charset="0"/>
                                        <a:cs typeface="Calibri"/>
                                      </a:rPr>
                                    </m:ctrlPr>
                                  </m:sSubSupPr>
                                  <m:e>
                                    <m:r>
                                      <a:rPr lang="en-US" i="1">
                                        <a:latin typeface="Cambria Math" panose="02040503050406030204" pitchFamily="18" charset="0"/>
                                        <a:ea typeface="Cambria Math" panose="02040503050406030204" pitchFamily="18" charset="0"/>
                                        <a:cs typeface="Calibri"/>
                                      </a:rPr>
                                      <m:t>𝑔</m:t>
                                    </m:r>
                                    <m:r>
                                      <a:rPr lang="en-US" i="1">
                                        <a:latin typeface="Cambria Math" panose="02040503050406030204" pitchFamily="18" charset="0"/>
                                        <a:ea typeface="Cambria Math" panose="02040503050406030204" pitchFamily="18" charset="0"/>
                                        <a:cs typeface="Calibri"/>
                                      </a:rPr>
                                      <m:t>(</m:t>
                                    </m:r>
                                    <m:r>
                                      <a:rPr lang="en-US" i="1">
                                        <a:latin typeface="Cambria Math" panose="02040503050406030204" pitchFamily="18" charset="0"/>
                                        <a:ea typeface="Cambria Math" panose="02040503050406030204" pitchFamily="18" charset="0"/>
                                        <a:cs typeface="Calibri"/>
                                      </a:rPr>
                                      <m:t>𝑥</m:t>
                                    </m:r>
                                    <m:r>
                                      <a:rPr lang="en-US" i="1">
                                        <a:latin typeface="Cambria Math" panose="02040503050406030204" pitchFamily="18" charset="0"/>
                                        <a:ea typeface="Cambria Math" panose="02040503050406030204" pitchFamily="18" charset="0"/>
                                        <a:cs typeface="Calibri"/>
                                      </a:rPr>
                                      <m:t>)</m:t>
                                    </m:r>
                                  </m:e>
                                  <m:sub>
                                    <m:r>
                                      <a:rPr lang="en-US" i="1">
                                        <a:latin typeface="Cambria Math" panose="02040503050406030204" pitchFamily="18" charset="0"/>
                                        <a:ea typeface="Cambria Math" panose="02040503050406030204" pitchFamily="18" charset="0"/>
                                        <a:cs typeface="Calibri"/>
                                      </a:rPr>
                                      <m:t>𝑗</m:t>
                                    </m:r>
                                  </m:sub>
                                  <m:sup>
                                    <m:r>
                                      <a:rPr lang="en-US" i="1">
                                        <a:latin typeface="Cambria Math" panose="02040503050406030204" pitchFamily="18" charset="0"/>
                                      </a:rPr>
                                      <m:t> </m:t>
                                    </m:r>
                                  </m:sup>
                                </m:sSubSup>
                              </m:sup>
                            </m:sSup>
                          </m:e>
                        </m:nary>
                      </m:den>
                    </m:f>
                  </m:oMath>
                </a14:m>
                <a:endParaRPr lang="en-US" dirty="0"/>
              </a:p>
              <a:p>
                <a:pPr lvl="1"/>
                <a:r>
                  <a:rPr lang="en-US" sz="2000" dirty="0"/>
                  <a:t>It normalizes a vector into a probability distribution that sums to 1</a:t>
                </a:r>
              </a:p>
              <a:p>
                <a:pPr lvl="1"/>
                <a:endParaRPr lang="en-US" dirty="0"/>
              </a:p>
            </p:txBody>
          </p:sp>
        </mc:Choice>
        <mc:Fallback xmlns="">
          <p:sp>
            <p:nvSpPr>
              <p:cNvPr id="3" name="Content Placeholder 2">
                <a:extLst>
                  <a:ext uri="{FF2B5EF4-FFF2-40B4-BE49-F238E27FC236}">
                    <a16:creationId xmlns:a16="http://schemas.microsoft.com/office/drawing/2014/main" id="{60A52C9D-8658-FC4D-AD10-12DA011F62EE}"/>
                  </a:ext>
                </a:extLst>
              </p:cNvPr>
              <p:cNvSpPr>
                <a:spLocks noGrp="1" noRot="1" noChangeAspect="1" noMove="1" noResize="1" noEditPoints="1" noAdjustHandles="1" noChangeArrowheads="1" noChangeShapeType="1" noTextEdit="1"/>
              </p:cNvSpPr>
              <p:nvPr>
                <p:ph idx="1"/>
              </p:nvPr>
            </p:nvSpPr>
            <p:spPr>
              <a:blipFill>
                <a:blip r:embed="rId3"/>
                <a:stretch>
                  <a:fillRect t="-725" r="-1852"/>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526C5794-971A-F841-AE9A-2F9405CA5E12}"/>
              </a:ext>
            </a:extLst>
          </p:cNvPr>
          <p:cNvSpPr>
            <a:spLocks noGrp="1"/>
          </p:cNvSpPr>
          <p:nvPr>
            <p:ph type="dt" sz="half" idx="10"/>
          </p:nvPr>
        </p:nvSpPr>
        <p:spPr/>
        <p:txBody>
          <a:bodyPr/>
          <a:lstStyle/>
          <a:p>
            <a:fld id="{2DFAB963-6248-024C-9385-72FA01C41232}" type="datetime1">
              <a:rPr lang="en-US" smtClean="0"/>
              <a:t>11/3/24</a:t>
            </a:fld>
            <a:endParaRPr lang="en-US"/>
          </a:p>
        </p:txBody>
      </p:sp>
      <p:sp>
        <p:nvSpPr>
          <p:cNvPr id="5" name="Footer Placeholder 4">
            <a:extLst>
              <a:ext uri="{FF2B5EF4-FFF2-40B4-BE49-F238E27FC236}">
                <a16:creationId xmlns:a16="http://schemas.microsoft.com/office/drawing/2014/main" id="{4EEF12A2-ACE7-4941-9D63-51EC37D0F3C4}"/>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1DCEBCDC-E537-F749-A162-47075669458B}"/>
              </a:ext>
            </a:extLst>
          </p:cNvPr>
          <p:cNvSpPr>
            <a:spLocks noGrp="1"/>
          </p:cNvSpPr>
          <p:nvPr>
            <p:ph type="sldNum" sz="quarter" idx="12"/>
          </p:nvPr>
        </p:nvSpPr>
        <p:spPr/>
        <p:txBody>
          <a:bodyPr/>
          <a:lstStyle/>
          <a:p>
            <a:fld id="{19B12225-5612-419B-A8D5-4B8EEE4C217E}" type="slidenum">
              <a:rPr lang="en-US" smtClean="0"/>
              <a:pPr/>
              <a:t>32</a:t>
            </a:fld>
            <a:endParaRPr lang="en-US"/>
          </a:p>
        </p:txBody>
      </p:sp>
      <p:cxnSp>
        <p:nvCxnSpPr>
          <p:cNvPr id="8" name="Straight Arrow Connector 7">
            <a:extLst>
              <a:ext uri="{FF2B5EF4-FFF2-40B4-BE49-F238E27FC236}">
                <a16:creationId xmlns:a16="http://schemas.microsoft.com/office/drawing/2014/main" id="{5C527CB8-EBB1-3C44-A05E-8ADD095CFA60}"/>
              </a:ext>
            </a:extLst>
          </p:cNvPr>
          <p:cNvCxnSpPr>
            <a:cxnSpLocks/>
          </p:cNvCxnSpPr>
          <p:nvPr/>
        </p:nvCxnSpPr>
        <p:spPr>
          <a:xfrm flipH="1" flipV="1">
            <a:off x="5638800" y="3429000"/>
            <a:ext cx="685800" cy="457200"/>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0A7A718B-5FAE-D040-991E-607E4CDA69E6}"/>
              </a:ext>
            </a:extLst>
          </p:cNvPr>
          <p:cNvSpPr txBox="1"/>
          <p:nvPr/>
        </p:nvSpPr>
        <p:spPr>
          <a:xfrm>
            <a:off x="6400800" y="3581400"/>
            <a:ext cx="2057400" cy="646331"/>
          </a:xfrm>
          <a:prstGeom prst="rect">
            <a:avLst/>
          </a:prstGeom>
          <a:noFill/>
        </p:spPr>
        <p:txBody>
          <a:bodyPr wrap="square" rtlCol="0">
            <a:spAutoFit/>
          </a:bodyPr>
          <a:lstStyle/>
          <a:p>
            <a:r>
              <a:rPr lang="en-US" dirty="0">
                <a:solidFill>
                  <a:srgbClr val="0000FF"/>
                </a:solidFill>
                <a:latin typeface="Arial" pitchFamily="34" charset="0"/>
                <a:cs typeface="Arial" pitchFamily="34" charset="0"/>
              </a:rPr>
              <a:t>Output score for each class</a:t>
            </a:r>
          </a:p>
        </p:txBody>
      </p:sp>
      <p:cxnSp>
        <p:nvCxnSpPr>
          <p:cNvPr id="11" name="Straight Arrow Connector 10">
            <a:extLst>
              <a:ext uri="{FF2B5EF4-FFF2-40B4-BE49-F238E27FC236}">
                <a16:creationId xmlns:a16="http://schemas.microsoft.com/office/drawing/2014/main" id="{9E8E7170-E02C-514A-9C57-DB53A1D72007}"/>
              </a:ext>
            </a:extLst>
          </p:cNvPr>
          <p:cNvCxnSpPr>
            <a:cxnSpLocks/>
          </p:cNvCxnSpPr>
          <p:nvPr/>
        </p:nvCxnSpPr>
        <p:spPr>
          <a:xfrm flipV="1">
            <a:off x="2362200" y="3276600"/>
            <a:ext cx="609600" cy="585371"/>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58ADF401-3BB7-0F4B-B649-8A078CA8C51E}"/>
              </a:ext>
            </a:extLst>
          </p:cNvPr>
          <p:cNvSpPr txBox="1"/>
          <p:nvPr/>
        </p:nvSpPr>
        <p:spPr>
          <a:xfrm>
            <a:off x="609600" y="3861971"/>
            <a:ext cx="2438400" cy="646331"/>
          </a:xfrm>
          <a:prstGeom prst="rect">
            <a:avLst/>
          </a:prstGeom>
          <a:noFill/>
        </p:spPr>
        <p:txBody>
          <a:bodyPr wrap="square" rtlCol="0">
            <a:spAutoFit/>
          </a:bodyPr>
          <a:lstStyle/>
          <a:p>
            <a:r>
              <a:rPr lang="en-US" dirty="0">
                <a:solidFill>
                  <a:srgbClr val="0000FF"/>
                </a:solidFill>
                <a:latin typeface="Arial" pitchFamily="34" charset="0"/>
                <a:cs typeface="Arial" pitchFamily="34" charset="0"/>
              </a:rPr>
              <a:t>Probability distribution over classes</a:t>
            </a:r>
          </a:p>
        </p:txBody>
      </p:sp>
      <p:sp>
        <p:nvSpPr>
          <p:cNvPr id="24" name="TextBox 23">
            <a:extLst>
              <a:ext uri="{FF2B5EF4-FFF2-40B4-BE49-F238E27FC236}">
                <a16:creationId xmlns:a16="http://schemas.microsoft.com/office/drawing/2014/main" id="{CDCDF218-E9A2-B045-A45A-FCA2E2D9FC5F}"/>
              </a:ext>
            </a:extLst>
          </p:cNvPr>
          <p:cNvSpPr txBox="1"/>
          <p:nvPr/>
        </p:nvSpPr>
        <p:spPr>
          <a:xfrm>
            <a:off x="4762500" y="4916269"/>
            <a:ext cx="4175760" cy="646331"/>
          </a:xfrm>
          <a:prstGeom prst="rect">
            <a:avLst/>
          </a:prstGeom>
          <a:noFill/>
        </p:spPr>
        <p:txBody>
          <a:bodyPr wrap="square" rtlCol="0">
            <a:spAutoFit/>
          </a:bodyPr>
          <a:lstStyle/>
          <a:p>
            <a:r>
              <a:rPr lang="en-US" dirty="0">
                <a:solidFill>
                  <a:srgbClr val="0000FF"/>
                </a:solidFill>
                <a:latin typeface="Arial" pitchFamily="34" charset="0"/>
                <a:cs typeface="Arial" pitchFamily="34" charset="0"/>
              </a:rPr>
              <a:t>Cross entropy loss sometimes is referred to as </a:t>
            </a:r>
            <a:r>
              <a:rPr lang="en-US" dirty="0" err="1">
                <a:solidFill>
                  <a:srgbClr val="0000FF"/>
                </a:solidFill>
                <a:latin typeface="Arial" pitchFamily="34" charset="0"/>
                <a:cs typeface="Arial" pitchFamily="34" charset="0"/>
              </a:rPr>
              <a:t>softmax</a:t>
            </a:r>
            <a:r>
              <a:rPr lang="en-US" dirty="0">
                <a:solidFill>
                  <a:srgbClr val="0000FF"/>
                </a:solidFill>
                <a:latin typeface="Arial" pitchFamily="34" charset="0"/>
                <a:cs typeface="Arial" pitchFamily="34" charset="0"/>
              </a:rPr>
              <a:t> loss</a:t>
            </a:r>
          </a:p>
        </p:txBody>
      </p:sp>
    </p:spTree>
    <p:extLst>
      <p:ext uri="{BB962C8B-B14F-4D97-AF65-F5344CB8AC3E}">
        <p14:creationId xmlns:p14="http://schemas.microsoft.com/office/powerpoint/2010/main" val="4657630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0E2C9-8623-4A50-A7B0-E0330F367CD1}"/>
              </a:ext>
            </a:extLst>
          </p:cNvPr>
          <p:cNvSpPr>
            <a:spLocks noGrp="1"/>
          </p:cNvSpPr>
          <p:nvPr>
            <p:ph type="title"/>
          </p:nvPr>
        </p:nvSpPr>
        <p:spPr/>
        <p:txBody>
          <a:bodyPr>
            <a:normAutofit/>
          </a:bodyPr>
          <a:lstStyle/>
          <a:p>
            <a:r>
              <a:rPr lang="en-US" dirty="0"/>
              <a:t>Neural Network: Training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B684155-EC9E-4970-A541-E052AAD0E934}"/>
                  </a:ext>
                </a:extLst>
              </p:cNvPr>
              <p:cNvSpPr>
                <a:spLocks noGrp="1"/>
              </p:cNvSpPr>
              <p:nvPr>
                <p:ph idx="1"/>
              </p:nvPr>
            </p:nvSpPr>
            <p:spPr>
              <a:xfrm>
                <a:off x="457200" y="1295400"/>
                <a:ext cx="8366078" cy="5562600"/>
              </a:xfrm>
            </p:spPr>
            <p:txBody>
              <a:bodyPr>
                <a:normAutofit fontScale="85000" lnSpcReduction="20000"/>
              </a:bodyPr>
              <a:lstStyle/>
              <a:p>
                <a:r>
                  <a:rPr lang="en-US" b="1" dirty="0"/>
                  <a:t>How to optimize the </a:t>
                </a:r>
                <a:r>
                  <a:rPr lang="en-US" b="1" dirty="0">
                    <a:solidFill>
                      <a:schemeClr val="accent1">
                        <a:lumMod val="75000"/>
                      </a:schemeClr>
                    </a:solidFill>
                  </a:rPr>
                  <a:t>Loss function</a:t>
                </a:r>
                <a:r>
                  <a:rPr lang="en-US" dirty="0"/>
                  <a:t>?</a:t>
                </a:r>
              </a:p>
              <a:p>
                <a:pPr marL="118872" indent="0">
                  <a:buNone/>
                </a:pPr>
                <a:r>
                  <a:rPr lang="en-US" b="1" dirty="0">
                    <a:solidFill>
                      <a:srgbClr val="D60093"/>
                    </a:solidFill>
                  </a:rPr>
                  <a:t>     Gradient descent:</a:t>
                </a:r>
                <a:br>
                  <a:rPr lang="en-US" dirty="0"/>
                </a:b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m:rPr>
                              <m:sty m:val="p"/>
                            </m:rPr>
                            <a:rPr lang="en-US" i="1">
                              <a:latin typeface="Cambria Math" panose="02040503050406030204" pitchFamily="18" charset="0"/>
                              <a:ea typeface="Cambria Math" panose="02040503050406030204" pitchFamily="18" charset="0"/>
                            </a:rPr>
                            <m:t>∇</m:t>
                          </m:r>
                        </m:e>
                        <m:sub>
                          <m:r>
                            <m:rPr>
                              <m:sty m:val="p"/>
                            </m:rPr>
                            <a:rPr lang="en-US" b="0" i="0" smtClean="0">
                              <a:solidFill>
                                <a:schemeClr val="accent5">
                                  <a:lumMod val="75000"/>
                                </a:schemeClr>
                              </a:solidFill>
                              <a:latin typeface="Cambria Math" panose="02040503050406030204" pitchFamily="18" charset="0"/>
                              <a:ea typeface="Cambria Math" panose="02040503050406030204" pitchFamily="18" charset="0"/>
                            </a:rPr>
                            <m:t>Θ</m:t>
                          </m:r>
                        </m:sub>
                      </m:sSub>
                      <m:r>
                        <a:rPr lang="en-US" i="1" smtClean="0">
                          <a:solidFill>
                            <a:srgbClr val="C00000"/>
                          </a:solidFill>
                          <a:latin typeface="Cambria Math" panose="02040503050406030204" pitchFamily="18" charset="0"/>
                          <a:ea typeface="Cambria Math" panose="02040503050406030204" pitchFamily="18" charset="0"/>
                        </a:rPr>
                        <m:t>ℒ</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ℒ</m:t>
                          </m:r>
                        </m:num>
                        <m:den>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Θ</m:t>
                              </m:r>
                            </m:e>
                            <m:sub>
                              <m:r>
                                <a:rPr lang="en-US" b="0" i="1" smtClean="0">
                                  <a:latin typeface="Cambria Math" panose="02040503050406030204" pitchFamily="18" charset="0"/>
                                  <a:ea typeface="Cambria Math" panose="02040503050406030204" pitchFamily="18" charset="0"/>
                                </a:rPr>
                                <m:t>1</m:t>
                              </m:r>
                            </m:sub>
                          </m:sSub>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ℒ</m:t>
                          </m:r>
                        </m:num>
                        <m:den>
                          <m:r>
                            <a:rPr lang="en-US" i="1">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Θ</m:t>
                              </m:r>
                            </m:e>
                            <m:sub>
                              <m:r>
                                <a:rPr lang="en-US" b="0" i="1" smtClean="0">
                                  <a:latin typeface="Cambria Math" panose="02040503050406030204" pitchFamily="18" charset="0"/>
                                  <a:ea typeface="Cambria Math" panose="02040503050406030204" pitchFamily="18" charset="0"/>
                                </a:rPr>
                                <m:t>2</m:t>
                              </m:r>
                            </m:sub>
                          </m:sSub>
                        </m:den>
                      </m:f>
                      <m:r>
                        <a:rPr lang="en-US" b="0" i="1" smtClean="0">
                          <a:latin typeface="Cambria Math" panose="02040503050406030204" pitchFamily="18" charset="0"/>
                          <a:ea typeface="Cambria Math" panose="02040503050406030204" pitchFamily="18" charset="0"/>
                        </a:rPr>
                        <m:t>, …)</m:t>
                      </m:r>
                    </m:oMath>
                  </m:oMathPara>
                </a14:m>
                <a:endParaRPr lang="en-US" dirty="0"/>
              </a:p>
              <a:p>
                <a:endParaRPr lang="en-US" b="0" i="1" dirty="0">
                  <a:latin typeface="Cambria Math" panose="02040503050406030204" pitchFamily="18" charset="0"/>
                  <a:ea typeface="Cambria Math" panose="02040503050406030204" pitchFamily="18" charset="0"/>
                </a:endParaRPr>
              </a:p>
              <a:p>
                <a:pPr marL="457200" lvl="1" indent="0">
                  <a:buNone/>
                </a:pP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Θ</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Θ</m:t>
                        </m:r>
                      </m:e>
                      <m:sub>
                        <m:r>
                          <a:rPr lang="en-US" i="1">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oMath>
                </a14:m>
                <a:r>
                  <a:rPr lang="en-US" dirty="0"/>
                  <a:t> : components of </a:t>
                </a:r>
                <a14:m>
                  <m:oMath xmlns:m="http://schemas.openxmlformats.org/officeDocument/2006/math">
                    <m:r>
                      <m:rPr>
                        <m:sty m:val="p"/>
                      </m:rPr>
                      <a:rPr lang="en-US">
                        <a:solidFill>
                          <a:schemeClr val="accent5">
                            <a:lumMod val="75000"/>
                          </a:schemeClr>
                        </a:solidFill>
                        <a:latin typeface="Cambria Math" panose="02040503050406030204" pitchFamily="18" charset="0"/>
                        <a:ea typeface="Cambria Math" panose="02040503050406030204" pitchFamily="18" charset="0"/>
                      </a:rPr>
                      <m:t>Θ</m:t>
                    </m:r>
                  </m:oMath>
                </a14:m>
                <a:endParaRPr lang="en-US" dirty="0"/>
              </a:p>
              <a:p>
                <a:endParaRPr lang="en-US" b="1" dirty="0"/>
              </a:p>
              <a:p>
                <a:r>
                  <a:rPr lang="en-US" dirty="0"/>
                  <a:t>repeatedly update weights in the (opposite) direction of gradients until convergence</a:t>
                </a:r>
              </a:p>
              <a:p>
                <a:r>
                  <a:rPr lang="en-US" b="1" dirty="0">
                    <a:solidFill>
                      <a:srgbClr val="0000FF"/>
                    </a:solidFill>
                  </a:rPr>
                  <a:t>Learning rate (LR) </a:t>
                </a:r>
                <a14:m>
                  <m:oMath xmlns:m="http://schemas.openxmlformats.org/officeDocument/2006/math">
                    <m:r>
                      <a:rPr lang="en-US" b="1" i="1">
                        <a:solidFill>
                          <a:srgbClr val="0000FF"/>
                        </a:solidFill>
                        <a:latin typeface="Cambria Math" panose="02040503050406030204" pitchFamily="18" charset="0"/>
                        <a:ea typeface="Cambria Math" panose="02040503050406030204" pitchFamily="18" charset="0"/>
                      </a:rPr>
                      <m:t>𝜼</m:t>
                    </m:r>
                  </m:oMath>
                </a14:m>
                <a:r>
                  <a:rPr lang="en-US" b="1" dirty="0">
                    <a:solidFill>
                      <a:srgbClr val="0000FF"/>
                    </a:solidFill>
                  </a:rPr>
                  <a:t>:</a:t>
                </a:r>
              </a:p>
              <a:p>
                <a:pPr lvl="1"/>
                <a:r>
                  <a:rPr lang="en-US" dirty="0"/>
                  <a:t>Hyperparameter that controls </a:t>
                </a:r>
                <a:r>
                  <a:rPr lang="en-US" altLang="zh-CN" dirty="0"/>
                  <a:t>the size of gradient step</a:t>
                </a:r>
              </a:p>
              <a:p>
                <a:r>
                  <a:rPr lang="en-US" b="1" dirty="0">
                    <a:solidFill>
                      <a:schemeClr val="accent3"/>
                    </a:solidFill>
                  </a:rPr>
                  <a:t>Ideal termination condition:</a:t>
                </a:r>
                <a:r>
                  <a:rPr lang="en-US" dirty="0"/>
                  <a:t> </a:t>
                </a:r>
                <a:r>
                  <a:rPr lang="en-US" b="1" dirty="0"/>
                  <a:t>0</a:t>
                </a:r>
                <a:r>
                  <a:rPr lang="en-US" dirty="0"/>
                  <a:t> gradient</a:t>
                </a:r>
              </a:p>
              <a:p>
                <a:pPr lvl="1"/>
                <a:r>
                  <a:rPr lang="en-US" dirty="0"/>
                  <a:t>In practice, we stop training if it no longer improves performance on the </a:t>
                </a:r>
                <a:r>
                  <a:rPr lang="en-US" b="1" dirty="0"/>
                  <a:t>validation set </a:t>
                </a:r>
                <a:r>
                  <a:rPr lang="en-US" dirty="0"/>
                  <a:t>(part of dataset we hold out from training)</a:t>
                </a:r>
              </a:p>
              <a:p>
                <a:pPr lvl="1"/>
                <a:endParaRPr lang="en-US" dirty="0"/>
              </a:p>
              <a:p>
                <a:endParaRPr lang="en-US" dirty="0"/>
              </a:p>
              <a:p>
                <a:pPr marL="118872" indent="0">
                  <a:buNone/>
                </a:pPr>
                <a:endParaRPr lang="en-US" dirty="0"/>
              </a:p>
            </p:txBody>
          </p:sp>
        </mc:Choice>
        <mc:Fallback xmlns="">
          <p:sp>
            <p:nvSpPr>
              <p:cNvPr id="3" name="Content Placeholder 2">
                <a:extLst>
                  <a:ext uri="{FF2B5EF4-FFF2-40B4-BE49-F238E27FC236}">
                    <a16:creationId xmlns:a16="http://schemas.microsoft.com/office/drawing/2014/main" id="{1B684155-EC9E-4970-A541-E052AAD0E934}"/>
                  </a:ext>
                </a:extLst>
              </p:cNvPr>
              <p:cNvSpPr>
                <a:spLocks noGrp="1" noRot="1" noChangeAspect="1" noMove="1" noResize="1" noEditPoints="1" noAdjustHandles="1" noChangeArrowheads="1" noChangeShapeType="1" noTextEdit="1"/>
              </p:cNvSpPr>
              <p:nvPr>
                <p:ph idx="1"/>
              </p:nvPr>
            </p:nvSpPr>
            <p:spPr>
              <a:xfrm>
                <a:off x="457200" y="1295400"/>
                <a:ext cx="8366078" cy="5562600"/>
              </a:xfrm>
              <a:blipFill>
                <a:blip r:embed="rId2"/>
                <a:stretch>
                  <a:fillRect t="-1598" r="-1973"/>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56569DAF-21F7-4809-A3D8-59032CA94E9F}"/>
              </a:ext>
            </a:extLst>
          </p:cNvPr>
          <p:cNvSpPr>
            <a:spLocks noGrp="1"/>
          </p:cNvSpPr>
          <p:nvPr>
            <p:ph type="dt" sz="half" idx="10"/>
          </p:nvPr>
        </p:nvSpPr>
        <p:spPr/>
        <p:txBody>
          <a:bodyPr/>
          <a:lstStyle/>
          <a:p>
            <a:fld id="{E016B870-EDD0-884F-894C-643FA8BCE766}" type="datetime1">
              <a:rPr lang="en-US" smtClean="0"/>
              <a:t>11/3/24</a:t>
            </a:fld>
            <a:endParaRPr lang="en-US"/>
          </a:p>
        </p:txBody>
      </p:sp>
      <p:sp>
        <p:nvSpPr>
          <p:cNvPr id="5" name="Footer Placeholder 4">
            <a:extLst>
              <a:ext uri="{FF2B5EF4-FFF2-40B4-BE49-F238E27FC236}">
                <a16:creationId xmlns:a16="http://schemas.microsoft.com/office/drawing/2014/main" id="{84ECBF9D-C1FC-40FB-BF76-D4277E85AFD7}"/>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BBF835C1-324D-405B-829C-ACE36F1C5285}"/>
              </a:ext>
            </a:extLst>
          </p:cNvPr>
          <p:cNvSpPr>
            <a:spLocks noGrp="1"/>
          </p:cNvSpPr>
          <p:nvPr>
            <p:ph type="sldNum" sz="quarter" idx="12"/>
          </p:nvPr>
        </p:nvSpPr>
        <p:spPr/>
        <p:txBody>
          <a:bodyPr/>
          <a:lstStyle/>
          <a:p>
            <a:fld id="{19B12225-5612-419B-A8D5-4B8EEE4C217E}" type="slidenum">
              <a:rPr lang="en-US" smtClean="0"/>
              <a:pPr/>
              <a:t>33</a:t>
            </a:fld>
            <a:endParaRPr lang="en-US"/>
          </a:p>
        </p:txBody>
      </p:sp>
      <p:sp>
        <p:nvSpPr>
          <p:cNvPr id="10" name="TextBox 9">
            <a:extLst>
              <a:ext uri="{FF2B5EF4-FFF2-40B4-BE49-F238E27FC236}">
                <a16:creationId xmlns:a16="http://schemas.microsoft.com/office/drawing/2014/main" id="{B1EABF2B-8452-4DE4-B531-2A2A7D9E858C}"/>
              </a:ext>
            </a:extLst>
          </p:cNvPr>
          <p:cNvSpPr txBox="1"/>
          <p:nvPr/>
        </p:nvSpPr>
        <p:spPr>
          <a:xfrm>
            <a:off x="6289778" y="1538942"/>
            <a:ext cx="2648482" cy="461665"/>
          </a:xfrm>
          <a:prstGeom prst="rect">
            <a:avLst/>
          </a:prstGeom>
          <a:noFill/>
        </p:spPr>
        <p:txBody>
          <a:bodyPr wrap="none" rtlCol="0">
            <a:spAutoFit/>
          </a:bodyPr>
          <a:lstStyle/>
          <a:p>
            <a:r>
              <a:rPr lang="en-US" sz="2400" b="1" dirty="0">
                <a:solidFill>
                  <a:srgbClr val="D60093"/>
                </a:solidFill>
                <a:latin typeface="Arial" panose="020B0604020202020204" pitchFamily="34" charset="0"/>
                <a:cs typeface="Arial" panose="020B0604020202020204" pitchFamily="34" charset="0"/>
              </a:rPr>
              <a:t>Partial derivative</a:t>
            </a:r>
          </a:p>
        </p:txBody>
      </p:sp>
      <p:cxnSp>
        <p:nvCxnSpPr>
          <p:cNvPr id="11" name="Straight Arrow Connector 10">
            <a:extLst>
              <a:ext uri="{FF2B5EF4-FFF2-40B4-BE49-F238E27FC236}">
                <a16:creationId xmlns:a16="http://schemas.microsoft.com/office/drawing/2014/main" id="{19B58B2D-0A8C-4D7F-9CB2-1B5240F6E13F}"/>
              </a:ext>
            </a:extLst>
          </p:cNvPr>
          <p:cNvCxnSpPr>
            <a:cxnSpLocks/>
            <a:stCxn id="10" idx="1"/>
          </p:cNvCxnSpPr>
          <p:nvPr/>
        </p:nvCxnSpPr>
        <p:spPr>
          <a:xfrm flipH="1">
            <a:off x="5457008" y="1769775"/>
            <a:ext cx="832770" cy="415387"/>
          </a:xfrm>
          <a:prstGeom prst="straightConnector1">
            <a:avLst/>
          </a:prstGeom>
          <a:ln w="38100">
            <a:solidFill>
              <a:srgbClr val="D60093"/>
            </a:solidFill>
            <a:tailEnd type="stealth"/>
          </a:ln>
        </p:spPr>
        <p:style>
          <a:lnRef idx="1">
            <a:schemeClr val="accent5"/>
          </a:lnRef>
          <a:fillRef idx="0">
            <a:schemeClr val="accent5"/>
          </a:fillRef>
          <a:effectRef idx="0">
            <a:schemeClr val="accent5"/>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BAEFBBC-4FE7-CB43-B424-FFC43413AB51}"/>
                  </a:ext>
                </a:extLst>
              </p:cNvPr>
              <p:cNvSpPr txBox="1"/>
              <p:nvPr/>
            </p:nvSpPr>
            <p:spPr>
              <a:xfrm>
                <a:off x="5920741" y="4076700"/>
                <a:ext cx="2766059"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2800">
                          <a:solidFill>
                            <a:schemeClr val="accent5">
                              <a:lumMod val="75000"/>
                            </a:schemeClr>
                          </a:solidFill>
                          <a:latin typeface="Cambria Math" panose="02040503050406030204" pitchFamily="18" charset="0"/>
                          <a:ea typeface="Cambria Math" panose="02040503050406030204" pitchFamily="18" charset="0"/>
                        </a:rPr>
                        <m:t>Θ</m:t>
                      </m:r>
                      <m:r>
                        <a:rPr lang="en-US" sz="2600" i="1">
                          <a:solidFill>
                            <a:srgbClr val="D60093"/>
                          </a:solidFill>
                          <a:latin typeface="Cambria Math" panose="02040503050406030204" pitchFamily="18" charset="0"/>
                          <a:ea typeface="Cambria Math" panose="02040503050406030204" pitchFamily="18" charset="0"/>
                          <a:cs typeface="Calibri" panose="020F0502020204030204" pitchFamily="34" charset="0"/>
                        </a:rPr>
                        <m:t>←</m:t>
                      </m:r>
                      <m:r>
                        <m:rPr>
                          <m:sty m:val="p"/>
                        </m:rPr>
                        <a:rPr lang="en-US" sz="2800">
                          <a:solidFill>
                            <a:schemeClr val="accent5">
                              <a:lumMod val="75000"/>
                            </a:schemeClr>
                          </a:solidFill>
                          <a:latin typeface="Cambria Math" panose="02040503050406030204" pitchFamily="18" charset="0"/>
                          <a:ea typeface="Cambria Math" panose="02040503050406030204" pitchFamily="18" charset="0"/>
                        </a:rPr>
                        <m:t>Θ</m:t>
                      </m:r>
                      <m:r>
                        <a:rPr lang="en-US" sz="2600" i="1">
                          <a:solidFill>
                            <a:srgbClr val="D60093"/>
                          </a:solidFill>
                          <a:latin typeface="Cambria Math" panose="02040503050406030204" pitchFamily="18" charset="0"/>
                          <a:ea typeface="Cambria Math" panose="02040503050406030204" pitchFamily="18" charset="0"/>
                          <a:cs typeface="Calibri" panose="020F0502020204030204" pitchFamily="34" charset="0"/>
                        </a:rPr>
                        <m:t>−</m:t>
                      </m:r>
                      <m:r>
                        <a:rPr lang="en-US" sz="2600" i="1">
                          <a:solidFill>
                            <a:srgbClr val="D60093"/>
                          </a:solidFill>
                          <a:latin typeface="Cambria Math" panose="02040503050406030204" pitchFamily="18" charset="0"/>
                          <a:ea typeface="Cambria Math" panose="02040503050406030204" pitchFamily="18" charset="0"/>
                          <a:cs typeface="Calibri" panose="020F0502020204030204" pitchFamily="34" charset="0"/>
                        </a:rPr>
                        <m:t>𝜂</m:t>
                      </m:r>
                      <m:sSub>
                        <m:sSubPr>
                          <m:ctrlPr>
                            <a:rPr lang="en-US" sz="2800" i="1">
                              <a:latin typeface="Cambria Math" panose="02040503050406030204" pitchFamily="18" charset="0"/>
                              <a:ea typeface="Cambria Math" panose="02040503050406030204" pitchFamily="18" charset="0"/>
                            </a:rPr>
                          </m:ctrlPr>
                        </m:sSubPr>
                        <m:e>
                          <m:r>
                            <m:rPr>
                              <m:sty m:val="p"/>
                            </m:rPr>
                            <a:rPr lang="en-US" sz="2800" i="1">
                              <a:latin typeface="Cambria Math" panose="02040503050406030204" pitchFamily="18" charset="0"/>
                              <a:ea typeface="Cambria Math" panose="02040503050406030204" pitchFamily="18" charset="0"/>
                            </a:rPr>
                            <m:t>∇</m:t>
                          </m:r>
                        </m:e>
                        <m:sub>
                          <m:r>
                            <m:rPr>
                              <m:sty m:val="p"/>
                            </m:rPr>
                            <a:rPr lang="en-US" sz="2800">
                              <a:solidFill>
                                <a:schemeClr val="accent5">
                                  <a:lumMod val="75000"/>
                                </a:schemeClr>
                              </a:solidFill>
                              <a:latin typeface="Cambria Math" panose="02040503050406030204" pitchFamily="18" charset="0"/>
                              <a:ea typeface="Cambria Math" panose="02040503050406030204" pitchFamily="18" charset="0"/>
                            </a:rPr>
                            <m:t>Θ</m:t>
                          </m:r>
                        </m:sub>
                      </m:sSub>
                      <m:r>
                        <a:rPr lang="en-US" sz="2800" i="1">
                          <a:solidFill>
                            <a:srgbClr val="C00000"/>
                          </a:solidFill>
                          <a:latin typeface="Cambria Math" panose="02040503050406030204" pitchFamily="18" charset="0"/>
                          <a:ea typeface="Cambria Math" panose="02040503050406030204" pitchFamily="18" charset="0"/>
                        </a:rPr>
                        <m:t>ℒ</m:t>
                      </m:r>
                    </m:oMath>
                  </m:oMathPara>
                </a14:m>
                <a:endParaRPr lang="en-US" sz="2600" dirty="0">
                  <a:solidFill>
                    <a:srgbClr val="D60093"/>
                  </a:solidFill>
                </a:endParaRPr>
              </a:p>
            </p:txBody>
          </p:sp>
        </mc:Choice>
        <mc:Fallback xmlns="">
          <p:sp>
            <p:nvSpPr>
              <p:cNvPr id="12" name="TextBox 11">
                <a:extLst>
                  <a:ext uri="{FF2B5EF4-FFF2-40B4-BE49-F238E27FC236}">
                    <a16:creationId xmlns:a16="http://schemas.microsoft.com/office/drawing/2014/main" id="{0BAEFBBC-4FE7-CB43-B424-FFC43413AB51}"/>
                  </a:ext>
                </a:extLst>
              </p:cNvPr>
              <p:cNvSpPr txBox="1">
                <a:spLocks noRot="1" noChangeAspect="1" noMove="1" noResize="1" noEditPoints="1" noAdjustHandles="1" noChangeArrowheads="1" noChangeShapeType="1" noTextEdit="1"/>
              </p:cNvSpPr>
              <p:nvPr/>
            </p:nvSpPr>
            <p:spPr>
              <a:xfrm>
                <a:off x="5920741" y="4076700"/>
                <a:ext cx="2766059" cy="430887"/>
              </a:xfrm>
              <a:prstGeom prst="rect">
                <a:avLst/>
              </a:prstGeom>
              <a:blipFill>
                <a:blip r:embed="rId3"/>
                <a:stretch>
                  <a:fillRect b="-20588"/>
                </a:stretch>
              </a:blipFill>
            </p:spPr>
            <p:txBody>
              <a:bodyPr/>
              <a:lstStyle/>
              <a:p>
                <a:r>
                  <a:rPr lang="en-US">
                    <a:noFill/>
                  </a:rPr>
                  <a:t> </a:t>
                </a:r>
              </a:p>
            </p:txBody>
          </p:sp>
        </mc:Fallback>
      </mc:AlternateContent>
    </p:spTree>
    <p:extLst>
      <p:ext uri="{BB962C8B-B14F-4D97-AF65-F5344CB8AC3E}">
        <p14:creationId xmlns:p14="http://schemas.microsoft.com/office/powerpoint/2010/main" val="41348123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1E60A-7B03-3D49-BB6E-EE46203B7471}"/>
              </a:ext>
            </a:extLst>
          </p:cNvPr>
          <p:cNvSpPr>
            <a:spLocks noGrp="1"/>
          </p:cNvSpPr>
          <p:nvPr>
            <p:ph type="title"/>
          </p:nvPr>
        </p:nvSpPr>
        <p:spPr/>
        <p:txBody>
          <a:bodyPr/>
          <a:lstStyle/>
          <a:p>
            <a:r>
              <a:rPr lang="en-US" dirty="0"/>
              <a:t>Neural Network</a:t>
            </a:r>
          </a:p>
        </p:txBody>
      </p:sp>
      <p:sp>
        <p:nvSpPr>
          <p:cNvPr id="3" name="Content Placeholder 2">
            <a:extLst>
              <a:ext uri="{FF2B5EF4-FFF2-40B4-BE49-F238E27FC236}">
                <a16:creationId xmlns:a16="http://schemas.microsoft.com/office/drawing/2014/main" id="{39E96CB9-459D-7943-9100-5B0546FF1B0F}"/>
              </a:ext>
            </a:extLst>
          </p:cNvPr>
          <p:cNvSpPr>
            <a:spLocks noGrp="1"/>
          </p:cNvSpPr>
          <p:nvPr>
            <p:ph idx="1"/>
          </p:nvPr>
        </p:nvSpPr>
        <p:spPr>
          <a:xfrm>
            <a:off x="457200" y="1295400"/>
            <a:ext cx="8481060" cy="5257801"/>
          </a:xfrm>
        </p:spPr>
        <p:txBody>
          <a:bodyPr/>
          <a:lstStyle/>
          <a:p>
            <a:r>
              <a:rPr lang="en-US" dirty="0"/>
              <a:t>There are much more about NN including:</a:t>
            </a:r>
          </a:p>
          <a:p>
            <a:pPr lvl="1"/>
            <a:r>
              <a:rPr lang="en-US" dirty="0"/>
              <a:t>Minibatch Stochastic gradient descent</a:t>
            </a:r>
          </a:p>
          <a:p>
            <a:pPr lvl="1"/>
            <a:r>
              <a:rPr lang="en-US" dirty="0"/>
              <a:t>Batch size, Epoch</a:t>
            </a:r>
          </a:p>
          <a:p>
            <a:pPr lvl="1"/>
            <a:r>
              <a:rPr lang="en-US" dirty="0"/>
              <a:t>Learning rate scheduling</a:t>
            </a:r>
          </a:p>
          <a:p>
            <a:pPr lvl="1"/>
            <a:r>
              <a:rPr lang="en-US" dirty="0"/>
              <a:t>Optimizers to improve over SGD</a:t>
            </a:r>
          </a:p>
          <a:p>
            <a:pPr lvl="1"/>
            <a:endParaRPr lang="en-US" dirty="0"/>
          </a:p>
          <a:p>
            <a:r>
              <a:rPr lang="en-US" dirty="0"/>
              <a:t>However they are not the focus of today’s lecture. </a:t>
            </a:r>
          </a:p>
          <a:p>
            <a:r>
              <a:rPr lang="en-US" dirty="0"/>
              <a:t>Now that we know fundamentals, let’s </a:t>
            </a:r>
            <a:r>
              <a:rPr lang="en-US" dirty="0">
                <a:solidFill>
                  <a:srgbClr val="FF0066"/>
                </a:solidFill>
              </a:rPr>
              <a:t>use NN to learn embeddings</a:t>
            </a:r>
          </a:p>
        </p:txBody>
      </p:sp>
      <p:sp>
        <p:nvSpPr>
          <p:cNvPr id="4" name="Date Placeholder 3">
            <a:extLst>
              <a:ext uri="{FF2B5EF4-FFF2-40B4-BE49-F238E27FC236}">
                <a16:creationId xmlns:a16="http://schemas.microsoft.com/office/drawing/2014/main" id="{C9430A39-CD90-CD43-BD00-FA8AD2658299}"/>
              </a:ext>
            </a:extLst>
          </p:cNvPr>
          <p:cNvSpPr>
            <a:spLocks noGrp="1"/>
          </p:cNvSpPr>
          <p:nvPr>
            <p:ph type="dt" sz="half" idx="10"/>
          </p:nvPr>
        </p:nvSpPr>
        <p:spPr/>
        <p:txBody>
          <a:bodyPr/>
          <a:lstStyle/>
          <a:p>
            <a:fld id="{6D36192C-3DE5-E44F-9CEB-411677AF184B}" type="datetime1">
              <a:rPr lang="en-US" smtClean="0"/>
              <a:t>11/3/24</a:t>
            </a:fld>
            <a:endParaRPr lang="en-US"/>
          </a:p>
        </p:txBody>
      </p:sp>
      <p:sp>
        <p:nvSpPr>
          <p:cNvPr id="5" name="Footer Placeholder 4">
            <a:extLst>
              <a:ext uri="{FF2B5EF4-FFF2-40B4-BE49-F238E27FC236}">
                <a16:creationId xmlns:a16="http://schemas.microsoft.com/office/drawing/2014/main" id="{47EC0C32-8033-DA4C-899B-C426F5439003}"/>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882FE39D-954C-AE4B-B398-1D8BDC70D4C2}"/>
              </a:ext>
            </a:extLst>
          </p:cNvPr>
          <p:cNvSpPr>
            <a:spLocks noGrp="1"/>
          </p:cNvSpPr>
          <p:nvPr>
            <p:ph type="sldNum" sz="quarter" idx="12"/>
          </p:nvPr>
        </p:nvSpPr>
        <p:spPr/>
        <p:txBody>
          <a:bodyPr/>
          <a:lstStyle/>
          <a:p>
            <a:fld id="{19B12225-5612-419B-A8D5-4B8EEE4C217E}" type="slidenum">
              <a:rPr lang="en-US" smtClean="0"/>
              <a:pPr/>
              <a:t>34</a:t>
            </a:fld>
            <a:endParaRPr lang="en-US"/>
          </a:p>
        </p:txBody>
      </p:sp>
    </p:spTree>
    <p:extLst>
      <p:ext uri="{BB962C8B-B14F-4D97-AF65-F5344CB8AC3E}">
        <p14:creationId xmlns:p14="http://schemas.microsoft.com/office/powerpoint/2010/main" val="4969134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en-US" dirty="0"/>
              <a:t>Learning Embeddings using Neural Networks</a:t>
            </a:r>
          </a:p>
        </p:txBody>
      </p:sp>
      <p:sp>
        <p:nvSpPr>
          <p:cNvPr id="8" name="Subtitle 7"/>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1605355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71AA5-DC6A-484F-9799-1EF9C48D7C18}"/>
              </a:ext>
            </a:extLst>
          </p:cNvPr>
          <p:cNvSpPr>
            <a:spLocks noGrp="1"/>
          </p:cNvSpPr>
          <p:nvPr>
            <p:ph type="title"/>
          </p:nvPr>
        </p:nvSpPr>
        <p:spPr/>
        <p:txBody>
          <a:bodyPr/>
          <a:lstStyle/>
          <a:p>
            <a:r>
              <a:rPr lang="en-US" dirty="0"/>
              <a:t>Task Independent Embedding</a:t>
            </a:r>
          </a:p>
        </p:txBody>
      </p:sp>
      <p:sp>
        <p:nvSpPr>
          <p:cNvPr id="4" name="Date Placeholder 3">
            <a:extLst>
              <a:ext uri="{FF2B5EF4-FFF2-40B4-BE49-F238E27FC236}">
                <a16:creationId xmlns:a16="http://schemas.microsoft.com/office/drawing/2014/main" id="{A9F3F6B4-59C4-2440-9CF3-E26E75426109}"/>
              </a:ext>
            </a:extLst>
          </p:cNvPr>
          <p:cNvSpPr>
            <a:spLocks noGrp="1"/>
          </p:cNvSpPr>
          <p:nvPr>
            <p:ph type="dt" sz="half" idx="10"/>
          </p:nvPr>
        </p:nvSpPr>
        <p:spPr/>
        <p:txBody>
          <a:bodyPr/>
          <a:lstStyle/>
          <a:p>
            <a:fld id="{5EBFE61F-FBAA-E84D-B8F8-FFB451AC3DE5}" type="datetime1">
              <a:rPr lang="en-US" smtClean="0"/>
              <a:t>11/3/24</a:t>
            </a:fld>
            <a:endParaRPr lang="en-US"/>
          </a:p>
        </p:txBody>
      </p:sp>
      <p:sp>
        <p:nvSpPr>
          <p:cNvPr id="5" name="Footer Placeholder 4">
            <a:extLst>
              <a:ext uri="{FF2B5EF4-FFF2-40B4-BE49-F238E27FC236}">
                <a16:creationId xmlns:a16="http://schemas.microsoft.com/office/drawing/2014/main" id="{B8C748EB-34C4-3C46-8564-69ED158715B8}"/>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A877642C-BD00-E543-BCBD-4EFF9E97CFE1}"/>
              </a:ext>
            </a:extLst>
          </p:cNvPr>
          <p:cNvSpPr>
            <a:spLocks noGrp="1"/>
          </p:cNvSpPr>
          <p:nvPr>
            <p:ph type="sldNum" sz="quarter" idx="12"/>
          </p:nvPr>
        </p:nvSpPr>
        <p:spPr/>
        <p:txBody>
          <a:bodyPr/>
          <a:lstStyle/>
          <a:p>
            <a:fld id="{19B12225-5612-419B-A8D5-4B8EEE4C217E}" type="slidenum">
              <a:rPr lang="en-US" smtClean="0"/>
              <a:pPr/>
              <a:t>36</a:t>
            </a:fld>
            <a:endParaRPr lang="en-US"/>
          </a:p>
        </p:txBody>
      </p:sp>
      <p:sp>
        <p:nvSpPr>
          <p:cNvPr id="9" name="Content Placeholder 2">
            <a:extLst>
              <a:ext uri="{FF2B5EF4-FFF2-40B4-BE49-F238E27FC236}">
                <a16:creationId xmlns:a16="http://schemas.microsoft.com/office/drawing/2014/main" id="{4EB890AD-9C47-2D46-8EE7-8CFACEBE6817}"/>
              </a:ext>
            </a:extLst>
          </p:cNvPr>
          <p:cNvSpPr txBox="1">
            <a:spLocks/>
          </p:cNvSpPr>
          <p:nvPr/>
        </p:nvSpPr>
        <p:spPr>
          <a:xfrm>
            <a:off x="609600" y="1447800"/>
            <a:ext cx="8229600" cy="5257801"/>
          </a:xfrm>
          <a:prstGeom prst="rect">
            <a:avLst/>
          </a:prstGeom>
        </p:spPr>
        <p:txBody>
          <a:bodyPr vert="horz" lIns="54864" tIns="91440" rtlCol="0">
            <a:normAutofit/>
          </a:bodyPr>
          <a:lst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r>
              <a:rPr lang="en-US" sz="2800" dirty="0"/>
              <a:t>Word Embedding</a:t>
            </a:r>
          </a:p>
          <a:p>
            <a:pPr lvl="1"/>
            <a:r>
              <a:rPr lang="en-US" sz="2400" dirty="0"/>
              <a:t>Many techniques:Word2Vec, Glove, BERT, </a:t>
            </a:r>
            <a:r>
              <a:rPr lang="en-US" sz="2400" dirty="0" err="1"/>
              <a:t>fastText</a:t>
            </a:r>
            <a:endParaRPr lang="en-US" sz="2800" dirty="0"/>
          </a:p>
          <a:p>
            <a:pPr lvl="1"/>
            <a:r>
              <a:rPr lang="en-US" sz="2400" b="1" dirty="0"/>
              <a:t>Today’s lecture: Word2Vec</a:t>
            </a:r>
            <a:r>
              <a:rPr lang="en-US" sz="2400" dirty="0"/>
              <a:t> </a:t>
            </a:r>
          </a:p>
          <a:p>
            <a:endParaRPr lang="en-US" sz="2800" dirty="0"/>
          </a:p>
          <a:p>
            <a:r>
              <a:rPr lang="en-US" sz="2800" dirty="0"/>
              <a:t>Word2Vec was Developed at Google in 2013</a:t>
            </a:r>
            <a:r>
              <a:rPr lang="en-US" sz="2400" dirty="0"/>
              <a:t>(</a:t>
            </a:r>
            <a:r>
              <a:rPr lang="en-US" sz="2400" dirty="0">
                <a:hlinkClick r:id="rId2"/>
              </a:rPr>
              <a:t>paper</a:t>
            </a:r>
            <a:r>
              <a:rPr lang="en-US" sz="2400" dirty="0"/>
              <a:t>)</a:t>
            </a:r>
          </a:p>
          <a:p>
            <a:endParaRPr lang="en-US" sz="2800" dirty="0"/>
          </a:p>
          <a:p>
            <a:r>
              <a:rPr lang="en-US" sz="2800" dirty="0"/>
              <a:t>Word2Vec is a </a:t>
            </a:r>
            <a:r>
              <a:rPr lang="en-US" sz="2800" dirty="0">
                <a:solidFill>
                  <a:srgbClr val="FF0066"/>
                </a:solidFill>
              </a:rPr>
              <a:t>statistical method</a:t>
            </a:r>
            <a:r>
              <a:rPr lang="en-US" sz="2800" dirty="0"/>
              <a:t> </a:t>
            </a:r>
          </a:p>
          <a:p>
            <a:pPr lvl="1"/>
            <a:r>
              <a:rPr lang="en-US" sz="2400" dirty="0"/>
              <a:t>Very efficiently in learning word embedding </a:t>
            </a:r>
          </a:p>
          <a:p>
            <a:pPr lvl="1"/>
            <a:r>
              <a:rPr lang="en-US" sz="2400" dirty="0"/>
              <a:t>It is self-supervised, and task independent. </a:t>
            </a:r>
          </a:p>
          <a:p>
            <a:endParaRPr lang="en-US" sz="2800" dirty="0"/>
          </a:p>
          <a:p>
            <a:endParaRPr lang="en-US" sz="2800" dirty="0"/>
          </a:p>
          <a:p>
            <a:pPr marL="118872" indent="0">
              <a:buNone/>
            </a:pPr>
            <a:endParaRPr lang="en-US" sz="2800" dirty="0">
              <a:solidFill>
                <a:srgbClr val="D60093"/>
              </a:solidFill>
            </a:endParaRPr>
          </a:p>
          <a:p>
            <a:endParaRPr lang="en-US" sz="2800" dirty="0">
              <a:solidFill>
                <a:srgbClr val="D60093"/>
              </a:solidFill>
            </a:endParaRPr>
          </a:p>
          <a:p>
            <a:pPr marL="457200" lvl="1" indent="0">
              <a:buNone/>
            </a:pPr>
            <a:endParaRPr lang="en-US" dirty="0"/>
          </a:p>
          <a:p>
            <a:endParaRPr lang="en-US" dirty="0"/>
          </a:p>
        </p:txBody>
      </p:sp>
    </p:spTree>
    <p:extLst>
      <p:ext uri="{BB962C8B-B14F-4D97-AF65-F5344CB8AC3E}">
        <p14:creationId xmlns:p14="http://schemas.microsoft.com/office/powerpoint/2010/main" val="34797729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EFA94-9D27-D647-9ABB-3FACD11BB078}"/>
              </a:ext>
            </a:extLst>
          </p:cNvPr>
          <p:cNvSpPr>
            <a:spLocks noGrp="1"/>
          </p:cNvSpPr>
          <p:nvPr>
            <p:ph type="title"/>
          </p:nvPr>
        </p:nvSpPr>
        <p:spPr/>
        <p:txBody>
          <a:bodyPr/>
          <a:lstStyle/>
          <a:p>
            <a:r>
              <a:rPr lang="en-US" dirty="0"/>
              <a:t>Word2Vec</a:t>
            </a:r>
          </a:p>
        </p:txBody>
      </p:sp>
      <p:sp>
        <p:nvSpPr>
          <p:cNvPr id="3" name="Content Placeholder 2">
            <a:extLst>
              <a:ext uri="{FF2B5EF4-FFF2-40B4-BE49-F238E27FC236}">
                <a16:creationId xmlns:a16="http://schemas.microsoft.com/office/drawing/2014/main" id="{E418DA8B-9B12-DC4B-A3C9-35AE1FD9ADA2}"/>
              </a:ext>
            </a:extLst>
          </p:cNvPr>
          <p:cNvSpPr>
            <a:spLocks noGrp="1"/>
          </p:cNvSpPr>
          <p:nvPr>
            <p:ph idx="1"/>
          </p:nvPr>
        </p:nvSpPr>
        <p:spPr/>
        <p:txBody>
          <a:bodyPr>
            <a:normAutofit fontScale="92500" lnSpcReduction="10000"/>
          </a:bodyPr>
          <a:lstStyle/>
          <a:p>
            <a:r>
              <a:rPr lang="en-US" dirty="0"/>
              <a:t>Word2Vec comes in two architectures:</a:t>
            </a:r>
          </a:p>
          <a:p>
            <a:pPr lvl="1"/>
            <a:r>
              <a:rPr lang="en-US" dirty="0"/>
              <a:t>Continuous bag of words (CBOW)</a:t>
            </a:r>
          </a:p>
          <a:p>
            <a:pPr lvl="1"/>
            <a:r>
              <a:rPr lang="en-US" dirty="0"/>
              <a:t>Skip Gram</a:t>
            </a:r>
          </a:p>
          <a:p>
            <a:pPr marL="457200" lvl="1" indent="0">
              <a:buNone/>
            </a:pPr>
            <a:r>
              <a:rPr lang="en-US" dirty="0"/>
              <a:t>   (We will discuss </a:t>
            </a:r>
            <a:r>
              <a:rPr lang="en-US" dirty="0">
                <a:solidFill>
                  <a:srgbClr val="D60093"/>
                </a:solidFill>
              </a:rPr>
              <a:t>skip-gram</a:t>
            </a:r>
            <a:r>
              <a:rPr lang="en-US" dirty="0"/>
              <a:t> model today)</a:t>
            </a:r>
          </a:p>
          <a:p>
            <a:pPr lvl="1"/>
            <a:endParaRPr lang="en-US" dirty="0"/>
          </a:p>
          <a:p>
            <a:pPr lvl="1"/>
            <a:r>
              <a:rPr lang="en-US" dirty="0"/>
              <a:t>The two methods are very similar, both use a shallow neural network (</a:t>
            </a:r>
            <a:r>
              <a:rPr lang="en-US" dirty="0">
                <a:solidFill>
                  <a:srgbClr val="FF0066"/>
                </a:solidFill>
              </a:rPr>
              <a:t>only 1 hidden layer</a:t>
            </a:r>
            <a:r>
              <a:rPr lang="en-US" dirty="0"/>
              <a:t>) to learn word representations. </a:t>
            </a:r>
          </a:p>
          <a:p>
            <a:pPr lvl="1"/>
            <a:endParaRPr lang="en-US" dirty="0"/>
          </a:p>
          <a:p>
            <a:pPr lvl="1"/>
            <a:r>
              <a:rPr lang="en-US" dirty="0"/>
              <a:t>The key idea of </a:t>
            </a:r>
            <a:r>
              <a:rPr lang="en-US" b="1" dirty="0"/>
              <a:t>word2Vec</a:t>
            </a:r>
            <a:r>
              <a:rPr lang="en-US" dirty="0"/>
              <a:t> is that words with </a:t>
            </a:r>
            <a:r>
              <a:rPr lang="en-US" dirty="0">
                <a:solidFill>
                  <a:srgbClr val="D60093"/>
                </a:solidFill>
              </a:rPr>
              <a:t>similar context </a:t>
            </a:r>
            <a:r>
              <a:rPr lang="en-US" dirty="0"/>
              <a:t>have similar meanings. </a:t>
            </a:r>
          </a:p>
          <a:p>
            <a:pPr lvl="2"/>
            <a:r>
              <a:rPr lang="en-US" dirty="0"/>
              <a:t>It learns embedding based on </a:t>
            </a:r>
            <a:r>
              <a:rPr lang="en-US" dirty="0">
                <a:solidFill>
                  <a:srgbClr val="D60093"/>
                </a:solidFill>
              </a:rPr>
              <a:t>the usage of words.</a:t>
            </a:r>
          </a:p>
          <a:p>
            <a:pPr lvl="1"/>
            <a:endParaRPr lang="en-US" dirty="0"/>
          </a:p>
          <a:p>
            <a:pPr lvl="1"/>
            <a:endParaRPr lang="en-US" dirty="0"/>
          </a:p>
        </p:txBody>
      </p:sp>
      <p:sp>
        <p:nvSpPr>
          <p:cNvPr id="4" name="Date Placeholder 3">
            <a:extLst>
              <a:ext uri="{FF2B5EF4-FFF2-40B4-BE49-F238E27FC236}">
                <a16:creationId xmlns:a16="http://schemas.microsoft.com/office/drawing/2014/main" id="{BC2B0B73-73ED-5746-A17C-8C8A501CA721}"/>
              </a:ext>
            </a:extLst>
          </p:cNvPr>
          <p:cNvSpPr>
            <a:spLocks noGrp="1"/>
          </p:cNvSpPr>
          <p:nvPr>
            <p:ph type="dt" sz="half" idx="10"/>
          </p:nvPr>
        </p:nvSpPr>
        <p:spPr/>
        <p:txBody>
          <a:bodyPr/>
          <a:lstStyle/>
          <a:p>
            <a:fld id="{DC53A029-CE3E-A643-8A3D-06AC9CEDA328}" type="datetime1">
              <a:rPr lang="en-US" smtClean="0"/>
              <a:t>11/3/24</a:t>
            </a:fld>
            <a:endParaRPr lang="en-US"/>
          </a:p>
        </p:txBody>
      </p:sp>
      <p:sp>
        <p:nvSpPr>
          <p:cNvPr id="5" name="Footer Placeholder 4">
            <a:extLst>
              <a:ext uri="{FF2B5EF4-FFF2-40B4-BE49-F238E27FC236}">
                <a16:creationId xmlns:a16="http://schemas.microsoft.com/office/drawing/2014/main" id="{DBC501E3-8774-2646-ACBF-33F1B4D992EE}"/>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3CA263E0-109C-294E-919A-CAF81C46A36A}"/>
              </a:ext>
            </a:extLst>
          </p:cNvPr>
          <p:cNvSpPr>
            <a:spLocks noGrp="1"/>
          </p:cNvSpPr>
          <p:nvPr>
            <p:ph type="sldNum" sz="quarter" idx="12"/>
          </p:nvPr>
        </p:nvSpPr>
        <p:spPr/>
        <p:txBody>
          <a:bodyPr/>
          <a:lstStyle/>
          <a:p>
            <a:fld id="{19B12225-5612-419B-A8D5-4B8EEE4C217E}" type="slidenum">
              <a:rPr lang="en-US" smtClean="0"/>
              <a:pPr/>
              <a:t>37</a:t>
            </a:fld>
            <a:endParaRPr lang="en-US"/>
          </a:p>
        </p:txBody>
      </p:sp>
    </p:spTree>
    <p:extLst>
      <p:ext uri="{BB962C8B-B14F-4D97-AF65-F5344CB8AC3E}">
        <p14:creationId xmlns:p14="http://schemas.microsoft.com/office/powerpoint/2010/main" val="28670254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86D6B-0EB4-7942-A567-E0471D1A51F0}"/>
              </a:ext>
            </a:extLst>
          </p:cNvPr>
          <p:cNvSpPr>
            <a:spLocks noGrp="1"/>
          </p:cNvSpPr>
          <p:nvPr>
            <p:ph type="title"/>
          </p:nvPr>
        </p:nvSpPr>
        <p:spPr/>
        <p:txBody>
          <a:bodyPr/>
          <a:lstStyle/>
          <a:p>
            <a:r>
              <a:rPr lang="en-US" dirty="0"/>
              <a:t>Word2Vec: target and context</a:t>
            </a:r>
          </a:p>
        </p:txBody>
      </p:sp>
      <p:sp>
        <p:nvSpPr>
          <p:cNvPr id="4" name="Date Placeholder 3">
            <a:extLst>
              <a:ext uri="{FF2B5EF4-FFF2-40B4-BE49-F238E27FC236}">
                <a16:creationId xmlns:a16="http://schemas.microsoft.com/office/drawing/2014/main" id="{7C65A942-D4B4-6A46-B761-AA60F9A18E05}"/>
              </a:ext>
            </a:extLst>
          </p:cNvPr>
          <p:cNvSpPr>
            <a:spLocks noGrp="1"/>
          </p:cNvSpPr>
          <p:nvPr>
            <p:ph type="dt" sz="half" idx="10"/>
          </p:nvPr>
        </p:nvSpPr>
        <p:spPr/>
        <p:txBody>
          <a:bodyPr/>
          <a:lstStyle/>
          <a:p>
            <a:fld id="{29BFC7C9-C1D0-5044-A85A-558A05AD22D3}" type="datetime1">
              <a:rPr lang="en-US" smtClean="0"/>
              <a:t>11/3/24</a:t>
            </a:fld>
            <a:endParaRPr lang="en-US"/>
          </a:p>
        </p:txBody>
      </p:sp>
      <p:sp>
        <p:nvSpPr>
          <p:cNvPr id="5" name="Footer Placeholder 4">
            <a:extLst>
              <a:ext uri="{FF2B5EF4-FFF2-40B4-BE49-F238E27FC236}">
                <a16:creationId xmlns:a16="http://schemas.microsoft.com/office/drawing/2014/main" id="{7BC47CA9-5C4F-0640-BB86-59FC07E6217F}"/>
              </a:ext>
            </a:extLst>
          </p:cNvPr>
          <p:cNvSpPr>
            <a:spLocks noGrp="1"/>
          </p:cNvSpPr>
          <p:nvPr>
            <p:ph type="ftr" sz="quarter" idx="11"/>
          </p:nvPr>
        </p:nvSpPr>
        <p:spPr/>
        <p:txBody>
          <a:bodyPr/>
          <a:lstStyle/>
          <a:p>
            <a:r>
              <a:rPr lang="en-US"/>
              <a:t>Jure Leskovec &amp; Mina Ghashami, Stanford University </a:t>
            </a:r>
            <a:endParaRPr lang="en-US" dirty="0"/>
          </a:p>
        </p:txBody>
      </p:sp>
      <p:sp>
        <p:nvSpPr>
          <p:cNvPr id="6" name="Slide Number Placeholder 5">
            <a:extLst>
              <a:ext uri="{FF2B5EF4-FFF2-40B4-BE49-F238E27FC236}">
                <a16:creationId xmlns:a16="http://schemas.microsoft.com/office/drawing/2014/main" id="{04696C01-960E-CC4E-9F7F-FF9CFBDBC22D}"/>
              </a:ext>
            </a:extLst>
          </p:cNvPr>
          <p:cNvSpPr>
            <a:spLocks noGrp="1"/>
          </p:cNvSpPr>
          <p:nvPr>
            <p:ph type="sldNum" sz="quarter" idx="12"/>
          </p:nvPr>
        </p:nvSpPr>
        <p:spPr/>
        <p:txBody>
          <a:bodyPr/>
          <a:lstStyle/>
          <a:p>
            <a:fld id="{19B12225-5612-419B-A8D5-4B8EEE4C217E}" type="slidenum">
              <a:rPr lang="en-US" smtClean="0"/>
              <a:pPr/>
              <a:t>38</a:t>
            </a:fld>
            <a:endParaRPr lang="en-US"/>
          </a:p>
        </p:txBody>
      </p:sp>
      <p:sp>
        <p:nvSpPr>
          <p:cNvPr id="29" name="TextBox 28">
            <a:extLst>
              <a:ext uri="{FF2B5EF4-FFF2-40B4-BE49-F238E27FC236}">
                <a16:creationId xmlns:a16="http://schemas.microsoft.com/office/drawing/2014/main" id="{3886A077-2E35-504C-9B12-0D5085E8F8F8}"/>
              </a:ext>
            </a:extLst>
          </p:cNvPr>
          <p:cNvSpPr txBox="1"/>
          <p:nvPr/>
        </p:nvSpPr>
        <p:spPr>
          <a:xfrm>
            <a:off x="457200" y="1295400"/>
            <a:ext cx="8229600" cy="4893647"/>
          </a:xfrm>
          <a:prstGeom prst="rect">
            <a:avLst/>
          </a:prstGeom>
          <a:noFill/>
        </p:spPr>
        <p:txBody>
          <a:bodyPr wrap="square" rtlCol="0">
            <a:spAutoFit/>
          </a:bodyPr>
          <a:lstStyle/>
          <a:p>
            <a:r>
              <a:rPr lang="en-US" sz="2200" b="1" dirty="0">
                <a:latin typeface="Arial" pitchFamily="34" charset="0"/>
                <a:cs typeface="Arial" pitchFamily="34" charset="0"/>
              </a:rPr>
              <a:t>The key idea</a:t>
            </a:r>
            <a:r>
              <a:rPr lang="en-US" sz="2200" dirty="0">
                <a:latin typeface="Arial" pitchFamily="34" charset="0"/>
                <a:cs typeface="Arial" pitchFamily="34" charset="0"/>
              </a:rPr>
              <a:t>: The more often a word appears in the </a:t>
            </a:r>
            <a:r>
              <a:rPr lang="en-US" sz="2200" b="1" dirty="0">
                <a:solidFill>
                  <a:srgbClr val="D60093"/>
                </a:solidFill>
                <a:latin typeface="Arial" pitchFamily="34" charset="0"/>
                <a:cs typeface="Arial" pitchFamily="34" charset="0"/>
              </a:rPr>
              <a:t>context</a:t>
            </a:r>
            <a:r>
              <a:rPr lang="en-US" sz="2200" dirty="0">
                <a:latin typeface="Arial" pitchFamily="34" charset="0"/>
                <a:cs typeface="Arial" pitchFamily="34" charset="0"/>
              </a:rPr>
              <a:t> of certain other words, the closer they are in meaning.</a:t>
            </a:r>
          </a:p>
          <a:p>
            <a:endParaRPr lang="en-US" sz="2200" dirty="0">
              <a:latin typeface="Arial" pitchFamily="34" charset="0"/>
              <a:cs typeface="Arial" pitchFamily="34" charset="0"/>
            </a:endParaRPr>
          </a:p>
          <a:p>
            <a:endParaRPr lang="en-US" sz="2200" dirty="0">
              <a:latin typeface="Arial" pitchFamily="34" charset="0"/>
              <a:cs typeface="Arial" pitchFamily="34" charset="0"/>
            </a:endParaRPr>
          </a:p>
          <a:p>
            <a:endParaRPr lang="en-US" sz="2200" dirty="0">
              <a:latin typeface="Arial" pitchFamily="34" charset="0"/>
              <a:cs typeface="Arial" pitchFamily="34" charset="0"/>
            </a:endParaRPr>
          </a:p>
          <a:p>
            <a:endParaRPr lang="en-US" sz="2200" dirty="0">
              <a:latin typeface="Arial" pitchFamily="34" charset="0"/>
              <a:cs typeface="Arial" pitchFamily="34" charset="0"/>
            </a:endParaRPr>
          </a:p>
          <a:p>
            <a:endParaRPr lang="en-US" sz="2200" dirty="0">
              <a:latin typeface="Arial" pitchFamily="34" charset="0"/>
              <a:cs typeface="Arial" pitchFamily="34" charset="0"/>
            </a:endParaRPr>
          </a:p>
          <a:p>
            <a:endParaRPr lang="en-US" sz="2200" dirty="0">
              <a:latin typeface="Arial" pitchFamily="34" charset="0"/>
              <a:cs typeface="Arial" pitchFamily="34" charset="0"/>
            </a:endParaRPr>
          </a:p>
          <a:p>
            <a:endParaRPr lang="en-US" sz="2200" dirty="0">
              <a:latin typeface="Arial" pitchFamily="34" charset="0"/>
              <a:cs typeface="Arial" pitchFamily="34" charset="0"/>
            </a:endParaRPr>
          </a:p>
          <a:p>
            <a:endParaRPr lang="en-US" sz="2200" dirty="0">
              <a:latin typeface="Arial" pitchFamily="34" charset="0"/>
              <a:cs typeface="Arial" pitchFamily="34" charset="0"/>
            </a:endParaRPr>
          </a:p>
          <a:p>
            <a:endParaRPr lang="en-US" sz="2200" dirty="0">
              <a:latin typeface="Arial" pitchFamily="34" charset="0"/>
              <a:cs typeface="Arial" pitchFamily="34" charset="0"/>
            </a:endParaRPr>
          </a:p>
          <a:p>
            <a:r>
              <a:rPr lang="en-US" sz="2200" dirty="0">
                <a:latin typeface="Arial" pitchFamily="34" charset="0"/>
                <a:cs typeface="Arial" pitchFamily="34" charset="0"/>
                <a:sym typeface="Wingdings" pitchFamily="2" charset="2"/>
              </a:rPr>
              <a:t>Given a document, we can slide the window from left to right and find all pairs of </a:t>
            </a:r>
            <a:r>
              <a:rPr lang="en-US" sz="2200" i="1" dirty="0">
                <a:latin typeface="Arial" pitchFamily="34" charset="0"/>
                <a:cs typeface="Arial" pitchFamily="34" charset="0"/>
                <a:sym typeface="Wingdings" pitchFamily="2" charset="2"/>
              </a:rPr>
              <a:t>(target, context) </a:t>
            </a:r>
            <a:r>
              <a:rPr lang="en-US" sz="2200" dirty="0">
                <a:latin typeface="Arial" pitchFamily="34" charset="0"/>
                <a:cs typeface="Arial" pitchFamily="34" charset="0"/>
                <a:sym typeface="Wingdings" pitchFamily="2" charset="2"/>
              </a:rPr>
              <a:t>words</a:t>
            </a:r>
            <a:endParaRPr lang="en-US" sz="2200" dirty="0">
              <a:latin typeface="Arial" pitchFamily="34" charset="0"/>
              <a:cs typeface="Arial" pitchFamily="34" charset="0"/>
            </a:endParaRPr>
          </a:p>
          <a:p>
            <a:endParaRPr lang="en-US" sz="2200" dirty="0">
              <a:latin typeface="Arial" pitchFamily="34" charset="0"/>
              <a:cs typeface="Arial" pitchFamily="34" charset="0"/>
            </a:endParaRPr>
          </a:p>
        </p:txBody>
      </p:sp>
      <p:sp>
        <p:nvSpPr>
          <p:cNvPr id="3" name="TextBox 2">
            <a:extLst>
              <a:ext uri="{FF2B5EF4-FFF2-40B4-BE49-F238E27FC236}">
                <a16:creationId xmlns:a16="http://schemas.microsoft.com/office/drawing/2014/main" id="{816F2F26-9DC8-5543-9268-351DDF3965EC}"/>
              </a:ext>
            </a:extLst>
          </p:cNvPr>
          <p:cNvSpPr txBox="1"/>
          <p:nvPr/>
        </p:nvSpPr>
        <p:spPr>
          <a:xfrm>
            <a:off x="457200" y="2286000"/>
            <a:ext cx="7239000" cy="2539157"/>
          </a:xfrm>
          <a:prstGeom prst="rect">
            <a:avLst/>
          </a:prstGeom>
          <a:noFill/>
        </p:spPr>
        <p:txBody>
          <a:bodyPr wrap="square" rtlCol="0">
            <a:spAutoFit/>
          </a:bodyPr>
          <a:lstStyle/>
          <a:p>
            <a:r>
              <a:rPr lang="en-US" sz="2200" dirty="0">
                <a:solidFill>
                  <a:srgbClr val="008000"/>
                </a:solidFill>
                <a:latin typeface="Arial" pitchFamily="34" charset="0"/>
                <a:cs typeface="Arial" pitchFamily="34" charset="0"/>
              </a:rPr>
              <a:t>This is how we define context:</a:t>
            </a:r>
          </a:p>
          <a:p>
            <a:r>
              <a:rPr lang="en-US" sz="1500" dirty="0">
                <a:latin typeface="Arial" pitchFamily="34" charset="0"/>
                <a:cs typeface="Arial" pitchFamily="34" charset="0"/>
              </a:rPr>
              <a:t>Given a document, set the </a:t>
            </a:r>
            <a:r>
              <a:rPr lang="en-US" sz="1500" dirty="0">
                <a:solidFill>
                  <a:srgbClr val="FF0000"/>
                </a:solidFill>
                <a:latin typeface="Arial" pitchFamily="34" charset="0"/>
                <a:cs typeface="Arial" pitchFamily="34" charset="0"/>
              </a:rPr>
              <a:t>window size=N. </a:t>
            </a:r>
            <a:r>
              <a:rPr lang="en-US" sz="1500" dirty="0">
                <a:latin typeface="Arial" pitchFamily="34" charset="0"/>
                <a:cs typeface="Arial" pitchFamily="34" charset="0"/>
              </a:rPr>
              <a:t>Window size is a hyperparameter. </a:t>
            </a:r>
          </a:p>
          <a:p>
            <a:endParaRPr lang="en-US" sz="1500" dirty="0">
              <a:solidFill>
                <a:srgbClr val="FF0000"/>
              </a:solidFill>
              <a:latin typeface="Arial" pitchFamily="34" charset="0"/>
              <a:cs typeface="Arial" pitchFamily="34" charset="0"/>
            </a:endParaRPr>
          </a:p>
          <a:p>
            <a:r>
              <a:rPr lang="en-US" sz="1500" dirty="0">
                <a:latin typeface="Arial" pitchFamily="34" charset="0"/>
                <a:cs typeface="Arial" pitchFamily="34" charset="0"/>
              </a:rPr>
              <a:t>For any given word (call it “target word”), </a:t>
            </a:r>
            <a:r>
              <a:rPr lang="en-US" sz="1500" i="1" dirty="0">
                <a:solidFill>
                  <a:srgbClr val="FF0000"/>
                </a:solidFill>
                <a:latin typeface="Arial" pitchFamily="34" charset="0"/>
                <a:cs typeface="Arial" pitchFamily="34" charset="0"/>
              </a:rPr>
              <a:t>N</a:t>
            </a:r>
            <a:r>
              <a:rPr lang="en-US" sz="1500" dirty="0">
                <a:latin typeface="Arial" pitchFamily="34" charset="0"/>
                <a:cs typeface="Arial" pitchFamily="34" charset="0"/>
              </a:rPr>
              <a:t> w</a:t>
            </a:r>
            <a:r>
              <a:rPr lang="en-US" sz="1600" dirty="0">
                <a:latin typeface="Arial" pitchFamily="34" charset="0"/>
                <a:cs typeface="Arial" pitchFamily="34" charset="0"/>
              </a:rPr>
              <a:t>ords to its left &amp; </a:t>
            </a:r>
            <a:r>
              <a:rPr lang="en-US" sz="1600" i="1" dirty="0">
                <a:solidFill>
                  <a:srgbClr val="FF0000"/>
                </a:solidFill>
                <a:latin typeface="Arial" pitchFamily="34" charset="0"/>
                <a:cs typeface="Arial" pitchFamily="34" charset="0"/>
              </a:rPr>
              <a:t>N</a:t>
            </a:r>
            <a:r>
              <a:rPr lang="en-US" sz="1600" dirty="0">
                <a:latin typeface="Arial" pitchFamily="34" charset="0"/>
                <a:cs typeface="Arial" pitchFamily="34" charset="0"/>
              </a:rPr>
              <a:t> words to its right are the “context words”. </a:t>
            </a:r>
          </a:p>
          <a:p>
            <a:endParaRPr lang="en-US" sz="1500" dirty="0">
              <a:solidFill>
                <a:srgbClr val="008000"/>
              </a:solidFill>
              <a:latin typeface="Arial" pitchFamily="34" charset="0"/>
              <a:cs typeface="Arial" pitchFamily="34" charset="0"/>
            </a:endParaRPr>
          </a:p>
          <a:p>
            <a:pPr marL="285750" indent="-285750">
              <a:buFont typeface="Arial" panose="020B0604020202020204" pitchFamily="34" charset="0"/>
              <a:buChar char="•"/>
            </a:pPr>
            <a:r>
              <a:rPr lang="en-US" sz="1500" dirty="0">
                <a:latin typeface="Arial" pitchFamily="34" charset="0"/>
                <a:cs typeface="Arial" pitchFamily="34" charset="0"/>
              </a:rPr>
              <a:t>Document </a:t>
            </a:r>
            <a:r>
              <a:rPr lang="en-US" sz="1500" dirty="0">
                <a:solidFill>
                  <a:srgbClr val="008000"/>
                </a:solidFill>
                <a:latin typeface="Arial" pitchFamily="34" charset="0"/>
                <a:cs typeface="Arial" pitchFamily="34" charset="0"/>
              </a:rPr>
              <a:t>“</a:t>
            </a:r>
            <a:r>
              <a:rPr lang="en-US" sz="1500" b="1" dirty="0">
                <a:solidFill>
                  <a:srgbClr val="008000"/>
                </a:solidFill>
                <a:latin typeface="Arial" pitchFamily="34" charset="0"/>
                <a:cs typeface="Arial" pitchFamily="34" charset="0"/>
              </a:rPr>
              <a:t>I read sci-fi books”, </a:t>
            </a:r>
            <a:r>
              <a:rPr lang="en-US" sz="1500" dirty="0">
                <a:latin typeface="Arial" pitchFamily="34" charset="0"/>
                <a:cs typeface="Arial" pitchFamily="34" charset="0"/>
              </a:rPr>
              <a:t>and window size = 2</a:t>
            </a:r>
          </a:p>
          <a:p>
            <a:pPr marL="285750" indent="-285750">
              <a:buFont typeface="Arial" panose="020B0604020202020204" pitchFamily="34" charset="0"/>
              <a:buChar char="•"/>
            </a:pPr>
            <a:r>
              <a:rPr lang="en-US" sz="1500" dirty="0">
                <a:latin typeface="Arial" pitchFamily="34" charset="0"/>
                <a:cs typeface="Arial" pitchFamily="34" charset="0"/>
              </a:rPr>
              <a:t>Target = </a:t>
            </a:r>
            <a:r>
              <a:rPr lang="en-US" sz="1500" dirty="0">
                <a:solidFill>
                  <a:srgbClr val="008000"/>
                </a:solidFill>
                <a:latin typeface="Arial" pitchFamily="34" charset="0"/>
                <a:cs typeface="Arial" pitchFamily="34" charset="0"/>
              </a:rPr>
              <a:t>“I” </a:t>
            </a:r>
            <a:r>
              <a:rPr lang="en-US" sz="1500" dirty="0">
                <a:latin typeface="Arial" pitchFamily="34" charset="0"/>
                <a:cs typeface="Arial" pitchFamily="34" charset="0"/>
                <a:sym typeface="Wingdings" pitchFamily="2" charset="2"/>
              </a:rPr>
              <a:t></a:t>
            </a:r>
            <a:r>
              <a:rPr lang="en-US" sz="1500" dirty="0">
                <a:solidFill>
                  <a:srgbClr val="008000"/>
                </a:solidFill>
                <a:latin typeface="Arial" pitchFamily="34" charset="0"/>
                <a:cs typeface="Arial" pitchFamily="34" charset="0"/>
                <a:sym typeface="Wingdings" pitchFamily="2" charset="2"/>
              </a:rPr>
              <a:t> </a:t>
            </a:r>
            <a:r>
              <a:rPr lang="en-US" sz="1500" dirty="0">
                <a:latin typeface="Arial" pitchFamily="34" charset="0"/>
                <a:cs typeface="Arial" pitchFamily="34" charset="0"/>
                <a:sym typeface="Wingdings" pitchFamily="2" charset="2"/>
              </a:rPr>
              <a:t>context words = </a:t>
            </a:r>
            <a:r>
              <a:rPr lang="en-US" sz="1500" dirty="0">
                <a:solidFill>
                  <a:srgbClr val="008000"/>
                </a:solidFill>
                <a:latin typeface="Arial" pitchFamily="34" charset="0"/>
                <a:cs typeface="Arial" pitchFamily="34" charset="0"/>
                <a:sym typeface="Wingdings" pitchFamily="2" charset="2"/>
              </a:rPr>
              <a:t>“read” , “sci-fi” . </a:t>
            </a:r>
          </a:p>
          <a:p>
            <a:pPr marL="285750" indent="-285750">
              <a:buFont typeface="Arial" panose="020B0604020202020204" pitchFamily="34" charset="0"/>
              <a:buChar char="•"/>
            </a:pPr>
            <a:r>
              <a:rPr lang="en-US" sz="1500" dirty="0">
                <a:latin typeface="Arial" pitchFamily="34" charset="0"/>
                <a:cs typeface="Arial" pitchFamily="34" charset="0"/>
                <a:sym typeface="Wingdings" pitchFamily="2" charset="2"/>
              </a:rPr>
              <a:t>Target = </a:t>
            </a:r>
            <a:r>
              <a:rPr lang="en-US" sz="1500" dirty="0">
                <a:solidFill>
                  <a:srgbClr val="008000"/>
                </a:solidFill>
                <a:latin typeface="Arial" pitchFamily="34" charset="0"/>
                <a:cs typeface="Arial" pitchFamily="34" charset="0"/>
                <a:sym typeface="Wingdings" pitchFamily="2" charset="2"/>
              </a:rPr>
              <a:t>“read” </a:t>
            </a:r>
            <a:r>
              <a:rPr lang="en-US" sz="1500" dirty="0">
                <a:latin typeface="Arial" pitchFamily="34" charset="0"/>
                <a:cs typeface="Arial" pitchFamily="34" charset="0"/>
                <a:sym typeface="Wingdings" pitchFamily="2" charset="2"/>
              </a:rPr>
              <a:t></a:t>
            </a:r>
            <a:r>
              <a:rPr lang="en-US" sz="1500" dirty="0">
                <a:solidFill>
                  <a:srgbClr val="008000"/>
                </a:solidFill>
                <a:latin typeface="Arial" pitchFamily="34" charset="0"/>
                <a:cs typeface="Arial" pitchFamily="34" charset="0"/>
                <a:sym typeface="Wingdings" pitchFamily="2" charset="2"/>
              </a:rPr>
              <a:t> </a:t>
            </a:r>
            <a:r>
              <a:rPr lang="en-US" sz="1500" dirty="0">
                <a:latin typeface="Arial" pitchFamily="34" charset="0"/>
                <a:cs typeface="Arial" pitchFamily="34" charset="0"/>
                <a:sym typeface="Wingdings" pitchFamily="2" charset="2"/>
              </a:rPr>
              <a:t>context words = </a:t>
            </a:r>
            <a:r>
              <a:rPr lang="en-US" sz="1500" dirty="0">
                <a:solidFill>
                  <a:srgbClr val="008000"/>
                </a:solidFill>
                <a:latin typeface="Arial" pitchFamily="34" charset="0"/>
                <a:cs typeface="Arial" pitchFamily="34" charset="0"/>
                <a:sym typeface="Wingdings" pitchFamily="2" charset="2"/>
              </a:rPr>
              <a:t>“I” , “sci-fi”, “books” </a:t>
            </a:r>
          </a:p>
          <a:p>
            <a:endParaRPr lang="en-US" sz="1500" dirty="0">
              <a:solidFill>
                <a:srgbClr val="008000"/>
              </a:solidFill>
              <a:latin typeface="Arial" pitchFamily="34" charset="0"/>
              <a:cs typeface="Arial" pitchFamily="34" charset="0"/>
              <a:sym typeface="Wingdings" pitchFamily="2" charset="2"/>
            </a:endParaRPr>
          </a:p>
        </p:txBody>
      </p:sp>
    </p:spTree>
    <p:extLst>
      <p:ext uri="{BB962C8B-B14F-4D97-AF65-F5344CB8AC3E}">
        <p14:creationId xmlns:p14="http://schemas.microsoft.com/office/powerpoint/2010/main" val="1819385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86D6B-0EB4-7942-A567-E0471D1A51F0}"/>
              </a:ext>
            </a:extLst>
          </p:cNvPr>
          <p:cNvSpPr>
            <a:spLocks noGrp="1"/>
          </p:cNvSpPr>
          <p:nvPr>
            <p:ph type="title"/>
          </p:nvPr>
        </p:nvSpPr>
        <p:spPr/>
        <p:txBody>
          <a:bodyPr/>
          <a:lstStyle/>
          <a:p>
            <a:r>
              <a:rPr lang="en-US" dirty="0"/>
              <a:t>Word2Vec: target and context</a:t>
            </a:r>
          </a:p>
        </p:txBody>
      </p:sp>
      <p:sp>
        <p:nvSpPr>
          <p:cNvPr id="4" name="Date Placeholder 3">
            <a:extLst>
              <a:ext uri="{FF2B5EF4-FFF2-40B4-BE49-F238E27FC236}">
                <a16:creationId xmlns:a16="http://schemas.microsoft.com/office/drawing/2014/main" id="{7C65A942-D4B4-6A46-B761-AA60F9A18E05}"/>
              </a:ext>
            </a:extLst>
          </p:cNvPr>
          <p:cNvSpPr>
            <a:spLocks noGrp="1"/>
          </p:cNvSpPr>
          <p:nvPr>
            <p:ph type="dt" sz="half" idx="10"/>
          </p:nvPr>
        </p:nvSpPr>
        <p:spPr/>
        <p:txBody>
          <a:bodyPr/>
          <a:lstStyle/>
          <a:p>
            <a:fld id="{5380A4A0-E6C9-9A4B-8CD0-AE83C01B433F}" type="datetime1">
              <a:rPr lang="en-US" smtClean="0"/>
              <a:t>11/3/24</a:t>
            </a:fld>
            <a:endParaRPr lang="en-US"/>
          </a:p>
        </p:txBody>
      </p:sp>
      <p:sp>
        <p:nvSpPr>
          <p:cNvPr id="5" name="Footer Placeholder 4">
            <a:extLst>
              <a:ext uri="{FF2B5EF4-FFF2-40B4-BE49-F238E27FC236}">
                <a16:creationId xmlns:a16="http://schemas.microsoft.com/office/drawing/2014/main" id="{7BC47CA9-5C4F-0640-BB86-59FC07E6217F}"/>
              </a:ext>
            </a:extLst>
          </p:cNvPr>
          <p:cNvSpPr>
            <a:spLocks noGrp="1"/>
          </p:cNvSpPr>
          <p:nvPr>
            <p:ph type="ftr" sz="quarter" idx="11"/>
          </p:nvPr>
        </p:nvSpPr>
        <p:spPr/>
        <p:txBody>
          <a:bodyPr/>
          <a:lstStyle/>
          <a:p>
            <a:r>
              <a:rPr lang="en-US"/>
              <a:t>Jure Leskovec &amp; Mina Ghashami, Stanford University </a:t>
            </a:r>
            <a:endParaRPr lang="en-US" dirty="0"/>
          </a:p>
        </p:txBody>
      </p:sp>
      <p:sp>
        <p:nvSpPr>
          <p:cNvPr id="6" name="Slide Number Placeholder 5">
            <a:extLst>
              <a:ext uri="{FF2B5EF4-FFF2-40B4-BE49-F238E27FC236}">
                <a16:creationId xmlns:a16="http://schemas.microsoft.com/office/drawing/2014/main" id="{04696C01-960E-CC4E-9F7F-FF9CFBDBC22D}"/>
              </a:ext>
            </a:extLst>
          </p:cNvPr>
          <p:cNvSpPr>
            <a:spLocks noGrp="1"/>
          </p:cNvSpPr>
          <p:nvPr>
            <p:ph type="sldNum" sz="quarter" idx="12"/>
          </p:nvPr>
        </p:nvSpPr>
        <p:spPr/>
        <p:txBody>
          <a:bodyPr/>
          <a:lstStyle/>
          <a:p>
            <a:fld id="{19B12225-5612-419B-A8D5-4B8EEE4C217E}" type="slidenum">
              <a:rPr lang="en-US" smtClean="0"/>
              <a:pPr/>
              <a:t>39</a:t>
            </a:fld>
            <a:endParaRPr lang="en-US"/>
          </a:p>
        </p:txBody>
      </p:sp>
      <p:graphicFrame>
        <p:nvGraphicFramePr>
          <p:cNvPr id="18" name="Table 17">
            <a:extLst>
              <a:ext uri="{FF2B5EF4-FFF2-40B4-BE49-F238E27FC236}">
                <a16:creationId xmlns:a16="http://schemas.microsoft.com/office/drawing/2014/main" id="{0A2C8DE7-1B7B-7041-AD99-F0FFA69FE2E2}"/>
              </a:ext>
            </a:extLst>
          </p:cNvPr>
          <p:cNvGraphicFramePr>
            <a:graphicFrameLocks noGrp="1"/>
          </p:cNvGraphicFramePr>
          <p:nvPr/>
        </p:nvGraphicFramePr>
        <p:xfrm>
          <a:off x="1467097" y="2238176"/>
          <a:ext cx="6362699" cy="370840"/>
        </p:xfrm>
        <a:graphic>
          <a:graphicData uri="http://schemas.openxmlformats.org/drawingml/2006/table">
            <a:tbl>
              <a:tblPr firstRow="1" bandRow="1">
                <a:tableStyleId>{5940675A-B579-460E-94D1-54222C63F5DA}</a:tableStyleId>
              </a:tblPr>
              <a:tblGrid>
                <a:gridCol w="482687">
                  <a:extLst>
                    <a:ext uri="{9D8B030D-6E8A-4147-A177-3AD203B41FA5}">
                      <a16:colId xmlns:a16="http://schemas.microsoft.com/office/drawing/2014/main" val="2589011122"/>
                    </a:ext>
                  </a:extLst>
                </a:gridCol>
                <a:gridCol w="877613">
                  <a:extLst>
                    <a:ext uri="{9D8B030D-6E8A-4147-A177-3AD203B41FA5}">
                      <a16:colId xmlns:a16="http://schemas.microsoft.com/office/drawing/2014/main" val="179428058"/>
                    </a:ext>
                  </a:extLst>
                </a:gridCol>
                <a:gridCol w="877613">
                  <a:extLst>
                    <a:ext uri="{9D8B030D-6E8A-4147-A177-3AD203B41FA5}">
                      <a16:colId xmlns:a16="http://schemas.microsoft.com/office/drawing/2014/main" val="2904625675"/>
                    </a:ext>
                  </a:extLst>
                </a:gridCol>
                <a:gridCol w="943437">
                  <a:extLst>
                    <a:ext uri="{9D8B030D-6E8A-4147-A177-3AD203B41FA5}">
                      <a16:colId xmlns:a16="http://schemas.microsoft.com/office/drawing/2014/main" val="424565796"/>
                    </a:ext>
                  </a:extLst>
                </a:gridCol>
                <a:gridCol w="795337">
                  <a:extLst>
                    <a:ext uri="{9D8B030D-6E8A-4147-A177-3AD203B41FA5}">
                      <a16:colId xmlns:a16="http://schemas.microsoft.com/office/drawing/2014/main" val="3602161993"/>
                    </a:ext>
                  </a:extLst>
                </a:gridCol>
                <a:gridCol w="795337">
                  <a:extLst>
                    <a:ext uri="{9D8B030D-6E8A-4147-A177-3AD203B41FA5}">
                      <a16:colId xmlns:a16="http://schemas.microsoft.com/office/drawing/2014/main" val="28535482"/>
                    </a:ext>
                  </a:extLst>
                </a:gridCol>
                <a:gridCol w="958358">
                  <a:extLst>
                    <a:ext uri="{9D8B030D-6E8A-4147-A177-3AD203B41FA5}">
                      <a16:colId xmlns:a16="http://schemas.microsoft.com/office/drawing/2014/main" val="2133136611"/>
                    </a:ext>
                  </a:extLst>
                </a:gridCol>
                <a:gridCol w="632317">
                  <a:extLst>
                    <a:ext uri="{9D8B030D-6E8A-4147-A177-3AD203B41FA5}">
                      <a16:colId xmlns:a16="http://schemas.microsoft.com/office/drawing/2014/main" val="369116473"/>
                    </a:ext>
                  </a:extLst>
                </a:gridCol>
              </a:tblGrid>
              <a:tr h="370840">
                <a:tc>
                  <a:txBody>
                    <a:bodyPr/>
                    <a:lstStyle/>
                    <a:p>
                      <a:r>
                        <a:rPr lang="en-US" dirty="0">
                          <a:solidFill>
                            <a:schemeClr val="tx1"/>
                          </a:solidFill>
                        </a:rPr>
                        <a:t>I</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dirty="0">
                          <a:solidFill>
                            <a:schemeClr val="tx1"/>
                          </a:solidFill>
                        </a:rPr>
                        <a:t>read</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solidFill>
                            <a:schemeClr val="tx1"/>
                          </a:solidFill>
                        </a:rPr>
                        <a:t>sci-fi</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dirty="0"/>
                        <a:t>books</a:t>
                      </a:r>
                    </a:p>
                  </a:txBody>
                  <a:tcP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and </a:t>
                      </a:r>
                    </a:p>
                  </a:txBody>
                  <a:tcP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drink</a:t>
                      </a:r>
                    </a:p>
                  </a:txBody>
                  <a:tcP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orange</a:t>
                      </a:r>
                    </a:p>
                  </a:txBody>
                  <a:tcP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juice</a:t>
                      </a:r>
                    </a:p>
                  </a:txBody>
                  <a:tcPr>
                    <a:lnL w="12700" cmpd="sng">
                      <a:noFill/>
                    </a:lnL>
                    <a:lnR w="12700" cmpd="sng">
                      <a:noFill/>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05326722"/>
                  </a:ext>
                </a:extLst>
              </a:tr>
            </a:tbl>
          </a:graphicData>
        </a:graphic>
      </p:graphicFrame>
      <p:graphicFrame>
        <p:nvGraphicFramePr>
          <p:cNvPr id="19" name="Table 17">
            <a:extLst>
              <a:ext uri="{FF2B5EF4-FFF2-40B4-BE49-F238E27FC236}">
                <a16:creationId xmlns:a16="http://schemas.microsoft.com/office/drawing/2014/main" id="{4CB9A055-EB44-EF4F-B94B-606CC4D7550F}"/>
              </a:ext>
            </a:extLst>
          </p:cNvPr>
          <p:cNvGraphicFramePr>
            <a:graphicFrameLocks noGrp="1"/>
          </p:cNvGraphicFramePr>
          <p:nvPr/>
        </p:nvGraphicFramePr>
        <p:xfrm>
          <a:off x="1467095" y="2788811"/>
          <a:ext cx="6362699" cy="370840"/>
        </p:xfrm>
        <a:graphic>
          <a:graphicData uri="http://schemas.openxmlformats.org/drawingml/2006/table">
            <a:tbl>
              <a:tblPr firstRow="1" bandRow="1">
                <a:tableStyleId>{5940675A-B579-460E-94D1-54222C63F5DA}</a:tableStyleId>
              </a:tblPr>
              <a:tblGrid>
                <a:gridCol w="482687">
                  <a:extLst>
                    <a:ext uri="{9D8B030D-6E8A-4147-A177-3AD203B41FA5}">
                      <a16:colId xmlns:a16="http://schemas.microsoft.com/office/drawing/2014/main" val="2589011122"/>
                    </a:ext>
                  </a:extLst>
                </a:gridCol>
                <a:gridCol w="877613">
                  <a:extLst>
                    <a:ext uri="{9D8B030D-6E8A-4147-A177-3AD203B41FA5}">
                      <a16:colId xmlns:a16="http://schemas.microsoft.com/office/drawing/2014/main" val="179428058"/>
                    </a:ext>
                  </a:extLst>
                </a:gridCol>
                <a:gridCol w="877613">
                  <a:extLst>
                    <a:ext uri="{9D8B030D-6E8A-4147-A177-3AD203B41FA5}">
                      <a16:colId xmlns:a16="http://schemas.microsoft.com/office/drawing/2014/main" val="2904625675"/>
                    </a:ext>
                  </a:extLst>
                </a:gridCol>
                <a:gridCol w="943437">
                  <a:extLst>
                    <a:ext uri="{9D8B030D-6E8A-4147-A177-3AD203B41FA5}">
                      <a16:colId xmlns:a16="http://schemas.microsoft.com/office/drawing/2014/main" val="424565796"/>
                    </a:ext>
                  </a:extLst>
                </a:gridCol>
                <a:gridCol w="795337">
                  <a:extLst>
                    <a:ext uri="{9D8B030D-6E8A-4147-A177-3AD203B41FA5}">
                      <a16:colId xmlns:a16="http://schemas.microsoft.com/office/drawing/2014/main" val="3602161993"/>
                    </a:ext>
                  </a:extLst>
                </a:gridCol>
                <a:gridCol w="795337">
                  <a:extLst>
                    <a:ext uri="{9D8B030D-6E8A-4147-A177-3AD203B41FA5}">
                      <a16:colId xmlns:a16="http://schemas.microsoft.com/office/drawing/2014/main" val="28535482"/>
                    </a:ext>
                  </a:extLst>
                </a:gridCol>
                <a:gridCol w="958358">
                  <a:extLst>
                    <a:ext uri="{9D8B030D-6E8A-4147-A177-3AD203B41FA5}">
                      <a16:colId xmlns:a16="http://schemas.microsoft.com/office/drawing/2014/main" val="2133136611"/>
                    </a:ext>
                  </a:extLst>
                </a:gridCol>
                <a:gridCol w="632317">
                  <a:extLst>
                    <a:ext uri="{9D8B030D-6E8A-4147-A177-3AD203B41FA5}">
                      <a16:colId xmlns:a16="http://schemas.microsoft.com/office/drawing/2014/main" val="369116473"/>
                    </a:ext>
                  </a:extLst>
                </a:gridCol>
              </a:tblGrid>
              <a:tr h="370840">
                <a:tc>
                  <a:txBody>
                    <a:bodyPr/>
                    <a:lstStyle/>
                    <a:p>
                      <a:r>
                        <a:rPr lang="en-US" dirty="0"/>
                        <a:t>I</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read</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dirty="0"/>
                        <a:t>sci-fi</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books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and </a:t>
                      </a:r>
                    </a:p>
                  </a:txBody>
                  <a:tcPr>
                    <a:lnL w="3175"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drink</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orange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juice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05326722"/>
                  </a:ext>
                </a:extLst>
              </a:tr>
            </a:tbl>
          </a:graphicData>
        </a:graphic>
      </p:graphicFrame>
      <p:graphicFrame>
        <p:nvGraphicFramePr>
          <p:cNvPr id="20" name="Table 17">
            <a:extLst>
              <a:ext uri="{FF2B5EF4-FFF2-40B4-BE49-F238E27FC236}">
                <a16:creationId xmlns:a16="http://schemas.microsoft.com/office/drawing/2014/main" id="{05A751C5-9523-9841-97E7-A70D757ACAED}"/>
              </a:ext>
            </a:extLst>
          </p:cNvPr>
          <p:cNvGraphicFramePr>
            <a:graphicFrameLocks noGrp="1"/>
          </p:cNvGraphicFramePr>
          <p:nvPr/>
        </p:nvGraphicFramePr>
        <p:xfrm>
          <a:off x="1447800" y="3333774"/>
          <a:ext cx="6362699" cy="370840"/>
        </p:xfrm>
        <a:graphic>
          <a:graphicData uri="http://schemas.openxmlformats.org/drawingml/2006/table">
            <a:tbl>
              <a:tblPr firstRow="1" bandRow="1">
                <a:tableStyleId>{5940675A-B579-460E-94D1-54222C63F5DA}</a:tableStyleId>
              </a:tblPr>
              <a:tblGrid>
                <a:gridCol w="482687">
                  <a:extLst>
                    <a:ext uri="{9D8B030D-6E8A-4147-A177-3AD203B41FA5}">
                      <a16:colId xmlns:a16="http://schemas.microsoft.com/office/drawing/2014/main" val="2589011122"/>
                    </a:ext>
                  </a:extLst>
                </a:gridCol>
                <a:gridCol w="877613">
                  <a:extLst>
                    <a:ext uri="{9D8B030D-6E8A-4147-A177-3AD203B41FA5}">
                      <a16:colId xmlns:a16="http://schemas.microsoft.com/office/drawing/2014/main" val="179428058"/>
                    </a:ext>
                  </a:extLst>
                </a:gridCol>
                <a:gridCol w="877613">
                  <a:extLst>
                    <a:ext uri="{9D8B030D-6E8A-4147-A177-3AD203B41FA5}">
                      <a16:colId xmlns:a16="http://schemas.microsoft.com/office/drawing/2014/main" val="2904625675"/>
                    </a:ext>
                  </a:extLst>
                </a:gridCol>
                <a:gridCol w="943437">
                  <a:extLst>
                    <a:ext uri="{9D8B030D-6E8A-4147-A177-3AD203B41FA5}">
                      <a16:colId xmlns:a16="http://schemas.microsoft.com/office/drawing/2014/main" val="424565796"/>
                    </a:ext>
                  </a:extLst>
                </a:gridCol>
                <a:gridCol w="795337">
                  <a:extLst>
                    <a:ext uri="{9D8B030D-6E8A-4147-A177-3AD203B41FA5}">
                      <a16:colId xmlns:a16="http://schemas.microsoft.com/office/drawing/2014/main" val="3602161993"/>
                    </a:ext>
                  </a:extLst>
                </a:gridCol>
                <a:gridCol w="795337">
                  <a:extLst>
                    <a:ext uri="{9D8B030D-6E8A-4147-A177-3AD203B41FA5}">
                      <a16:colId xmlns:a16="http://schemas.microsoft.com/office/drawing/2014/main" val="28535482"/>
                    </a:ext>
                  </a:extLst>
                </a:gridCol>
                <a:gridCol w="958358">
                  <a:extLst>
                    <a:ext uri="{9D8B030D-6E8A-4147-A177-3AD203B41FA5}">
                      <a16:colId xmlns:a16="http://schemas.microsoft.com/office/drawing/2014/main" val="2133136611"/>
                    </a:ext>
                  </a:extLst>
                </a:gridCol>
                <a:gridCol w="632317">
                  <a:extLst>
                    <a:ext uri="{9D8B030D-6E8A-4147-A177-3AD203B41FA5}">
                      <a16:colId xmlns:a16="http://schemas.microsoft.com/office/drawing/2014/main" val="369116473"/>
                    </a:ext>
                  </a:extLst>
                </a:gridCol>
              </a:tblGrid>
              <a:tr h="370840">
                <a:tc>
                  <a:txBody>
                    <a:bodyPr/>
                    <a:lstStyle/>
                    <a:p>
                      <a:r>
                        <a:rPr lang="en-US" dirty="0"/>
                        <a:t>I</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read</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sci-fi</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dirty="0"/>
                        <a:t>books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and </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drink</a:t>
                      </a:r>
                    </a:p>
                  </a:txBody>
                  <a:tcPr>
                    <a:lnL w="3175"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orange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juice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05326722"/>
                  </a:ext>
                </a:extLst>
              </a:tr>
            </a:tbl>
          </a:graphicData>
        </a:graphic>
      </p:graphicFrame>
      <p:graphicFrame>
        <p:nvGraphicFramePr>
          <p:cNvPr id="21" name="Table 17">
            <a:extLst>
              <a:ext uri="{FF2B5EF4-FFF2-40B4-BE49-F238E27FC236}">
                <a16:creationId xmlns:a16="http://schemas.microsoft.com/office/drawing/2014/main" id="{81A56AD7-43CD-324A-8853-7EFE5CCE0C25}"/>
              </a:ext>
            </a:extLst>
          </p:cNvPr>
          <p:cNvGraphicFramePr>
            <a:graphicFrameLocks noGrp="1"/>
          </p:cNvGraphicFramePr>
          <p:nvPr/>
        </p:nvGraphicFramePr>
        <p:xfrm>
          <a:off x="1447800" y="3867174"/>
          <a:ext cx="6362699" cy="370840"/>
        </p:xfrm>
        <a:graphic>
          <a:graphicData uri="http://schemas.openxmlformats.org/drawingml/2006/table">
            <a:tbl>
              <a:tblPr firstRow="1" bandRow="1">
                <a:tableStyleId>{5940675A-B579-460E-94D1-54222C63F5DA}</a:tableStyleId>
              </a:tblPr>
              <a:tblGrid>
                <a:gridCol w="482687">
                  <a:extLst>
                    <a:ext uri="{9D8B030D-6E8A-4147-A177-3AD203B41FA5}">
                      <a16:colId xmlns:a16="http://schemas.microsoft.com/office/drawing/2014/main" val="2589011122"/>
                    </a:ext>
                  </a:extLst>
                </a:gridCol>
                <a:gridCol w="877613">
                  <a:extLst>
                    <a:ext uri="{9D8B030D-6E8A-4147-A177-3AD203B41FA5}">
                      <a16:colId xmlns:a16="http://schemas.microsoft.com/office/drawing/2014/main" val="179428058"/>
                    </a:ext>
                  </a:extLst>
                </a:gridCol>
                <a:gridCol w="877613">
                  <a:extLst>
                    <a:ext uri="{9D8B030D-6E8A-4147-A177-3AD203B41FA5}">
                      <a16:colId xmlns:a16="http://schemas.microsoft.com/office/drawing/2014/main" val="2904625675"/>
                    </a:ext>
                  </a:extLst>
                </a:gridCol>
                <a:gridCol w="943437">
                  <a:extLst>
                    <a:ext uri="{9D8B030D-6E8A-4147-A177-3AD203B41FA5}">
                      <a16:colId xmlns:a16="http://schemas.microsoft.com/office/drawing/2014/main" val="424565796"/>
                    </a:ext>
                  </a:extLst>
                </a:gridCol>
                <a:gridCol w="795337">
                  <a:extLst>
                    <a:ext uri="{9D8B030D-6E8A-4147-A177-3AD203B41FA5}">
                      <a16:colId xmlns:a16="http://schemas.microsoft.com/office/drawing/2014/main" val="3602161993"/>
                    </a:ext>
                  </a:extLst>
                </a:gridCol>
                <a:gridCol w="795337">
                  <a:extLst>
                    <a:ext uri="{9D8B030D-6E8A-4147-A177-3AD203B41FA5}">
                      <a16:colId xmlns:a16="http://schemas.microsoft.com/office/drawing/2014/main" val="28535482"/>
                    </a:ext>
                  </a:extLst>
                </a:gridCol>
                <a:gridCol w="958358">
                  <a:extLst>
                    <a:ext uri="{9D8B030D-6E8A-4147-A177-3AD203B41FA5}">
                      <a16:colId xmlns:a16="http://schemas.microsoft.com/office/drawing/2014/main" val="2133136611"/>
                    </a:ext>
                  </a:extLst>
                </a:gridCol>
                <a:gridCol w="632317">
                  <a:extLst>
                    <a:ext uri="{9D8B030D-6E8A-4147-A177-3AD203B41FA5}">
                      <a16:colId xmlns:a16="http://schemas.microsoft.com/office/drawing/2014/main" val="369116473"/>
                    </a:ext>
                  </a:extLst>
                </a:gridCol>
              </a:tblGrid>
              <a:tr h="370840">
                <a:tc>
                  <a:txBody>
                    <a:bodyPr/>
                    <a:lstStyle/>
                    <a:p>
                      <a:r>
                        <a:rPr lang="en-US" dirty="0"/>
                        <a:t>I</a:t>
                      </a:r>
                    </a:p>
                  </a:txBody>
                  <a:tcPr>
                    <a:lnL w="12700" cmpd="sng">
                      <a:noFill/>
                    </a:lnL>
                    <a:lnR w="31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dirty="0"/>
                        <a:t>read</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sci-fi</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books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dirty="0"/>
                        <a:t>and </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drink</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orange</a:t>
                      </a:r>
                    </a:p>
                  </a:txBody>
                  <a:tcPr>
                    <a:lnL w="3175"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juice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05326722"/>
                  </a:ext>
                </a:extLst>
              </a:tr>
            </a:tbl>
          </a:graphicData>
        </a:graphic>
      </p:graphicFrame>
      <p:graphicFrame>
        <p:nvGraphicFramePr>
          <p:cNvPr id="22" name="Table 17">
            <a:extLst>
              <a:ext uri="{FF2B5EF4-FFF2-40B4-BE49-F238E27FC236}">
                <a16:creationId xmlns:a16="http://schemas.microsoft.com/office/drawing/2014/main" id="{55CB1095-9CF7-1249-AD80-05F810094A58}"/>
              </a:ext>
            </a:extLst>
          </p:cNvPr>
          <p:cNvGraphicFramePr>
            <a:graphicFrameLocks noGrp="1"/>
          </p:cNvGraphicFramePr>
          <p:nvPr/>
        </p:nvGraphicFramePr>
        <p:xfrm>
          <a:off x="1447800" y="4400574"/>
          <a:ext cx="6362699" cy="370840"/>
        </p:xfrm>
        <a:graphic>
          <a:graphicData uri="http://schemas.openxmlformats.org/drawingml/2006/table">
            <a:tbl>
              <a:tblPr firstRow="1" bandRow="1">
                <a:tableStyleId>{5940675A-B579-460E-94D1-54222C63F5DA}</a:tableStyleId>
              </a:tblPr>
              <a:tblGrid>
                <a:gridCol w="482687">
                  <a:extLst>
                    <a:ext uri="{9D8B030D-6E8A-4147-A177-3AD203B41FA5}">
                      <a16:colId xmlns:a16="http://schemas.microsoft.com/office/drawing/2014/main" val="2589011122"/>
                    </a:ext>
                  </a:extLst>
                </a:gridCol>
                <a:gridCol w="877613">
                  <a:extLst>
                    <a:ext uri="{9D8B030D-6E8A-4147-A177-3AD203B41FA5}">
                      <a16:colId xmlns:a16="http://schemas.microsoft.com/office/drawing/2014/main" val="179428058"/>
                    </a:ext>
                  </a:extLst>
                </a:gridCol>
                <a:gridCol w="877613">
                  <a:extLst>
                    <a:ext uri="{9D8B030D-6E8A-4147-A177-3AD203B41FA5}">
                      <a16:colId xmlns:a16="http://schemas.microsoft.com/office/drawing/2014/main" val="2904625675"/>
                    </a:ext>
                  </a:extLst>
                </a:gridCol>
                <a:gridCol w="943437">
                  <a:extLst>
                    <a:ext uri="{9D8B030D-6E8A-4147-A177-3AD203B41FA5}">
                      <a16:colId xmlns:a16="http://schemas.microsoft.com/office/drawing/2014/main" val="424565796"/>
                    </a:ext>
                  </a:extLst>
                </a:gridCol>
                <a:gridCol w="795337">
                  <a:extLst>
                    <a:ext uri="{9D8B030D-6E8A-4147-A177-3AD203B41FA5}">
                      <a16:colId xmlns:a16="http://schemas.microsoft.com/office/drawing/2014/main" val="3602161993"/>
                    </a:ext>
                  </a:extLst>
                </a:gridCol>
                <a:gridCol w="795337">
                  <a:extLst>
                    <a:ext uri="{9D8B030D-6E8A-4147-A177-3AD203B41FA5}">
                      <a16:colId xmlns:a16="http://schemas.microsoft.com/office/drawing/2014/main" val="28535482"/>
                    </a:ext>
                  </a:extLst>
                </a:gridCol>
                <a:gridCol w="958358">
                  <a:extLst>
                    <a:ext uri="{9D8B030D-6E8A-4147-A177-3AD203B41FA5}">
                      <a16:colId xmlns:a16="http://schemas.microsoft.com/office/drawing/2014/main" val="2133136611"/>
                    </a:ext>
                  </a:extLst>
                </a:gridCol>
                <a:gridCol w="632317">
                  <a:extLst>
                    <a:ext uri="{9D8B030D-6E8A-4147-A177-3AD203B41FA5}">
                      <a16:colId xmlns:a16="http://schemas.microsoft.com/office/drawing/2014/main" val="369116473"/>
                    </a:ext>
                  </a:extLst>
                </a:gridCol>
              </a:tblGrid>
              <a:tr h="370840">
                <a:tc>
                  <a:txBody>
                    <a:bodyPr/>
                    <a:lstStyle/>
                    <a:p>
                      <a:r>
                        <a:rPr lang="en-US" dirty="0"/>
                        <a:t>I</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read</a:t>
                      </a:r>
                    </a:p>
                  </a:txBody>
                  <a:tcPr>
                    <a:lnL w="12700" cmpd="sng">
                      <a:noFill/>
                    </a:lnL>
                    <a:lnR w="31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dirty="0"/>
                        <a:t>sci-fi</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books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and </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dirty="0"/>
                        <a:t>drink</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orange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juice</a:t>
                      </a:r>
                    </a:p>
                  </a:txBody>
                  <a:tcPr>
                    <a:lnL w="3175"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05326722"/>
                  </a:ext>
                </a:extLst>
              </a:tr>
            </a:tbl>
          </a:graphicData>
        </a:graphic>
      </p:graphicFrame>
      <p:graphicFrame>
        <p:nvGraphicFramePr>
          <p:cNvPr id="23" name="Table 17">
            <a:extLst>
              <a:ext uri="{FF2B5EF4-FFF2-40B4-BE49-F238E27FC236}">
                <a16:creationId xmlns:a16="http://schemas.microsoft.com/office/drawing/2014/main" id="{88D56D77-E487-6C47-8D85-43FF3D4291DA}"/>
              </a:ext>
            </a:extLst>
          </p:cNvPr>
          <p:cNvGraphicFramePr>
            <a:graphicFrameLocks noGrp="1"/>
          </p:cNvGraphicFramePr>
          <p:nvPr/>
        </p:nvGraphicFramePr>
        <p:xfrm>
          <a:off x="1447800" y="4933974"/>
          <a:ext cx="6362699" cy="370840"/>
        </p:xfrm>
        <a:graphic>
          <a:graphicData uri="http://schemas.openxmlformats.org/drawingml/2006/table">
            <a:tbl>
              <a:tblPr firstRow="1" bandRow="1">
                <a:tableStyleId>{5940675A-B579-460E-94D1-54222C63F5DA}</a:tableStyleId>
              </a:tblPr>
              <a:tblGrid>
                <a:gridCol w="482687">
                  <a:extLst>
                    <a:ext uri="{9D8B030D-6E8A-4147-A177-3AD203B41FA5}">
                      <a16:colId xmlns:a16="http://schemas.microsoft.com/office/drawing/2014/main" val="2589011122"/>
                    </a:ext>
                  </a:extLst>
                </a:gridCol>
                <a:gridCol w="877613">
                  <a:extLst>
                    <a:ext uri="{9D8B030D-6E8A-4147-A177-3AD203B41FA5}">
                      <a16:colId xmlns:a16="http://schemas.microsoft.com/office/drawing/2014/main" val="179428058"/>
                    </a:ext>
                  </a:extLst>
                </a:gridCol>
                <a:gridCol w="877613">
                  <a:extLst>
                    <a:ext uri="{9D8B030D-6E8A-4147-A177-3AD203B41FA5}">
                      <a16:colId xmlns:a16="http://schemas.microsoft.com/office/drawing/2014/main" val="2904625675"/>
                    </a:ext>
                  </a:extLst>
                </a:gridCol>
                <a:gridCol w="943437">
                  <a:extLst>
                    <a:ext uri="{9D8B030D-6E8A-4147-A177-3AD203B41FA5}">
                      <a16:colId xmlns:a16="http://schemas.microsoft.com/office/drawing/2014/main" val="424565796"/>
                    </a:ext>
                  </a:extLst>
                </a:gridCol>
                <a:gridCol w="795337">
                  <a:extLst>
                    <a:ext uri="{9D8B030D-6E8A-4147-A177-3AD203B41FA5}">
                      <a16:colId xmlns:a16="http://schemas.microsoft.com/office/drawing/2014/main" val="3602161993"/>
                    </a:ext>
                  </a:extLst>
                </a:gridCol>
                <a:gridCol w="795337">
                  <a:extLst>
                    <a:ext uri="{9D8B030D-6E8A-4147-A177-3AD203B41FA5}">
                      <a16:colId xmlns:a16="http://schemas.microsoft.com/office/drawing/2014/main" val="28535482"/>
                    </a:ext>
                  </a:extLst>
                </a:gridCol>
                <a:gridCol w="958358">
                  <a:extLst>
                    <a:ext uri="{9D8B030D-6E8A-4147-A177-3AD203B41FA5}">
                      <a16:colId xmlns:a16="http://schemas.microsoft.com/office/drawing/2014/main" val="2133136611"/>
                    </a:ext>
                  </a:extLst>
                </a:gridCol>
                <a:gridCol w="632317">
                  <a:extLst>
                    <a:ext uri="{9D8B030D-6E8A-4147-A177-3AD203B41FA5}">
                      <a16:colId xmlns:a16="http://schemas.microsoft.com/office/drawing/2014/main" val="369116473"/>
                    </a:ext>
                  </a:extLst>
                </a:gridCol>
              </a:tblGrid>
              <a:tr h="370840">
                <a:tc>
                  <a:txBody>
                    <a:bodyPr/>
                    <a:lstStyle/>
                    <a:p>
                      <a:r>
                        <a:rPr lang="en-US" dirty="0"/>
                        <a:t>I</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read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sci-fi</a:t>
                      </a:r>
                    </a:p>
                  </a:txBody>
                  <a:tcPr>
                    <a:lnL w="12700" cmpd="sng">
                      <a:noFill/>
                    </a:lnL>
                    <a:lnR w="31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dirty="0"/>
                        <a:t>books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and </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drink</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dirty="0"/>
                        <a:t>orange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juice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05326722"/>
                  </a:ext>
                </a:extLst>
              </a:tr>
            </a:tbl>
          </a:graphicData>
        </a:graphic>
      </p:graphicFrame>
      <p:graphicFrame>
        <p:nvGraphicFramePr>
          <p:cNvPr id="24" name="Table 17">
            <a:extLst>
              <a:ext uri="{FF2B5EF4-FFF2-40B4-BE49-F238E27FC236}">
                <a16:creationId xmlns:a16="http://schemas.microsoft.com/office/drawing/2014/main" id="{416F5A3C-3654-F34D-985C-437AD30B6387}"/>
              </a:ext>
            </a:extLst>
          </p:cNvPr>
          <p:cNvGraphicFramePr>
            <a:graphicFrameLocks noGrp="1"/>
          </p:cNvGraphicFramePr>
          <p:nvPr/>
        </p:nvGraphicFramePr>
        <p:xfrm>
          <a:off x="1485901" y="5496560"/>
          <a:ext cx="6362699" cy="370840"/>
        </p:xfrm>
        <a:graphic>
          <a:graphicData uri="http://schemas.openxmlformats.org/drawingml/2006/table">
            <a:tbl>
              <a:tblPr firstRow="1" bandRow="1">
                <a:tableStyleId>{5940675A-B579-460E-94D1-54222C63F5DA}</a:tableStyleId>
              </a:tblPr>
              <a:tblGrid>
                <a:gridCol w="482687">
                  <a:extLst>
                    <a:ext uri="{9D8B030D-6E8A-4147-A177-3AD203B41FA5}">
                      <a16:colId xmlns:a16="http://schemas.microsoft.com/office/drawing/2014/main" val="2589011122"/>
                    </a:ext>
                  </a:extLst>
                </a:gridCol>
                <a:gridCol w="877613">
                  <a:extLst>
                    <a:ext uri="{9D8B030D-6E8A-4147-A177-3AD203B41FA5}">
                      <a16:colId xmlns:a16="http://schemas.microsoft.com/office/drawing/2014/main" val="179428058"/>
                    </a:ext>
                  </a:extLst>
                </a:gridCol>
                <a:gridCol w="877613">
                  <a:extLst>
                    <a:ext uri="{9D8B030D-6E8A-4147-A177-3AD203B41FA5}">
                      <a16:colId xmlns:a16="http://schemas.microsoft.com/office/drawing/2014/main" val="2904625675"/>
                    </a:ext>
                  </a:extLst>
                </a:gridCol>
                <a:gridCol w="943437">
                  <a:extLst>
                    <a:ext uri="{9D8B030D-6E8A-4147-A177-3AD203B41FA5}">
                      <a16:colId xmlns:a16="http://schemas.microsoft.com/office/drawing/2014/main" val="424565796"/>
                    </a:ext>
                  </a:extLst>
                </a:gridCol>
                <a:gridCol w="795337">
                  <a:extLst>
                    <a:ext uri="{9D8B030D-6E8A-4147-A177-3AD203B41FA5}">
                      <a16:colId xmlns:a16="http://schemas.microsoft.com/office/drawing/2014/main" val="3602161993"/>
                    </a:ext>
                  </a:extLst>
                </a:gridCol>
                <a:gridCol w="795337">
                  <a:extLst>
                    <a:ext uri="{9D8B030D-6E8A-4147-A177-3AD203B41FA5}">
                      <a16:colId xmlns:a16="http://schemas.microsoft.com/office/drawing/2014/main" val="28535482"/>
                    </a:ext>
                  </a:extLst>
                </a:gridCol>
                <a:gridCol w="958358">
                  <a:extLst>
                    <a:ext uri="{9D8B030D-6E8A-4147-A177-3AD203B41FA5}">
                      <a16:colId xmlns:a16="http://schemas.microsoft.com/office/drawing/2014/main" val="2133136611"/>
                    </a:ext>
                  </a:extLst>
                </a:gridCol>
                <a:gridCol w="632317">
                  <a:extLst>
                    <a:ext uri="{9D8B030D-6E8A-4147-A177-3AD203B41FA5}">
                      <a16:colId xmlns:a16="http://schemas.microsoft.com/office/drawing/2014/main" val="369116473"/>
                    </a:ext>
                  </a:extLst>
                </a:gridCol>
              </a:tblGrid>
              <a:tr h="370840">
                <a:tc>
                  <a:txBody>
                    <a:bodyPr/>
                    <a:lstStyle/>
                    <a:p>
                      <a:r>
                        <a:rPr lang="en-US" dirty="0"/>
                        <a:t>I</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read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sci-fi</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books</a:t>
                      </a:r>
                    </a:p>
                  </a:txBody>
                  <a:tcPr>
                    <a:lnL w="12700" cmpd="sng">
                      <a:noFill/>
                    </a:lnL>
                    <a:lnR w="31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dirty="0"/>
                        <a:t>and </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drink</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orange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dirty="0"/>
                        <a:t>juice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05326722"/>
                  </a:ext>
                </a:extLst>
              </a:tr>
            </a:tbl>
          </a:graphicData>
        </a:graphic>
      </p:graphicFrame>
      <p:graphicFrame>
        <p:nvGraphicFramePr>
          <p:cNvPr id="25" name="Table 17">
            <a:extLst>
              <a:ext uri="{FF2B5EF4-FFF2-40B4-BE49-F238E27FC236}">
                <a16:creationId xmlns:a16="http://schemas.microsoft.com/office/drawing/2014/main" id="{CB3577C4-038B-984F-AF5B-F27252673307}"/>
              </a:ext>
            </a:extLst>
          </p:cNvPr>
          <p:cNvGraphicFramePr>
            <a:graphicFrameLocks noGrp="1"/>
          </p:cNvGraphicFramePr>
          <p:nvPr/>
        </p:nvGraphicFramePr>
        <p:xfrm>
          <a:off x="1467096" y="6029960"/>
          <a:ext cx="6362699" cy="370840"/>
        </p:xfrm>
        <a:graphic>
          <a:graphicData uri="http://schemas.openxmlformats.org/drawingml/2006/table">
            <a:tbl>
              <a:tblPr firstRow="1" bandRow="1">
                <a:tableStyleId>{5940675A-B579-460E-94D1-54222C63F5DA}</a:tableStyleId>
              </a:tblPr>
              <a:tblGrid>
                <a:gridCol w="482687">
                  <a:extLst>
                    <a:ext uri="{9D8B030D-6E8A-4147-A177-3AD203B41FA5}">
                      <a16:colId xmlns:a16="http://schemas.microsoft.com/office/drawing/2014/main" val="2589011122"/>
                    </a:ext>
                  </a:extLst>
                </a:gridCol>
                <a:gridCol w="877613">
                  <a:extLst>
                    <a:ext uri="{9D8B030D-6E8A-4147-A177-3AD203B41FA5}">
                      <a16:colId xmlns:a16="http://schemas.microsoft.com/office/drawing/2014/main" val="179428058"/>
                    </a:ext>
                  </a:extLst>
                </a:gridCol>
                <a:gridCol w="877613">
                  <a:extLst>
                    <a:ext uri="{9D8B030D-6E8A-4147-A177-3AD203B41FA5}">
                      <a16:colId xmlns:a16="http://schemas.microsoft.com/office/drawing/2014/main" val="2904625675"/>
                    </a:ext>
                  </a:extLst>
                </a:gridCol>
                <a:gridCol w="943437">
                  <a:extLst>
                    <a:ext uri="{9D8B030D-6E8A-4147-A177-3AD203B41FA5}">
                      <a16:colId xmlns:a16="http://schemas.microsoft.com/office/drawing/2014/main" val="424565796"/>
                    </a:ext>
                  </a:extLst>
                </a:gridCol>
                <a:gridCol w="795337">
                  <a:extLst>
                    <a:ext uri="{9D8B030D-6E8A-4147-A177-3AD203B41FA5}">
                      <a16:colId xmlns:a16="http://schemas.microsoft.com/office/drawing/2014/main" val="3602161993"/>
                    </a:ext>
                  </a:extLst>
                </a:gridCol>
                <a:gridCol w="795337">
                  <a:extLst>
                    <a:ext uri="{9D8B030D-6E8A-4147-A177-3AD203B41FA5}">
                      <a16:colId xmlns:a16="http://schemas.microsoft.com/office/drawing/2014/main" val="28535482"/>
                    </a:ext>
                  </a:extLst>
                </a:gridCol>
                <a:gridCol w="958358">
                  <a:extLst>
                    <a:ext uri="{9D8B030D-6E8A-4147-A177-3AD203B41FA5}">
                      <a16:colId xmlns:a16="http://schemas.microsoft.com/office/drawing/2014/main" val="2133136611"/>
                    </a:ext>
                  </a:extLst>
                </a:gridCol>
                <a:gridCol w="632317">
                  <a:extLst>
                    <a:ext uri="{9D8B030D-6E8A-4147-A177-3AD203B41FA5}">
                      <a16:colId xmlns:a16="http://schemas.microsoft.com/office/drawing/2014/main" val="369116473"/>
                    </a:ext>
                  </a:extLst>
                </a:gridCol>
              </a:tblGrid>
              <a:tr h="370840">
                <a:tc>
                  <a:txBody>
                    <a:bodyPr/>
                    <a:lstStyle/>
                    <a:p>
                      <a:r>
                        <a:rPr lang="en-US" dirty="0"/>
                        <a:t>I</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read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sci-fi</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books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and </a:t>
                      </a:r>
                    </a:p>
                  </a:txBody>
                  <a:tcPr>
                    <a:lnL w="12700" cmpd="sng">
                      <a:noFill/>
                    </a:lnL>
                    <a:lnR w="3175"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n-US" dirty="0"/>
                        <a:t>drink</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orange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juice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605326722"/>
                  </a:ext>
                </a:extLst>
              </a:tr>
            </a:tbl>
          </a:graphicData>
        </a:graphic>
      </p:graphicFrame>
      <p:sp>
        <p:nvSpPr>
          <p:cNvPr id="28" name="TextBox 27">
            <a:extLst>
              <a:ext uri="{FF2B5EF4-FFF2-40B4-BE49-F238E27FC236}">
                <a16:creationId xmlns:a16="http://schemas.microsoft.com/office/drawing/2014/main" id="{5C2DECC8-DCF1-0B4A-89CF-FBCFEC2F2A02}"/>
              </a:ext>
            </a:extLst>
          </p:cNvPr>
          <p:cNvSpPr txBox="1"/>
          <p:nvPr/>
        </p:nvSpPr>
        <p:spPr>
          <a:xfrm>
            <a:off x="228600" y="1190597"/>
            <a:ext cx="8610600" cy="646331"/>
          </a:xfrm>
          <a:prstGeom prst="rect">
            <a:avLst/>
          </a:prstGeom>
          <a:noFill/>
        </p:spPr>
        <p:txBody>
          <a:bodyPr wrap="square" rtlCol="0">
            <a:spAutoFit/>
          </a:bodyPr>
          <a:lstStyle/>
          <a:p>
            <a:r>
              <a:rPr lang="en-US" dirty="0">
                <a:latin typeface="Arial" pitchFamily="34" charset="0"/>
                <a:cs typeface="Arial" pitchFamily="34" charset="0"/>
              </a:rPr>
              <a:t>Document: “I read sci-fi books and drink orange juice”. Let window size = 2</a:t>
            </a:r>
          </a:p>
          <a:p>
            <a:r>
              <a:rPr lang="en-US" dirty="0">
                <a:latin typeface="Arial" pitchFamily="34" charset="0"/>
                <a:cs typeface="Arial" pitchFamily="34" charset="0"/>
              </a:rPr>
              <a:t>The </a:t>
            </a:r>
            <a:r>
              <a:rPr lang="en-US" dirty="0">
                <a:solidFill>
                  <a:srgbClr val="FF0066"/>
                </a:solidFill>
                <a:latin typeface="Arial" pitchFamily="34" charset="0"/>
                <a:cs typeface="Arial" pitchFamily="34" charset="0"/>
              </a:rPr>
              <a:t>highlighted </a:t>
            </a:r>
            <a:r>
              <a:rPr lang="en-US" dirty="0">
                <a:latin typeface="Arial" pitchFamily="34" charset="0"/>
                <a:cs typeface="Arial" pitchFamily="34" charset="0"/>
              </a:rPr>
              <a:t>word is the </a:t>
            </a:r>
            <a:r>
              <a:rPr lang="en-US" dirty="0">
                <a:solidFill>
                  <a:srgbClr val="FF0066"/>
                </a:solidFill>
                <a:latin typeface="Arial" pitchFamily="34" charset="0"/>
                <a:cs typeface="Arial" pitchFamily="34" charset="0"/>
              </a:rPr>
              <a:t>target </a:t>
            </a:r>
            <a:r>
              <a:rPr lang="en-US" dirty="0">
                <a:latin typeface="Arial" pitchFamily="34" charset="0"/>
                <a:cs typeface="Arial" pitchFamily="34" charset="0"/>
              </a:rPr>
              <a:t>word. Other words in the box are context words. </a:t>
            </a:r>
          </a:p>
        </p:txBody>
      </p:sp>
    </p:spTree>
    <p:extLst>
      <p:ext uri="{BB962C8B-B14F-4D97-AF65-F5344CB8AC3E}">
        <p14:creationId xmlns:p14="http://schemas.microsoft.com/office/powerpoint/2010/main" val="2139219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DBCAC-BD04-3A49-8905-A3D3F487B905}"/>
              </a:ext>
            </a:extLst>
          </p:cNvPr>
          <p:cNvSpPr>
            <a:spLocks noGrp="1"/>
          </p:cNvSpPr>
          <p:nvPr>
            <p:ph type="title"/>
          </p:nvPr>
        </p:nvSpPr>
        <p:spPr/>
        <p:txBody>
          <a:bodyPr/>
          <a:lstStyle/>
          <a:p>
            <a:r>
              <a:rPr lang="en-US" dirty="0"/>
              <a:t>Word2Vec: architecture</a:t>
            </a:r>
          </a:p>
        </p:txBody>
      </p:sp>
      <p:sp>
        <p:nvSpPr>
          <p:cNvPr id="3" name="Content Placeholder 2">
            <a:extLst>
              <a:ext uri="{FF2B5EF4-FFF2-40B4-BE49-F238E27FC236}">
                <a16:creationId xmlns:a16="http://schemas.microsoft.com/office/drawing/2014/main" id="{82793F0A-1220-0245-A8DB-434A6ACC4751}"/>
              </a:ext>
            </a:extLst>
          </p:cNvPr>
          <p:cNvSpPr>
            <a:spLocks noGrp="1"/>
          </p:cNvSpPr>
          <p:nvPr>
            <p:ph idx="1"/>
          </p:nvPr>
        </p:nvSpPr>
        <p:spPr>
          <a:xfrm>
            <a:off x="457200" y="1295400"/>
            <a:ext cx="8481060" cy="5257801"/>
          </a:xfrm>
        </p:spPr>
        <p:txBody>
          <a:bodyPr>
            <a:normAutofit lnSpcReduction="10000"/>
          </a:bodyPr>
          <a:lstStyle/>
          <a:p>
            <a:r>
              <a:rPr lang="en-US" sz="2600" dirty="0"/>
              <a:t>Word2Vec is a 2 layers NN</a:t>
            </a:r>
          </a:p>
          <a:p>
            <a:endParaRPr lang="en-US" sz="2600" dirty="0"/>
          </a:p>
          <a:p>
            <a:endParaRPr lang="en-US" sz="2600" dirty="0"/>
          </a:p>
          <a:p>
            <a:endParaRPr lang="en-US" sz="2600" dirty="0"/>
          </a:p>
          <a:p>
            <a:endParaRPr lang="en-US" sz="2600" dirty="0"/>
          </a:p>
          <a:p>
            <a:r>
              <a:rPr lang="en-US" sz="2600" dirty="0"/>
              <a:t>Given the target word as input,</a:t>
            </a:r>
          </a:p>
          <a:p>
            <a:pPr marL="118872" indent="0">
              <a:buNone/>
            </a:pPr>
            <a:r>
              <a:rPr lang="en-US" sz="2600" dirty="0"/>
              <a:t>     it predicts context words</a:t>
            </a:r>
          </a:p>
          <a:p>
            <a:pPr lvl="1"/>
            <a:r>
              <a:rPr lang="en-US" sz="2200" dirty="0"/>
              <a:t>In our example, if </a:t>
            </a:r>
            <a:r>
              <a:rPr lang="en-US" sz="2200" dirty="0">
                <a:solidFill>
                  <a:srgbClr val="FF0000"/>
                </a:solidFill>
              </a:rPr>
              <a:t>target word = “I” </a:t>
            </a:r>
            <a:r>
              <a:rPr lang="en-US" sz="2200" dirty="0">
                <a:sym typeface="Wingdings" pitchFamily="2" charset="2"/>
              </a:rPr>
              <a:t> </a:t>
            </a:r>
            <a:r>
              <a:rPr lang="en-US" sz="2200" dirty="0">
                <a:solidFill>
                  <a:srgbClr val="FF0000"/>
                </a:solidFill>
                <a:sym typeface="Wingdings" pitchFamily="2" charset="2"/>
              </a:rPr>
              <a:t>context = “read”, “sci-fi”</a:t>
            </a:r>
            <a:endParaRPr lang="en-US" sz="2200" dirty="0">
              <a:solidFill>
                <a:srgbClr val="FF0000"/>
              </a:solidFill>
            </a:endParaRPr>
          </a:p>
          <a:p>
            <a:endParaRPr lang="en-US" dirty="0"/>
          </a:p>
          <a:p>
            <a:r>
              <a:rPr lang="en-US" sz="2600" dirty="0"/>
              <a:t>Why is it called Skip-Gram?</a:t>
            </a:r>
          </a:p>
          <a:p>
            <a:pPr lvl="1"/>
            <a:r>
              <a:rPr lang="en-US" sz="2200" dirty="0"/>
              <a:t> </a:t>
            </a:r>
            <a:r>
              <a:rPr lang="en-US" sz="2200" dirty="0">
                <a:solidFill>
                  <a:srgbClr val="0000FF"/>
                </a:solidFill>
              </a:rPr>
              <a:t>window size = N</a:t>
            </a:r>
            <a:r>
              <a:rPr lang="en-US" sz="2200" dirty="0"/>
              <a:t>, the model predicts the </a:t>
            </a:r>
            <a:r>
              <a:rPr lang="en-US" sz="2200" dirty="0">
                <a:solidFill>
                  <a:srgbClr val="0000FF"/>
                </a:solidFill>
              </a:rPr>
              <a:t>N-grams</a:t>
            </a:r>
            <a:r>
              <a:rPr lang="en-US" sz="2200" dirty="0"/>
              <a:t> words except the current word as it is the input to the model, hence the name </a:t>
            </a:r>
            <a:r>
              <a:rPr lang="en-US" sz="2200" dirty="0">
                <a:solidFill>
                  <a:srgbClr val="0000FF"/>
                </a:solidFill>
              </a:rPr>
              <a:t>skip-gram</a:t>
            </a:r>
            <a:r>
              <a:rPr lang="en-US" sz="2200" dirty="0"/>
              <a:t>. </a:t>
            </a:r>
          </a:p>
        </p:txBody>
      </p:sp>
      <p:sp>
        <p:nvSpPr>
          <p:cNvPr id="4" name="Date Placeholder 3">
            <a:extLst>
              <a:ext uri="{FF2B5EF4-FFF2-40B4-BE49-F238E27FC236}">
                <a16:creationId xmlns:a16="http://schemas.microsoft.com/office/drawing/2014/main" id="{D68D2B63-FA98-E04A-A64B-5F7F5EEF3F6C}"/>
              </a:ext>
            </a:extLst>
          </p:cNvPr>
          <p:cNvSpPr>
            <a:spLocks noGrp="1"/>
          </p:cNvSpPr>
          <p:nvPr>
            <p:ph type="dt" sz="half" idx="10"/>
          </p:nvPr>
        </p:nvSpPr>
        <p:spPr/>
        <p:txBody>
          <a:bodyPr/>
          <a:lstStyle/>
          <a:p>
            <a:fld id="{335A8E2F-E292-F046-9582-A66AA0F40F5E}" type="datetime1">
              <a:rPr lang="en-US" smtClean="0"/>
              <a:t>11/3/24</a:t>
            </a:fld>
            <a:endParaRPr lang="en-US"/>
          </a:p>
        </p:txBody>
      </p:sp>
      <p:sp>
        <p:nvSpPr>
          <p:cNvPr id="5" name="Footer Placeholder 4">
            <a:extLst>
              <a:ext uri="{FF2B5EF4-FFF2-40B4-BE49-F238E27FC236}">
                <a16:creationId xmlns:a16="http://schemas.microsoft.com/office/drawing/2014/main" id="{94D13477-24D7-C944-B160-9E9F09CCE3F8}"/>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3B2A874C-9EEE-E243-9FBA-085B9E5716B1}"/>
              </a:ext>
            </a:extLst>
          </p:cNvPr>
          <p:cNvSpPr>
            <a:spLocks noGrp="1"/>
          </p:cNvSpPr>
          <p:nvPr>
            <p:ph type="sldNum" sz="quarter" idx="12"/>
          </p:nvPr>
        </p:nvSpPr>
        <p:spPr/>
        <p:txBody>
          <a:bodyPr/>
          <a:lstStyle/>
          <a:p>
            <a:fld id="{19B12225-5612-419B-A8D5-4B8EEE4C217E}" type="slidenum">
              <a:rPr lang="en-US" smtClean="0"/>
              <a:pPr/>
              <a:t>40</a:t>
            </a:fld>
            <a:endParaRPr lang="en-US"/>
          </a:p>
        </p:txBody>
      </p:sp>
      <p:pic>
        <p:nvPicPr>
          <p:cNvPr id="9" name="Picture 8">
            <a:extLst>
              <a:ext uri="{FF2B5EF4-FFF2-40B4-BE49-F238E27FC236}">
                <a16:creationId xmlns:a16="http://schemas.microsoft.com/office/drawing/2014/main" id="{15529A64-D9D2-1BD1-D34C-8D0707445747}"/>
              </a:ext>
            </a:extLst>
          </p:cNvPr>
          <p:cNvPicPr>
            <a:picLocks noChangeAspect="1"/>
          </p:cNvPicPr>
          <p:nvPr/>
        </p:nvPicPr>
        <p:blipFill>
          <a:blip r:embed="rId3"/>
          <a:stretch>
            <a:fillRect/>
          </a:stretch>
        </p:blipFill>
        <p:spPr>
          <a:xfrm>
            <a:off x="5412435" y="1264921"/>
            <a:ext cx="3200400" cy="2575560"/>
          </a:xfrm>
          <a:prstGeom prst="rect">
            <a:avLst/>
          </a:prstGeom>
        </p:spPr>
      </p:pic>
    </p:spTree>
    <p:extLst>
      <p:ext uri="{BB962C8B-B14F-4D97-AF65-F5344CB8AC3E}">
        <p14:creationId xmlns:p14="http://schemas.microsoft.com/office/powerpoint/2010/main" val="15622795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5C441-1D24-C14C-81A2-0C229E399659}"/>
              </a:ext>
            </a:extLst>
          </p:cNvPr>
          <p:cNvSpPr>
            <a:spLocks noGrp="1"/>
          </p:cNvSpPr>
          <p:nvPr>
            <p:ph type="title"/>
          </p:nvPr>
        </p:nvSpPr>
        <p:spPr/>
        <p:txBody>
          <a:bodyPr>
            <a:normAutofit fontScale="90000"/>
          </a:bodyPr>
          <a:lstStyle/>
          <a:p>
            <a:r>
              <a:rPr lang="en-US" dirty="0"/>
              <a:t>Word2Vec: high level architecture</a:t>
            </a:r>
          </a:p>
        </p:txBody>
      </p:sp>
      <p:sp>
        <p:nvSpPr>
          <p:cNvPr id="3" name="Content Placeholder 2">
            <a:extLst>
              <a:ext uri="{FF2B5EF4-FFF2-40B4-BE49-F238E27FC236}">
                <a16:creationId xmlns:a16="http://schemas.microsoft.com/office/drawing/2014/main" id="{59428165-7C4C-B443-BAF5-82324C6C12AB}"/>
              </a:ext>
            </a:extLst>
          </p:cNvPr>
          <p:cNvSpPr>
            <a:spLocks noGrp="1"/>
          </p:cNvSpPr>
          <p:nvPr>
            <p:ph idx="1"/>
          </p:nvPr>
        </p:nvSpPr>
        <p:spPr/>
        <p:txBody>
          <a:bodyPr>
            <a:normAutofit/>
          </a:bodyPr>
          <a:lstStyle/>
          <a:p>
            <a:r>
              <a:rPr lang="en-US" sz="2000" dirty="0"/>
              <a:t>Set window size = 2</a:t>
            </a:r>
          </a:p>
        </p:txBody>
      </p:sp>
      <p:sp>
        <p:nvSpPr>
          <p:cNvPr id="4" name="Date Placeholder 3">
            <a:extLst>
              <a:ext uri="{FF2B5EF4-FFF2-40B4-BE49-F238E27FC236}">
                <a16:creationId xmlns:a16="http://schemas.microsoft.com/office/drawing/2014/main" id="{2F608F4B-4124-8046-8252-0B3F2E705EDB}"/>
              </a:ext>
            </a:extLst>
          </p:cNvPr>
          <p:cNvSpPr>
            <a:spLocks noGrp="1"/>
          </p:cNvSpPr>
          <p:nvPr>
            <p:ph type="dt" sz="half" idx="10"/>
          </p:nvPr>
        </p:nvSpPr>
        <p:spPr/>
        <p:txBody>
          <a:bodyPr/>
          <a:lstStyle/>
          <a:p>
            <a:fld id="{31FB99FB-E6D4-6F4F-9FD1-EA92634C0EDA}" type="datetime1">
              <a:rPr lang="en-US" smtClean="0"/>
              <a:t>11/3/24</a:t>
            </a:fld>
            <a:endParaRPr lang="en-US"/>
          </a:p>
        </p:txBody>
      </p:sp>
      <p:sp>
        <p:nvSpPr>
          <p:cNvPr id="5" name="Footer Placeholder 4">
            <a:extLst>
              <a:ext uri="{FF2B5EF4-FFF2-40B4-BE49-F238E27FC236}">
                <a16:creationId xmlns:a16="http://schemas.microsoft.com/office/drawing/2014/main" id="{F6740B6E-7853-CC4E-9A1E-2F759DE2F66F}"/>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D802A514-EB44-7E4E-A77C-6F3A2164E7CA}"/>
              </a:ext>
            </a:extLst>
          </p:cNvPr>
          <p:cNvSpPr>
            <a:spLocks noGrp="1"/>
          </p:cNvSpPr>
          <p:nvPr>
            <p:ph type="sldNum" sz="quarter" idx="12"/>
          </p:nvPr>
        </p:nvSpPr>
        <p:spPr/>
        <p:txBody>
          <a:bodyPr/>
          <a:lstStyle/>
          <a:p>
            <a:fld id="{19B12225-5612-419B-A8D5-4B8EEE4C217E}" type="slidenum">
              <a:rPr lang="en-US" smtClean="0"/>
              <a:pPr/>
              <a:t>41</a:t>
            </a:fld>
            <a:endParaRPr lang="en-US"/>
          </a:p>
        </p:txBody>
      </p:sp>
      <p:sp>
        <p:nvSpPr>
          <p:cNvPr id="8" name="Rectangle 7">
            <a:extLst>
              <a:ext uri="{FF2B5EF4-FFF2-40B4-BE49-F238E27FC236}">
                <a16:creationId xmlns:a16="http://schemas.microsoft.com/office/drawing/2014/main" id="{DB94062B-76D3-D24D-BA5F-B92522CEE387}"/>
              </a:ext>
            </a:extLst>
          </p:cNvPr>
          <p:cNvSpPr/>
          <p:nvPr/>
        </p:nvSpPr>
        <p:spPr>
          <a:xfrm>
            <a:off x="2590800" y="3200400"/>
            <a:ext cx="457200" cy="914400"/>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64398BFA-7215-7147-B9AD-EEF16095DE50}"/>
              </a:ext>
            </a:extLst>
          </p:cNvPr>
          <p:cNvSpPr/>
          <p:nvPr/>
        </p:nvSpPr>
        <p:spPr>
          <a:xfrm>
            <a:off x="3962400" y="3200400"/>
            <a:ext cx="457200" cy="9144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F472C1D6-1484-1B41-9C0A-D12732FC8E99}"/>
              </a:ext>
            </a:extLst>
          </p:cNvPr>
          <p:cNvSpPr/>
          <p:nvPr/>
        </p:nvSpPr>
        <p:spPr>
          <a:xfrm>
            <a:off x="5791200" y="1603248"/>
            <a:ext cx="457200" cy="914400"/>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F7064648-51C8-BC4D-99D1-08BFFD87B713}"/>
              </a:ext>
            </a:extLst>
          </p:cNvPr>
          <p:cNvSpPr/>
          <p:nvPr/>
        </p:nvSpPr>
        <p:spPr>
          <a:xfrm>
            <a:off x="5791200" y="2743200"/>
            <a:ext cx="457200" cy="914400"/>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B1F037FB-77F6-F34A-910C-8B164CB93171}"/>
              </a:ext>
            </a:extLst>
          </p:cNvPr>
          <p:cNvSpPr/>
          <p:nvPr/>
        </p:nvSpPr>
        <p:spPr>
          <a:xfrm>
            <a:off x="5791200" y="4194048"/>
            <a:ext cx="457200" cy="914400"/>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1C3B53B2-927F-064E-B93C-C0AF618D5B7A}"/>
              </a:ext>
            </a:extLst>
          </p:cNvPr>
          <p:cNvSpPr/>
          <p:nvPr/>
        </p:nvSpPr>
        <p:spPr>
          <a:xfrm>
            <a:off x="5791200" y="5334000"/>
            <a:ext cx="457200" cy="914400"/>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61447ABA-3535-2B42-90D8-972117F7FDFE}"/>
              </a:ext>
            </a:extLst>
          </p:cNvPr>
          <p:cNvCxnSpPr>
            <a:stCxn id="8" idx="3"/>
            <a:endCxn id="9" idx="1"/>
          </p:cNvCxnSpPr>
          <p:nvPr/>
        </p:nvCxnSpPr>
        <p:spPr>
          <a:xfrm>
            <a:off x="3048000" y="3657600"/>
            <a:ext cx="914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31CA7179-FB27-F442-A0C3-CB420254E6DF}"/>
              </a:ext>
            </a:extLst>
          </p:cNvPr>
          <p:cNvCxnSpPr>
            <a:cxnSpLocks/>
            <a:stCxn id="9" idx="3"/>
            <a:endCxn id="10" idx="1"/>
          </p:cNvCxnSpPr>
          <p:nvPr/>
        </p:nvCxnSpPr>
        <p:spPr>
          <a:xfrm flipV="1">
            <a:off x="4419600" y="2060448"/>
            <a:ext cx="1371600" cy="159715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6FBC0116-7297-B642-8D18-C8C85B55B287}"/>
              </a:ext>
            </a:extLst>
          </p:cNvPr>
          <p:cNvCxnSpPr>
            <a:cxnSpLocks/>
            <a:stCxn id="9" idx="3"/>
            <a:endCxn id="11" idx="1"/>
          </p:cNvCxnSpPr>
          <p:nvPr/>
        </p:nvCxnSpPr>
        <p:spPr>
          <a:xfrm flipV="1">
            <a:off x="4419600" y="3200400"/>
            <a:ext cx="1371600" cy="4572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5F6B1BD6-6467-2C43-8B49-826AC11C4547}"/>
              </a:ext>
            </a:extLst>
          </p:cNvPr>
          <p:cNvCxnSpPr>
            <a:cxnSpLocks/>
            <a:stCxn id="9" idx="3"/>
            <a:endCxn id="12" idx="1"/>
          </p:cNvCxnSpPr>
          <p:nvPr/>
        </p:nvCxnSpPr>
        <p:spPr>
          <a:xfrm>
            <a:off x="4419600" y="3657600"/>
            <a:ext cx="1371600" cy="99364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91E509AE-36AA-BD43-BEA1-BAADF2895757}"/>
              </a:ext>
            </a:extLst>
          </p:cNvPr>
          <p:cNvCxnSpPr>
            <a:cxnSpLocks/>
            <a:stCxn id="9" idx="3"/>
            <a:endCxn id="13" idx="1"/>
          </p:cNvCxnSpPr>
          <p:nvPr/>
        </p:nvCxnSpPr>
        <p:spPr>
          <a:xfrm>
            <a:off x="4419600" y="3657600"/>
            <a:ext cx="1371600" cy="21336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12C9B8CB-7717-0243-B62B-79A567FF39A0}"/>
              </a:ext>
            </a:extLst>
          </p:cNvPr>
          <p:cNvSpPr txBox="1"/>
          <p:nvPr/>
        </p:nvSpPr>
        <p:spPr>
          <a:xfrm>
            <a:off x="814070" y="3334434"/>
            <a:ext cx="2133600" cy="646331"/>
          </a:xfrm>
          <a:prstGeom prst="rect">
            <a:avLst/>
          </a:prstGeom>
          <a:noFill/>
        </p:spPr>
        <p:txBody>
          <a:bodyPr wrap="square" rtlCol="0">
            <a:spAutoFit/>
          </a:bodyPr>
          <a:lstStyle/>
          <a:p>
            <a:r>
              <a:rPr lang="en-US" dirty="0">
                <a:latin typeface="Arial" pitchFamily="34" charset="0"/>
                <a:cs typeface="Arial" pitchFamily="34" charset="0"/>
              </a:rPr>
              <a:t>Target word at position t: w(t)</a:t>
            </a:r>
          </a:p>
        </p:txBody>
      </p:sp>
      <p:sp>
        <p:nvSpPr>
          <p:cNvPr id="29" name="TextBox 28">
            <a:extLst>
              <a:ext uri="{FF2B5EF4-FFF2-40B4-BE49-F238E27FC236}">
                <a16:creationId xmlns:a16="http://schemas.microsoft.com/office/drawing/2014/main" id="{36AB5B55-D903-0948-A93B-B36537073E22}"/>
              </a:ext>
            </a:extLst>
          </p:cNvPr>
          <p:cNvSpPr txBox="1"/>
          <p:nvPr/>
        </p:nvSpPr>
        <p:spPr>
          <a:xfrm>
            <a:off x="6202680" y="1890252"/>
            <a:ext cx="2331720" cy="369332"/>
          </a:xfrm>
          <a:prstGeom prst="rect">
            <a:avLst/>
          </a:prstGeom>
          <a:noFill/>
        </p:spPr>
        <p:txBody>
          <a:bodyPr wrap="square" rtlCol="0">
            <a:spAutoFit/>
          </a:bodyPr>
          <a:lstStyle/>
          <a:p>
            <a:r>
              <a:rPr lang="en-US" dirty="0">
                <a:latin typeface="Arial" pitchFamily="34" charset="0"/>
                <a:cs typeface="Arial" pitchFamily="34" charset="0"/>
              </a:rPr>
              <a:t>w(t-2)</a:t>
            </a:r>
          </a:p>
        </p:txBody>
      </p:sp>
      <p:sp>
        <p:nvSpPr>
          <p:cNvPr id="30" name="TextBox 29">
            <a:extLst>
              <a:ext uri="{FF2B5EF4-FFF2-40B4-BE49-F238E27FC236}">
                <a16:creationId xmlns:a16="http://schemas.microsoft.com/office/drawing/2014/main" id="{A2740CBF-26CC-C544-8840-EF6D5744E852}"/>
              </a:ext>
            </a:extLst>
          </p:cNvPr>
          <p:cNvSpPr txBox="1"/>
          <p:nvPr/>
        </p:nvSpPr>
        <p:spPr>
          <a:xfrm>
            <a:off x="6233160" y="2983468"/>
            <a:ext cx="2331720" cy="369332"/>
          </a:xfrm>
          <a:prstGeom prst="rect">
            <a:avLst/>
          </a:prstGeom>
          <a:noFill/>
        </p:spPr>
        <p:txBody>
          <a:bodyPr wrap="square" rtlCol="0">
            <a:spAutoFit/>
          </a:bodyPr>
          <a:lstStyle/>
          <a:p>
            <a:r>
              <a:rPr lang="en-US" dirty="0">
                <a:latin typeface="Arial" pitchFamily="34" charset="0"/>
                <a:cs typeface="Arial" pitchFamily="34" charset="0"/>
              </a:rPr>
              <a:t>w(t-1)</a:t>
            </a:r>
          </a:p>
        </p:txBody>
      </p:sp>
      <p:sp>
        <p:nvSpPr>
          <p:cNvPr id="31" name="TextBox 30">
            <a:extLst>
              <a:ext uri="{FF2B5EF4-FFF2-40B4-BE49-F238E27FC236}">
                <a16:creationId xmlns:a16="http://schemas.microsoft.com/office/drawing/2014/main" id="{0389E700-D4EE-5E42-AF8E-FE5282E4F81E}"/>
              </a:ext>
            </a:extLst>
          </p:cNvPr>
          <p:cNvSpPr txBox="1"/>
          <p:nvPr/>
        </p:nvSpPr>
        <p:spPr>
          <a:xfrm>
            <a:off x="6233160" y="4426827"/>
            <a:ext cx="2331720" cy="369332"/>
          </a:xfrm>
          <a:prstGeom prst="rect">
            <a:avLst/>
          </a:prstGeom>
          <a:noFill/>
        </p:spPr>
        <p:txBody>
          <a:bodyPr wrap="square" rtlCol="0">
            <a:spAutoFit/>
          </a:bodyPr>
          <a:lstStyle/>
          <a:p>
            <a:r>
              <a:rPr lang="en-US" dirty="0">
                <a:latin typeface="Arial" pitchFamily="34" charset="0"/>
                <a:cs typeface="Arial" pitchFamily="34" charset="0"/>
              </a:rPr>
              <a:t>w(t+1)</a:t>
            </a:r>
          </a:p>
        </p:txBody>
      </p:sp>
      <p:sp>
        <p:nvSpPr>
          <p:cNvPr id="32" name="TextBox 31">
            <a:extLst>
              <a:ext uri="{FF2B5EF4-FFF2-40B4-BE49-F238E27FC236}">
                <a16:creationId xmlns:a16="http://schemas.microsoft.com/office/drawing/2014/main" id="{F9D37A5A-B435-BE42-8613-5C048D644D86}"/>
              </a:ext>
            </a:extLst>
          </p:cNvPr>
          <p:cNvSpPr txBox="1"/>
          <p:nvPr/>
        </p:nvSpPr>
        <p:spPr>
          <a:xfrm>
            <a:off x="6248400" y="5505164"/>
            <a:ext cx="2331720" cy="369332"/>
          </a:xfrm>
          <a:prstGeom prst="rect">
            <a:avLst/>
          </a:prstGeom>
          <a:noFill/>
        </p:spPr>
        <p:txBody>
          <a:bodyPr wrap="square" rtlCol="0">
            <a:spAutoFit/>
          </a:bodyPr>
          <a:lstStyle/>
          <a:p>
            <a:r>
              <a:rPr lang="en-US" dirty="0">
                <a:latin typeface="Arial" pitchFamily="34" charset="0"/>
                <a:cs typeface="Arial" pitchFamily="34" charset="0"/>
              </a:rPr>
              <a:t>w(t+2)</a:t>
            </a:r>
          </a:p>
        </p:txBody>
      </p:sp>
      <p:sp>
        <p:nvSpPr>
          <p:cNvPr id="33" name="TextBox 32">
            <a:extLst>
              <a:ext uri="{FF2B5EF4-FFF2-40B4-BE49-F238E27FC236}">
                <a16:creationId xmlns:a16="http://schemas.microsoft.com/office/drawing/2014/main" id="{9489C0CF-A2F5-8A44-AB70-4D0EF3F88A2A}"/>
              </a:ext>
            </a:extLst>
          </p:cNvPr>
          <p:cNvSpPr txBox="1"/>
          <p:nvPr/>
        </p:nvSpPr>
        <p:spPr>
          <a:xfrm>
            <a:off x="2186940" y="2592816"/>
            <a:ext cx="2331720" cy="369332"/>
          </a:xfrm>
          <a:prstGeom prst="rect">
            <a:avLst/>
          </a:prstGeom>
          <a:noFill/>
        </p:spPr>
        <p:txBody>
          <a:bodyPr wrap="square" rtlCol="0">
            <a:spAutoFit/>
          </a:bodyPr>
          <a:lstStyle/>
          <a:p>
            <a:r>
              <a:rPr lang="en-US" dirty="0">
                <a:solidFill>
                  <a:srgbClr val="0000FF"/>
                </a:solidFill>
                <a:latin typeface="Arial" pitchFamily="34" charset="0"/>
                <a:cs typeface="Arial" pitchFamily="34" charset="0"/>
              </a:rPr>
              <a:t>Input layer</a:t>
            </a:r>
          </a:p>
        </p:txBody>
      </p:sp>
      <p:sp>
        <p:nvSpPr>
          <p:cNvPr id="34" name="TextBox 33">
            <a:extLst>
              <a:ext uri="{FF2B5EF4-FFF2-40B4-BE49-F238E27FC236}">
                <a16:creationId xmlns:a16="http://schemas.microsoft.com/office/drawing/2014/main" id="{5106CF55-B0CB-2949-B8AD-47C6FBC86449}"/>
              </a:ext>
            </a:extLst>
          </p:cNvPr>
          <p:cNvSpPr txBox="1"/>
          <p:nvPr/>
        </p:nvSpPr>
        <p:spPr>
          <a:xfrm>
            <a:off x="3609340" y="2508727"/>
            <a:ext cx="1371600" cy="646331"/>
          </a:xfrm>
          <a:prstGeom prst="rect">
            <a:avLst/>
          </a:prstGeom>
          <a:noFill/>
        </p:spPr>
        <p:txBody>
          <a:bodyPr wrap="square" rtlCol="0">
            <a:spAutoFit/>
          </a:bodyPr>
          <a:lstStyle/>
          <a:p>
            <a:pPr algn="ctr"/>
            <a:r>
              <a:rPr lang="en-US" dirty="0">
                <a:solidFill>
                  <a:srgbClr val="0000FF"/>
                </a:solidFill>
                <a:latin typeface="Arial" pitchFamily="34" charset="0"/>
                <a:cs typeface="Arial" pitchFamily="34" charset="0"/>
              </a:rPr>
              <a:t>Embedding layer</a:t>
            </a:r>
          </a:p>
        </p:txBody>
      </p:sp>
      <p:sp>
        <p:nvSpPr>
          <p:cNvPr id="35" name="TextBox 34">
            <a:extLst>
              <a:ext uri="{FF2B5EF4-FFF2-40B4-BE49-F238E27FC236}">
                <a16:creationId xmlns:a16="http://schemas.microsoft.com/office/drawing/2014/main" id="{99EC3245-532A-234F-A50A-E7967CF488DD}"/>
              </a:ext>
            </a:extLst>
          </p:cNvPr>
          <p:cNvSpPr txBox="1"/>
          <p:nvPr/>
        </p:nvSpPr>
        <p:spPr>
          <a:xfrm>
            <a:off x="5394455" y="1188327"/>
            <a:ext cx="2331720" cy="369332"/>
          </a:xfrm>
          <a:prstGeom prst="rect">
            <a:avLst/>
          </a:prstGeom>
          <a:noFill/>
        </p:spPr>
        <p:txBody>
          <a:bodyPr wrap="square" rtlCol="0">
            <a:spAutoFit/>
          </a:bodyPr>
          <a:lstStyle/>
          <a:p>
            <a:r>
              <a:rPr lang="en-US" dirty="0">
                <a:solidFill>
                  <a:srgbClr val="0000FF"/>
                </a:solidFill>
                <a:latin typeface="Arial" pitchFamily="34" charset="0"/>
                <a:cs typeface="Arial" pitchFamily="34" charset="0"/>
              </a:rPr>
              <a:t>Output layer</a:t>
            </a:r>
          </a:p>
        </p:txBody>
      </p:sp>
      <p:sp>
        <p:nvSpPr>
          <p:cNvPr id="36" name="Right Brace 35">
            <a:extLst>
              <a:ext uri="{FF2B5EF4-FFF2-40B4-BE49-F238E27FC236}">
                <a16:creationId xmlns:a16="http://schemas.microsoft.com/office/drawing/2014/main" id="{73B9124C-7894-9A40-B958-D6B1792F674A}"/>
              </a:ext>
            </a:extLst>
          </p:cNvPr>
          <p:cNvSpPr/>
          <p:nvPr/>
        </p:nvSpPr>
        <p:spPr>
          <a:xfrm>
            <a:off x="7010400" y="1603248"/>
            <a:ext cx="228600" cy="2054351"/>
          </a:xfrm>
          <a:prstGeom prst="rightBrace">
            <a:avLst/>
          </a:prstGeom>
          <a:ln w="28575">
            <a:solidFill>
              <a:schemeClr val="accent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7" name="TextBox 36">
            <a:extLst>
              <a:ext uri="{FF2B5EF4-FFF2-40B4-BE49-F238E27FC236}">
                <a16:creationId xmlns:a16="http://schemas.microsoft.com/office/drawing/2014/main" id="{C418E83D-6EB5-854E-BB9C-A9566280FF8E}"/>
              </a:ext>
            </a:extLst>
          </p:cNvPr>
          <p:cNvSpPr txBox="1"/>
          <p:nvPr/>
        </p:nvSpPr>
        <p:spPr>
          <a:xfrm>
            <a:off x="7223760" y="2366657"/>
            <a:ext cx="1844040" cy="523220"/>
          </a:xfrm>
          <a:prstGeom prst="rect">
            <a:avLst/>
          </a:prstGeom>
          <a:noFill/>
        </p:spPr>
        <p:txBody>
          <a:bodyPr wrap="square" rtlCol="0">
            <a:spAutoFit/>
          </a:bodyPr>
          <a:lstStyle/>
          <a:p>
            <a:r>
              <a:rPr lang="en-US" sz="1400" dirty="0">
                <a:solidFill>
                  <a:srgbClr val="FFC000"/>
                </a:solidFill>
                <a:latin typeface="Arial" pitchFamily="34" charset="0"/>
                <a:cs typeface="Arial" pitchFamily="34" charset="0"/>
              </a:rPr>
              <a:t>Context words in history (left of target)</a:t>
            </a:r>
          </a:p>
        </p:txBody>
      </p:sp>
      <p:sp>
        <p:nvSpPr>
          <p:cNvPr id="38" name="Right Brace 37">
            <a:extLst>
              <a:ext uri="{FF2B5EF4-FFF2-40B4-BE49-F238E27FC236}">
                <a16:creationId xmlns:a16="http://schemas.microsoft.com/office/drawing/2014/main" id="{3F2F1978-8E16-1B4F-82AB-D3688CF9227A}"/>
              </a:ext>
            </a:extLst>
          </p:cNvPr>
          <p:cNvSpPr/>
          <p:nvPr/>
        </p:nvSpPr>
        <p:spPr>
          <a:xfrm>
            <a:off x="7010400" y="4114800"/>
            <a:ext cx="228600" cy="2054351"/>
          </a:xfrm>
          <a:prstGeom prst="rightBrace">
            <a:avLst/>
          </a:prstGeom>
          <a:ln w="28575">
            <a:solidFill>
              <a:schemeClr val="accent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9" name="TextBox 38">
            <a:extLst>
              <a:ext uri="{FF2B5EF4-FFF2-40B4-BE49-F238E27FC236}">
                <a16:creationId xmlns:a16="http://schemas.microsoft.com/office/drawing/2014/main" id="{F2CF9299-C0FD-D443-88F8-35EFEBD1583D}"/>
              </a:ext>
            </a:extLst>
          </p:cNvPr>
          <p:cNvSpPr txBox="1"/>
          <p:nvPr/>
        </p:nvSpPr>
        <p:spPr>
          <a:xfrm>
            <a:off x="7223760" y="4878209"/>
            <a:ext cx="1920240" cy="523220"/>
          </a:xfrm>
          <a:prstGeom prst="rect">
            <a:avLst/>
          </a:prstGeom>
          <a:noFill/>
        </p:spPr>
        <p:txBody>
          <a:bodyPr wrap="square" rtlCol="0">
            <a:spAutoFit/>
          </a:bodyPr>
          <a:lstStyle/>
          <a:p>
            <a:r>
              <a:rPr lang="en-US" sz="1400" dirty="0">
                <a:solidFill>
                  <a:srgbClr val="FFC000"/>
                </a:solidFill>
                <a:latin typeface="Arial" pitchFamily="34" charset="0"/>
                <a:cs typeface="Arial" pitchFamily="34" charset="0"/>
              </a:rPr>
              <a:t>Context words in future (right of target)</a:t>
            </a:r>
          </a:p>
        </p:txBody>
      </p:sp>
      <p:sp>
        <p:nvSpPr>
          <p:cNvPr id="40" name="TextBox 39">
            <a:extLst>
              <a:ext uri="{FF2B5EF4-FFF2-40B4-BE49-F238E27FC236}">
                <a16:creationId xmlns:a16="http://schemas.microsoft.com/office/drawing/2014/main" id="{DDD6687E-EA19-A54E-900E-53DEB156D1E7}"/>
              </a:ext>
            </a:extLst>
          </p:cNvPr>
          <p:cNvSpPr txBox="1"/>
          <p:nvPr/>
        </p:nvSpPr>
        <p:spPr>
          <a:xfrm>
            <a:off x="266700" y="4724400"/>
            <a:ext cx="4343400" cy="1754326"/>
          </a:xfrm>
          <a:prstGeom prst="rect">
            <a:avLst/>
          </a:prstGeom>
          <a:noFill/>
          <a:ln>
            <a:solidFill>
              <a:srgbClr val="7030A0"/>
            </a:solidFill>
          </a:ln>
        </p:spPr>
        <p:txBody>
          <a:bodyPr wrap="square" rtlCol="0">
            <a:spAutoFit/>
          </a:bodyPr>
          <a:lstStyle/>
          <a:p>
            <a:pPr marL="118872" indent="0">
              <a:buNone/>
            </a:pPr>
            <a:r>
              <a:rPr lang="en-US" dirty="0">
                <a:solidFill>
                  <a:srgbClr val="FF0066"/>
                </a:solidFill>
              </a:rPr>
              <a:t>Given the word at position t, it predicts the nearby context words both from past and future.</a:t>
            </a:r>
          </a:p>
          <a:p>
            <a:pPr marL="118872" indent="0">
              <a:buNone/>
            </a:pPr>
            <a:endParaRPr lang="en-US" dirty="0">
              <a:solidFill>
                <a:srgbClr val="FF0066"/>
              </a:solidFill>
            </a:endParaRPr>
          </a:p>
          <a:p>
            <a:pPr marL="118872" indent="0">
              <a:buNone/>
            </a:pPr>
            <a:r>
              <a:rPr lang="en-US" dirty="0">
                <a:solidFill>
                  <a:srgbClr val="FF0000"/>
                </a:solidFill>
              </a:rPr>
              <a:t>** For simplicity, in this lecture we predict only one context word.</a:t>
            </a:r>
          </a:p>
        </p:txBody>
      </p:sp>
    </p:spTree>
    <p:extLst>
      <p:ext uri="{BB962C8B-B14F-4D97-AF65-F5344CB8AC3E}">
        <p14:creationId xmlns:p14="http://schemas.microsoft.com/office/powerpoint/2010/main" val="6226316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5C441-1D24-C14C-81A2-0C229E399659}"/>
              </a:ext>
            </a:extLst>
          </p:cNvPr>
          <p:cNvSpPr>
            <a:spLocks noGrp="1"/>
          </p:cNvSpPr>
          <p:nvPr>
            <p:ph type="title"/>
          </p:nvPr>
        </p:nvSpPr>
        <p:spPr/>
        <p:txBody>
          <a:bodyPr>
            <a:normAutofit fontScale="90000"/>
          </a:bodyPr>
          <a:lstStyle/>
          <a:p>
            <a:r>
              <a:rPr lang="en-US" dirty="0"/>
              <a:t>Word2Vec: high level architecture</a:t>
            </a:r>
          </a:p>
        </p:txBody>
      </p:sp>
      <p:sp>
        <p:nvSpPr>
          <p:cNvPr id="3" name="Content Placeholder 2">
            <a:extLst>
              <a:ext uri="{FF2B5EF4-FFF2-40B4-BE49-F238E27FC236}">
                <a16:creationId xmlns:a16="http://schemas.microsoft.com/office/drawing/2014/main" id="{59428165-7C4C-B443-BAF5-82324C6C12AB}"/>
              </a:ext>
            </a:extLst>
          </p:cNvPr>
          <p:cNvSpPr>
            <a:spLocks noGrp="1"/>
          </p:cNvSpPr>
          <p:nvPr>
            <p:ph idx="1"/>
          </p:nvPr>
        </p:nvSpPr>
        <p:spPr/>
        <p:txBody>
          <a:bodyPr>
            <a:normAutofit/>
          </a:bodyPr>
          <a:lstStyle/>
          <a:p>
            <a:r>
              <a:rPr lang="en-US" sz="2000" dirty="0"/>
              <a:t>Set window size = 2</a:t>
            </a:r>
          </a:p>
        </p:txBody>
      </p:sp>
      <p:sp>
        <p:nvSpPr>
          <p:cNvPr id="4" name="Date Placeholder 3">
            <a:extLst>
              <a:ext uri="{FF2B5EF4-FFF2-40B4-BE49-F238E27FC236}">
                <a16:creationId xmlns:a16="http://schemas.microsoft.com/office/drawing/2014/main" id="{2F608F4B-4124-8046-8252-0B3F2E705EDB}"/>
              </a:ext>
            </a:extLst>
          </p:cNvPr>
          <p:cNvSpPr>
            <a:spLocks noGrp="1"/>
          </p:cNvSpPr>
          <p:nvPr>
            <p:ph type="dt" sz="half" idx="10"/>
          </p:nvPr>
        </p:nvSpPr>
        <p:spPr/>
        <p:txBody>
          <a:bodyPr/>
          <a:lstStyle/>
          <a:p>
            <a:fld id="{31FB99FB-E6D4-6F4F-9FD1-EA92634C0EDA}" type="datetime1">
              <a:rPr lang="en-US" smtClean="0"/>
              <a:t>11/3/24</a:t>
            </a:fld>
            <a:endParaRPr lang="en-US"/>
          </a:p>
        </p:txBody>
      </p:sp>
      <p:sp>
        <p:nvSpPr>
          <p:cNvPr id="5" name="Footer Placeholder 4">
            <a:extLst>
              <a:ext uri="{FF2B5EF4-FFF2-40B4-BE49-F238E27FC236}">
                <a16:creationId xmlns:a16="http://schemas.microsoft.com/office/drawing/2014/main" id="{F6740B6E-7853-CC4E-9A1E-2F759DE2F66F}"/>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D802A514-EB44-7E4E-A77C-6F3A2164E7CA}"/>
              </a:ext>
            </a:extLst>
          </p:cNvPr>
          <p:cNvSpPr>
            <a:spLocks noGrp="1"/>
          </p:cNvSpPr>
          <p:nvPr>
            <p:ph type="sldNum" sz="quarter" idx="12"/>
          </p:nvPr>
        </p:nvSpPr>
        <p:spPr/>
        <p:txBody>
          <a:bodyPr/>
          <a:lstStyle/>
          <a:p>
            <a:fld id="{19B12225-5612-419B-A8D5-4B8EEE4C217E}" type="slidenum">
              <a:rPr lang="en-US" smtClean="0"/>
              <a:pPr/>
              <a:t>42</a:t>
            </a:fld>
            <a:endParaRPr lang="en-US"/>
          </a:p>
        </p:txBody>
      </p:sp>
      <p:sp>
        <p:nvSpPr>
          <p:cNvPr id="8" name="Rectangle 7">
            <a:extLst>
              <a:ext uri="{FF2B5EF4-FFF2-40B4-BE49-F238E27FC236}">
                <a16:creationId xmlns:a16="http://schemas.microsoft.com/office/drawing/2014/main" id="{DB94062B-76D3-D24D-BA5F-B92522CEE387}"/>
              </a:ext>
            </a:extLst>
          </p:cNvPr>
          <p:cNvSpPr/>
          <p:nvPr/>
        </p:nvSpPr>
        <p:spPr>
          <a:xfrm>
            <a:off x="2590800" y="3200400"/>
            <a:ext cx="457200" cy="914400"/>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64398BFA-7215-7147-B9AD-EEF16095DE50}"/>
              </a:ext>
            </a:extLst>
          </p:cNvPr>
          <p:cNvSpPr/>
          <p:nvPr/>
        </p:nvSpPr>
        <p:spPr>
          <a:xfrm>
            <a:off x="3962400" y="3200400"/>
            <a:ext cx="457200" cy="9144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F472C1D6-1484-1B41-9C0A-D12732FC8E99}"/>
              </a:ext>
            </a:extLst>
          </p:cNvPr>
          <p:cNvSpPr/>
          <p:nvPr/>
        </p:nvSpPr>
        <p:spPr>
          <a:xfrm>
            <a:off x="5791200" y="1603248"/>
            <a:ext cx="457200" cy="914400"/>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F7064648-51C8-BC4D-99D1-08BFFD87B713}"/>
              </a:ext>
            </a:extLst>
          </p:cNvPr>
          <p:cNvSpPr/>
          <p:nvPr/>
        </p:nvSpPr>
        <p:spPr>
          <a:xfrm>
            <a:off x="5791200" y="2743200"/>
            <a:ext cx="457200" cy="914400"/>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1F037FB-77F6-F34A-910C-8B164CB93171}"/>
              </a:ext>
            </a:extLst>
          </p:cNvPr>
          <p:cNvSpPr/>
          <p:nvPr/>
        </p:nvSpPr>
        <p:spPr>
          <a:xfrm>
            <a:off x="5791200" y="4194048"/>
            <a:ext cx="457200" cy="914400"/>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1C3B53B2-927F-064E-B93C-C0AF618D5B7A}"/>
              </a:ext>
            </a:extLst>
          </p:cNvPr>
          <p:cNvSpPr/>
          <p:nvPr/>
        </p:nvSpPr>
        <p:spPr>
          <a:xfrm>
            <a:off x="5791200" y="5334000"/>
            <a:ext cx="457200" cy="914400"/>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61447ABA-3535-2B42-90D8-972117F7FDFE}"/>
              </a:ext>
            </a:extLst>
          </p:cNvPr>
          <p:cNvCxnSpPr>
            <a:stCxn id="8" idx="3"/>
            <a:endCxn id="9" idx="1"/>
          </p:cNvCxnSpPr>
          <p:nvPr/>
        </p:nvCxnSpPr>
        <p:spPr>
          <a:xfrm>
            <a:off x="3048000" y="3657600"/>
            <a:ext cx="914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31CA7179-FB27-F442-A0C3-CB420254E6DF}"/>
              </a:ext>
            </a:extLst>
          </p:cNvPr>
          <p:cNvCxnSpPr>
            <a:cxnSpLocks/>
            <a:stCxn id="9" idx="3"/>
            <a:endCxn id="10" idx="1"/>
          </p:cNvCxnSpPr>
          <p:nvPr/>
        </p:nvCxnSpPr>
        <p:spPr>
          <a:xfrm flipV="1">
            <a:off x="4419600" y="2060448"/>
            <a:ext cx="1371600" cy="159715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6FBC0116-7297-B642-8D18-C8C85B55B287}"/>
              </a:ext>
            </a:extLst>
          </p:cNvPr>
          <p:cNvCxnSpPr>
            <a:cxnSpLocks/>
            <a:stCxn id="9" idx="3"/>
            <a:endCxn id="11" idx="1"/>
          </p:cNvCxnSpPr>
          <p:nvPr/>
        </p:nvCxnSpPr>
        <p:spPr>
          <a:xfrm flipV="1">
            <a:off x="4419600" y="3200400"/>
            <a:ext cx="1371600" cy="4572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5F6B1BD6-6467-2C43-8B49-826AC11C4547}"/>
              </a:ext>
            </a:extLst>
          </p:cNvPr>
          <p:cNvCxnSpPr>
            <a:cxnSpLocks/>
            <a:stCxn id="9" idx="3"/>
            <a:endCxn id="12" idx="1"/>
          </p:cNvCxnSpPr>
          <p:nvPr/>
        </p:nvCxnSpPr>
        <p:spPr>
          <a:xfrm>
            <a:off x="4419600" y="3657600"/>
            <a:ext cx="1371600" cy="99364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91E509AE-36AA-BD43-BEA1-BAADF2895757}"/>
              </a:ext>
            </a:extLst>
          </p:cNvPr>
          <p:cNvCxnSpPr>
            <a:cxnSpLocks/>
            <a:stCxn id="9" idx="3"/>
            <a:endCxn id="13" idx="1"/>
          </p:cNvCxnSpPr>
          <p:nvPr/>
        </p:nvCxnSpPr>
        <p:spPr>
          <a:xfrm>
            <a:off x="4419600" y="3657600"/>
            <a:ext cx="1371600" cy="21336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12C9B8CB-7717-0243-B62B-79A567FF39A0}"/>
              </a:ext>
            </a:extLst>
          </p:cNvPr>
          <p:cNvSpPr txBox="1"/>
          <p:nvPr/>
        </p:nvSpPr>
        <p:spPr>
          <a:xfrm>
            <a:off x="814070" y="3334434"/>
            <a:ext cx="2133600" cy="646331"/>
          </a:xfrm>
          <a:prstGeom prst="rect">
            <a:avLst/>
          </a:prstGeom>
          <a:noFill/>
        </p:spPr>
        <p:txBody>
          <a:bodyPr wrap="square" rtlCol="0">
            <a:spAutoFit/>
          </a:bodyPr>
          <a:lstStyle/>
          <a:p>
            <a:r>
              <a:rPr lang="en-US" dirty="0">
                <a:latin typeface="Arial" pitchFamily="34" charset="0"/>
                <a:cs typeface="Arial" pitchFamily="34" charset="0"/>
              </a:rPr>
              <a:t>Target word at position t: w(t)</a:t>
            </a:r>
          </a:p>
        </p:txBody>
      </p:sp>
      <p:sp>
        <p:nvSpPr>
          <p:cNvPr id="29" name="TextBox 28">
            <a:extLst>
              <a:ext uri="{FF2B5EF4-FFF2-40B4-BE49-F238E27FC236}">
                <a16:creationId xmlns:a16="http://schemas.microsoft.com/office/drawing/2014/main" id="{36AB5B55-D903-0948-A93B-B36537073E22}"/>
              </a:ext>
            </a:extLst>
          </p:cNvPr>
          <p:cNvSpPr txBox="1"/>
          <p:nvPr/>
        </p:nvSpPr>
        <p:spPr>
          <a:xfrm>
            <a:off x="6202680" y="1890252"/>
            <a:ext cx="2331720" cy="369332"/>
          </a:xfrm>
          <a:prstGeom prst="rect">
            <a:avLst/>
          </a:prstGeom>
          <a:noFill/>
        </p:spPr>
        <p:txBody>
          <a:bodyPr wrap="square" rtlCol="0">
            <a:spAutoFit/>
          </a:bodyPr>
          <a:lstStyle/>
          <a:p>
            <a:r>
              <a:rPr lang="en-US" dirty="0">
                <a:latin typeface="Arial" pitchFamily="34" charset="0"/>
                <a:cs typeface="Arial" pitchFamily="34" charset="0"/>
              </a:rPr>
              <a:t>w(t-2)</a:t>
            </a:r>
          </a:p>
        </p:txBody>
      </p:sp>
      <p:sp>
        <p:nvSpPr>
          <p:cNvPr id="30" name="TextBox 29">
            <a:extLst>
              <a:ext uri="{FF2B5EF4-FFF2-40B4-BE49-F238E27FC236}">
                <a16:creationId xmlns:a16="http://schemas.microsoft.com/office/drawing/2014/main" id="{A2740CBF-26CC-C544-8840-EF6D5744E852}"/>
              </a:ext>
            </a:extLst>
          </p:cNvPr>
          <p:cNvSpPr txBox="1"/>
          <p:nvPr/>
        </p:nvSpPr>
        <p:spPr>
          <a:xfrm>
            <a:off x="6233160" y="2983468"/>
            <a:ext cx="2331720" cy="369332"/>
          </a:xfrm>
          <a:prstGeom prst="rect">
            <a:avLst/>
          </a:prstGeom>
          <a:noFill/>
        </p:spPr>
        <p:txBody>
          <a:bodyPr wrap="square" rtlCol="0">
            <a:spAutoFit/>
          </a:bodyPr>
          <a:lstStyle/>
          <a:p>
            <a:r>
              <a:rPr lang="en-US" dirty="0">
                <a:latin typeface="Arial" pitchFamily="34" charset="0"/>
                <a:cs typeface="Arial" pitchFamily="34" charset="0"/>
              </a:rPr>
              <a:t>w(t-1)</a:t>
            </a:r>
          </a:p>
        </p:txBody>
      </p:sp>
      <p:sp>
        <p:nvSpPr>
          <p:cNvPr id="31" name="TextBox 30">
            <a:extLst>
              <a:ext uri="{FF2B5EF4-FFF2-40B4-BE49-F238E27FC236}">
                <a16:creationId xmlns:a16="http://schemas.microsoft.com/office/drawing/2014/main" id="{0389E700-D4EE-5E42-AF8E-FE5282E4F81E}"/>
              </a:ext>
            </a:extLst>
          </p:cNvPr>
          <p:cNvSpPr txBox="1"/>
          <p:nvPr/>
        </p:nvSpPr>
        <p:spPr>
          <a:xfrm>
            <a:off x="6233160" y="4426827"/>
            <a:ext cx="2331720" cy="369332"/>
          </a:xfrm>
          <a:prstGeom prst="rect">
            <a:avLst/>
          </a:prstGeom>
          <a:noFill/>
        </p:spPr>
        <p:txBody>
          <a:bodyPr wrap="square" rtlCol="0">
            <a:spAutoFit/>
          </a:bodyPr>
          <a:lstStyle/>
          <a:p>
            <a:r>
              <a:rPr lang="en-US" dirty="0">
                <a:latin typeface="Arial" pitchFamily="34" charset="0"/>
                <a:cs typeface="Arial" pitchFamily="34" charset="0"/>
              </a:rPr>
              <a:t>w(t+1)</a:t>
            </a:r>
          </a:p>
        </p:txBody>
      </p:sp>
      <p:sp>
        <p:nvSpPr>
          <p:cNvPr id="32" name="TextBox 31">
            <a:extLst>
              <a:ext uri="{FF2B5EF4-FFF2-40B4-BE49-F238E27FC236}">
                <a16:creationId xmlns:a16="http://schemas.microsoft.com/office/drawing/2014/main" id="{F9D37A5A-B435-BE42-8613-5C048D644D86}"/>
              </a:ext>
            </a:extLst>
          </p:cNvPr>
          <p:cNvSpPr txBox="1"/>
          <p:nvPr/>
        </p:nvSpPr>
        <p:spPr>
          <a:xfrm>
            <a:off x="6248400" y="5505164"/>
            <a:ext cx="2331720" cy="369332"/>
          </a:xfrm>
          <a:prstGeom prst="rect">
            <a:avLst/>
          </a:prstGeom>
          <a:noFill/>
        </p:spPr>
        <p:txBody>
          <a:bodyPr wrap="square" rtlCol="0">
            <a:spAutoFit/>
          </a:bodyPr>
          <a:lstStyle/>
          <a:p>
            <a:r>
              <a:rPr lang="en-US" dirty="0">
                <a:latin typeface="Arial" pitchFamily="34" charset="0"/>
                <a:cs typeface="Arial" pitchFamily="34" charset="0"/>
              </a:rPr>
              <a:t>w(t+2)</a:t>
            </a:r>
          </a:p>
        </p:txBody>
      </p:sp>
      <p:sp>
        <p:nvSpPr>
          <p:cNvPr id="33" name="TextBox 32">
            <a:extLst>
              <a:ext uri="{FF2B5EF4-FFF2-40B4-BE49-F238E27FC236}">
                <a16:creationId xmlns:a16="http://schemas.microsoft.com/office/drawing/2014/main" id="{9489C0CF-A2F5-8A44-AB70-4D0EF3F88A2A}"/>
              </a:ext>
            </a:extLst>
          </p:cNvPr>
          <p:cNvSpPr txBox="1"/>
          <p:nvPr/>
        </p:nvSpPr>
        <p:spPr>
          <a:xfrm>
            <a:off x="2186940" y="2592816"/>
            <a:ext cx="2331720" cy="369332"/>
          </a:xfrm>
          <a:prstGeom prst="rect">
            <a:avLst/>
          </a:prstGeom>
          <a:noFill/>
        </p:spPr>
        <p:txBody>
          <a:bodyPr wrap="square" rtlCol="0">
            <a:spAutoFit/>
          </a:bodyPr>
          <a:lstStyle/>
          <a:p>
            <a:r>
              <a:rPr lang="en-US" dirty="0">
                <a:solidFill>
                  <a:srgbClr val="0000FF"/>
                </a:solidFill>
                <a:latin typeface="Arial" pitchFamily="34" charset="0"/>
                <a:cs typeface="Arial" pitchFamily="34" charset="0"/>
              </a:rPr>
              <a:t>Input layer</a:t>
            </a:r>
          </a:p>
        </p:txBody>
      </p:sp>
      <p:sp>
        <p:nvSpPr>
          <p:cNvPr id="34" name="TextBox 33">
            <a:extLst>
              <a:ext uri="{FF2B5EF4-FFF2-40B4-BE49-F238E27FC236}">
                <a16:creationId xmlns:a16="http://schemas.microsoft.com/office/drawing/2014/main" id="{5106CF55-B0CB-2949-B8AD-47C6FBC86449}"/>
              </a:ext>
            </a:extLst>
          </p:cNvPr>
          <p:cNvSpPr txBox="1"/>
          <p:nvPr/>
        </p:nvSpPr>
        <p:spPr>
          <a:xfrm>
            <a:off x="3609340" y="2508727"/>
            <a:ext cx="1371600" cy="646331"/>
          </a:xfrm>
          <a:prstGeom prst="rect">
            <a:avLst/>
          </a:prstGeom>
          <a:noFill/>
        </p:spPr>
        <p:txBody>
          <a:bodyPr wrap="square" rtlCol="0">
            <a:spAutoFit/>
          </a:bodyPr>
          <a:lstStyle/>
          <a:p>
            <a:pPr algn="ctr"/>
            <a:r>
              <a:rPr lang="en-US" dirty="0">
                <a:solidFill>
                  <a:srgbClr val="0000FF"/>
                </a:solidFill>
                <a:latin typeface="Arial" pitchFamily="34" charset="0"/>
                <a:cs typeface="Arial" pitchFamily="34" charset="0"/>
              </a:rPr>
              <a:t>Embedding layer</a:t>
            </a:r>
          </a:p>
        </p:txBody>
      </p:sp>
      <p:sp>
        <p:nvSpPr>
          <p:cNvPr id="35" name="TextBox 34">
            <a:extLst>
              <a:ext uri="{FF2B5EF4-FFF2-40B4-BE49-F238E27FC236}">
                <a16:creationId xmlns:a16="http://schemas.microsoft.com/office/drawing/2014/main" id="{99EC3245-532A-234F-A50A-E7967CF488DD}"/>
              </a:ext>
            </a:extLst>
          </p:cNvPr>
          <p:cNvSpPr txBox="1"/>
          <p:nvPr/>
        </p:nvSpPr>
        <p:spPr>
          <a:xfrm>
            <a:off x="5394455" y="1188327"/>
            <a:ext cx="2331720" cy="369332"/>
          </a:xfrm>
          <a:prstGeom prst="rect">
            <a:avLst/>
          </a:prstGeom>
          <a:noFill/>
        </p:spPr>
        <p:txBody>
          <a:bodyPr wrap="square" rtlCol="0">
            <a:spAutoFit/>
          </a:bodyPr>
          <a:lstStyle/>
          <a:p>
            <a:r>
              <a:rPr lang="en-US" dirty="0">
                <a:solidFill>
                  <a:srgbClr val="0000FF"/>
                </a:solidFill>
                <a:latin typeface="Arial" pitchFamily="34" charset="0"/>
                <a:cs typeface="Arial" pitchFamily="34" charset="0"/>
              </a:rPr>
              <a:t>Output layer</a:t>
            </a:r>
          </a:p>
        </p:txBody>
      </p:sp>
      <p:sp>
        <p:nvSpPr>
          <p:cNvPr id="36" name="Right Brace 35">
            <a:extLst>
              <a:ext uri="{FF2B5EF4-FFF2-40B4-BE49-F238E27FC236}">
                <a16:creationId xmlns:a16="http://schemas.microsoft.com/office/drawing/2014/main" id="{73B9124C-7894-9A40-B958-D6B1792F674A}"/>
              </a:ext>
            </a:extLst>
          </p:cNvPr>
          <p:cNvSpPr/>
          <p:nvPr/>
        </p:nvSpPr>
        <p:spPr>
          <a:xfrm>
            <a:off x="7010400" y="1603248"/>
            <a:ext cx="228600" cy="2054351"/>
          </a:xfrm>
          <a:prstGeom prst="rightBrace">
            <a:avLst/>
          </a:prstGeom>
          <a:ln w="28575">
            <a:solidFill>
              <a:schemeClr val="accent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7" name="TextBox 36">
            <a:extLst>
              <a:ext uri="{FF2B5EF4-FFF2-40B4-BE49-F238E27FC236}">
                <a16:creationId xmlns:a16="http://schemas.microsoft.com/office/drawing/2014/main" id="{C418E83D-6EB5-854E-BB9C-A9566280FF8E}"/>
              </a:ext>
            </a:extLst>
          </p:cNvPr>
          <p:cNvSpPr txBox="1"/>
          <p:nvPr/>
        </p:nvSpPr>
        <p:spPr>
          <a:xfrm>
            <a:off x="7223760" y="2366657"/>
            <a:ext cx="1844040" cy="523220"/>
          </a:xfrm>
          <a:prstGeom prst="rect">
            <a:avLst/>
          </a:prstGeom>
          <a:noFill/>
        </p:spPr>
        <p:txBody>
          <a:bodyPr wrap="square" rtlCol="0">
            <a:spAutoFit/>
          </a:bodyPr>
          <a:lstStyle/>
          <a:p>
            <a:r>
              <a:rPr lang="en-US" sz="1400" dirty="0">
                <a:solidFill>
                  <a:srgbClr val="FFC000"/>
                </a:solidFill>
                <a:latin typeface="Arial" pitchFamily="34" charset="0"/>
                <a:cs typeface="Arial" pitchFamily="34" charset="0"/>
              </a:rPr>
              <a:t>Context words in history (left of target)</a:t>
            </a:r>
          </a:p>
        </p:txBody>
      </p:sp>
      <p:sp>
        <p:nvSpPr>
          <p:cNvPr id="38" name="Right Brace 37">
            <a:extLst>
              <a:ext uri="{FF2B5EF4-FFF2-40B4-BE49-F238E27FC236}">
                <a16:creationId xmlns:a16="http://schemas.microsoft.com/office/drawing/2014/main" id="{3F2F1978-8E16-1B4F-82AB-D3688CF9227A}"/>
              </a:ext>
            </a:extLst>
          </p:cNvPr>
          <p:cNvSpPr/>
          <p:nvPr/>
        </p:nvSpPr>
        <p:spPr>
          <a:xfrm>
            <a:off x="7010400" y="4114800"/>
            <a:ext cx="228600" cy="2054351"/>
          </a:xfrm>
          <a:prstGeom prst="rightBrace">
            <a:avLst/>
          </a:prstGeom>
          <a:ln w="28575">
            <a:solidFill>
              <a:schemeClr val="accent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9" name="TextBox 38">
            <a:extLst>
              <a:ext uri="{FF2B5EF4-FFF2-40B4-BE49-F238E27FC236}">
                <a16:creationId xmlns:a16="http://schemas.microsoft.com/office/drawing/2014/main" id="{F2CF9299-C0FD-D443-88F8-35EFEBD1583D}"/>
              </a:ext>
            </a:extLst>
          </p:cNvPr>
          <p:cNvSpPr txBox="1"/>
          <p:nvPr/>
        </p:nvSpPr>
        <p:spPr>
          <a:xfrm>
            <a:off x="7223760" y="4878209"/>
            <a:ext cx="1920240" cy="523220"/>
          </a:xfrm>
          <a:prstGeom prst="rect">
            <a:avLst/>
          </a:prstGeom>
          <a:noFill/>
        </p:spPr>
        <p:txBody>
          <a:bodyPr wrap="square" rtlCol="0">
            <a:spAutoFit/>
          </a:bodyPr>
          <a:lstStyle/>
          <a:p>
            <a:r>
              <a:rPr lang="en-US" sz="1400" dirty="0">
                <a:solidFill>
                  <a:srgbClr val="FFC000"/>
                </a:solidFill>
                <a:latin typeface="Arial" pitchFamily="34" charset="0"/>
                <a:cs typeface="Arial" pitchFamily="34" charset="0"/>
              </a:rPr>
              <a:t>Context words in future (right of target)</a:t>
            </a:r>
          </a:p>
        </p:txBody>
      </p:sp>
      <p:sp>
        <p:nvSpPr>
          <p:cNvPr id="40" name="TextBox 39">
            <a:extLst>
              <a:ext uri="{FF2B5EF4-FFF2-40B4-BE49-F238E27FC236}">
                <a16:creationId xmlns:a16="http://schemas.microsoft.com/office/drawing/2014/main" id="{DDD6687E-EA19-A54E-900E-53DEB156D1E7}"/>
              </a:ext>
            </a:extLst>
          </p:cNvPr>
          <p:cNvSpPr txBox="1"/>
          <p:nvPr/>
        </p:nvSpPr>
        <p:spPr>
          <a:xfrm>
            <a:off x="381000" y="4878209"/>
            <a:ext cx="4343400" cy="1754326"/>
          </a:xfrm>
          <a:prstGeom prst="rect">
            <a:avLst/>
          </a:prstGeom>
          <a:noFill/>
          <a:ln>
            <a:solidFill>
              <a:srgbClr val="7030A0"/>
            </a:solidFill>
          </a:ln>
        </p:spPr>
        <p:txBody>
          <a:bodyPr wrap="square" rtlCol="0">
            <a:spAutoFit/>
          </a:bodyPr>
          <a:lstStyle/>
          <a:p>
            <a:pPr marL="118872" indent="0">
              <a:buNone/>
            </a:pPr>
            <a:r>
              <a:rPr lang="en-US" dirty="0">
                <a:solidFill>
                  <a:srgbClr val="FF0066"/>
                </a:solidFill>
              </a:rPr>
              <a:t>Given the word at position t, it predicts the nearby context words both from past and future.</a:t>
            </a:r>
          </a:p>
          <a:p>
            <a:pPr marL="118872" indent="0">
              <a:buNone/>
            </a:pPr>
            <a:endParaRPr lang="en-US" dirty="0">
              <a:solidFill>
                <a:srgbClr val="FF0066"/>
              </a:solidFill>
            </a:endParaRPr>
          </a:p>
          <a:p>
            <a:pPr marL="118872" indent="0">
              <a:buNone/>
            </a:pPr>
            <a:r>
              <a:rPr lang="en-US" dirty="0">
                <a:solidFill>
                  <a:srgbClr val="FF0000"/>
                </a:solidFill>
              </a:rPr>
              <a:t>** For simplicity, in this lecture we predict only one context word.</a:t>
            </a:r>
          </a:p>
        </p:txBody>
      </p:sp>
    </p:spTree>
    <p:extLst>
      <p:ext uri="{BB962C8B-B14F-4D97-AF65-F5344CB8AC3E}">
        <p14:creationId xmlns:p14="http://schemas.microsoft.com/office/powerpoint/2010/main" val="26097830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DBCAC-BD04-3A49-8905-A3D3F487B905}"/>
              </a:ext>
            </a:extLst>
          </p:cNvPr>
          <p:cNvSpPr>
            <a:spLocks noGrp="1"/>
          </p:cNvSpPr>
          <p:nvPr>
            <p:ph type="title"/>
          </p:nvPr>
        </p:nvSpPr>
        <p:spPr/>
        <p:txBody>
          <a:bodyPr/>
          <a:lstStyle/>
          <a:p>
            <a:r>
              <a:rPr lang="en-US" dirty="0"/>
              <a:t>Word2Vec: architecture</a:t>
            </a:r>
          </a:p>
        </p:txBody>
      </p:sp>
      <p:pic>
        <p:nvPicPr>
          <p:cNvPr id="7" name="Picture 6">
            <a:extLst>
              <a:ext uri="{FF2B5EF4-FFF2-40B4-BE49-F238E27FC236}">
                <a16:creationId xmlns:a16="http://schemas.microsoft.com/office/drawing/2014/main" id="{D80765AB-D950-E944-A329-A080AA4EC422}"/>
              </a:ext>
            </a:extLst>
          </p:cNvPr>
          <p:cNvPicPr>
            <a:picLocks noChangeAspect="1"/>
          </p:cNvPicPr>
          <p:nvPr/>
        </p:nvPicPr>
        <p:blipFill>
          <a:blip r:embed="rId3"/>
          <a:stretch>
            <a:fillRect/>
          </a:stretch>
        </p:blipFill>
        <p:spPr>
          <a:xfrm>
            <a:off x="752279" y="3124200"/>
            <a:ext cx="7396036" cy="325508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3" name="Content Placeholder 2">
            <a:extLst>
              <a:ext uri="{FF2B5EF4-FFF2-40B4-BE49-F238E27FC236}">
                <a16:creationId xmlns:a16="http://schemas.microsoft.com/office/drawing/2014/main" id="{82793F0A-1220-0245-A8DB-434A6ACC4751}"/>
              </a:ext>
            </a:extLst>
          </p:cNvPr>
          <p:cNvSpPr>
            <a:spLocks noGrp="1"/>
          </p:cNvSpPr>
          <p:nvPr>
            <p:ph idx="1"/>
          </p:nvPr>
        </p:nvSpPr>
        <p:spPr>
          <a:xfrm>
            <a:off x="457200" y="1295400"/>
            <a:ext cx="8481060" cy="5257801"/>
          </a:xfrm>
        </p:spPr>
        <p:txBody>
          <a:bodyPr>
            <a:normAutofit/>
          </a:bodyPr>
          <a:lstStyle/>
          <a:p>
            <a:r>
              <a:rPr lang="en-US" sz="2600" dirty="0"/>
              <a:t>Let </a:t>
            </a:r>
            <a:r>
              <a:rPr lang="en-US" sz="2600" dirty="0">
                <a:solidFill>
                  <a:srgbClr val="D60093"/>
                </a:solidFill>
              </a:rPr>
              <a:t>V = size of vocabulary </a:t>
            </a:r>
          </a:p>
          <a:p>
            <a:r>
              <a:rPr lang="en-US" sz="2600" dirty="0"/>
              <a:t>Let</a:t>
            </a:r>
            <a:r>
              <a:rPr lang="en-US" sz="2600" dirty="0">
                <a:solidFill>
                  <a:srgbClr val="D60093"/>
                </a:solidFill>
              </a:rPr>
              <a:t> N = embedding dimension</a:t>
            </a:r>
            <a:endParaRPr lang="en-US" sz="2600" dirty="0"/>
          </a:p>
        </p:txBody>
      </p:sp>
      <p:sp>
        <p:nvSpPr>
          <p:cNvPr id="4" name="Date Placeholder 3">
            <a:extLst>
              <a:ext uri="{FF2B5EF4-FFF2-40B4-BE49-F238E27FC236}">
                <a16:creationId xmlns:a16="http://schemas.microsoft.com/office/drawing/2014/main" id="{D68D2B63-FA98-E04A-A64B-5F7F5EEF3F6C}"/>
              </a:ext>
            </a:extLst>
          </p:cNvPr>
          <p:cNvSpPr>
            <a:spLocks noGrp="1"/>
          </p:cNvSpPr>
          <p:nvPr>
            <p:ph type="dt" sz="half" idx="10"/>
          </p:nvPr>
        </p:nvSpPr>
        <p:spPr/>
        <p:txBody>
          <a:bodyPr/>
          <a:lstStyle/>
          <a:p>
            <a:fld id="{E5E5A6FA-5BBA-F04C-961D-533916F9C7F2}" type="datetime1">
              <a:rPr lang="en-US" smtClean="0"/>
              <a:t>11/3/24</a:t>
            </a:fld>
            <a:endParaRPr lang="en-US"/>
          </a:p>
        </p:txBody>
      </p:sp>
      <p:sp>
        <p:nvSpPr>
          <p:cNvPr id="5" name="Footer Placeholder 4">
            <a:extLst>
              <a:ext uri="{FF2B5EF4-FFF2-40B4-BE49-F238E27FC236}">
                <a16:creationId xmlns:a16="http://schemas.microsoft.com/office/drawing/2014/main" id="{94D13477-24D7-C944-B160-9E9F09CCE3F8}"/>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3B2A874C-9EEE-E243-9FBA-085B9E5716B1}"/>
              </a:ext>
            </a:extLst>
          </p:cNvPr>
          <p:cNvSpPr>
            <a:spLocks noGrp="1"/>
          </p:cNvSpPr>
          <p:nvPr>
            <p:ph type="sldNum" sz="quarter" idx="12"/>
          </p:nvPr>
        </p:nvSpPr>
        <p:spPr/>
        <p:txBody>
          <a:bodyPr/>
          <a:lstStyle/>
          <a:p>
            <a:fld id="{19B12225-5612-419B-A8D5-4B8EEE4C217E}" type="slidenum">
              <a:rPr lang="en-US" smtClean="0"/>
              <a:pPr/>
              <a:t>43</a:t>
            </a:fld>
            <a:endParaRPr lang="en-US"/>
          </a:p>
        </p:txBody>
      </p:sp>
      <p:pic>
        <p:nvPicPr>
          <p:cNvPr id="18" name="Picture 17">
            <a:extLst>
              <a:ext uri="{FF2B5EF4-FFF2-40B4-BE49-F238E27FC236}">
                <a16:creationId xmlns:a16="http://schemas.microsoft.com/office/drawing/2014/main" id="{350A372E-2795-4577-6857-03F4F700C4EB}"/>
              </a:ext>
            </a:extLst>
          </p:cNvPr>
          <p:cNvPicPr>
            <a:picLocks noChangeAspect="1"/>
          </p:cNvPicPr>
          <p:nvPr/>
        </p:nvPicPr>
        <p:blipFill>
          <a:blip r:embed="rId4"/>
          <a:stretch>
            <a:fillRect/>
          </a:stretch>
        </p:blipFill>
        <p:spPr>
          <a:xfrm>
            <a:off x="5334000" y="1242861"/>
            <a:ext cx="3505200" cy="128596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9" name="TextBox 18">
            <a:extLst>
              <a:ext uri="{FF2B5EF4-FFF2-40B4-BE49-F238E27FC236}">
                <a16:creationId xmlns:a16="http://schemas.microsoft.com/office/drawing/2014/main" id="{CF02C2D6-AFB6-8636-4BCA-0CB37699E51E}"/>
              </a:ext>
            </a:extLst>
          </p:cNvPr>
          <p:cNvSpPr txBox="1"/>
          <p:nvPr/>
        </p:nvSpPr>
        <p:spPr>
          <a:xfrm>
            <a:off x="685800" y="3886200"/>
            <a:ext cx="1533721" cy="738664"/>
          </a:xfrm>
          <a:prstGeom prst="rect">
            <a:avLst/>
          </a:prstGeom>
          <a:solidFill>
            <a:schemeClr val="bg1"/>
          </a:solidFill>
        </p:spPr>
        <p:txBody>
          <a:bodyPr wrap="square" rtlCol="0">
            <a:spAutoFit/>
          </a:bodyPr>
          <a:lstStyle/>
          <a:p>
            <a:r>
              <a:rPr lang="en-US" sz="1400" dirty="0">
                <a:solidFill>
                  <a:srgbClr val="D60093"/>
                </a:solidFill>
                <a:latin typeface="Arial" pitchFamily="34" charset="0"/>
                <a:cs typeface="Arial" pitchFamily="34" charset="0"/>
              </a:rPr>
              <a:t>one-hot vector of target word at position t: w(t)</a:t>
            </a:r>
          </a:p>
        </p:txBody>
      </p:sp>
      <p:sp>
        <p:nvSpPr>
          <p:cNvPr id="20" name="TextBox 19">
            <a:extLst>
              <a:ext uri="{FF2B5EF4-FFF2-40B4-BE49-F238E27FC236}">
                <a16:creationId xmlns:a16="http://schemas.microsoft.com/office/drawing/2014/main" id="{AF14A77F-ABFF-D66A-9247-273FEF36211B}"/>
              </a:ext>
            </a:extLst>
          </p:cNvPr>
          <p:cNvSpPr txBox="1"/>
          <p:nvPr/>
        </p:nvSpPr>
        <p:spPr>
          <a:xfrm>
            <a:off x="6844301" y="3531275"/>
            <a:ext cx="1304014" cy="2031325"/>
          </a:xfrm>
          <a:prstGeom prst="rect">
            <a:avLst/>
          </a:prstGeom>
          <a:solidFill>
            <a:schemeClr val="bg1"/>
          </a:solidFill>
        </p:spPr>
        <p:txBody>
          <a:bodyPr wrap="square" rtlCol="0">
            <a:spAutoFit/>
          </a:bodyPr>
          <a:lstStyle/>
          <a:p>
            <a:endParaRPr lang="en-US" sz="1400" dirty="0">
              <a:latin typeface="Arial" pitchFamily="34" charset="0"/>
              <a:cs typeface="Arial" pitchFamily="34" charset="0"/>
            </a:endParaRPr>
          </a:p>
          <a:p>
            <a:r>
              <a:rPr lang="en-US" sz="1400" dirty="0">
                <a:solidFill>
                  <a:srgbClr val="D60093"/>
                </a:solidFill>
                <a:latin typeface="Arial" pitchFamily="34" charset="0"/>
                <a:cs typeface="Arial" pitchFamily="34" charset="0"/>
              </a:rPr>
              <a:t>one-hot vector of context word: w(t-1)</a:t>
            </a:r>
          </a:p>
          <a:p>
            <a:endParaRPr lang="en-US" sz="1400" dirty="0">
              <a:latin typeface="Arial" pitchFamily="34" charset="0"/>
              <a:cs typeface="Arial" pitchFamily="34" charset="0"/>
            </a:endParaRPr>
          </a:p>
          <a:p>
            <a:endParaRPr lang="en-US" sz="1400" dirty="0">
              <a:latin typeface="Arial" pitchFamily="34" charset="0"/>
              <a:cs typeface="Arial" pitchFamily="34" charset="0"/>
            </a:endParaRPr>
          </a:p>
          <a:p>
            <a:endParaRPr lang="en-US" sz="1400" dirty="0">
              <a:latin typeface="Arial" pitchFamily="34" charset="0"/>
              <a:cs typeface="Arial" pitchFamily="34" charset="0"/>
            </a:endParaRPr>
          </a:p>
          <a:p>
            <a:endParaRPr lang="en-US" sz="1400" dirty="0">
              <a:latin typeface="Arial" pitchFamily="34" charset="0"/>
              <a:cs typeface="Arial" pitchFamily="34" charset="0"/>
            </a:endParaRPr>
          </a:p>
        </p:txBody>
      </p:sp>
    </p:spTree>
    <p:extLst>
      <p:ext uri="{BB962C8B-B14F-4D97-AF65-F5344CB8AC3E}">
        <p14:creationId xmlns:p14="http://schemas.microsoft.com/office/powerpoint/2010/main" val="2686561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DBCAC-BD04-3A49-8905-A3D3F487B905}"/>
              </a:ext>
            </a:extLst>
          </p:cNvPr>
          <p:cNvSpPr>
            <a:spLocks noGrp="1"/>
          </p:cNvSpPr>
          <p:nvPr>
            <p:ph type="title"/>
          </p:nvPr>
        </p:nvSpPr>
        <p:spPr/>
        <p:txBody>
          <a:bodyPr/>
          <a:lstStyle/>
          <a:p>
            <a:r>
              <a:rPr lang="en-US" dirty="0"/>
              <a:t>Word2Vec: architecture</a:t>
            </a:r>
          </a:p>
        </p:txBody>
      </p:sp>
      <p:sp>
        <p:nvSpPr>
          <p:cNvPr id="3" name="Content Placeholder 2">
            <a:extLst>
              <a:ext uri="{FF2B5EF4-FFF2-40B4-BE49-F238E27FC236}">
                <a16:creationId xmlns:a16="http://schemas.microsoft.com/office/drawing/2014/main" id="{82793F0A-1220-0245-A8DB-434A6ACC4751}"/>
              </a:ext>
            </a:extLst>
          </p:cNvPr>
          <p:cNvSpPr>
            <a:spLocks noGrp="1"/>
          </p:cNvSpPr>
          <p:nvPr>
            <p:ph idx="1"/>
          </p:nvPr>
        </p:nvSpPr>
        <p:spPr>
          <a:xfrm>
            <a:off x="457200" y="1295400"/>
            <a:ext cx="8481060" cy="5257801"/>
          </a:xfrm>
        </p:spPr>
        <p:txBody>
          <a:bodyPr>
            <a:normAutofit/>
          </a:bodyPr>
          <a:lstStyle/>
          <a:p>
            <a:r>
              <a:rPr lang="en-US" sz="2600" dirty="0"/>
              <a:t>A </a:t>
            </a:r>
            <a:r>
              <a:rPr lang="en-US" sz="2600" dirty="0" err="1"/>
              <a:t>softmax</a:t>
            </a:r>
            <a:r>
              <a:rPr lang="en-US" sz="2600" dirty="0"/>
              <a:t> function is applied on output layer</a:t>
            </a:r>
          </a:p>
        </p:txBody>
      </p:sp>
      <p:sp>
        <p:nvSpPr>
          <p:cNvPr id="4" name="Date Placeholder 3">
            <a:extLst>
              <a:ext uri="{FF2B5EF4-FFF2-40B4-BE49-F238E27FC236}">
                <a16:creationId xmlns:a16="http://schemas.microsoft.com/office/drawing/2014/main" id="{D68D2B63-FA98-E04A-A64B-5F7F5EEF3F6C}"/>
              </a:ext>
            </a:extLst>
          </p:cNvPr>
          <p:cNvSpPr>
            <a:spLocks noGrp="1"/>
          </p:cNvSpPr>
          <p:nvPr>
            <p:ph type="dt" sz="half" idx="10"/>
          </p:nvPr>
        </p:nvSpPr>
        <p:spPr/>
        <p:txBody>
          <a:bodyPr/>
          <a:lstStyle/>
          <a:p>
            <a:fld id="{8B153F61-1866-BC47-98D1-5BB261D15632}" type="datetime1">
              <a:rPr lang="en-US" smtClean="0"/>
              <a:t>11/3/24</a:t>
            </a:fld>
            <a:endParaRPr lang="en-US"/>
          </a:p>
        </p:txBody>
      </p:sp>
      <p:sp>
        <p:nvSpPr>
          <p:cNvPr id="5" name="Footer Placeholder 4">
            <a:extLst>
              <a:ext uri="{FF2B5EF4-FFF2-40B4-BE49-F238E27FC236}">
                <a16:creationId xmlns:a16="http://schemas.microsoft.com/office/drawing/2014/main" id="{94D13477-24D7-C944-B160-9E9F09CCE3F8}"/>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3B2A874C-9EEE-E243-9FBA-085B9E5716B1}"/>
              </a:ext>
            </a:extLst>
          </p:cNvPr>
          <p:cNvSpPr>
            <a:spLocks noGrp="1"/>
          </p:cNvSpPr>
          <p:nvPr>
            <p:ph type="sldNum" sz="quarter" idx="12"/>
          </p:nvPr>
        </p:nvSpPr>
        <p:spPr/>
        <p:txBody>
          <a:bodyPr/>
          <a:lstStyle/>
          <a:p>
            <a:fld id="{19B12225-5612-419B-A8D5-4B8EEE4C217E}" type="slidenum">
              <a:rPr lang="en-US" smtClean="0"/>
              <a:pPr/>
              <a:t>44</a:t>
            </a:fld>
            <a:endParaRPr lang="en-US"/>
          </a:p>
        </p:txBody>
      </p:sp>
      <p:pic>
        <p:nvPicPr>
          <p:cNvPr id="7" name="Picture 6">
            <a:extLst>
              <a:ext uri="{FF2B5EF4-FFF2-40B4-BE49-F238E27FC236}">
                <a16:creationId xmlns:a16="http://schemas.microsoft.com/office/drawing/2014/main" id="{D80765AB-D950-E944-A329-A080AA4EC422}"/>
              </a:ext>
            </a:extLst>
          </p:cNvPr>
          <p:cNvPicPr>
            <a:picLocks noChangeAspect="1"/>
          </p:cNvPicPr>
          <p:nvPr/>
        </p:nvPicPr>
        <p:blipFill>
          <a:blip r:embed="rId2"/>
          <a:stretch>
            <a:fillRect/>
          </a:stretch>
        </p:blipFill>
        <p:spPr>
          <a:xfrm>
            <a:off x="1138364" y="3161993"/>
            <a:ext cx="7396036" cy="32550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9" name="Curved Connector 8">
            <a:extLst>
              <a:ext uri="{FF2B5EF4-FFF2-40B4-BE49-F238E27FC236}">
                <a16:creationId xmlns:a16="http://schemas.microsoft.com/office/drawing/2014/main" id="{D3E6BA44-BDB2-E04F-9971-D49C7EB59988}"/>
              </a:ext>
            </a:extLst>
          </p:cNvPr>
          <p:cNvCxnSpPr>
            <a:cxnSpLocks/>
          </p:cNvCxnSpPr>
          <p:nvPr/>
        </p:nvCxnSpPr>
        <p:spPr>
          <a:xfrm rot="16200000" flipH="1">
            <a:off x="6587232" y="4690368"/>
            <a:ext cx="922539" cy="838202"/>
          </a:xfrm>
          <a:prstGeom prst="curvedConnector3">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C433687A-7B0C-7944-AD3A-233141E85F05}"/>
              </a:ext>
            </a:extLst>
          </p:cNvPr>
          <p:cNvSpPr txBox="1"/>
          <p:nvPr/>
        </p:nvSpPr>
        <p:spPr>
          <a:xfrm>
            <a:off x="7165488" y="5570737"/>
            <a:ext cx="1368056" cy="738664"/>
          </a:xfrm>
          <a:prstGeom prst="rect">
            <a:avLst/>
          </a:prstGeom>
          <a:noFill/>
          <a:ln>
            <a:solidFill>
              <a:srgbClr val="0000FF"/>
            </a:solidFill>
          </a:ln>
        </p:spPr>
        <p:txBody>
          <a:bodyPr wrap="square" rtlCol="0">
            <a:spAutoFit/>
          </a:bodyPr>
          <a:lstStyle/>
          <a:p>
            <a:r>
              <a:rPr lang="en-US" sz="1400" dirty="0">
                <a:solidFill>
                  <a:srgbClr val="0000FF"/>
                </a:solidFill>
                <a:latin typeface="Arial" pitchFamily="34" charset="0"/>
                <a:cs typeface="Arial" pitchFamily="34" charset="0"/>
              </a:rPr>
              <a:t>Probability that j-</a:t>
            </a:r>
            <a:r>
              <a:rPr lang="en-US" sz="1400" dirty="0" err="1">
                <a:solidFill>
                  <a:srgbClr val="0000FF"/>
                </a:solidFill>
                <a:latin typeface="Arial" pitchFamily="34" charset="0"/>
                <a:cs typeface="Arial" pitchFamily="34" charset="0"/>
              </a:rPr>
              <a:t>th</a:t>
            </a:r>
            <a:r>
              <a:rPr lang="en-US" sz="1400" dirty="0">
                <a:solidFill>
                  <a:srgbClr val="0000FF"/>
                </a:solidFill>
                <a:latin typeface="Arial" pitchFamily="34" charset="0"/>
                <a:cs typeface="Arial" pitchFamily="34" charset="0"/>
              </a:rPr>
              <a:t> word is in the context</a:t>
            </a:r>
          </a:p>
        </p:txBody>
      </p:sp>
    </p:spTree>
    <p:extLst>
      <p:ext uri="{BB962C8B-B14F-4D97-AF65-F5344CB8AC3E}">
        <p14:creationId xmlns:p14="http://schemas.microsoft.com/office/powerpoint/2010/main" val="13952280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DBCAC-BD04-3A49-8905-A3D3F487B905}"/>
              </a:ext>
            </a:extLst>
          </p:cNvPr>
          <p:cNvSpPr>
            <a:spLocks noGrp="1"/>
          </p:cNvSpPr>
          <p:nvPr>
            <p:ph type="title"/>
          </p:nvPr>
        </p:nvSpPr>
        <p:spPr/>
        <p:txBody>
          <a:bodyPr/>
          <a:lstStyle/>
          <a:p>
            <a:r>
              <a:rPr lang="en-US" dirty="0"/>
              <a:t>Word2Vec: architecture</a:t>
            </a:r>
          </a:p>
        </p:txBody>
      </p:sp>
      <p:sp>
        <p:nvSpPr>
          <p:cNvPr id="3" name="Content Placeholder 2">
            <a:extLst>
              <a:ext uri="{FF2B5EF4-FFF2-40B4-BE49-F238E27FC236}">
                <a16:creationId xmlns:a16="http://schemas.microsoft.com/office/drawing/2014/main" id="{82793F0A-1220-0245-A8DB-434A6ACC4751}"/>
              </a:ext>
            </a:extLst>
          </p:cNvPr>
          <p:cNvSpPr>
            <a:spLocks noGrp="1"/>
          </p:cNvSpPr>
          <p:nvPr>
            <p:ph idx="1"/>
          </p:nvPr>
        </p:nvSpPr>
        <p:spPr>
          <a:xfrm>
            <a:off x="457200" y="1295400"/>
            <a:ext cx="8481060" cy="5257801"/>
          </a:xfrm>
        </p:spPr>
        <p:txBody>
          <a:bodyPr>
            <a:normAutofit/>
          </a:bodyPr>
          <a:lstStyle/>
          <a:p>
            <a:r>
              <a:rPr lang="en-US" sz="2600" dirty="0"/>
              <a:t>The hidden layer are all linear neurons, no activation!</a:t>
            </a:r>
          </a:p>
          <a:p>
            <a:r>
              <a:rPr lang="en-US" sz="2600" dirty="0"/>
              <a:t>Two different weight matrices:</a:t>
            </a:r>
          </a:p>
          <a:p>
            <a:pPr lvl="1"/>
            <a:r>
              <a:rPr lang="en-US" sz="2400" dirty="0" err="1"/>
              <a:t>W</a:t>
            </a:r>
            <a:r>
              <a:rPr lang="en-US" sz="2400" baseline="-25000" dirty="0" err="1"/>
              <a:t>VxN</a:t>
            </a:r>
            <a:r>
              <a:rPr lang="en-US" sz="2400" baseline="-25000" dirty="0"/>
              <a:t> </a:t>
            </a:r>
            <a:r>
              <a:rPr lang="en-US" sz="2400" dirty="0"/>
              <a:t>: from input to hidden layer</a:t>
            </a:r>
          </a:p>
          <a:p>
            <a:pPr lvl="1"/>
            <a:r>
              <a:rPr lang="en-US" sz="2400" dirty="0" err="1"/>
              <a:t>W’</a:t>
            </a:r>
            <a:r>
              <a:rPr lang="en-US" sz="2400" baseline="-25000" dirty="0" err="1"/>
              <a:t>NxV</a:t>
            </a:r>
            <a:r>
              <a:rPr lang="en-US" sz="2400" baseline="-25000" dirty="0"/>
              <a:t> </a:t>
            </a:r>
            <a:r>
              <a:rPr lang="en-US" sz="2400" dirty="0"/>
              <a:t>: from hidden  to output layer</a:t>
            </a:r>
          </a:p>
          <a:p>
            <a:pPr lvl="1"/>
            <a:endParaRPr lang="en-US" sz="2400" dirty="0">
              <a:solidFill>
                <a:srgbClr val="0000FF"/>
              </a:solidFill>
            </a:endParaRPr>
          </a:p>
          <a:p>
            <a:pPr lvl="1"/>
            <a:endParaRPr lang="en-US" sz="2400" baseline="-25000" dirty="0">
              <a:solidFill>
                <a:srgbClr val="0000FF"/>
              </a:solidFill>
            </a:endParaRPr>
          </a:p>
          <a:p>
            <a:pPr lvl="1"/>
            <a:endParaRPr lang="en-US" sz="2200" dirty="0"/>
          </a:p>
          <a:p>
            <a:pPr lvl="1"/>
            <a:endParaRPr lang="en-US" sz="2200" dirty="0">
              <a:solidFill>
                <a:srgbClr val="D60093"/>
              </a:solidFill>
            </a:endParaRPr>
          </a:p>
        </p:txBody>
      </p:sp>
      <p:sp>
        <p:nvSpPr>
          <p:cNvPr id="4" name="Date Placeholder 3">
            <a:extLst>
              <a:ext uri="{FF2B5EF4-FFF2-40B4-BE49-F238E27FC236}">
                <a16:creationId xmlns:a16="http://schemas.microsoft.com/office/drawing/2014/main" id="{D68D2B63-FA98-E04A-A64B-5F7F5EEF3F6C}"/>
              </a:ext>
            </a:extLst>
          </p:cNvPr>
          <p:cNvSpPr>
            <a:spLocks noGrp="1"/>
          </p:cNvSpPr>
          <p:nvPr>
            <p:ph type="dt" sz="half" idx="10"/>
          </p:nvPr>
        </p:nvSpPr>
        <p:spPr/>
        <p:txBody>
          <a:bodyPr/>
          <a:lstStyle/>
          <a:p>
            <a:fld id="{49EA8DCE-6C98-324A-9D13-50DA5E195BE8}" type="datetime1">
              <a:rPr lang="en-US" smtClean="0"/>
              <a:t>11/3/24</a:t>
            </a:fld>
            <a:endParaRPr lang="en-US"/>
          </a:p>
        </p:txBody>
      </p:sp>
      <p:sp>
        <p:nvSpPr>
          <p:cNvPr id="5" name="Footer Placeholder 4">
            <a:extLst>
              <a:ext uri="{FF2B5EF4-FFF2-40B4-BE49-F238E27FC236}">
                <a16:creationId xmlns:a16="http://schemas.microsoft.com/office/drawing/2014/main" id="{94D13477-24D7-C944-B160-9E9F09CCE3F8}"/>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3B2A874C-9EEE-E243-9FBA-085B9E5716B1}"/>
              </a:ext>
            </a:extLst>
          </p:cNvPr>
          <p:cNvSpPr>
            <a:spLocks noGrp="1"/>
          </p:cNvSpPr>
          <p:nvPr>
            <p:ph type="sldNum" sz="quarter" idx="12"/>
          </p:nvPr>
        </p:nvSpPr>
        <p:spPr/>
        <p:txBody>
          <a:bodyPr/>
          <a:lstStyle/>
          <a:p>
            <a:fld id="{19B12225-5612-419B-A8D5-4B8EEE4C217E}" type="slidenum">
              <a:rPr lang="en-US" smtClean="0"/>
              <a:pPr/>
              <a:t>45</a:t>
            </a:fld>
            <a:endParaRPr lang="en-US"/>
          </a:p>
        </p:txBody>
      </p:sp>
      <p:pic>
        <p:nvPicPr>
          <p:cNvPr id="7" name="Picture 6">
            <a:extLst>
              <a:ext uri="{FF2B5EF4-FFF2-40B4-BE49-F238E27FC236}">
                <a16:creationId xmlns:a16="http://schemas.microsoft.com/office/drawing/2014/main" id="{D80765AB-D950-E944-A329-A080AA4EC422}"/>
              </a:ext>
            </a:extLst>
          </p:cNvPr>
          <p:cNvPicPr>
            <a:picLocks noChangeAspect="1"/>
          </p:cNvPicPr>
          <p:nvPr/>
        </p:nvPicPr>
        <p:blipFill>
          <a:blip r:embed="rId3"/>
          <a:stretch>
            <a:fillRect/>
          </a:stretch>
        </p:blipFill>
        <p:spPr>
          <a:xfrm>
            <a:off x="1138364" y="3161993"/>
            <a:ext cx="7396036" cy="32550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975962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DBCAC-BD04-3A49-8905-A3D3F487B905}"/>
              </a:ext>
            </a:extLst>
          </p:cNvPr>
          <p:cNvSpPr>
            <a:spLocks noGrp="1"/>
          </p:cNvSpPr>
          <p:nvPr>
            <p:ph type="title"/>
          </p:nvPr>
        </p:nvSpPr>
        <p:spPr/>
        <p:txBody>
          <a:bodyPr/>
          <a:lstStyle/>
          <a:p>
            <a:r>
              <a:rPr lang="en-US" dirty="0"/>
              <a:t>Word2Vec: architecture</a:t>
            </a:r>
          </a:p>
        </p:txBody>
      </p:sp>
      <p:sp>
        <p:nvSpPr>
          <p:cNvPr id="3" name="Content Placeholder 2">
            <a:extLst>
              <a:ext uri="{FF2B5EF4-FFF2-40B4-BE49-F238E27FC236}">
                <a16:creationId xmlns:a16="http://schemas.microsoft.com/office/drawing/2014/main" id="{82793F0A-1220-0245-A8DB-434A6ACC4751}"/>
              </a:ext>
            </a:extLst>
          </p:cNvPr>
          <p:cNvSpPr>
            <a:spLocks noGrp="1"/>
          </p:cNvSpPr>
          <p:nvPr>
            <p:ph idx="1"/>
          </p:nvPr>
        </p:nvSpPr>
        <p:spPr>
          <a:xfrm>
            <a:off x="457200" y="1295400"/>
            <a:ext cx="8481060" cy="5257801"/>
          </a:xfrm>
        </p:spPr>
        <p:txBody>
          <a:bodyPr>
            <a:normAutofit/>
          </a:bodyPr>
          <a:lstStyle/>
          <a:p>
            <a:r>
              <a:rPr lang="en-US" sz="2600" dirty="0"/>
              <a:t>After training the network:</a:t>
            </a:r>
          </a:p>
          <a:p>
            <a:pPr lvl="1"/>
            <a:r>
              <a:rPr lang="en-US" sz="2200" dirty="0"/>
              <a:t>The embedding of a word is obtained by </a:t>
            </a:r>
            <a:r>
              <a:rPr lang="en-US" sz="2200" dirty="0" err="1"/>
              <a:t>x</a:t>
            </a:r>
            <a:r>
              <a:rPr lang="en-US" sz="2200" baseline="30000" dirty="0" err="1"/>
              <a:t>T</a:t>
            </a:r>
            <a:r>
              <a:rPr lang="en-US" sz="2200" baseline="30000" dirty="0"/>
              <a:t> </a:t>
            </a:r>
            <a:r>
              <a:rPr lang="en-US" sz="2200" dirty="0"/>
              <a:t>W i.e. matrix multiplication between word’s one-hot vector and learned weights </a:t>
            </a:r>
            <a:r>
              <a:rPr lang="en-US" sz="2000" dirty="0" err="1"/>
              <a:t>W</a:t>
            </a:r>
            <a:r>
              <a:rPr lang="en-US" sz="2000" baseline="-25000" dirty="0" err="1"/>
              <a:t>VxN</a:t>
            </a:r>
            <a:endParaRPr lang="en-US" sz="2000" dirty="0"/>
          </a:p>
          <a:p>
            <a:pPr lvl="1"/>
            <a:endParaRPr lang="en-US" sz="2400" baseline="-25000" dirty="0">
              <a:solidFill>
                <a:srgbClr val="0000FF"/>
              </a:solidFill>
            </a:endParaRPr>
          </a:p>
          <a:p>
            <a:pPr lvl="1"/>
            <a:endParaRPr lang="en-US" sz="2200" dirty="0"/>
          </a:p>
          <a:p>
            <a:pPr lvl="1"/>
            <a:endParaRPr lang="en-US" sz="2200" dirty="0">
              <a:solidFill>
                <a:srgbClr val="D60093"/>
              </a:solidFill>
            </a:endParaRPr>
          </a:p>
        </p:txBody>
      </p:sp>
      <p:sp>
        <p:nvSpPr>
          <p:cNvPr id="4" name="Date Placeholder 3">
            <a:extLst>
              <a:ext uri="{FF2B5EF4-FFF2-40B4-BE49-F238E27FC236}">
                <a16:creationId xmlns:a16="http://schemas.microsoft.com/office/drawing/2014/main" id="{D68D2B63-FA98-E04A-A64B-5F7F5EEF3F6C}"/>
              </a:ext>
            </a:extLst>
          </p:cNvPr>
          <p:cNvSpPr>
            <a:spLocks noGrp="1"/>
          </p:cNvSpPr>
          <p:nvPr>
            <p:ph type="dt" sz="half" idx="10"/>
          </p:nvPr>
        </p:nvSpPr>
        <p:spPr/>
        <p:txBody>
          <a:bodyPr/>
          <a:lstStyle/>
          <a:p>
            <a:fld id="{EECEDB29-ABAE-334E-8947-369B443738C1}" type="datetime1">
              <a:rPr lang="en-US" smtClean="0"/>
              <a:t>11/3/24</a:t>
            </a:fld>
            <a:endParaRPr lang="en-US"/>
          </a:p>
        </p:txBody>
      </p:sp>
      <p:sp>
        <p:nvSpPr>
          <p:cNvPr id="5" name="Footer Placeholder 4">
            <a:extLst>
              <a:ext uri="{FF2B5EF4-FFF2-40B4-BE49-F238E27FC236}">
                <a16:creationId xmlns:a16="http://schemas.microsoft.com/office/drawing/2014/main" id="{94D13477-24D7-C944-B160-9E9F09CCE3F8}"/>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3B2A874C-9EEE-E243-9FBA-085B9E5716B1}"/>
              </a:ext>
            </a:extLst>
          </p:cNvPr>
          <p:cNvSpPr>
            <a:spLocks noGrp="1"/>
          </p:cNvSpPr>
          <p:nvPr>
            <p:ph type="sldNum" sz="quarter" idx="12"/>
          </p:nvPr>
        </p:nvSpPr>
        <p:spPr/>
        <p:txBody>
          <a:bodyPr/>
          <a:lstStyle/>
          <a:p>
            <a:fld id="{19B12225-5612-419B-A8D5-4B8EEE4C217E}" type="slidenum">
              <a:rPr lang="en-US" smtClean="0"/>
              <a:pPr/>
              <a:t>46</a:t>
            </a:fld>
            <a:endParaRPr lang="en-US"/>
          </a:p>
        </p:txBody>
      </p:sp>
      <p:pic>
        <p:nvPicPr>
          <p:cNvPr id="7" name="Picture 6">
            <a:extLst>
              <a:ext uri="{FF2B5EF4-FFF2-40B4-BE49-F238E27FC236}">
                <a16:creationId xmlns:a16="http://schemas.microsoft.com/office/drawing/2014/main" id="{D80765AB-D950-E944-A329-A080AA4EC422}"/>
              </a:ext>
            </a:extLst>
          </p:cNvPr>
          <p:cNvPicPr>
            <a:picLocks noChangeAspect="1"/>
          </p:cNvPicPr>
          <p:nvPr/>
        </p:nvPicPr>
        <p:blipFill>
          <a:blip r:embed="rId3"/>
          <a:stretch>
            <a:fillRect/>
          </a:stretch>
        </p:blipFill>
        <p:spPr>
          <a:xfrm>
            <a:off x="1138364" y="3374320"/>
            <a:ext cx="7396036" cy="32550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777340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DBCAC-BD04-3A49-8905-A3D3F487B905}"/>
              </a:ext>
            </a:extLst>
          </p:cNvPr>
          <p:cNvSpPr>
            <a:spLocks noGrp="1"/>
          </p:cNvSpPr>
          <p:nvPr>
            <p:ph type="title"/>
          </p:nvPr>
        </p:nvSpPr>
        <p:spPr/>
        <p:txBody>
          <a:bodyPr/>
          <a:lstStyle/>
          <a:p>
            <a:r>
              <a:rPr lang="en-US" dirty="0"/>
              <a:t>Word2Vec: Training the network</a:t>
            </a:r>
          </a:p>
        </p:txBody>
      </p:sp>
      <p:sp>
        <p:nvSpPr>
          <p:cNvPr id="3" name="Content Placeholder 2">
            <a:extLst>
              <a:ext uri="{FF2B5EF4-FFF2-40B4-BE49-F238E27FC236}">
                <a16:creationId xmlns:a16="http://schemas.microsoft.com/office/drawing/2014/main" id="{82793F0A-1220-0245-A8DB-434A6ACC4751}"/>
              </a:ext>
            </a:extLst>
          </p:cNvPr>
          <p:cNvSpPr>
            <a:spLocks noGrp="1"/>
          </p:cNvSpPr>
          <p:nvPr>
            <p:ph idx="1"/>
          </p:nvPr>
        </p:nvSpPr>
        <p:spPr>
          <a:xfrm>
            <a:off x="457200" y="1295400"/>
            <a:ext cx="8481060" cy="5257801"/>
          </a:xfrm>
        </p:spPr>
        <p:txBody>
          <a:bodyPr>
            <a:normAutofit/>
          </a:bodyPr>
          <a:lstStyle/>
          <a:p>
            <a:r>
              <a:rPr lang="en-US" sz="2600" dirty="0"/>
              <a:t>How is the network trained? </a:t>
            </a:r>
          </a:p>
          <a:p>
            <a:pPr lvl="1"/>
            <a:r>
              <a:rPr lang="en-US" sz="2200" dirty="0">
                <a:solidFill>
                  <a:srgbClr val="0000FF"/>
                </a:solidFill>
              </a:rPr>
              <a:t>There are no labels. </a:t>
            </a:r>
            <a:r>
              <a:rPr lang="en-US" sz="2200" dirty="0"/>
              <a:t>It is an unsupervised task (it is a statistical method based on co-occurrence of words in one window).</a:t>
            </a:r>
          </a:p>
          <a:p>
            <a:pPr lvl="1"/>
            <a:r>
              <a:rPr lang="en-US" sz="2200" dirty="0"/>
              <a:t> We therefore create a fake task!</a:t>
            </a:r>
          </a:p>
          <a:p>
            <a:endParaRPr lang="en-US" sz="2600" dirty="0">
              <a:solidFill>
                <a:srgbClr val="0000FF"/>
              </a:solidFill>
            </a:endParaRPr>
          </a:p>
          <a:p>
            <a:r>
              <a:rPr lang="en-US" sz="2600" dirty="0"/>
              <a:t>Fake task </a:t>
            </a:r>
            <a:r>
              <a:rPr lang="en-US" sz="2600" dirty="0">
                <a:solidFill>
                  <a:srgbClr val="0000FF"/>
                </a:solidFill>
              </a:rPr>
              <a:t>= given a target word, predict its context words</a:t>
            </a:r>
          </a:p>
          <a:p>
            <a:endParaRPr lang="en-US" sz="2600" dirty="0">
              <a:solidFill>
                <a:srgbClr val="0000FF"/>
              </a:solidFill>
            </a:endParaRPr>
          </a:p>
          <a:p>
            <a:r>
              <a:rPr lang="en-US" sz="2600" dirty="0"/>
              <a:t>Decisions to make:</a:t>
            </a:r>
          </a:p>
          <a:p>
            <a:pPr lvl="1"/>
            <a:r>
              <a:rPr lang="en-US" sz="2200" dirty="0">
                <a:solidFill>
                  <a:srgbClr val="0000FF"/>
                </a:solidFill>
              </a:rPr>
              <a:t>How to make training data?</a:t>
            </a:r>
          </a:p>
          <a:p>
            <a:pPr lvl="1"/>
            <a:r>
              <a:rPr lang="en-US" sz="2200" dirty="0">
                <a:solidFill>
                  <a:srgbClr val="0000FF"/>
                </a:solidFill>
              </a:rPr>
              <a:t>What is the loss function?</a:t>
            </a:r>
          </a:p>
        </p:txBody>
      </p:sp>
      <p:sp>
        <p:nvSpPr>
          <p:cNvPr id="4" name="Date Placeholder 3">
            <a:extLst>
              <a:ext uri="{FF2B5EF4-FFF2-40B4-BE49-F238E27FC236}">
                <a16:creationId xmlns:a16="http://schemas.microsoft.com/office/drawing/2014/main" id="{D68D2B63-FA98-E04A-A64B-5F7F5EEF3F6C}"/>
              </a:ext>
            </a:extLst>
          </p:cNvPr>
          <p:cNvSpPr>
            <a:spLocks noGrp="1"/>
          </p:cNvSpPr>
          <p:nvPr>
            <p:ph type="dt" sz="half" idx="10"/>
          </p:nvPr>
        </p:nvSpPr>
        <p:spPr/>
        <p:txBody>
          <a:bodyPr/>
          <a:lstStyle/>
          <a:p>
            <a:fld id="{61E81EEA-345B-3444-BA7C-0FC0FE9F80D1}" type="datetime1">
              <a:rPr lang="en-US" smtClean="0"/>
              <a:t>11/3/24</a:t>
            </a:fld>
            <a:endParaRPr lang="en-US"/>
          </a:p>
        </p:txBody>
      </p:sp>
      <p:sp>
        <p:nvSpPr>
          <p:cNvPr id="5" name="Footer Placeholder 4">
            <a:extLst>
              <a:ext uri="{FF2B5EF4-FFF2-40B4-BE49-F238E27FC236}">
                <a16:creationId xmlns:a16="http://schemas.microsoft.com/office/drawing/2014/main" id="{94D13477-24D7-C944-B160-9E9F09CCE3F8}"/>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3B2A874C-9EEE-E243-9FBA-085B9E5716B1}"/>
              </a:ext>
            </a:extLst>
          </p:cNvPr>
          <p:cNvSpPr>
            <a:spLocks noGrp="1"/>
          </p:cNvSpPr>
          <p:nvPr>
            <p:ph type="sldNum" sz="quarter" idx="12"/>
          </p:nvPr>
        </p:nvSpPr>
        <p:spPr/>
        <p:txBody>
          <a:bodyPr/>
          <a:lstStyle/>
          <a:p>
            <a:fld id="{19B12225-5612-419B-A8D5-4B8EEE4C217E}" type="slidenum">
              <a:rPr lang="en-US" smtClean="0"/>
              <a:pPr/>
              <a:t>47</a:t>
            </a:fld>
            <a:endParaRPr lang="en-US"/>
          </a:p>
        </p:txBody>
      </p:sp>
      <p:pic>
        <p:nvPicPr>
          <p:cNvPr id="7" name="Picture 6">
            <a:extLst>
              <a:ext uri="{FF2B5EF4-FFF2-40B4-BE49-F238E27FC236}">
                <a16:creationId xmlns:a16="http://schemas.microsoft.com/office/drawing/2014/main" id="{D80765AB-D950-E944-A329-A080AA4EC422}"/>
              </a:ext>
            </a:extLst>
          </p:cNvPr>
          <p:cNvPicPr>
            <a:picLocks noChangeAspect="1"/>
          </p:cNvPicPr>
          <p:nvPr/>
        </p:nvPicPr>
        <p:blipFill>
          <a:blip r:embed="rId2"/>
          <a:stretch>
            <a:fillRect/>
          </a:stretch>
        </p:blipFill>
        <p:spPr>
          <a:xfrm>
            <a:off x="4752471" y="4038600"/>
            <a:ext cx="4155312" cy="1828800"/>
          </a:xfrm>
          <a:prstGeom prst="rect">
            <a:avLst/>
          </a:prstGeom>
        </p:spPr>
      </p:pic>
    </p:spTree>
    <p:extLst>
      <p:ext uri="{BB962C8B-B14F-4D97-AF65-F5344CB8AC3E}">
        <p14:creationId xmlns:p14="http://schemas.microsoft.com/office/powerpoint/2010/main" val="39068917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44DCB-2610-E8C5-B49E-8D0A76D9C58F}"/>
              </a:ext>
            </a:extLst>
          </p:cNvPr>
          <p:cNvSpPr>
            <a:spLocks noGrp="1"/>
          </p:cNvSpPr>
          <p:nvPr>
            <p:ph type="title"/>
          </p:nvPr>
        </p:nvSpPr>
        <p:spPr/>
        <p:txBody>
          <a:bodyPr/>
          <a:lstStyle/>
          <a:p>
            <a:r>
              <a:rPr lang="en-US" dirty="0"/>
              <a:t>Word2Vec: Training data</a:t>
            </a:r>
          </a:p>
        </p:txBody>
      </p:sp>
      <p:sp>
        <p:nvSpPr>
          <p:cNvPr id="3" name="Content Placeholder 2">
            <a:extLst>
              <a:ext uri="{FF2B5EF4-FFF2-40B4-BE49-F238E27FC236}">
                <a16:creationId xmlns:a16="http://schemas.microsoft.com/office/drawing/2014/main" id="{04487688-19B7-C133-7894-61BC5075FB0C}"/>
              </a:ext>
            </a:extLst>
          </p:cNvPr>
          <p:cNvSpPr>
            <a:spLocks noGrp="1"/>
          </p:cNvSpPr>
          <p:nvPr>
            <p:ph idx="1"/>
          </p:nvPr>
        </p:nvSpPr>
        <p:spPr>
          <a:xfrm>
            <a:off x="457200" y="1295400"/>
            <a:ext cx="8382000" cy="5257801"/>
          </a:xfrm>
        </p:spPr>
        <p:txBody>
          <a:bodyPr/>
          <a:lstStyle/>
          <a:p>
            <a:r>
              <a:rPr lang="en-US" sz="3200" dirty="0"/>
              <a:t>Take all your corpus of data = {d</a:t>
            </a:r>
            <a:r>
              <a:rPr lang="en-US" sz="3200" baseline="-25000" dirty="0"/>
              <a:t>1</a:t>
            </a:r>
            <a:r>
              <a:rPr lang="en-US" sz="3200" dirty="0"/>
              <a:t>, d</a:t>
            </a:r>
            <a:r>
              <a:rPr lang="en-US" sz="3200" baseline="-25000" dirty="0"/>
              <a:t>2</a:t>
            </a:r>
            <a:r>
              <a:rPr lang="en-US" sz="3200" dirty="0"/>
              <a:t>, ....}</a:t>
            </a:r>
          </a:p>
          <a:p>
            <a:pPr lvl="1"/>
            <a:r>
              <a:rPr lang="en-US" dirty="0"/>
              <a:t>Millions of documents, wiki pages, blot posts, etc.</a:t>
            </a:r>
          </a:p>
          <a:p>
            <a:endParaRPr lang="en-US" dirty="0"/>
          </a:p>
          <a:p>
            <a:r>
              <a:rPr lang="en-US" dirty="0"/>
              <a:t>Tokenize all documents and build vocabulary</a:t>
            </a:r>
          </a:p>
          <a:p>
            <a:pPr lvl="1"/>
            <a:r>
              <a:rPr lang="en-US" dirty="0"/>
              <a:t>Many methods: </a:t>
            </a:r>
            <a:r>
              <a:rPr lang="en-US" dirty="0" err="1"/>
              <a:t>wordpeice</a:t>
            </a:r>
            <a:r>
              <a:rPr lang="en-US" dirty="0"/>
              <a:t>, </a:t>
            </a:r>
            <a:r>
              <a:rPr lang="en-US" dirty="0" err="1"/>
              <a:t>BytePairEncoding</a:t>
            </a:r>
            <a:r>
              <a:rPr lang="en-US" dirty="0"/>
              <a:t> (BPE)</a:t>
            </a:r>
          </a:p>
          <a:p>
            <a:pPr lvl="1"/>
            <a:r>
              <a:rPr lang="en-US" dirty="0"/>
              <a:t>Simplest method: k-gram</a:t>
            </a:r>
          </a:p>
          <a:p>
            <a:endParaRPr lang="en-US" dirty="0"/>
          </a:p>
          <a:p>
            <a:r>
              <a:rPr lang="en-US" dirty="0"/>
              <a:t>If you take </a:t>
            </a:r>
            <a:r>
              <a:rPr lang="en-US" i="1" dirty="0"/>
              <a:t>k=1</a:t>
            </a:r>
            <a:r>
              <a:rPr lang="en-US" dirty="0"/>
              <a:t> and do tokenization by words then 1-gram is equivalent to split sentences by words</a:t>
            </a:r>
          </a:p>
          <a:p>
            <a:endParaRPr lang="en-US" dirty="0"/>
          </a:p>
        </p:txBody>
      </p:sp>
      <p:sp>
        <p:nvSpPr>
          <p:cNvPr id="4" name="Date Placeholder 3">
            <a:extLst>
              <a:ext uri="{FF2B5EF4-FFF2-40B4-BE49-F238E27FC236}">
                <a16:creationId xmlns:a16="http://schemas.microsoft.com/office/drawing/2014/main" id="{5C869A8B-DACE-005E-A503-C865F68CFCF5}"/>
              </a:ext>
            </a:extLst>
          </p:cNvPr>
          <p:cNvSpPr>
            <a:spLocks noGrp="1"/>
          </p:cNvSpPr>
          <p:nvPr>
            <p:ph type="dt" sz="half" idx="10"/>
          </p:nvPr>
        </p:nvSpPr>
        <p:spPr/>
        <p:txBody>
          <a:bodyPr/>
          <a:lstStyle/>
          <a:p>
            <a:fld id="{DDD5ACAC-7C8C-F44E-B89E-D442D730AAE5}" type="datetime1">
              <a:rPr lang="en-US" smtClean="0"/>
              <a:t>11/3/24</a:t>
            </a:fld>
            <a:endParaRPr lang="en-US"/>
          </a:p>
        </p:txBody>
      </p:sp>
      <p:sp>
        <p:nvSpPr>
          <p:cNvPr id="5" name="Footer Placeholder 4">
            <a:extLst>
              <a:ext uri="{FF2B5EF4-FFF2-40B4-BE49-F238E27FC236}">
                <a16:creationId xmlns:a16="http://schemas.microsoft.com/office/drawing/2014/main" id="{C143ECE5-F58E-564F-8A3B-5A13C11F0A6B}"/>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E79BD3AF-0638-8163-4BB7-C2C0C08E3178}"/>
              </a:ext>
            </a:extLst>
          </p:cNvPr>
          <p:cNvSpPr>
            <a:spLocks noGrp="1"/>
          </p:cNvSpPr>
          <p:nvPr>
            <p:ph type="sldNum" sz="quarter" idx="12"/>
          </p:nvPr>
        </p:nvSpPr>
        <p:spPr/>
        <p:txBody>
          <a:bodyPr/>
          <a:lstStyle/>
          <a:p>
            <a:fld id="{19B12225-5612-419B-A8D5-4B8EEE4C217E}" type="slidenum">
              <a:rPr lang="en-US" smtClean="0"/>
              <a:pPr/>
              <a:t>48</a:t>
            </a:fld>
            <a:endParaRPr lang="en-US"/>
          </a:p>
        </p:txBody>
      </p:sp>
    </p:spTree>
    <p:extLst>
      <p:ext uri="{BB962C8B-B14F-4D97-AF65-F5344CB8AC3E}">
        <p14:creationId xmlns:p14="http://schemas.microsoft.com/office/powerpoint/2010/main" val="3091631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A03F5-F067-FD42-B98A-6A8127EE69A1}"/>
              </a:ext>
            </a:extLst>
          </p:cNvPr>
          <p:cNvSpPr>
            <a:spLocks noGrp="1"/>
          </p:cNvSpPr>
          <p:nvPr>
            <p:ph type="title"/>
          </p:nvPr>
        </p:nvSpPr>
        <p:spPr/>
        <p:txBody>
          <a:bodyPr/>
          <a:lstStyle/>
          <a:p>
            <a:r>
              <a:rPr lang="en-US" dirty="0"/>
              <a:t>Word2Vec: Training data</a:t>
            </a:r>
          </a:p>
        </p:txBody>
      </p:sp>
      <p:sp>
        <p:nvSpPr>
          <p:cNvPr id="3" name="Content Placeholder 2">
            <a:extLst>
              <a:ext uri="{FF2B5EF4-FFF2-40B4-BE49-F238E27FC236}">
                <a16:creationId xmlns:a16="http://schemas.microsoft.com/office/drawing/2014/main" id="{D3BFF12B-A505-F14E-8BBB-4240FE13FE04}"/>
              </a:ext>
            </a:extLst>
          </p:cNvPr>
          <p:cNvSpPr>
            <a:spLocks noGrp="1"/>
          </p:cNvSpPr>
          <p:nvPr>
            <p:ph idx="1"/>
          </p:nvPr>
        </p:nvSpPr>
        <p:spPr>
          <a:xfrm>
            <a:off x="152400" y="1295400"/>
            <a:ext cx="8915400" cy="5257801"/>
          </a:xfrm>
        </p:spPr>
        <p:txBody>
          <a:bodyPr/>
          <a:lstStyle/>
          <a:p>
            <a:r>
              <a:rPr lang="en-US" sz="2200" dirty="0"/>
              <a:t>Move sliding window over tokenized documents and collect training data</a:t>
            </a:r>
          </a:p>
          <a:p>
            <a:r>
              <a:rPr lang="en-US" sz="2200" dirty="0"/>
              <a:t>Ex: </a:t>
            </a:r>
            <a:r>
              <a:rPr lang="en-US" sz="2200" dirty="0">
                <a:solidFill>
                  <a:srgbClr val="D60093"/>
                </a:solidFill>
              </a:rPr>
              <a:t>Document = {I read sci-fi books and drink orange juice}</a:t>
            </a:r>
          </a:p>
          <a:p>
            <a:endParaRPr lang="en-US" dirty="0"/>
          </a:p>
        </p:txBody>
      </p:sp>
      <p:sp>
        <p:nvSpPr>
          <p:cNvPr id="4" name="Date Placeholder 3">
            <a:extLst>
              <a:ext uri="{FF2B5EF4-FFF2-40B4-BE49-F238E27FC236}">
                <a16:creationId xmlns:a16="http://schemas.microsoft.com/office/drawing/2014/main" id="{67F5AFA7-C17F-8F43-972B-01DD7E8EB575}"/>
              </a:ext>
            </a:extLst>
          </p:cNvPr>
          <p:cNvSpPr>
            <a:spLocks noGrp="1"/>
          </p:cNvSpPr>
          <p:nvPr>
            <p:ph type="dt" sz="half" idx="10"/>
          </p:nvPr>
        </p:nvSpPr>
        <p:spPr/>
        <p:txBody>
          <a:bodyPr/>
          <a:lstStyle/>
          <a:p>
            <a:fld id="{8154AFF6-7139-0C40-99FF-D8B19F1D23DE}" type="datetime1">
              <a:rPr lang="en-US" smtClean="0"/>
              <a:t>11/3/24</a:t>
            </a:fld>
            <a:endParaRPr lang="en-US"/>
          </a:p>
        </p:txBody>
      </p:sp>
      <p:sp>
        <p:nvSpPr>
          <p:cNvPr id="5" name="Footer Placeholder 4">
            <a:extLst>
              <a:ext uri="{FF2B5EF4-FFF2-40B4-BE49-F238E27FC236}">
                <a16:creationId xmlns:a16="http://schemas.microsoft.com/office/drawing/2014/main" id="{38BF1328-DB81-354D-A116-2708F33F1120}"/>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0F75DE3C-1CD5-6040-86AB-6333E0C944F9}"/>
              </a:ext>
            </a:extLst>
          </p:cNvPr>
          <p:cNvSpPr>
            <a:spLocks noGrp="1"/>
          </p:cNvSpPr>
          <p:nvPr>
            <p:ph type="sldNum" sz="quarter" idx="12"/>
          </p:nvPr>
        </p:nvSpPr>
        <p:spPr/>
        <p:txBody>
          <a:bodyPr/>
          <a:lstStyle/>
          <a:p>
            <a:fld id="{19B12225-5612-419B-A8D5-4B8EEE4C217E}" type="slidenum">
              <a:rPr lang="en-US" smtClean="0"/>
              <a:pPr/>
              <a:t>49</a:t>
            </a:fld>
            <a:endParaRPr lang="en-US"/>
          </a:p>
        </p:txBody>
      </p:sp>
      <p:cxnSp>
        <p:nvCxnSpPr>
          <p:cNvPr id="9" name="Straight Arrow Connector 8">
            <a:extLst>
              <a:ext uri="{FF2B5EF4-FFF2-40B4-BE49-F238E27FC236}">
                <a16:creationId xmlns:a16="http://schemas.microsoft.com/office/drawing/2014/main" id="{47617CA4-3605-DD49-84EF-292D56CFF2BC}"/>
              </a:ext>
            </a:extLst>
          </p:cNvPr>
          <p:cNvCxnSpPr/>
          <p:nvPr/>
        </p:nvCxnSpPr>
        <p:spPr>
          <a:xfrm>
            <a:off x="5576468" y="2971800"/>
            <a:ext cx="21473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1A264016-BF5D-B047-A293-E8C6124500B8}"/>
              </a:ext>
            </a:extLst>
          </p:cNvPr>
          <p:cNvSpPr txBox="1"/>
          <p:nvPr/>
        </p:nvSpPr>
        <p:spPr>
          <a:xfrm>
            <a:off x="5867400" y="2743200"/>
            <a:ext cx="3070860" cy="307777"/>
          </a:xfrm>
          <a:prstGeom prst="rect">
            <a:avLst/>
          </a:prstGeom>
          <a:noFill/>
        </p:spPr>
        <p:txBody>
          <a:bodyPr wrap="square" rtlCol="0">
            <a:spAutoFit/>
          </a:bodyPr>
          <a:lstStyle/>
          <a:p>
            <a:r>
              <a:rPr lang="en-US" sz="1400" dirty="0">
                <a:latin typeface="Arial" pitchFamily="34" charset="0"/>
                <a:cs typeface="Arial" pitchFamily="34" charset="0"/>
              </a:rPr>
              <a:t>(I, read) (I, sci-fi)</a:t>
            </a:r>
          </a:p>
        </p:txBody>
      </p:sp>
      <p:sp>
        <p:nvSpPr>
          <p:cNvPr id="11" name="TextBox 10">
            <a:extLst>
              <a:ext uri="{FF2B5EF4-FFF2-40B4-BE49-F238E27FC236}">
                <a16:creationId xmlns:a16="http://schemas.microsoft.com/office/drawing/2014/main" id="{E4FD7EE8-5EF5-9A4F-AD33-86365C30D0DD}"/>
              </a:ext>
            </a:extLst>
          </p:cNvPr>
          <p:cNvSpPr txBox="1"/>
          <p:nvPr/>
        </p:nvSpPr>
        <p:spPr>
          <a:xfrm>
            <a:off x="5883234" y="3192657"/>
            <a:ext cx="3491332" cy="307777"/>
          </a:xfrm>
          <a:prstGeom prst="rect">
            <a:avLst/>
          </a:prstGeom>
          <a:noFill/>
        </p:spPr>
        <p:txBody>
          <a:bodyPr wrap="square" rtlCol="0">
            <a:spAutoFit/>
          </a:bodyPr>
          <a:lstStyle/>
          <a:p>
            <a:r>
              <a:rPr lang="en-US" sz="1400" dirty="0">
                <a:latin typeface="Arial" pitchFamily="34" charset="0"/>
                <a:cs typeface="Arial" pitchFamily="34" charset="0"/>
              </a:rPr>
              <a:t>(read, I) (read, sci-fi) (read, books)</a:t>
            </a:r>
          </a:p>
        </p:txBody>
      </p:sp>
      <p:sp>
        <p:nvSpPr>
          <p:cNvPr id="12" name="TextBox 11">
            <a:extLst>
              <a:ext uri="{FF2B5EF4-FFF2-40B4-BE49-F238E27FC236}">
                <a16:creationId xmlns:a16="http://schemas.microsoft.com/office/drawing/2014/main" id="{95C2C05E-3AB8-474D-A942-21B6B1726DC8}"/>
              </a:ext>
            </a:extLst>
          </p:cNvPr>
          <p:cNvSpPr txBox="1"/>
          <p:nvPr/>
        </p:nvSpPr>
        <p:spPr>
          <a:xfrm>
            <a:off x="5878787" y="3594209"/>
            <a:ext cx="3643732" cy="307777"/>
          </a:xfrm>
          <a:prstGeom prst="rect">
            <a:avLst/>
          </a:prstGeom>
          <a:noFill/>
        </p:spPr>
        <p:txBody>
          <a:bodyPr wrap="square" rtlCol="0">
            <a:spAutoFit/>
          </a:bodyPr>
          <a:lstStyle/>
          <a:p>
            <a:r>
              <a:rPr lang="en-US" sz="1400" dirty="0">
                <a:latin typeface="Arial" pitchFamily="34" charset="0"/>
                <a:cs typeface="Arial" pitchFamily="34" charset="0"/>
              </a:rPr>
              <a:t>(sci-fi, I) (sci-fi, read) (sci-fi, books)...</a:t>
            </a:r>
          </a:p>
        </p:txBody>
      </p:sp>
      <p:sp>
        <p:nvSpPr>
          <p:cNvPr id="13" name="TextBox 12">
            <a:extLst>
              <a:ext uri="{FF2B5EF4-FFF2-40B4-BE49-F238E27FC236}">
                <a16:creationId xmlns:a16="http://schemas.microsoft.com/office/drawing/2014/main" id="{25899BBA-48E1-BC4D-9D23-8E6C4383E7B0}"/>
              </a:ext>
            </a:extLst>
          </p:cNvPr>
          <p:cNvSpPr txBox="1"/>
          <p:nvPr/>
        </p:nvSpPr>
        <p:spPr>
          <a:xfrm>
            <a:off x="5878787" y="4006663"/>
            <a:ext cx="3796132" cy="307777"/>
          </a:xfrm>
          <a:prstGeom prst="rect">
            <a:avLst/>
          </a:prstGeom>
          <a:noFill/>
        </p:spPr>
        <p:txBody>
          <a:bodyPr wrap="square" rtlCol="0">
            <a:spAutoFit/>
          </a:bodyPr>
          <a:lstStyle/>
          <a:p>
            <a:r>
              <a:rPr lang="en-US" sz="1400" dirty="0">
                <a:latin typeface="Arial" pitchFamily="34" charset="0"/>
                <a:cs typeface="Arial" pitchFamily="34" charset="0"/>
              </a:rPr>
              <a:t>(books, read) (books, sci-fi) ...</a:t>
            </a:r>
          </a:p>
        </p:txBody>
      </p:sp>
      <p:sp>
        <p:nvSpPr>
          <p:cNvPr id="14" name="TextBox 13">
            <a:extLst>
              <a:ext uri="{FF2B5EF4-FFF2-40B4-BE49-F238E27FC236}">
                <a16:creationId xmlns:a16="http://schemas.microsoft.com/office/drawing/2014/main" id="{002B1BAC-7C49-0648-B47B-76A21EC12D61}"/>
              </a:ext>
            </a:extLst>
          </p:cNvPr>
          <p:cNvSpPr txBox="1"/>
          <p:nvPr/>
        </p:nvSpPr>
        <p:spPr>
          <a:xfrm>
            <a:off x="5867400" y="4437345"/>
            <a:ext cx="3796132" cy="307777"/>
          </a:xfrm>
          <a:prstGeom prst="rect">
            <a:avLst/>
          </a:prstGeom>
          <a:noFill/>
        </p:spPr>
        <p:txBody>
          <a:bodyPr wrap="square" rtlCol="0">
            <a:spAutoFit/>
          </a:bodyPr>
          <a:lstStyle/>
          <a:p>
            <a:r>
              <a:rPr lang="en-US" sz="1400" dirty="0">
                <a:latin typeface="Arial" pitchFamily="34" charset="0"/>
                <a:cs typeface="Arial" pitchFamily="34" charset="0"/>
              </a:rPr>
              <a:t>(and, sci-fi) (and, books) (and, drink)</a:t>
            </a:r>
          </a:p>
        </p:txBody>
      </p:sp>
      <p:sp>
        <p:nvSpPr>
          <p:cNvPr id="15" name="TextBox 14">
            <a:extLst>
              <a:ext uri="{FF2B5EF4-FFF2-40B4-BE49-F238E27FC236}">
                <a16:creationId xmlns:a16="http://schemas.microsoft.com/office/drawing/2014/main" id="{9819D172-F474-3540-B31C-D4E8E9EA51F6}"/>
              </a:ext>
            </a:extLst>
          </p:cNvPr>
          <p:cNvSpPr txBox="1"/>
          <p:nvPr/>
        </p:nvSpPr>
        <p:spPr>
          <a:xfrm>
            <a:off x="5878787" y="4886802"/>
            <a:ext cx="3796132" cy="307777"/>
          </a:xfrm>
          <a:prstGeom prst="rect">
            <a:avLst/>
          </a:prstGeom>
          <a:noFill/>
        </p:spPr>
        <p:txBody>
          <a:bodyPr wrap="square" rtlCol="0">
            <a:spAutoFit/>
          </a:bodyPr>
          <a:lstStyle/>
          <a:p>
            <a:r>
              <a:rPr lang="en-US" sz="1400" dirty="0">
                <a:latin typeface="Arial" pitchFamily="34" charset="0"/>
                <a:cs typeface="Arial" pitchFamily="34" charset="0"/>
              </a:rPr>
              <a:t>(drink, books) (drink, and) ....</a:t>
            </a:r>
          </a:p>
        </p:txBody>
      </p:sp>
      <p:sp>
        <p:nvSpPr>
          <p:cNvPr id="16" name="TextBox 15">
            <a:extLst>
              <a:ext uri="{FF2B5EF4-FFF2-40B4-BE49-F238E27FC236}">
                <a16:creationId xmlns:a16="http://schemas.microsoft.com/office/drawing/2014/main" id="{C95F9832-FECC-FA43-92C3-2FD1F078F70E}"/>
              </a:ext>
            </a:extLst>
          </p:cNvPr>
          <p:cNvSpPr txBox="1"/>
          <p:nvPr/>
        </p:nvSpPr>
        <p:spPr>
          <a:xfrm>
            <a:off x="5859595" y="5303165"/>
            <a:ext cx="3796132" cy="307777"/>
          </a:xfrm>
          <a:prstGeom prst="rect">
            <a:avLst/>
          </a:prstGeom>
          <a:noFill/>
        </p:spPr>
        <p:txBody>
          <a:bodyPr wrap="square" rtlCol="0">
            <a:spAutoFit/>
          </a:bodyPr>
          <a:lstStyle/>
          <a:p>
            <a:r>
              <a:rPr lang="en-US" sz="1400" dirty="0">
                <a:latin typeface="Arial" pitchFamily="34" charset="0"/>
                <a:cs typeface="Arial" pitchFamily="34" charset="0"/>
              </a:rPr>
              <a:t>(orange, drink) (orange, juice) </a:t>
            </a:r>
          </a:p>
        </p:txBody>
      </p:sp>
      <p:sp>
        <p:nvSpPr>
          <p:cNvPr id="17" name="TextBox 16">
            <a:extLst>
              <a:ext uri="{FF2B5EF4-FFF2-40B4-BE49-F238E27FC236}">
                <a16:creationId xmlns:a16="http://schemas.microsoft.com/office/drawing/2014/main" id="{26F685EB-090A-4343-BA76-5CEA3A8A7C39}"/>
              </a:ext>
            </a:extLst>
          </p:cNvPr>
          <p:cNvSpPr txBox="1"/>
          <p:nvPr/>
        </p:nvSpPr>
        <p:spPr>
          <a:xfrm>
            <a:off x="5878787" y="5752622"/>
            <a:ext cx="3796132" cy="307777"/>
          </a:xfrm>
          <a:prstGeom prst="rect">
            <a:avLst/>
          </a:prstGeom>
          <a:noFill/>
        </p:spPr>
        <p:txBody>
          <a:bodyPr wrap="square" rtlCol="0">
            <a:spAutoFit/>
          </a:bodyPr>
          <a:lstStyle/>
          <a:p>
            <a:r>
              <a:rPr lang="en-US" sz="1400" dirty="0">
                <a:latin typeface="Arial" pitchFamily="34" charset="0"/>
                <a:cs typeface="Arial" pitchFamily="34" charset="0"/>
              </a:rPr>
              <a:t>(juice, drink) (juice, orange) </a:t>
            </a:r>
          </a:p>
        </p:txBody>
      </p:sp>
      <p:cxnSp>
        <p:nvCxnSpPr>
          <p:cNvPr id="18" name="Straight Arrow Connector 17">
            <a:extLst>
              <a:ext uri="{FF2B5EF4-FFF2-40B4-BE49-F238E27FC236}">
                <a16:creationId xmlns:a16="http://schemas.microsoft.com/office/drawing/2014/main" id="{1E0EBDE0-E08C-064E-AA8C-2082DF3F7137}"/>
              </a:ext>
            </a:extLst>
          </p:cNvPr>
          <p:cNvCxnSpPr/>
          <p:nvPr/>
        </p:nvCxnSpPr>
        <p:spPr>
          <a:xfrm>
            <a:off x="5562600" y="3352800"/>
            <a:ext cx="21473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71332D1E-2C1E-E949-83CC-BE6E154E594F}"/>
              </a:ext>
            </a:extLst>
          </p:cNvPr>
          <p:cNvCxnSpPr/>
          <p:nvPr/>
        </p:nvCxnSpPr>
        <p:spPr>
          <a:xfrm>
            <a:off x="5576468" y="3810000"/>
            <a:ext cx="21473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BF5B33EA-85BF-124D-99AB-03174AC71ACB}"/>
              </a:ext>
            </a:extLst>
          </p:cNvPr>
          <p:cNvCxnSpPr/>
          <p:nvPr/>
        </p:nvCxnSpPr>
        <p:spPr>
          <a:xfrm>
            <a:off x="5562600" y="4191000"/>
            <a:ext cx="21473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5B9CBB84-EEBD-F548-9B3F-BA0AFAD4D43E}"/>
              </a:ext>
            </a:extLst>
          </p:cNvPr>
          <p:cNvCxnSpPr/>
          <p:nvPr/>
        </p:nvCxnSpPr>
        <p:spPr>
          <a:xfrm>
            <a:off x="5576468" y="4648200"/>
            <a:ext cx="21473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0581F70C-9B2D-7F45-9D60-4CBA5B6063B6}"/>
              </a:ext>
            </a:extLst>
          </p:cNvPr>
          <p:cNvCxnSpPr/>
          <p:nvPr/>
        </p:nvCxnSpPr>
        <p:spPr>
          <a:xfrm>
            <a:off x="5562600" y="5105400"/>
            <a:ext cx="21473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FC7ACDE9-48C2-BF49-8C1A-88DEAF463099}"/>
              </a:ext>
            </a:extLst>
          </p:cNvPr>
          <p:cNvCxnSpPr/>
          <p:nvPr/>
        </p:nvCxnSpPr>
        <p:spPr>
          <a:xfrm>
            <a:off x="5576468" y="5486400"/>
            <a:ext cx="21473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F279E793-2AC8-F74A-A05A-A5609025DBD6}"/>
              </a:ext>
            </a:extLst>
          </p:cNvPr>
          <p:cNvCxnSpPr/>
          <p:nvPr/>
        </p:nvCxnSpPr>
        <p:spPr>
          <a:xfrm>
            <a:off x="5562600" y="5943600"/>
            <a:ext cx="21473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6CBB9539-1784-574F-8F20-192CE3EA09B0}"/>
              </a:ext>
            </a:extLst>
          </p:cNvPr>
          <p:cNvSpPr txBox="1"/>
          <p:nvPr/>
        </p:nvSpPr>
        <p:spPr>
          <a:xfrm>
            <a:off x="5707195" y="2274986"/>
            <a:ext cx="3284405" cy="369332"/>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b="1" dirty="0">
                <a:latin typeface="Arial" pitchFamily="34" charset="0"/>
                <a:cs typeface="Arial" pitchFamily="34" charset="0"/>
              </a:rPr>
              <a:t>Training data </a:t>
            </a:r>
            <a:r>
              <a:rPr lang="en-US" dirty="0">
                <a:latin typeface="Arial" pitchFamily="34" charset="0"/>
                <a:cs typeface="Arial" pitchFamily="34" charset="0"/>
              </a:rPr>
              <a:t>(target, context)</a:t>
            </a:r>
          </a:p>
        </p:txBody>
      </p:sp>
      <p:sp>
        <p:nvSpPr>
          <p:cNvPr id="27" name="TextBox 26">
            <a:extLst>
              <a:ext uri="{FF2B5EF4-FFF2-40B4-BE49-F238E27FC236}">
                <a16:creationId xmlns:a16="http://schemas.microsoft.com/office/drawing/2014/main" id="{C3872BCE-D88E-3349-BC29-8F9BAA41802C}"/>
              </a:ext>
            </a:extLst>
          </p:cNvPr>
          <p:cNvSpPr txBox="1"/>
          <p:nvPr/>
        </p:nvSpPr>
        <p:spPr>
          <a:xfrm>
            <a:off x="304800" y="2267189"/>
            <a:ext cx="5097595" cy="369332"/>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b="1" dirty="0">
                <a:latin typeface="Arial" pitchFamily="34" charset="0"/>
                <a:cs typeface="Arial" pitchFamily="34" charset="0"/>
              </a:rPr>
              <a:t>Input document </a:t>
            </a:r>
            <a:r>
              <a:rPr lang="en-US" dirty="0">
                <a:latin typeface="Arial" pitchFamily="34" charset="0"/>
                <a:cs typeface="Arial" pitchFamily="34" charset="0"/>
              </a:rPr>
              <a:t>(window size = 2)</a:t>
            </a:r>
          </a:p>
        </p:txBody>
      </p:sp>
      <p:pic>
        <p:nvPicPr>
          <p:cNvPr id="8" name="Picture 7">
            <a:extLst>
              <a:ext uri="{FF2B5EF4-FFF2-40B4-BE49-F238E27FC236}">
                <a16:creationId xmlns:a16="http://schemas.microsoft.com/office/drawing/2014/main" id="{DC656810-18A9-1517-D91E-1BDCE610AD99}"/>
              </a:ext>
            </a:extLst>
          </p:cNvPr>
          <p:cNvPicPr>
            <a:picLocks noChangeAspect="1"/>
          </p:cNvPicPr>
          <p:nvPr/>
        </p:nvPicPr>
        <p:blipFill>
          <a:blip r:embed="rId2"/>
          <a:stretch>
            <a:fillRect/>
          </a:stretch>
        </p:blipFill>
        <p:spPr>
          <a:xfrm>
            <a:off x="212289" y="2766126"/>
            <a:ext cx="5190106" cy="434274"/>
          </a:xfrm>
          <a:prstGeom prst="rect">
            <a:avLst/>
          </a:prstGeom>
        </p:spPr>
      </p:pic>
      <p:pic>
        <p:nvPicPr>
          <p:cNvPr id="25" name="Picture 24">
            <a:extLst>
              <a:ext uri="{FF2B5EF4-FFF2-40B4-BE49-F238E27FC236}">
                <a16:creationId xmlns:a16="http://schemas.microsoft.com/office/drawing/2014/main" id="{206BF4FE-646C-84C7-C9FF-6FF3933067FB}"/>
              </a:ext>
            </a:extLst>
          </p:cNvPr>
          <p:cNvPicPr>
            <a:picLocks noChangeAspect="1"/>
          </p:cNvPicPr>
          <p:nvPr/>
        </p:nvPicPr>
        <p:blipFill>
          <a:blip r:embed="rId3"/>
          <a:stretch>
            <a:fillRect/>
          </a:stretch>
        </p:blipFill>
        <p:spPr>
          <a:xfrm>
            <a:off x="212289" y="3162300"/>
            <a:ext cx="5190106" cy="449452"/>
          </a:xfrm>
          <a:prstGeom prst="rect">
            <a:avLst/>
          </a:prstGeom>
        </p:spPr>
      </p:pic>
      <p:pic>
        <p:nvPicPr>
          <p:cNvPr id="28" name="Picture 27">
            <a:extLst>
              <a:ext uri="{FF2B5EF4-FFF2-40B4-BE49-F238E27FC236}">
                <a16:creationId xmlns:a16="http://schemas.microsoft.com/office/drawing/2014/main" id="{BEE69D05-9257-CBE7-8038-9F9EF21901AF}"/>
              </a:ext>
            </a:extLst>
          </p:cNvPr>
          <p:cNvPicPr>
            <a:picLocks noChangeAspect="1"/>
          </p:cNvPicPr>
          <p:nvPr/>
        </p:nvPicPr>
        <p:blipFill>
          <a:blip r:embed="rId4"/>
          <a:stretch>
            <a:fillRect/>
          </a:stretch>
        </p:blipFill>
        <p:spPr>
          <a:xfrm>
            <a:off x="190500" y="3578702"/>
            <a:ext cx="5233568" cy="406699"/>
          </a:xfrm>
          <a:prstGeom prst="rect">
            <a:avLst/>
          </a:prstGeom>
        </p:spPr>
      </p:pic>
      <p:pic>
        <p:nvPicPr>
          <p:cNvPr id="29" name="Picture 28">
            <a:extLst>
              <a:ext uri="{FF2B5EF4-FFF2-40B4-BE49-F238E27FC236}">
                <a16:creationId xmlns:a16="http://schemas.microsoft.com/office/drawing/2014/main" id="{4356365D-72BA-295E-2A0B-23814420010B}"/>
              </a:ext>
            </a:extLst>
          </p:cNvPr>
          <p:cNvPicPr>
            <a:picLocks noChangeAspect="1"/>
          </p:cNvPicPr>
          <p:nvPr/>
        </p:nvPicPr>
        <p:blipFill>
          <a:blip r:embed="rId5"/>
          <a:stretch>
            <a:fillRect/>
          </a:stretch>
        </p:blipFill>
        <p:spPr>
          <a:xfrm>
            <a:off x="304800" y="4047035"/>
            <a:ext cx="5181600" cy="2179477"/>
          </a:xfrm>
          <a:prstGeom prst="rect">
            <a:avLst/>
          </a:prstGeom>
        </p:spPr>
      </p:pic>
    </p:spTree>
    <p:extLst>
      <p:ext uri="{BB962C8B-B14F-4D97-AF65-F5344CB8AC3E}">
        <p14:creationId xmlns:p14="http://schemas.microsoft.com/office/powerpoint/2010/main" val="4133813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5" grpId="0"/>
      <p:bldP spid="16" grpId="0"/>
      <p:bldP spid="17" grpId="0"/>
      <p:bldP spid="26" grpId="0" animBg="1"/>
      <p:bldP spid="2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D6F13-86A4-CF41-B91F-C6E687B97FD7}"/>
              </a:ext>
            </a:extLst>
          </p:cNvPr>
          <p:cNvSpPr>
            <a:spLocks noGrp="1"/>
          </p:cNvSpPr>
          <p:nvPr>
            <p:ph type="title"/>
          </p:nvPr>
        </p:nvSpPr>
        <p:spPr/>
        <p:txBody>
          <a:bodyPr/>
          <a:lstStyle/>
          <a:p>
            <a:r>
              <a:rPr lang="en-US" dirty="0"/>
              <a:t>Word2Vec: Loss function</a:t>
            </a:r>
          </a:p>
        </p:txBody>
      </p:sp>
      <p:sp>
        <p:nvSpPr>
          <p:cNvPr id="3" name="Content Placeholder 2">
            <a:extLst>
              <a:ext uri="{FF2B5EF4-FFF2-40B4-BE49-F238E27FC236}">
                <a16:creationId xmlns:a16="http://schemas.microsoft.com/office/drawing/2014/main" id="{3D83ABB0-9D2F-9E41-A219-0A8D7A8564AD}"/>
              </a:ext>
            </a:extLst>
          </p:cNvPr>
          <p:cNvSpPr>
            <a:spLocks noGrp="1"/>
          </p:cNvSpPr>
          <p:nvPr>
            <p:ph idx="1"/>
          </p:nvPr>
        </p:nvSpPr>
        <p:spPr/>
        <p:txBody>
          <a:bodyPr>
            <a:normAutofit/>
          </a:bodyPr>
          <a:lstStyle/>
          <a:p>
            <a:r>
              <a:rPr lang="en-US" dirty="0"/>
              <a:t>Given the topology of the network, if </a:t>
            </a:r>
            <a:r>
              <a:rPr lang="en-US" b="1" i="1" dirty="0"/>
              <a:t>x</a:t>
            </a:r>
            <a:r>
              <a:rPr lang="en-US" dirty="0"/>
              <a:t> is the input and </a:t>
            </a:r>
            <a:r>
              <a:rPr lang="en-US" b="1" i="1" dirty="0"/>
              <a:t>y</a:t>
            </a:r>
            <a:r>
              <a:rPr lang="en-US" dirty="0"/>
              <a:t> is the output, then</a:t>
            </a:r>
          </a:p>
          <a:p>
            <a:endParaRPr lang="en-US" dirty="0"/>
          </a:p>
          <a:p>
            <a:endParaRPr lang="en-US" dirty="0"/>
          </a:p>
          <a:p>
            <a:r>
              <a:rPr lang="en-US" dirty="0"/>
              <a:t>We train against target-context pairs (</a:t>
            </a:r>
            <a:r>
              <a:rPr lang="en-US" dirty="0" err="1"/>
              <a:t>w</a:t>
            </a:r>
            <a:r>
              <a:rPr lang="en-US" baseline="-25000" dirty="0" err="1"/>
              <a:t>t</a:t>
            </a:r>
            <a:r>
              <a:rPr lang="en-US" dirty="0"/>
              <a:t>, w</a:t>
            </a:r>
            <a:r>
              <a:rPr lang="en-US" baseline="-25000" dirty="0"/>
              <a:t>c</a:t>
            </a:r>
            <a:r>
              <a:rPr lang="en-US" dirty="0"/>
              <a:t>)</a:t>
            </a:r>
          </a:p>
          <a:p>
            <a:pPr lvl="1"/>
            <a:r>
              <a:rPr lang="en-US" sz="2400" dirty="0"/>
              <a:t>The context word w</a:t>
            </a:r>
            <a:r>
              <a:rPr lang="en-US" sz="2400" baseline="-25000" dirty="0"/>
              <a:t>c</a:t>
            </a:r>
            <a:r>
              <a:rPr lang="en-US" sz="2400" dirty="0"/>
              <a:t> represents the ideal prediction, given the target word  </a:t>
            </a:r>
            <a:r>
              <a:rPr lang="en-US" sz="2400" dirty="0" err="1"/>
              <a:t>w</a:t>
            </a:r>
            <a:r>
              <a:rPr lang="en-US" sz="2400" baseline="-25000" dirty="0" err="1"/>
              <a:t>t</a:t>
            </a:r>
            <a:endParaRPr lang="en-US" dirty="0"/>
          </a:p>
          <a:p>
            <a:pPr lvl="1"/>
            <a:r>
              <a:rPr lang="en-US" sz="2400" dirty="0"/>
              <a:t>W</a:t>
            </a:r>
            <a:r>
              <a:rPr lang="en-US" sz="2400" baseline="-25000" dirty="0"/>
              <a:t>c </a:t>
            </a:r>
            <a:r>
              <a:rPr lang="en-US" sz="2400" dirty="0"/>
              <a:t>is represented as </a:t>
            </a:r>
            <a:r>
              <a:rPr lang="en-US" sz="2400" dirty="0">
                <a:solidFill>
                  <a:srgbClr val="D60093"/>
                </a:solidFill>
              </a:rPr>
              <a:t>one-hot</a:t>
            </a:r>
            <a:r>
              <a:rPr lang="en-US" sz="2400" dirty="0"/>
              <a:t>, i.e. </a:t>
            </a:r>
            <a:r>
              <a:rPr lang="en-US" sz="2400" dirty="0">
                <a:solidFill>
                  <a:srgbClr val="D60093"/>
                </a:solidFill>
              </a:rPr>
              <a:t>it has value 1 at some position j and other positions are 0</a:t>
            </a:r>
          </a:p>
        </p:txBody>
      </p:sp>
      <p:sp>
        <p:nvSpPr>
          <p:cNvPr id="4" name="Date Placeholder 3">
            <a:extLst>
              <a:ext uri="{FF2B5EF4-FFF2-40B4-BE49-F238E27FC236}">
                <a16:creationId xmlns:a16="http://schemas.microsoft.com/office/drawing/2014/main" id="{F5CD97B1-F19B-D94C-AB81-AF79860E158A}"/>
              </a:ext>
            </a:extLst>
          </p:cNvPr>
          <p:cNvSpPr>
            <a:spLocks noGrp="1"/>
          </p:cNvSpPr>
          <p:nvPr>
            <p:ph type="dt" sz="half" idx="10"/>
          </p:nvPr>
        </p:nvSpPr>
        <p:spPr/>
        <p:txBody>
          <a:bodyPr/>
          <a:lstStyle/>
          <a:p>
            <a:fld id="{176B7FB4-71F7-324E-87BE-4E5C80031A25}" type="datetime1">
              <a:rPr lang="en-US" smtClean="0"/>
              <a:t>11/3/24</a:t>
            </a:fld>
            <a:endParaRPr lang="en-US"/>
          </a:p>
        </p:txBody>
      </p:sp>
      <p:sp>
        <p:nvSpPr>
          <p:cNvPr id="5" name="Footer Placeholder 4">
            <a:extLst>
              <a:ext uri="{FF2B5EF4-FFF2-40B4-BE49-F238E27FC236}">
                <a16:creationId xmlns:a16="http://schemas.microsoft.com/office/drawing/2014/main" id="{54268187-FFB2-E34D-89EB-18B44D0F3082}"/>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30513208-013C-0447-A9C4-9A323EB6CEDB}"/>
              </a:ext>
            </a:extLst>
          </p:cNvPr>
          <p:cNvSpPr>
            <a:spLocks noGrp="1"/>
          </p:cNvSpPr>
          <p:nvPr>
            <p:ph type="sldNum" sz="quarter" idx="12"/>
          </p:nvPr>
        </p:nvSpPr>
        <p:spPr/>
        <p:txBody>
          <a:bodyPr/>
          <a:lstStyle/>
          <a:p>
            <a:fld id="{19B12225-5612-419B-A8D5-4B8EEE4C217E}" type="slidenum">
              <a:rPr lang="en-US" smtClean="0"/>
              <a:pPr/>
              <a:t>50</a:t>
            </a:fld>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5AA2842-A904-A543-8CFB-35F1A716ED41}"/>
                  </a:ext>
                </a:extLst>
              </p:cNvPr>
              <p:cNvSpPr txBox="1"/>
              <p:nvPr/>
            </p:nvSpPr>
            <p:spPr>
              <a:xfrm>
                <a:off x="2287047" y="2514600"/>
                <a:ext cx="3230884" cy="369332"/>
              </a:xfrm>
              <a:prstGeom prst="rect">
                <a:avLst/>
              </a:prstGeom>
              <a:noFill/>
            </p:spPr>
            <p:txBody>
              <a:bodyPr wrap="none" lIns="0" tIns="0" rIns="0" bIns="0" rtlCol="0">
                <a:spAutoFit/>
              </a:bodyPr>
              <a:lstStyle/>
              <a:p>
                <a:pPr/>
                <a14:m>
                  <m:oMathPara xmlns:m="http://schemas.openxmlformats.org/officeDocument/2006/math">
                    <m:oMathParaPr>
                      <m:jc m:val="center"/>
                    </m:oMathParaPr>
                    <m:oMath xmlns:m="http://schemas.openxmlformats.org/officeDocument/2006/math">
                      <m:r>
                        <a:rPr lang="en-US" sz="2400" b="0" i="1" smtClean="0">
                          <a:solidFill>
                            <a:srgbClr val="0000FF"/>
                          </a:solidFill>
                          <a:latin typeface="Cambria Math" panose="02040503050406030204" pitchFamily="18" charset="0"/>
                          <a:cs typeface="Arial" pitchFamily="34" charset="0"/>
                        </a:rPr>
                        <m:t>𝑦</m:t>
                      </m:r>
                      <m:r>
                        <a:rPr lang="en-US" sz="2400" b="0" i="1" smtClean="0">
                          <a:solidFill>
                            <a:srgbClr val="0000FF"/>
                          </a:solidFill>
                          <a:latin typeface="Cambria Math" panose="02040503050406030204" pitchFamily="18" charset="0"/>
                          <a:cs typeface="Arial" pitchFamily="34" charset="0"/>
                        </a:rPr>
                        <m:t>=</m:t>
                      </m:r>
                      <m:r>
                        <a:rPr lang="en-US" sz="2400" b="0" i="1" smtClean="0">
                          <a:solidFill>
                            <a:srgbClr val="0000FF"/>
                          </a:solidFill>
                          <a:latin typeface="Cambria Math" panose="02040503050406030204" pitchFamily="18" charset="0"/>
                          <a:cs typeface="Arial" pitchFamily="34" charset="0"/>
                        </a:rPr>
                        <m:t>𝑠𝑜𝑓𝑡𝑚𝑎𝑥</m:t>
                      </m:r>
                      <m:r>
                        <a:rPr lang="en-US" sz="2400" b="0" i="1" smtClean="0">
                          <a:solidFill>
                            <a:srgbClr val="0000FF"/>
                          </a:solidFill>
                          <a:latin typeface="Cambria Math" panose="02040503050406030204" pitchFamily="18" charset="0"/>
                          <a:cs typeface="Arial" pitchFamily="34" charset="0"/>
                        </a:rPr>
                        <m:t>(</m:t>
                      </m:r>
                      <m:sSup>
                        <m:sSupPr>
                          <m:ctrlPr>
                            <a:rPr lang="en-US" sz="2400" b="0" i="1" smtClean="0">
                              <a:solidFill>
                                <a:srgbClr val="0000FF"/>
                              </a:solidFill>
                              <a:latin typeface="Cambria Math" panose="02040503050406030204" pitchFamily="18" charset="0"/>
                              <a:cs typeface="Arial" pitchFamily="34" charset="0"/>
                            </a:rPr>
                          </m:ctrlPr>
                        </m:sSupPr>
                        <m:e>
                          <m:r>
                            <a:rPr lang="en-US" sz="2400" b="0" i="1" smtClean="0">
                              <a:solidFill>
                                <a:srgbClr val="0000FF"/>
                              </a:solidFill>
                              <a:latin typeface="Cambria Math" panose="02040503050406030204" pitchFamily="18" charset="0"/>
                              <a:cs typeface="Arial" pitchFamily="34" charset="0"/>
                            </a:rPr>
                            <m:t>𝑊</m:t>
                          </m:r>
                        </m:e>
                        <m:sup>
                          <m:r>
                            <a:rPr lang="en-US" sz="2400" b="0" i="1" smtClean="0">
                              <a:solidFill>
                                <a:srgbClr val="0000FF"/>
                              </a:solidFill>
                              <a:latin typeface="Cambria Math" panose="02040503050406030204" pitchFamily="18" charset="0"/>
                              <a:cs typeface="Arial" pitchFamily="34" charset="0"/>
                            </a:rPr>
                            <m:t>′</m:t>
                          </m:r>
                        </m:sup>
                      </m:sSup>
                      <m:r>
                        <a:rPr lang="en-US" sz="2400" b="0" i="1" baseline="30000" smtClean="0">
                          <a:solidFill>
                            <a:srgbClr val="0000FF"/>
                          </a:solidFill>
                          <a:latin typeface="Cambria Math" panose="02040503050406030204" pitchFamily="18" charset="0"/>
                          <a:cs typeface="Arial" pitchFamily="34" charset="0"/>
                        </a:rPr>
                        <m:t>𝑇</m:t>
                      </m:r>
                      <m:r>
                        <a:rPr lang="en-US" sz="2400" b="0" i="1" smtClean="0">
                          <a:solidFill>
                            <a:srgbClr val="0000FF"/>
                          </a:solidFill>
                          <a:latin typeface="Cambria Math" panose="02040503050406030204" pitchFamily="18" charset="0"/>
                          <a:cs typeface="Arial" pitchFamily="34" charset="0"/>
                        </a:rPr>
                        <m:t>𝑊</m:t>
                      </m:r>
                      <m:r>
                        <a:rPr lang="en-US" sz="2400" b="0" i="1" baseline="30000" smtClean="0">
                          <a:solidFill>
                            <a:srgbClr val="0000FF"/>
                          </a:solidFill>
                          <a:latin typeface="Cambria Math" panose="02040503050406030204" pitchFamily="18" charset="0"/>
                          <a:cs typeface="Arial" pitchFamily="34" charset="0"/>
                        </a:rPr>
                        <m:t>𝑇</m:t>
                      </m:r>
                      <m:r>
                        <a:rPr lang="en-US" sz="2400" b="0" i="1" smtClean="0">
                          <a:solidFill>
                            <a:srgbClr val="0000FF"/>
                          </a:solidFill>
                          <a:latin typeface="Cambria Math" panose="02040503050406030204" pitchFamily="18" charset="0"/>
                          <a:cs typeface="Arial" pitchFamily="34" charset="0"/>
                        </a:rPr>
                        <m:t>𝑥</m:t>
                      </m:r>
                      <m:r>
                        <a:rPr lang="en-US" sz="2400" b="0" i="1" smtClean="0">
                          <a:solidFill>
                            <a:srgbClr val="0000FF"/>
                          </a:solidFill>
                          <a:latin typeface="Cambria Math" panose="02040503050406030204" pitchFamily="18" charset="0"/>
                          <a:cs typeface="Arial" pitchFamily="34" charset="0"/>
                        </a:rPr>
                        <m:t>)</m:t>
                      </m:r>
                    </m:oMath>
                  </m:oMathPara>
                </a14:m>
                <a:endParaRPr lang="en-US" sz="2400" dirty="0">
                  <a:solidFill>
                    <a:srgbClr val="0000FF"/>
                  </a:solidFill>
                  <a:latin typeface="Arial" pitchFamily="34" charset="0"/>
                  <a:cs typeface="Arial" pitchFamily="34" charset="0"/>
                </a:endParaRPr>
              </a:p>
            </p:txBody>
          </p:sp>
        </mc:Choice>
        <mc:Fallback xmlns="">
          <p:sp>
            <p:nvSpPr>
              <p:cNvPr id="7" name="TextBox 6">
                <a:extLst>
                  <a:ext uri="{FF2B5EF4-FFF2-40B4-BE49-F238E27FC236}">
                    <a16:creationId xmlns:a16="http://schemas.microsoft.com/office/drawing/2014/main" id="{95AA2842-A904-A543-8CFB-35F1A716ED41}"/>
                  </a:ext>
                </a:extLst>
              </p:cNvPr>
              <p:cNvSpPr txBox="1">
                <a:spLocks noRot="1" noChangeAspect="1" noMove="1" noResize="1" noEditPoints="1" noAdjustHandles="1" noChangeArrowheads="1" noChangeShapeType="1" noTextEdit="1"/>
              </p:cNvSpPr>
              <p:nvPr/>
            </p:nvSpPr>
            <p:spPr>
              <a:xfrm>
                <a:off x="2287047" y="2514600"/>
                <a:ext cx="3230884" cy="369332"/>
              </a:xfrm>
              <a:prstGeom prst="rect">
                <a:avLst/>
              </a:prstGeom>
              <a:blipFill>
                <a:blip r:embed="rId2"/>
                <a:stretch>
                  <a:fillRect l="-1569" r="-2745" b="-33333"/>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4A78D9A7-F966-2F44-904A-EB2FC301F94B}"/>
              </a:ext>
            </a:extLst>
          </p:cNvPr>
          <p:cNvPicPr>
            <a:picLocks noChangeAspect="1"/>
          </p:cNvPicPr>
          <p:nvPr/>
        </p:nvPicPr>
        <p:blipFill>
          <a:blip r:embed="rId3"/>
          <a:stretch>
            <a:fillRect/>
          </a:stretch>
        </p:blipFill>
        <p:spPr>
          <a:xfrm>
            <a:off x="6835140" y="13985"/>
            <a:ext cx="2308860" cy="1016156"/>
          </a:xfrm>
          <a:prstGeom prst="rect">
            <a:avLst/>
          </a:prstGeom>
        </p:spPr>
      </p:pic>
      <p:sp>
        <p:nvSpPr>
          <p:cNvPr id="10" name="TextBox 9">
            <a:extLst>
              <a:ext uri="{FF2B5EF4-FFF2-40B4-BE49-F238E27FC236}">
                <a16:creationId xmlns:a16="http://schemas.microsoft.com/office/drawing/2014/main" id="{DD85DA6C-4FE4-12CC-4E4A-522CB30D3C9F}"/>
              </a:ext>
            </a:extLst>
          </p:cNvPr>
          <p:cNvSpPr txBox="1"/>
          <p:nvPr/>
        </p:nvSpPr>
        <p:spPr>
          <a:xfrm>
            <a:off x="2819400" y="5541196"/>
            <a:ext cx="4613096" cy="461665"/>
          </a:xfrm>
          <a:prstGeom prst="rect">
            <a:avLst/>
          </a:prstGeom>
          <a:noFill/>
        </p:spPr>
        <p:txBody>
          <a:bodyPr wrap="square">
            <a:spAutoFit/>
          </a:bodyPr>
          <a:lstStyle/>
          <a:p>
            <a:r>
              <a:rPr lang="en-US" sz="2400" dirty="0"/>
              <a:t>w</a:t>
            </a:r>
            <a:r>
              <a:rPr lang="en-US" sz="2400" baseline="-25000" dirty="0"/>
              <a:t>c</a:t>
            </a:r>
            <a:r>
              <a:rPr lang="en-US" sz="2400" dirty="0"/>
              <a:t> = [0,0,0,...,1,0,0,0..,0]</a:t>
            </a:r>
          </a:p>
        </p:txBody>
      </p:sp>
      <p:grpSp>
        <p:nvGrpSpPr>
          <p:cNvPr id="11" name="Group 10">
            <a:extLst>
              <a:ext uri="{FF2B5EF4-FFF2-40B4-BE49-F238E27FC236}">
                <a16:creationId xmlns:a16="http://schemas.microsoft.com/office/drawing/2014/main" id="{C512EB4F-D516-1E3A-AB89-40CDC890C7F9}"/>
              </a:ext>
            </a:extLst>
          </p:cNvPr>
          <p:cNvGrpSpPr/>
          <p:nvPr/>
        </p:nvGrpSpPr>
        <p:grpSpPr>
          <a:xfrm>
            <a:off x="4484820" y="5326051"/>
            <a:ext cx="3103296" cy="748104"/>
            <a:chOff x="4114800" y="3926992"/>
            <a:chExt cx="3103296" cy="748104"/>
          </a:xfrm>
        </p:grpSpPr>
        <p:sp>
          <p:nvSpPr>
            <p:cNvPr id="12" name="Oval 11">
              <a:extLst>
                <a:ext uri="{FF2B5EF4-FFF2-40B4-BE49-F238E27FC236}">
                  <a16:creationId xmlns:a16="http://schemas.microsoft.com/office/drawing/2014/main" id="{F7EA9B53-08BD-DAE9-919B-A7745CBFD9B2}"/>
                </a:ext>
              </a:extLst>
            </p:cNvPr>
            <p:cNvSpPr/>
            <p:nvPr/>
          </p:nvSpPr>
          <p:spPr>
            <a:xfrm>
              <a:off x="4114800" y="4141696"/>
              <a:ext cx="304800" cy="533400"/>
            </a:xfrm>
            <a:prstGeom prst="ellipse">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B72E3404-EDFB-5ABF-FEC4-3D0C20689EC5}"/>
                </a:ext>
              </a:extLst>
            </p:cNvPr>
            <p:cNvCxnSpPr>
              <a:cxnSpLocks/>
            </p:cNvCxnSpPr>
            <p:nvPr/>
          </p:nvCxnSpPr>
          <p:spPr>
            <a:xfrm flipH="1">
              <a:off x="4419600" y="4141696"/>
              <a:ext cx="1426896" cy="67173"/>
            </a:xfrm>
            <a:prstGeom prst="straightConnector1">
              <a:avLst/>
            </a:prstGeom>
            <a:ln w="19050">
              <a:solidFill>
                <a:srgbClr val="00B050"/>
              </a:solidFill>
              <a:tailEnd type="triangle"/>
            </a:ln>
          </p:spPr>
          <p:style>
            <a:lnRef idx="1">
              <a:schemeClr val="accent4"/>
            </a:lnRef>
            <a:fillRef idx="0">
              <a:schemeClr val="accent4"/>
            </a:fillRef>
            <a:effectRef idx="0">
              <a:schemeClr val="accent4"/>
            </a:effectRef>
            <a:fontRef idx="minor">
              <a:schemeClr val="tx1"/>
            </a:fontRef>
          </p:style>
        </p:cxnSp>
        <p:sp>
          <p:nvSpPr>
            <p:cNvPr id="14" name="TextBox 13">
              <a:extLst>
                <a:ext uri="{FF2B5EF4-FFF2-40B4-BE49-F238E27FC236}">
                  <a16:creationId xmlns:a16="http://schemas.microsoft.com/office/drawing/2014/main" id="{D126125A-59F7-30E3-2DC8-1C1E7586D898}"/>
                </a:ext>
              </a:extLst>
            </p:cNvPr>
            <p:cNvSpPr txBox="1"/>
            <p:nvPr/>
          </p:nvSpPr>
          <p:spPr>
            <a:xfrm>
              <a:off x="5846496" y="3926992"/>
              <a:ext cx="1371600" cy="369332"/>
            </a:xfrm>
            <a:prstGeom prst="rect">
              <a:avLst/>
            </a:prstGeom>
            <a:noFill/>
          </p:spPr>
          <p:txBody>
            <a:bodyPr wrap="square" rtlCol="0">
              <a:spAutoFit/>
            </a:bodyPr>
            <a:lstStyle/>
            <a:p>
              <a:r>
                <a:rPr lang="en-US" dirty="0">
                  <a:solidFill>
                    <a:srgbClr val="008000"/>
                  </a:solidFill>
                  <a:latin typeface="Arial" pitchFamily="34" charset="0"/>
                  <a:cs typeface="Arial" pitchFamily="34" charset="0"/>
                </a:rPr>
                <a:t>Position j</a:t>
              </a:r>
            </a:p>
          </p:txBody>
        </p:sp>
      </p:grpSp>
    </p:spTree>
    <p:extLst>
      <p:ext uri="{BB962C8B-B14F-4D97-AF65-F5344CB8AC3E}">
        <p14:creationId xmlns:p14="http://schemas.microsoft.com/office/powerpoint/2010/main" val="20710783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D6F13-86A4-CF41-B91F-C6E687B97FD7}"/>
              </a:ext>
            </a:extLst>
          </p:cNvPr>
          <p:cNvSpPr>
            <a:spLocks noGrp="1"/>
          </p:cNvSpPr>
          <p:nvPr>
            <p:ph type="title"/>
          </p:nvPr>
        </p:nvSpPr>
        <p:spPr/>
        <p:txBody>
          <a:bodyPr/>
          <a:lstStyle/>
          <a:p>
            <a:r>
              <a:rPr lang="en-US" dirty="0"/>
              <a:t>Word2Vec: Loss function</a:t>
            </a:r>
          </a:p>
        </p:txBody>
      </p:sp>
      <p:sp>
        <p:nvSpPr>
          <p:cNvPr id="3" name="Content Placeholder 2">
            <a:extLst>
              <a:ext uri="{FF2B5EF4-FFF2-40B4-BE49-F238E27FC236}">
                <a16:creationId xmlns:a16="http://schemas.microsoft.com/office/drawing/2014/main" id="{3D83ABB0-9D2F-9E41-A219-0A8D7A8564AD}"/>
              </a:ext>
            </a:extLst>
          </p:cNvPr>
          <p:cNvSpPr>
            <a:spLocks noGrp="1"/>
          </p:cNvSpPr>
          <p:nvPr>
            <p:ph idx="1"/>
          </p:nvPr>
        </p:nvSpPr>
        <p:spPr/>
        <p:txBody>
          <a:bodyPr>
            <a:normAutofit/>
          </a:bodyPr>
          <a:lstStyle/>
          <a:p>
            <a:r>
              <a:rPr lang="en-US" dirty="0"/>
              <a:t>The loss function needs to evaluate the output layer at the </a:t>
            </a:r>
            <a:r>
              <a:rPr lang="en-US" dirty="0">
                <a:solidFill>
                  <a:srgbClr val="D60093"/>
                </a:solidFill>
              </a:rPr>
              <a:t>same position j</a:t>
            </a:r>
            <a:r>
              <a:rPr lang="en-US" dirty="0"/>
              <a:t>, i.e. </a:t>
            </a:r>
            <a:r>
              <a:rPr lang="en-US" dirty="0" err="1"/>
              <a:t>y</a:t>
            </a:r>
            <a:r>
              <a:rPr lang="en-US" baseline="-25000" dirty="0" err="1"/>
              <a:t>j</a:t>
            </a:r>
            <a:endParaRPr lang="en-US" baseline="-25000" dirty="0"/>
          </a:p>
          <a:p>
            <a:pPr marL="118872" indent="0">
              <a:buNone/>
            </a:pPr>
            <a:r>
              <a:rPr lang="en-US" sz="2200" baseline="-25000" dirty="0"/>
              <a:t>    </a:t>
            </a:r>
            <a:r>
              <a:rPr lang="en-US" sz="2200" dirty="0"/>
              <a:t>(remember y is a probability distribution; ideal value of </a:t>
            </a:r>
            <a:r>
              <a:rPr lang="en-US" sz="2200" dirty="0" err="1"/>
              <a:t>y</a:t>
            </a:r>
            <a:r>
              <a:rPr lang="en-US" sz="2200" baseline="-25000" dirty="0" err="1"/>
              <a:t>j</a:t>
            </a:r>
            <a:r>
              <a:rPr lang="en-US" sz="2200" baseline="-25000" dirty="0"/>
              <a:t> </a:t>
            </a:r>
            <a:r>
              <a:rPr lang="en-US" sz="2200" dirty="0"/>
              <a:t>is being 1)</a:t>
            </a:r>
            <a:endParaRPr lang="en-US" dirty="0"/>
          </a:p>
          <a:p>
            <a:r>
              <a:rPr lang="en-US" dirty="0"/>
              <a:t>We use </a:t>
            </a:r>
            <a:r>
              <a:rPr lang="en-US" dirty="0">
                <a:solidFill>
                  <a:srgbClr val="0000FF"/>
                </a:solidFill>
              </a:rPr>
              <a:t>cross-entropy</a:t>
            </a:r>
            <a:r>
              <a:rPr lang="en-US" dirty="0"/>
              <a:t> loss function:</a:t>
            </a:r>
          </a:p>
          <a:p>
            <a:pPr marL="118872" indent="0">
              <a:buNone/>
            </a:pPr>
            <a:endParaRPr lang="en-US" dirty="0"/>
          </a:p>
          <a:p>
            <a:endParaRPr lang="en-US" dirty="0"/>
          </a:p>
          <a:p>
            <a:r>
              <a:rPr lang="en-US" dirty="0"/>
              <a:t>Since w</a:t>
            </a:r>
            <a:r>
              <a:rPr lang="en-US" baseline="-25000" dirty="0"/>
              <a:t>c</a:t>
            </a:r>
            <a:r>
              <a:rPr lang="en-US" dirty="0"/>
              <a:t> = [0,0,0,...,1,0,0,0..,0]</a:t>
            </a:r>
          </a:p>
          <a:p>
            <a:pPr marL="118872" indent="0">
              <a:buNone/>
            </a:pPr>
            <a:r>
              <a:rPr lang="en-US" dirty="0"/>
              <a:t>   And    y   = [0.02, 0.11,.... 0.8, 0, 0.031, ...]</a:t>
            </a:r>
          </a:p>
          <a:p>
            <a:pPr marL="118872" indent="0">
              <a:buNone/>
            </a:pPr>
            <a:r>
              <a:rPr lang="en-US" dirty="0"/>
              <a:t>   </a:t>
            </a:r>
          </a:p>
          <a:p>
            <a:pPr marL="118872" indent="0">
              <a:buNone/>
            </a:pPr>
            <a:r>
              <a:rPr lang="en-US" dirty="0"/>
              <a:t>  the loss value would be </a:t>
            </a:r>
          </a:p>
        </p:txBody>
      </p:sp>
      <p:sp>
        <p:nvSpPr>
          <p:cNvPr id="4" name="Date Placeholder 3">
            <a:extLst>
              <a:ext uri="{FF2B5EF4-FFF2-40B4-BE49-F238E27FC236}">
                <a16:creationId xmlns:a16="http://schemas.microsoft.com/office/drawing/2014/main" id="{F5CD97B1-F19B-D94C-AB81-AF79860E158A}"/>
              </a:ext>
            </a:extLst>
          </p:cNvPr>
          <p:cNvSpPr>
            <a:spLocks noGrp="1"/>
          </p:cNvSpPr>
          <p:nvPr>
            <p:ph type="dt" sz="half" idx="10"/>
          </p:nvPr>
        </p:nvSpPr>
        <p:spPr/>
        <p:txBody>
          <a:bodyPr/>
          <a:lstStyle/>
          <a:p>
            <a:fld id="{7E59465C-FA87-B841-B5C7-BA28CCA07813}" type="datetime1">
              <a:rPr lang="en-US" smtClean="0"/>
              <a:t>11/3/24</a:t>
            </a:fld>
            <a:endParaRPr lang="en-US"/>
          </a:p>
        </p:txBody>
      </p:sp>
      <p:sp>
        <p:nvSpPr>
          <p:cNvPr id="5" name="Footer Placeholder 4">
            <a:extLst>
              <a:ext uri="{FF2B5EF4-FFF2-40B4-BE49-F238E27FC236}">
                <a16:creationId xmlns:a16="http://schemas.microsoft.com/office/drawing/2014/main" id="{54268187-FFB2-E34D-89EB-18B44D0F3082}"/>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30513208-013C-0447-A9C4-9A323EB6CEDB}"/>
              </a:ext>
            </a:extLst>
          </p:cNvPr>
          <p:cNvSpPr>
            <a:spLocks noGrp="1"/>
          </p:cNvSpPr>
          <p:nvPr>
            <p:ph type="sldNum" sz="quarter" idx="12"/>
          </p:nvPr>
        </p:nvSpPr>
        <p:spPr/>
        <p:txBody>
          <a:bodyPr/>
          <a:lstStyle/>
          <a:p>
            <a:fld id="{19B12225-5612-419B-A8D5-4B8EEE4C217E}" type="slidenum">
              <a:rPr lang="en-US" smtClean="0"/>
              <a:pPr/>
              <a:t>51</a:t>
            </a:fld>
            <a:endParaRPr lang="en-US"/>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10435DFB-106D-CB47-80D1-CB92DA1599E4}"/>
                  </a:ext>
                </a:extLst>
              </p:cNvPr>
              <p:cNvSpPr txBox="1"/>
              <p:nvPr/>
            </p:nvSpPr>
            <p:spPr>
              <a:xfrm>
                <a:off x="2692500" y="3347970"/>
                <a:ext cx="3759000" cy="338554"/>
              </a:xfrm>
              <a:prstGeom prst="rect">
                <a:avLst/>
              </a:prstGeom>
              <a:noFill/>
            </p:spPr>
            <p:txBody>
              <a:bodyPr wrap="square" lIns="0" tIns="0" rIns="0" bIns="0" rtlCol="0">
                <a:spAutoFit/>
              </a:bodyPr>
              <a:lstStyle/>
              <a:p>
                <a:r>
                  <a:rPr lang="en-US" sz="2200" b="0" dirty="0">
                    <a:solidFill>
                      <a:srgbClr val="0000FF"/>
                    </a:solidFill>
                    <a:cs typeface="Arial" pitchFamily="34" charset="0"/>
                  </a:rPr>
                  <a:t>CE</a:t>
                </a:r>
                <a14:m>
                  <m:oMath xmlns:m="http://schemas.openxmlformats.org/officeDocument/2006/math">
                    <m:d>
                      <m:dPr>
                        <m:ctrlPr>
                          <a:rPr lang="en-US" sz="2200" b="0" i="1" smtClean="0">
                            <a:solidFill>
                              <a:srgbClr val="0000FF"/>
                            </a:solidFill>
                            <a:latin typeface="Cambria Math" panose="02040503050406030204" pitchFamily="18" charset="0"/>
                            <a:cs typeface="Arial" pitchFamily="34" charset="0"/>
                          </a:rPr>
                        </m:ctrlPr>
                      </m:dPr>
                      <m:e>
                        <m:r>
                          <a:rPr lang="en-US" sz="2200" b="0" i="1" smtClean="0">
                            <a:solidFill>
                              <a:srgbClr val="0000FF"/>
                            </a:solidFill>
                            <a:latin typeface="Cambria Math" panose="02040503050406030204" pitchFamily="18" charset="0"/>
                            <a:cs typeface="Arial" pitchFamily="34" charset="0"/>
                          </a:rPr>
                          <m:t>𝑤</m:t>
                        </m:r>
                        <m:r>
                          <a:rPr lang="en-US" sz="2200" b="0" i="1" baseline="-25000" smtClean="0">
                            <a:solidFill>
                              <a:srgbClr val="0000FF"/>
                            </a:solidFill>
                            <a:latin typeface="Cambria Math" panose="02040503050406030204" pitchFamily="18" charset="0"/>
                            <a:cs typeface="Arial" pitchFamily="34" charset="0"/>
                          </a:rPr>
                          <m:t>𝑐</m:t>
                        </m:r>
                        <m:r>
                          <a:rPr lang="en-US" sz="2200" b="0" i="1" smtClean="0">
                            <a:solidFill>
                              <a:srgbClr val="0000FF"/>
                            </a:solidFill>
                            <a:latin typeface="Cambria Math" panose="02040503050406030204" pitchFamily="18" charset="0"/>
                            <a:cs typeface="Arial" pitchFamily="34" charset="0"/>
                          </a:rPr>
                          <m:t>,</m:t>
                        </m:r>
                        <m:r>
                          <a:rPr lang="en-US" sz="2200" b="0" i="1" smtClean="0">
                            <a:solidFill>
                              <a:srgbClr val="0000FF"/>
                            </a:solidFill>
                            <a:latin typeface="Cambria Math" panose="02040503050406030204" pitchFamily="18" charset="0"/>
                            <a:cs typeface="Arial" pitchFamily="34" charset="0"/>
                          </a:rPr>
                          <m:t>𝑦</m:t>
                        </m:r>
                      </m:e>
                    </m:d>
                    <m:r>
                      <a:rPr lang="en-US" sz="2200" b="0" i="1" smtClean="0">
                        <a:solidFill>
                          <a:srgbClr val="0000FF"/>
                        </a:solidFill>
                        <a:latin typeface="Cambria Math" panose="02040503050406030204" pitchFamily="18" charset="0"/>
                        <a:cs typeface="Arial" pitchFamily="34" charset="0"/>
                      </a:rPr>
                      <m:t>=−</m:t>
                    </m:r>
                    <m:r>
                      <m:rPr>
                        <m:sty m:val="p"/>
                      </m:rPr>
                      <a:rPr lang="en-US" sz="2200" b="0" i="0" smtClean="0">
                        <a:solidFill>
                          <a:srgbClr val="0000FF"/>
                        </a:solidFill>
                        <a:latin typeface="Cambria Math" panose="02040503050406030204" pitchFamily="18" charset="0"/>
                        <a:cs typeface="Arial" pitchFamily="34" charset="0"/>
                      </a:rPr>
                      <m:t>log</m:t>
                    </m:r>
                    <m:r>
                      <a:rPr lang="en-US" sz="2200" b="0" i="1" smtClean="0">
                        <a:solidFill>
                          <a:srgbClr val="0000FF"/>
                        </a:solidFill>
                        <a:latin typeface="Cambria Math" panose="02040503050406030204" pitchFamily="18" charset="0"/>
                        <a:cs typeface="Arial" pitchFamily="34" charset="0"/>
                      </a:rPr>
                      <m:t>⁡(</m:t>
                    </m:r>
                    <m:r>
                      <a:rPr lang="en-US" sz="2200" b="0" i="1" smtClean="0">
                        <a:solidFill>
                          <a:srgbClr val="0000FF"/>
                        </a:solidFill>
                        <a:latin typeface="Cambria Math" panose="02040503050406030204" pitchFamily="18" charset="0"/>
                        <a:cs typeface="Arial" pitchFamily="34" charset="0"/>
                      </a:rPr>
                      <m:t>𝑦𝑐𝑜</m:t>
                    </m:r>
                    <m:r>
                      <a:rPr lang="en-US" sz="2200" b="0" i="1" baseline="-25000" smtClean="0">
                        <a:solidFill>
                          <a:srgbClr val="0000FF"/>
                        </a:solidFill>
                        <a:latin typeface="Cambria Math" panose="02040503050406030204" pitchFamily="18" charset="0"/>
                        <a:cs typeface="Arial" pitchFamily="34" charset="0"/>
                      </a:rPr>
                      <m:t>𝑟𝑟𝑒𝑐𝑡</m:t>
                    </m:r>
                    <m:r>
                      <a:rPr lang="en-US" sz="2200" b="0" i="1" baseline="-25000" smtClean="0">
                        <a:solidFill>
                          <a:srgbClr val="0000FF"/>
                        </a:solidFill>
                        <a:latin typeface="Cambria Math" panose="02040503050406030204" pitchFamily="18" charset="0"/>
                        <a:cs typeface="Arial" pitchFamily="34" charset="0"/>
                      </a:rPr>
                      <m:t> </m:t>
                    </m:r>
                    <m:r>
                      <a:rPr lang="en-US" sz="2200" b="0" i="1" baseline="-25000" smtClean="0">
                        <a:solidFill>
                          <a:srgbClr val="0000FF"/>
                        </a:solidFill>
                        <a:latin typeface="Cambria Math" panose="02040503050406030204" pitchFamily="18" charset="0"/>
                        <a:cs typeface="Arial" pitchFamily="34" charset="0"/>
                      </a:rPr>
                      <m:t>𝑐𝑙𝑎𝑠𝑠</m:t>
                    </m:r>
                    <m:r>
                      <a:rPr lang="en-US" sz="2200" b="0" i="1" smtClean="0">
                        <a:solidFill>
                          <a:srgbClr val="0000FF"/>
                        </a:solidFill>
                        <a:latin typeface="Cambria Math" panose="02040503050406030204" pitchFamily="18" charset="0"/>
                        <a:cs typeface="Arial" pitchFamily="34" charset="0"/>
                      </a:rPr>
                      <m:t>)</m:t>
                    </m:r>
                  </m:oMath>
                </a14:m>
                <a:endParaRPr lang="en-US" sz="2200" dirty="0">
                  <a:solidFill>
                    <a:srgbClr val="0000FF"/>
                  </a:solidFill>
                  <a:latin typeface="Arial" pitchFamily="34" charset="0"/>
                  <a:cs typeface="Arial" pitchFamily="34" charset="0"/>
                </a:endParaRPr>
              </a:p>
            </p:txBody>
          </p:sp>
        </mc:Choice>
        <mc:Fallback>
          <p:sp>
            <p:nvSpPr>
              <p:cNvPr id="9" name="TextBox 8">
                <a:extLst>
                  <a:ext uri="{FF2B5EF4-FFF2-40B4-BE49-F238E27FC236}">
                    <a16:creationId xmlns:a16="http://schemas.microsoft.com/office/drawing/2014/main" id="{10435DFB-106D-CB47-80D1-CB92DA1599E4}"/>
                  </a:ext>
                </a:extLst>
              </p:cNvPr>
              <p:cNvSpPr txBox="1">
                <a:spLocks noRot="1" noChangeAspect="1" noMove="1" noResize="1" noEditPoints="1" noAdjustHandles="1" noChangeArrowheads="1" noChangeShapeType="1" noTextEdit="1"/>
              </p:cNvSpPr>
              <p:nvPr/>
            </p:nvSpPr>
            <p:spPr>
              <a:xfrm>
                <a:off x="2692500" y="3347970"/>
                <a:ext cx="3759000" cy="338554"/>
              </a:xfrm>
              <a:prstGeom prst="rect">
                <a:avLst/>
              </a:prstGeom>
              <a:blipFill>
                <a:blip r:embed="rId3"/>
                <a:stretch>
                  <a:fillRect l="-4730" t="-25000" b="-53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8E00C14-B945-9E4C-869D-F6DA439BA505}"/>
                  </a:ext>
                </a:extLst>
              </p:cNvPr>
              <p:cNvSpPr txBox="1"/>
              <p:nvPr/>
            </p:nvSpPr>
            <p:spPr>
              <a:xfrm>
                <a:off x="4814948" y="5694133"/>
                <a:ext cx="2098965"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Arial" pitchFamily="34" charset="0"/>
                        </a:rPr>
                        <m:t>𝐿</m:t>
                      </m:r>
                      <m:r>
                        <a:rPr lang="en-US" sz="2400" b="0" i="1" smtClean="0">
                          <a:latin typeface="Cambria Math" panose="02040503050406030204" pitchFamily="18" charset="0"/>
                          <a:cs typeface="Arial" pitchFamily="34" charset="0"/>
                        </a:rPr>
                        <m:t>=−</m:t>
                      </m:r>
                      <m:r>
                        <m:rPr>
                          <m:sty m:val="p"/>
                        </m:rPr>
                        <a:rPr lang="en-US" sz="2400" b="0" i="0" smtClean="0">
                          <a:latin typeface="Cambria Math" panose="02040503050406030204" pitchFamily="18" charset="0"/>
                          <a:cs typeface="Arial" pitchFamily="34" charset="0"/>
                        </a:rPr>
                        <m:t>l</m:t>
                      </m:r>
                      <m:r>
                        <a:rPr lang="en-US" sz="2400" b="0" i="1" smtClean="0">
                          <a:latin typeface="Cambria Math" panose="02040503050406030204" pitchFamily="18" charset="0"/>
                          <a:cs typeface="Arial" pitchFamily="34" charset="0"/>
                        </a:rPr>
                        <m:t>𝑜𝑔</m:t>
                      </m:r>
                      <m:r>
                        <a:rPr lang="en-US" sz="2400" b="0" i="1" smtClean="0">
                          <a:latin typeface="Cambria Math" panose="02040503050406030204" pitchFamily="18" charset="0"/>
                          <a:cs typeface="Arial" pitchFamily="34" charset="0"/>
                        </a:rPr>
                        <m:t>⁡(0.8)</m:t>
                      </m:r>
                    </m:oMath>
                  </m:oMathPara>
                </a14:m>
                <a:endParaRPr lang="en-US" sz="2400" dirty="0">
                  <a:latin typeface="Calibri" panose="020F0502020204030204" pitchFamily="34" charset="0"/>
                  <a:cs typeface="Calibri" panose="020F0502020204030204" pitchFamily="34" charset="0"/>
                </a:endParaRPr>
              </a:p>
            </p:txBody>
          </p:sp>
        </mc:Choice>
        <mc:Fallback xmlns="">
          <p:sp>
            <p:nvSpPr>
              <p:cNvPr id="10" name="TextBox 9">
                <a:extLst>
                  <a:ext uri="{FF2B5EF4-FFF2-40B4-BE49-F238E27FC236}">
                    <a16:creationId xmlns:a16="http://schemas.microsoft.com/office/drawing/2014/main" id="{58E00C14-B945-9E4C-869D-F6DA439BA505}"/>
                  </a:ext>
                </a:extLst>
              </p:cNvPr>
              <p:cNvSpPr txBox="1">
                <a:spLocks noRot="1" noChangeAspect="1" noMove="1" noResize="1" noEditPoints="1" noAdjustHandles="1" noChangeArrowheads="1" noChangeShapeType="1" noTextEdit="1"/>
              </p:cNvSpPr>
              <p:nvPr/>
            </p:nvSpPr>
            <p:spPr>
              <a:xfrm>
                <a:off x="4814948" y="5694133"/>
                <a:ext cx="2098965" cy="369332"/>
              </a:xfrm>
              <a:prstGeom prst="rect">
                <a:avLst/>
              </a:prstGeom>
              <a:blipFill>
                <a:blip r:embed="rId4"/>
                <a:stretch>
                  <a:fillRect t="-6667" r="-1807" b="-40000"/>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2CE3C65A-E1B4-DB4E-DE12-2BF3DFE6B275}"/>
              </a:ext>
            </a:extLst>
          </p:cNvPr>
          <p:cNvGrpSpPr/>
          <p:nvPr/>
        </p:nvGrpSpPr>
        <p:grpSpPr>
          <a:xfrm>
            <a:off x="4114800" y="3686524"/>
            <a:ext cx="4264333" cy="1495076"/>
            <a:chOff x="4114800" y="3686524"/>
            <a:chExt cx="4264333" cy="1495076"/>
          </a:xfrm>
        </p:grpSpPr>
        <p:sp>
          <p:nvSpPr>
            <p:cNvPr id="11" name="Oval 10">
              <a:extLst>
                <a:ext uri="{FF2B5EF4-FFF2-40B4-BE49-F238E27FC236}">
                  <a16:creationId xmlns:a16="http://schemas.microsoft.com/office/drawing/2014/main" id="{E7CB0130-D3EC-3D45-BC1D-4076154CDE4A}"/>
                </a:ext>
              </a:extLst>
            </p:cNvPr>
            <p:cNvSpPr/>
            <p:nvPr/>
          </p:nvSpPr>
          <p:spPr>
            <a:xfrm>
              <a:off x="4114800" y="4141696"/>
              <a:ext cx="304800" cy="533400"/>
            </a:xfrm>
            <a:prstGeom prst="ellipse">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3A4FF396-7ED1-D741-B2ED-0797FDACC358}"/>
                </a:ext>
              </a:extLst>
            </p:cNvPr>
            <p:cNvCxnSpPr>
              <a:cxnSpLocks/>
            </p:cNvCxnSpPr>
            <p:nvPr/>
          </p:nvCxnSpPr>
          <p:spPr>
            <a:xfrm flipH="1">
              <a:off x="4419600" y="3850045"/>
              <a:ext cx="2494313" cy="358824"/>
            </a:xfrm>
            <a:prstGeom prst="straightConnector1">
              <a:avLst/>
            </a:prstGeom>
            <a:ln w="19050">
              <a:solidFill>
                <a:srgbClr val="00B050"/>
              </a:solidFill>
              <a:tailEnd type="triangle"/>
            </a:ln>
          </p:spPr>
          <p:style>
            <a:lnRef idx="1">
              <a:schemeClr val="accent4"/>
            </a:lnRef>
            <a:fillRef idx="0">
              <a:schemeClr val="accent4"/>
            </a:fillRef>
            <a:effectRef idx="0">
              <a:schemeClr val="accent4"/>
            </a:effectRef>
            <a:fontRef idx="minor">
              <a:schemeClr val="tx1"/>
            </a:fontRef>
          </p:style>
        </p:cxnSp>
        <p:sp>
          <p:nvSpPr>
            <p:cNvPr id="14" name="TextBox 13">
              <a:extLst>
                <a:ext uri="{FF2B5EF4-FFF2-40B4-BE49-F238E27FC236}">
                  <a16:creationId xmlns:a16="http://schemas.microsoft.com/office/drawing/2014/main" id="{5703ABBF-664E-4447-BCA3-D684D7694382}"/>
                </a:ext>
              </a:extLst>
            </p:cNvPr>
            <p:cNvSpPr txBox="1"/>
            <p:nvPr/>
          </p:nvSpPr>
          <p:spPr>
            <a:xfrm>
              <a:off x="7007533" y="3686524"/>
              <a:ext cx="1371600" cy="369332"/>
            </a:xfrm>
            <a:prstGeom prst="rect">
              <a:avLst/>
            </a:prstGeom>
            <a:noFill/>
          </p:spPr>
          <p:txBody>
            <a:bodyPr wrap="square" rtlCol="0">
              <a:spAutoFit/>
            </a:bodyPr>
            <a:lstStyle/>
            <a:p>
              <a:r>
                <a:rPr lang="en-US" dirty="0">
                  <a:latin typeface="Arial" pitchFamily="34" charset="0"/>
                  <a:cs typeface="Arial" pitchFamily="34" charset="0"/>
                </a:rPr>
                <a:t>Position j</a:t>
              </a:r>
            </a:p>
          </p:txBody>
        </p:sp>
        <p:sp>
          <p:nvSpPr>
            <p:cNvPr id="15" name="Oval 14">
              <a:extLst>
                <a:ext uri="{FF2B5EF4-FFF2-40B4-BE49-F238E27FC236}">
                  <a16:creationId xmlns:a16="http://schemas.microsoft.com/office/drawing/2014/main" id="{09CC4023-7154-0D4B-8936-F855E1E631E4}"/>
                </a:ext>
              </a:extLst>
            </p:cNvPr>
            <p:cNvSpPr/>
            <p:nvPr/>
          </p:nvSpPr>
          <p:spPr>
            <a:xfrm>
              <a:off x="5058107" y="4648200"/>
              <a:ext cx="595251" cy="533400"/>
            </a:xfrm>
            <a:prstGeom prst="ellipse">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42A13FBB-3F72-EC44-B1DB-BBD21ACA446B}"/>
                </a:ext>
              </a:extLst>
            </p:cNvPr>
            <p:cNvCxnSpPr>
              <a:cxnSpLocks/>
            </p:cNvCxnSpPr>
            <p:nvPr/>
          </p:nvCxnSpPr>
          <p:spPr>
            <a:xfrm flipH="1">
              <a:off x="5666756" y="4002445"/>
              <a:ext cx="1399559" cy="794425"/>
            </a:xfrm>
            <a:prstGeom prst="straightConnector1">
              <a:avLst/>
            </a:prstGeom>
            <a:ln w="19050">
              <a:solidFill>
                <a:srgbClr val="00B050"/>
              </a:solidFill>
              <a:tailEnd type="triangle"/>
            </a:ln>
          </p:spPr>
          <p:style>
            <a:lnRef idx="1">
              <a:schemeClr val="accent4"/>
            </a:lnRef>
            <a:fillRef idx="0">
              <a:schemeClr val="accent4"/>
            </a:fillRef>
            <a:effectRef idx="0">
              <a:schemeClr val="accent4"/>
            </a:effectRef>
            <a:fontRef idx="minor">
              <a:schemeClr val="tx1"/>
            </a:fontRef>
          </p:style>
        </p:cxnSp>
      </p:grpSp>
    </p:spTree>
    <p:extLst>
      <p:ext uri="{BB962C8B-B14F-4D97-AF65-F5344CB8AC3E}">
        <p14:creationId xmlns:p14="http://schemas.microsoft.com/office/powerpoint/2010/main" val="10559169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98E74-7F92-5E46-A1E9-39612D3F1A98}"/>
              </a:ext>
            </a:extLst>
          </p:cNvPr>
          <p:cNvSpPr>
            <a:spLocks noGrp="1"/>
          </p:cNvSpPr>
          <p:nvPr>
            <p:ph type="title"/>
          </p:nvPr>
        </p:nvSpPr>
        <p:spPr/>
        <p:txBody>
          <a:bodyPr/>
          <a:lstStyle/>
          <a:p>
            <a:r>
              <a:rPr lang="en-US" dirty="0"/>
              <a:t>Word2Vec: Backpropagation</a:t>
            </a:r>
          </a:p>
        </p:txBody>
      </p:sp>
      <p:sp>
        <p:nvSpPr>
          <p:cNvPr id="3" name="Content Placeholder 2">
            <a:extLst>
              <a:ext uri="{FF2B5EF4-FFF2-40B4-BE49-F238E27FC236}">
                <a16:creationId xmlns:a16="http://schemas.microsoft.com/office/drawing/2014/main" id="{56E1CEF8-59FC-294B-B3DD-1999AD42FCC9}"/>
              </a:ext>
            </a:extLst>
          </p:cNvPr>
          <p:cNvSpPr>
            <a:spLocks noGrp="1"/>
          </p:cNvSpPr>
          <p:nvPr>
            <p:ph idx="1"/>
          </p:nvPr>
        </p:nvSpPr>
        <p:spPr/>
        <p:txBody>
          <a:bodyPr/>
          <a:lstStyle/>
          <a:p>
            <a:r>
              <a:rPr lang="en-US" dirty="0"/>
              <a:t>Now that loss function is clear, we want to find the values of </a:t>
            </a:r>
            <a:r>
              <a:rPr lang="en-US" b="1" i="1" dirty="0"/>
              <a:t>W</a:t>
            </a:r>
            <a:r>
              <a:rPr lang="en-US" dirty="0"/>
              <a:t> and </a:t>
            </a:r>
            <a:r>
              <a:rPr lang="en-US" b="1" i="1" dirty="0"/>
              <a:t>W′ </a:t>
            </a:r>
            <a:r>
              <a:rPr lang="en-US" dirty="0"/>
              <a:t>that </a:t>
            </a:r>
            <a:r>
              <a:rPr lang="en-US" dirty="0">
                <a:solidFill>
                  <a:srgbClr val="D60093"/>
                </a:solidFill>
              </a:rPr>
              <a:t>minimize</a:t>
            </a:r>
            <a:r>
              <a:rPr lang="en-US" dirty="0"/>
              <a:t> it. </a:t>
            </a:r>
          </a:p>
          <a:p>
            <a:pPr lvl="1"/>
            <a:r>
              <a:rPr lang="en-US" dirty="0"/>
              <a:t>We want our model to </a:t>
            </a:r>
            <a:r>
              <a:rPr lang="en-US" i="1" dirty="0">
                <a:solidFill>
                  <a:srgbClr val="D60093"/>
                </a:solidFill>
              </a:rPr>
              <a:t>learn</a:t>
            </a:r>
            <a:r>
              <a:rPr lang="en-US" dirty="0">
                <a:solidFill>
                  <a:srgbClr val="D60093"/>
                </a:solidFill>
              </a:rPr>
              <a:t> the weights</a:t>
            </a:r>
            <a:r>
              <a:rPr lang="en-US" dirty="0"/>
              <a:t>.</a:t>
            </a:r>
          </a:p>
          <a:p>
            <a:pPr lvl="1"/>
            <a:endParaRPr lang="en-US" dirty="0"/>
          </a:p>
          <a:p>
            <a:r>
              <a:rPr lang="en-US" dirty="0"/>
              <a:t>We use gradient descent to tackle this</a:t>
            </a:r>
          </a:p>
          <a:p>
            <a:pPr lvl="1"/>
            <a:r>
              <a:rPr lang="en-US" dirty="0"/>
              <a:t>We find derivatives              and              and update weights as </a:t>
            </a:r>
          </a:p>
        </p:txBody>
      </p:sp>
      <p:sp>
        <p:nvSpPr>
          <p:cNvPr id="4" name="Date Placeholder 3">
            <a:extLst>
              <a:ext uri="{FF2B5EF4-FFF2-40B4-BE49-F238E27FC236}">
                <a16:creationId xmlns:a16="http://schemas.microsoft.com/office/drawing/2014/main" id="{DA406D8B-06D0-D74F-A996-080A2C0C2A94}"/>
              </a:ext>
            </a:extLst>
          </p:cNvPr>
          <p:cNvSpPr>
            <a:spLocks noGrp="1"/>
          </p:cNvSpPr>
          <p:nvPr>
            <p:ph type="dt" sz="half" idx="10"/>
          </p:nvPr>
        </p:nvSpPr>
        <p:spPr/>
        <p:txBody>
          <a:bodyPr/>
          <a:lstStyle/>
          <a:p>
            <a:fld id="{69029359-8D6F-7E48-AE27-1D85B4E37DEB}" type="datetime1">
              <a:rPr lang="en-US" smtClean="0"/>
              <a:t>11/3/24</a:t>
            </a:fld>
            <a:endParaRPr lang="en-US"/>
          </a:p>
        </p:txBody>
      </p:sp>
      <p:sp>
        <p:nvSpPr>
          <p:cNvPr id="5" name="Footer Placeholder 4">
            <a:extLst>
              <a:ext uri="{FF2B5EF4-FFF2-40B4-BE49-F238E27FC236}">
                <a16:creationId xmlns:a16="http://schemas.microsoft.com/office/drawing/2014/main" id="{5300D73C-560E-D34D-AF54-93436AA39694}"/>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0981A320-9FF8-9F48-AEC4-00ED36C801FE}"/>
              </a:ext>
            </a:extLst>
          </p:cNvPr>
          <p:cNvSpPr>
            <a:spLocks noGrp="1"/>
          </p:cNvSpPr>
          <p:nvPr>
            <p:ph type="sldNum" sz="quarter" idx="12"/>
          </p:nvPr>
        </p:nvSpPr>
        <p:spPr/>
        <p:txBody>
          <a:bodyPr/>
          <a:lstStyle/>
          <a:p>
            <a:fld id="{19B12225-5612-419B-A8D5-4B8EEE4C217E}" type="slidenum">
              <a:rPr lang="en-US" smtClean="0"/>
              <a:pPr/>
              <a:t>52</a:t>
            </a:fld>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2628C39-5F00-C249-9C02-E79187FB3BBF}"/>
                  </a:ext>
                </a:extLst>
              </p:cNvPr>
              <p:cNvSpPr txBox="1"/>
              <p:nvPr/>
            </p:nvSpPr>
            <p:spPr>
              <a:xfrm>
                <a:off x="4114800" y="4038600"/>
                <a:ext cx="965777"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i="1" smtClean="0">
                          <a:solidFill>
                            <a:srgbClr val="D60093"/>
                          </a:solidFill>
                          <a:latin typeface="Cambria Math" panose="02040503050406030204" pitchFamily="18" charset="0"/>
                          <a:ea typeface="Cambria Math" panose="02040503050406030204" pitchFamily="18" charset="0"/>
                          <a:cs typeface="Arial" pitchFamily="34" charset="0"/>
                        </a:rPr>
                        <m:t>𝜕</m:t>
                      </m:r>
                      <m:r>
                        <a:rPr lang="en-US" sz="2200" b="0" i="1" smtClean="0">
                          <a:solidFill>
                            <a:srgbClr val="D60093"/>
                          </a:solidFill>
                          <a:latin typeface="Cambria Math" panose="02040503050406030204" pitchFamily="18" charset="0"/>
                          <a:ea typeface="Cambria Math" panose="02040503050406030204" pitchFamily="18" charset="0"/>
                          <a:cs typeface="Arial" pitchFamily="34" charset="0"/>
                        </a:rPr>
                        <m:t>𝐿</m:t>
                      </m:r>
                      <m:r>
                        <a:rPr lang="en-US" sz="2200" b="0" i="1" smtClean="0">
                          <a:solidFill>
                            <a:srgbClr val="D60093"/>
                          </a:solidFill>
                          <a:latin typeface="Cambria Math" panose="02040503050406030204" pitchFamily="18" charset="0"/>
                          <a:ea typeface="Cambria Math" panose="02040503050406030204" pitchFamily="18" charset="0"/>
                          <a:cs typeface="Arial" pitchFamily="34" charset="0"/>
                        </a:rPr>
                        <m:t>/</m:t>
                      </m:r>
                      <m:r>
                        <a:rPr lang="en-US" sz="2200" b="0" i="1" smtClean="0">
                          <a:solidFill>
                            <a:srgbClr val="D60093"/>
                          </a:solidFill>
                          <a:latin typeface="Cambria Math" panose="02040503050406030204" pitchFamily="18" charset="0"/>
                          <a:ea typeface="Cambria Math" panose="02040503050406030204" pitchFamily="18" charset="0"/>
                          <a:cs typeface="Arial" pitchFamily="34" charset="0"/>
                        </a:rPr>
                        <m:t>𝜕</m:t>
                      </m:r>
                      <m:r>
                        <a:rPr lang="en-US" sz="2200" b="0" i="1" smtClean="0">
                          <a:solidFill>
                            <a:srgbClr val="D60093"/>
                          </a:solidFill>
                          <a:latin typeface="Cambria Math" panose="02040503050406030204" pitchFamily="18" charset="0"/>
                          <a:ea typeface="Cambria Math" panose="02040503050406030204" pitchFamily="18" charset="0"/>
                          <a:cs typeface="Arial" pitchFamily="34" charset="0"/>
                        </a:rPr>
                        <m:t>𝑊</m:t>
                      </m:r>
                    </m:oMath>
                  </m:oMathPara>
                </a14:m>
                <a:endParaRPr lang="en-US" sz="2200" dirty="0">
                  <a:solidFill>
                    <a:srgbClr val="D60093"/>
                  </a:solidFill>
                  <a:latin typeface="Arial" pitchFamily="34" charset="0"/>
                  <a:cs typeface="Arial" pitchFamily="34" charset="0"/>
                </a:endParaRPr>
              </a:p>
            </p:txBody>
          </p:sp>
        </mc:Choice>
        <mc:Fallback xmlns="">
          <p:sp>
            <p:nvSpPr>
              <p:cNvPr id="7" name="TextBox 6">
                <a:extLst>
                  <a:ext uri="{FF2B5EF4-FFF2-40B4-BE49-F238E27FC236}">
                    <a16:creationId xmlns:a16="http://schemas.microsoft.com/office/drawing/2014/main" id="{E2628C39-5F00-C249-9C02-E79187FB3BBF}"/>
                  </a:ext>
                </a:extLst>
              </p:cNvPr>
              <p:cNvSpPr txBox="1">
                <a:spLocks noRot="1" noChangeAspect="1" noMove="1" noResize="1" noEditPoints="1" noAdjustHandles="1" noChangeArrowheads="1" noChangeShapeType="1" noTextEdit="1"/>
              </p:cNvSpPr>
              <p:nvPr/>
            </p:nvSpPr>
            <p:spPr>
              <a:xfrm>
                <a:off x="4114800" y="4038600"/>
                <a:ext cx="965777" cy="338554"/>
              </a:xfrm>
              <a:prstGeom prst="rect">
                <a:avLst/>
              </a:prstGeom>
              <a:blipFill>
                <a:blip r:embed="rId2"/>
                <a:stretch>
                  <a:fillRect l="-6579" r="-5263" b="-370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411E612-AB10-B24C-BE12-842178C177B2}"/>
                  </a:ext>
                </a:extLst>
              </p:cNvPr>
              <p:cNvSpPr txBox="1"/>
              <p:nvPr/>
            </p:nvSpPr>
            <p:spPr>
              <a:xfrm>
                <a:off x="5791200" y="4027714"/>
                <a:ext cx="965777" cy="338554"/>
              </a:xfrm>
              <a:prstGeom prst="rect">
                <a:avLst/>
              </a:prstGeom>
              <a:noFill/>
            </p:spPr>
            <p:txBody>
              <a:bodyPr wrap="none" lIns="0" tIns="0" rIns="0" bIns="0" rtlCol="0">
                <a:spAutoFit/>
              </a:bodyPr>
              <a:lstStyle/>
              <a:p>
                <a14:m>
                  <m:oMath xmlns:m="http://schemas.openxmlformats.org/officeDocument/2006/math">
                    <m:r>
                      <a:rPr lang="en-US" sz="2200" i="1" smtClean="0">
                        <a:solidFill>
                          <a:srgbClr val="D60093"/>
                        </a:solidFill>
                        <a:latin typeface="Cambria Math" panose="02040503050406030204" pitchFamily="18" charset="0"/>
                        <a:ea typeface="Cambria Math" panose="02040503050406030204" pitchFamily="18" charset="0"/>
                        <a:cs typeface="Arial" pitchFamily="34" charset="0"/>
                      </a:rPr>
                      <m:t>𝜕</m:t>
                    </m:r>
                    <m:r>
                      <a:rPr lang="en-US" sz="2200" b="0" i="1" smtClean="0">
                        <a:solidFill>
                          <a:srgbClr val="D60093"/>
                        </a:solidFill>
                        <a:latin typeface="Cambria Math" panose="02040503050406030204" pitchFamily="18" charset="0"/>
                        <a:ea typeface="Cambria Math" panose="02040503050406030204" pitchFamily="18" charset="0"/>
                        <a:cs typeface="Arial" pitchFamily="34" charset="0"/>
                      </a:rPr>
                      <m:t>𝐿</m:t>
                    </m:r>
                    <m:r>
                      <a:rPr lang="en-US" sz="2200" b="0" i="1" smtClean="0">
                        <a:solidFill>
                          <a:srgbClr val="D60093"/>
                        </a:solidFill>
                        <a:latin typeface="Cambria Math" panose="02040503050406030204" pitchFamily="18" charset="0"/>
                        <a:ea typeface="Cambria Math" panose="02040503050406030204" pitchFamily="18" charset="0"/>
                        <a:cs typeface="Arial" pitchFamily="34" charset="0"/>
                      </a:rPr>
                      <m:t>/</m:t>
                    </m:r>
                    <m:r>
                      <a:rPr lang="en-US" sz="2200" b="0" i="1" smtClean="0">
                        <a:solidFill>
                          <a:srgbClr val="D60093"/>
                        </a:solidFill>
                        <a:latin typeface="Cambria Math" panose="02040503050406030204" pitchFamily="18" charset="0"/>
                        <a:ea typeface="Cambria Math" panose="02040503050406030204" pitchFamily="18" charset="0"/>
                        <a:cs typeface="Arial" pitchFamily="34" charset="0"/>
                      </a:rPr>
                      <m:t>𝜕</m:t>
                    </m:r>
                    <m:r>
                      <a:rPr lang="en-US" sz="2200" b="0" i="1" smtClean="0">
                        <a:solidFill>
                          <a:srgbClr val="D60093"/>
                        </a:solidFill>
                        <a:latin typeface="Cambria Math" panose="02040503050406030204" pitchFamily="18" charset="0"/>
                        <a:ea typeface="Cambria Math" panose="02040503050406030204" pitchFamily="18" charset="0"/>
                        <a:cs typeface="Arial" pitchFamily="34" charset="0"/>
                      </a:rPr>
                      <m:t>𝑊</m:t>
                    </m:r>
                  </m:oMath>
                </a14:m>
                <a:r>
                  <a:rPr lang="en-US" sz="2200" dirty="0">
                    <a:solidFill>
                      <a:srgbClr val="D60093"/>
                    </a:solidFill>
                    <a:latin typeface="Arial" pitchFamily="34" charset="0"/>
                    <a:cs typeface="Arial" pitchFamily="34" charset="0"/>
                  </a:rPr>
                  <a:t>’</a:t>
                </a:r>
              </a:p>
            </p:txBody>
          </p:sp>
        </mc:Choice>
        <mc:Fallback xmlns="">
          <p:sp>
            <p:nvSpPr>
              <p:cNvPr id="8" name="TextBox 7">
                <a:extLst>
                  <a:ext uri="{FF2B5EF4-FFF2-40B4-BE49-F238E27FC236}">
                    <a16:creationId xmlns:a16="http://schemas.microsoft.com/office/drawing/2014/main" id="{1411E612-AB10-B24C-BE12-842178C177B2}"/>
                  </a:ext>
                </a:extLst>
              </p:cNvPr>
              <p:cNvSpPr txBox="1">
                <a:spLocks noRot="1" noChangeAspect="1" noMove="1" noResize="1" noEditPoints="1" noAdjustHandles="1" noChangeArrowheads="1" noChangeShapeType="1" noTextEdit="1"/>
              </p:cNvSpPr>
              <p:nvPr/>
            </p:nvSpPr>
            <p:spPr>
              <a:xfrm>
                <a:off x="5791200" y="4027714"/>
                <a:ext cx="965777" cy="338554"/>
              </a:xfrm>
              <a:prstGeom prst="rect">
                <a:avLst/>
              </a:prstGeom>
              <a:blipFill>
                <a:blip r:embed="rId3"/>
                <a:stretch>
                  <a:fillRect l="-10526" t="-25926" r="-15789" b="-481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B5C369C-0FCF-EE4C-B5E7-7C4F316CF819}"/>
                  </a:ext>
                </a:extLst>
              </p:cNvPr>
              <p:cNvSpPr txBox="1"/>
              <p:nvPr/>
            </p:nvSpPr>
            <p:spPr>
              <a:xfrm>
                <a:off x="2982654" y="4449515"/>
                <a:ext cx="3274101" cy="6771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solidFill>
                            <a:srgbClr val="D60093"/>
                          </a:solidFill>
                          <a:latin typeface="Cambria Math" panose="02040503050406030204" pitchFamily="18" charset="0"/>
                          <a:cs typeface="Arial" pitchFamily="34" charset="0"/>
                        </a:rPr>
                        <m:t>𝑊</m:t>
                      </m:r>
                      <m:r>
                        <a:rPr lang="en-US" sz="2200" b="0" i="1" baseline="-25000" smtClean="0">
                          <a:solidFill>
                            <a:srgbClr val="D60093"/>
                          </a:solidFill>
                          <a:latin typeface="Cambria Math" panose="02040503050406030204" pitchFamily="18" charset="0"/>
                          <a:cs typeface="Arial" pitchFamily="34" charset="0"/>
                        </a:rPr>
                        <m:t>𝑛𝑒𝑤</m:t>
                      </m:r>
                      <m:r>
                        <a:rPr lang="en-US" sz="2200" b="0" i="1" smtClean="0">
                          <a:solidFill>
                            <a:srgbClr val="D60093"/>
                          </a:solidFill>
                          <a:latin typeface="Cambria Math" panose="02040503050406030204" pitchFamily="18" charset="0"/>
                          <a:cs typeface="Arial" pitchFamily="34" charset="0"/>
                        </a:rPr>
                        <m:t>=</m:t>
                      </m:r>
                      <m:r>
                        <a:rPr lang="en-US" sz="2200" b="0" i="1" smtClean="0">
                          <a:solidFill>
                            <a:srgbClr val="D60093"/>
                          </a:solidFill>
                          <a:latin typeface="Cambria Math" panose="02040503050406030204" pitchFamily="18" charset="0"/>
                          <a:cs typeface="Arial" pitchFamily="34" charset="0"/>
                        </a:rPr>
                        <m:t>𝑊𝑜𝑙𝑑</m:t>
                      </m:r>
                      <m:r>
                        <a:rPr lang="en-US" sz="2200" b="0" i="1" smtClean="0">
                          <a:solidFill>
                            <a:srgbClr val="D60093"/>
                          </a:solidFill>
                          <a:latin typeface="Cambria Math" panose="02040503050406030204" pitchFamily="18" charset="0"/>
                          <a:cs typeface="Arial" pitchFamily="34" charset="0"/>
                        </a:rPr>
                        <m:t> − </m:t>
                      </m:r>
                      <m:r>
                        <a:rPr lang="en-US" sz="2200" b="0" i="1" smtClean="0">
                          <a:solidFill>
                            <a:srgbClr val="D60093"/>
                          </a:solidFill>
                          <a:latin typeface="Cambria Math" panose="02040503050406030204" pitchFamily="18" charset="0"/>
                          <a:ea typeface="Cambria Math" panose="02040503050406030204" pitchFamily="18" charset="0"/>
                          <a:cs typeface="Arial" pitchFamily="34" charset="0"/>
                        </a:rPr>
                        <m:t>𝜇</m:t>
                      </m:r>
                      <m:r>
                        <a:rPr lang="en-US" sz="2200" b="0" i="1" smtClean="0">
                          <a:solidFill>
                            <a:srgbClr val="D60093"/>
                          </a:solidFill>
                          <a:latin typeface="Cambria Math" panose="02040503050406030204" pitchFamily="18" charset="0"/>
                          <a:ea typeface="Cambria Math" panose="02040503050406030204" pitchFamily="18" charset="0"/>
                          <a:cs typeface="Arial" pitchFamily="34" charset="0"/>
                        </a:rPr>
                        <m:t> </m:t>
                      </m:r>
                      <m:r>
                        <a:rPr lang="en-US" sz="2200" i="1">
                          <a:solidFill>
                            <a:srgbClr val="D60093"/>
                          </a:solidFill>
                          <a:latin typeface="Cambria Math" panose="02040503050406030204" pitchFamily="18" charset="0"/>
                          <a:ea typeface="Cambria Math" panose="02040503050406030204" pitchFamily="18" charset="0"/>
                          <a:cs typeface="Arial" pitchFamily="34" charset="0"/>
                        </a:rPr>
                        <m:t>𝜕</m:t>
                      </m:r>
                      <m:r>
                        <a:rPr lang="en-US" sz="2200" i="1">
                          <a:solidFill>
                            <a:srgbClr val="D60093"/>
                          </a:solidFill>
                          <a:latin typeface="Cambria Math" panose="02040503050406030204" pitchFamily="18" charset="0"/>
                          <a:ea typeface="Cambria Math" panose="02040503050406030204" pitchFamily="18" charset="0"/>
                          <a:cs typeface="Arial" pitchFamily="34" charset="0"/>
                        </a:rPr>
                        <m:t>𝐿</m:t>
                      </m:r>
                      <m:r>
                        <a:rPr lang="en-US" sz="2200" i="1">
                          <a:solidFill>
                            <a:srgbClr val="D60093"/>
                          </a:solidFill>
                          <a:latin typeface="Cambria Math" panose="02040503050406030204" pitchFamily="18" charset="0"/>
                          <a:ea typeface="Cambria Math" panose="02040503050406030204" pitchFamily="18" charset="0"/>
                          <a:cs typeface="Arial" pitchFamily="34" charset="0"/>
                        </a:rPr>
                        <m:t>/</m:t>
                      </m:r>
                      <m:r>
                        <a:rPr lang="en-US" sz="2200" i="1">
                          <a:solidFill>
                            <a:srgbClr val="D60093"/>
                          </a:solidFill>
                          <a:latin typeface="Cambria Math" panose="02040503050406030204" pitchFamily="18" charset="0"/>
                          <a:ea typeface="Cambria Math" panose="02040503050406030204" pitchFamily="18" charset="0"/>
                          <a:cs typeface="Arial" pitchFamily="34" charset="0"/>
                        </a:rPr>
                        <m:t>𝜕</m:t>
                      </m:r>
                      <m:r>
                        <a:rPr lang="en-US" sz="2200" i="1">
                          <a:solidFill>
                            <a:srgbClr val="D60093"/>
                          </a:solidFill>
                          <a:latin typeface="Cambria Math" panose="02040503050406030204" pitchFamily="18" charset="0"/>
                          <a:ea typeface="Cambria Math" panose="02040503050406030204" pitchFamily="18" charset="0"/>
                          <a:cs typeface="Arial" pitchFamily="34" charset="0"/>
                        </a:rPr>
                        <m:t>𝑊</m:t>
                      </m:r>
                    </m:oMath>
                  </m:oMathPara>
                </a14:m>
                <a:endParaRPr lang="en-US" sz="2200" dirty="0">
                  <a:solidFill>
                    <a:srgbClr val="D60093"/>
                  </a:solidFill>
                  <a:latin typeface="Arial" pitchFamily="34" charset="0"/>
                  <a:cs typeface="Arial" pitchFamily="34" charset="0"/>
                </a:endParaRPr>
              </a:p>
              <a:p>
                <a:endParaRPr lang="en-US" sz="2200" dirty="0">
                  <a:latin typeface="Arial" pitchFamily="34" charset="0"/>
                  <a:cs typeface="Arial" pitchFamily="34" charset="0"/>
                </a:endParaRPr>
              </a:p>
            </p:txBody>
          </p:sp>
        </mc:Choice>
        <mc:Fallback xmlns="">
          <p:sp>
            <p:nvSpPr>
              <p:cNvPr id="9" name="TextBox 8">
                <a:extLst>
                  <a:ext uri="{FF2B5EF4-FFF2-40B4-BE49-F238E27FC236}">
                    <a16:creationId xmlns:a16="http://schemas.microsoft.com/office/drawing/2014/main" id="{5B5C369C-0FCF-EE4C-B5E7-7C4F316CF819}"/>
                  </a:ext>
                </a:extLst>
              </p:cNvPr>
              <p:cNvSpPr txBox="1">
                <a:spLocks noRot="1" noChangeAspect="1" noMove="1" noResize="1" noEditPoints="1" noAdjustHandles="1" noChangeArrowheads="1" noChangeShapeType="1" noTextEdit="1"/>
              </p:cNvSpPr>
              <p:nvPr/>
            </p:nvSpPr>
            <p:spPr>
              <a:xfrm>
                <a:off x="2982654" y="4449515"/>
                <a:ext cx="3274101" cy="677108"/>
              </a:xfrm>
              <a:prstGeom prst="rect">
                <a:avLst/>
              </a:prstGeom>
              <a:blipFill>
                <a:blip r:embed="rId4"/>
                <a:stretch>
                  <a:fillRect t="-3704"/>
                </a:stretch>
              </a:blipFill>
            </p:spPr>
            <p:txBody>
              <a:bodyPr/>
              <a:lstStyle/>
              <a:p>
                <a:r>
                  <a:rPr lang="en-US">
                    <a:noFill/>
                  </a:rPr>
                  <a:t> </a:t>
                </a:r>
              </a:p>
            </p:txBody>
          </p:sp>
        </mc:Fallback>
      </mc:AlternateContent>
    </p:spTree>
    <p:extLst>
      <p:ext uri="{BB962C8B-B14F-4D97-AF65-F5344CB8AC3E}">
        <p14:creationId xmlns:p14="http://schemas.microsoft.com/office/powerpoint/2010/main" val="30276291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C9CFA-255E-0B4B-82F1-F6F280D4A123}"/>
              </a:ext>
            </a:extLst>
          </p:cNvPr>
          <p:cNvSpPr>
            <a:spLocks noGrp="1"/>
          </p:cNvSpPr>
          <p:nvPr>
            <p:ph type="title"/>
          </p:nvPr>
        </p:nvSpPr>
        <p:spPr/>
        <p:txBody>
          <a:bodyPr/>
          <a:lstStyle/>
          <a:p>
            <a:r>
              <a:rPr lang="en-US" dirty="0"/>
              <a:t>Word2Vec: Example</a:t>
            </a:r>
          </a:p>
        </p:txBody>
      </p:sp>
      <p:sp>
        <p:nvSpPr>
          <p:cNvPr id="3" name="Content Placeholder 2">
            <a:extLst>
              <a:ext uri="{FF2B5EF4-FFF2-40B4-BE49-F238E27FC236}">
                <a16:creationId xmlns:a16="http://schemas.microsoft.com/office/drawing/2014/main" id="{4BD9F41D-1B60-5F45-AE34-B9286C20034F}"/>
              </a:ext>
            </a:extLst>
          </p:cNvPr>
          <p:cNvSpPr>
            <a:spLocks noGrp="1"/>
          </p:cNvSpPr>
          <p:nvPr>
            <p:ph idx="1"/>
          </p:nvPr>
        </p:nvSpPr>
        <p:spPr/>
        <p:txBody>
          <a:bodyPr>
            <a:normAutofit fontScale="92500" lnSpcReduction="10000"/>
          </a:bodyPr>
          <a:lstStyle/>
          <a:p>
            <a:r>
              <a:rPr lang="en-US" sz="2800" dirty="0">
                <a:solidFill>
                  <a:srgbClr val="D60093"/>
                </a:solidFill>
              </a:rPr>
              <a:t>Document = {I read sci-fi books and drink orange juice}</a:t>
            </a:r>
          </a:p>
          <a:p>
            <a:pPr marL="118872" indent="0">
              <a:buNone/>
            </a:pPr>
            <a:r>
              <a:rPr lang="en-US" sz="2800" dirty="0"/>
              <a:t>    </a:t>
            </a:r>
            <a:r>
              <a:rPr lang="en-US" sz="1900" dirty="0">
                <a:solidFill>
                  <a:srgbClr val="008000"/>
                </a:solidFill>
              </a:rPr>
              <a:t>Since this is only doc in our corpus, our vocab is </a:t>
            </a:r>
          </a:p>
          <a:p>
            <a:pPr marL="118872" indent="0">
              <a:buNone/>
            </a:pPr>
            <a:r>
              <a:rPr lang="en-US" sz="1900" dirty="0">
                <a:solidFill>
                  <a:srgbClr val="008000"/>
                </a:solidFill>
              </a:rPr>
              <a:t>      vocab = [“I”, “read”, ”sci-fi”, ”books”, “and”, “drink”, “orange”, “juice”] and V = 8</a:t>
            </a:r>
          </a:p>
          <a:p>
            <a:pPr marL="118872" indent="0">
              <a:buNone/>
            </a:pPr>
            <a:endParaRPr lang="en-US" sz="1900" dirty="0">
              <a:solidFill>
                <a:srgbClr val="0000FF"/>
              </a:solidFill>
            </a:endParaRPr>
          </a:p>
          <a:p>
            <a:r>
              <a:rPr lang="en-US" sz="2800" dirty="0"/>
              <a:t>We execute one forward pass using above document</a:t>
            </a:r>
          </a:p>
          <a:p>
            <a:pPr marL="118872" indent="0">
              <a:buNone/>
            </a:pPr>
            <a:endParaRPr lang="en-US" sz="2600" dirty="0"/>
          </a:p>
          <a:p>
            <a:r>
              <a:rPr lang="en-US" dirty="0">
                <a:solidFill>
                  <a:srgbClr val="0000FF"/>
                </a:solidFill>
              </a:rPr>
              <a:t>Step 1</a:t>
            </a:r>
            <a:r>
              <a:rPr lang="en-US" dirty="0"/>
              <a:t>: assign one-hot vectors to words</a:t>
            </a:r>
          </a:p>
          <a:p>
            <a:pPr marL="118872" indent="0">
              <a:buNone/>
            </a:pPr>
            <a:r>
              <a:rPr lang="en-US" sz="2600" dirty="0"/>
              <a:t>I            : [1, 0, 0, 0, 0, 0, 0, 0]</a:t>
            </a:r>
          </a:p>
          <a:p>
            <a:pPr marL="118872" indent="0">
              <a:buNone/>
            </a:pPr>
            <a:r>
              <a:rPr lang="en-US" sz="2600" dirty="0"/>
              <a:t>read     : [0, 1, 0, 0, 0, 0, 0, 0]</a:t>
            </a:r>
          </a:p>
          <a:p>
            <a:pPr marL="118872" indent="0">
              <a:buNone/>
            </a:pPr>
            <a:r>
              <a:rPr lang="en-US" sz="2600" dirty="0"/>
              <a:t>sci-fi     : [0, 0, 1, 0, 0, 0, 0, 0]</a:t>
            </a:r>
          </a:p>
          <a:p>
            <a:pPr marL="118872" indent="0">
              <a:buNone/>
            </a:pPr>
            <a:r>
              <a:rPr lang="en-US" sz="2600" dirty="0"/>
              <a:t>books   : [0, 0, 0, 1, 0, 0, 0, 0]</a:t>
            </a:r>
          </a:p>
          <a:p>
            <a:pPr marL="118872" indent="0">
              <a:buNone/>
            </a:pPr>
            <a:r>
              <a:rPr lang="en-US" sz="2600" dirty="0"/>
              <a:t>and       : [0, 0, 0, 0, 1, 0, 0, 0]</a:t>
            </a:r>
          </a:p>
          <a:p>
            <a:pPr marL="118872" indent="0">
              <a:buNone/>
            </a:pPr>
            <a:r>
              <a:rPr lang="en-US" sz="2600" dirty="0"/>
              <a:t>drink    : [0, 0, 0, 0, 0, 1, 0, 0]</a:t>
            </a:r>
          </a:p>
          <a:p>
            <a:pPr marL="118872" indent="0">
              <a:buNone/>
            </a:pPr>
            <a:r>
              <a:rPr lang="en-US" sz="2600" dirty="0"/>
              <a:t>orange : [0, 0, 0, 0, 0, 0, 1, 0]</a:t>
            </a:r>
          </a:p>
          <a:p>
            <a:pPr marL="118872" indent="0">
              <a:buNone/>
            </a:pPr>
            <a:r>
              <a:rPr lang="en-US" sz="2600" dirty="0"/>
              <a:t>juice     : [0, 0, 0, 0, 0, 0, 0, 1]</a:t>
            </a:r>
          </a:p>
          <a:p>
            <a:pPr marL="118872" indent="0">
              <a:buNone/>
            </a:pPr>
            <a:endParaRPr lang="en-US" sz="2600" dirty="0"/>
          </a:p>
          <a:p>
            <a:pPr marL="118872" indent="0">
              <a:buNone/>
            </a:pPr>
            <a:endParaRPr lang="en-US" dirty="0"/>
          </a:p>
          <a:p>
            <a:pPr marL="118872" indent="0">
              <a:buNone/>
            </a:pPr>
            <a:endParaRPr lang="en-US" dirty="0"/>
          </a:p>
          <a:p>
            <a:pPr marL="118872" indent="0">
              <a:buNone/>
            </a:pPr>
            <a:endParaRPr lang="en-US" dirty="0"/>
          </a:p>
          <a:p>
            <a:pPr marL="118872" indent="0">
              <a:buNone/>
            </a:pPr>
            <a:endParaRPr lang="en-US" dirty="0"/>
          </a:p>
          <a:p>
            <a:pPr marL="118872" indent="0">
              <a:buNone/>
            </a:pPr>
            <a:endParaRPr lang="en-US" dirty="0"/>
          </a:p>
          <a:p>
            <a:pPr marL="118872" indent="0">
              <a:buNone/>
            </a:pPr>
            <a:endParaRPr lang="en-US" dirty="0"/>
          </a:p>
          <a:p>
            <a:pPr marL="118872" indent="0">
              <a:buNone/>
            </a:pPr>
            <a:endParaRPr lang="en-US" dirty="0"/>
          </a:p>
        </p:txBody>
      </p:sp>
      <p:sp>
        <p:nvSpPr>
          <p:cNvPr id="4" name="Date Placeholder 3">
            <a:extLst>
              <a:ext uri="{FF2B5EF4-FFF2-40B4-BE49-F238E27FC236}">
                <a16:creationId xmlns:a16="http://schemas.microsoft.com/office/drawing/2014/main" id="{A53FD8EE-60CC-7142-9325-BD203D43F793}"/>
              </a:ext>
            </a:extLst>
          </p:cNvPr>
          <p:cNvSpPr>
            <a:spLocks noGrp="1"/>
          </p:cNvSpPr>
          <p:nvPr>
            <p:ph type="dt" sz="half" idx="10"/>
          </p:nvPr>
        </p:nvSpPr>
        <p:spPr/>
        <p:txBody>
          <a:bodyPr/>
          <a:lstStyle/>
          <a:p>
            <a:fld id="{93AAB353-AF4D-5342-9AA1-4A1AFC98BDAB}" type="datetime1">
              <a:rPr lang="en-US" smtClean="0"/>
              <a:t>11/3/24</a:t>
            </a:fld>
            <a:endParaRPr lang="en-US"/>
          </a:p>
        </p:txBody>
      </p:sp>
      <p:sp>
        <p:nvSpPr>
          <p:cNvPr id="5" name="Footer Placeholder 4">
            <a:extLst>
              <a:ext uri="{FF2B5EF4-FFF2-40B4-BE49-F238E27FC236}">
                <a16:creationId xmlns:a16="http://schemas.microsoft.com/office/drawing/2014/main" id="{BDF43252-D266-624A-AAE7-056686D99FA3}"/>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2F05F9AD-DFE1-1846-88FF-12102DA7265F}"/>
              </a:ext>
            </a:extLst>
          </p:cNvPr>
          <p:cNvSpPr>
            <a:spLocks noGrp="1"/>
          </p:cNvSpPr>
          <p:nvPr>
            <p:ph type="sldNum" sz="quarter" idx="12"/>
          </p:nvPr>
        </p:nvSpPr>
        <p:spPr/>
        <p:txBody>
          <a:bodyPr/>
          <a:lstStyle/>
          <a:p>
            <a:fld id="{19B12225-5612-419B-A8D5-4B8EEE4C217E}" type="slidenum">
              <a:rPr lang="en-US" smtClean="0"/>
              <a:pPr/>
              <a:t>53</a:t>
            </a:fld>
            <a:endParaRPr lang="en-US"/>
          </a:p>
        </p:txBody>
      </p:sp>
    </p:spTree>
    <p:extLst>
      <p:ext uri="{BB962C8B-B14F-4D97-AF65-F5344CB8AC3E}">
        <p14:creationId xmlns:p14="http://schemas.microsoft.com/office/powerpoint/2010/main" val="514855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3EF999-0E22-E646-AE46-E78AE2A30EEA}"/>
              </a:ext>
            </a:extLst>
          </p:cNvPr>
          <p:cNvSpPr>
            <a:spLocks noGrp="1"/>
          </p:cNvSpPr>
          <p:nvPr>
            <p:ph idx="1"/>
          </p:nvPr>
        </p:nvSpPr>
        <p:spPr/>
        <p:txBody>
          <a:bodyPr/>
          <a:lstStyle/>
          <a:p>
            <a:r>
              <a:rPr lang="en-US" sz="2600" dirty="0">
                <a:solidFill>
                  <a:srgbClr val="D60093"/>
                </a:solidFill>
              </a:rPr>
              <a:t>size of vocabulary = 8, </a:t>
            </a:r>
            <a:r>
              <a:rPr lang="en-US" sz="2600" dirty="0"/>
              <a:t>Let’s set </a:t>
            </a:r>
            <a:r>
              <a:rPr lang="en-US" sz="2600" dirty="0">
                <a:solidFill>
                  <a:srgbClr val="D60093"/>
                </a:solidFill>
              </a:rPr>
              <a:t>embedding dim = 3</a:t>
            </a:r>
          </a:p>
        </p:txBody>
      </p:sp>
      <p:sp>
        <p:nvSpPr>
          <p:cNvPr id="4" name="Date Placeholder 3">
            <a:extLst>
              <a:ext uri="{FF2B5EF4-FFF2-40B4-BE49-F238E27FC236}">
                <a16:creationId xmlns:a16="http://schemas.microsoft.com/office/drawing/2014/main" id="{3A95A54D-9A58-5549-8965-BA8F28D4AD61}"/>
              </a:ext>
            </a:extLst>
          </p:cNvPr>
          <p:cNvSpPr>
            <a:spLocks noGrp="1"/>
          </p:cNvSpPr>
          <p:nvPr>
            <p:ph type="dt" sz="half" idx="10"/>
          </p:nvPr>
        </p:nvSpPr>
        <p:spPr/>
        <p:txBody>
          <a:bodyPr/>
          <a:lstStyle/>
          <a:p>
            <a:fld id="{50060D00-71E8-4A40-86F4-D58A39BCADCC}" type="datetime1">
              <a:rPr lang="en-US" smtClean="0"/>
              <a:t>11/3/24</a:t>
            </a:fld>
            <a:endParaRPr lang="en-US"/>
          </a:p>
        </p:txBody>
      </p:sp>
      <p:sp>
        <p:nvSpPr>
          <p:cNvPr id="5" name="Footer Placeholder 4">
            <a:extLst>
              <a:ext uri="{FF2B5EF4-FFF2-40B4-BE49-F238E27FC236}">
                <a16:creationId xmlns:a16="http://schemas.microsoft.com/office/drawing/2014/main" id="{75E3F037-9750-654F-816B-A2F53F57A342}"/>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A9C7C246-21A0-724F-877A-EDE129D9F409}"/>
              </a:ext>
            </a:extLst>
          </p:cNvPr>
          <p:cNvSpPr>
            <a:spLocks noGrp="1"/>
          </p:cNvSpPr>
          <p:nvPr>
            <p:ph type="sldNum" sz="quarter" idx="12"/>
          </p:nvPr>
        </p:nvSpPr>
        <p:spPr/>
        <p:txBody>
          <a:bodyPr/>
          <a:lstStyle/>
          <a:p>
            <a:fld id="{19B12225-5612-419B-A8D5-4B8EEE4C217E}" type="slidenum">
              <a:rPr lang="en-US" smtClean="0"/>
              <a:pPr/>
              <a:t>54</a:t>
            </a:fld>
            <a:endParaRPr lang="en-US"/>
          </a:p>
        </p:txBody>
      </p:sp>
      <p:sp>
        <p:nvSpPr>
          <p:cNvPr id="7" name="Oval 6">
            <a:extLst>
              <a:ext uri="{FF2B5EF4-FFF2-40B4-BE49-F238E27FC236}">
                <a16:creationId xmlns:a16="http://schemas.microsoft.com/office/drawing/2014/main" id="{FE984F9E-3D6F-C247-A6C1-9FD84A14E635}"/>
              </a:ext>
            </a:extLst>
          </p:cNvPr>
          <p:cNvSpPr/>
          <p:nvPr/>
        </p:nvSpPr>
        <p:spPr>
          <a:xfrm>
            <a:off x="1447800" y="24384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8" name="Oval 7">
            <a:extLst>
              <a:ext uri="{FF2B5EF4-FFF2-40B4-BE49-F238E27FC236}">
                <a16:creationId xmlns:a16="http://schemas.microsoft.com/office/drawing/2014/main" id="{FCA76820-8ED3-7640-BA73-F8527CD9BB52}"/>
              </a:ext>
            </a:extLst>
          </p:cNvPr>
          <p:cNvSpPr/>
          <p:nvPr/>
        </p:nvSpPr>
        <p:spPr>
          <a:xfrm>
            <a:off x="1447800" y="30480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9" name="Oval 8">
            <a:extLst>
              <a:ext uri="{FF2B5EF4-FFF2-40B4-BE49-F238E27FC236}">
                <a16:creationId xmlns:a16="http://schemas.microsoft.com/office/drawing/2014/main" id="{B47E7577-F37D-4A4E-8A05-F4574EBC5AC3}"/>
              </a:ext>
            </a:extLst>
          </p:cNvPr>
          <p:cNvSpPr/>
          <p:nvPr/>
        </p:nvSpPr>
        <p:spPr>
          <a:xfrm>
            <a:off x="1445821" y="36576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0" name="Oval 9">
            <a:extLst>
              <a:ext uri="{FF2B5EF4-FFF2-40B4-BE49-F238E27FC236}">
                <a16:creationId xmlns:a16="http://schemas.microsoft.com/office/drawing/2014/main" id="{1669C58E-19E6-4840-8065-BDB33C26B166}"/>
              </a:ext>
            </a:extLst>
          </p:cNvPr>
          <p:cNvSpPr/>
          <p:nvPr/>
        </p:nvSpPr>
        <p:spPr>
          <a:xfrm>
            <a:off x="1449779" y="42672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1" name="Oval 10">
            <a:extLst>
              <a:ext uri="{FF2B5EF4-FFF2-40B4-BE49-F238E27FC236}">
                <a16:creationId xmlns:a16="http://schemas.microsoft.com/office/drawing/2014/main" id="{9017FFE6-10AE-FF43-99AE-960397B374DB}"/>
              </a:ext>
            </a:extLst>
          </p:cNvPr>
          <p:cNvSpPr/>
          <p:nvPr/>
        </p:nvSpPr>
        <p:spPr>
          <a:xfrm>
            <a:off x="1449779" y="48768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2" name="Oval 11">
            <a:extLst>
              <a:ext uri="{FF2B5EF4-FFF2-40B4-BE49-F238E27FC236}">
                <a16:creationId xmlns:a16="http://schemas.microsoft.com/office/drawing/2014/main" id="{0587A28A-D458-1444-99C8-17770F541260}"/>
              </a:ext>
            </a:extLst>
          </p:cNvPr>
          <p:cNvSpPr/>
          <p:nvPr/>
        </p:nvSpPr>
        <p:spPr>
          <a:xfrm>
            <a:off x="1447800" y="54864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3" name="Oval 12">
            <a:extLst>
              <a:ext uri="{FF2B5EF4-FFF2-40B4-BE49-F238E27FC236}">
                <a16:creationId xmlns:a16="http://schemas.microsoft.com/office/drawing/2014/main" id="{4D34B655-73FA-C34C-9A61-24A56C1E178B}"/>
              </a:ext>
            </a:extLst>
          </p:cNvPr>
          <p:cNvSpPr/>
          <p:nvPr/>
        </p:nvSpPr>
        <p:spPr>
          <a:xfrm>
            <a:off x="1447800" y="18288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4" name="Oval 13">
            <a:extLst>
              <a:ext uri="{FF2B5EF4-FFF2-40B4-BE49-F238E27FC236}">
                <a16:creationId xmlns:a16="http://schemas.microsoft.com/office/drawing/2014/main" id="{5760957A-AB0C-FC41-AA55-82C44F26A99C}"/>
              </a:ext>
            </a:extLst>
          </p:cNvPr>
          <p:cNvSpPr/>
          <p:nvPr/>
        </p:nvSpPr>
        <p:spPr>
          <a:xfrm>
            <a:off x="1447800" y="60960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5" name="Oval 14">
            <a:extLst>
              <a:ext uri="{FF2B5EF4-FFF2-40B4-BE49-F238E27FC236}">
                <a16:creationId xmlns:a16="http://schemas.microsoft.com/office/drawing/2014/main" id="{F0B5B778-2FF2-4044-BB0E-2570466FF450}"/>
              </a:ext>
            </a:extLst>
          </p:cNvPr>
          <p:cNvSpPr/>
          <p:nvPr/>
        </p:nvSpPr>
        <p:spPr>
          <a:xfrm>
            <a:off x="3581400" y="2703121"/>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6" name="Oval 15">
            <a:extLst>
              <a:ext uri="{FF2B5EF4-FFF2-40B4-BE49-F238E27FC236}">
                <a16:creationId xmlns:a16="http://schemas.microsoft.com/office/drawing/2014/main" id="{181F2C68-981D-824F-A4A2-7DD278B281DF}"/>
              </a:ext>
            </a:extLst>
          </p:cNvPr>
          <p:cNvSpPr/>
          <p:nvPr/>
        </p:nvSpPr>
        <p:spPr>
          <a:xfrm>
            <a:off x="3581400" y="39243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7" name="Oval 16">
            <a:extLst>
              <a:ext uri="{FF2B5EF4-FFF2-40B4-BE49-F238E27FC236}">
                <a16:creationId xmlns:a16="http://schemas.microsoft.com/office/drawing/2014/main" id="{34985E82-54AF-0A45-9DCD-E6A8D656E586}"/>
              </a:ext>
            </a:extLst>
          </p:cNvPr>
          <p:cNvSpPr/>
          <p:nvPr/>
        </p:nvSpPr>
        <p:spPr>
          <a:xfrm>
            <a:off x="3581400" y="51054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8" name="Oval 17">
            <a:extLst>
              <a:ext uri="{FF2B5EF4-FFF2-40B4-BE49-F238E27FC236}">
                <a16:creationId xmlns:a16="http://schemas.microsoft.com/office/drawing/2014/main" id="{7AA8C92D-B711-8145-8F15-3FA48B6147BA}"/>
              </a:ext>
            </a:extLst>
          </p:cNvPr>
          <p:cNvSpPr/>
          <p:nvPr/>
        </p:nvSpPr>
        <p:spPr>
          <a:xfrm>
            <a:off x="5865421" y="24384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9" name="Oval 18">
            <a:extLst>
              <a:ext uri="{FF2B5EF4-FFF2-40B4-BE49-F238E27FC236}">
                <a16:creationId xmlns:a16="http://schemas.microsoft.com/office/drawing/2014/main" id="{5C48531D-05C0-8345-980B-30952593A5D8}"/>
              </a:ext>
            </a:extLst>
          </p:cNvPr>
          <p:cNvSpPr/>
          <p:nvPr/>
        </p:nvSpPr>
        <p:spPr>
          <a:xfrm>
            <a:off x="5865421" y="30480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0" name="Oval 19">
            <a:extLst>
              <a:ext uri="{FF2B5EF4-FFF2-40B4-BE49-F238E27FC236}">
                <a16:creationId xmlns:a16="http://schemas.microsoft.com/office/drawing/2014/main" id="{C85BDEDA-0B29-0B48-AB49-A0443750BCFD}"/>
              </a:ext>
            </a:extLst>
          </p:cNvPr>
          <p:cNvSpPr/>
          <p:nvPr/>
        </p:nvSpPr>
        <p:spPr>
          <a:xfrm>
            <a:off x="5863442" y="36576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1" name="Oval 20">
            <a:extLst>
              <a:ext uri="{FF2B5EF4-FFF2-40B4-BE49-F238E27FC236}">
                <a16:creationId xmlns:a16="http://schemas.microsoft.com/office/drawing/2014/main" id="{BE8785BA-01A9-8F40-A9A4-F3FEA11408FA}"/>
              </a:ext>
            </a:extLst>
          </p:cNvPr>
          <p:cNvSpPr/>
          <p:nvPr/>
        </p:nvSpPr>
        <p:spPr>
          <a:xfrm>
            <a:off x="5867400" y="42672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2" name="Oval 21">
            <a:extLst>
              <a:ext uri="{FF2B5EF4-FFF2-40B4-BE49-F238E27FC236}">
                <a16:creationId xmlns:a16="http://schemas.microsoft.com/office/drawing/2014/main" id="{EB544E5D-9AED-0D4C-B87F-EAD417444152}"/>
              </a:ext>
            </a:extLst>
          </p:cNvPr>
          <p:cNvSpPr/>
          <p:nvPr/>
        </p:nvSpPr>
        <p:spPr>
          <a:xfrm>
            <a:off x="5867400" y="48768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3" name="Oval 22">
            <a:extLst>
              <a:ext uri="{FF2B5EF4-FFF2-40B4-BE49-F238E27FC236}">
                <a16:creationId xmlns:a16="http://schemas.microsoft.com/office/drawing/2014/main" id="{F0C98CF2-6F2D-5840-8C01-71F89C11F9FF}"/>
              </a:ext>
            </a:extLst>
          </p:cNvPr>
          <p:cNvSpPr/>
          <p:nvPr/>
        </p:nvSpPr>
        <p:spPr>
          <a:xfrm>
            <a:off x="5865421" y="54864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4" name="Oval 23">
            <a:extLst>
              <a:ext uri="{FF2B5EF4-FFF2-40B4-BE49-F238E27FC236}">
                <a16:creationId xmlns:a16="http://schemas.microsoft.com/office/drawing/2014/main" id="{DB45B293-2C68-B645-9886-C89078196905}"/>
              </a:ext>
            </a:extLst>
          </p:cNvPr>
          <p:cNvSpPr/>
          <p:nvPr/>
        </p:nvSpPr>
        <p:spPr>
          <a:xfrm>
            <a:off x="5865421" y="18288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5" name="Oval 24">
            <a:extLst>
              <a:ext uri="{FF2B5EF4-FFF2-40B4-BE49-F238E27FC236}">
                <a16:creationId xmlns:a16="http://schemas.microsoft.com/office/drawing/2014/main" id="{BEF37F96-B6E3-C443-B434-C702B6BBF14F}"/>
              </a:ext>
            </a:extLst>
          </p:cNvPr>
          <p:cNvSpPr/>
          <p:nvPr/>
        </p:nvSpPr>
        <p:spPr>
          <a:xfrm>
            <a:off x="5865421" y="60960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DD3E3EA0-C479-AE4B-A2A9-F7E0E4FCD5EF}"/>
              </a:ext>
            </a:extLst>
          </p:cNvPr>
          <p:cNvCxnSpPr>
            <a:cxnSpLocks/>
            <a:stCxn id="13" idx="5"/>
            <a:endCxn id="15" idx="2"/>
          </p:cNvCxnSpPr>
          <p:nvPr/>
        </p:nvCxnSpPr>
        <p:spPr>
          <a:xfrm>
            <a:off x="1903085" y="2284085"/>
            <a:ext cx="1678315" cy="685736"/>
          </a:xfrm>
          <a:prstGeom prst="line">
            <a:avLst/>
          </a:prstGeom>
          <a:ln w="28575"/>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F01C6554-CAC9-DB47-B06E-9910BCA07525}"/>
              </a:ext>
            </a:extLst>
          </p:cNvPr>
          <p:cNvCxnSpPr>
            <a:cxnSpLocks/>
          </p:cNvCxnSpPr>
          <p:nvPr/>
        </p:nvCxnSpPr>
        <p:spPr>
          <a:xfrm>
            <a:off x="2017353" y="2760303"/>
            <a:ext cx="1560089" cy="249596"/>
          </a:xfrm>
          <a:prstGeom prst="line">
            <a:avLst/>
          </a:prstGeom>
          <a:ln w="28575"/>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6AB9B9E8-C680-5248-9365-F0468870FBBC}"/>
              </a:ext>
            </a:extLst>
          </p:cNvPr>
          <p:cNvCxnSpPr>
            <a:cxnSpLocks/>
            <a:endCxn id="15" idx="2"/>
          </p:cNvCxnSpPr>
          <p:nvPr/>
        </p:nvCxnSpPr>
        <p:spPr>
          <a:xfrm flipV="1">
            <a:off x="2013395" y="2969821"/>
            <a:ext cx="1568005" cy="344882"/>
          </a:xfrm>
          <a:prstGeom prst="line">
            <a:avLst/>
          </a:prstGeom>
          <a:ln w="28575"/>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0927AA7F-71CE-C44D-897C-1E3897E5D80B}"/>
              </a:ext>
            </a:extLst>
          </p:cNvPr>
          <p:cNvCxnSpPr>
            <a:cxnSpLocks/>
            <a:stCxn id="9" idx="6"/>
          </p:cNvCxnSpPr>
          <p:nvPr/>
        </p:nvCxnSpPr>
        <p:spPr>
          <a:xfrm flipV="1">
            <a:off x="1979221" y="3017521"/>
            <a:ext cx="1594263" cy="906779"/>
          </a:xfrm>
          <a:prstGeom prst="line">
            <a:avLst/>
          </a:prstGeom>
          <a:ln w="28575"/>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08B55ED0-0B80-4C46-B835-B9E815368BA5}"/>
              </a:ext>
            </a:extLst>
          </p:cNvPr>
          <p:cNvCxnSpPr>
            <a:cxnSpLocks/>
            <a:stCxn id="10" idx="6"/>
            <a:endCxn id="15" idx="2"/>
          </p:cNvCxnSpPr>
          <p:nvPr/>
        </p:nvCxnSpPr>
        <p:spPr>
          <a:xfrm flipV="1">
            <a:off x="1983179" y="2969821"/>
            <a:ext cx="1598221" cy="1564079"/>
          </a:xfrm>
          <a:prstGeom prst="line">
            <a:avLst/>
          </a:prstGeom>
          <a:ln w="28575"/>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A0598294-3668-E846-A022-5AF29B346430}"/>
              </a:ext>
            </a:extLst>
          </p:cNvPr>
          <p:cNvCxnSpPr>
            <a:cxnSpLocks/>
            <a:stCxn id="11" idx="6"/>
          </p:cNvCxnSpPr>
          <p:nvPr/>
        </p:nvCxnSpPr>
        <p:spPr>
          <a:xfrm flipV="1">
            <a:off x="1983179" y="3040378"/>
            <a:ext cx="1589316" cy="2103122"/>
          </a:xfrm>
          <a:prstGeom prst="line">
            <a:avLst/>
          </a:prstGeom>
          <a:ln w="28575"/>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9AF17E93-717C-114B-A363-D20DEFA81EA3}"/>
              </a:ext>
            </a:extLst>
          </p:cNvPr>
          <p:cNvCxnSpPr>
            <a:cxnSpLocks/>
            <a:stCxn id="12" idx="6"/>
            <a:endCxn id="15" idx="2"/>
          </p:cNvCxnSpPr>
          <p:nvPr/>
        </p:nvCxnSpPr>
        <p:spPr>
          <a:xfrm flipV="1">
            <a:off x="1981200" y="2969821"/>
            <a:ext cx="1600200" cy="2783279"/>
          </a:xfrm>
          <a:prstGeom prst="line">
            <a:avLst/>
          </a:prstGeom>
          <a:ln w="28575"/>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DF3785BE-70E0-FD4A-A597-0F8F86E4C71A}"/>
              </a:ext>
            </a:extLst>
          </p:cNvPr>
          <p:cNvCxnSpPr>
            <a:cxnSpLocks/>
            <a:endCxn id="15" idx="2"/>
          </p:cNvCxnSpPr>
          <p:nvPr/>
        </p:nvCxnSpPr>
        <p:spPr>
          <a:xfrm flipV="1">
            <a:off x="2013395" y="2969821"/>
            <a:ext cx="1568005" cy="3385262"/>
          </a:xfrm>
          <a:prstGeom prst="line">
            <a:avLst/>
          </a:prstGeom>
          <a:ln w="28575"/>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825B194E-AF66-FD48-AC5A-D674DC6458DB}"/>
              </a:ext>
            </a:extLst>
          </p:cNvPr>
          <p:cNvCxnSpPr>
            <a:cxnSpLocks/>
            <a:stCxn id="13" idx="5"/>
            <a:endCxn id="16" idx="1"/>
          </p:cNvCxnSpPr>
          <p:nvPr/>
        </p:nvCxnSpPr>
        <p:spPr>
          <a:xfrm>
            <a:off x="1903085" y="2284085"/>
            <a:ext cx="1756430" cy="1718330"/>
          </a:xfrm>
          <a:prstGeom prst="line">
            <a:avLst/>
          </a:prstGeom>
          <a:ln w="28575"/>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9DD01029-FF5B-904A-BAAA-1D41687D60E1}"/>
              </a:ext>
            </a:extLst>
          </p:cNvPr>
          <p:cNvCxnSpPr>
            <a:cxnSpLocks/>
            <a:endCxn id="16" idx="1"/>
          </p:cNvCxnSpPr>
          <p:nvPr/>
        </p:nvCxnSpPr>
        <p:spPr>
          <a:xfrm>
            <a:off x="1985158" y="2771700"/>
            <a:ext cx="1674357" cy="1230715"/>
          </a:xfrm>
          <a:prstGeom prst="line">
            <a:avLst/>
          </a:prstGeom>
          <a:ln w="28575"/>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D69EAF91-AF65-7449-81D4-6E69506E7ED0}"/>
              </a:ext>
            </a:extLst>
          </p:cNvPr>
          <p:cNvCxnSpPr>
            <a:cxnSpLocks/>
            <a:endCxn id="16" idx="1"/>
          </p:cNvCxnSpPr>
          <p:nvPr/>
        </p:nvCxnSpPr>
        <p:spPr>
          <a:xfrm>
            <a:off x="2015374" y="3322320"/>
            <a:ext cx="1644141" cy="680095"/>
          </a:xfrm>
          <a:prstGeom prst="line">
            <a:avLst/>
          </a:prstGeom>
          <a:ln w="28575"/>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98471BCB-43C3-F54E-AC06-888020A6DEF8}"/>
              </a:ext>
            </a:extLst>
          </p:cNvPr>
          <p:cNvCxnSpPr>
            <a:cxnSpLocks/>
            <a:stCxn id="9" idx="6"/>
            <a:endCxn id="16" idx="1"/>
          </p:cNvCxnSpPr>
          <p:nvPr/>
        </p:nvCxnSpPr>
        <p:spPr>
          <a:xfrm>
            <a:off x="1979221" y="3924300"/>
            <a:ext cx="1680294" cy="78115"/>
          </a:xfrm>
          <a:prstGeom prst="line">
            <a:avLst/>
          </a:prstGeom>
          <a:ln w="28575"/>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C7450171-6F98-294E-B819-3BCCDC274A74}"/>
              </a:ext>
            </a:extLst>
          </p:cNvPr>
          <p:cNvCxnSpPr>
            <a:cxnSpLocks/>
            <a:endCxn id="16" idx="1"/>
          </p:cNvCxnSpPr>
          <p:nvPr/>
        </p:nvCxnSpPr>
        <p:spPr>
          <a:xfrm flipV="1">
            <a:off x="2007458" y="4002415"/>
            <a:ext cx="1652057" cy="530528"/>
          </a:xfrm>
          <a:prstGeom prst="line">
            <a:avLst/>
          </a:prstGeom>
          <a:ln w="28575"/>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A9231821-C0FC-3D4E-8209-6CE8958D439F}"/>
              </a:ext>
            </a:extLst>
          </p:cNvPr>
          <p:cNvCxnSpPr>
            <a:cxnSpLocks/>
            <a:stCxn id="11" idx="6"/>
            <a:endCxn id="16" idx="1"/>
          </p:cNvCxnSpPr>
          <p:nvPr/>
        </p:nvCxnSpPr>
        <p:spPr>
          <a:xfrm flipV="1">
            <a:off x="1983179" y="4002415"/>
            <a:ext cx="1676336" cy="1141085"/>
          </a:xfrm>
          <a:prstGeom prst="line">
            <a:avLst/>
          </a:prstGeom>
          <a:ln w="28575"/>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340E5CF9-4B90-E042-9382-4392634B1350}"/>
              </a:ext>
            </a:extLst>
          </p:cNvPr>
          <p:cNvCxnSpPr>
            <a:cxnSpLocks/>
            <a:stCxn id="12" idx="6"/>
            <a:endCxn id="16" idx="1"/>
          </p:cNvCxnSpPr>
          <p:nvPr/>
        </p:nvCxnSpPr>
        <p:spPr>
          <a:xfrm flipV="1">
            <a:off x="1981200" y="4002415"/>
            <a:ext cx="1678315" cy="1750685"/>
          </a:xfrm>
          <a:prstGeom prst="line">
            <a:avLst/>
          </a:prstGeom>
          <a:ln w="28575"/>
        </p:spPr>
        <p:style>
          <a:lnRef idx="1">
            <a:schemeClr val="dk1"/>
          </a:lnRef>
          <a:fillRef idx="0">
            <a:schemeClr val="dk1"/>
          </a:fillRef>
          <a:effectRef idx="0">
            <a:schemeClr val="dk1"/>
          </a:effectRef>
          <a:fontRef idx="minor">
            <a:schemeClr val="tx1"/>
          </a:fontRef>
        </p:style>
      </p:cxnSp>
      <p:cxnSp>
        <p:nvCxnSpPr>
          <p:cNvPr id="72" name="Straight Connector 71">
            <a:extLst>
              <a:ext uri="{FF2B5EF4-FFF2-40B4-BE49-F238E27FC236}">
                <a16:creationId xmlns:a16="http://schemas.microsoft.com/office/drawing/2014/main" id="{FFD42355-850B-AE41-83A6-9E363D9EA07E}"/>
              </a:ext>
            </a:extLst>
          </p:cNvPr>
          <p:cNvCxnSpPr>
            <a:cxnSpLocks/>
            <a:endCxn id="16" idx="1"/>
          </p:cNvCxnSpPr>
          <p:nvPr/>
        </p:nvCxnSpPr>
        <p:spPr>
          <a:xfrm flipV="1">
            <a:off x="2009437" y="4002415"/>
            <a:ext cx="1650078" cy="2352666"/>
          </a:xfrm>
          <a:prstGeom prst="line">
            <a:avLst/>
          </a:prstGeom>
          <a:ln w="28575"/>
        </p:spPr>
        <p:style>
          <a:lnRef idx="1">
            <a:schemeClr val="dk1"/>
          </a:lnRef>
          <a:fillRef idx="0">
            <a:schemeClr val="dk1"/>
          </a:fillRef>
          <a:effectRef idx="0">
            <a:schemeClr val="dk1"/>
          </a:effectRef>
          <a:fontRef idx="minor">
            <a:schemeClr val="tx1"/>
          </a:fontRef>
        </p:style>
      </p:cxnSp>
      <p:cxnSp>
        <p:nvCxnSpPr>
          <p:cNvPr id="75" name="Straight Connector 74">
            <a:extLst>
              <a:ext uri="{FF2B5EF4-FFF2-40B4-BE49-F238E27FC236}">
                <a16:creationId xmlns:a16="http://schemas.microsoft.com/office/drawing/2014/main" id="{B7EB380F-C9BF-0842-95F4-1848117705A6}"/>
              </a:ext>
            </a:extLst>
          </p:cNvPr>
          <p:cNvCxnSpPr>
            <a:cxnSpLocks/>
            <a:stCxn id="13" idx="5"/>
            <a:endCxn id="17" idx="1"/>
          </p:cNvCxnSpPr>
          <p:nvPr/>
        </p:nvCxnSpPr>
        <p:spPr>
          <a:xfrm>
            <a:off x="1903085" y="2284085"/>
            <a:ext cx="1756430" cy="2899430"/>
          </a:xfrm>
          <a:prstGeom prst="line">
            <a:avLst/>
          </a:prstGeom>
          <a:ln w="28575"/>
        </p:spPr>
        <p:style>
          <a:lnRef idx="1">
            <a:schemeClr val="dk1"/>
          </a:lnRef>
          <a:fillRef idx="0">
            <a:schemeClr val="dk1"/>
          </a:fillRef>
          <a:effectRef idx="0">
            <a:schemeClr val="dk1"/>
          </a:effectRef>
          <a:fontRef idx="minor">
            <a:schemeClr val="tx1"/>
          </a:fontRef>
        </p:style>
      </p:cxnSp>
      <p:cxnSp>
        <p:nvCxnSpPr>
          <p:cNvPr id="78" name="Straight Connector 77">
            <a:extLst>
              <a:ext uri="{FF2B5EF4-FFF2-40B4-BE49-F238E27FC236}">
                <a16:creationId xmlns:a16="http://schemas.microsoft.com/office/drawing/2014/main" id="{5002F88C-127F-4B46-942B-1D1B6DF0DDB5}"/>
              </a:ext>
            </a:extLst>
          </p:cNvPr>
          <p:cNvCxnSpPr>
            <a:cxnSpLocks/>
            <a:endCxn id="17" idx="1"/>
          </p:cNvCxnSpPr>
          <p:nvPr/>
        </p:nvCxnSpPr>
        <p:spPr>
          <a:xfrm>
            <a:off x="2009437" y="2817964"/>
            <a:ext cx="1650078" cy="2365551"/>
          </a:xfrm>
          <a:prstGeom prst="line">
            <a:avLst/>
          </a:prstGeom>
          <a:ln w="28575"/>
        </p:spPr>
        <p:style>
          <a:lnRef idx="1">
            <a:schemeClr val="dk1"/>
          </a:lnRef>
          <a:fillRef idx="0">
            <a:schemeClr val="dk1"/>
          </a:fillRef>
          <a:effectRef idx="0">
            <a:schemeClr val="dk1"/>
          </a:effectRef>
          <a:fontRef idx="minor">
            <a:schemeClr val="tx1"/>
          </a:fontRef>
        </p:style>
      </p:cxnSp>
      <p:cxnSp>
        <p:nvCxnSpPr>
          <p:cNvPr id="81" name="Straight Connector 80">
            <a:extLst>
              <a:ext uri="{FF2B5EF4-FFF2-40B4-BE49-F238E27FC236}">
                <a16:creationId xmlns:a16="http://schemas.microsoft.com/office/drawing/2014/main" id="{D559DD3A-2B0C-C04F-88B9-065B32D32C37}"/>
              </a:ext>
            </a:extLst>
          </p:cNvPr>
          <p:cNvCxnSpPr>
            <a:cxnSpLocks/>
            <a:endCxn id="17" idx="1"/>
          </p:cNvCxnSpPr>
          <p:nvPr/>
        </p:nvCxnSpPr>
        <p:spPr>
          <a:xfrm>
            <a:off x="2009437" y="3322320"/>
            <a:ext cx="1650078" cy="1861195"/>
          </a:xfrm>
          <a:prstGeom prst="line">
            <a:avLst/>
          </a:prstGeom>
          <a:ln w="28575"/>
        </p:spPr>
        <p:style>
          <a:lnRef idx="1">
            <a:schemeClr val="dk1"/>
          </a:lnRef>
          <a:fillRef idx="0">
            <a:schemeClr val="dk1"/>
          </a:fillRef>
          <a:effectRef idx="0">
            <a:schemeClr val="dk1"/>
          </a:effectRef>
          <a:fontRef idx="minor">
            <a:schemeClr val="tx1"/>
          </a:fontRef>
        </p:style>
      </p:cxnSp>
      <p:cxnSp>
        <p:nvCxnSpPr>
          <p:cNvPr id="84" name="Straight Connector 83">
            <a:extLst>
              <a:ext uri="{FF2B5EF4-FFF2-40B4-BE49-F238E27FC236}">
                <a16:creationId xmlns:a16="http://schemas.microsoft.com/office/drawing/2014/main" id="{9C2FCB5F-C58E-8742-94E7-20E6D3B434C1}"/>
              </a:ext>
            </a:extLst>
          </p:cNvPr>
          <p:cNvCxnSpPr>
            <a:cxnSpLocks/>
            <a:stCxn id="9" idx="6"/>
            <a:endCxn id="17" idx="1"/>
          </p:cNvCxnSpPr>
          <p:nvPr/>
        </p:nvCxnSpPr>
        <p:spPr>
          <a:xfrm>
            <a:off x="1979221" y="3924300"/>
            <a:ext cx="1680294" cy="1259215"/>
          </a:xfrm>
          <a:prstGeom prst="line">
            <a:avLst/>
          </a:prstGeom>
          <a:ln w="28575"/>
        </p:spPr>
        <p:style>
          <a:lnRef idx="1">
            <a:schemeClr val="dk1"/>
          </a:lnRef>
          <a:fillRef idx="0">
            <a:schemeClr val="dk1"/>
          </a:fillRef>
          <a:effectRef idx="0">
            <a:schemeClr val="dk1"/>
          </a:effectRef>
          <a:fontRef idx="minor">
            <a:schemeClr val="tx1"/>
          </a:fontRef>
        </p:style>
      </p:cxnSp>
      <p:cxnSp>
        <p:nvCxnSpPr>
          <p:cNvPr id="87" name="Straight Connector 86">
            <a:extLst>
              <a:ext uri="{FF2B5EF4-FFF2-40B4-BE49-F238E27FC236}">
                <a16:creationId xmlns:a16="http://schemas.microsoft.com/office/drawing/2014/main" id="{3B21A8BD-05E0-1B43-A4F8-62FF7028DDDB}"/>
              </a:ext>
            </a:extLst>
          </p:cNvPr>
          <p:cNvCxnSpPr>
            <a:cxnSpLocks/>
            <a:endCxn id="17" idx="1"/>
          </p:cNvCxnSpPr>
          <p:nvPr/>
        </p:nvCxnSpPr>
        <p:spPr>
          <a:xfrm>
            <a:off x="2017353" y="4532943"/>
            <a:ext cx="1642162" cy="650572"/>
          </a:xfrm>
          <a:prstGeom prst="line">
            <a:avLst/>
          </a:prstGeom>
          <a:ln w="28575"/>
        </p:spPr>
        <p:style>
          <a:lnRef idx="1">
            <a:schemeClr val="dk1"/>
          </a:lnRef>
          <a:fillRef idx="0">
            <a:schemeClr val="dk1"/>
          </a:fillRef>
          <a:effectRef idx="0">
            <a:schemeClr val="dk1"/>
          </a:effectRef>
          <a:fontRef idx="minor">
            <a:schemeClr val="tx1"/>
          </a:fontRef>
        </p:style>
      </p:cxnSp>
      <p:cxnSp>
        <p:nvCxnSpPr>
          <p:cNvPr id="90" name="Straight Connector 89">
            <a:extLst>
              <a:ext uri="{FF2B5EF4-FFF2-40B4-BE49-F238E27FC236}">
                <a16:creationId xmlns:a16="http://schemas.microsoft.com/office/drawing/2014/main" id="{A2DEFA17-6869-DD4A-892B-DB71F8944EE3}"/>
              </a:ext>
            </a:extLst>
          </p:cNvPr>
          <p:cNvCxnSpPr>
            <a:cxnSpLocks/>
            <a:endCxn id="17" idx="1"/>
          </p:cNvCxnSpPr>
          <p:nvPr/>
        </p:nvCxnSpPr>
        <p:spPr>
          <a:xfrm>
            <a:off x="2015374" y="5143022"/>
            <a:ext cx="1644141" cy="40493"/>
          </a:xfrm>
          <a:prstGeom prst="line">
            <a:avLst/>
          </a:prstGeom>
          <a:ln w="28575"/>
        </p:spPr>
        <p:style>
          <a:lnRef idx="1">
            <a:schemeClr val="dk1"/>
          </a:lnRef>
          <a:fillRef idx="0">
            <a:schemeClr val="dk1"/>
          </a:fillRef>
          <a:effectRef idx="0">
            <a:schemeClr val="dk1"/>
          </a:effectRef>
          <a:fontRef idx="minor">
            <a:schemeClr val="tx1"/>
          </a:fontRef>
        </p:style>
      </p:cxnSp>
      <p:cxnSp>
        <p:nvCxnSpPr>
          <p:cNvPr id="93" name="Straight Connector 92">
            <a:extLst>
              <a:ext uri="{FF2B5EF4-FFF2-40B4-BE49-F238E27FC236}">
                <a16:creationId xmlns:a16="http://schemas.microsoft.com/office/drawing/2014/main" id="{33EBA30B-F746-234E-8095-F36CD9CFEDD1}"/>
              </a:ext>
            </a:extLst>
          </p:cNvPr>
          <p:cNvCxnSpPr>
            <a:cxnSpLocks/>
            <a:endCxn id="17" idx="1"/>
          </p:cNvCxnSpPr>
          <p:nvPr/>
        </p:nvCxnSpPr>
        <p:spPr>
          <a:xfrm flipV="1">
            <a:off x="1987137" y="5183515"/>
            <a:ext cx="1672378" cy="549340"/>
          </a:xfrm>
          <a:prstGeom prst="line">
            <a:avLst/>
          </a:prstGeom>
          <a:ln w="28575"/>
        </p:spPr>
        <p:style>
          <a:lnRef idx="1">
            <a:schemeClr val="dk1"/>
          </a:lnRef>
          <a:fillRef idx="0">
            <a:schemeClr val="dk1"/>
          </a:fillRef>
          <a:effectRef idx="0">
            <a:schemeClr val="dk1"/>
          </a:effectRef>
          <a:fontRef idx="minor">
            <a:schemeClr val="tx1"/>
          </a:fontRef>
        </p:style>
      </p:cxnSp>
      <p:cxnSp>
        <p:nvCxnSpPr>
          <p:cNvPr id="96" name="Straight Connector 95">
            <a:extLst>
              <a:ext uri="{FF2B5EF4-FFF2-40B4-BE49-F238E27FC236}">
                <a16:creationId xmlns:a16="http://schemas.microsoft.com/office/drawing/2014/main" id="{C3F4262C-798D-B145-8790-D0AB85D7C565}"/>
              </a:ext>
            </a:extLst>
          </p:cNvPr>
          <p:cNvCxnSpPr>
            <a:cxnSpLocks/>
            <a:endCxn id="17" idx="1"/>
          </p:cNvCxnSpPr>
          <p:nvPr/>
        </p:nvCxnSpPr>
        <p:spPr>
          <a:xfrm flipV="1">
            <a:off x="1987137" y="5183515"/>
            <a:ext cx="1672378" cy="1178708"/>
          </a:xfrm>
          <a:prstGeom prst="line">
            <a:avLst/>
          </a:prstGeom>
          <a:ln w="28575"/>
        </p:spPr>
        <p:style>
          <a:lnRef idx="1">
            <a:schemeClr val="dk1"/>
          </a:lnRef>
          <a:fillRef idx="0">
            <a:schemeClr val="dk1"/>
          </a:fillRef>
          <a:effectRef idx="0">
            <a:schemeClr val="dk1"/>
          </a:effectRef>
          <a:fontRef idx="minor">
            <a:schemeClr val="tx1"/>
          </a:fontRef>
        </p:style>
      </p:cxnSp>
      <p:cxnSp>
        <p:nvCxnSpPr>
          <p:cNvPr id="133" name="Straight Connector 132">
            <a:extLst>
              <a:ext uri="{FF2B5EF4-FFF2-40B4-BE49-F238E27FC236}">
                <a16:creationId xmlns:a16="http://schemas.microsoft.com/office/drawing/2014/main" id="{59E3FBCE-1889-E047-8EB5-E03741D3B3C9}"/>
              </a:ext>
            </a:extLst>
          </p:cNvPr>
          <p:cNvCxnSpPr>
            <a:cxnSpLocks/>
            <a:endCxn id="24" idx="2"/>
          </p:cNvCxnSpPr>
          <p:nvPr/>
        </p:nvCxnSpPr>
        <p:spPr>
          <a:xfrm flipV="1">
            <a:off x="4107012" y="2095500"/>
            <a:ext cx="1758409" cy="874682"/>
          </a:xfrm>
          <a:prstGeom prst="line">
            <a:avLst/>
          </a:prstGeom>
          <a:ln w="28575"/>
        </p:spPr>
        <p:style>
          <a:lnRef idx="1">
            <a:schemeClr val="dk1"/>
          </a:lnRef>
          <a:fillRef idx="0">
            <a:schemeClr val="dk1"/>
          </a:fillRef>
          <a:effectRef idx="0">
            <a:schemeClr val="dk1"/>
          </a:effectRef>
          <a:fontRef idx="minor">
            <a:schemeClr val="tx1"/>
          </a:fontRef>
        </p:style>
      </p:cxnSp>
      <p:cxnSp>
        <p:nvCxnSpPr>
          <p:cNvPr id="135" name="Straight Connector 134">
            <a:extLst>
              <a:ext uri="{FF2B5EF4-FFF2-40B4-BE49-F238E27FC236}">
                <a16:creationId xmlns:a16="http://schemas.microsoft.com/office/drawing/2014/main" id="{B5727415-039A-2448-9199-2E57DCBD9AC0}"/>
              </a:ext>
            </a:extLst>
          </p:cNvPr>
          <p:cNvCxnSpPr>
            <a:cxnSpLocks/>
            <a:endCxn id="18" idx="2"/>
          </p:cNvCxnSpPr>
          <p:nvPr/>
        </p:nvCxnSpPr>
        <p:spPr>
          <a:xfrm flipV="1">
            <a:off x="4118758" y="2705100"/>
            <a:ext cx="1746663" cy="263652"/>
          </a:xfrm>
          <a:prstGeom prst="line">
            <a:avLst/>
          </a:prstGeom>
          <a:ln w="28575"/>
        </p:spPr>
        <p:style>
          <a:lnRef idx="1">
            <a:schemeClr val="dk1"/>
          </a:lnRef>
          <a:fillRef idx="0">
            <a:schemeClr val="dk1"/>
          </a:fillRef>
          <a:effectRef idx="0">
            <a:schemeClr val="dk1"/>
          </a:effectRef>
          <a:fontRef idx="minor">
            <a:schemeClr val="tx1"/>
          </a:fontRef>
        </p:style>
      </p:cxnSp>
      <p:cxnSp>
        <p:nvCxnSpPr>
          <p:cNvPr id="138" name="Straight Connector 137">
            <a:extLst>
              <a:ext uri="{FF2B5EF4-FFF2-40B4-BE49-F238E27FC236}">
                <a16:creationId xmlns:a16="http://schemas.microsoft.com/office/drawing/2014/main" id="{818BC6C0-2071-A24E-A718-DE477817BA04}"/>
              </a:ext>
            </a:extLst>
          </p:cNvPr>
          <p:cNvCxnSpPr>
            <a:cxnSpLocks/>
            <a:endCxn id="19" idx="2"/>
          </p:cNvCxnSpPr>
          <p:nvPr/>
        </p:nvCxnSpPr>
        <p:spPr>
          <a:xfrm>
            <a:off x="4118758" y="2999232"/>
            <a:ext cx="1746663" cy="315468"/>
          </a:xfrm>
          <a:prstGeom prst="line">
            <a:avLst/>
          </a:prstGeom>
          <a:ln w="28575"/>
        </p:spPr>
        <p:style>
          <a:lnRef idx="1">
            <a:schemeClr val="dk1"/>
          </a:lnRef>
          <a:fillRef idx="0">
            <a:schemeClr val="dk1"/>
          </a:fillRef>
          <a:effectRef idx="0">
            <a:schemeClr val="dk1"/>
          </a:effectRef>
          <a:fontRef idx="minor">
            <a:schemeClr val="tx1"/>
          </a:fontRef>
        </p:style>
      </p:cxnSp>
      <p:cxnSp>
        <p:nvCxnSpPr>
          <p:cNvPr id="141" name="Straight Connector 140">
            <a:extLst>
              <a:ext uri="{FF2B5EF4-FFF2-40B4-BE49-F238E27FC236}">
                <a16:creationId xmlns:a16="http://schemas.microsoft.com/office/drawing/2014/main" id="{B9B1CDC6-7E14-0C43-9CCE-DDF9538FCA6A}"/>
              </a:ext>
            </a:extLst>
          </p:cNvPr>
          <p:cNvCxnSpPr>
            <a:cxnSpLocks/>
            <a:stCxn id="15" idx="6"/>
            <a:endCxn id="20" idx="2"/>
          </p:cNvCxnSpPr>
          <p:nvPr/>
        </p:nvCxnSpPr>
        <p:spPr>
          <a:xfrm>
            <a:off x="4114800" y="2969821"/>
            <a:ext cx="1748642" cy="954479"/>
          </a:xfrm>
          <a:prstGeom prst="line">
            <a:avLst/>
          </a:prstGeom>
          <a:ln w="28575"/>
        </p:spPr>
        <p:style>
          <a:lnRef idx="1">
            <a:schemeClr val="dk1"/>
          </a:lnRef>
          <a:fillRef idx="0">
            <a:schemeClr val="dk1"/>
          </a:fillRef>
          <a:effectRef idx="0">
            <a:schemeClr val="dk1"/>
          </a:effectRef>
          <a:fontRef idx="minor">
            <a:schemeClr val="tx1"/>
          </a:fontRef>
        </p:style>
      </p:cxnSp>
      <p:cxnSp>
        <p:nvCxnSpPr>
          <p:cNvPr id="145" name="Straight Connector 144">
            <a:extLst>
              <a:ext uri="{FF2B5EF4-FFF2-40B4-BE49-F238E27FC236}">
                <a16:creationId xmlns:a16="http://schemas.microsoft.com/office/drawing/2014/main" id="{AA18D6E2-DE37-F040-8002-761744537496}"/>
              </a:ext>
            </a:extLst>
          </p:cNvPr>
          <p:cNvCxnSpPr>
            <a:cxnSpLocks/>
            <a:stCxn id="15" idx="6"/>
            <a:endCxn id="21" idx="2"/>
          </p:cNvCxnSpPr>
          <p:nvPr/>
        </p:nvCxnSpPr>
        <p:spPr>
          <a:xfrm>
            <a:off x="4114800" y="2969821"/>
            <a:ext cx="1752600" cy="1564079"/>
          </a:xfrm>
          <a:prstGeom prst="line">
            <a:avLst/>
          </a:prstGeom>
          <a:ln w="28575"/>
        </p:spPr>
        <p:style>
          <a:lnRef idx="1">
            <a:schemeClr val="dk1"/>
          </a:lnRef>
          <a:fillRef idx="0">
            <a:schemeClr val="dk1"/>
          </a:fillRef>
          <a:effectRef idx="0">
            <a:schemeClr val="dk1"/>
          </a:effectRef>
          <a:fontRef idx="minor">
            <a:schemeClr val="tx1"/>
          </a:fontRef>
        </p:style>
      </p:cxnSp>
      <p:cxnSp>
        <p:nvCxnSpPr>
          <p:cNvPr id="148" name="Straight Connector 147">
            <a:extLst>
              <a:ext uri="{FF2B5EF4-FFF2-40B4-BE49-F238E27FC236}">
                <a16:creationId xmlns:a16="http://schemas.microsoft.com/office/drawing/2014/main" id="{09600B10-7575-2D43-8D58-0C92EF63F6B2}"/>
              </a:ext>
            </a:extLst>
          </p:cNvPr>
          <p:cNvCxnSpPr>
            <a:cxnSpLocks/>
            <a:stCxn id="15" idx="6"/>
            <a:endCxn id="22" idx="2"/>
          </p:cNvCxnSpPr>
          <p:nvPr/>
        </p:nvCxnSpPr>
        <p:spPr>
          <a:xfrm>
            <a:off x="4114800" y="2969821"/>
            <a:ext cx="1752600" cy="2173679"/>
          </a:xfrm>
          <a:prstGeom prst="line">
            <a:avLst/>
          </a:prstGeom>
          <a:ln w="28575"/>
        </p:spPr>
        <p:style>
          <a:lnRef idx="1">
            <a:schemeClr val="dk1"/>
          </a:lnRef>
          <a:fillRef idx="0">
            <a:schemeClr val="dk1"/>
          </a:fillRef>
          <a:effectRef idx="0">
            <a:schemeClr val="dk1"/>
          </a:effectRef>
          <a:fontRef idx="minor">
            <a:schemeClr val="tx1"/>
          </a:fontRef>
        </p:style>
      </p:cxnSp>
      <p:cxnSp>
        <p:nvCxnSpPr>
          <p:cNvPr id="151" name="Straight Connector 150">
            <a:extLst>
              <a:ext uri="{FF2B5EF4-FFF2-40B4-BE49-F238E27FC236}">
                <a16:creationId xmlns:a16="http://schemas.microsoft.com/office/drawing/2014/main" id="{A95BDE5A-9779-A542-AF26-5F7ADC0484B3}"/>
              </a:ext>
            </a:extLst>
          </p:cNvPr>
          <p:cNvCxnSpPr>
            <a:cxnSpLocks/>
            <a:stCxn id="15" idx="6"/>
            <a:endCxn id="23" idx="2"/>
          </p:cNvCxnSpPr>
          <p:nvPr/>
        </p:nvCxnSpPr>
        <p:spPr>
          <a:xfrm>
            <a:off x="4114800" y="2969821"/>
            <a:ext cx="1750621" cy="2783279"/>
          </a:xfrm>
          <a:prstGeom prst="line">
            <a:avLst/>
          </a:prstGeom>
          <a:ln w="28575"/>
        </p:spPr>
        <p:style>
          <a:lnRef idx="1">
            <a:schemeClr val="dk1"/>
          </a:lnRef>
          <a:fillRef idx="0">
            <a:schemeClr val="dk1"/>
          </a:fillRef>
          <a:effectRef idx="0">
            <a:schemeClr val="dk1"/>
          </a:effectRef>
          <a:fontRef idx="minor">
            <a:schemeClr val="tx1"/>
          </a:fontRef>
        </p:style>
      </p:cxnSp>
      <p:cxnSp>
        <p:nvCxnSpPr>
          <p:cNvPr id="154" name="Straight Connector 153">
            <a:extLst>
              <a:ext uri="{FF2B5EF4-FFF2-40B4-BE49-F238E27FC236}">
                <a16:creationId xmlns:a16="http://schemas.microsoft.com/office/drawing/2014/main" id="{587368D1-F990-D944-BA26-0CC51A917895}"/>
              </a:ext>
            </a:extLst>
          </p:cNvPr>
          <p:cNvCxnSpPr>
            <a:cxnSpLocks/>
            <a:endCxn id="25" idx="2"/>
          </p:cNvCxnSpPr>
          <p:nvPr/>
        </p:nvCxnSpPr>
        <p:spPr>
          <a:xfrm>
            <a:off x="4117768" y="2996184"/>
            <a:ext cx="1747653" cy="3366516"/>
          </a:xfrm>
          <a:prstGeom prst="line">
            <a:avLst/>
          </a:prstGeom>
          <a:ln w="28575"/>
        </p:spPr>
        <p:style>
          <a:lnRef idx="1">
            <a:schemeClr val="dk1"/>
          </a:lnRef>
          <a:fillRef idx="0">
            <a:schemeClr val="dk1"/>
          </a:fillRef>
          <a:effectRef idx="0">
            <a:schemeClr val="dk1"/>
          </a:effectRef>
          <a:fontRef idx="minor">
            <a:schemeClr val="tx1"/>
          </a:fontRef>
        </p:style>
      </p:cxnSp>
      <p:cxnSp>
        <p:nvCxnSpPr>
          <p:cNvPr id="157" name="Straight Connector 156">
            <a:extLst>
              <a:ext uri="{FF2B5EF4-FFF2-40B4-BE49-F238E27FC236}">
                <a16:creationId xmlns:a16="http://schemas.microsoft.com/office/drawing/2014/main" id="{1EBDECDF-52DC-0A4D-9BA4-BB4AA08C8B98}"/>
              </a:ext>
            </a:extLst>
          </p:cNvPr>
          <p:cNvCxnSpPr>
            <a:cxnSpLocks/>
          </p:cNvCxnSpPr>
          <p:nvPr/>
        </p:nvCxnSpPr>
        <p:spPr>
          <a:xfrm flipV="1">
            <a:off x="4117768" y="2123384"/>
            <a:ext cx="1742706" cy="1968555"/>
          </a:xfrm>
          <a:prstGeom prst="line">
            <a:avLst/>
          </a:prstGeom>
          <a:ln w="28575"/>
        </p:spPr>
        <p:style>
          <a:lnRef idx="1">
            <a:schemeClr val="dk1"/>
          </a:lnRef>
          <a:fillRef idx="0">
            <a:schemeClr val="dk1"/>
          </a:fillRef>
          <a:effectRef idx="0">
            <a:schemeClr val="dk1"/>
          </a:effectRef>
          <a:fontRef idx="minor">
            <a:schemeClr val="tx1"/>
          </a:fontRef>
        </p:style>
      </p:cxnSp>
      <p:cxnSp>
        <p:nvCxnSpPr>
          <p:cNvPr id="160" name="Straight Connector 159">
            <a:extLst>
              <a:ext uri="{FF2B5EF4-FFF2-40B4-BE49-F238E27FC236}">
                <a16:creationId xmlns:a16="http://schemas.microsoft.com/office/drawing/2014/main" id="{3FF110E6-2EB0-564C-AB9B-4D999D58F9D4}"/>
              </a:ext>
            </a:extLst>
          </p:cNvPr>
          <p:cNvCxnSpPr>
            <a:cxnSpLocks/>
            <a:endCxn id="18" idx="2"/>
          </p:cNvCxnSpPr>
          <p:nvPr/>
        </p:nvCxnSpPr>
        <p:spPr>
          <a:xfrm flipV="1">
            <a:off x="4108894" y="2705100"/>
            <a:ext cx="1756527" cy="1386840"/>
          </a:xfrm>
          <a:prstGeom prst="line">
            <a:avLst/>
          </a:prstGeom>
          <a:ln w="28575"/>
        </p:spPr>
        <p:style>
          <a:lnRef idx="1">
            <a:schemeClr val="dk1"/>
          </a:lnRef>
          <a:fillRef idx="0">
            <a:schemeClr val="dk1"/>
          </a:fillRef>
          <a:effectRef idx="0">
            <a:schemeClr val="dk1"/>
          </a:effectRef>
          <a:fontRef idx="minor">
            <a:schemeClr val="tx1"/>
          </a:fontRef>
        </p:style>
      </p:cxnSp>
      <p:cxnSp>
        <p:nvCxnSpPr>
          <p:cNvPr id="165" name="Straight Connector 164">
            <a:extLst>
              <a:ext uri="{FF2B5EF4-FFF2-40B4-BE49-F238E27FC236}">
                <a16:creationId xmlns:a16="http://schemas.microsoft.com/office/drawing/2014/main" id="{EB50F085-577A-434F-8E0E-516959178510}"/>
              </a:ext>
            </a:extLst>
          </p:cNvPr>
          <p:cNvCxnSpPr>
            <a:cxnSpLocks/>
            <a:endCxn id="19" idx="2"/>
          </p:cNvCxnSpPr>
          <p:nvPr/>
        </p:nvCxnSpPr>
        <p:spPr>
          <a:xfrm flipV="1">
            <a:off x="4122716" y="3314700"/>
            <a:ext cx="1742705" cy="773430"/>
          </a:xfrm>
          <a:prstGeom prst="line">
            <a:avLst/>
          </a:prstGeom>
          <a:ln w="28575"/>
        </p:spPr>
        <p:style>
          <a:lnRef idx="1">
            <a:schemeClr val="dk1"/>
          </a:lnRef>
          <a:fillRef idx="0">
            <a:schemeClr val="dk1"/>
          </a:fillRef>
          <a:effectRef idx="0">
            <a:schemeClr val="dk1"/>
          </a:effectRef>
          <a:fontRef idx="minor">
            <a:schemeClr val="tx1"/>
          </a:fontRef>
        </p:style>
      </p:cxnSp>
      <p:cxnSp>
        <p:nvCxnSpPr>
          <p:cNvPr id="168" name="Straight Connector 167">
            <a:extLst>
              <a:ext uri="{FF2B5EF4-FFF2-40B4-BE49-F238E27FC236}">
                <a16:creationId xmlns:a16="http://schemas.microsoft.com/office/drawing/2014/main" id="{D786C8DE-B75C-2442-BAC4-27A6C4AB4EE9}"/>
              </a:ext>
            </a:extLst>
          </p:cNvPr>
          <p:cNvCxnSpPr>
            <a:cxnSpLocks/>
            <a:endCxn id="20" idx="2"/>
          </p:cNvCxnSpPr>
          <p:nvPr/>
        </p:nvCxnSpPr>
        <p:spPr>
          <a:xfrm flipV="1">
            <a:off x="4117768" y="3924300"/>
            <a:ext cx="1745674" cy="163830"/>
          </a:xfrm>
          <a:prstGeom prst="line">
            <a:avLst/>
          </a:prstGeom>
          <a:ln w="28575"/>
        </p:spPr>
        <p:style>
          <a:lnRef idx="1">
            <a:schemeClr val="dk1"/>
          </a:lnRef>
          <a:fillRef idx="0">
            <a:schemeClr val="dk1"/>
          </a:fillRef>
          <a:effectRef idx="0">
            <a:schemeClr val="dk1"/>
          </a:effectRef>
          <a:fontRef idx="minor">
            <a:schemeClr val="tx1"/>
          </a:fontRef>
        </p:style>
      </p:cxnSp>
      <p:cxnSp>
        <p:nvCxnSpPr>
          <p:cNvPr id="171" name="Straight Connector 170">
            <a:extLst>
              <a:ext uri="{FF2B5EF4-FFF2-40B4-BE49-F238E27FC236}">
                <a16:creationId xmlns:a16="http://schemas.microsoft.com/office/drawing/2014/main" id="{3DB0A451-42CF-C142-A193-4F7D3E8CCF08}"/>
              </a:ext>
            </a:extLst>
          </p:cNvPr>
          <p:cNvCxnSpPr>
            <a:cxnSpLocks/>
            <a:endCxn id="21" idx="2"/>
          </p:cNvCxnSpPr>
          <p:nvPr/>
        </p:nvCxnSpPr>
        <p:spPr>
          <a:xfrm>
            <a:off x="4123674" y="4088130"/>
            <a:ext cx="1743726" cy="445770"/>
          </a:xfrm>
          <a:prstGeom prst="line">
            <a:avLst/>
          </a:prstGeom>
          <a:ln w="28575"/>
        </p:spPr>
        <p:style>
          <a:lnRef idx="1">
            <a:schemeClr val="dk1"/>
          </a:lnRef>
          <a:fillRef idx="0">
            <a:schemeClr val="dk1"/>
          </a:fillRef>
          <a:effectRef idx="0">
            <a:schemeClr val="dk1"/>
          </a:effectRef>
          <a:fontRef idx="minor">
            <a:schemeClr val="tx1"/>
          </a:fontRef>
        </p:style>
      </p:cxnSp>
      <p:cxnSp>
        <p:nvCxnSpPr>
          <p:cNvPr id="174" name="Straight Connector 173">
            <a:extLst>
              <a:ext uri="{FF2B5EF4-FFF2-40B4-BE49-F238E27FC236}">
                <a16:creationId xmlns:a16="http://schemas.microsoft.com/office/drawing/2014/main" id="{06B6CE7C-5BDE-4A44-B96A-724BDFA0EA5F}"/>
              </a:ext>
            </a:extLst>
          </p:cNvPr>
          <p:cNvCxnSpPr>
            <a:cxnSpLocks/>
            <a:endCxn id="22" idx="2"/>
          </p:cNvCxnSpPr>
          <p:nvPr/>
        </p:nvCxnSpPr>
        <p:spPr>
          <a:xfrm>
            <a:off x="4122716" y="4076699"/>
            <a:ext cx="1744684" cy="1066801"/>
          </a:xfrm>
          <a:prstGeom prst="line">
            <a:avLst/>
          </a:prstGeom>
          <a:ln w="28575"/>
        </p:spPr>
        <p:style>
          <a:lnRef idx="1">
            <a:schemeClr val="dk1"/>
          </a:lnRef>
          <a:fillRef idx="0">
            <a:schemeClr val="dk1"/>
          </a:fillRef>
          <a:effectRef idx="0">
            <a:schemeClr val="dk1"/>
          </a:effectRef>
          <a:fontRef idx="minor">
            <a:schemeClr val="tx1"/>
          </a:fontRef>
        </p:style>
      </p:cxnSp>
      <p:cxnSp>
        <p:nvCxnSpPr>
          <p:cNvPr id="178" name="Straight Connector 177">
            <a:extLst>
              <a:ext uri="{FF2B5EF4-FFF2-40B4-BE49-F238E27FC236}">
                <a16:creationId xmlns:a16="http://schemas.microsoft.com/office/drawing/2014/main" id="{603F59D7-12C1-2E4C-899D-CCDA050F7E5F}"/>
              </a:ext>
            </a:extLst>
          </p:cNvPr>
          <p:cNvCxnSpPr>
            <a:cxnSpLocks/>
            <a:endCxn id="23" idx="2"/>
          </p:cNvCxnSpPr>
          <p:nvPr/>
        </p:nvCxnSpPr>
        <p:spPr>
          <a:xfrm>
            <a:off x="4117768" y="4076699"/>
            <a:ext cx="1747653" cy="1676401"/>
          </a:xfrm>
          <a:prstGeom prst="line">
            <a:avLst/>
          </a:prstGeom>
          <a:ln w="28575"/>
        </p:spPr>
        <p:style>
          <a:lnRef idx="1">
            <a:schemeClr val="dk1"/>
          </a:lnRef>
          <a:fillRef idx="0">
            <a:schemeClr val="dk1"/>
          </a:fillRef>
          <a:effectRef idx="0">
            <a:schemeClr val="dk1"/>
          </a:effectRef>
          <a:fontRef idx="minor">
            <a:schemeClr val="tx1"/>
          </a:fontRef>
        </p:style>
      </p:cxnSp>
      <p:cxnSp>
        <p:nvCxnSpPr>
          <p:cNvPr id="181" name="Straight Connector 180">
            <a:extLst>
              <a:ext uri="{FF2B5EF4-FFF2-40B4-BE49-F238E27FC236}">
                <a16:creationId xmlns:a16="http://schemas.microsoft.com/office/drawing/2014/main" id="{9DE6BC36-53DC-DF43-9ACA-D9CC74A66992}"/>
              </a:ext>
            </a:extLst>
          </p:cNvPr>
          <p:cNvCxnSpPr>
            <a:cxnSpLocks/>
            <a:endCxn id="25" idx="2"/>
          </p:cNvCxnSpPr>
          <p:nvPr/>
        </p:nvCxnSpPr>
        <p:spPr>
          <a:xfrm>
            <a:off x="4119747" y="4076699"/>
            <a:ext cx="1745674" cy="2286001"/>
          </a:xfrm>
          <a:prstGeom prst="line">
            <a:avLst/>
          </a:prstGeom>
          <a:ln w="28575"/>
        </p:spPr>
        <p:style>
          <a:lnRef idx="1">
            <a:schemeClr val="dk1"/>
          </a:lnRef>
          <a:fillRef idx="0">
            <a:schemeClr val="dk1"/>
          </a:fillRef>
          <a:effectRef idx="0">
            <a:schemeClr val="dk1"/>
          </a:effectRef>
          <a:fontRef idx="minor">
            <a:schemeClr val="tx1"/>
          </a:fontRef>
        </p:style>
      </p:cxnSp>
      <p:cxnSp>
        <p:nvCxnSpPr>
          <p:cNvPr id="184" name="Straight Connector 183">
            <a:extLst>
              <a:ext uri="{FF2B5EF4-FFF2-40B4-BE49-F238E27FC236}">
                <a16:creationId xmlns:a16="http://schemas.microsoft.com/office/drawing/2014/main" id="{7BF441FF-C8B6-9E46-8EFF-1B2D68709752}"/>
              </a:ext>
            </a:extLst>
          </p:cNvPr>
          <p:cNvCxnSpPr>
            <a:cxnSpLocks/>
            <a:stCxn id="17" idx="7"/>
            <a:endCxn id="24" idx="2"/>
          </p:cNvCxnSpPr>
          <p:nvPr/>
        </p:nvCxnSpPr>
        <p:spPr>
          <a:xfrm flipV="1">
            <a:off x="4036685" y="2095500"/>
            <a:ext cx="1828736" cy="3088015"/>
          </a:xfrm>
          <a:prstGeom prst="line">
            <a:avLst/>
          </a:prstGeom>
          <a:ln w="28575"/>
        </p:spPr>
        <p:style>
          <a:lnRef idx="1">
            <a:schemeClr val="dk1"/>
          </a:lnRef>
          <a:fillRef idx="0">
            <a:schemeClr val="dk1"/>
          </a:fillRef>
          <a:effectRef idx="0">
            <a:schemeClr val="dk1"/>
          </a:effectRef>
          <a:fontRef idx="minor">
            <a:schemeClr val="tx1"/>
          </a:fontRef>
        </p:style>
      </p:cxnSp>
      <p:cxnSp>
        <p:nvCxnSpPr>
          <p:cNvPr id="187" name="Straight Connector 186">
            <a:extLst>
              <a:ext uri="{FF2B5EF4-FFF2-40B4-BE49-F238E27FC236}">
                <a16:creationId xmlns:a16="http://schemas.microsoft.com/office/drawing/2014/main" id="{1C0650AA-5AFE-7643-8015-7F3A67E34C58}"/>
              </a:ext>
            </a:extLst>
          </p:cNvPr>
          <p:cNvCxnSpPr>
            <a:cxnSpLocks/>
            <a:stCxn id="17" idx="7"/>
            <a:endCxn id="18" idx="2"/>
          </p:cNvCxnSpPr>
          <p:nvPr/>
        </p:nvCxnSpPr>
        <p:spPr>
          <a:xfrm flipV="1">
            <a:off x="4036685" y="2705100"/>
            <a:ext cx="1828736" cy="2478415"/>
          </a:xfrm>
          <a:prstGeom prst="line">
            <a:avLst/>
          </a:prstGeom>
          <a:ln w="28575"/>
        </p:spPr>
        <p:style>
          <a:lnRef idx="1">
            <a:schemeClr val="dk1"/>
          </a:lnRef>
          <a:fillRef idx="0">
            <a:schemeClr val="dk1"/>
          </a:fillRef>
          <a:effectRef idx="0">
            <a:schemeClr val="dk1"/>
          </a:effectRef>
          <a:fontRef idx="minor">
            <a:schemeClr val="tx1"/>
          </a:fontRef>
        </p:style>
      </p:cxnSp>
      <p:cxnSp>
        <p:nvCxnSpPr>
          <p:cNvPr id="190" name="Straight Connector 189">
            <a:extLst>
              <a:ext uri="{FF2B5EF4-FFF2-40B4-BE49-F238E27FC236}">
                <a16:creationId xmlns:a16="http://schemas.microsoft.com/office/drawing/2014/main" id="{1AB45CB1-1B0D-584B-97FE-A7F2539D371B}"/>
              </a:ext>
            </a:extLst>
          </p:cNvPr>
          <p:cNvCxnSpPr>
            <a:cxnSpLocks/>
            <a:stCxn id="17" idx="7"/>
            <a:endCxn id="19" idx="2"/>
          </p:cNvCxnSpPr>
          <p:nvPr/>
        </p:nvCxnSpPr>
        <p:spPr>
          <a:xfrm flipV="1">
            <a:off x="4036685" y="3314700"/>
            <a:ext cx="1828736" cy="1868815"/>
          </a:xfrm>
          <a:prstGeom prst="line">
            <a:avLst/>
          </a:prstGeom>
          <a:ln w="28575"/>
        </p:spPr>
        <p:style>
          <a:lnRef idx="1">
            <a:schemeClr val="dk1"/>
          </a:lnRef>
          <a:fillRef idx="0">
            <a:schemeClr val="dk1"/>
          </a:fillRef>
          <a:effectRef idx="0">
            <a:schemeClr val="dk1"/>
          </a:effectRef>
          <a:fontRef idx="minor">
            <a:schemeClr val="tx1"/>
          </a:fontRef>
        </p:style>
      </p:cxnSp>
      <p:cxnSp>
        <p:nvCxnSpPr>
          <p:cNvPr id="193" name="Straight Connector 192">
            <a:extLst>
              <a:ext uri="{FF2B5EF4-FFF2-40B4-BE49-F238E27FC236}">
                <a16:creationId xmlns:a16="http://schemas.microsoft.com/office/drawing/2014/main" id="{0ADD363D-8B62-FC45-BBAF-319CD0FB238D}"/>
              </a:ext>
            </a:extLst>
          </p:cNvPr>
          <p:cNvCxnSpPr>
            <a:cxnSpLocks/>
            <a:stCxn id="17" idx="7"/>
          </p:cNvCxnSpPr>
          <p:nvPr/>
        </p:nvCxnSpPr>
        <p:spPr>
          <a:xfrm flipV="1">
            <a:off x="4036685" y="3923343"/>
            <a:ext cx="1817883" cy="1260172"/>
          </a:xfrm>
          <a:prstGeom prst="line">
            <a:avLst/>
          </a:prstGeom>
          <a:ln w="28575"/>
        </p:spPr>
        <p:style>
          <a:lnRef idx="1">
            <a:schemeClr val="dk1"/>
          </a:lnRef>
          <a:fillRef idx="0">
            <a:schemeClr val="dk1"/>
          </a:fillRef>
          <a:effectRef idx="0">
            <a:schemeClr val="dk1"/>
          </a:effectRef>
          <a:fontRef idx="minor">
            <a:schemeClr val="tx1"/>
          </a:fontRef>
        </p:style>
      </p:cxnSp>
      <p:cxnSp>
        <p:nvCxnSpPr>
          <p:cNvPr id="196" name="Straight Connector 195">
            <a:extLst>
              <a:ext uri="{FF2B5EF4-FFF2-40B4-BE49-F238E27FC236}">
                <a16:creationId xmlns:a16="http://schemas.microsoft.com/office/drawing/2014/main" id="{534135AE-C435-D64E-AA08-0D0030B432B8}"/>
              </a:ext>
            </a:extLst>
          </p:cNvPr>
          <p:cNvCxnSpPr>
            <a:cxnSpLocks/>
            <a:stCxn id="17" idx="7"/>
          </p:cNvCxnSpPr>
          <p:nvPr/>
        </p:nvCxnSpPr>
        <p:spPr>
          <a:xfrm flipV="1">
            <a:off x="4036685" y="4526281"/>
            <a:ext cx="1817883" cy="657234"/>
          </a:xfrm>
          <a:prstGeom prst="line">
            <a:avLst/>
          </a:prstGeom>
          <a:ln w="28575"/>
        </p:spPr>
        <p:style>
          <a:lnRef idx="1">
            <a:schemeClr val="dk1"/>
          </a:lnRef>
          <a:fillRef idx="0">
            <a:schemeClr val="dk1"/>
          </a:fillRef>
          <a:effectRef idx="0">
            <a:schemeClr val="dk1"/>
          </a:effectRef>
          <a:fontRef idx="minor">
            <a:schemeClr val="tx1"/>
          </a:fontRef>
        </p:style>
      </p:cxnSp>
      <p:cxnSp>
        <p:nvCxnSpPr>
          <p:cNvPr id="207" name="Straight Connector 206">
            <a:extLst>
              <a:ext uri="{FF2B5EF4-FFF2-40B4-BE49-F238E27FC236}">
                <a16:creationId xmlns:a16="http://schemas.microsoft.com/office/drawing/2014/main" id="{3FBFF0A4-0C35-8647-B007-BF69D24C0E97}"/>
              </a:ext>
            </a:extLst>
          </p:cNvPr>
          <p:cNvCxnSpPr>
            <a:cxnSpLocks/>
            <a:stCxn id="17" idx="7"/>
            <a:endCxn id="22" idx="2"/>
          </p:cNvCxnSpPr>
          <p:nvPr/>
        </p:nvCxnSpPr>
        <p:spPr>
          <a:xfrm flipV="1">
            <a:off x="4036685" y="5143500"/>
            <a:ext cx="1830715" cy="40015"/>
          </a:xfrm>
          <a:prstGeom prst="line">
            <a:avLst/>
          </a:prstGeom>
          <a:ln w="28575"/>
        </p:spPr>
        <p:style>
          <a:lnRef idx="1">
            <a:schemeClr val="dk1"/>
          </a:lnRef>
          <a:fillRef idx="0">
            <a:schemeClr val="dk1"/>
          </a:fillRef>
          <a:effectRef idx="0">
            <a:schemeClr val="dk1"/>
          </a:effectRef>
          <a:fontRef idx="minor">
            <a:schemeClr val="tx1"/>
          </a:fontRef>
        </p:style>
      </p:cxnSp>
      <p:cxnSp>
        <p:nvCxnSpPr>
          <p:cNvPr id="210" name="Straight Connector 209">
            <a:extLst>
              <a:ext uri="{FF2B5EF4-FFF2-40B4-BE49-F238E27FC236}">
                <a16:creationId xmlns:a16="http://schemas.microsoft.com/office/drawing/2014/main" id="{7C093255-E26A-A64B-9A5D-AB76A5666C72}"/>
              </a:ext>
            </a:extLst>
          </p:cNvPr>
          <p:cNvCxnSpPr>
            <a:cxnSpLocks/>
            <a:stCxn id="17" idx="7"/>
            <a:endCxn id="23" idx="2"/>
          </p:cNvCxnSpPr>
          <p:nvPr/>
        </p:nvCxnSpPr>
        <p:spPr>
          <a:xfrm>
            <a:off x="4036685" y="5183515"/>
            <a:ext cx="1828736" cy="569585"/>
          </a:xfrm>
          <a:prstGeom prst="line">
            <a:avLst/>
          </a:prstGeom>
          <a:ln w="28575"/>
        </p:spPr>
        <p:style>
          <a:lnRef idx="1">
            <a:schemeClr val="dk1"/>
          </a:lnRef>
          <a:fillRef idx="0">
            <a:schemeClr val="dk1"/>
          </a:fillRef>
          <a:effectRef idx="0">
            <a:schemeClr val="dk1"/>
          </a:effectRef>
          <a:fontRef idx="minor">
            <a:schemeClr val="tx1"/>
          </a:fontRef>
        </p:style>
      </p:cxnSp>
      <p:cxnSp>
        <p:nvCxnSpPr>
          <p:cNvPr id="213" name="Straight Connector 212">
            <a:extLst>
              <a:ext uri="{FF2B5EF4-FFF2-40B4-BE49-F238E27FC236}">
                <a16:creationId xmlns:a16="http://schemas.microsoft.com/office/drawing/2014/main" id="{478440D9-42E6-DE49-A7D5-1E04DFA629CE}"/>
              </a:ext>
            </a:extLst>
          </p:cNvPr>
          <p:cNvCxnSpPr>
            <a:cxnSpLocks/>
            <a:stCxn id="17" idx="7"/>
            <a:endCxn id="25" idx="2"/>
          </p:cNvCxnSpPr>
          <p:nvPr/>
        </p:nvCxnSpPr>
        <p:spPr>
          <a:xfrm>
            <a:off x="4036685" y="5183515"/>
            <a:ext cx="1828736" cy="1179185"/>
          </a:xfrm>
          <a:prstGeom prst="line">
            <a:avLst/>
          </a:prstGeom>
          <a:ln w="28575"/>
        </p:spPr>
        <p:style>
          <a:lnRef idx="1">
            <a:schemeClr val="dk1"/>
          </a:lnRef>
          <a:fillRef idx="0">
            <a:schemeClr val="dk1"/>
          </a:fillRef>
          <a:effectRef idx="0">
            <a:schemeClr val="dk1"/>
          </a:effectRef>
          <a:fontRef idx="minor">
            <a:schemeClr val="tx1"/>
          </a:fontRef>
        </p:style>
      </p:cxnSp>
      <p:grpSp>
        <p:nvGrpSpPr>
          <p:cNvPr id="76" name="Group 75">
            <a:extLst>
              <a:ext uri="{FF2B5EF4-FFF2-40B4-BE49-F238E27FC236}">
                <a16:creationId xmlns:a16="http://schemas.microsoft.com/office/drawing/2014/main" id="{4440B9F7-CCBC-C34A-828B-F8797096FDD1}"/>
              </a:ext>
            </a:extLst>
          </p:cNvPr>
          <p:cNvGrpSpPr/>
          <p:nvPr/>
        </p:nvGrpSpPr>
        <p:grpSpPr>
          <a:xfrm>
            <a:off x="642264" y="1904997"/>
            <a:ext cx="661050" cy="4648203"/>
            <a:chOff x="856144" y="3124199"/>
            <a:chExt cx="1277456" cy="2209801"/>
          </a:xfrm>
        </p:grpSpPr>
        <p:sp>
          <p:nvSpPr>
            <p:cNvPr id="77" name="TextBox 76">
              <a:extLst>
                <a:ext uri="{FF2B5EF4-FFF2-40B4-BE49-F238E27FC236}">
                  <a16:creationId xmlns:a16="http://schemas.microsoft.com/office/drawing/2014/main" id="{904C049D-063F-AA49-8FE5-F37E6C55B503}"/>
                </a:ext>
              </a:extLst>
            </p:cNvPr>
            <p:cNvSpPr txBox="1"/>
            <p:nvPr/>
          </p:nvSpPr>
          <p:spPr>
            <a:xfrm rot="16200000">
              <a:off x="155198" y="3825145"/>
              <a:ext cx="2115614" cy="713721"/>
            </a:xfrm>
            <a:prstGeom prst="rect">
              <a:avLst/>
            </a:prstGeom>
            <a:noFill/>
          </p:spPr>
          <p:txBody>
            <a:bodyPr wrap="square" rtlCol="0">
              <a:spAutoFit/>
            </a:bodyPr>
            <a:lstStyle/>
            <a:p>
              <a:r>
                <a:rPr lang="en-US" dirty="0">
                  <a:solidFill>
                    <a:srgbClr val="D60093"/>
                  </a:solidFill>
                </a:rPr>
                <a:t>Input layer : one-hot vector of target word</a:t>
              </a:r>
              <a:endParaRPr lang="en-US" dirty="0">
                <a:solidFill>
                  <a:srgbClr val="D60093"/>
                </a:solidFill>
                <a:latin typeface="Arial" pitchFamily="34" charset="0"/>
                <a:cs typeface="Arial" pitchFamily="34" charset="0"/>
              </a:endParaRPr>
            </a:p>
          </p:txBody>
        </p:sp>
        <p:sp>
          <p:nvSpPr>
            <p:cNvPr id="79" name="Left Brace 78">
              <a:extLst>
                <a:ext uri="{FF2B5EF4-FFF2-40B4-BE49-F238E27FC236}">
                  <a16:creationId xmlns:a16="http://schemas.microsoft.com/office/drawing/2014/main" id="{3FD0ABCC-5EDB-0347-8A22-3C0D19BBDBBE}"/>
                </a:ext>
              </a:extLst>
            </p:cNvPr>
            <p:cNvSpPr/>
            <p:nvPr/>
          </p:nvSpPr>
          <p:spPr>
            <a:xfrm>
              <a:off x="1569865" y="3124200"/>
              <a:ext cx="563735" cy="2209800"/>
            </a:xfrm>
            <a:prstGeom prst="leftBrace">
              <a:avLst/>
            </a:prstGeom>
            <a:ln w="28575">
              <a:solidFill>
                <a:srgbClr val="D60093"/>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grpSp>
        <p:nvGrpSpPr>
          <p:cNvPr id="85" name="Group 84">
            <a:extLst>
              <a:ext uri="{FF2B5EF4-FFF2-40B4-BE49-F238E27FC236}">
                <a16:creationId xmlns:a16="http://schemas.microsoft.com/office/drawing/2014/main" id="{DA5E1BC7-83B5-7B4E-92F2-89AFEFEECDC3}"/>
              </a:ext>
            </a:extLst>
          </p:cNvPr>
          <p:cNvGrpSpPr/>
          <p:nvPr/>
        </p:nvGrpSpPr>
        <p:grpSpPr>
          <a:xfrm rot="10800000">
            <a:off x="6617039" y="1904997"/>
            <a:ext cx="799549" cy="4648205"/>
            <a:chOff x="588500" y="3124198"/>
            <a:chExt cx="1545100" cy="2209802"/>
          </a:xfrm>
        </p:grpSpPr>
        <p:sp>
          <p:nvSpPr>
            <p:cNvPr id="86" name="TextBox 85">
              <a:extLst>
                <a:ext uri="{FF2B5EF4-FFF2-40B4-BE49-F238E27FC236}">
                  <a16:creationId xmlns:a16="http://schemas.microsoft.com/office/drawing/2014/main" id="{72FF46AA-E82A-D249-BC8A-FB9E6914EB86}"/>
                </a:ext>
              </a:extLst>
            </p:cNvPr>
            <p:cNvSpPr txBox="1"/>
            <p:nvPr/>
          </p:nvSpPr>
          <p:spPr>
            <a:xfrm rot="16200000">
              <a:off x="155199" y="3557499"/>
              <a:ext cx="2115614" cy="1249012"/>
            </a:xfrm>
            <a:prstGeom prst="rect">
              <a:avLst/>
            </a:prstGeom>
            <a:noFill/>
          </p:spPr>
          <p:txBody>
            <a:bodyPr wrap="square" rtlCol="0">
              <a:spAutoFit/>
            </a:bodyPr>
            <a:lstStyle/>
            <a:p>
              <a:r>
                <a:rPr lang="en-US" dirty="0">
                  <a:solidFill>
                    <a:srgbClr val="D60093"/>
                  </a:solidFill>
                </a:rPr>
                <a:t>Output layer: probability of each word being in context</a:t>
              </a:r>
              <a:endParaRPr lang="en-US" dirty="0">
                <a:solidFill>
                  <a:srgbClr val="D60093"/>
                </a:solidFill>
                <a:latin typeface="Arial" pitchFamily="34" charset="0"/>
                <a:cs typeface="Arial" pitchFamily="34" charset="0"/>
              </a:endParaRPr>
            </a:p>
          </p:txBody>
        </p:sp>
        <p:sp>
          <p:nvSpPr>
            <p:cNvPr id="88" name="Left Brace 87">
              <a:extLst>
                <a:ext uri="{FF2B5EF4-FFF2-40B4-BE49-F238E27FC236}">
                  <a16:creationId xmlns:a16="http://schemas.microsoft.com/office/drawing/2014/main" id="{3D569644-1DFF-6345-B882-B4A449326E1B}"/>
                </a:ext>
              </a:extLst>
            </p:cNvPr>
            <p:cNvSpPr/>
            <p:nvPr/>
          </p:nvSpPr>
          <p:spPr>
            <a:xfrm>
              <a:off x="1569865" y="3124200"/>
              <a:ext cx="563735" cy="2209800"/>
            </a:xfrm>
            <a:prstGeom prst="leftBrace">
              <a:avLst/>
            </a:prstGeom>
            <a:ln w="28575">
              <a:solidFill>
                <a:srgbClr val="D60093"/>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sp>
        <p:nvSpPr>
          <p:cNvPr id="29" name="TextBox 28">
            <a:extLst>
              <a:ext uri="{FF2B5EF4-FFF2-40B4-BE49-F238E27FC236}">
                <a16:creationId xmlns:a16="http://schemas.microsoft.com/office/drawing/2014/main" id="{0989CABD-8ACB-D341-B194-735DBFB8EC4F}"/>
              </a:ext>
            </a:extLst>
          </p:cNvPr>
          <p:cNvSpPr txBox="1"/>
          <p:nvPr/>
        </p:nvSpPr>
        <p:spPr>
          <a:xfrm>
            <a:off x="2971800" y="6019800"/>
            <a:ext cx="2133600" cy="369332"/>
          </a:xfrm>
          <a:prstGeom prst="rect">
            <a:avLst/>
          </a:prstGeom>
          <a:noFill/>
        </p:spPr>
        <p:txBody>
          <a:bodyPr wrap="square" rtlCol="0">
            <a:spAutoFit/>
          </a:bodyPr>
          <a:lstStyle/>
          <a:p>
            <a:r>
              <a:rPr lang="en-US" dirty="0">
                <a:solidFill>
                  <a:srgbClr val="0000FF"/>
                </a:solidFill>
                <a:latin typeface="Arial" pitchFamily="34" charset="0"/>
                <a:cs typeface="Arial" pitchFamily="34" charset="0"/>
              </a:rPr>
              <a:t>3-dim embedding</a:t>
            </a:r>
          </a:p>
        </p:txBody>
      </p:sp>
      <p:sp>
        <p:nvSpPr>
          <p:cNvPr id="89" name="Title 1">
            <a:extLst>
              <a:ext uri="{FF2B5EF4-FFF2-40B4-BE49-F238E27FC236}">
                <a16:creationId xmlns:a16="http://schemas.microsoft.com/office/drawing/2014/main" id="{B19AD8C4-BEA1-314E-8896-166397774656}"/>
              </a:ext>
            </a:extLst>
          </p:cNvPr>
          <p:cNvSpPr>
            <a:spLocks noGrp="1"/>
          </p:cNvSpPr>
          <p:nvPr>
            <p:ph type="title"/>
          </p:nvPr>
        </p:nvSpPr>
        <p:spPr>
          <a:xfrm>
            <a:off x="457200" y="76200"/>
            <a:ext cx="8229600" cy="987552"/>
          </a:xfrm>
        </p:spPr>
        <p:txBody>
          <a:bodyPr/>
          <a:lstStyle/>
          <a:p>
            <a:r>
              <a:rPr lang="en-US" dirty="0"/>
              <a:t>Word2Vec: Example</a:t>
            </a:r>
          </a:p>
        </p:txBody>
      </p:sp>
    </p:spTree>
    <p:extLst>
      <p:ext uri="{BB962C8B-B14F-4D97-AF65-F5344CB8AC3E}">
        <p14:creationId xmlns:p14="http://schemas.microsoft.com/office/powerpoint/2010/main" val="28362303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0C70D-48E1-DD4E-9E51-B3A59B8953BB}"/>
              </a:ext>
            </a:extLst>
          </p:cNvPr>
          <p:cNvSpPr>
            <a:spLocks noGrp="1"/>
          </p:cNvSpPr>
          <p:nvPr>
            <p:ph type="title"/>
          </p:nvPr>
        </p:nvSpPr>
        <p:spPr/>
        <p:txBody>
          <a:bodyPr/>
          <a:lstStyle/>
          <a:p>
            <a:r>
              <a:rPr lang="en-US" dirty="0"/>
              <a:t>Word2Vec: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51B17C-9B02-3740-9179-D84B51338A02}"/>
                  </a:ext>
                </a:extLst>
              </p:cNvPr>
              <p:cNvSpPr>
                <a:spLocks noGrp="1"/>
              </p:cNvSpPr>
              <p:nvPr>
                <p:ph idx="1"/>
              </p:nvPr>
            </p:nvSpPr>
            <p:spPr/>
            <p:txBody>
              <a:bodyPr>
                <a:normAutofit fontScale="92500"/>
              </a:bodyPr>
              <a:lstStyle/>
              <a:p>
                <a:r>
                  <a:rPr lang="en-US" dirty="0"/>
                  <a:t>If </a:t>
                </a:r>
                <a:r>
                  <a:rPr lang="en-US" dirty="0">
                    <a:solidFill>
                      <a:srgbClr val="D60093"/>
                    </a:solidFill>
                  </a:rPr>
                  <a:t>target word = books </a:t>
                </a:r>
                <a:r>
                  <a:rPr lang="en-US" dirty="0"/>
                  <a:t>and weight matrix </a:t>
                </a:r>
                <a:r>
                  <a:rPr lang="en-US" dirty="0" err="1">
                    <a:solidFill>
                      <a:srgbClr val="D60093"/>
                    </a:solidFill>
                  </a:rPr>
                  <a:t>W</a:t>
                </a:r>
                <a:r>
                  <a:rPr lang="en-US" baseline="-25000" dirty="0" err="1">
                    <a:solidFill>
                      <a:srgbClr val="D60093"/>
                    </a:solidFill>
                  </a:rPr>
                  <a:t>VxN</a:t>
                </a:r>
                <a:endParaRPr lang="en-US" baseline="-25000" dirty="0">
                  <a:solidFill>
                    <a:srgbClr val="D60093"/>
                  </a:solidFill>
                </a:endParaRPr>
              </a:p>
              <a:p>
                <a:pPr marL="118872" indent="0">
                  <a:buNone/>
                </a:pPr>
                <a:r>
                  <a:rPr lang="en-US" dirty="0"/>
                  <a:t>be as following:</a:t>
                </a:r>
              </a:p>
              <a:p>
                <a:pPr marL="118872"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𝑊</m:t>
                      </m:r>
                      <m:r>
                        <a:rPr lang="en-US" sz="2800" b="0" i="1" baseline="-25000" smtClean="0">
                          <a:latin typeface="Cambria Math" panose="02040503050406030204" pitchFamily="18" charset="0"/>
                        </a:rPr>
                        <m:t>𝑉</m:t>
                      </m:r>
                      <m:r>
                        <a:rPr lang="en-US" sz="2800" b="0" i="1" baseline="-25000" smtClean="0">
                          <a:latin typeface="Cambria Math" panose="02040503050406030204" pitchFamily="18" charset="0"/>
                          <a:ea typeface="Cambria Math" panose="02040503050406030204" pitchFamily="18" charset="0"/>
                        </a:rPr>
                        <m:t>×</m:t>
                      </m:r>
                      <m:r>
                        <a:rPr lang="en-US" sz="2800" b="0" i="1" baseline="-25000" smtClean="0">
                          <a:latin typeface="Cambria Math" panose="02040503050406030204" pitchFamily="18" charset="0"/>
                          <a:ea typeface="Cambria Math" panose="02040503050406030204" pitchFamily="18" charset="0"/>
                        </a:rPr>
                        <m:t>𝑁</m:t>
                      </m:r>
                      <m:r>
                        <a:rPr lang="en-US" sz="2800" b="0" i="1" smtClean="0">
                          <a:latin typeface="Cambria Math" panose="02040503050406030204" pitchFamily="18" charset="0"/>
                          <a:ea typeface="Cambria Math" panose="02040503050406030204" pitchFamily="18" charset="0"/>
                        </a:rPr>
                        <m:t>=</m:t>
                      </m:r>
                      <m:d>
                        <m:dPr>
                          <m:begChr m:val="["/>
                          <m:endChr m:val="]"/>
                          <m:ctrlPr>
                            <a:rPr lang="en-US" sz="2800" i="1" smtClean="0">
                              <a:latin typeface="Cambria Math" panose="02040503050406030204" pitchFamily="18" charset="0"/>
                            </a:rPr>
                          </m:ctrlPr>
                        </m:dPr>
                        <m:e>
                          <m:f>
                            <m:fPr>
                              <m:type m:val="noBar"/>
                              <m:ctrlPr>
                                <a:rPr lang="en-US" sz="2800" i="1" smtClean="0">
                                  <a:latin typeface="Cambria Math" panose="02040503050406030204" pitchFamily="18" charset="0"/>
                                </a:rPr>
                              </m:ctrlPr>
                            </m:fPr>
                            <m:num>
                              <m:f>
                                <m:fPr>
                                  <m:type m:val="noBar"/>
                                  <m:ctrlPr>
                                    <a:rPr lang="en-US" sz="2800" i="1" smtClean="0">
                                      <a:latin typeface="Cambria Math" panose="02040503050406030204" pitchFamily="18" charset="0"/>
                                    </a:rPr>
                                  </m:ctrlPr>
                                </m:fPr>
                                <m:num>
                                  <m:f>
                                    <m:fPr>
                                      <m:type m:val="noBar"/>
                                      <m:ctrlPr>
                                        <a:rPr lang="en-US" sz="2800" i="1" smtClean="0">
                                          <a:latin typeface="Cambria Math" panose="02040503050406030204" pitchFamily="18" charset="0"/>
                                        </a:rPr>
                                      </m:ctrlPr>
                                    </m:fPr>
                                    <m:num>
                                      <m:r>
                                        <a:rPr lang="en-US" sz="2800" b="0" i="1" smtClean="0">
                                          <a:latin typeface="Cambria Math" panose="02040503050406030204" pitchFamily="18" charset="0"/>
                                        </a:rPr>
                                        <m:t>1       2         2</m:t>
                                      </m:r>
                                    </m:num>
                                    <m:den>
                                      <m:r>
                                        <a:rPr lang="en-US" sz="2800" b="0" i="1" smtClean="0">
                                          <a:latin typeface="Cambria Math" panose="02040503050406030204" pitchFamily="18" charset="0"/>
                                        </a:rPr>
                                        <m:t>−1.2   −3     −2</m:t>
                                      </m:r>
                                    </m:den>
                                  </m:f>
                                </m:num>
                                <m:den>
                                  <m:f>
                                    <m:fPr>
                                      <m:type m:val="noBar"/>
                                      <m:ctrlPr>
                                        <a:rPr lang="en-US" sz="2800" i="1">
                                          <a:latin typeface="Cambria Math" panose="02040503050406030204" pitchFamily="18" charset="0"/>
                                        </a:rPr>
                                      </m:ctrlPr>
                                    </m:fPr>
                                    <m:num>
                                      <m:r>
                                        <a:rPr lang="en-US" sz="2800" b="0" i="1" smtClean="0">
                                          <a:latin typeface="Cambria Math" panose="02040503050406030204" pitchFamily="18" charset="0"/>
                                        </a:rPr>
                                        <m:t> 1.2     1. 1    0.5</m:t>
                                      </m:r>
                                    </m:num>
                                    <m:den>
                                      <m:r>
                                        <a:rPr lang="en-US" sz="2800" b="0" i="1" smtClean="0">
                                          <a:latin typeface="Cambria Math" panose="02040503050406030204" pitchFamily="18" charset="0"/>
                                        </a:rPr>
                                        <m:t>0.5   2.3       2</m:t>
                                      </m:r>
                                    </m:den>
                                  </m:f>
                                </m:den>
                              </m:f>
                            </m:num>
                            <m:den>
                              <m:f>
                                <m:fPr>
                                  <m:type m:val="noBar"/>
                                  <m:ctrlPr>
                                    <a:rPr lang="en-US" sz="2800" i="1">
                                      <a:latin typeface="Cambria Math" panose="02040503050406030204" pitchFamily="18" charset="0"/>
                                    </a:rPr>
                                  </m:ctrlPr>
                                </m:fPr>
                                <m:num>
                                  <m:f>
                                    <m:fPr>
                                      <m:type m:val="noBar"/>
                                      <m:ctrlPr>
                                        <a:rPr lang="en-US" sz="2800" i="1">
                                          <a:latin typeface="Cambria Math" panose="02040503050406030204" pitchFamily="18" charset="0"/>
                                        </a:rPr>
                                      </m:ctrlPr>
                                    </m:fPr>
                                    <m:num>
                                      <m:r>
                                        <a:rPr lang="en-US" sz="2800" b="0" i="1" smtClean="0">
                                          <a:latin typeface="Cambria Math" panose="02040503050406030204" pitchFamily="18" charset="0"/>
                                        </a:rPr>
                                        <m:t>−1. 1     0.6     −1</m:t>
                                      </m:r>
                                    </m:num>
                                    <m:den>
                                      <m:r>
                                        <a:rPr lang="en-US" sz="2800" b="0" i="1" smtClean="0">
                                          <a:latin typeface="Cambria Math" panose="02040503050406030204" pitchFamily="18" charset="0"/>
                                        </a:rPr>
                                        <m:t> 1         −1       2</m:t>
                                      </m:r>
                                    </m:den>
                                  </m:f>
                                </m:num>
                                <m:den>
                                  <m:eqArr>
                                    <m:eqArrPr>
                                      <m:ctrlPr>
                                        <a:rPr lang="en-US" sz="2800" b="0" i="1" smtClean="0">
                                          <a:latin typeface="Cambria Math" panose="02040503050406030204" pitchFamily="18" charset="0"/>
                                        </a:rPr>
                                      </m:ctrlPr>
                                    </m:eqArrPr>
                                    <m:e>
                                      <m:r>
                                        <a:rPr lang="en-US" sz="2800" b="0" i="1" smtClean="0">
                                          <a:latin typeface="Cambria Math" panose="02040503050406030204" pitchFamily="18" charset="0"/>
                                        </a:rPr>
                                        <m:t>   0.3      1. 2     0.7</m:t>
                                      </m:r>
                                    </m:e>
                                    <m:e>
                                      <m:r>
                                        <a:rPr lang="en-US" sz="2800" b="0" i="1" smtClean="0">
                                          <a:latin typeface="Cambria Math" panose="02040503050406030204" pitchFamily="18" charset="0"/>
                                        </a:rPr>
                                        <m:t> 0.8       0.7.     1.3</m:t>
                                      </m:r>
                                    </m:e>
                                  </m:eqArr>
                                </m:den>
                              </m:f>
                            </m:den>
                          </m:f>
                        </m:e>
                      </m:d>
                    </m:oMath>
                  </m:oMathPara>
                </a14:m>
                <a:endParaRPr lang="en-US" sz="2800" dirty="0"/>
              </a:p>
              <a:p>
                <a:r>
                  <a:rPr lang="en-US" dirty="0"/>
                  <a:t>Then</a:t>
                </a:r>
              </a:p>
              <a:p>
                <a:endParaRPr lang="en-US" dirty="0"/>
              </a:p>
              <a:p>
                <a:pPr marL="118872" indent="0">
                  <a:buNone/>
                </a:pPr>
                <a14:m>
                  <m:oMathPara xmlns:m="http://schemas.openxmlformats.org/officeDocument/2006/math">
                    <m:oMathParaPr>
                      <m:jc m:val="centerGroup"/>
                    </m:oMathParaPr>
                    <m:oMath xmlns:m="http://schemas.openxmlformats.org/officeDocument/2006/math">
                      <m:d>
                        <m:dPr>
                          <m:begChr m:val="["/>
                          <m:endChr m:val="]"/>
                          <m:ctrlPr>
                            <a:rPr lang="en-US" sz="2800" b="0" i="1" smtClean="0">
                              <a:latin typeface="Cambria Math" panose="02040503050406030204" pitchFamily="18" charset="0"/>
                            </a:rPr>
                          </m:ctrlPr>
                        </m:dPr>
                        <m:e>
                          <m:r>
                            <a:rPr lang="en-US" sz="2800" b="0" i="0" smtClean="0">
                              <a:latin typeface="Cambria Math" panose="02040503050406030204" pitchFamily="18" charset="0"/>
                            </a:rPr>
                            <m:t>0,0,0,1,0,0,0,0</m:t>
                          </m:r>
                        </m:e>
                      </m:d>
                      <m:r>
                        <a:rPr lang="en-US" sz="2800" b="0" i="1" smtClean="0">
                          <a:latin typeface="Cambria Math" panose="02040503050406030204" pitchFamily="18" charset="0"/>
                          <a:ea typeface="Cambria Math" panose="02040503050406030204" pitchFamily="18" charset="0"/>
                        </a:rPr>
                        <m:t>×</m:t>
                      </m:r>
                      <m:d>
                        <m:dPr>
                          <m:begChr m:val="["/>
                          <m:endChr m:val="]"/>
                          <m:ctrlPr>
                            <a:rPr lang="en-US" sz="2800" i="1">
                              <a:latin typeface="Cambria Math" panose="02040503050406030204" pitchFamily="18" charset="0"/>
                            </a:rPr>
                          </m:ctrlPr>
                        </m:dPr>
                        <m:e>
                          <m:f>
                            <m:fPr>
                              <m:type m:val="noBar"/>
                              <m:ctrlPr>
                                <a:rPr lang="en-US" sz="2800" i="1">
                                  <a:latin typeface="Cambria Math" panose="02040503050406030204" pitchFamily="18" charset="0"/>
                                </a:rPr>
                              </m:ctrlPr>
                            </m:fPr>
                            <m:num>
                              <m:f>
                                <m:fPr>
                                  <m:type m:val="noBar"/>
                                  <m:ctrlPr>
                                    <a:rPr lang="en-US" sz="2800" i="1">
                                      <a:latin typeface="Cambria Math" panose="02040503050406030204" pitchFamily="18" charset="0"/>
                                    </a:rPr>
                                  </m:ctrlPr>
                                </m:fPr>
                                <m:num>
                                  <m:f>
                                    <m:fPr>
                                      <m:type m:val="noBar"/>
                                      <m:ctrlPr>
                                        <a:rPr lang="en-US" sz="2800" i="1">
                                          <a:latin typeface="Cambria Math" panose="02040503050406030204" pitchFamily="18" charset="0"/>
                                        </a:rPr>
                                      </m:ctrlPr>
                                    </m:fPr>
                                    <m:num>
                                      <m:r>
                                        <a:rPr lang="en-US" sz="2800" i="1">
                                          <a:latin typeface="Cambria Math" panose="02040503050406030204" pitchFamily="18" charset="0"/>
                                        </a:rPr>
                                        <m:t>1       2         2</m:t>
                                      </m:r>
                                    </m:num>
                                    <m:den>
                                      <m:r>
                                        <a:rPr lang="en-US" sz="2800" i="1">
                                          <a:latin typeface="Cambria Math" panose="02040503050406030204" pitchFamily="18" charset="0"/>
                                        </a:rPr>
                                        <m:t>−1.2   −3     −2</m:t>
                                      </m:r>
                                    </m:den>
                                  </m:f>
                                </m:num>
                                <m:den>
                                  <m:f>
                                    <m:fPr>
                                      <m:type m:val="noBar"/>
                                      <m:ctrlPr>
                                        <a:rPr lang="en-US" sz="2800" i="1">
                                          <a:latin typeface="Cambria Math" panose="02040503050406030204" pitchFamily="18" charset="0"/>
                                        </a:rPr>
                                      </m:ctrlPr>
                                    </m:fPr>
                                    <m:num>
                                      <m:r>
                                        <a:rPr lang="en-US" sz="2800" i="1">
                                          <a:latin typeface="Cambria Math" panose="02040503050406030204" pitchFamily="18" charset="0"/>
                                        </a:rPr>
                                        <m:t> 1.2     1. 1    0.5</m:t>
                                      </m:r>
                                    </m:num>
                                    <m:den>
                                      <m:r>
                                        <a:rPr lang="en-US" sz="2800" i="1">
                                          <a:latin typeface="Cambria Math" panose="02040503050406030204" pitchFamily="18" charset="0"/>
                                        </a:rPr>
                                        <m:t>0.5   2.3       2</m:t>
                                      </m:r>
                                    </m:den>
                                  </m:f>
                                </m:den>
                              </m:f>
                            </m:num>
                            <m:den>
                              <m:f>
                                <m:fPr>
                                  <m:type m:val="noBar"/>
                                  <m:ctrlPr>
                                    <a:rPr lang="en-US" sz="2800" i="1">
                                      <a:latin typeface="Cambria Math" panose="02040503050406030204" pitchFamily="18" charset="0"/>
                                    </a:rPr>
                                  </m:ctrlPr>
                                </m:fPr>
                                <m:num>
                                  <m:f>
                                    <m:fPr>
                                      <m:type m:val="noBar"/>
                                      <m:ctrlPr>
                                        <a:rPr lang="en-US" sz="2800" i="1">
                                          <a:latin typeface="Cambria Math" panose="02040503050406030204" pitchFamily="18" charset="0"/>
                                        </a:rPr>
                                      </m:ctrlPr>
                                    </m:fPr>
                                    <m:num>
                                      <m:r>
                                        <a:rPr lang="en-US" sz="2800" i="1">
                                          <a:latin typeface="Cambria Math" panose="02040503050406030204" pitchFamily="18" charset="0"/>
                                        </a:rPr>
                                        <m:t>−1. 1     0.6     −1</m:t>
                                      </m:r>
                                    </m:num>
                                    <m:den>
                                      <m:r>
                                        <a:rPr lang="en-US" sz="2800" i="1">
                                          <a:latin typeface="Cambria Math" panose="02040503050406030204" pitchFamily="18" charset="0"/>
                                        </a:rPr>
                                        <m:t> 1         −1       2</m:t>
                                      </m:r>
                                    </m:den>
                                  </m:f>
                                </m:num>
                                <m:den>
                                  <m:eqArr>
                                    <m:eqArrPr>
                                      <m:ctrlPr>
                                        <a:rPr lang="en-US" sz="2800" i="1">
                                          <a:latin typeface="Cambria Math" panose="02040503050406030204" pitchFamily="18" charset="0"/>
                                        </a:rPr>
                                      </m:ctrlPr>
                                    </m:eqArrPr>
                                    <m:e>
                                      <m:r>
                                        <a:rPr lang="en-US" sz="2800" i="1">
                                          <a:latin typeface="Cambria Math" panose="02040503050406030204" pitchFamily="18" charset="0"/>
                                        </a:rPr>
                                        <m:t>   0.3      1. 2     0.7</m:t>
                                      </m:r>
                                    </m:e>
                                    <m:e>
                                      <m:r>
                                        <a:rPr lang="en-US" sz="2800" i="1">
                                          <a:latin typeface="Cambria Math" panose="02040503050406030204" pitchFamily="18" charset="0"/>
                                        </a:rPr>
                                        <m:t>0.8       0.7.     1.3</m:t>
                                      </m:r>
                                    </m:e>
                                  </m:eqArr>
                                </m:den>
                              </m:f>
                            </m:den>
                          </m:f>
                        </m:e>
                      </m:d>
                      <m:r>
                        <a:rPr lang="en-US" sz="2800" b="0" i="1" smtClean="0">
                          <a:latin typeface="Cambria Math" panose="02040503050406030204" pitchFamily="18" charset="0"/>
                        </a:rPr>
                        <m:t>=[0.5, 2.3, 2.2]</m:t>
                      </m:r>
                    </m:oMath>
                  </m:oMathPara>
                </a14:m>
                <a:endParaRPr lang="en-US" sz="2800" dirty="0"/>
              </a:p>
              <a:p>
                <a:endParaRPr lang="en-US" dirty="0"/>
              </a:p>
            </p:txBody>
          </p:sp>
        </mc:Choice>
        <mc:Fallback xmlns="">
          <p:sp>
            <p:nvSpPr>
              <p:cNvPr id="3" name="Content Placeholder 2">
                <a:extLst>
                  <a:ext uri="{FF2B5EF4-FFF2-40B4-BE49-F238E27FC236}">
                    <a16:creationId xmlns:a16="http://schemas.microsoft.com/office/drawing/2014/main" id="{1551B17C-9B02-3740-9179-D84B51338A02}"/>
                  </a:ext>
                </a:extLst>
              </p:cNvPr>
              <p:cNvSpPr>
                <a:spLocks noGrp="1" noRot="1" noChangeAspect="1" noMove="1" noResize="1" noEditPoints="1" noAdjustHandles="1" noChangeArrowheads="1" noChangeShapeType="1" noTextEdit="1"/>
              </p:cNvSpPr>
              <p:nvPr>
                <p:ph idx="1"/>
              </p:nvPr>
            </p:nvSpPr>
            <p:spPr>
              <a:blipFill>
                <a:blip r:embed="rId2"/>
                <a:stretch>
                  <a:fillRect l="-772" t="-725" b="-2415"/>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7E1C8AD5-9609-0040-BE0C-FC4940423BF7}"/>
              </a:ext>
            </a:extLst>
          </p:cNvPr>
          <p:cNvSpPr>
            <a:spLocks noGrp="1"/>
          </p:cNvSpPr>
          <p:nvPr>
            <p:ph type="dt" sz="half" idx="10"/>
          </p:nvPr>
        </p:nvSpPr>
        <p:spPr/>
        <p:txBody>
          <a:bodyPr/>
          <a:lstStyle/>
          <a:p>
            <a:fld id="{AAF6AE10-3E14-7545-A792-3C5B50B581B2}" type="datetime1">
              <a:rPr lang="en-US" smtClean="0"/>
              <a:t>11/3/24</a:t>
            </a:fld>
            <a:endParaRPr lang="en-US"/>
          </a:p>
        </p:txBody>
      </p:sp>
      <p:sp>
        <p:nvSpPr>
          <p:cNvPr id="5" name="Footer Placeholder 4">
            <a:extLst>
              <a:ext uri="{FF2B5EF4-FFF2-40B4-BE49-F238E27FC236}">
                <a16:creationId xmlns:a16="http://schemas.microsoft.com/office/drawing/2014/main" id="{192ABABD-D7A3-7947-A0A9-DB382D7216E0}"/>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92FEFC95-E03F-BF44-8480-24A674A43A8D}"/>
              </a:ext>
            </a:extLst>
          </p:cNvPr>
          <p:cNvSpPr>
            <a:spLocks noGrp="1"/>
          </p:cNvSpPr>
          <p:nvPr>
            <p:ph type="sldNum" sz="quarter" idx="12"/>
          </p:nvPr>
        </p:nvSpPr>
        <p:spPr/>
        <p:txBody>
          <a:bodyPr/>
          <a:lstStyle/>
          <a:p>
            <a:fld id="{19B12225-5612-419B-A8D5-4B8EEE4C217E}" type="slidenum">
              <a:rPr lang="en-US" smtClean="0"/>
              <a:pPr/>
              <a:t>55</a:t>
            </a:fld>
            <a:endParaRPr lang="en-US"/>
          </a:p>
        </p:txBody>
      </p:sp>
    </p:spTree>
    <p:extLst>
      <p:ext uri="{BB962C8B-B14F-4D97-AF65-F5344CB8AC3E}">
        <p14:creationId xmlns:p14="http://schemas.microsoft.com/office/powerpoint/2010/main" val="34091135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3EF999-0E22-E646-AE46-E78AE2A30EEA}"/>
              </a:ext>
            </a:extLst>
          </p:cNvPr>
          <p:cNvSpPr>
            <a:spLocks noGrp="1"/>
          </p:cNvSpPr>
          <p:nvPr>
            <p:ph idx="1"/>
          </p:nvPr>
        </p:nvSpPr>
        <p:spPr/>
        <p:txBody>
          <a:bodyPr/>
          <a:lstStyle/>
          <a:p>
            <a:r>
              <a:rPr lang="en-US" sz="2600" dirty="0"/>
              <a:t>If target word =books, and </a:t>
            </a:r>
            <a:r>
              <a:rPr lang="en-US" sz="2600" dirty="0" err="1">
                <a:solidFill>
                  <a:srgbClr val="0000FF"/>
                </a:solidFill>
              </a:rPr>
              <a:t>W</a:t>
            </a:r>
            <a:r>
              <a:rPr lang="en-US" sz="2600" baseline="-25000" dirty="0" err="1">
                <a:solidFill>
                  <a:srgbClr val="0000FF"/>
                </a:solidFill>
              </a:rPr>
              <a:t>VxN</a:t>
            </a:r>
            <a:r>
              <a:rPr lang="en-US" sz="2600" baseline="-25000" dirty="0">
                <a:solidFill>
                  <a:srgbClr val="0000FF"/>
                </a:solidFill>
              </a:rPr>
              <a:t> </a:t>
            </a:r>
            <a:r>
              <a:rPr lang="en-US" sz="2600" dirty="0"/>
              <a:t>given:</a:t>
            </a:r>
            <a:endParaRPr lang="en-US" sz="2600" baseline="-25000" dirty="0"/>
          </a:p>
          <a:p>
            <a:r>
              <a:rPr lang="en-US" sz="2600" dirty="0"/>
              <a:t> </a:t>
            </a:r>
          </a:p>
        </p:txBody>
      </p:sp>
      <p:sp>
        <p:nvSpPr>
          <p:cNvPr id="4" name="Date Placeholder 3">
            <a:extLst>
              <a:ext uri="{FF2B5EF4-FFF2-40B4-BE49-F238E27FC236}">
                <a16:creationId xmlns:a16="http://schemas.microsoft.com/office/drawing/2014/main" id="{3A95A54D-9A58-5549-8965-BA8F28D4AD61}"/>
              </a:ext>
            </a:extLst>
          </p:cNvPr>
          <p:cNvSpPr>
            <a:spLocks noGrp="1"/>
          </p:cNvSpPr>
          <p:nvPr>
            <p:ph type="dt" sz="half" idx="10"/>
          </p:nvPr>
        </p:nvSpPr>
        <p:spPr/>
        <p:txBody>
          <a:bodyPr/>
          <a:lstStyle/>
          <a:p>
            <a:fld id="{E4FEFC46-6767-2949-A092-2ECDEFC77D41}" type="datetime1">
              <a:rPr lang="en-US" smtClean="0"/>
              <a:t>11/3/24</a:t>
            </a:fld>
            <a:endParaRPr lang="en-US"/>
          </a:p>
        </p:txBody>
      </p:sp>
      <p:sp>
        <p:nvSpPr>
          <p:cNvPr id="5" name="Footer Placeholder 4">
            <a:extLst>
              <a:ext uri="{FF2B5EF4-FFF2-40B4-BE49-F238E27FC236}">
                <a16:creationId xmlns:a16="http://schemas.microsoft.com/office/drawing/2014/main" id="{75E3F037-9750-654F-816B-A2F53F57A342}"/>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A9C7C246-21A0-724F-877A-EDE129D9F409}"/>
              </a:ext>
            </a:extLst>
          </p:cNvPr>
          <p:cNvSpPr>
            <a:spLocks noGrp="1"/>
          </p:cNvSpPr>
          <p:nvPr>
            <p:ph type="sldNum" sz="quarter" idx="12"/>
          </p:nvPr>
        </p:nvSpPr>
        <p:spPr/>
        <p:txBody>
          <a:bodyPr/>
          <a:lstStyle/>
          <a:p>
            <a:fld id="{19B12225-5612-419B-A8D5-4B8EEE4C217E}" type="slidenum">
              <a:rPr lang="en-US" smtClean="0"/>
              <a:pPr/>
              <a:t>56</a:t>
            </a:fld>
            <a:endParaRPr lang="en-US"/>
          </a:p>
        </p:txBody>
      </p:sp>
      <p:sp>
        <p:nvSpPr>
          <p:cNvPr id="7" name="Oval 6">
            <a:extLst>
              <a:ext uri="{FF2B5EF4-FFF2-40B4-BE49-F238E27FC236}">
                <a16:creationId xmlns:a16="http://schemas.microsoft.com/office/drawing/2014/main" id="{FE984F9E-3D6F-C247-A6C1-9FD84A14E635}"/>
              </a:ext>
            </a:extLst>
          </p:cNvPr>
          <p:cNvSpPr/>
          <p:nvPr/>
        </p:nvSpPr>
        <p:spPr>
          <a:xfrm>
            <a:off x="1447800" y="24384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8" name="Oval 7">
            <a:extLst>
              <a:ext uri="{FF2B5EF4-FFF2-40B4-BE49-F238E27FC236}">
                <a16:creationId xmlns:a16="http://schemas.microsoft.com/office/drawing/2014/main" id="{FCA76820-8ED3-7640-BA73-F8527CD9BB52}"/>
              </a:ext>
            </a:extLst>
          </p:cNvPr>
          <p:cNvSpPr/>
          <p:nvPr/>
        </p:nvSpPr>
        <p:spPr>
          <a:xfrm>
            <a:off x="1447800" y="30480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9" name="Oval 8">
            <a:extLst>
              <a:ext uri="{FF2B5EF4-FFF2-40B4-BE49-F238E27FC236}">
                <a16:creationId xmlns:a16="http://schemas.microsoft.com/office/drawing/2014/main" id="{B47E7577-F37D-4A4E-8A05-F4574EBC5AC3}"/>
              </a:ext>
            </a:extLst>
          </p:cNvPr>
          <p:cNvSpPr/>
          <p:nvPr/>
        </p:nvSpPr>
        <p:spPr>
          <a:xfrm>
            <a:off x="1445821" y="36576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1</a:t>
            </a:r>
          </a:p>
        </p:txBody>
      </p:sp>
      <p:sp>
        <p:nvSpPr>
          <p:cNvPr id="10" name="Oval 9">
            <a:extLst>
              <a:ext uri="{FF2B5EF4-FFF2-40B4-BE49-F238E27FC236}">
                <a16:creationId xmlns:a16="http://schemas.microsoft.com/office/drawing/2014/main" id="{1669C58E-19E6-4840-8065-BDB33C26B166}"/>
              </a:ext>
            </a:extLst>
          </p:cNvPr>
          <p:cNvSpPr/>
          <p:nvPr/>
        </p:nvSpPr>
        <p:spPr>
          <a:xfrm>
            <a:off x="1449779" y="42672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1" name="Oval 10">
            <a:extLst>
              <a:ext uri="{FF2B5EF4-FFF2-40B4-BE49-F238E27FC236}">
                <a16:creationId xmlns:a16="http://schemas.microsoft.com/office/drawing/2014/main" id="{9017FFE6-10AE-FF43-99AE-960397B374DB}"/>
              </a:ext>
            </a:extLst>
          </p:cNvPr>
          <p:cNvSpPr/>
          <p:nvPr/>
        </p:nvSpPr>
        <p:spPr>
          <a:xfrm>
            <a:off x="1449779" y="48768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2" name="Oval 11">
            <a:extLst>
              <a:ext uri="{FF2B5EF4-FFF2-40B4-BE49-F238E27FC236}">
                <a16:creationId xmlns:a16="http://schemas.microsoft.com/office/drawing/2014/main" id="{0587A28A-D458-1444-99C8-17770F541260}"/>
              </a:ext>
            </a:extLst>
          </p:cNvPr>
          <p:cNvSpPr/>
          <p:nvPr/>
        </p:nvSpPr>
        <p:spPr>
          <a:xfrm>
            <a:off x="1447800" y="54864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3" name="Oval 12">
            <a:extLst>
              <a:ext uri="{FF2B5EF4-FFF2-40B4-BE49-F238E27FC236}">
                <a16:creationId xmlns:a16="http://schemas.microsoft.com/office/drawing/2014/main" id="{4D34B655-73FA-C34C-9A61-24A56C1E178B}"/>
              </a:ext>
            </a:extLst>
          </p:cNvPr>
          <p:cNvSpPr/>
          <p:nvPr/>
        </p:nvSpPr>
        <p:spPr>
          <a:xfrm>
            <a:off x="1447800" y="18288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4" name="Oval 13">
            <a:extLst>
              <a:ext uri="{FF2B5EF4-FFF2-40B4-BE49-F238E27FC236}">
                <a16:creationId xmlns:a16="http://schemas.microsoft.com/office/drawing/2014/main" id="{5760957A-AB0C-FC41-AA55-82C44F26A99C}"/>
              </a:ext>
            </a:extLst>
          </p:cNvPr>
          <p:cNvSpPr/>
          <p:nvPr/>
        </p:nvSpPr>
        <p:spPr>
          <a:xfrm>
            <a:off x="1447800" y="60960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5" name="Oval 14">
            <a:extLst>
              <a:ext uri="{FF2B5EF4-FFF2-40B4-BE49-F238E27FC236}">
                <a16:creationId xmlns:a16="http://schemas.microsoft.com/office/drawing/2014/main" id="{F0B5B778-2FF2-4044-BB0E-2570466FF450}"/>
              </a:ext>
            </a:extLst>
          </p:cNvPr>
          <p:cNvSpPr/>
          <p:nvPr/>
        </p:nvSpPr>
        <p:spPr>
          <a:xfrm>
            <a:off x="3581400" y="2703121"/>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en-US" dirty="0"/>
              <a:t>0.5</a:t>
            </a:r>
          </a:p>
        </p:txBody>
      </p:sp>
      <p:sp>
        <p:nvSpPr>
          <p:cNvPr id="16" name="Oval 15">
            <a:extLst>
              <a:ext uri="{FF2B5EF4-FFF2-40B4-BE49-F238E27FC236}">
                <a16:creationId xmlns:a16="http://schemas.microsoft.com/office/drawing/2014/main" id="{181F2C68-981D-824F-A4A2-7DD278B281DF}"/>
              </a:ext>
            </a:extLst>
          </p:cNvPr>
          <p:cNvSpPr/>
          <p:nvPr/>
        </p:nvSpPr>
        <p:spPr>
          <a:xfrm>
            <a:off x="3581400" y="39243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lIns="0" rtlCol="0" anchor="ctr"/>
          <a:lstStyle/>
          <a:p>
            <a:pPr algn="ctr"/>
            <a:r>
              <a:rPr lang="en-US" dirty="0"/>
              <a:t>2.3</a:t>
            </a:r>
          </a:p>
        </p:txBody>
      </p:sp>
      <p:sp>
        <p:nvSpPr>
          <p:cNvPr id="17" name="Oval 16">
            <a:extLst>
              <a:ext uri="{FF2B5EF4-FFF2-40B4-BE49-F238E27FC236}">
                <a16:creationId xmlns:a16="http://schemas.microsoft.com/office/drawing/2014/main" id="{34985E82-54AF-0A45-9DCD-E6A8D656E586}"/>
              </a:ext>
            </a:extLst>
          </p:cNvPr>
          <p:cNvSpPr/>
          <p:nvPr/>
        </p:nvSpPr>
        <p:spPr>
          <a:xfrm>
            <a:off x="3581400" y="51054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lIns="0" tIns="0" rIns="0" bIns="0" rtlCol="0" anchor="ctr"/>
          <a:lstStyle/>
          <a:p>
            <a:pPr algn="ctr"/>
            <a:r>
              <a:rPr lang="en-US" dirty="0"/>
              <a:t>2.2</a:t>
            </a:r>
          </a:p>
        </p:txBody>
      </p:sp>
      <p:sp>
        <p:nvSpPr>
          <p:cNvPr id="18" name="Oval 17">
            <a:extLst>
              <a:ext uri="{FF2B5EF4-FFF2-40B4-BE49-F238E27FC236}">
                <a16:creationId xmlns:a16="http://schemas.microsoft.com/office/drawing/2014/main" id="{7AA8C92D-B711-8145-8F15-3FA48B6147BA}"/>
              </a:ext>
            </a:extLst>
          </p:cNvPr>
          <p:cNvSpPr/>
          <p:nvPr/>
        </p:nvSpPr>
        <p:spPr>
          <a:xfrm>
            <a:off x="5865421" y="24384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9" name="Oval 18">
            <a:extLst>
              <a:ext uri="{FF2B5EF4-FFF2-40B4-BE49-F238E27FC236}">
                <a16:creationId xmlns:a16="http://schemas.microsoft.com/office/drawing/2014/main" id="{5C48531D-05C0-8345-980B-30952593A5D8}"/>
              </a:ext>
            </a:extLst>
          </p:cNvPr>
          <p:cNvSpPr/>
          <p:nvPr/>
        </p:nvSpPr>
        <p:spPr>
          <a:xfrm>
            <a:off x="5865421" y="30480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0" name="Oval 19">
            <a:extLst>
              <a:ext uri="{FF2B5EF4-FFF2-40B4-BE49-F238E27FC236}">
                <a16:creationId xmlns:a16="http://schemas.microsoft.com/office/drawing/2014/main" id="{C85BDEDA-0B29-0B48-AB49-A0443750BCFD}"/>
              </a:ext>
            </a:extLst>
          </p:cNvPr>
          <p:cNvSpPr/>
          <p:nvPr/>
        </p:nvSpPr>
        <p:spPr>
          <a:xfrm>
            <a:off x="5863442" y="36576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1" name="Oval 20">
            <a:extLst>
              <a:ext uri="{FF2B5EF4-FFF2-40B4-BE49-F238E27FC236}">
                <a16:creationId xmlns:a16="http://schemas.microsoft.com/office/drawing/2014/main" id="{BE8785BA-01A9-8F40-A9A4-F3FEA11408FA}"/>
              </a:ext>
            </a:extLst>
          </p:cNvPr>
          <p:cNvSpPr/>
          <p:nvPr/>
        </p:nvSpPr>
        <p:spPr>
          <a:xfrm>
            <a:off x="5867400" y="42672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2" name="Oval 21">
            <a:extLst>
              <a:ext uri="{FF2B5EF4-FFF2-40B4-BE49-F238E27FC236}">
                <a16:creationId xmlns:a16="http://schemas.microsoft.com/office/drawing/2014/main" id="{EB544E5D-9AED-0D4C-B87F-EAD417444152}"/>
              </a:ext>
            </a:extLst>
          </p:cNvPr>
          <p:cNvSpPr/>
          <p:nvPr/>
        </p:nvSpPr>
        <p:spPr>
          <a:xfrm>
            <a:off x="5867400" y="48768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3" name="Oval 22">
            <a:extLst>
              <a:ext uri="{FF2B5EF4-FFF2-40B4-BE49-F238E27FC236}">
                <a16:creationId xmlns:a16="http://schemas.microsoft.com/office/drawing/2014/main" id="{F0C98CF2-6F2D-5840-8C01-71F89C11F9FF}"/>
              </a:ext>
            </a:extLst>
          </p:cNvPr>
          <p:cNvSpPr/>
          <p:nvPr/>
        </p:nvSpPr>
        <p:spPr>
          <a:xfrm>
            <a:off x="5865421" y="54864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4" name="Oval 23">
            <a:extLst>
              <a:ext uri="{FF2B5EF4-FFF2-40B4-BE49-F238E27FC236}">
                <a16:creationId xmlns:a16="http://schemas.microsoft.com/office/drawing/2014/main" id="{DB45B293-2C68-B645-9886-C89078196905}"/>
              </a:ext>
            </a:extLst>
          </p:cNvPr>
          <p:cNvSpPr/>
          <p:nvPr/>
        </p:nvSpPr>
        <p:spPr>
          <a:xfrm>
            <a:off x="5865421" y="18288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5" name="Oval 24">
            <a:extLst>
              <a:ext uri="{FF2B5EF4-FFF2-40B4-BE49-F238E27FC236}">
                <a16:creationId xmlns:a16="http://schemas.microsoft.com/office/drawing/2014/main" id="{BEF37F96-B6E3-C443-B434-C702B6BBF14F}"/>
              </a:ext>
            </a:extLst>
          </p:cNvPr>
          <p:cNvSpPr/>
          <p:nvPr/>
        </p:nvSpPr>
        <p:spPr>
          <a:xfrm>
            <a:off x="5865421" y="60960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DD3E3EA0-C479-AE4B-A2A9-F7E0E4FCD5EF}"/>
              </a:ext>
            </a:extLst>
          </p:cNvPr>
          <p:cNvCxnSpPr>
            <a:cxnSpLocks/>
            <a:stCxn id="13" idx="5"/>
            <a:endCxn id="15" idx="2"/>
          </p:cNvCxnSpPr>
          <p:nvPr/>
        </p:nvCxnSpPr>
        <p:spPr>
          <a:xfrm>
            <a:off x="1903085" y="2284085"/>
            <a:ext cx="1678315" cy="685736"/>
          </a:xfrm>
          <a:prstGeom prst="line">
            <a:avLst/>
          </a:prstGeom>
          <a:ln w="28575"/>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F01C6554-CAC9-DB47-B06E-9910BCA07525}"/>
              </a:ext>
            </a:extLst>
          </p:cNvPr>
          <p:cNvCxnSpPr>
            <a:cxnSpLocks/>
          </p:cNvCxnSpPr>
          <p:nvPr/>
        </p:nvCxnSpPr>
        <p:spPr>
          <a:xfrm>
            <a:off x="2017353" y="2760303"/>
            <a:ext cx="1560089" cy="249596"/>
          </a:xfrm>
          <a:prstGeom prst="line">
            <a:avLst/>
          </a:prstGeom>
          <a:ln w="28575"/>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6AB9B9E8-C680-5248-9365-F0468870FBBC}"/>
              </a:ext>
            </a:extLst>
          </p:cNvPr>
          <p:cNvCxnSpPr>
            <a:cxnSpLocks/>
            <a:endCxn id="15" idx="2"/>
          </p:cNvCxnSpPr>
          <p:nvPr/>
        </p:nvCxnSpPr>
        <p:spPr>
          <a:xfrm flipV="1">
            <a:off x="2013395" y="2969821"/>
            <a:ext cx="1568005" cy="344882"/>
          </a:xfrm>
          <a:prstGeom prst="line">
            <a:avLst/>
          </a:prstGeom>
          <a:ln w="28575"/>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0927AA7F-71CE-C44D-897C-1E3897E5D80B}"/>
              </a:ext>
            </a:extLst>
          </p:cNvPr>
          <p:cNvCxnSpPr>
            <a:cxnSpLocks/>
            <a:stCxn id="9" idx="6"/>
          </p:cNvCxnSpPr>
          <p:nvPr/>
        </p:nvCxnSpPr>
        <p:spPr>
          <a:xfrm flipV="1">
            <a:off x="1979221" y="3017521"/>
            <a:ext cx="1594263" cy="906779"/>
          </a:xfrm>
          <a:prstGeom prst="line">
            <a:avLst/>
          </a:prstGeom>
          <a:ln w="28575">
            <a:solidFill>
              <a:schemeClr val="accent6"/>
            </a:solidFill>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08B55ED0-0B80-4C46-B835-B9E815368BA5}"/>
              </a:ext>
            </a:extLst>
          </p:cNvPr>
          <p:cNvCxnSpPr>
            <a:cxnSpLocks/>
            <a:stCxn id="10" idx="6"/>
            <a:endCxn id="15" idx="2"/>
          </p:cNvCxnSpPr>
          <p:nvPr/>
        </p:nvCxnSpPr>
        <p:spPr>
          <a:xfrm flipV="1">
            <a:off x="1983179" y="2969821"/>
            <a:ext cx="1598221" cy="1564079"/>
          </a:xfrm>
          <a:prstGeom prst="line">
            <a:avLst/>
          </a:prstGeom>
          <a:ln w="28575"/>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A0598294-3668-E846-A022-5AF29B346430}"/>
              </a:ext>
            </a:extLst>
          </p:cNvPr>
          <p:cNvCxnSpPr>
            <a:cxnSpLocks/>
            <a:stCxn id="11" idx="6"/>
          </p:cNvCxnSpPr>
          <p:nvPr/>
        </p:nvCxnSpPr>
        <p:spPr>
          <a:xfrm flipV="1">
            <a:off x="1983179" y="3040378"/>
            <a:ext cx="1589316" cy="2103122"/>
          </a:xfrm>
          <a:prstGeom prst="line">
            <a:avLst/>
          </a:prstGeom>
          <a:ln w="28575"/>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9AF17E93-717C-114B-A363-D20DEFA81EA3}"/>
              </a:ext>
            </a:extLst>
          </p:cNvPr>
          <p:cNvCxnSpPr>
            <a:cxnSpLocks/>
            <a:stCxn id="12" idx="6"/>
            <a:endCxn id="15" idx="2"/>
          </p:cNvCxnSpPr>
          <p:nvPr/>
        </p:nvCxnSpPr>
        <p:spPr>
          <a:xfrm flipV="1">
            <a:off x="1981200" y="2969821"/>
            <a:ext cx="1600200" cy="2783279"/>
          </a:xfrm>
          <a:prstGeom prst="line">
            <a:avLst/>
          </a:prstGeom>
          <a:ln w="28575"/>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DF3785BE-70E0-FD4A-A597-0F8F86E4C71A}"/>
              </a:ext>
            </a:extLst>
          </p:cNvPr>
          <p:cNvCxnSpPr>
            <a:cxnSpLocks/>
            <a:endCxn id="15" idx="2"/>
          </p:cNvCxnSpPr>
          <p:nvPr/>
        </p:nvCxnSpPr>
        <p:spPr>
          <a:xfrm flipV="1">
            <a:off x="2013395" y="2969821"/>
            <a:ext cx="1568005" cy="3385262"/>
          </a:xfrm>
          <a:prstGeom prst="line">
            <a:avLst/>
          </a:prstGeom>
          <a:ln w="28575"/>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825B194E-AF66-FD48-AC5A-D674DC6458DB}"/>
              </a:ext>
            </a:extLst>
          </p:cNvPr>
          <p:cNvCxnSpPr>
            <a:cxnSpLocks/>
            <a:stCxn id="13" idx="5"/>
            <a:endCxn id="16" idx="1"/>
          </p:cNvCxnSpPr>
          <p:nvPr/>
        </p:nvCxnSpPr>
        <p:spPr>
          <a:xfrm>
            <a:off x="1903085" y="2284085"/>
            <a:ext cx="1756430" cy="1718330"/>
          </a:xfrm>
          <a:prstGeom prst="line">
            <a:avLst/>
          </a:prstGeom>
          <a:ln w="28575"/>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9DD01029-FF5B-904A-BAAA-1D41687D60E1}"/>
              </a:ext>
            </a:extLst>
          </p:cNvPr>
          <p:cNvCxnSpPr>
            <a:cxnSpLocks/>
            <a:endCxn id="16" idx="1"/>
          </p:cNvCxnSpPr>
          <p:nvPr/>
        </p:nvCxnSpPr>
        <p:spPr>
          <a:xfrm>
            <a:off x="1985158" y="2771700"/>
            <a:ext cx="1674357" cy="1230715"/>
          </a:xfrm>
          <a:prstGeom prst="line">
            <a:avLst/>
          </a:prstGeom>
          <a:ln w="28575"/>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D69EAF91-AF65-7449-81D4-6E69506E7ED0}"/>
              </a:ext>
            </a:extLst>
          </p:cNvPr>
          <p:cNvCxnSpPr>
            <a:cxnSpLocks/>
            <a:endCxn id="16" idx="1"/>
          </p:cNvCxnSpPr>
          <p:nvPr/>
        </p:nvCxnSpPr>
        <p:spPr>
          <a:xfrm>
            <a:off x="2015374" y="3322320"/>
            <a:ext cx="1644141" cy="680095"/>
          </a:xfrm>
          <a:prstGeom prst="line">
            <a:avLst/>
          </a:prstGeom>
          <a:ln w="28575"/>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98471BCB-43C3-F54E-AC06-888020A6DEF8}"/>
              </a:ext>
            </a:extLst>
          </p:cNvPr>
          <p:cNvCxnSpPr>
            <a:cxnSpLocks/>
            <a:stCxn id="9" idx="6"/>
            <a:endCxn id="16" idx="1"/>
          </p:cNvCxnSpPr>
          <p:nvPr/>
        </p:nvCxnSpPr>
        <p:spPr>
          <a:xfrm>
            <a:off x="1979221" y="3924300"/>
            <a:ext cx="1680294" cy="78115"/>
          </a:xfrm>
          <a:prstGeom prst="line">
            <a:avLst/>
          </a:prstGeom>
          <a:ln w="28575">
            <a:solidFill>
              <a:schemeClr val="accent6"/>
            </a:solidFill>
          </a:ln>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C7450171-6F98-294E-B819-3BCCDC274A74}"/>
              </a:ext>
            </a:extLst>
          </p:cNvPr>
          <p:cNvCxnSpPr>
            <a:cxnSpLocks/>
            <a:endCxn id="16" idx="1"/>
          </p:cNvCxnSpPr>
          <p:nvPr/>
        </p:nvCxnSpPr>
        <p:spPr>
          <a:xfrm flipV="1">
            <a:off x="2007458" y="4002415"/>
            <a:ext cx="1652057" cy="530528"/>
          </a:xfrm>
          <a:prstGeom prst="line">
            <a:avLst/>
          </a:prstGeom>
          <a:ln w="28575"/>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A9231821-C0FC-3D4E-8209-6CE8958D439F}"/>
              </a:ext>
            </a:extLst>
          </p:cNvPr>
          <p:cNvCxnSpPr>
            <a:cxnSpLocks/>
            <a:stCxn id="11" idx="6"/>
            <a:endCxn id="16" idx="1"/>
          </p:cNvCxnSpPr>
          <p:nvPr/>
        </p:nvCxnSpPr>
        <p:spPr>
          <a:xfrm flipV="1">
            <a:off x="1983179" y="4002415"/>
            <a:ext cx="1676336" cy="1141085"/>
          </a:xfrm>
          <a:prstGeom prst="line">
            <a:avLst/>
          </a:prstGeom>
          <a:ln w="28575"/>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340E5CF9-4B90-E042-9382-4392634B1350}"/>
              </a:ext>
            </a:extLst>
          </p:cNvPr>
          <p:cNvCxnSpPr>
            <a:cxnSpLocks/>
            <a:stCxn id="12" idx="6"/>
            <a:endCxn id="16" idx="1"/>
          </p:cNvCxnSpPr>
          <p:nvPr/>
        </p:nvCxnSpPr>
        <p:spPr>
          <a:xfrm flipV="1">
            <a:off x="1981200" y="4002415"/>
            <a:ext cx="1678315" cy="1750685"/>
          </a:xfrm>
          <a:prstGeom prst="line">
            <a:avLst/>
          </a:prstGeom>
          <a:ln w="28575"/>
        </p:spPr>
        <p:style>
          <a:lnRef idx="1">
            <a:schemeClr val="dk1"/>
          </a:lnRef>
          <a:fillRef idx="0">
            <a:schemeClr val="dk1"/>
          </a:fillRef>
          <a:effectRef idx="0">
            <a:schemeClr val="dk1"/>
          </a:effectRef>
          <a:fontRef idx="minor">
            <a:schemeClr val="tx1"/>
          </a:fontRef>
        </p:style>
      </p:cxnSp>
      <p:cxnSp>
        <p:nvCxnSpPr>
          <p:cNvPr id="72" name="Straight Connector 71">
            <a:extLst>
              <a:ext uri="{FF2B5EF4-FFF2-40B4-BE49-F238E27FC236}">
                <a16:creationId xmlns:a16="http://schemas.microsoft.com/office/drawing/2014/main" id="{FFD42355-850B-AE41-83A6-9E363D9EA07E}"/>
              </a:ext>
            </a:extLst>
          </p:cNvPr>
          <p:cNvCxnSpPr>
            <a:cxnSpLocks/>
            <a:endCxn id="16" idx="1"/>
          </p:cNvCxnSpPr>
          <p:nvPr/>
        </p:nvCxnSpPr>
        <p:spPr>
          <a:xfrm flipV="1">
            <a:off x="2009437" y="4002415"/>
            <a:ext cx="1650078" cy="2352666"/>
          </a:xfrm>
          <a:prstGeom prst="line">
            <a:avLst/>
          </a:prstGeom>
          <a:ln w="28575"/>
        </p:spPr>
        <p:style>
          <a:lnRef idx="1">
            <a:schemeClr val="dk1"/>
          </a:lnRef>
          <a:fillRef idx="0">
            <a:schemeClr val="dk1"/>
          </a:fillRef>
          <a:effectRef idx="0">
            <a:schemeClr val="dk1"/>
          </a:effectRef>
          <a:fontRef idx="minor">
            <a:schemeClr val="tx1"/>
          </a:fontRef>
        </p:style>
      </p:cxnSp>
      <p:cxnSp>
        <p:nvCxnSpPr>
          <p:cNvPr id="75" name="Straight Connector 74">
            <a:extLst>
              <a:ext uri="{FF2B5EF4-FFF2-40B4-BE49-F238E27FC236}">
                <a16:creationId xmlns:a16="http://schemas.microsoft.com/office/drawing/2014/main" id="{B7EB380F-C9BF-0842-95F4-1848117705A6}"/>
              </a:ext>
            </a:extLst>
          </p:cNvPr>
          <p:cNvCxnSpPr>
            <a:cxnSpLocks/>
            <a:stCxn id="13" idx="5"/>
            <a:endCxn id="17" idx="1"/>
          </p:cNvCxnSpPr>
          <p:nvPr/>
        </p:nvCxnSpPr>
        <p:spPr>
          <a:xfrm>
            <a:off x="1903085" y="2284085"/>
            <a:ext cx="1756430" cy="2899430"/>
          </a:xfrm>
          <a:prstGeom prst="line">
            <a:avLst/>
          </a:prstGeom>
          <a:ln w="28575"/>
        </p:spPr>
        <p:style>
          <a:lnRef idx="1">
            <a:schemeClr val="dk1"/>
          </a:lnRef>
          <a:fillRef idx="0">
            <a:schemeClr val="dk1"/>
          </a:fillRef>
          <a:effectRef idx="0">
            <a:schemeClr val="dk1"/>
          </a:effectRef>
          <a:fontRef idx="minor">
            <a:schemeClr val="tx1"/>
          </a:fontRef>
        </p:style>
      </p:cxnSp>
      <p:cxnSp>
        <p:nvCxnSpPr>
          <p:cNvPr id="78" name="Straight Connector 77">
            <a:extLst>
              <a:ext uri="{FF2B5EF4-FFF2-40B4-BE49-F238E27FC236}">
                <a16:creationId xmlns:a16="http://schemas.microsoft.com/office/drawing/2014/main" id="{5002F88C-127F-4B46-942B-1D1B6DF0DDB5}"/>
              </a:ext>
            </a:extLst>
          </p:cNvPr>
          <p:cNvCxnSpPr>
            <a:cxnSpLocks/>
            <a:endCxn id="17" idx="1"/>
          </p:cNvCxnSpPr>
          <p:nvPr/>
        </p:nvCxnSpPr>
        <p:spPr>
          <a:xfrm>
            <a:off x="2009437" y="2817964"/>
            <a:ext cx="1650078" cy="2365551"/>
          </a:xfrm>
          <a:prstGeom prst="line">
            <a:avLst/>
          </a:prstGeom>
          <a:ln w="28575"/>
        </p:spPr>
        <p:style>
          <a:lnRef idx="1">
            <a:schemeClr val="dk1"/>
          </a:lnRef>
          <a:fillRef idx="0">
            <a:schemeClr val="dk1"/>
          </a:fillRef>
          <a:effectRef idx="0">
            <a:schemeClr val="dk1"/>
          </a:effectRef>
          <a:fontRef idx="minor">
            <a:schemeClr val="tx1"/>
          </a:fontRef>
        </p:style>
      </p:cxnSp>
      <p:cxnSp>
        <p:nvCxnSpPr>
          <p:cNvPr id="81" name="Straight Connector 80">
            <a:extLst>
              <a:ext uri="{FF2B5EF4-FFF2-40B4-BE49-F238E27FC236}">
                <a16:creationId xmlns:a16="http://schemas.microsoft.com/office/drawing/2014/main" id="{D559DD3A-2B0C-C04F-88B9-065B32D32C37}"/>
              </a:ext>
            </a:extLst>
          </p:cNvPr>
          <p:cNvCxnSpPr>
            <a:cxnSpLocks/>
            <a:endCxn id="17" idx="1"/>
          </p:cNvCxnSpPr>
          <p:nvPr/>
        </p:nvCxnSpPr>
        <p:spPr>
          <a:xfrm>
            <a:off x="2009437" y="3322320"/>
            <a:ext cx="1650078" cy="1861195"/>
          </a:xfrm>
          <a:prstGeom prst="line">
            <a:avLst/>
          </a:prstGeom>
          <a:ln w="28575"/>
        </p:spPr>
        <p:style>
          <a:lnRef idx="1">
            <a:schemeClr val="dk1"/>
          </a:lnRef>
          <a:fillRef idx="0">
            <a:schemeClr val="dk1"/>
          </a:fillRef>
          <a:effectRef idx="0">
            <a:schemeClr val="dk1"/>
          </a:effectRef>
          <a:fontRef idx="minor">
            <a:schemeClr val="tx1"/>
          </a:fontRef>
        </p:style>
      </p:cxnSp>
      <p:cxnSp>
        <p:nvCxnSpPr>
          <p:cNvPr id="84" name="Straight Connector 83">
            <a:extLst>
              <a:ext uri="{FF2B5EF4-FFF2-40B4-BE49-F238E27FC236}">
                <a16:creationId xmlns:a16="http://schemas.microsoft.com/office/drawing/2014/main" id="{9C2FCB5F-C58E-8742-94E7-20E6D3B434C1}"/>
              </a:ext>
            </a:extLst>
          </p:cNvPr>
          <p:cNvCxnSpPr>
            <a:cxnSpLocks/>
            <a:stCxn id="9" idx="6"/>
            <a:endCxn id="17" idx="1"/>
          </p:cNvCxnSpPr>
          <p:nvPr/>
        </p:nvCxnSpPr>
        <p:spPr>
          <a:xfrm>
            <a:off x="1979221" y="3924300"/>
            <a:ext cx="1680294" cy="1259215"/>
          </a:xfrm>
          <a:prstGeom prst="line">
            <a:avLst/>
          </a:prstGeom>
          <a:ln w="28575">
            <a:solidFill>
              <a:schemeClr val="accent6"/>
            </a:solidFill>
          </a:ln>
        </p:spPr>
        <p:style>
          <a:lnRef idx="1">
            <a:schemeClr val="dk1"/>
          </a:lnRef>
          <a:fillRef idx="0">
            <a:schemeClr val="dk1"/>
          </a:fillRef>
          <a:effectRef idx="0">
            <a:schemeClr val="dk1"/>
          </a:effectRef>
          <a:fontRef idx="minor">
            <a:schemeClr val="tx1"/>
          </a:fontRef>
        </p:style>
      </p:cxnSp>
      <p:cxnSp>
        <p:nvCxnSpPr>
          <p:cNvPr id="87" name="Straight Connector 86">
            <a:extLst>
              <a:ext uri="{FF2B5EF4-FFF2-40B4-BE49-F238E27FC236}">
                <a16:creationId xmlns:a16="http://schemas.microsoft.com/office/drawing/2014/main" id="{3B21A8BD-05E0-1B43-A4F8-62FF7028DDDB}"/>
              </a:ext>
            </a:extLst>
          </p:cNvPr>
          <p:cNvCxnSpPr>
            <a:cxnSpLocks/>
            <a:endCxn id="17" idx="1"/>
          </p:cNvCxnSpPr>
          <p:nvPr/>
        </p:nvCxnSpPr>
        <p:spPr>
          <a:xfrm>
            <a:off x="2017353" y="4532943"/>
            <a:ext cx="1642162" cy="650572"/>
          </a:xfrm>
          <a:prstGeom prst="line">
            <a:avLst/>
          </a:prstGeom>
          <a:ln w="28575"/>
        </p:spPr>
        <p:style>
          <a:lnRef idx="1">
            <a:schemeClr val="dk1"/>
          </a:lnRef>
          <a:fillRef idx="0">
            <a:schemeClr val="dk1"/>
          </a:fillRef>
          <a:effectRef idx="0">
            <a:schemeClr val="dk1"/>
          </a:effectRef>
          <a:fontRef idx="minor">
            <a:schemeClr val="tx1"/>
          </a:fontRef>
        </p:style>
      </p:cxnSp>
      <p:cxnSp>
        <p:nvCxnSpPr>
          <p:cNvPr id="90" name="Straight Connector 89">
            <a:extLst>
              <a:ext uri="{FF2B5EF4-FFF2-40B4-BE49-F238E27FC236}">
                <a16:creationId xmlns:a16="http://schemas.microsoft.com/office/drawing/2014/main" id="{A2DEFA17-6869-DD4A-892B-DB71F8944EE3}"/>
              </a:ext>
            </a:extLst>
          </p:cNvPr>
          <p:cNvCxnSpPr>
            <a:cxnSpLocks/>
            <a:endCxn id="17" idx="1"/>
          </p:cNvCxnSpPr>
          <p:nvPr/>
        </p:nvCxnSpPr>
        <p:spPr>
          <a:xfrm>
            <a:off x="2015374" y="5143022"/>
            <a:ext cx="1644141" cy="40493"/>
          </a:xfrm>
          <a:prstGeom prst="line">
            <a:avLst/>
          </a:prstGeom>
          <a:ln w="28575"/>
        </p:spPr>
        <p:style>
          <a:lnRef idx="1">
            <a:schemeClr val="dk1"/>
          </a:lnRef>
          <a:fillRef idx="0">
            <a:schemeClr val="dk1"/>
          </a:fillRef>
          <a:effectRef idx="0">
            <a:schemeClr val="dk1"/>
          </a:effectRef>
          <a:fontRef idx="minor">
            <a:schemeClr val="tx1"/>
          </a:fontRef>
        </p:style>
      </p:cxnSp>
      <p:cxnSp>
        <p:nvCxnSpPr>
          <p:cNvPr id="93" name="Straight Connector 92">
            <a:extLst>
              <a:ext uri="{FF2B5EF4-FFF2-40B4-BE49-F238E27FC236}">
                <a16:creationId xmlns:a16="http://schemas.microsoft.com/office/drawing/2014/main" id="{33EBA30B-F746-234E-8095-F36CD9CFEDD1}"/>
              </a:ext>
            </a:extLst>
          </p:cNvPr>
          <p:cNvCxnSpPr>
            <a:cxnSpLocks/>
            <a:endCxn id="17" idx="1"/>
          </p:cNvCxnSpPr>
          <p:nvPr/>
        </p:nvCxnSpPr>
        <p:spPr>
          <a:xfrm flipV="1">
            <a:off x="1987137" y="5183515"/>
            <a:ext cx="1672378" cy="549340"/>
          </a:xfrm>
          <a:prstGeom prst="line">
            <a:avLst/>
          </a:prstGeom>
          <a:ln w="28575"/>
        </p:spPr>
        <p:style>
          <a:lnRef idx="1">
            <a:schemeClr val="dk1"/>
          </a:lnRef>
          <a:fillRef idx="0">
            <a:schemeClr val="dk1"/>
          </a:fillRef>
          <a:effectRef idx="0">
            <a:schemeClr val="dk1"/>
          </a:effectRef>
          <a:fontRef idx="minor">
            <a:schemeClr val="tx1"/>
          </a:fontRef>
        </p:style>
      </p:cxnSp>
      <p:cxnSp>
        <p:nvCxnSpPr>
          <p:cNvPr id="96" name="Straight Connector 95">
            <a:extLst>
              <a:ext uri="{FF2B5EF4-FFF2-40B4-BE49-F238E27FC236}">
                <a16:creationId xmlns:a16="http://schemas.microsoft.com/office/drawing/2014/main" id="{C3F4262C-798D-B145-8790-D0AB85D7C565}"/>
              </a:ext>
            </a:extLst>
          </p:cNvPr>
          <p:cNvCxnSpPr>
            <a:cxnSpLocks/>
            <a:endCxn id="17" idx="1"/>
          </p:cNvCxnSpPr>
          <p:nvPr/>
        </p:nvCxnSpPr>
        <p:spPr>
          <a:xfrm flipV="1">
            <a:off x="1987137" y="5183515"/>
            <a:ext cx="1672378" cy="1178708"/>
          </a:xfrm>
          <a:prstGeom prst="line">
            <a:avLst/>
          </a:prstGeom>
          <a:ln w="28575"/>
        </p:spPr>
        <p:style>
          <a:lnRef idx="1">
            <a:schemeClr val="dk1"/>
          </a:lnRef>
          <a:fillRef idx="0">
            <a:schemeClr val="dk1"/>
          </a:fillRef>
          <a:effectRef idx="0">
            <a:schemeClr val="dk1"/>
          </a:effectRef>
          <a:fontRef idx="minor">
            <a:schemeClr val="tx1"/>
          </a:fontRef>
        </p:style>
      </p:cxnSp>
      <p:cxnSp>
        <p:nvCxnSpPr>
          <p:cNvPr id="133" name="Straight Connector 132">
            <a:extLst>
              <a:ext uri="{FF2B5EF4-FFF2-40B4-BE49-F238E27FC236}">
                <a16:creationId xmlns:a16="http://schemas.microsoft.com/office/drawing/2014/main" id="{59E3FBCE-1889-E047-8EB5-E03741D3B3C9}"/>
              </a:ext>
            </a:extLst>
          </p:cNvPr>
          <p:cNvCxnSpPr>
            <a:cxnSpLocks/>
            <a:endCxn id="24" idx="2"/>
          </p:cNvCxnSpPr>
          <p:nvPr/>
        </p:nvCxnSpPr>
        <p:spPr>
          <a:xfrm flipV="1">
            <a:off x="4107012" y="2095500"/>
            <a:ext cx="1758409" cy="874682"/>
          </a:xfrm>
          <a:prstGeom prst="line">
            <a:avLst/>
          </a:prstGeom>
          <a:ln w="28575"/>
        </p:spPr>
        <p:style>
          <a:lnRef idx="1">
            <a:schemeClr val="dk1"/>
          </a:lnRef>
          <a:fillRef idx="0">
            <a:schemeClr val="dk1"/>
          </a:fillRef>
          <a:effectRef idx="0">
            <a:schemeClr val="dk1"/>
          </a:effectRef>
          <a:fontRef idx="minor">
            <a:schemeClr val="tx1"/>
          </a:fontRef>
        </p:style>
      </p:cxnSp>
      <p:cxnSp>
        <p:nvCxnSpPr>
          <p:cNvPr id="135" name="Straight Connector 134">
            <a:extLst>
              <a:ext uri="{FF2B5EF4-FFF2-40B4-BE49-F238E27FC236}">
                <a16:creationId xmlns:a16="http://schemas.microsoft.com/office/drawing/2014/main" id="{B5727415-039A-2448-9199-2E57DCBD9AC0}"/>
              </a:ext>
            </a:extLst>
          </p:cNvPr>
          <p:cNvCxnSpPr>
            <a:cxnSpLocks/>
            <a:endCxn id="18" idx="2"/>
          </p:cNvCxnSpPr>
          <p:nvPr/>
        </p:nvCxnSpPr>
        <p:spPr>
          <a:xfrm flipV="1">
            <a:off x="4118758" y="2705100"/>
            <a:ext cx="1746663" cy="263652"/>
          </a:xfrm>
          <a:prstGeom prst="line">
            <a:avLst/>
          </a:prstGeom>
          <a:ln w="28575"/>
        </p:spPr>
        <p:style>
          <a:lnRef idx="1">
            <a:schemeClr val="dk1"/>
          </a:lnRef>
          <a:fillRef idx="0">
            <a:schemeClr val="dk1"/>
          </a:fillRef>
          <a:effectRef idx="0">
            <a:schemeClr val="dk1"/>
          </a:effectRef>
          <a:fontRef idx="minor">
            <a:schemeClr val="tx1"/>
          </a:fontRef>
        </p:style>
      </p:cxnSp>
      <p:cxnSp>
        <p:nvCxnSpPr>
          <p:cNvPr id="138" name="Straight Connector 137">
            <a:extLst>
              <a:ext uri="{FF2B5EF4-FFF2-40B4-BE49-F238E27FC236}">
                <a16:creationId xmlns:a16="http://schemas.microsoft.com/office/drawing/2014/main" id="{818BC6C0-2071-A24E-A718-DE477817BA04}"/>
              </a:ext>
            </a:extLst>
          </p:cNvPr>
          <p:cNvCxnSpPr>
            <a:cxnSpLocks/>
            <a:endCxn id="19" idx="2"/>
          </p:cNvCxnSpPr>
          <p:nvPr/>
        </p:nvCxnSpPr>
        <p:spPr>
          <a:xfrm>
            <a:off x="4118758" y="2999232"/>
            <a:ext cx="1746663" cy="315468"/>
          </a:xfrm>
          <a:prstGeom prst="line">
            <a:avLst/>
          </a:prstGeom>
          <a:ln w="28575"/>
        </p:spPr>
        <p:style>
          <a:lnRef idx="1">
            <a:schemeClr val="dk1"/>
          </a:lnRef>
          <a:fillRef idx="0">
            <a:schemeClr val="dk1"/>
          </a:fillRef>
          <a:effectRef idx="0">
            <a:schemeClr val="dk1"/>
          </a:effectRef>
          <a:fontRef idx="minor">
            <a:schemeClr val="tx1"/>
          </a:fontRef>
        </p:style>
      </p:cxnSp>
      <p:cxnSp>
        <p:nvCxnSpPr>
          <p:cNvPr id="141" name="Straight Connector 140">
            <a:extLst>
              <a:ext uri="{FF2B5EF4-FFF2-40B4-BE49-F238E27FC236}">
                <a16:creationId xmlns:a16="http://schemas.microsoft.com/office/drawing/2014/main" id="{B9B1CDC6-7E14-0C43-9CCE-DDF9538FCA6A}"/>
              </a:ext>
            </a:extLst>
          </p:cNvPr>
          <p:cNvCxnSpPr>
            <a:cxnSpLocks/>
            <a:stCxn id="15" idx="6"/>
            <a:endCxn id="20" idx="2"/>
          </p:cNvCxnSpPr>
          <p:nvPr/>
        </p:nvCxnSpPr>
        <p:spPr>
          <a:xfrm>
            <a:off x="4114800" y="2969821"/>
            <a:ext cx="1748642" cy="954479"/>
          </a:xfrm>
          <a:prstGeom prst="line">
            <a:avLst/>
          </a:prstGeom>
          <a:ln w="28575"/>
        </p:spPr>
        <p:style>
          <a:lnRef idx="1">
            <a:schemeClr val="dk1"/>
          </a:lnRef>
          <a:fillRef idx="0">
            <a:schemeClr val="dk1"/>
          </a:fillRef>
          <a:effectRef idx="0">
            <a:schemeClr val="dk1"/>
          </a:effectRef>
          <a:fontRef idx="minor">
            <a:schemeClr val="tx1"/>
          </a:fontRef>
        </p:style>
      </p:cxnSp>
      <p:cxnSp>
        <p:nvCxnSpPr>
          <p:cNvPr id="145" name="Straight Connector 144">
            <a:extLst>
              <a:ext uri="{FF2B5EF4-FFF2-40B4-BE49-F238E27FC236}">
                <a16:creationId xmlns:a16="http://schemas.microsoft.com/office/drawing/2014/main" id="{AA18D6E2-DE37-F040-8002-761744537496}"/>
              </a:ext>
            </a:extLst>
          </p:cNvPr>
          <p:cNvCxnSpPr>
            <a:cxnSpLocks/>
            <a:stCxn id="15" idx="6"/>
            <a:endCxn id="21" idx="2"/>
          </p:cNvCxnSpPr>
          <p:nvPr/>
        </p:nvCxnSpPr>
        <p:spPr>
          <a:xfrm>
            <a:off x="4114800" y="2969821"/>
            <a:ext cx="1752600" cy="1564079"/>
          </a:xfrm>
          <a:prstGeom prst="line">
            <a:avLst/>
          </a:prstGeom>
          <a:ln w="28575"/>
        </p:spPr>
        <p:style>
          <a:lnRef idx="1">
            <a:schemeClr val="dk1"/>
          </a:lnRef>
          <a:fillRef idx="0">
            <a:schemeClr val="dk1"/>
          </a:fillRef>
          <a:effectRef idx="0">
            <a:schemeClr val="dk1"/>
          </a:effectRef>
          <a:fontRef idx="minor">
            <a:schemeClr val="tx1"/>
          </a:fontRef>
        </p:style>
      </p:cxnSp>
      <p:cxnSp>
        <p:nvCxnSpPr>
          <p:cNvPr id="148" name="Straight Connector 147">
            <a:extLst>
              <a:ext uri="{FF2B5EF4-FFF2-40B4-BE49-F238E27FC236}">
                <a16:creationId xmlns:a16="http://schemas.microsoft.com/office/drawing/2014/main" id="{09600B10-7575-2D43-8D58-0C92EF63F6B2}"/>
              </a:ext>
            </a:extLst>
          </p:cNvPr>
          <p:cNvCxnSpPr>
            <a:cxnSpLocks/>
            <a:stCxn id="15" idx="6"/>
            <a:endCxn id="22" idx="2"/>
          </p:cNvCxnSpPr>
          <p:nvPr/>
        </p:nvCxnSpPr>
        <p:spPr>
          <a:xfrm>
            <a:off x="4114800" y="2969821"/>
            <a:ext cx="1752600" cy="2173679"/>
          </a:xfrm>
          <a:prstGeom prst="line">
            <a:avLst/>
          </a:prstGeom>
          <a:ln w="28575"/>
        </p:spPr>
        <p:style>
          <a:lnRef idx="1">
            <a:schemeClr val="dk1"/>
          </a:lnRef>
          <a:fillRef idx="0">
            <a:schemeClr val="dk1"/>
          </a:fillRef>
          <a:effectRef idx="0">
            <a:schemeClr val="dk1"/>
          </a:effectRef>
          <a:fontRef idx="minor">
            <a:schemeClr val="tx1"/>
          </a:fontRef>
        </p:style>
      </p:cxnSp>
      <p:cxnSp>
        <p:nvCxnSpPr>
          <p:cNvPr id="151" name="Straight Connector 150">
            <a:extLst>
              <a:ext uri="{FF2B5EF4-FFF2-40B4-BE49-F238E27FC236}">
                <a16:creationId xmlns:a16="http://schemas.microsoft.com/office/drawing/2014/main" id="{A95BDE5A-9779-A542-AF26-5F7ADC0484B3}"/>
              </a:ext>
            </a:extLst>
          </p:cNvPr>
          <p:cNvCxnSpPr>
            <a:cxnSpLocks/>
            <a:stCxn id="15" idx="6"/>
            <a:endCxn id="23" idx="2"/>
          </p:cNvCxnSpPr>
          <p:nvPr/>
        </p:nvCxnSpPr>
        <p:spPr>
          <a:xfrm>
            <a:off x="4114800" y="2969821"/>
            <a:ext cx="1750621" cy="2783279"/>
          </a:xfrm>
          <a:prstGeom prst="line">
            <a:avLst/>
          </a:prstGeom>
          <a:ln w="28575"/>
        </p:spPr>
        <p:style>
          <a:lnRef idx="1">
            <a:schemeClr val="dk1"/>
          </a:lnRef>
          <a:fillRef idx="0">
            <a:schemeClr val="dk1"/>
          </a:fillRef>
          <a:effectRef idx="0">
            <a:schemeClr val="dk1"/>
          </a:effectRef>
          <a:fontRef idx="minor">
            <a:schemeClr val="tx1"/>
          </a:fontRef>
        </p:style>
      </p:cxnSp>
      <p:cxnSp>
        <p:nvCxnSpPr>
          <p:cNvPr id="154" name="Straight Connector 153">
            <a:extLst>
              <a:ext uri="{FF2B5EF4-FFF2-40B4-BE49-F238E27FC236}">
                <a16:creationId xmlns:a16="http://schemas.microsoft.com/office/drawing/2014/main" id="{587368D1-F990-D944-BA26-0CC51A917895}"/>
              </a:ext>
            </a:extLst>
          </p:cNvPr>
          <p:cNvCxnSpPr>
            <a:cxnSpLocks/>
            <a:endCxn id="25" idx="2"/>
          </p:cNvCxnSpPr>
          <p:nvPr/>
        </p:nvCxnSpPr>
        <p:spPr>
          <a:xfrm>
            <a:off x="4117768" y="2996184"/>
            <a:ext cx="1747653" cy="3366516"/>
          </a:xfrm>
          <a:prstGeom prst="line">
            <a:avLst/>
          </a:prstGeom>
          <a:ln w="28575"/>
        </p:spPr>
        <p:style>
          <a:lnRef idx="1">
            <a:schemeClr val="dk1"/>
          </a:lnRef>
          <a:fillRef idx="0">
            <a:schemeClr val="dk1"/>
          </a:fillRef>
          <a:effectRef idx="0">
            <a:schemeClr val="dk1"/>
          </a:effectRef>
          <a:fontRef idx="minor">
            <a:schemeClr val="tx1"/>
          </a:fontRef>
        </p:style>
      </p:cxnSp>
      <p:cxnSp>
        <p:nvCxnSpPr>
          <p:cNvPr id="157" name="Straight Connector 156">
            <a:extLst>
              <a:ext uri="{FF2B5EF4-FFF2-40B4-BE49-F238E27FC236}">
                <a16:creationId xmlns:a16="http://schemas.microsoft.com/office/drawing/2014/main" id="{1EBDECDF-52DC-0A4D-9BA4-BB4AA08C8B98}"/>
              </a:ext>
            </a:extLst>
          </p:cNvPr>
          <p:cNvCxnSpPr>
            <a:cxnSpLocks/>
          </p:cNvCxnSpPr>
          <p:nvPr/>
        </p:nvCxnSpPr>
        <p:spPr>
          <a:xfrm flipV="1">
            <a:off x="4117768" y="2123384"/>
            <a:ext cx="1742706" cy="1968555"/>
          </a:xfrm>
          <a:prstGeom prst="line">
            <a:avLst/>
          </a:prstGeom>
          <a:ln w="28575"/>
        </p:spPr>
        <p:style>
          <a:lnRef idx="1">
            <a:schemeClr val="dk1"/>
          </a:lnRef>
          <a:fillRef idx="0">
            <a:schemeClr val="dk1"/>
          </a:fillRef>
          <a:effectRef idx="0">
            <a:schemeClr val="dk1"/>
          </a:effectRef>
          <a:fontRef idx="minor">
            <a:schemeClr val="tx1"/>
          </a:fontRef>
        </p:style>
      </p:cxnSp>
      <p:cxnSp>
        <p:nvCxnSpPr>
          <p:cNvPr id="160" name="Straight Connector 159">
            <a:extLst>
              <a:ext uri="{FF2B5EF4-FFF2-40B4-BE49-F238E27FC236}">
                <a16:creationId xmlns:a16="http://schemas.microsoft.com/office/drawing/2014/main" id="{3FF110E6-2EB0-564C-AB9B-4D999D58F9D4}"/>
              </a:ext>
            </a:extLst>
          </p:cNvPr>
          <p:cNvCxnSpPr>
            <a:cxnSpLocks/>
            <a:endCxn id="18" idx="2"/>
          </p:cNvCxnSpPr>
          <p:nvPr/>
        </p:nvCxnSpPr>
        <p:spPr>
          <a:xfrm flipV="1">
            <a:off x="4108894" y="2705100"/>
            <a:ext cx="1756527" cy="1386840"/>
          </a:xfrm>
          <a:prstGeom prst="line">
            <a:avLst/>
          </a:prstGeom>
          <a:ln w="28575"/>
        </p:spPr>
        <p:style>
          <a:lnRef idx="1">
            <a:schemeClr val="dk1"/>
          </a:lnRef>
          <a:fillRef idx="0">
            <a:schemeClr val="dk1"/>
          </a:fillRef>
          <a:effectRef idx="0">
            <a:schemeClr val="dk1"/>
          </a:effectRef>
          <a:fontRef idx="minor">
            <a:schemeClr val="tx1"/>
          </a:fontRef>
        </p:style>
      </p:cxnSp>
      <p:cxnSp>
        <p:nvCxnSpPr>
          <p:cNvPr id="165" name="Straight Connector 164">
            <a:extLst>
              <a:ext uri="{FF2B5EF4-FFF2-40B4-BE49-F238E27FC236}">
                <a16:creationId xmlns:a16="http://schemas.microsoft.com/office/drawing/2014/main" id="{EB50F085-577A-434F-8E0E-516959178510}"/>
              </a:ext>
            </a:extLst>
          </p:cNvPr>
          <p:cNvCxnSpPr>
            <a:cxnSpLocks/>
            <a:endCxn id="19" idx="2"/>
          </p:cNvCxnSpPr>
          <p:nvPr/>
        </p:nvCxnSpPr>
        <p:spPr>
          <a:xfrm flipV="1">
            <a:off x="4122716" y="3314700"/>
            <a:ext cx="1742705" cy="773430"/>
          </a:xfrm>
          <a:prstGeom prst="line">
            <a:avLst/>
          </a:prstGeom>
          <a:ln w="28575"/>
        </p:spPr>
        <p:style>
          <a:lnRef idx="1">
            <a:schemeClr val="dk1"/>
          </a:lnRef>
          <a:fillRef idx="0">
            <a:schemeClr val="dk1"/>
          </a:fillRef>
          <a:effectRef idx="0">
            <a:schemeClr val="dk1"/>
          </a:effectRef>
          <a:fontRef idx="minor">
            <a:schemeClr val="tx1"/>
          </a:fontRef>
        </p:style>
      </p:cxnSp>
      <p:cxnSp>
        <p:nvCxnSpPr>
          <p:cNvPr id="168" name="Straight Connector 167">
            <a:extLst>
              <a:ext uri="{FF2B5EF4-FFF2-40B4-BE49-F238E27FC236}">
                <a16:creationId xmlns:a16="http://schemas.microsoft.com/office/drawing/2014/main" id="{D786C8DE-B75C-2442-BAC4-27A6C4AB4EE9}"/>
              </a:ext>
            </a:extLst>
          </p:cNvPr>
          <p:cNvCxnSpPr>
            <a:cxnSpLocks/>
            <a:endCxn id="20" idx="2"/>
          </p:cNvCxnSpPr>
          <p:nvPr/>
        </p:nvCxnSpPr>
        <p:spPr>
          <a:xfrm flipV="1">
            <a:off x="4117768" y="3924300"/>
            <a:ext cx="1745674" cy="163830"/>
          </a:xfrm>
          <a:prstGeom prst="line">
            <a:avLst/>
          </a:prstGeom>
          <a:ln w="28575"/>
        </p:spPr>
        <p:style>
          <a:lnRef idx="1">
            <a:schemeClr val="dk1"/>
          </a:lnRef>
          <a:fillRef idx="0">
            <a:schemeClr val="dk1"/>
          </a:fillRef>
          <a:effectRef idx="0">
            <a:schemeClr val="dk1"/>
          </a:effectRef>
          <a:fontRef idx="minor">
            <a:schemeClr val="tx1"/>
          </a:fontRef>
        </p:style>
      </p:cxnSp>
      <p:cxnSp>
        <p:nvCxnSpPr>
          <p:cNvPr id="171" name="Straight Connector 170">
            <a:extLst>
              <a:ext uri="{FF2B5EF4-FFF2-40B4-BE49-F238E27FC236}">
                <a16:creationId xmlns:a16="http://schemas.microsoft.com/office/drawing/2014/main" id="{3DB0A451-42CF-C142-A193-4F7D3E8CCF08}"/>
              </a:ext>
            </a:extLst>
          </p:cNvPr>
          <p:cNvCxnSpPr>
            <a:cxnSpLocks/>
            <a:endCxn id="21" idx="2"/>
          </p:cNvCxnSpPr>
          <p:nvPr/>
        </p:nvCxnSpPr>
        <p:spPr>
          <a:xfrm>
            <a:off x="4123674" y="4088130"/>
            <a:ext cx="1743726" cy="445770"/>
          </a:xfrm>
          <a:prstGeom prst="line">
            <a:avLst/>
          </a:prstGeom>
          <a:ln w="28575"/>
        </p:spPr>
        <p:style>
          <a:lnRef idx="1">
            <a:schemeClr val="dk1"/>
          </a:lnRef>
          <a:fillRef idx="0">
            <a:schemeClr val="dk1"/>
          </a:fillRef>
          <a:effectRef idx="0">
            <a:schemeClr val="dk1"/>
          </a:effectRef>
          <a:fontRef idx="minor">
            <a:schemeClr val="tx1"/>
          </a:fontRef>
        </p:style>
      </p:cxnSp>
      <p:cxnSp>
        <p:nvCxnSpPr>
          <p:cNvPr id="174" name="Straight Connector 173">
            <a:extLst>
              <a:ext uri="{FF2B5EF4-FFF2-40B4-BE49-F238E27FC236}">
                <a16:creationId xmlns:a16="http://schemas.microsoft.com/office/drawing/2014/main" id="{06B6CE7C-5BDE-4A44-B96A-724BDFA0EA5F}"/>
              </a:ext>
            </a:extLst>
          </p:cNvPr>
          <p:cNvCxnSpPr>
            <a:cxnSpLocks/>
            <a:endCxn id="22" idx="2"/>
          </p:cNvCxnSpPr>
          <p:nvPr/>
        </p:nvCxnSpPr>
        <p:spPr>
          <a:xfrm>
            <a:off x="4122716" y="4076699"/>
            <a:ext cx="1744684" cy="1066801"/>
          </a:xfrm>
          <a:prstGeom prst="line">
            <a:avLst/>
          </a:prstGeom>
          <a:ln w="28575"/>
        </p:spPr>
        <p:style>
          <a:lnRef idx="1">
            <a:schemeClr val="dk1"/>
          </a:lnRef>
          <a:fillRef idx="0">
            <a:schemeClr val="dk1"/>
          </a:fillRef>
          <a:effectRef idx="0">
            <a:schemeClr val="dk1"/>
          </a:effectRef>
          <a:fontRef idx="minor">
            <a:schemeClr val="tx1"/>
          </a:fontRef>
        </p:style>
      </p:cxnSp>
      <p:cxnSp>
        <p:nvCxnSpPr>
          <p:cNvPr id="178" name="Straight Connector 177">
            <a:extLst>
              <a:ext uri="{FF2B5EF4-FFF2-40B4-BE49-F238E27FC236}">
                <a16:creationId xmlns:a16="http://schemas.microsoft.com/office/drawing/2014/main" id="{603F59D7-12C1-2E4C-899D-CCDA050F7E5F}"/>
              </a:ext>
            </a:extLst>
          </p:cNvPr>
          <p:cNvCxnSpPr>
            <a:cxnSpLocks/>
            <a:endCxn id="23" idx="2"/>
          </p:cNvCxnSpPr>
          <p:nvPr/>
        </p:nvCxnSpPr>
        <p:spPr>
          <a:xfrm>
            <a:off x="4117768" y="4076699"/>
            <a:ext cx="1747653" cy="1676401"/>
          </a:xfrm>
          <a:prstGeom prst="line">
            <a:avLst/>
          </a:prstGeom>
          <a:ln w="28575"/>
        </p:spPr>
        <p:style>
          <a:lnRef idx="1">
            <a:schemeClr val="dk1"/>
          </a:lnRef>
          <a:fillRef idx="0">
            <a:schemeClr val="dk1"/>
          </a:fillRef>
          <a:effectRef idx="0">
            <a:schemeClr val="dk1"/>
          </a:effectRef>
          <a:fontRef idx="minor">
            <a:schemeClr val="tx1"/>
          </a:fontRef>
        </p:style>
      </p:cxnSp>
      <p:cxnSp>
        <p:nvCxnSpPr>
          <p:cNvPr id="181" name="Straight Connector 180">
            <a:extLst>
              <a:ext uri="{FF2B5EF4-FFF2-40B4-BE49-F238E27FC236}">
                <a16:creationId xmlns:a16="http://schemas.microsoft.com/office/drawing/2014/main" id="{9DE6BC36-53DC-DF43-9ACA-D9CC74A66992}"/>
              </a:ext>
            </a:extLst>
          </p:cNvPr>
          <p:cNvCxnSpPr>
            <a:cxnSpLocks/>
            <a:endCxn id="25" idx="2"/>
          </p:cNvCxnSpPr>
          <p:nvPr/>
        </p:nvCxnSpPr>
        <p:spPr>
          <a:xfrm>
            <a:off x="4119747" y="4076699"/>
            <a:ext cx="1745674" cy="2286001"/>
          </a:xfrm>
          <a:prstGeom prst="line">
            <a:avLst/>
          </a:prstGeom>
          <a:ln w="28575"/>
        </p:spPr>
        <p:style>
          <a:lnRef idx="1">
            <a:schemeClr val="dk1"/>
          </a:lnRef>
          <a:fillRef idx="0">
            <a:schemeClr val="dk1"/>
          </a:fillRef>
          <a:effectRef idx="0">
            <a:schemeClr val="dk1"/>
          </a:effectRef>
          <a:fontRef idx="minor">
            <a:schemeClr val="tx1"/>
          </a:fontRef>
        </p:style>
      </p:cxnSp>
      <p:cxnSp>
        <p:nvCxnSpPr>
          <p:cNvPr id="184" name="Straight Connector 183">
            <a:extLst>
              <a:ext uri="{FF2B5EF4-FFF2-40B4-BE49-F238E27FC236}">
                <a16:creationId xmlns:a16="http://schemas.microsoft.com/office/drawing/2014/main" id="{7BF441FF-C8B6-9E46-8EFF-1B2D68709752}"/>
              </a:ext>
            </a:extLst>
          </p:cNvPr>
          <p:cNvCxnSpPr>
            <a:cxnSpLocks/>
            <a:stCxn id="17" idx="7"/>
            <a:endCxn id="24" idx="2"/>
          </p:cNvCxnSpPr>
          <p:nvPr/>
        </p:nvCxnSpPr>
        <p:spPr>
          <a:xfrm flipV="1">
            <a:off x="4036685" y="2095500"/>
            <a:ext cx="1828736" cy="3088015"/>
          </a:xfrm>
          <a:prstGeom prst="line">
            <a:avLst/>
          </a:prstGeom>
          <a:ln w="28575"/>
        </p:spPr>
        <p:style>
          <a:lnRef idx="1">
            <a:schemeClr val="dk1"/>
          </a:lnRef>
          <a:fillRef idx="0">
            <a:schemeClr val="dk1"/>
          </a:fillRef>
          <a:effectRef idx="0">
            <a:schemeClr val="dk1"/>
          </a:effectRef>
          <a:fontRef idx="minor">
            <a:schemeClr val="tx1"/>
          </a:fontRef>
        </p:style>
      </p:cxnSp>
      <p:cxnSp>
        <p:nvCxnSpPr>
          <p:cNvPr id="187" name="Straight Connector 186">
            <a:extLst>
              <a:ext uri="{FF2B5EF4-FFF2-40B4-BE49-F238E27FC236}">
                <a16:creationId xmlns:a16="http://schemas.microsoft.com/office/drawing/2014/main" id="{1C0650AA-5AFE-7643-8015-7F3A67E34C58}"/>
              </a:ext>
            </a:extLst>
          </p:cNvPr>
          <p:cNvCxnSpPr>
            <a:cxnSpLocks/>
            <a:stCxn id="17" idx="7"/>
            <a:endCxn id="18" idx="2"/>
          </p:cNvCxnSpPr>
          <p:nvPr/>
        </p:nvCxnSpPr>
        <p:spPr>
          <a:xfrm flipV="1">
            <a:off x="4036685" y="2705100"/>
            <a:ext cx="1828736" cy="2478415"/>
          </a:xfrm>
          <a:prstGeom prst="line">
            <a:avLst/>
          </a:prstGeom>
          <a:ln w="28575"/>
        </p:spPr>
        <p:style>
          <a:lnRef idx="1">
            <a:schemeClr val="dk1"/>
          </a:lnRef>
          <a:fillRef idx="0">
            <a:schemeClr val="dk1"/>
          </a:fillRef>
          <a:effectRef idx="0">
            <a:schemeClr val="dk1"/>
          </a:effectRef>
          <a:fontRef idx="minor">
            <a:schemeClr val="tx1"/>
          </a:fontRef>
        </p:style>
      </p:cxnSp>
      <p:cxnSp>
        <p:nvCxnSpPr>
          <p:cNvPr id="190" name="Straight Connector 189">
            <a:extLst>
              <a:ext uri="{FF2B5EF4-FFF2-40B4-BE49-F238E27FC236}">
                <a16:creationId xmlns:a16="http://schemas.microsoft.com/office/drawing/2014/main" id="{1AB45CB1-1B0D-584B-97FE-A7F2539D371B}"/>
              </a:ext>
            </a:extLst>
          </p:cNvPr>
          <p:cNvCxnSpPr>
            <a:cxnSpLocks/>
            <a:stCxn id="17" idx="7"/>
            <a:endCxn id="19" idx="2"/>
          </p:cNvCxnSpPr>
          <p:nvPr/>
        </p:nvCxnSpPr>
        <p:spPr>
          <a:xfrm flipV="1">
            <a:off x="4036685" y="3314700"/>
            <a:ext cx="1828736" cy="1868815"/>
          </a:xfrm>
          <a:prstGeom prst="line">
            <a:avLst/>
          </a:prstGeom>
          <a:ln w="28575"/>
        </p:spPr>
        <p:style>
          <a:lnRef idx="1">
            <a:schemeClr val="dk1"/>
          </a:lnRef>
          <a:fillRef idx="0">
            <a:schemeClr val="dk1"/>
          </a:fillRef>
          <a:effectRef idx="0">
            <a:schemeClr val="dk1"/>
          </a:effectRef>
          <a:fontRef idx="minor">
            <a:schemeClr val="tx1"/>
          </a:fontRef>
        </p:style>
      </p:cxnSp>
      <p:cxnSp>
        <p:nvCxnSpPr>
          <p:cNvPr id="193" name="Straight Connector 192">
            <a:extLst>
              <a:ext uri="{FF2B5EF4-FFF2-40B4-BE49-F238E27FC236}">
                <a16:creationId xmlns:a16="http://schemas.microsoft.com/office/drawing/2014/main" id="{0ADD363D-8B62-FC45-BBAF-319CD0FB238D}"/>
              </a:ext>
            </a:extLst>
          </p:cNvPr>
          <p:cNvCxnSpPr>
            <a:cxnSpLocks/>
            <a:stCxn id="17" idx="7"/>
          </p:cNvCxnSpPr>
          <p:nvPr/>
        </p:nvCxnSpPr>
        <p:spPr>
          <a:xfrm flipV="1">
            <a:off x="4036685" y="3923343"/>
            <a:ext cx="1817883" cy="1260172"/>
          </a:xfrm>
          <a:prstGeom prst="line">
            <a:avLst/>
          </a:prstGeom>
          <a:ln w="28575"/>
        </p:spPr>
        <p:style>
          <a:lnRef idx="1">
            <a:schemeClr val="dk1"/>
          </a:lnRef>
          <a:fillRef idx="0">
            <a:schemeClr val="dk1"/>
          </a:fillRef>
          <a:effectRef idx="0">
            <a:schemeClr val="dk1"/>
          </a:effectRef>
          <a:fontRef idx="minor">
            <a:schemeClr val="tx1"/>
          </a:fontRef>
        </p:style>
      </p:cxnSp>
      <p:cxnSp>
        <p:nvCxnSpPr>
          <p:cNvPr id="196" name="Straight Connector 195">
            <a:extLst>
              <a:ext uri="{FF2B5EF4-FFF2-40B4-BE49-F238E27FC236}">
                <a16:creationId xmlns:a16="http://schemas.microsoft.com/office/drawing/2014/main" id="{534135AE-C435-D64E-AA08-0D0030B432B8}"/>
              </a:ext>
            </a:extLst>
          </p:cNvPr>
          <p:cNvCxnSpPr>
            <a:cxnSpLocks/>
            <a:stCxn id="17" idx="7"/>
          </p:cNvCxnSpPr>
          <p:nvPr/>
        </p:nvCxnSpPr>
        <p:spPr>
          <a:xfrm flipV="1">
            <a:off x="4036685" y="4526281"/>
            <a:ext cx="1817883" cy="657234"/>
          </a:xfrm>
          <a:prstGeom prst="line">
            <a:avLst/>
          </a:prstGeom>
          <a:ln w="28575"/>
        </p:spPr>
        <p:style>
          <a:lnRef idx="1">
            <a:schemeClr val="dk1"/>
          </a:lnRef>
          <a:fillRef idx="0">
            <a:schemeClr val="dk1"/>
          </a:fillRef>
          <a:effectRef idx="0">
            <a:schemeClr val="dk1"/>
          </a:effectRef>
          <a:fontRef idx="minor">
            <a:schemeClr val="tx1"/>
          </a:fontRef>
        </p:style>
      </p:cxnSp>
      <p:cxnSp>
        <p:nvCxnSpPr>
          <p:cNvPr id="207" name="Straight Connector 206">
            <a:extLst>
              <a:ext uri="{FF2B5EF4-FFF2-40B4-BE49-F238E27FC236}">
                <a16:creationId xmlns:a16="http://schemas.microsoft.com/office/drawing/2014/main" id="{3FBFF0A4-0C35-8647-B007-BF69D24C0E97}"/>
              </a:ext>
            </a:extLst>
          </p:cNvPr>
          <p:cNvCxnSpPr>
            <a:cxnSpLocks/>
            <a:stCxn id="17" idx="7"/>
            <a:endCxn id="22" idx="2"/>
          </p:cNvCxnSpPr>
          <p:nvPr/>
        </p:nvCxnSpPr>
        <p:spPr>
          <a:xfrm flipV="1">
            <a:off x="4036685" y="5143500"/>
            <a:ext cx="1830715" cy="40015"/>
          </a:xfrm>
          <a:prstGeom prst="line">
            <a:avLst/>
          </a:prstGeom>
          <a:ln w="28575"/>
        </p:spPr>
        <p:style>
          <a:lnRef idx="1">
            <a:schemeClr val="dk1"/>
          </a:lnRef>
          <a:fillRef idx="0">
            <a:schemeClr val="dk1"/>
          </a:fillRef>
          <a:effectRef idx="0">
            <a:schemeClr val="dk1"/>
          </a:effectRef>
          <a:fontRef idx="minor">
            <a:schemeClr val="tx1"/>
          </a:fontRef>
        </p:style>
      </p:cxnSp>
      <p:cxnSp>
        <p:nvCxnSpPr>
          <p:cNvPr id="210" name="Straight Connector 209">
            <a:extLst>
              <a:ext uri="{FF2B5EF4-FFF2-40B4-BE49-F238E27FC236}">
                <a16:creationId xmlns:a16="http://schemas.microsoft.com/office/drawing/2014/main" id="{7C093255-E26A-A64B-9A5D-AB76A5666C72}"/>
              </a:ext>
            </a:extLst>
          </p:cNvPr>
          <p:cNvCxnSpPr>
            <a:cxnSpLocks/>
            <a:stCxn id="17" idx="7"/>
            <a:endCxn id="23" idx="2"/>
          </p:cNvCxnSpPr>
          <p:nvPr/>
        </p:nvCxnSpPr>
        <p:spPr>
          <a:xfrm>
            <a:off x="4036685" y="5183515"/>
            <a:ext cx="1828736" cy="569585"/>
          </a:xfrm>
          <a:prstGeom prst="line">
            <a:avLst/>
          </a:prstGeom>
          <a:ln w="28575"/>
        </p:spPr>
        <p:style>
          <a:lnRef idx="1">
            <a:schemeClr val="dk1"/>
          </a:lnRef>
          <a:fillRef idx="0">
            <a:schemeClr val="dk1"/>
          </a:fillRef>
          <a:effectRef idx="0">
            <a:schemeClr val="dk1"/>
          </a:effectRef>
          <a:fontRef idx="minor">
            <a:schemeClr val="tx1"/>
          </a:fontRef>
        </p:style>
      </p:cxnSp>
      <p:cxnSp>
        <p:nvCxnSpPr>
          <p:cNvPr id="213" name="Straight Connector 212">
            <a:extLst>
              <a:ext uri="{FF2B5EF4-FFF2-40B4-BE49-F238E27FC236}">
                <a16:creationId xmlns:a16="http://schemas.microsoft.com/office/drawing/2014/main" id="{478440D9-42E6-DE49-A7D5-1E04DFA629CE}"/>
              </a:ext>
            </a:extLst>
          </p:cNvPr>
          <p:cNvCxnSpPr>
            <a:cxnSpLocks/>
            <a:stCxn id="17" idx="7"/>
            <a:endCxn id="25" idx="2"/>
          </p:cNvCxnSpPr>
          <p:nvPr/>
        </p:nvCxnSpPr>
        <p:spPr>
          <a:xfrm>
            <a:off x="4036685" y="5183515"/>
            <a:ext cx="1828736" cy="1179185"/>
          </a:xfrm>
          <a:prstGeom prst="line">
            <a:avLst/>
          </a:prstGeom>
          <a:ln w="28575"/>
        </p:spPr>
        <p:style>
          <a:lnRef idx="1">
            <a:schemeClr val="dk1"/>
          </a:lnRef>
          <a:fillRef idx="0">
            <a:schemeClr val="dk1"/>
          </a:fillRef>
          <a:effectRef idx="0">
            <a:schemeClr val="dk1"/>
          </a:effectRef>
          <a:fontRef idx="minor">
            <a:schemeClr val="tx1"/>
          </a:fontRef>
        </p:style>
      </p:cxnSp>
      <p:grpSp>
        <p:nvGrpSpPr>
          <p:cNvPr id="76" name="Group 75">
            <a:extLst>
              <a:ext uri="{FF2B5EF4-FFF2-40B4-BE49-F238E27FC236}">
                <a16:creationId xmlns:a16="http://schemas.microsoft.com/office/drawing/2014/main" id="{4440B9F7-CCBC-C34A-828B-F8797096FDD1}"/>
              </a:ext>
            </a:extLst>
          </p:cNvPr>
          <p:cNvGrpSpPr/>
          <p:nvPr/>
        </p:nvGrpSpPr>
        <p:grpSpPr>
          <a:xfrm>
            <a:off x="642264" y="1904997"/>
            <a:ext cx="661050" cy="4648203"/>
            <a:chOff x="856144" y="3124199"/>
            <a:chExt cx="1277456" cy="2209801"/>
          </a:xfrm>
        </p:grpSpPr>
        <p:sp>
          <p:nvSpPr>
            <p:cNvPr id="77" name="TextBox 76">
              <a:extLst>
                <a:ext uri="{FF2B5EF4-FFF2-40B4-BE49-F238E27FC236}">
                  <a16:creationId xmlns:a16="http://schemas.microsoft.com/office/drawing/2014/main" id="{904C049D-063F-AA49-8FE5-F37E6C55B503}"/>
                </a:ext>
              </a:extLst>
            </p:cNvPr>
            <p:cNvSpPr txBox="1"/>
            <p:nvPr/>
          </p:nvSpPr>
          <p:spPr>
            <a:xfrm rot="16200000">
              <a:off x="155198" y="3825145"/>
              <a:ext cx="2115614" cy="713721"/>
            </a:xfrm>
            <a:prstGeom prst="rect">
              <a:avLst/>
            </a:prstGeom>
            <a:noFill/>
          </p:spPr>
          <p:txBody>
            <a:bodyPr wrap="square" rtlCol="0">
              <a:spAutoFit/>
            </a:bodyPr>
            <a:lstStyle/>
            <a:p>
              <a:pPr algn="ctr"/>
              <a:r>
                <a:rPr lang="en-US" dirty="0">
                  <a:solidFill>
                    <a:srgbClr val="D60093"/>
                  </a:solidFill>
                </a:rPr>
                <a:t>Target word = books</a:t>
              </a:r>
              <a:endParaRPr lang="en-US" dirty="0">
                <a:solidFill>
                  <a:srgbClr val="D60093"/>
                </a:solidFill>
                <a:latin typeface="Arial" pitchFamily="34" charset="0"/>
                <a:cs typeface="Arial" pitchFamily="34" charset="0"/>
              </a:endParaRPr>
            </a:p>
          </p:txBody>
        </p:sp>
        <p:sp>
          <p:nvSpPr>
            <p:cNvPr id="79" name="Left Brace 78">
              <a:extLst>
                <a:ext uri="{FF2B5EF4-FFF2-40B4-BE49-F238E27FC236}">
                  <a16:creationId xmlns:a16="http://schemas.microsoft.com/office/drawing/2014/main" id="{3FD0ABCC-5EDB-0347-8A22-3C0D19BBDBBE}"/>
                </a:ext>
              </a:extLst>
            </p:cNvPr>
            <p:cNvSpPr/>
            <p:nvPr/>
          </p:nvSpPr>
          <p:spPr>
            <a:xfrm>
              <a:off x="1569865" y="3124200"/>
              <a:ext cx="563735" cy="2209800"/>
            </a:xfrm>
            <a:prstGeom prst="leftBrace">
              <a:avLst/>
            </a:prstGeom>
            <a:ln w="28575">
              <a:solidFill>
                <a:srgbClr val="D60093"/>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grpSp>
        <p:nvGrpSpPr>
          <p:cNvPr id="85" name="Group 84">
            <a:extLst>
              <a:ext uri="{FF2B5EF4-FFF2-40B4-BE49-F238E27FC236}">
                <a16:creationId xmlns:a16="http://schemas.microsoft.com/office/drawing/2014/main" id="{DA5E1BC7-83B5-7B4E-92F2-89AFEFEECDC3}"/>
              </a:ext>
            </a:extLst>
          </p:cNvPr>
          <p:cNvGrpSpPr/>
          <p:nvPr/>
        </p:nvGrpSpPr>
        <p:grpSpPr>
          <a:xfrm rot="10800000">
            <a:off x="6617039" y="1904997"/>
            <a:ext cx="799549" cy="4648205"/>
            <a:chOff x="588500" y="3124198"/>
            <a:chExt cx="1545100" cy="2209802"/>
          </a:xfrm>
        </p:grpSpPr>
        <p:sp>
          <p:nvSpPr>
            <p:cNvPr id="86" name="TextBox 85">
              <a:extLst>
                <a:ext uri="{FF2B5EF4-FFF2-40B4-BE49-F238E27FC236}">
                  <a16:creationId xmlns:a16="http://schemas.microsoft.com/office/drawing/2014/main" id="{72FF46AA-E82A-D249-BC8A-FB9E6914EB86}"/>
                </a:ext>
              </a:extLst>
            </p:cNvPr>
            <p:cNvSpPr txBox="1"/>
            <p:nvPr/>
          </p:nvSpPr>
          <p:spPr>
            <a:xfrm rot="16200000">
              <a:off x="155199" y="3557499"/>
              <a:ext cx="2115614" cy="1249012"/>
            </a:xfrm>
            <a:prstGeom prst="rect">
              <a:avLst/>
            </a:prstGeom>
            <a:noFill/>
          </p:spPr>
          <p:txBody>
            <a:bodyPr wrap="square" rtlCol="0">
              <a:spAutoFit/>
            </a:bodyPr>
            <a:lstStyle/>
            <a:p>
              <a:r>
                <a:rPr lang="en-US" dirty="0">
                  <a:solidFill>
                    <a:srgbClr val="D60093"/>
                  </a:solidFill>
                </a:rPr>
                <a:t>Output layer: probability of each word being in context</a:t>
              </a:r>
              <a:endParaRPr lang="en-US" dirty="0">
                <a:solidFill>
                  <a:srgbClr val="D60093"/>
                </a:solidFill>
                <a:latin typeface="Arial" pitchFamily="34" charset="0"/>
                <a:cs typeface="Arial" pitchFamily="34" charset="0"/>
              </a:endParaRPr>
            </a:p>
          </p:txBody>
        </p:sp>
        <p:sp>
          <p:nvSpPr>
            <p:cNvPr id="88" name="Left Brace 87">
              <a:extLst>
                <a:ext uri="{FF2B5EF4-FFF2-40B4-BE49-F238E27FC236}">
                  <a16:creationId xmlns:a16="http://schemas.microsoft.com/office/drawing/2014/main" id="{3D569644-1DFF-6345-B882-B4A449326E1B}"/>
                </a:ext>
              </a:extLst>
            </p:cNvPr>
            <p:cNvSpPr/>
            <p:nvPr/>
          </p:nvSpPr>
          <p:spPr>
            <a:xfrm>
              <a:off x="1569865" y="3124200"/>
              <a:ext cx="563735" cy="2209800"/>
            </a:xfrm>
            <a:prstGeom prst="leftBrace">
              <a:avLst/>
            </a:prstGeom>
            <a:ln w="28575">
              <a:solidFill>
                <a:srgbClr val="D60093"/>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sp>
        <p:nvSpPr>
          <p:cNvPr id="29" name="TextBox 28">
            <a:extLst>
              <a:ext uri="{FF2B5EF4-FFF2-40B4-BE49-F238E27FC236}">
                <a16:creationId xmlns:a16="http://schemas.microsoft.com/office/drawing/2014/main" id="{0989CABD-8ACB-D341-B194-735DBFB8EC4F}"/>
              </a:ext>
            </a:extLst>
          </p:cNvPr>
          <p:cNvSpPr txBox="1"/>
          <p:nvPr/>
        </p:nvSpPr>
        <p:spPr>
          <a:xfrm>
            <a:off x="2971800" y="6019800"/>
            <a:ext cx="2133600" cy="369332"/>
          </a:xfrm>
          <a:prstGeom prst="rect">
            <a:avLst/>
          </a:prstGeom>
          <a:noFill/>
        </p:spPr>
        <p:txBody>
          <a:bodyPr wrap="square" rtlCol="0">
            <a:spAutoFit/>
          </a:bodyPr>
          <a:lstStyle/>
          <a:p>
            <a:r>
              <a:rPr lang="en-US" dirty="0">
                <a:solidFill>
                  <a:srgbClr val="0000FF"/>
                </a:solidFill>
                <a:latin typeface="Arial" pitchFamily="34" charset="0"/>
                <a:cs typeface="Arial" pitchFamily="34" charset="0"/>
              </a:rPr>
              <a:t>3-dim embedding</a:t>
            </a:r>
          </a:p>
        </p:txBody>
      </p:sp>
      <p:sp>
        <p:nvSpPr>
          <p:cNvPr id="89" name="Title 1">
            <a:extLst>
              <a:ext uri="{FF2B5EF4-FFF2-40B4-BE49-F238E27FC236}">
                <a16:creationId xmlns:a16="http://schemas.microsoft.com/office/drawing/2014/main" id="{B19AD8C4-BEA1-314E-8896-166397774656}"/>
              </a:ext>
            </a:extLst>
          </p:cNvPr>
          <p:cNvSpPr>
            <a:spLocks noGrp="1"/>
          </p:cNvSpPr>
          <p:nvPr>
            <p:ph type="title"/>
          </p:nvPr>
        </p:nvSpPr>
        <p:spPr>
          <a:xfrm>
            <a:off x="457200" y="76200"/>
            <a:ext cx="8229600" cy="987552"/>
          </a:xfrm>
        </p:spPr>
        <p:txBody>
          <a:bodyPr/>
          <a:lstStyle/>
          <a:p>
            <a:r>
              <a:rPr lang="en-US" dirty="0"/>
              <a:t>Word2Vec: Example</a:t>
            </a:r>
          </a:p>
        </p:txBody>
      </p:sp>
      <p:sp>
        <p:nvSpPr>
          <p:cNvPr id="82" name="TextBox 81">
            <a:extLst>
              <a:ext uri="{FF2B5EF4-FFF2-40B4-BE49-F238E27FC236}">
                <a16:creationId xmlns:a16="http://schemas.microsoft.com/office/drawing/2014/main" id="{7B4B38B5-5293-CE4E-812D-A2ABE52C2109}"/>
              </a:ext>
            </a:extLst>
          </p:cNvPr>
          <p:cNvSpPr txBox="1"/>
          <p:nvPr/>
        </p:nvSpPr>
        <p:spPr>
          <a:xfrm>
            <a:off x="2266120" y="2003273"/>
            <a:ext cx="1089275" cy="369332"/>
          </a:xfrm>
          <a:prstGeom prst="rect">
            <a:avLst/>
          </a:prstGeom>
          <a:noFill/>
        </p:spPr>
        <p:txBody>
          <a:bodyPr wrap="square" rtlCol="0">
            <a:spAutoFit/>
          </a:bodyPr>
          <a:lstStyle/>
          <a:p>
            <a:r>
              <a:rPr lang="en-US" b="1" dirty="0" err="1">
                <a:solidFill>
                  <a:srgbClr val="0000FF"/>
                </a:solidFill>
                <a:latin typeface="Arial" pitchFamily="34" charset="0"/>
                <a:cs typeface="Arial" pitchFamily="34" charset="0"/>
              </a:rPr>
              <a:t>W</a:t>
            </a:r>
            <a:r>
              <a:rPr lang="en-US" b="1" baseline="-25000" dirty="0" err="1">
                <a:solidFill>
                  <a:srgbClr val="0000FF"/>
                </a:solidFill>
                <a:latin typeface="Arial" pitchFamily="34" charset="0"/>
                <a:cs typeface="Arial" pitchFamily="34" charset="0"/>
              </a:rPr>
              <a:t>VxN</a:t>
            </a:r>
            <a:endParaRPr lang="en-US" b="1" baseline="-25000" dirty="0">
              <a:solidFill>
                <a:srgbClr val="0000FF"/>
              </a:solidFill>
              <a:latin typeface="Arial" pitchFamily="34" charset="0"/>
              <a:cs typeface="Arial" pitchFamily="34" charset="0"/>
            </a:endParaRPr>
          </a:p>
        </p:txBody>
      </p:sp>
    </p:spTree>
    <p:extLst>
      <p:ext uri="{BB962C8B-B14F-4D97-AF65-F5344CB8AC3E}">
        <p14:creationId xmlns:p14="http://schemas.microsoft.com/office/powerpoint/2010/main" val="4903299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0C70D-48E1-DD4E-9E51-B3A59B8953BB}"/>
              </a:ext>
            </a:extLst>
          </p:cNvPr>
          <p:cNvSpPr>
            <a:spLocks noGrp="1"/>
          </p:cNvSpPr>
          <p:nvPr>
            <p:ph type="title"/>
          </p:nvPr>
        </p:nvSpPr>
        <p:spPr/>
        <p:txBody>
          <a:bodyPr/>
          <a:lstStyle/>
          <a:p>
            <a:r>
              <a:rPr lang="en-US" dirty="0"/>
              <a:t>Word2Vec: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51B17C-9B02-3740-9179-D84B51338A02}"/>
                  </a:ext>
                </a:extLst>
              </p:cNvPr>
              <p:cNvSpPr>
                <a:spLocks noGrp="1"/>
              </p:cNvSpPr>
              <p:nvPr>
                <p:ph idx="1"/>
              </p:nvPr>
            </p:nvSpPr>
            <p:spPr/>
            <p:txBody>
              <a:bodyPr>
                <a:normAutofit/>
              </a:bodyPr>
              <a:lstStyle/>
              <a:p>
                <a:r>
                  <a:rPr lang="en-US" dirty="0"/>
                  <a:t>If the weight matrix </a:t>
                </a:r>
                <a:r>
                  <a:rPr lang="en-US" dirty="0" err="1">
                    <a:solidFill>
                      <a:srgbClr val="D60093"/>
                    </a:solidFill>
                  </a:rPr>
                  <a:t>W’</a:t>
                </a:r>
                <a:r>
                  <a:rPr lang="en-US" baseline="-25000" dirty="0" err="1">
                    <a:solidFill>
                      <a:srgbClr val="D60093"/>
                    </a:solidFill>
                  </a:rPr>
                  <a:t>NxV</a:t>
                </a:r>
                <a:r>
                  <a:rPr lang="en-US" baseline="-25000" dirty="0">
                    <a:solidFill>
                      <a:srgbClr val="D60093"/>
                    </a:solidFill>
                  </a:rPr>
                  <a:t> </a:t>
                </a:r>
                <a:r>
                  <a:rPr lang="en-US" dirty="0"/>
                  <a:t>be as following:</a:t>
                </a:r>
              </a:p>
              <a:p>
                <a:endParaRPr lang="en-US" dirty="0"/>
              </a:p>
              <a:p>
                <a:pPr marL="118872"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𝑊</m:t>
                      </m:r>
                      <m:r>
                        <a:rPr lang="en-US" sz="2400" b="0" i="1" smtClean="0">
                          <a:latin typeface="Cambria Math" panose="02040503050406030204" pitchFamily="18" charset="0"/>
                        </a:rPr>
                        <m:t>′</m:t>
                      </m:r>
                      <m:r>
                        <a:rPr lang="en-US" sz="2400" b="0" i="1" baseline="-25000" smtClean="0">
                          <a:latin typeface="Cambria Math" panose="02040503050406030204" pitchFamily="18" charset="0"/>
                        </a:rPr>
                        <m:t>𝑁</m:t>
                      </m:r>
                      <m:r>
                        <a:rPr lang="en-US" sz="2400" b="0" i="1" baseline="-25000" smtClean="0">
                          <a:latin typeface="Cambria Math" panose="02040503050406030204" pitchFamily="18" charset="0"/>
                          <a:ea typeface="Cambria Math" panose="02040503050406030204" pitchFamily="18" charset="0"/>
                        </a:rPr>
                        <m:t>×</m:t>
                      </m:r>
                      <m:r>
                        <a:rPr lang="en-US" sz="2400" b="0" i="1" baseline="-25000" smtClean="0">
                          <a:latin typeface="Cambria Math" panose="02040503050406030204" pitchFamily="18" charset="0"/>
                          <a:ea typeface="Cambria Math" panose="02040503050406030204" pitchFamily="18" charset="0"/>
                        </a:rPr>
                        <m:t>𝑉</m:t>
                      </m:r>
                      <m:r>
                        <a:rPr lang="en-US" sz="2400" b="0" i="1" smtClean="0">
                          <a:latin typeface="Cambria Math" panose="02040503050406030204" pitchFamily="18" charset="0"/>
                          <a:ea typeface="Cambria Math" panose="02040503050406030204" pitchFamily="18" charset="0"/>
                        </a:rPr>
                        <m:t>=</m:t>
                      </m:r>
                      <m:d>
                        <m:dPr>
                          <m:begChr m:val="["/>
                          <m:endChr m:val="]"/>
                          <m:ctrlPr>
                            <a:rPr lang="en-US" sz="2400" i="1" smtClean="0">
                              <a:latin typeface="Cambria Math" panose="02040503050406030204" pitchFamily="18" charset="0"/>
                            </a:rPr>
                          </m:ctrlPr>
                        </m:dPr>
                        <m:e>
                          <m:m>
                            <m:mPr>
                              <m:mcs>
                                <m:mc>
                                  <m:mcPr>
                                    <m:count m:val="3"/>
                                    <m:mcJc m:val="center"/>
                                  </m:mcPr>
                                </m:mc>
                              </m:mcs>
                              <m:ctrlPr>
                                <a:rPr lang="en-US" sz="2400" i="1" smtClean="0">
                                  <a:latin typeface="Cambria Math" panose="02040503050406030204" pitchFamily="18" charset="0"/>
                                </a:rPr>
                              </m:ctrlPr>
                            </m:mPr>
                            <m:mr>
                              <m:e>
                                <m:m>
                                  <m:mPr>
                                    <m:mcs>
                                      <m:mc>
                                        <m:mcPr>
                                          <m:count m:val="3"/>
                                          <m:mcJc m:val="center"/>
                                        </m:mcPr>
                                      </m:mc>
                                    </m:mcs>
                                    <m:ctrlPr>
                                      <a:rPr lang="en-US" sz="2400" i="1" smtClean="0">
                                        <a:latin typeface="Cambria Math" panose="02040503050406030204" pitchFamily="18" charset="0"/>
                                      </a:rPr>
                                    </m:ctrlPr>
                                  </m:mPr>
                                  <m:mr>
                                    <m:e>
                                      <m:r>
                                        <m:rPr>
                                          <m:brk m:alnAt="7"/>
                                        </m:rPr>
                                        <a:rPr lang="en-US" sz="2400" b="0" i="1" smtClean="0">
                                          <a:latin typeface="Cambria Math" panose="02040503050406030204" pitchFamily="18" charset="0"/>
                                        </a:rPr>
                                        <m:t>1</m:t>
                                      </m:r>
                                      <m:r>
                                        <a:rPr lang="en-US" sz="2400" b="0" i="1" smtClean="0">
                                          <a:latin typeface="Cambria Math" panose="02040503050406030204" pitchFamily="18" charset="0"/>
                                        </a:rPr>
                                        <m:t> </m:t>
                                      </m:r>
                                    </m:e>
                                    <m:e>
                                      <m:r>
                                        <a:rPr lang="en-US" sz="2400" b="0" i="1" smtClean="0">
                                          <a:latin typeface="Cambria Math" panose="02040503050406030204" pitchFamily="18" charset="0"/>
                                        </a:rPr>
                                        <m:t>2</m:t>
                                      </m:r>
                                    </m:e>
                                    <m:e>
                                      <m:r>
                                        <a:rPr lang="en-US" sz="2400" b="0" i="1" smtClean="0">
                                          <a:latin typeface="Cambria Math" panose="02040503050406030204" pitchFamily="18" charset="0"/>
                                        </a:rPr>
                                        <m:t>     2</m:t>
                                      </m:r>
                                    </m:e>
                                  </m:mr>
                                </m:m>
                              </m:e>
                              <m:e>
                                <m:m>
                                  <m:mPr>
                                    <m:mcs>
                                      <m:mc>
                                        <m:mcPr>
                                          <m:count m:val="3"/>
                                          <m:mcJc m:val="center"/>
                                        </m:mcPr>
                                      </m:mc>
                                    </m:mcs>
                                    <m:ctrlPr>
                                      <a:rPr lang="en-US" sz="2400" i="1" smtClean="0">
                                        <a:latin typeface="Cambria Math" panose="02040503050406030204" pitchFamily="18" charset="0"/>
                                      </a:rPr>
                                    </m:ctrlPr>
                                  </m:mPr>
                                  <m:mr>
                                    <m:e>
                                      <m:r>
                                        <m:rPr>
                                          <m:brk m:alnAt="7"/>
                                        </m:rPr>
                                        <a:rPr lang="en-US" sz="2400" b="0" i="1" smtClean="0">
                                          <a:latin typeface="Cambria Math" panose="02040503050406030204" pitchFamily="18" charset="0"/>
                                        </a:rPr>
                                        <m:t>0</m:t>
                                      </m:r>
                                    </m:e>
                                    <m:e>
                                      <m:r>
                                        <a:rPr lang="en-US" sz="2400" b="0" i="1" smtClean="0">
                                          <a:latin typeface="Cambria Math" panose="02040503050406030204" pitchFamily="18" charset="0"/>
                                        </a:rPr>
                                        <m:t>0.7</m:t>
                                      </m:r>
                                    </m:e>
                                    <m:e>
                                      <m:r>
                                        <a:rPr lang="en-US" sz="2400" b="0" i="1" smtClean="0">
                                          <a:latin typeface="Cambria Math" panose="02040503050406030204" pitchFamily="18" charset="0"/>
                                        </a:rPr>
                                        <m:t>1.3</m:t>
                                      </m:r>
                                    </m:e>
                                  </m:mr>
                                </m:m>
                              </m:e>
                              <m:e>
                                <m:m>
                                  <m:mPr>
                                    <m:mcs>
                                      <m:mc>
                                        <m:mcPr>
                                          <m:count m:val="2"/>
                                          <m:mcJc m:val="center"/>
                                        </m:mcPr>
                                      </m:mc>
                                    </m:mcs>
                                    <m:ctrlPr>
                                      <a:rPr lang="en-US" sz="2400" i="1" smtClean="0">
                                        <a:latin typeface="Cambria Math" panose="02040503050406030204" pitchFamily="18" charset="0"/>
                                      </a:rPr>
                                    </m:ctrlPr>
                                  </m:mPr>
                                  <m:mr>
                                    <m:e>
                                      <m:r>
                                        <m:rPr>
                                          <m:brk m:alnAt="7"/>
                                        </m:rPr>
                                        <a:rPr lang="en-US" sz="2400" b="0" i="1" smtClean="0">
                                          <a:latin typeface="Cambria Math" panose="02040503050406030204" pitchFamily="18" charset="0"/>
                                        </a:rPr>
                                        <m:t>−</m:t>
                                      </m:r>
                                      <m:r>
                                        <a:rPr lang="en-US" sz="2400" b="0" i="1" smtClean="0">
                                          <a:latin typeface="Cambria Math" panose="02040503050406030204" pitchFamily="18" charset="0"/>
                                        </a:rPr>
                                        <m:t>1</m:t>
                                      </m:r>
                                    </m:e>
                                    <m:e>
                                      <m:r>
                                        <a:rPr lang="en-US" sz="2400" b="0" i="1" smtClean="0">
                                          <a:latin typeface="Cambria Math" panose="02040503050406030204" pitchFamily="18" charset="0"/>
                                        </a:rPr>
                                        <m:t>−0.1</m:t>
                                      </m:r>
                                    </m:e>
                                  </m:mr>
                                </m:m>
                              </m:e>
                            </m:mr>
                            <m:mr>
                              <m:e>
                                <m:m>
                                  <m:mPr>
                                    <m:mcs>
                                      <m:mc>
                                        <m:mcPr>
                                          <m:count m:val="3"/>
                                          <m:mcJc m:val="center"/>
                                        </m:mcPr>
                                      </m:mc>
                                    </m:mcs>
                                    <m:ctrlPr>
                                      <a:rPr lang="en-US" sz="2400" i="1" smtClean="0">
                                        <a:latin typeface="Cambria Math" panose="02040503050406030204" pitchFamily="18" charset="0"/>
                                      </a:rPr>
                                    </m:ctrlPr>
                                  </m:mPr>
                                  <m:mr>
                                    <m:e>
                                      <m:r>
                                        <m:rPr>
                                          <m:brk m:alnAt="7"/>
                                        </m:rPr>
                                        <a:rPr lang="en-US" sz="2400" b="0" i="1" smtClean="0">
                                          <a:latin typeface="Cambria Math" panose="02040503050406030204" pitchFamily="18" charset="0"/>
                                        </a:rPr>
                                        <m:t>1</m:t>
                                      </m:r>
                                      <m:r>
                                        <a:rPr lang="en-US" sz="2400" b="0" i="1" smtClean="0">
                                          <a:latin typeface="Cambria Math" panose="02040503050406030204" pitchFamily="18" charset="0"/>
                                        </a:rPr>
                                        <m:t>.2</m:t>
                                      </m:r>
                                    </m:e>
                                    <m:e>
                                      <m:r>
                                        <a:rPr lang="en-US" sz="2400" b="0" i="1" smtClean="0">
                                          <a:latin typeface="Cambria Math" panose="02040503050406030204" pitchFamily="18" charset="0"/>
                                        </a:rPr>
                                        <m:t>0.5</m:t>
                                      </m:r>
                                    </m:e>
                                    <m:e>
                                      <m:r>
                                        <a:rPr lang="en-US" sz="2400" b="0" i="1" smtClean="0">
                                          <a:latin typeface="Cambria Math" panose="02040503050406030204" pitchFamily="18" charset="0"/>
                                        </a:rPr>
                                        <m:t>−1</m:t>
                                      </m:r>
                                    </m:e>
                                  </m:mr>
                                </m:m>
                              </m:e>
                              <m:e>
                                <m:m>
                                  <m:mPr>
                                    <m:mcs>
                                      <m:mc>
                                        <m:mcPr>
                                          <m:count m:val="3"/>
                                          <m:mcJc m:val="center"/>
                                        </m:mcPr>
                                      </m:mc>
                                    </m:mcs>
                                    <m:ctrlPr>
                                      <a:rPr lang="en-US" sz="2400" i="1" smtClean="0">
                                        <a:latin typeface="Cambria Math" panose="02040503050406030204" pitchFamily="18" charset="0"/>
                                      </a:rPr>
                                    </m:ctrlPr>
                                  </m:mPr>
                                  <m:mr>
                                    <m:e>
                                      <m:r>
                                        <m:rPr>
                                          <m:brk m:alnAt="7"/>
                                        </m:rPr>
                                        <a:rPr lang="en-US" sz="2400" b="0" i="1" smtClean="0">
                                          <a:latin typeface="Cambria Math" panose="02040503050406030204" pitchFamily="18" charset="0"/>
                                        </a:rPr>
                                        <m:t>1</m:t>
                                      </m:r>
                                    </m:e>
                                    <m:e>
                                      <m:r>
                                        <a:rPr lang="en-US" sz="2400" b="0" i="1" smtClean="0">
                                          <a:latin typeface="Cambria Math" panose="02040503050406030204" pitchFamily="18" charset="0"/>
                                        </a:rPr>
                                        <m:t>0.3</m:t>
                                      </m:r>
                                    </m:e>
                                    <m:e>
                                      <m:r>
                                        <a:rPr lang="en-US" sz="2400" b="0" i="1" smtClean="0">
                                          <a:latin typeface="Cambria Math" panose="02040503050406030204" pitchFamily="18" charset="0"/>
                                        </a:rPr>
                                        <m:t>2</m:t>
                                      </m:r>
                                    </m:e>
                                  </m:mr>
                                </m:m>
                              </m:e>
                              <m:e>
                                <m:m>
                                  <m:mPr>
                                    <m:mcs>
                                      <m:mc>
                                        <m:mcPr>
                                          <m:count m:val="2"/>
                                          <m:mcJc m:val="center"/>
                                        </m:mcPr>
                                      </m:mc>
                                    </m:mcs>
                                    <m:ctrlPr>
                                      <a:rPr lang="en-US" sz="2400" i="1" smtClean="0">
                                        <a:latin typeface="Cambria Math" panose="02040503050406030204" pitchFamily="18" charset="0"/>
                                      </a:rPr>
                                    </m:ctrlPr>
                                  </m:mPr>
                                  <m:mr>
                                    <m:e>
                                      <m:r>
                                        <m:rPr>
                                          <m:brk m:alnAt="7"/>
                                        </m:rPr>
                                        <a:rPr lang="en-US" sz="2400" b="0" i="1" smtClean="0">
                                          <a:latin typeface="Cambria Math" panose="02040503050406030204" pitchFamily="18" charset="0"/>
                                        </a:rPr>
                                        <m:t>.</m:t>
                                      </m:r>
                                      <m:r>
                                        <a:rPr lang="en-US" sz="2400" b="0" i="1" smtClean="0">
                                          <a:latin typeface="Cambria Math" panose="02040503050406030204" pitchFamily="18" charset="0"/>
                                        </a:rPr>
                                        <m:t>6</m:t>
                                      </m:r>
                                    </m:e>
                                    <m:e>
                                      <m:r>
                                        <a:rPr lang="en-US" sz="2400" b="0" i="1" smtClean="0">
                                          <a:latin typeface="Cambria Math" panose="02040503050406030204" pitchFamily="18" charset="0"/>
                                        </a:rPr>
                                        <m:t>1</m:t>
                                      </m:r>
                                    </m:e>
                                  </m:mr>
                                </m:m>
                              </m:e>
                            </m:mr>
                            <m:mr>
                              <m:e>
                                <m:m>
                                  <m:mPr>
                                    <m:mcs>
                                      <m:mc>
                                        <m:mcPr>
                                          <m:count m:val="3"/>
                                          <m:mcJc m:val="center"/>
                                        </m:mcPr>
                                      </m:mc>
                                    </m:mcs>
                                    <m:ctrlPr>
                                      <a:rPr lang="en-US" sz="2400" i="1" smtClean="0">
                                        <a:latin typeface="Cambria Math" panose="02040503050406030204" pitchFamily="18" charset="0"/>
                                      </a:rPr>
                                    </m:ctrlPr>
                                  </m:mPr>
                                  <m:mr>
                                    <m:e>
                                      <m:r>
                                        <m:rPr>
                                          <m:brk m:alnAt="7"/>
                                        </m:rPr>
                                        <a:rPr lang="en-US" sz="2400" b="0" i="1" smtClean="0">
                                          <a:latin typeface="Cambria Math" panose="02040503050406030204" pitchFamily="18" charset="0"/>
                                        </a:rPr>
                                        <m:t>−</m:t>
                                      </m:r>
                                      <m:r>
                                        <a:rPr lang="en-US" sz="2400" b="0" i="1" smtClean="0">
                                          <a:latin typeface="Cambria Math" panose="02040503050406030204" pitchFamily="18" charset="0"/>
                                        </a:rPr>
                                        <m:t>1</m:t>
                                      </m:r>
                                    </m:e>
                                    <m:e>
                                      <m:r>
                                        <a:rPr lang="en-US" sz="2400" b="0" i="1" smtClean="0">
                                          <a:latin typeface="Cambria Math" panose="02040503050406030204" pitchFamily="18" charset="0"/>
                                        </a:rPr>
                                        <m:t>1.6</m:t>
                                      </m:r>
                                    </m:e>
                                    <m:e>
                                      <m:r>
                                        <a:rPr lang="en-US" sz="2400" b="0" i="1" smtClean="0">
                                          <a:latin typeface="Cambria Math" panose="02040503050406030204" pitchFamily="18" charset="0"/>
                                        </a:rPr>
                                        <m:t>−0.5</m:t>
                                      </m:r>
                                    </m:e>
                                  </m:mr>
                                </m:m>
                              </m:e>
                              <m:e>
                                <m:m>
                                  <m:mPr>
                                    <m:mcs>
                                      <m:mc>
                                        <m:mcPr>
                                          <m:count m:val="3"/>
                                          <m:mcJc m:val="center"/>
                                        </m:mcPr>
                                      </m:mc>
                                    </m:mcs>
                                    <m:ctrlPr>
                                      <a:rPr lang="en-US" sz="2400" i="1" smtClean="0">
                                        <a:latin typeface="Cambria Math" panose="02040503050406030204" pitchFamily="18" charset="0"/>
                                      </a:rPr>
                                    </m:ctrlPr>
                                  </m:mPr>
                                  <m:mr>
                                    <m:e>
                                      <m:r>
                                        <m:rPr>
                                          <m:brk m:alnAt="7"/>
                                        </m:rPr>
                                        <a:rPr lang="en-US" sz="2400" b="0" i="1" smtClean="0">
                                          <a:latin typeface="Cambria Math" panose="02040503050406030204" pitchFamily="18" charset="0"/>
                                        </a:rPr>
                                        <m:t>1</m:t>
                                      </m:r>
                                      <m:r>
                                        <a:rPr lang="en-US" sz="2400" b="0" i="1" smtClean="0">
                                          <a:latin typeface="Cambria Math" panose="02040503050406030204" pitchFamily="18" charset="0"/>
                                        </a:rPr>
                                        <m:t>.4</m:t>
                                      </m:r>
                                    </m:e>
                                    <m:e>
                                      <m:r>
                                        <a:rPr lang="en-US" sz="2400" b="0" i="1" smtClean="0">
                                          <a:latin typeface="Cambria Math" panose="02040503050406030204" pitchFamily="18" charset="0"/>
                                        </a:rPr>
                                        <m:t>2.3</m:t>
                                      </m:r>
                                    </m:e>
                                    <m:e>
                                      <m:r>
                                        <a:rPr lang="en-US" sz="2400" b="0" i="1" smtClean="0">
                                          <a:latin typeface="Cambria Math" panose="02040503050406030204" pitchFamily="18" charset="0"/>
                                        </a:rPr>
                                        <m:t>1</m:t>
                                      </m:r>
                                    </m:e>
                                  </m:mr>
                                </m:m>
                              </m:e>
                              <m:e>
                                <m:m>
                                  <m:mPr>
                                    <m:mcs>
                                      <m:mc>
                                        <m:mcPr>
                                          <m:count m:val="2"/>
                                          <m:mcJc m:val="center"/>
                                        </m:mcPr>
                                      </m:mc>
                                    </m:mcs>
                                    <m:ctrlPr>
                                      <a:rPr lang="en-US" sz="2400" i="1" smtClean="0">
                                        <a:latin typeface="Cambria Math" panose="02040503050406030204" pitchFamily="18" charset="0"/>
                                      </a:rPr>
                                    </m:ctrlPr>
                                  </m:mPr>
                                  <m:mr>
                                    <m:e>
                                      <m:r>
                                        <m:rPr>
                                          <m:brk m:alnAt="7"/>
                                        </m:rPr>
                                        <a:rPr lang="en-US" sz="2400" b="0" i="1" smtClean="0">
                                          <a:latin typeface="Cambria Math" panose="02040503050406030204" pitchFamily="18" charset="0"/>
                                        </a:rPr>
                                        <m:t>1</m:t>
                                      </m:r>
                                    </m:e>
                                    <m:e>
                                      <m:r>
                                        <a:rPr lang="en-US" sz="2400" b="0" i="1" smtClean="0">
                                          <a:latin typeface="Cambria Math" panose="02040503050406030204" pitchFamily="18" charset="0"/>
                                        </a:rPr>
                                        <m:t>0.6</m:t>
                                      </m:r>
                                    </m:e>
                                  </m:mr>
                                </m:m>
                              </m:e>
                            </m:mr>
                          </m:m>
                        </m:e>
                      </m:d>
                    </m:oMath>
                  </m:oMathPara>
                </a14:m>
                <a:endParaRPr lang="en-US" sz="2400" dirty="0"/>
              </a:p>
              <a:p>
                <a:endParaRPr lang="en-US" dirty="0"/>
              </a:p>
              <a:p>
                <a:r>
                  <a:rPr lang="en-US" dirty="0"/>
                  <a:t>Then</a:t>
                </a:r>
              </a:p>
              <a:p>
                <a:pPr marL="118872" indent="0">
                  <a:buNone/>
                </a:pPr>
                <a14:m>
                  <m:oMathPara xmlns:m="http://schemas.openxmlformats.org/officeDocument/2006/math">
                    <m:oMathParaPr>
                      <m:jc m:val="centerGroup"/>
                    </m:oMathParaPr>
                    <m:oMath xmlns:m="http://schemas.openxmlformats.org/officeDocument/2006/math">
                      <m:d>
                        <m:dPr>
                          <m:begChr m:val="["/>
                          <m:endChr m:val="]"/>
                          <m:ctrlPr>
                            <a:rPr lang="en-US" sz="2200" b="0" i="1" smtClean="0">
                              <a:latin typeface="Cambria Math" panose="02040503050406030204" pitchFamily="18" charset="0"/>
                            </a:rPr>
                          </m:ctrlPr>
                        </m:dPr>
                        <m:e>
                          <m:r>
                            <a:rPr lang="en-US" sz="2200" b="0" i="0" smtClean="0">
                              <a:latin typeface="Cambria Math" panose="02040503050406030204" pitchFamily="18" charset="0"/>
                            </a:rPr>
                            <m:t>0.5,2.3,2.2</m:t>
                          </m:r>
                        </m:e>
                      </m:d>
                      <m:r>
                        <a:rPr lang="en-US" sz="2200" b="0" i="1" smtClean="0">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rPr>
                          </m:ctrlPr>
                        </m:dPr>
                        <m:e>
                          <m:m>
                            <m:mPr>
                              <m:mcs>
                                <m:mc>
                                  <m:mcPr>
                                    <m:count m:val="3"/>
                                    <m:mcJc m:val="center"/>
                                  </m:mcPr>
                                </m:mc>
                              </m:mcs>
                              <m:ctrlPr>
                                <a:rPr lang="en-US" sz="2200" i="1">
                                  <a:latin typeface="Cambria Math" panose="02040503050406030204" pitchFamily="18" charset="0"/>
                                </a:rPr>
                              </m:ctrlPr>
                            </m:mPr>
                            <m:mr>
                              <m:e>
                                <m:m>
                                  <m:mPr>
                                    <m:mcs>
                                      <m:mc>
                                        <m:mcPr>
                                          <m:count m:val="3"/>
                                          <m:mcJc m:val="center"/>
                                        </m:mcPr>
                                      </m:mc>
                                    </m:mcs>
                                    <m:ctrlPr>
                                      <a:rPr lang="en-US" sz="2200" i="1">
                                        <a:latin typeface="Cambria Math" panose="02040503050406030204" pitchFamily="18" charset="0"/>
                                      </a:rPr>
                                    </m:ctrlPr>
                                  </m:mPr>
                                  <m:mr>
                                    <m:e>
                                      <m:r>
                                        <m:rPr>
                                          <m:brk m:alnAt="7"/>
                                        </m:rPr>
                                        <a:rPr lang="en-US" sz="2200" i="1">
                                          <a:latin typeface="Cambria Math" panose="02040503050406030204" pitchFamily="18" charset="0"/>
                                        </a:rPr>
                                        <m:t>1</m:t>
                                      </m:r>
                                      <m:r>
                                        <a:rPr lang="en-US" sz="2200" i="1">
                                          <a:latin typeface="Cambria Math" panose="02040503050406030204" pitchFamily="18" charset="0"/>
                                        </a:rPr>
                                        <m:t> </m:t>
                                      </m:r>
                                    </m:e>
                                    <m:e>
                                      <m:r>
                                        <a:rPr lang="en-US" sz="2200" i="1">
                                          <a:latin typeface="Cambria Math" panose="02040503050406030204" pitchFamily="18" charset="0"/>
                                        </a:rPr>
                                        <m:t>2</m:t>
                                      </m:r>
                                    </m:e>
                                    <m:e>
                                      <m:r>
                                        <a:rPr lang="en-US" sz="2200" i="1">
                                          <a:latin typeface="Cambria Math" panose="02040503050406030204" pitchFamily="18" charset="0"/>
                                        </a:rPr>
                                        <m:t>     2</m:t>
                                      </m:r>
                                    </m:e>
                                  </m:mr>
                                </m:m>
                              </m:e>
                              <m:e>
                                <m:m>
                                  <m:mPr>
                                    <m:mcs>
                                      <m:mc>
                                        <m:mcPr>
                                          <m:count m:val="3"/>
                                          <m:mcJc m:val="center"/>
                                        </m:mcPr>
                                      </m:mc>
                                    </m:mcs>
                                    <m:ctrlPr>
                                      <a:rPr lang="en-US" sz="2200" i="1">
                                        <a:latin typeface="Cambria Math" panose="02040503050406030204" pitchFamily="18" charset="0"/>
                                      </a:rPr>
                                    </m:ctrlPr>
                                  </m:mPr>
                                  <m:mr>
                                    <m:e>
                                      <m:r>
                                        <m:rPr>
                                          <m:brk m:alnAt="7"/>
                                        </m:rPr>
                                        <a:rPr lang="en-US" sz="2200" i="1">
                                          <a:latin typeface="Cambria Math" panose="02040503050406030204" pitchFamily="18" charset="0"/>
                                        </a:rPr>
                                        <m:t>0</m:t>
                                      </m:r>
                                    </m:e>
                                    <m:e>
                                      <m:r>
                                        <a:rPr lang="en-US" sz="2200" i="1">
                                          <a:latin typeface="Cambria Math" panose="02040503050406030204" pitchFamily="18" charset="0"/>
                                        </a:rPr>
                                        <m:t>0.7</m:t>
                                      </m:r>
                                    </m:e>
                                    <m:e>
                                      <m:r>
                                        <a:rPr lang="en-US" sz="2200" i="1">
                                          <a:latin typeface="Cambria Math" panose="02040503050406030204" pitchFamily="18" charset="0"/>
                                        </a:rPr>
                                        <m:t>1.3</m:t>
                                      </m:r>
                                    </m:e>
                                  </m:mr>
                                </m:m>
                              </m:e>
                              <m:e>
                                <m:m>
                                  <m:mPr>
                                    <m:mcs>
                                      <m:mc>
                                        <m:mcPr>
                                          <m:count m:val="2"/>
                                          <m:mcJc m:val="center"/>
                                        </m:mcPr>
                                      </m:mc>
                                    </m:mcs>
                                    <m:ctrlPr>
                                      <a:rPr lang="en-US" sz="2200" i="1">
                                        <a:latin typeface="Cambria Math" panose="02040503050406030204" pitchFamily="18" charset="0"/>
                                      </a:rPr>
                                    </m:ctrlPr>
                                  </m:mPr>
                                  <m:mr>
                                    <m:e>
                                      <m:r>
                                        <m:rPr>
                                          <m:brk m:alnAt="7"/>
                                        </m:rPr>
                                        <a:rPr lang="en-US" sz="2200" i="1">
                                          <a:latin typeface="Cambria Math" panose="02040503050406030204" pitchFamily="18" charset="0"/>
                                        </a:rPr>
                                        <m:t>−</m:t>
                                      </m:r>
                                      <m:r>
                                        <a:rPr lang="en-US" sz="2200" i="1">
                                          <a:latin typeface="Cambria Math" panose="02040503050406030204" pitchFamily="18" charset="0"/>
                                        </a:rPr>
                                        <m:t>1</m:t>
                                      </m:r>
                                    </m:e>
                                    <m:e>
                                      <m:r>
                                        <a:rPr lang="en-US" sz="2200" i="1">
                                          <a:latin typeface="Cambria Math" panose="02040503050406030204" pitchFamily="18" charset="0"/>
                                        </a:rPr>
                                        <m:t>−0.1</m:t>
                                      </m:r>
                                    </m:e>
                                  </m:mr>
                                </m:m>
                              </m:e>
                            </m:mr>
                            <m:mr>
                              <m:e>
                                <m:m>
                                  <m:mPr>
                                    <m:mcs>
                                      <m:mc>
                                        <m:mcPr>
                                          <m:count m:val="3"/>
                                          <m:mcJc m:val="center"/>
                                        </m:mcPr>
                                      </m:mc>
                                    </m:mcs>
                                    <m:ctrlPr>
                                      <a:rPr lang="en-US" sz="2200" i="1">
                                        <a:latin typeface="Cambria Math" panose="02040503050406030204" pitchFamily="18" charset="0"/>
                                      </a:rPr>
                                    </m:ctrlPr>
                                  </m:mPr>
                                  <m:mr>
                                    <m:e>
                                      <m:r>
                                        <m:rPr>
                                          <m:brk m:alnAt="7"/>
                                        </m:rPr>
                                        <a:rPr lang="en-US" sz="2200" i="1">
                                          <a:latin typeface="Cambria Math" panose="02040503050406030204" pitchFamily="18" charset="0"/>
                                        </a:rPr>
                                        <m:t>1</m:t>
                                      </m:r>
                                      <m:r>
                                        <a:rPr lang="en-US" sz="2200" i="1">
                                          <a:latin typeface="Cambria Math" panose="02040503050406030204" pitchFamily="18" charset="0"/>
                                        </a:rPr>
                                        <m:t>.2</m:t>
                                      </m:r>
                                    </m:e>
                                    <m:e>
                                      <m:r>
                                        <a:rPr lang="en-US" sz="2200" i="1">
                                          <a:latin typeface="Cambria Math" panose="02040503050406030204" pitchFamily="18" charset="0"/>
                                        </a:rPr>
                                        <m:t>0.5</m:t>
                                      </m:r>
                                    </m:e>
                                    <m:e>
                                      <m:r>
                                        <a:rPr lang="en-US" sz="2200" i="1">
                                          <a:latin typeface="Cambria Math" panose="02040503050406030204" pitchFamily="18" charset="0"/>
                                        </a:rPr>
                                        <m:t>−1</m:t>
                                      </m:r>
                                    </m:e>
                                  </m:mr>
                                </m:m>
                              </m:e>
                              <m:e>
                                <m:m>
                                  <m:mPr>
                                    <m:mcs>
                                      <m:mc>
                                        <m:mcPr>
                                          <m:count m:val="3"/>
                                          <m:mcJc m:val="center"/>
                                        </m:mcPr>
                                      </m:mc>
                                    </m:mcs>
                                    <m:ctrlPr>
                                      <a:rPr lang="en-US" sz="2200" i="1">
                                        <a:latin typeface="Cambria Math" panose="02040503050406030204" pitchFamily="18" charset="0"/>
                                      </a:rPr>
                                    </m:ctrlPr>
                                  </m:mPr>
                                  <m:mr>
                                    <m:e>
                                      <m:r>
                                        <m:rPr>
                                          <m:brk m:alnAt="7"/>
                                        </m:rPr>
                                        <a:rPr lang="en-US" sz="2200" i="1">
                                          <a:latin typeface="Cambria Math" panose="02040503050406030204" pitchFamily="18" charset="0"/>
                                        </a:rPr>
                                        <m:t>1</m:t>
                                      </m:r>
                                    </m:e>
                                    <m:e>
                                      <m:r>
                                        <a:rPr lang="en-US" sz="2200" i="1">
                                          <a:latin typeface="Cambria Math" panose="02040503050406030204" pitchFamily="18" charset="0"/>
                                        </a:rPr>
                                        <m:t>0.3</m:t>
                                      </m:r>
                                    </m:e>
                                    <m:e>
                                      <m:r>
                                        <a:rPr lang="en-US" sz="2200" i="1">
                                          <a:latin typeface="Cambria Math" panose="02040503050406030204" pitchFamily="18" charset="0"/>
                                        </a:rPr>
                                        <m:t>2</m:t>
                                      </m:r>
                                    </m:e>
                                  </m:mr>
                                </m:m>
                              </m:e>
                              <m:e>
                                <m:r>
                                  <a:rPr lang="en-US" sz="2200" b="0" i="1" smtClean="0">
                                    <a:latin typeface="Cambria Math" panose="02040503050406030204" pitchFamily="18" charset="0"/>
                                  </a:rPr>
                                  <m:t>0</m:t>
                                </m:r>
                                <m:m>
                                  <m:mPr>
                                    <m:mcs>
                                      <m:mc>
                                        <m:mcPr>
                                          <m:count m:val="2"/>
                                          <m:mcJc m:val="center"/>
                                        </m:mcPr>
                                      </m:mc>
                                    </m:mcs>
                                    <m:ctrlPr>
                                      <a:rPr lang="en-US" sz="2200" i="1">
                                        <a:latin typeface="Cambria Math" panose="02040503050406030204" pitchFamily="18" charset="0"/>
                                      </a:rPr>
                                    </m:ctrlPr>
                                  </m:mPr>
                                  <m:mr>
                                    <m:e>
                                      <m:r>
                                        <m:rPr>
                                          <m:brk m:alnAt="7"/>
                                        </m:rPr>
                                        <a:rPr lang="en-US" sz="2200" i="1">
                                          <a:latin typeface="Cambria Math" panose="02040503050406030204" pitchFamily="18" charset="0"/>
                                        </a:rPr>
                                        <m:t>.</m:t>
                                      </m:r>
                                      <m:r>
                                        <a:rPr lang="en-US" sz="2200" i="1">
                                          <a:latin typeface="Cambria Math" panose="02040503050406030204" pitchFamily="18" charset="0"/>
                                        </a:rPr>
                                        <m:t>6</m:t>
                                      </m:r>
                                    </m:e>
                                    <m:e>
                                      <m:r>
                                        <a:rPr lang="en-US" sz="2200" i="1">
                                          <a:latin typeface="Cambria Math" panose="02040503050406030204" pitchFamily="18" charset="0"/>
                                        </a:rPr>
                                        <m:t>1</m:t>
                                      </m:r>
                                    </m:e>
                                  </m:mr>
                                </m:m>
                              </m:e>
                            </m:mr>
                            <m:mr>
                              <m:e>
                                <m:m>
                                  <m:mPr>
                                    <m:mcs>
                                      <m:mc>
                                        <m:mcPr>
                                          <m:count m:val="3"/>
                                          <m:mcJc m:val="center"/>
                                        </m:mcPr>
                                      </m:mc>
                                    </m:mcs>
                                    <m:ctrlPr>
                                      <a:rPr lang="en-US" sz="2200" i="1">
                                        <a:latin typeface="Cambria Math" panose="02040503050406030204" pitchFamily="18" charset="0"/>
                                      </a:rPr>
                                    </m:ctrlPr>
                                  </m:mPr>
                                  <m:mr>
                                    <m:e>
                                      <m:r>
                                        <m:rPr>
                                          <m:brk m:alnAt="7"/>
                                        </m:rPr>
                                        <a:rPr lang="en-US" sz="2200" i="1">
                                          <a:latin typeface="Cambria Math" panose="02040503050406030204" pitchFamily="18" charset="0"/>
                                        </a:rPr>
                                        <m:t>−</m:t>
                                      </m:r>
                                      <m:r>
                                        <a:rPr lang="en-US" sz="2200" i="1">
                                          <a:latin typeface="Cambria Math" panose="02040503050406030204" pitchFamily="18" charset="0"/>
                                        </a:rPr>
                                        <m:t>1</m:t>
                                      </m:r>
                                    </m:e>
                                    <m:e>
                                      <m:r>
                                        <a:rPr lang="en-US" sz="2200" i="1">
                                          <a:latin typeface="Cambria Math" panose="02040503050406030204" pitchFamily="18" charset="0"/>
                                        </a:rPr>
                                        <m:t>1.6</m:t>
                                      </m:r>
                                    </m:e>
                                    <m:e>
                                      <m:r>
                                        <a:rPr lang="en-US" sz="2200" i="1">
                                          <a:latin typeface="Cambria Math" panose="02040503050406030204" pitchFamily="18" charset="0"/>
                                        </a:rPr>
                                        <m:t>−0.5</m:t>
                                      </m:r>
                                    </m:e>
                                  </m:mr>
                                </m:m>
                              </m:e>
                              <m:e>
                                <m:m>
                                  <m:mPr>
                                    <m:mcs>
                                      <m:mc>
                                        <m:mcPr>
                                          <m:count m:val="3"/>
                                          <m:mcJc m:val="center"/>
                                        </m:mcPr>
                                      </m:mc>
                                    </m:mcs>
                                    <m:ctrlPr>
                                      <a:rPr lang="en-US" sz="2200" i="1">
                                        <a:latin typeface="Cambria Math" panose="02040503050406030204" pitchFamily="18" charset="0"/>
                                      </a:rPr>
                                    </m:ctrlPr>
                                  </m:mPr>
                                  <m:mr>
                                    <m:e>
                                      <m:r>
                                        <m:rPr>
                                          <m:brk m:alnAt="7"/>
                                        </m:rPr>
                                        <a:rPr lang="en-US" sz="2200" i="1">
                                          <a:latin typeface="Cambria Math" panose="02040503050406030204" pitchFamily="18" charset="0"/>
                                        </a:rPr>
                                        <m:t>1</m:t>
                                      </m:r>
                                      <m:r>
                                        <a:rPr lang="en-US" sz="2200" i="1">
                                          <a:latin typeface="Cambria Math" panose="02040503050406030204" pitchFamily="18" charset="0"/>
                                        </a:rPr>
                                        <m:t>.4</m:t>
                                      </m:r>
                                    </m:e>
                                    <m:e>
                                      <m:r>
                                        <a:rPr lang="en-US" sz="2200" i="1">
                                          <a:latin typeface="Cambria Math" panose="02040503050406030204" pitchFamily="18" charset="0"/>
                                        </a:rPr>
                                        <m:t>2.3</m:t>
                                      </m:r>
                                    </m:e>
                                    <m:e>
                                      <m:r>
                                        <a:rPr lang="en-US" sz="2200" i="1">
                                          <a:latin typeface="Cambria Math" panose="02040503050406030204" pitchFamily="18" charset="0"/>
                                        </a:rPr>
                                        <m:t>1</m:t>
                                      </m:r>
                                    </m:e>
                                  </m:mr>
                                </m:m>
                              </m:e>
                              <m:e>
                                <m:m>
                                  <m:mPr>
                                    <m:mcs>
                                      <m:mc>
                                        <m:mcPr>
                                          <m:count m:val="2"/>
                                          <m:mcJc m:val="center"/>
                                        </m:mcPr>
                                      </m:mc>
                                    </m:mcs>
                                    <m:ctrlPr>
                                      <a:rPr lang="en-US" sz="2200" i="1">
                                        <a:latin typeface="Cambria Math" panose="02040503050406030204" pitchFamily="18" charset="0"/>
                                      </a:rPr>
                                    </m:ctrlPr>
                                  </m:mPr>
                                  <m:mr>
                                    <m:e>
                                      <m:r>
                                        <m:rPr>
                                          <m:brk m:alnAt="7"/>
                                        </m:rPr>
                                        <a:rPr lang="en-US" sz="2200" i="1">
                                          <a:latin typeface="Cambria Math" panose="02040503050406030204" pitchFamily="18" charset="0"/>
                                        </a:rPr>
                                        <m:t>1</m:t>
                                      </m:r>
                                    </m:e>
                                    <m:e>
                                      <m:r>
                                        <a:rPr lang="en-US" sz="2200" i="1">
                                          <a:latin typeface="Cambria Math" panose="02040503050406030204" pitchFamily="18" charset="0"/>
                                        </a:rPr>
                                        <m:t>0.6</m:t>
                                      </m:r>
                                    </m:e>
                                  </m:mr>
                                </m:m>
                              </m:e>
                            </m:mr>
                          </m:m>
                        </m:e>
                      </m:d>
                      <m:r>
                        <a:rPr lang="en-US" sz="2200" b="0" i="1" smtClean="0">
                          <a:solidFill>
                            <a:srgbClr val="D60093"/>
                          </a:solidFill>
                          <a:latin typeface="Cambria Math" panose="02040503050406030204" pitchFamily="18" charset="0"/>
                        </a:rPr>
                        <m:t>=[</m:t>
                      </m:r>
                      <m:r>
                        <a:rPr lang="en-US" sz="2200" b="0" i="0" smtClean="0">
                          <a:solidFill>
                            <a:srgbClr val="D60093"/>
                          </a:solidFill>
                          <a:latin typeface="Cambria Math" panose="02040503050406030204" pitchFamily="18" charset="0"/>
                        </a:rPr>
                        <m:t>1.0, 5.6,−2.4, 5.3,6.1,7.4,3.0,3.5</m:t>
                      </m:r>
                      <m:r>
                        <a:rPr lang="en-US" sz="2200" b="0" i="1" smtClean="0">
                          <a:solidFill>
                            <a:srgbClr val="D60093"/>
                          </a:solidFill>
                          <a:latin typeface="Cambria Math" panose="02040503050406030204" pitchFamily="18" charset="0"/>
                        </a:rPr>
                        <m:t>]</m:t>
                      </m:r>
                    </m:oMath>
                  </m:oMathPara>
                </a14:m>
                <a:endParaRPr lang="en-US" sz="2200" dirty="0"/>
              </a:p>
              <a:p>
                <a:endParaRPr lang="en-US" dirty="0"/>
              </a:p>
            </p:txBody>
          </p:sp>
        </mc:Choice>
        <mc:Fallback xmlns="">
          <p:sp>
            <p:nvSpPr>
              <p:cNvPr id="3" name="Content Placeholder 2">
                <a:extLst>
                  <a:ext uri="{FF2B5EF4-FFF2-40B4-BE49-F238E27FC236}">
                    <a16:creationId xmlns:a16="http://schemas.microsoft.com/office/drawing/2014/main" id="{1551B17C-9B02-3740-9179-D84B51338A02}"/>
                  </a:ext>
                </a:extLst>
              </p:cNvPr>
              <p:cNvSpPr>
                <a:spLocks noGrp="1" noRot="1" noChangeAspect="1" noMove="1" noResize="1" noEditPoints="1" noAdjustHandles="1" noChangeArrowheads="1" noChangeShapeType="1" noTextEdit="1"/>
              </p:cNvSpPr>
              <p:nvPr>
                <p:ph idx="1"/>
              </p:nvPr>
            </p:nvSpPr>
            <p:spPr>
              <a:blipFill>
                <a:blip r:embed="rId2"/>
                <a:stretch>
                  <a:fillRect t="-725"/>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7E1C8AD5-9609-0040-BE0C-FC4940423BF7}"/>
              </a:ext>
            </a:extLst>
          </p:cNvPr>
          <p:cNvSpPr>
            <a:spLocks noGrp="1"/>
          </p:cNvSpPr>
          <p:nvPr>
            <p:ph type="dt" sz="half" idx="10"/>
          </p:nvPr>
        </p:nvSpPr>
        <p:spPr/>
        <p:txBody>
          <a:bodyPr/>
          <a:lstStyle/>
          <a:p>
            <a:fld id="{8D19A148-4A10-BD42-BEF8-91BFD6809E12}" type="datetime1">
              <a:rPr lang="en-US" smtClean="0"/>
              <a:t>11/3/24</a:t>
            </a:fld>
            <a:endParaRPr lang="en-US"/>
          </a:p>
        </p:txBody>
      </p:sp>
      <p:sp>
        <p:nvSpPr>
          <p:cNvPr id="5" name="Footer Placeholder 4">
            <a:extLst>
              <a:ext uri="{FF2B5EF4-FFF2-40B4-BE49-F238E27FC236}">
                <a16:creationId xmlns:a16="http://schemas.microsoft.com/office/drawing/2014/main" id="{192ABABD-D7A3-7947-A0A9-DB382D7216E0}"/>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92FEFC95-E03F-BF44-8480-24A674A43A8D}"/>
              </a:ext>
            </a:extLst>
          </p:cNvPr>
          <p:cNvSpPr>
            <a:spLocks noGrp="1"/>
          </p:cNvSpPr>
          <p:nvPr>
            <p:ph type="sldNum" sz="quarter" idx="12"/>
          </p:nvPr>
        </p:nvSpPr>
        <p:spPr/>
        <p:txBody>
          <a:bodyPr/>
          <a:lstStyle/>
          <a:p>
            <a:fld id="{19B12225-5612-419B-A8D5-4B8EEE4C217E}" type="slidenum">
              <a:rPr lang="en-US" smtClean="0"/>
              <a:pPr/>
              <a:t>57</a:t>
            </a:fld>
            <a:endParaRPr lang="en-US"/>
          </a:p>
        </p:txBody>
      </p:sp>
    </p:spTree>
    <p:extLst>
      <p:ext uri="{BB962C8B-B14F-4D97-AF65-F5344CB8AC3E}">
        <p14:creationId xmlns:p14="http://schemas.microsoft.com/office/powerpoint/2010/main" val="41978746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3EF999-0E22-E646-AE46-E78AE2A30EEA}"/>
              </a:ext>
            </a:extLst>
          </p:cNvPr>
          <p:cNvSpPr>
            <a:spLocks noGrp="1"/>
          </p:cNvSpPr>
          <p:nvPr>
            <p:ph idx="1"/>
          </p:nvPr>
        </p:nvSpPr>
        <p:spPr/>
        <p:txBody>
          <a:bodyPr/>
          <a:lstStyle/>
          <a:p>
            <a:r>
              <a:rPr lang="en-US" sz="2600" dirty="0"/>
              <a:t>If </a:t>
            </a:r>
            <a:r>
              <a:rPr lang="en-US" sz="2600" dirty="0" err="1">
                <a:solidFill>
                  <a:srgbClr val="0000FF"/>
                </a:solidFill>
              </a:rPr>
              <a:t>W’</a:t>
            </a:r>
            <a:r>
              <a:rPr lang="en-US" sz="2600" baseline="-25000" dirty="0" err="1">
                <a:solidFill>
                  <a:srgbClr val="0000FF"/>
                </a:solidFill>
              </a:rPr>
              <a:t>NxV</a:t>
            </a:r>
            <a:r>
              <a:rPr lang="en-US" sz="2600" baseline="-25000" dirty="0">
                <a:solidFill>
                  <a:srgbClr val="0000FF"/>
                </a:solidFill>
              </a:rPr>
              <a:t> </a:t>
            </a:r>
            <a:r>
              <a:rPr lang="en-US" sz="2600" dirty="0"/>
              <a:t>given:</a:t>
            </a:r>
            <a:endParaRPr lang="en-US" sz="2600" baseline="-25000" dirty="0"/>
          </a:p>
          <a:p>
            <a:r>
              <a:rPr lang="en-US" sz="2600" dirty="0"/>
              <a:t> </a:t>
            </a:r>
          </a:p>
        </p:txBody>
      </p:sp>
      <p:sp>
        <p:nvSpPr>
          <p:cNvPr id="4" name="Date Placeholder 3">
            <a:extLst>
              <a:ext uri="{FF2B5EF4-FFF2-40B4-BE49-F238E27FC236}">
                <a16:creationId xmlns:a16="http://schemas.microsoft.com/office/drawing/2014/main" id="{3A95A54D-9A58-5549-8965-BA8F28D4AD61}"/>
              </a:ext>
            </a:extLst>
          </p:cNvPr>
          <p:cNvSpPr>
            <a:spLocks noGrp="1"/>
          </p:cNvSpPr>
          <p:nvPr>
            <p:ph type="dt" sz="half" idx="10"/>
          </p:nvPr>
        </p:nvSpPr>
        <p:spPr/>
        <p:txBody>
          <a:bodyPr/>
          <a:lstStyle/>
          <a:p>
            <a:fld id="{2ED4BAA9-C6F1-9644-BD84-3D1AC366092E}" type="datetime1">
              <a:rPr lang="en-US" smtClean="0"/>
              <a:t>11/3/24</a:t>
            </a:fld>
            <a:endParaRPr lang="en-US"/>
          </a:p>
        </p:txBody>
      </p:sp>
      <p:sp>
        <p:nvSpPr>
          <p:cNvPr id="5" name="Footer Placeholder 4">
            <a:extLst>
              <a:ext uri="{FF2B5EF4-FFF2-40B4-BE49-F238E27FC236}">
                <a16:creationId xmlns:a16="http://schemas.microsoft.com/office/drawing/2014/main" id="{75E3F037-9750-654F-816B-A2F53F57A342}"/>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A9C7C246-21A0-724F-877A-EDE129D9F409}"/>
              </a:ext>
            </a:extLst>
          </p:cNvPr>
          <p:cNvSpPr>
            <a:spLocks noGrp="1"/>
          </p:cNvSpPr>
          <p:nvPr>
            <p:ph type="sldNum" sz="quarter" idx="12"/>
          </p:nvPr>
        </p:nvSpPr>
        <p:spPr/>
        <p:txBody>
          <a:bodyPr/>
          <a:lstStyle/>
          <a:p>
            <a:fld id="{19B12225-5612-419B-A8D5-4B8EEE4C217E}" type="slidenum">
              <a:rPr lang="en-US" smtClean="0"/>
              <a:pPr/>
              <a:t>58</a:t>
            </a:fld>
            <a:endParaRPr lang="en-US"/>
          </a:p>
        </p:txBody>
      </p:sp>
      <p:sp>
        <p:nvSpPr>
          <p:cNvPr id="7" name="Oval 6">
            <a:extLst>
              <a:ext uri="{FF2B5EF4-FFF2-40B4-BE49-F238E27FC236}">
                <a16:creationId xmlns:a16="http://schemas.microsoft.com/office/drawing/2014/main" id="{FE984F9E-3D6F-C247-A6C1-9FD84A14E635}"/>
              </a:ext>
            </a:extLst>
          </p:cNvPr>
          <p:cNvSpPr/>
          <p:nvPr/>
        </p:nvSpPr>
        <p:spPr>
          <a:xfrm>
            <a:off x="1447800" y="24384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8" name="Oval 7">
            <a:extLst>
              <a:ext uri="{FF2B5EF4-FFF2-40B4-BE49-F238E27FC236}">
                <a16:creationId xmlns:a16="http://schemas.microsoft.com/office/drawing/2014/main" id="{FCA76820-8ED3-7640-BA73-F8527CD9BB52}"/>
              </a:ext>
            </a:extLst>
          </p:cNvPr>
          <p:cNvSpPr/>
          <p:nvPr/>
        </p:nvSpPr>
        <p:spPr>
          <a:xfrm>
            <a:off x="1447800" y="30480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9" name="Oval 8">
            <a:extLst>
              <a:ext uri="{FF2B5EF4-FFF2-40B4-BE49-F238E27FC236}">
                <a16:creationId xmlns:a16="http://schemas.microsoft.com/office/drawing/2014/main" id="{B47E7577-F37D-4A4E-8A05-F4574EBC5AC3}"/>
              </a:ext>
            </a:extLst>
          </p:cNvPr>
          <p:cNvSpPr/>
          <p:nvPr/>
        </p:nvSpPr>
        <p:spPr>
          <a:xfrm>
            <a:off x="1445821" y="3657600"/>
            <a:ext cx="533400" cy="533400"/>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1</a:t>
            </a:r>
          </a:p>
        </p:txBody>
      </p:sp>
      <p:sp>
        <p:nvSpPr>
          <p:cNvPr id="10" name="Oval 9">
            <a:extLst>
              <a:ext uri="{FF2B5EF4-FFF2-40B4-BE49-F238E27FC236}">
                <a16:creationId xmlns:a16="http://schemas.microsoft.com/office/drawing/2014/main" id="{1669C58E-19E6-4840-8065-BDB33C26B166}"/>
              </a:ext>
            </a:extLst>
          </p:cNvPr>
          <p:cNvSpPr/>
          <p:nvPr/>
        </p:nvSpPr>
        <p:spPr>
          <a:xfrm>
            <a:off x="1449779" y="42672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1" name="Oval 10">
            <a:extLst>
              <a:ext uri="{FF2B5EF4-FFF2-40B4-BE49-F238E27FC236}">
                <a16:creationId xmlns:a16="http://schemas.microsoft.com/office/drawing/2014/main" id="{9017FFE6-10AE-FF43-99AE-960397B374DB}"/>
              </a:ext>
            </a:extLst>
          </p:cNvPr>
          <p:cNvSpPr/>
          <p:nvPr/>
        </p:nvSpPr>
        <p:spPr>
          <a:xfrm>
            <a:off x="1449779" y="48768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2" name="Oval 11">
            <a:extLst>
              <a:ext uri="{FF2B5EF4-FFF2-40B4-BE49-F238E27FC236}">
                <a16:creationId xmlns:a16="http://schemas.microsoft.com/office/drawing/2014/main" id="{0587A28A-D458-1444-99C8-17770F541260}"/>
              </a:ext>
            </a:extLst>
          </p:cNvPr>
          <p:cNvSpPr/>
          <p:nvPr/>
        </p:nvSpPr>
        <p:spPr>
          <a:xfrm>
            <a:off x="1447800" y="54864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3" name="Oval 12">
            <a:extLst>
              <a:ext uri="{FF2B5EF4-FFF2-40B4-BE49-F238E27FC236}">
                <a16:creationId xmlns:a16="http://schemas.microsoft.com/office/drawing/2014/main" id="{4D34B655-73FA-C34C-9A61-24A56C1E178B}"/>
              </a:ext>
            </a:extLst>
          </p:cNvPr>
          <p:cNvSpPr/>
          <p:nvPr/>
        </p:nvSpPr>
        <p:spPr>
          <a:xfrm>
            <a:off x="1447800" y="18288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4" name="Oval 13">
            <a:extLst>
              <a:ext uri="{FF2B5EF4-FFF2-40B4-BE49-F238E27FC236}">
                <a16:creationId xmlns:a16="http://schemas.microsoft.com/office/drawing/2014/main" id="{5760957A-AB0C-FC41-AA55-82C44F26A99C}"/>
              </a:ext>
            </a:extLst>
          </p:cNvPr>
          <p:cNvSpPr/>
          <p:nvPr/>
        </p:nvSpPr>
        <p:spPr>
          <a:xfrm>
            <a:off x="1447800" y="60960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5" name="Oval 14">
            <a:extLst>
              <a:ext uri="{FF2B5EF4-FFF2-40B4-BE49-F238E27FC236}">
                <a16:creationId xmlns:a16="http://schemas.microsoft.com/office/drawing/2014/main" id="{F0B5B778-2FF2-4044-BB0E-2570466FF450}"/>
              </a:ext>
            </a:extLst>
          </p:cNvPr>
          <p:cNvSpPr/>
          <p:nvPr/>
        </p:nvSpPr>
        <p:spPr>
          <a:xfrm>
            <a:off x="3581400" y="2703121"/>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dirty="0"/>
              <a:t>0.5</a:t>
            </a:r>
          </a:p>
        </p:txBody>
      </p:sp>
      <p:sp>
        <p:nvSpPr>
          <p:cNvPr id="16" name="Oval 15">
            <a:extLst>
              <a:ext uri="{FF2B5EF4-FFF2-40B4-BE49-F238E27FC236}">
                <a16:creationId xmlns:a16="http://schemas.microsoft.com/office/drawing/2014/main" id="{181F2C68-981D-824F-A4A2-7DD278B281DF}"/>
              </a:ext>
            </a:extLst>
          </p:cNvPr>
          <p:cNvSpPr/>
          <p:nvPr/>
        </p:nvSpPr>
        <p:spPr>
          <a:xfrm>
            <a:off x="3581400" y="39243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2.3</a:t>
            </a:r>
          </a:p>
        </p:txBody>
      </p:sp>
      <p:sp>
        <p:nvSpPr>
          <p:cNvPr id="17" name="Oval 16">
            <a:extLst>
              <a:ext uri="{FF2B5EF4-FFF2-40B4-BE49-F238E27FC236}">
                <a16:creationId xmlns:a16="http://schemas.microsoft.com/office/drawing/2014/main" id="{34985E82-54AF-0A45-9DCD-E6A8D656E586}"/>
              </a:ext>
            </a:extLst>
          </p:cNvPr>
          <p:cNvSpPr/>
          <p:nvPr/>
        </p:nvSpPr>
        <p:spPr>
          <a:xfrm>
            <a:off x="3581400" y="51054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dirty="0"/>
              <a:t>2.2</a:t>
            </a:r>
          </a:p>
        </p:txBody>
      </p:sp>
      <p:sp>
        <p:nvSpPr>
          <p:cNvPr id="18" name="Oval 17">
            <a:extLst>
              <a:ext uri="{FF2B5EF4-FFF2-40B4-BE49-F238E27FC236}">
                <a16:creationId xmlns:a16="http://schemas.microsoft.com/office/drawing/2014/main" id="{7AA8C92D-B711-8145-8F15-3FA48B6147BA}"/>
              </a:ext>
            </a:extLst>
          </p:cNvPr>
          <p:cNvSpPr/>
          <p:nvPr/>
        </p:nvSpPr>
        <p:spPr>
          <a:xfrm>
            <a:off x="5865421" y="24384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dirty="0"/>
              <a:t>5.6</a:t>
            </a:r>
          </a:p>
        </p:txBody>
      </p:sp>
      <p:sp>
        <p:nvSpPr>
          <p:cNvPr id="19" name="Oval 18">
            <a:extLst>
              <a:ext uri="{FF2B5EF4-FFF2-40B4-BE49-F238E27FC236}">
                <a16:creationId xmlns:a16="http://schemas.microsoft.com/office/drawing/2014/main" id="{5C48531D-05C0-8345-980B-30952593A5D8}"/>
              </a:ext>
            </a:extLst>
          </p:cNvPr>
          <p:cNvSpPr/>
          <p:nvPr/>
        </p:nvSpPr>
        <p:spPr>
          <a:xfrm>
            <a:off x="5865421" y="30480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dirty="0"/>
              <a:t>-2.4</a:t>
            </a:r>
          </a:p>
        </p:txBody>
      </p:sp>
      <p:sp>
        <p:nvSpPr>
          <p:cNvPr id="20" name="Oval 19">
            <a:extLst>
              <a:ext uri="{FF2B5EF4-FFF2-40B4-BE49-F238E27FC236}">
                <a16:creationId xmlns:a16="http://schemas.microsoft.com/office/drawing/2014/main" id="{C85BDEDA-0B29-0B48-AB49-A0443750BCFD}"/>
              </a:ext>
            </a:extLst>
          </p:cNvPr>
          <p:cNvSpPr/>
          <p:nvPr/>
        </p:nvSpPr>
        <p:spPr>
          <a:xfrm>
            <a:off x="5863442" y="36576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5.3</a:t>
            </a:r>
          </a:p>
        </p:txBody>
      </p:sp>
      <p:sp>
        <p:nvSpPr>
          <p:cNvPr id="21" name="Oval 20">
            <a:extLst>
              <a:ext uri="{FF2B5EF4-FFF2-40B4-BE49-F238E27FC236}">
                <a16:creationId xmlns:a16="http://schemas.microsoft.com/office/drawing/2014/main" id="{BE8785BA-01A9-8F40-A9A4-F3FEA11408FA}"/>
              </a:ext>
            </a:extLst>
          </p:cNvPr>
          <p:cNvSpPr/>
          <p:nvPr/>
        </p:nvSpPr>
        <p:spPr>
          <a:xfrm>
            <a:off x="5867400" y="42672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6.1</a:t>
            </a:r>
          </a:p>
        </p:txBody>
      </p:sp>
      <p:sp>
        <p:nvSpPr>
          <p:cNvPr id="22" name="Oval 21">
            <a:extLst>
              <a:ext uri="{FF2B5EF4-FFF2-40B4-BE49-F238E27FC236}">
                <a16:creationId xmlns:a16="http://schemas.microsoft.com/office/drawing/2014/main" id="{EB544E5D-9AED-0D4C-B87F-EAD417444152}"/>
              </a:ext>
            </a:extLst>
          </p:cNvPr>
          <p:cNvSpPr/>
          <p:nvPr/>
        </p:nvSpPr>
        <p:spPr>
          <a:xfrm>
            <a:off x="5867400" y="48768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7.4</a:t>
            </a:r>
          </a:p>
        </p:txBody>
      </p:sp>
      <p:sp>
        <p:nvSpPr>
          <p:cNvPr id="23" name="Oval 22">
            <a:extLst>
              <a:ext uri="{FF2B5EF4-FFF2-40B4-BE49-F238E27FC236}">
                <a16:creationId xmlns:a16="http://schemas.microsoft.com/office/drawing/2014/main" id="{F0C98CF2-6F2D-5840-8C01-71F89C11F9FF}"/>
              </a:ext>
            </a:extLst>
          </p:cNvPr>
          <p:cNvSpPr/>
          <p:nvPr/>
        </p:nvSpPr>
        <p:spPr>
          <a:xfrm>
            <a:off x="5865421" y="54864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rIns="0" rtlCol="0" anchor="ctr"/>
          <a:lstStyle/>
          <a:p>
            <a:pPr algn="ctr"/>
            <a:r>
              <a:rPr lang="en-US" dirty="0"/>
              <a:t>3</a:t>
            </a:r>
          </a:p>
        </p:txBody>
      </p:sp>
      <p:sp>
        <p:nvSpPr>
          <p:cNvPr id="24" name="Oval 23">
            <a:extLst>
              <a:ext uri="{FF2B5EF4-FFF2-40B4-BE49-F238E27FC236}">
                <a16:creationId xmlns:a16="http://schemas.microsoft.com/office/drawing/2014/main" id="{DB45B293-2C68-B645-9886-C89078196905}"/>
              </a:ext>
            </a:extLst>
          </p:cNvPr>
          <p:cNvSpPr/>
          <p:nvPr/>
        </p:nvSpPr>
        <p:spPr>
          <a:xfrm>
            <a:off x="5865421" y="18288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dirty="0"/>
              <a:t>1.0</a:t>
            </a:r>
          </a:p>
        </p:txBody>
      </p:sp>
      <p:sp>
        <p:nvSpPr>
          <p:cNvPr id="25" name="Oval 24">
            <a:extLst>
              <a:ext uri="{FF2B5EF4-FFF2-40B4-BE49-F238E27FC236}">
                <a16:creationId xmlns:a16="http://schemas.microsoft.com/office/drawing/2014/main" id="{BEF37F96-B6E3-C443-B434-C702B6BBF14F}"/>
              </a:ext>
            </a:extLst>
          </p:cNvPr>
          <p:cNvSpPr/>
          <p:nvPr/>
        </p:nvSpPr>
        <p:spPr>
          <a:xfrm>
            <a:off x="5865421" y="60960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3.5</a:t>
            </a:r>
          </a:p>
        </p:txBody>
      </p:sp>
      <p:cxnSp>
        <p:nvCxnSpPr>
          <p:cNvPr id="27" name="Straight Connector 26">
            <a:extLst>
              <a:ext uri="{FF2B5EF4-FFF2-40B4-BE49-F238E27FC236}">
                <a16:creationId xmlns:a16="http://schemas.microsoft.com/office/drawing/2014/main" id="{DD3E3EA0-C479-AE4B-A2A9-F7E0E4FCD5EF}"/>
              </a:ext>
            </a:extLst>
          </p:cNvPr>
          <p:cNvCxnSpPr>
            <a:cxnSpLocks/>
            <a:stCxn id="13" idx="5"/>
            <a:endCxn id="15" idx="2"/>
          </p:cNvCxnSpPr>
          <p:nvPr/>
        </p:nvCxnSpPr>
        <p:spPr>
          <a:xfrm>
            <a:off x="1903085" y="2284085"/>
            <a:ext cx="1678315" cy="685736"/>
          </a:xfrm>
          <a:prstGeom prst="line">
            <a:avLst/>
          </a:prstGeom>
          <a:ln w="28575"/>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F01C6554-CAC9-DB47-B06E-9910BCA07525}"/>
              </a:ext>
            </a:extLst>
          </p:cNvPr>
          <p:cNvCxnSpPr>
            <a:cxnSpLocks/>
          </p:cNvCxnSpPr>
          <p:nvPr/>
        </p:nvCxnSpPr>
        <p:spPr>
          <a:xfrm>
            <a:off x="2017353" y="2760303"/>
            <a:ext cx="1560089" cy="249596"/>
          </a:xfrm>
          <a:prstGeom prst="line">
            <a:avLst/>
          </a:prstGeom>
          <a:ln w="28575"/>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6AB9B9E8-C680-5248-9365-F0468870FBBC}"/>
              </a:ext>
            </a:extLst>
          </p:cNvPr>
          <p:cNvCxnSpPr>
            <a:cxnSpLocks/>
            <a:endCxn id="15" idx="2"/>
          </p:cNvCxnSpPr>
          <p:nvPr/>
        </p:nvCxnSpPr>
        <p:spPr>
          <a:xfrm flipV="1">
            <a:off x="2013395" y="2969821"/>
            <a:ext cx="1568005" cy="344882"/>
          </a:xfrm>
          <a:prstGeom prst="line">
            <a:avLst/>
          </a:prstGeom>
          <a:ln w="28575"/>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0927AA7F-71CE-C44D-897C-1E3897E5D80B}"/>
              </a:ext>
            </a:extLst>
          </p:cNvPr>
          <p:cNvCxnSpPr>
            <a:cxnSpLocks/>
            <a:stCxn id="9" idx="6"/>
          </p:cNvCxnSpPr>
          <p:nvPr/>
        </p:nvCxnSpPr>
        <p:spPr>
          <a:xfrm flipV="1">
            <a:off x="1979221" y="3017521"/>
            <a:ext cx="1594263" cy="90677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08B55ED0-0B80-4C46-B835-B9E815368BA5}"/>
              </a:ext>
            </a:extLst>
          </p:cNvPr>
          <p:cNvCxnSpPr>
            <a:cxnSpLocks/>
            <a:stCxn id="10" idx="6"/>
            <a:endCxn id="15" idx="2"/>
          </p:cNvCxnSpPr>
          <p:nvPr/>
        </p:nvCxnSpPr>
        <p:spPr>
          <a:xfrm flipV="1">
            <a:off x="1983179" y="2969821"/>
            <a:ext cx="1598221" cy="1564079"/>
          </a:xfrm>
          <a:prstGeom prst="line">
            <a:avLst/>
          </a:prstGeom>
          <a:ln w="28575"/>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A0598294-3668-E846-A022-5AF29B346430}"/>
              </a:ext>
            </a:extLst>
          </p:cNvPr>
          <p:cNvCxnSpPr>
            <a:cxnSpLocks/>
            <a:stCxn id="11" idx="6"/>
          </p:cNvCxnSpPr>
          <p:nvPr/>
        </p:nvCxnSpPr>
        <p:spPr>
          <a:xfrm flipV="1">
            <a:off x="1983179" y="3040378"/>
            <a:ext cx="1589316" cy="2103122"/>
          </a:xfrm>
          <a:prstGeom prst="line">
            <a:avLst/>
          </a:prstGeom>
          <a:ln w="28575"/>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9AF17E93-717C-114B-A363-D20DEFA81EA3}"/>
              </a:ext>
            </a:extLst>
          </p:cNvPr>
          <p:cNvCxnSpPr>
            <a:cxnSpLocks/>
            <a:stCxn id="12" idx="6"/>
            <a:endCxn id="15" idx="2"/>
          </p:cNvCxnSpPr>
          <p:nvPr/>
        </p:nvCxnSpPr>
        <p:spPr>
          <a:xfrm flipV="1">
            <a:off x="1981200" y="2969821"/>
            <a:ext cx="1600200" cy="2783279"/>
          </a:xfrm>
          <a:prstGeom prst="line">
            <a:avLst/>
          </a:prstGeom>
          <a:ln w="28575"/>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DF3785BE-70E0-FD4A-A597-0F8F86E4C71A}"/>
              </a:ext>
            </a:extLst>
          </p:cNvPr>
          <p:cNvCxnSpPr>
            <a:cxnSpLocks/>
            <a:endCxn id="15" idx="2"/>
          </p:cNvCxnSpPr>
          <p:nvPr/>
        </p:nvCxnSpPr>
        <p:spPr>
          <a:xfrm flipV="1">
            <a:off x="2013395" y="2969821"/>
            <a:ext cx="1568005" cy="3385262"/>
          </a:xfrm>
          <a:prstGeom prst="line">
            <a:avLst/>
          </a:prstGeom>
          <a:ln w="28575"/>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825B194E-AF66-FD48-AC5A-D674DC6458DB}"/>
              </a:ext>
            </a:extLst>
          </p:cNvPr>
          <p:cNvCxnSpPr>
            <a:cxnSpLocks/>
            <a:stCxn id="13" idx="5"/>
            <a:endCxn id="16" idx="1"/>
          </p:cNvCxnSpPr>
          <p:nvPr/>
        </p:nvCxnSpPr>
        <p:spPr>
          <a:xfrm>
            <a:off x="1903085" y="2284085"/>
            <a:ext cx="1756430" cy="1718330"/>
          </a:xfrm>
          <a:prstGeom prst="line">
            <a:avLst/>
          </a:prstGeom>
          <a:ln w="28575"/>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9DD01029-FF5B-904A-BAAA-1D41687D60E1}"/>
              </a:ext>
            </a:extLst>
          </p:cNvPr>
          <p:cNvCxnSpPr>
            <a:cxnSpLocks/>
            <a:endCxn id="16" idx="1"/>
          </p:cNvCxnSpPr>
          <p:nvPr/>
        </p:nvCxnSpPr>
        <p:spPr>
          <a:xfrm>
            <a:off x="1985158" y="2771700"/>
            <a:ext cx="1674357" cy="1230715"/>
          </a:xfrm>
          <a:prstGeom prst="line">
            <a:avLst/>
          </a:prstGeom>
          <a:ln w="28575"/>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D69EAF91-AF65-7449-81D4-6E69506E7ED0}"/>
              </a:ext>
            </a:extLst>
          </p:cNvPr>
          <p:cNvCxnSpPr>
            <a:cxnSpLocks/>
            <a:endCxn id="16" idx="1"/>
          </p:cNvCxnSpPr>
          <p:nvPr/>
        </p:nvCxnSpPr>
        <p:spPr>
          <a:xfrm>
            <a:off x="2015374" y="3322320"/>
            <a:ext cx="1644141" cy="680095"/>
          </a:xfrm>
          <a:prstGeom prst="line">
            <a:avLst/>
          </a:prstGeom>
          <a:ln w="28575"/>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98471BCB-43C3-F54E-AC06-888020A6DEF8}"/>
              </a:ext>
            </a:extLst>
          </p:cNvPr>
          <p:cNvCxnSpPr>
            <a:cxnSpLocks/>
            <a:stCxn id="9" idx="6"/>
            <a:endCxn id="16" idx="1"/>
          </p:cNvCxnSpPr>
          <p:nvPr/>
        </p:nvCxnSpPr>
        <p:spPr>
          <a:xfrm>
            <a:off x="1979221" y="3924300"/>
            <a:ext cx="1680294" cy="7811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C7450171-6F98-294E-B819-3BCCDC274A74}"/>
              </a:ext>
            </a:extLst>
          </p:cNvPr>
          <p:cNvCxnSpPr>
            <a:cxnSpLocks/>
            <a:endCxn id="16" idx="1"/>
          </p:cNvCxnSpPr>
          <p:nvPr/>
        </p:nvCxnSpPr>
        <p:spPr>
          <a:xfrm flipV="1">
            <a:off x="2007458" y="4002415"/>
            <a:ext cx="1652057" cy="530528"/>
          </a:xfrm>
          <a:prstGeom prst="line">
            <a:avLst/>
          </a:prstGeom>
          <a:ln w="28575"/>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A9231821-C0FC-3D4E-8209-6CE8958D439F}"/>
              </a:ext>
            </a:extLst>
          </p:cNvPr>
          <p:cNvCxnSpPr>
            <a:cxnSpLocks/>
            <a:stCxn id="11" idx="6"/>
            <a:endCxn id="16" idx="1"/>
          </p:cNvCxnSpPr>
          <p:nvPr/>
        </p:nvCxnSpPr>
        <p:spPr>
          <a:xfrm flipV="1">
            <a:off x="1983179" y="4002415"/>
            <a:ext cx="1676336" cy="1141085"/>
          </a:xfrm>
          <a:prstGeom prst="line">
            <a:avLst/>
          </a:prstGeom>
          <a:ln w="28575"/>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340E5CF9-4B90-E042-9382-4392634B1350}"/>
              </a:ext>
            </a:extLst>
          </p:cNvPr>
          <p:cNvCxnSpPr>
            <a:cxnSpLocks/>
            <a:stCxn id="12" idx="6"/>
            <a:endCxn id="16" idx="1"/>
          </p:cNvCxnSpPr>
          <p:nvPr/>
        </p:nvCxnSpPr>
        <p:spPr>
          <a:xfrm flipV="1">
            <a:off x="1981200" y="4002415"/>
            <a:ext cx="1678315" cy="1750685"/>
          </a:xfrm>
          <a:prstGeom prst="line">
            <a:avLst/>
          </a:prstGeom>
          <a:ln w="28575"/>
        </p:spPr>
        <p:style>
          <a:lnRef idx="1">
            <a:schemeClr val="dk1"/>
          </a:lnRef>
          <a:fillRef idx="0">
            <a:schemeClr val="dk1"/>
          </a:fillRef>
          <a:effectRef idx="0">
            <a:schemeClr val="dk1"/>
          </a:effectRef>
          <a:fontRef idx="minor">
            <a:schemeClr val="tx1"/>
          </a:fontRef>
        </p:style>
      </p:cxnSp>
      <p:cxnSp>
        <p:nvCxnSpPr>
          <p:cNvPr id="72" name="Straight Connector 71">
            <a:extLst>
              <a:ext uri="{FF2B5EF4-FFF2-40B4-BE49-F238E27FC236}">
                <a16:creationId xmlns:a16="http://schemas.microsoft.com/office/drawing/2014/main" id="{FFD42355-850B-AE41-83A6-9E363D9EA07E}"/>
              </a:ext>
            </a:extLst>
          </p:cNvPr>
          <p:cNvCxnSpPr>
            <a:cxnSpLocks/>
            <a:endCxn id="16" idx="1"/>
          </p:cNvCxnSpPr>
          <p:nvPr/>
        </p:nvCxnSpPr>
        <p:spPr>
          <a:xfrm flipV="1">
            <a:off x="2009437" y="4002415"/>
            <a:ext cx="1650078" cy="2352666"/>
          </a:xfrm>
          <a:prstGeom prst="line">
            <a:avLst/>
          </a:prstGeom>
          <a:ln w="28575"/>
        </p:spPr>
        <p:style>
          <a:lnRef idx="1">
            <a:schemeClr val="dk1"/>
          </a:lnRef>
          <a:fillRef idx="0">
            <a:schemeClr val="dk1"/>
          </a:fillRef>
          <a:effectRef idx="0">
            <a:schemeClr val="dk1"/>
          </a:effectRef>
          <a:fontRef idx="minor">
            <a:schemeClr val="tx1"/>
          </a:fontRef>
        </p:style>
      </p:cxnSp>
      <p:cxnSp>
        <p:nvCxnSpPr>
          <p:cNvPr id="75" name="Straight Connector 74">
            <a:extLst>
              <a:ext uri="{FF2B5EF4-FFF2-40B4-BE49-F238E27FC236}">
                <a16:creationId xmlns:a16="http://schemas.microsoft.com/office/drawing/2014/main" id="{B7EB380F-C9BF-0842-95F4-1848117705A6}"/>
              </a:ext>
            </a:extLst>
          </p:cNvPr>
          <p:cNvCxnSpPr>
            <a:cxnSpLocks/>
            <a:stCxn id="13" idx="5"/>
            <a:endCxn id="17" idx="1"/>
          </p:cNvCxnSpPr>
          <p:nvPr/>
        </p:nvCxnSpPr>
        <p:spPr>
          <a:xfrm>
            <a:off x="1903085" y="2284085"/>
            <a:ext cx="1756430" cy="2899430"/>
          </a:xfrm>
          <a:prstGeom prst="line">
            <a:avLst/>
          </a:prstGeom>
          <a:ln w="28575"/>
        </p:spPr>
        <p:style>
          <a:lnRef idx="1">
            <a:schemeClr val="dk1"/>
          </a:lnRef>
          <a:fillRef idx="0">
            <a:schemeClr val="dk1"/>
          </a:fillRef>
          <a:effectRef idx="0">
            <a:schemeClr val="dk1"/>
          </a:effectRef>
          <a:fontRef idx="minor">
            <a:schemeClr val="tx1"/>
          </a:fontRef>
        </p:style>
      </p:cxnSp>
      <p:cxnSp>
        <p:nvCxnSpPr>
          <p:cNvPr id="78" name="Straight Connector 77">
            <a:extLst>
              <a:ext uri="{FF2B5EF4-FFF2-40B4-BE49-F238E27FC236}">
                <a16:creationId xmlns:a16="http://schemas.microsoft.com/office/drawing/2014/main" id="{5002F88C-127F-4B46-942B-1D1B6DF0DDB5}"/>
              </a:ext>
            </a:extLst>
          </p:cNvPr>
          <p:cNvCxnSpPr>
            <a:cxnSpLocks/>
            <a:endCxn id="17" idx="1"/>
          </p:cNvCxnSpPr>
          <p:nvPr/>
        </p:nvCxnSpPr>
        <p:spPr>
          <a:xfrm>
            <a:off x="2009437" y="2817964"/>
            <a:ext cx="1650078" cy="2365551"/>
          </a:xfrm>
          <a:prstGeom prst="line">
            <a:avLst/>
          </a:prstGeom>
          <a:ln w="28575"/>
        </p:spPr>
        <p:style>
          <a:lnRef idx="1">
            <a:schemeClr val="dk1"/>
          </a:lnRef>
          <a:fillRef idx="0">
            <a:schemeClr val="dk1"/>
          </a:fillRef>
          <a:effectRef idx="0">
            <a:schemeClr val="dk1"/>
          </a:effectRef>
          <a:fontRef idx="minor">
            <a:schemeClr val="tx1"/>
          </a:fontRef>
        </p:style>
      </p:cxnSp>
      <p:cxnSp>
        <p:nvCxnSpPr>
          <p:cNvPr id="81" name="Straight Connector 80">
            <a:extLst>
              <a:ext uri="{FF2B5EF4-FFF2-40B4-BE49-F238E27FC236}">
                <a16:creationId xmlns:a16="http://schemas.microsoft.com/office/drawing/2014/main" id="{D559DD3A-2B0C-C04F-88B9-065B32D32C37}"/>
              </a:ext>
            </a:extLst>
          </p:cNvPr>
          <p:cNvCxnSpPr>
            <a:cxnSpLocks/>
            <a:endCxn id="17" idx="1"/>
          </p:cNvCxnSpPr>
          <p:nvPr/>
        </p:nvCxnSpPr>
        <p:spPr>
          <a:xfrm>
            <a:off x="2009437" y="3322320"/>
            <a:ext cx="1650078" cy="1861195"/>
          </a:xfrm>
          <a:prstGeom prst="line">
            <a:avLst/>
          </a:prstGeom>
          <a:ln w="28575"/>
        </p:spPr>
        <p:style>
          <a:lnRef idx="1">
            <a:schemeClr val="dk1"/>
          </a:lnRef>
          <a:fillRef idx="0">
            <a:schemeClr val="dk1"/>
          </a:fillRef>
          <a:effectRef idx="0">
            <a:schemeClr val="dk1"/>
          </a:effectRef>
          <a:fontRef idx="minor">
            <a:schemeClr val="tx1"/>
          </a:fontRef>
        </p:style>
      </p:cxnSp>
      <p:cxnSp>
        <p:nvCxnSpPr>
          <p:cNvPr id="84" name="Straight Connector 83">
            <a:extLst>
              <a:ext uri="{FF2B5EF4-FFF2-40B4-BE49-F238E27FC236}">
                <a16:creationId xmlns:a16="http://schemas.microsoft.com/office/drawing/2014/main" id="{9C2FCB5F-C58E-8742-94E7-20E6D3B434C1}"/>
              </a:ext>
            </a:extLst>
          </p:cNvPr>
          <p:cNvCxnSpPr>
            <a:cxnSpLocks/>
            <a:stCxn id="9" idx="6"/>
            <a:endCxn id="17" idx="1"/>
          </p:cNvCxnSpPr>
          <p:nvPr/>
        </p:nvCxnSpPr>
        <p:spPr>
          <a:xfrm>
            <a:off x="1979221" y="3924300"/>
            <a:ext cx="1680294" cy="125921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7" name="Straight Connector 86">
            <a:extLst>
              <a:ext uri="{FF2B5EF4-FFF2-40B4-BE49-F238E27FC236}">
                <a16:creationId xmlns:a16="http://schemas.microsoft.com/office/drawing/2014/main" id="{3B21A8BD-05E0-1B43-A4F8-62FF7028DDDB}"/>
              </a:ext>
            </a:extLst>
          </p:cNvPr>
          <p:cNvCxnSpPr>
            <a:cxnSpLocks/>
            <a:endCxn id="17" idx="1"/>
          </p:cNvCxnSpPr>
          <p:nvPr/>
        </p:nvCxnSpPr>
        <p:spPr>
          <a:xfrm>
            <a:off x="2017353" y="4532943"/>
            <a:ext cx="1642162" cy="650572"/>
          </a:xfrm>
          <a:prstGeom prst="line">
            <a:avLst/>
          </a:prstGeom>
          <a:ln w="28575"/>
        </p:spPr>
        <p:style>
          <a:lnRef idx="1">
            <a:schemeClr val="dk1"/>
          </a:lnRef>
          <a:fillRef idx="0">
            <a:schemeClr val="dk1"/>
          </a:fillRef>
          <a:effectRef idx="0">
            <a:schemeClr val="dk1"/>
          </a:effectRef>
          <a:fontRef idx="minor">
            <a:schemeClr val="tx1"/>
          </a:fontRef>
        </p:style>
      </p:cxnSp>
      <p:cxnSp>
        <p:nvCxnSpPr>
          <p:cNvPr id="90" name="Straight Connector 89">
            <a:extLst>
              <a:ext uri="{FF2B5EF4-FFF2-40B4-BE49-F238E27FC236}">
                <a16:creationId xmlns:a16="http://schemas.microsoft.com/office/drawing/2014/main" id="{A2DEFA17-6869-DD4A-892B-DB71F8944EE3}"/>
              </a:ext>
            </a:extLst>
          </p:cNvPr>
          <p:cNvCxnSpPr>
            <a:cxnSpLocks/>
            <a:endCxn id="17" idx="1"/>
          </p:cNvCxnSpPr>
          <p:nvPr/>
        </p:nvCxnSpPr>
        <p:spPr>
          <a:xfrm>
            <a:off x="2015374" y="5143022"/>
            <a:ext cx="1644141" cy="40493"/>
          </a:xfrm>
          <a:prstGeom prst="line">
            <a:avLst/>
          </a:prstGeom>
          <a:ln w="28575"/>
        </p:spPr>
        <p:style>
          <a:lnRef idx="1">
            <a:schemeClr val="dk1"/>
          </a:lnRef>
          <a:fillRef idx="0">
            <a:schemeClr val="dk1"/>
          </a:fillRef>
          <a:effectRef idx="0">
            <a:schemeClr val="dk1"/>
          </a:effectRef>
          <a:fontRef idx="minor">
            <a:schemeClr val="tx1"/>
          </a:fontRef>
        </p:style>
      </p:cxnSp>
      <p:cxnSp>
        <p:nvCxnSpPr>
          <p:cNvPr id="93" name="Straight Connector 92">
            <a:extLst>
              <a:ext uri="{FF2B5EF4-FFF2-40B4-BE49-F238E27FC236}">
                <a16:creationId xmlns:a16="http://schemas.microsoft.com/office/drawing/2014/main" id="{33EBA30B-F746-234E-8095-F36CD9CFEDD1}"/>
              </a:ext>
            </a:extLst>
          </p:cNvPr>
          <p:cNvCxnSpPr>
            <a:cxnSpLocks/>
            <a:endCxn id="17" idx="1"/>
          </p:cNvCxnSpPr>
          <p:nvPr/>
        </p:nvCxnSpPr>
        <p:spPr>
          <a:xfrm flipV="1">
            <a:off x="1987137" y="5183515"/>
            <a:ext cx="1672378" cy="549340"/>
          </a:xfrm>
          <a:prstGeom prst="line">
            <a:avLst/>
          </a:prstGeom>
          <a:ln w="28575"/>
        </p:spPr>
        <p:style>
          <a:lnRef idx="1">
            <a:schemeClr val="dk1"/>
          </a:lnRef>
          <a:fillRef idx="0">
            <a:schemeClr val="dk1"/>
          </a:fillRef>
          <a:effectRef idx="0">
            <a:schemeClr val="dk1"/>
          </a:effectRef>
          <a:fontRef idx="minor">
            <a:schemeClr val="tx1"/>
          </a:fontRef>
        </p:style>
      </p:cxnSp>
      <p:cxnSp>
        <p:nvCxnSpPr>
          <p:cNvPr id="96" name="Straight Connector 95">
            <a:extLst>
              <a:ext uri="{FF2B5EF4-FFF2-40B4-BE49-F238E27FC236}">
                <a16:creationId xmlns:a16="http://schemas.microsoft.com/office/drawing/2014/main" id="{C3F4262C-798D-B145-8790-D0AB85D7C565}"/>
              </a:ext>
            </a:extLst>
          </p:cNvPr>
          <p:cNvCxnSpPr>
            <a:cxnSpLocks/>
            <a:endCxn id="17" idx="1"/>
          </p:cNvCxnSpPr>
          <p:nvPr/>
        </p:nvCxnSpPr>
        <p:spPr>
          <a:xfrm flipV="1">
            <a:off x="1987137" y="5183515"/>
            <a:ext cx="1672378" cy="1178708"/>
          </a:xfrm>
          <a:prstGeom prst="line">
            <a:avLst/>
          </a:prstGeom>
          <a:ln w="28575"/>
        </p:spPr>
        <p:style>
          <a:lnRef idx="1">
            <a:schemeClr val="dk1"/>
          </a:lnRef>
          <a:fillRef idx="0">
            <a:schemeClr val="dk1"/>
          </a:fillRef>
          <a:effectRef idx="0">
            <a:schemeClr val="dk1"/>
          </a:effectRef>
          <a:fontRef idx="minor">
            <a:schemeClr val="tx1"/>
          </a:fontRef>
        </p:style>
      </p:cxnSp>
      <p:cxnSp>
        <p:nvCxnSpPr>
          <p:cNvPr id="133" name="Straight Connector 132">
            <a:extLst>
              <a:ext uri="{FF2B5EF4-FFF2-40B4-BE49-F238E27FC236}">
                <a16:creationId xmlns:a16="http://schemas.microsoft.com/office/drawing/2014/main" id="{59E3FBCE-1889-E047-8EB5-E03741D3B3C9}"/>
              </a:ext>
            </a:extLst>
          </p:cNvPr>
          <p:cNvCxnSpPr>
            <a:cxnSpLocks/>
            <a:endCxn id="24" idx="2"/>
          </p:cNvCxnSpPr>
          <p:nvPr/>
        </p:nvCxnSpPr>
        <p:spPr>
          <a:xfrm flipV="1">
            <a:off x="4107012" y="2095500"/>
            <a:ext cx="1758409" cy="874682"/>
          </a:xfrm>
          <a:prstGeom prst="line">
            <a:avLst/>
          </a:prstGeom>
          <a:ln w="28575"/>
        </p:spPr>
        <p:style>
          <a:lnRef idx="1">
            <a:schemeClr val="dk1"/>
          </a:lnRef>
          <a:fillRef idx="0">
            <a:schemeClr val="dk1"/>
          </a:fillRef>
          <a:effectRef idx="0">
            <a:schemeClr val="dk1"/>
          </a:effectRef>
          <a:fontRef idx="minor">
            <a:schemeClr val="tx1"/>
          </a:fontRef>
        </p:style>
      </p:cxnSp>
      <p:cxnSp>
        <p:nvCxnSpPr>
          <p:cNvPr id="135" name="Straight Connector 134">
            <a:extLst>
              <a:ext uri="{FF2B5EF4-FFF2-40B4-BE49-F238E27FC236}">
                <a16:creationId xmlns:a16="http://schemas.microsoft.com/office/drawing/2014/main" id="{B5727415-039A-2448-9199-2E57DCBD9AC0}"/>
              </a:ext>
            </a:extLst>
          </p:cNvPr>
          <p:cNvCxnSpPr>
            <a:cxnSpLocks/>
            <a:endCxn id="18" idx="2"/>
          </p:cNvCxnSpPr>
          <p:nvPr/>
        </p:nvCxnSpPr>
        <p:spPr>
          <a:xfrm flipV="1">
            <a:off x="4118758" y="2705100"/>
            <a:ext cx="1746663" cy="263652"/>
          </a:xfrm>
          <a:prstGeom prst="line">
            <a:avLst/>
          </a:prstGeom>
          <a:ln w="28575"/>
        </p:spPr>
        <p:style>
          <a:lnRef idx="1">
            <a:schemeClr val="dk1"/>
          </a:lnRef>
          <a:fillRef idx="0">
            <a:schemeClr val="dk1"/>
          </a:fillRef>
          <a:effectRef idx="0">
            <a:schemeClr val="dk1"/>
          </a:effectRef>
          <a:fontRef idx="minor">
            <a:schemeClr val="tx1"/>
          </a:fontRef>
        </p:style>
      </p:cxnSp>
      <p:cxnSp>
        <p:nvCxnSpPr>
          <p:cNvPr id="138" name="Straight Connector 137">
            <a:extLst>
              <a:ext uri="{FF2B5EF4-FFF2-40B4-BE49-F238E27FC236}">
                <a16:creationId xmlns:a16="http://schemas.microsoft.com/office/drawing/2014/main" id="{818BC6C0-2071-A24E-A718-DE477817BA04}"/>
              </a:ext>
            </a:extLst>
          </p:cNvPr>
          <p:cNvCxnSpPr>
            <a:cxnSpLocks/>
            <a:endCxn id="19" idx="2"/>
          </p:cNvCxnSpPr>
          <p:nvPr/>
        </p:nvCxnSpPr>
        <p:spPr>
          <a:xfrm>
            <a:off x="4118758" y="2999232"/>
            <a:ext cx="1746663" cy="315468"/>
          </a:xfrm>
          <a:prstGeom prst="line">
            <a:avLst/>
          </a:prstGeom>
          <a:ln w="28575"/>
        </p:spPr>
        <p:style>
          <a:lnRef idx="1">
            <a:schemeClr val="dk1"/>
          </a:lnRef>
          <a:fillRef idx="0">
            <a:schemeClr val="dk1"/>
          </a:fillRef>
          <a:effectRef idx="0">
            <a:schemeClr val="dk1"/>
          </a:effectRef>
          <a:fontRef idx="minor">
            <a:schemeClr val="tx1"/>
          </a:fontRef>
        </p:style>
      </p:cxnSp>
      <p:cxnSp>
        <p:nvCxnSpPr>
          <p:cNvPr id="141" name="Straight Connector 140">
            <a:extLst>
              <a:ext uri="{FF2B5EF4-FFF2-40B4-BE49-F238E27FC236}">
                <a16:creationId xmlns:a16="http://schemas.microsoft.com/office/drawing/2014/main" id="{B9B1CDC6-7E14-0C43-9CCE-DDF9538FCA6A}"/>
              </a:ext>
            </a:extLst>
          </p:cNvPr>
          <p:cNvCxnSpPr>
            <a:cxnSpLocks/>
            <a:stCxn id="15" idx="6"/>
            <a:endCxn id="20" idx="2"/>
          </p:cNvCxnSpPr>
          <p:nvPr/>
        </p:nvCxnSpPr>
        <p:spPr>
          <a:xfrm>
            <a:off x="4114800" y="2969821"/>
            <a:ext cx="1748642" cy="954479"/>
          </a:xfrm>
          <a:prstGeom prst="line">
            <a:avLst/>
          </a:prstGeom>
          <a:ln w="28575"/>
        </p:spPr>
        <p:style>
          <a:lnRef idx="1">
            <a:schemeClr val="dk1"/>
          </a:lnRef>
          <a:fillRef idx="0">
            <a:schemeClr val="dk1"/>
          </a:fillRef>
          <a:effectRef idx="0">
            <a:schemeClr val="dk1"/>
          </a:effectRef>
          <a:fontRef idx="minor">
            <a:schemeClr val="tx1"/>
          </a:fontRef>
        </p:style>
      </p:cxnSp>
      <p:cxnSp>
        <p:nvCxnSpPr>
          <p:cNvPr id="145" name="Straight Connector 144">
            <a:extLst>
              <a:ext uri="{FF2B5EF4-FFF2-40B4-BE49-F238E27FC236}">
                <a16:creationId xmlns:a16="http://schemas.microsoft.com/office/drawing/2014/main" id="{AA18D6E2-DE37-F040-8002-761744537496}"/>
              </a:ext>
            </a:extLst>
          </p:cNvPr>
          <p:cNvCxnSpPr>
            <a:cxnSpLocks/>
            <a:stCxn id="15" idx="6"/>
            <a:endCxn id="21" idx="2"/>
          </p:cNvCxnSpPr>
          <p:nvPr/>
        </p:nvCxnSpPr>
        <p:spPr>
          <a:xfrm>
            <a:off x="4114800" y="2969821"/>
            <a:ext cx="1752600" cy="1564079"/>
          </a:xfrm>
          <a:prstGeom prst="line">
            <a:avLst/>
          </a:prstGeom>
          <a:ln w="28575"/>
        </p:spPr>
        <p:style>
          <a:lnRef idx="1">
            <a:schemeClr val="dk1"/>
          </a:lnRef>
          <a:fillRef idx="0">
            <a:schemeClr val="dk1"/>
          </a:fillRef>
          <a:effectRef idx="0">
            <a:schemeClr val="dk1"/>
          </a:effectRef>
          <a:fontRef idx="minor">
            <a:schemeClr val="tx1"/>
          </a:fontRef>
        </p:style>
      </p:cxnSp>
      <p:cxnSp>
        <p:nvCxnSpPr>
          <p:cNvPr id="148" name="Straight Connector 147">
            <a:extLst>
              <a:ext uri="{FF2B5EF4-FFF2-40B4-BE49-F238E27FC236}">
                <a16:creationId xmlns:a16="http://schemas.microsoft.com/office/drawing/2014/main" id="{09600B10-7575-2D43-8D58-0C92EF63F6B2}"/>
              </a:ext>
            </a:extLst>
          </p:cNvPr>
          <p:cNvCxnSpPr>
            <a:cxnSpLocks/>
            <a:stCxn id="15" idx="6"/>
            <a:endCxn id="22" idx="2"/>
          </p:cNvCxnSpPr>
          <p:nvPr/>
        </p:nvCxnSpPr>
        <p:spPr>
          <a:xfrm>
            <a:off x="4114800" y="2969821"/>
            <a:ext cx="1752600" cy="2173679"/>
          </a:xfrm>
          <a:prstGeom prst="line">
            <a:avLst/>
          </a:prstGeom>
          <a:ln w="28575"/>
        </p:spPr>
        <p:style>
          <a:lnRef idx="1">
            <a:schemeClr val="dk1"/>
          </a:lnRef>
          <a:fillRef idx="0">
            <a:schemeClr val="dk1"/>
          </a:fillRef>
          <a:effectRef idx="0">
            <a:schemeClr val="dk1"/>
          </a:effectRef>
          <a:fontRef idx="minor">
            <a:schemeClr val="tx1"/>
          </a:fontRef>
        </p:style>
      </p:cxnSp>
      <p:cxnSp>
        <p:nvCxnSpPr>
          <p:cNvPr id="151" name="Straight Connector 150">
            <a:extLst>
              <a:ext uri="{FF2B5EF4-FFF2-40B4-BE49-F238E27FC236}">
                <a16:creationId xmlns:a16="http://schemas.microsoft.com/office/drawing/2014/main" id="{A95BDE5A-9779-A542-AF26-5F7ADC0484B3}"/>
              </a:ext>
            </a:extLst>
          </p:cNvPr>
          <p:cNvCxnSpPr>
            <a:cxnSpLocks/>
            <a:stCxn id="15" idx="6"/>
            <a:endCxn id="23" idx="2"/>
          </p:cNvCxnSpPr>
          <p:nvPr/>
        </p:nvCxnSpPr>
        <p:spPr>
          <a:xfrm>
            <a:off x="4114800" y="2969821"/>
            <a:ext cx="1750621" cy="2783279"/>
          </a:xfrm>
          <a:prstGeom prst="line">
            <a:avLst/>
          </a:prstGeom>
          <a:ln w="28575"/>
        </p:spPr>
        <p:style>
          <a:lnRef idx="1">
            <a:schemeClr val="dk1"/>
          </a:lnRef>
          <a:fillRef idx="0">
            <a:schemeClr val="dk1"/>
          </a:fillRef>
          <a:effectRef idx="0">
            <a:schemeClr val="dk1"/>
          </a:effectRef>
          <a:fontRef idx="minor">
            <a:schemeClr val="tx1"/>
          </a:fontRef>
        </p:style>
      </p:cxnSp>
      <p:cxnSp>
        <p:nvCxnSpPr>
          <p:cNvPr id="154" name="Straight Connector 153">
            <a:extLst>
              <a:ext uri="{FF2B5EF4-FFF2-40B4-BE49-F238E27FC236}">
                <a16:creationId xmlns:a16="http://schemas.microsoft.com/office/drawing/2014/main" id="{587368D1-F990-D944-BA26-0CC51A917895}"/>
              </a:ext>
            </a:extLst>
          </p:cNvPr>
          <p:cNvCxnSpPr>
            <a:cxnSpLocks/>
            <a:endCxn id="25" idx="2"/>
          </p:cNvCxnSpPr>
          <p:nvPr/>
        </p:nvCxnSpPr>
        <p:spPr>
          <a:xfrm>
            <a:off x="4117768" y="2996184"/>
            <a:ext cx="1747653" cy="3366516"/>
          </a:xfrm>
          <a:prstGeom prst="line">
            <a:avLst/>
          </a:prstGeom>
          <a:ln w="28575"/>
        </p:spPr>
        <p:style>
          <a:lnRef idx="1">
            <a:schemeClr val="dk1"/>
          </a:lnRef>
          <a:fillRef idx="0">
            <a:schemeClr val="dk1"/>
          </a:fillRef>
          <a:effectRef idx="0">
            <a:schemeClr val="dk1"/>
          </a:effectRef>
          <a:fontRef idx="minor">
            <a:schemeClr val="tx1"/>
          </a:fontRef>
        </p:style>
      </p:cxnSp>
      <p:cxnSp>
        <p:nvCxnSpPr>
          <p:cNvPr id="157" name="Straight Connector 156">
            <a:extLst>
              <a:ext uri="{FF2B5EF4-FFF2-40B4-BE49-F238E27FC236}">
                <a16:creationId xmlns:a16="http://schemas.microsoft.com/office/drawing/2014/main" id="{1EBDECDF-52DC-0A4D-9BA4-BB4AA08C8B98}"/>
              </a:ext>
            </a:extLst>
          </p:cNvPr>
          <p:cNvCxnSpPr>
            <a:cxnSpLocks/>
          </p:cNvCxnSpPr>
          <p:nvPr/>
        </p:nvCxnSpPr>
        <p:spPr>
          <a:xfrm flipV="1">
            <a:off x="4117768" y="2123384"/>
            <a:ext cx="1742706" cy="1968555"/>
          </a:xfrm>
          <a:prstGeom prst="line">
            <a:avLst/>
          </a:prstGeom>
          <a:ln w="28575"/>
        </p:spPr>
        <p:style>
          <a:lnRef idx="1">
            <a:schemeClr val="dk1"/>
          </a:lnRef>
          <a:fillRef idx="0">
            <a:schemeClr val="dk1"/>
          </a:fillRef>
          <a:effectRef idx="0">
            <a:schemeClr val="dk1"/>
          </a:effectRef>
          <a:fontRef idx="minor">
            <a:schemeClr val="tx1"/>
          </a:fontRef>
        </p:style>
      </p:cxnSp>
      <p:cxnSp>
        <p:nvCxnSpPr>
          <p:cNvPr id="160" name="Straight Connector 159">
            <a:extLst>
              <a:ext uri="{FF2B5EF4-FFF2-40B4-BE49-F238E27FC236}">
                <a16:creationId xmlns:a16="http://schemas.microsoft.com/office/drawing/2014/main" id="{3FF110E6-2EB0-564C-AB9B-4D999D58F9D4}"/>
              </a:ext>
            </a:extLst>
          </p:cNvPr>
          <p:cNvCxnSpPr>
            <a:cxnSpLocks/>
            <a:endCxn id="18" idx="2"/>
          </p:cNvCxnSpPr>
          <p:nvPr/>
        </p:nvCxnSpPr>
        <p:spPr>
          <a:xfrm flipV="1">
            <a:off x="4108894" y="2705100"/>
            <a:ext cx="1756527" cy="1386840"/>
          </a:xfrm>
          <a:prstGeom prst="line">
            <a:avLst/>
          </a:prstGeom>
          <a:ln w="28575"/>
        </p:spPr>
        <p:style>
          <a:lnRef idx="1">
            <a:schemeClr val="dk1"/>
          </a:lnRef>
          <a:fillRef idx="0">
            <a:schemeClr val="dk1"/>
          </a:fillRef>
          <a:effectRef idx="0">
            <a:schemeClr val="dk1"/>
          </a:effectRef>
          <a:fontRef idx="minor">
            <a:schemeClr val="tx1"/>
          </a:fontRef>
        </p:style>
      </p:cxnSp>
      <p:cxnSp>
        <p:nvCxnSpPr>
          <p:cNvPr id="165" name="Straight Connector 164">
            <a:extLst>
              <a:ext uri="{FF2B5EF4-FFF2-40B4-BE49-F238E27FC236}">
                <a16:creationId xmlns:a16="http://schemas.microsoft.com/office/drawing/2014/main" id="{EB50F085-577A-434F-8E0E-516959178510}"/>
              </a:ext>
            </a:extLst>
          </p:cNvPr>
          <p:cNvCxnSpPr>
            <a:cxnSpLocks/>
            <a:endCxn id="19" idx="2"/>
          </p:cNvCxnSpPr>
          <p:nvPr/>
        </p:nvCxnSpPr>
        <p:spPr>
          <a:xfrm flipV="1">
            <a:off x="4122716" y="3314700"/>
            <a:ext cx="1742705" cy="773430"/>
          </a:xfrm>
          <a:prstGeom prst="line">
            <a:avLst/>
          </a:prstGeom>
          <a:ln w="28575"/>
        </p:spPr>
        <p:style>
          <a:lnRef idx="1">
            <a:schemeClr val="dk1"/>
          </a:lnRef>
          <a:fillRef idx="0">
            <a:schemeClr val="dk1"/>
          </a:fillRef>
          <a:effectRef idx="0">
            <a:schemeClr val="dk1"/>
          </a:effectRef>
          <a:fontRef idx="minor">
            <a:schemeClr val="tx1"/>
          </a:fontRef>
        </p:style>
      </p:cxnSp>
      <p:cxnSp>
        <p:nvCxnSpPr>
          <p:cNvPr id="168" name="Straight Connector 167">
            <a:extLst>
              <a:ext uri="{FF2B5EF4-FFF2-40B4-BE49-F238E27FC236}">
                <a16:creationId xmlns:a16="http://schemas.microsoft.com/office/drawing/2014/main" id="{D786C8DE-B75C-2442-BAC4-27A6C4AB4EE9}"/>
              </a:ext>
            </a:extLst>
          </p:cNvPr>
          <p:cNvCxnSpPr>
            <a:cxnSpLocks/>
            <a:endCxn id="20" idx="2"/>
          </p:cNvCxnSpPr>
          <p:nvPr/>
        </p:nvCxnSpPr>
        <p:spPr>
          <a:xfrm flipV="1">
            <a:off x="4117768" y="3924300"/>
            <a:ext cx="1745674" cy="163830"/>
          </a:xfrm>
          <a:prstGeom prst="line">
            <a:avLst/>
          </a:prstGeom>
          <a:ln w="28575"/>
        </p:spPr>
        <p:style>
          <a:lnRef idx="1">
            <a:schemeClr val="dk1"/>
          </a:lnRef>
          <a:fillRef idx="0">
            <a:schemeClr val="dk1"/>
          </a:fillRef>
          <a:effectRef idx="0">
            <a:schemeClr val="dk1"/>
          </a:effectRef>
          <a:fontRef idx="minor">
            <a:schemeClr val="tx1"/>
          </a:fontRef>
        </p:style>
      </p:cxnSp>
      <p:cxnSp>
        <p:nvCxnSpPr>
          <p:cNvPr id="171" name="Straight Connector 170">
            <a:extLst>
              <a:ext uri="{FF2B5EF4-FFF2-40B4-BE49-F238E27FC236}">
                <a16:creationId xmlns:a16="http://schemas.microsoft.com/office/drawing/2014/main" id="{3DB0A451-42CF-C142-A193-4F7D3E8CCF08}"/>
              </a:ext>
            </a:extLst>
          </p:cNvPr>
          <p:cNvCxnSpPr>
            <a:cxnSpLocks/>
            <a:endCxn id="21" idx="2"/>
          </p:cNvCxnSpPr>
          <p:nvPr/>
        </p:nvCxnSpPr>
        <p:spPr>
          <a:xfrm>
            <a:off x="4123674" y="4088130"/>
            <a:ext cx="1743726" cy="445770"/>
          </a:xfrm>
          <a:prstGeom prst="line">
            <a:avLst/>
          </a:prstGeom>
          <a:ln w="28575"/>
        </p:spPr>
        <p:style>
          <a:lnRef idx="1">
            <a:schemeClr val="dk1"/>
          </a:lnRef>
          <a:fillRef idx="0">
            <a:schemeClr val="dk1"/>
          </a:fillRef>
          <a:effectRef idx="0">
            <a:schemeClr val="dk1"/>
          </a:effectRef>
          <a:fontRef idx="minor">
            <a:schemeClr val="tx1"/>
          </a:fontRef>
        </p:style>
      </p:cxnSp>
      <p:cxnSp>
        <p:nvCxnSpPr>
          <p:cNvPr id="174" name="Straight Connector 173">
            <a:extLst>
              <a:ext uri="{FF2B5EF4-FFF2-40B4-BE49-F238E27FC236}">
                <a16:creationId xmlns:a16="http://schemas.microsoft.com/office/drawing/2014/main" id="{06B6CE7C-5BDE-4A44-B96A-724BDFA0EA5F}"/>
              </a:ext>
            </a:extLst>
          </p:cNvPr>
          <p:cNvCxnSpPr>
            <a:cxnSpLocks/>
            <a:endCxn id="22" idx="2"/>
          </p:cNvCxnSpPr>
          <p:nvPr/>
        </p:nvCxnSpPr>
        <p:spPr>
          <a:xfrm>
            <a:off x="4122716" y="4076699"/>
            <a:ext cx="1744684" cy="1066801"/>
          </a:xfrm>
          <a:prstGeom prst="line">
            <a:avLst/>
          </a:prstGeom>
          <a:ln w="28575"/>
        </p:spPr>
        <p:style>
          <a:lnRef idx="1">
            <a:schemeClr val="dk1"/>
          </a:lnRef>
          <a:fillRef idx="0">
            <a:schemeClr val="dk1"/>
          </a:fillRef>
          <a:effectRef idx="0">
            <a:schemeClr val="dk1"/>
          </a:effectRef>
          <a:fontRef idx="minor">
            <a:schemeClr val="tx1"/>
          </a:fontRef>
        </p:style>
      </p:cxnSp>
      <p:cxnSp>
        <p:nvCxnSpPr>
          <p:cNvPr id="178" name="Straight Connector 177">
            <a:extLst>
              <a:ext uri="{FF2B5EF4-FFF2-40B4-BE49-F238E27FC236}">
                <a16:creationId xmlns:a16="http://schemas.microsoft.com/office/drawing/2014/main" id="{603F59D7-12C1-2E4C-899D-CCDA050F7E5F}"/>
              </a:ext>
            </a:extLst>
          </p:cNvPr>
          <p:cNvCxnSpPr>
            <a:cxnSpLocks/>
            <a:endCxn id="23" idx="2"/>
          </p:cNvCxnSpPr>
          <p:nvPr/>
        </p:nvCxnSpPr>
        <p:spPr>
          <a:xfrm>
            <a:off x="4117768" y="4076699"/>
            <a:ext cx="1747653" cy="1676401"/>
          </a:xfrm>
          <a:prstGeom prst="line">
            <a:avLst/>
          </a:prstGeom>
          <a:ln w="28575"/>
        </p:spPr>
        <p:style>
          <a:lnRef idx="1">
            <a:schemeClr val="dk1"/>
          </a:lnRef>
          <a:fillRef idx="0">
            <a:schemeClr val="dk1"/>
          </a:fillRef>
          <a:effectRef idx="0">
            <a:schemeClr val="dk1"/>
          </a:effectRef>
          <a:fontRef idx="minor">
            <a:schemeClr val="tx1"/>
          </a:fontRef>
        </p:style>
      </p:cxnSp>
      <p:cxnSp>
        <p:nvCxnSpPr>
          <p:cNvPr id="181" name="Straight Connector 180">
            <a:extLst>
              <a:ext uri="{FF2B5EF4-FFF2-40B4-BE49-F238E27FC236}">
                <a16:creationId xmlns:a16="http://schemas.microsoft.com/office/drawing/2014/main" id="{9DE6BC36-53DC-DF43-9ACA-D9CC74A66992}"/>
              </a:ext>
            </a:extLst>
          </p:cNvPr>
          <p:cNvCxnSpPr>
            <a:cxnSpLocks/>
            <a:endCxn id="25" idx="2"/>
          </p:cNvCxnSpPr>
          <p:nvPr/>
        </p:nvCxnSpPr>
        <p:spPr>
          <a:xfrm>
            <a:off x="4119747" y="4076699"/>
            <a:ext cx="1745674" cy="2286001"/>
          </a:xfrm>
          <a:prstGeom prst="line">
            <a:avLst/>
          </a:prstGeom>
          <a:ln w="28575"/>
        </p:spPr>
        <p:style>
          <a:lnRef idx="1">
            <a:schemeClr val="dk1"/>
          </a:lnRef>
          <a:fillRef idx="0">
            <a:schemeClr val="dk1"/>
          </a:fillRef>
          <a:effectRef idx="0">
            <a:schemeClr val="dk1"/>
          </a:effectRef>
          <a:fontRef idx="minor">
            <a:schemeClr val="tx1"/>
          </a:fontRef>
        </p:style>
      </p:cxnSp>
      <p:cxnSp>
        <p:nvCxnSpPr>
          <p:cNvPr id="184" name="Straight Connector 183">
            <a:extLst>
              <a:ext uri="{FF2B5EF4-FFF2-40B4-BE49-F238E27FC236}">
                <a16:creationId xmlns:a16="http://schemas.microsoft.com/office/drawing/2014/main" id="{7BF441FF-C8B6-9E46-8EFF-1B2D68709752}"/>
              </a:ext>
            </a:extLst>
          </p:cNvPr>
          <p:cNvCxnSpPr>
            <a:cxnSpLocks/>
            <a:stCxn id="17" idx="7"/>
            <a:endCxn id="24" idx="2"/>
          </p:cNvCxnSpPr>
          <p:nvPr/>
        </p:nvCxnSpPr>
        <p:spPr>
          <a:xfrm flipV="1">
            <a:off x="4036685" y="2095500"/>
            <a:ext cx="1828736" cy="3088015"/>
          </a:xfrm>
          <a:prstGeom prst="line">
            <a:avLst/>
          </a:prstGeom>
          <a:ln w="28575"/>
        </p:spPr>
        <p:style>
          <a:lnRef idx="1">
            <a:schemeClr val="dk1"/>
          </a:lnRef>
          <a:fillRef idx="0">
            <a:schemeClr val="dk1"/>
          </a:fillRef>
          <a:effectRef idx="0">
            <a:schemeClr val="dk1"/>
          </a:effectRef>
          <a:fontRef idx="minor">
            <a:schemeClr val="tx1"/>
          </a:fontRef>
        </p:style>
      </p:cxnSp>
      <p:cxnSp>
        <p:nvCxnSpPr>
          <p:cNvPr id="187" name="Straight Connector 186">
            <a:extLst>
              <a:ext uri="{FF2B5EF4-FFF2-40B4-BE49-F238E27FC236}">
                <a16:creationId xmlns:a16="http://schemas.microsoft.com/office/drawing/2014/main" id="{1C0650AA-5AFE-7643-8015-7F3A67E34C58}"/>
              </a:ext>
            </a:extLst>
          </p:cNvPr>
          <p:cNvCxnSpPr>
            <a:cxnSpLocks/>
            <a:stCxn id="17" idx="7"/>
            <a:endCxn id="18" idx="2"/>
          </p:cNvCxnSpPr>
          <p:nvPr/>
        </p:nvCxnSpPr>
        <p:spPr>
          <a:xfrm flipV="1">
            <a:off x="4036685" y="2705100"/>
            <a:ext cx="1828736" cy="2478415"/>
          </a:xfrm>
          <a:prstGeom prst="line">
            <a:avLst/>
          </a:prstGeom>
          <a:ln w="28575"/>
        </p:spPr>
        <p:style>
          <a:lnRef idx="1">
            <a:schemeClr val="dk1"/>
          </a:lnRef>
          <a:fillRef idx="0">
            <a:schemeClr val="dk1"/>
          </a:fillRef>
          <a:effectRef idx="0">
            <a:schemeClr val="dk1"/>
          </a:effectRef>
          <a:fontRef idx="minor">
            <a:schemeClr val="tx1"/>
          </a:fontRef>
        </p:style>
      </p:cxnSp>
      <p:cxnSp>
        <p:nvCxnSpPr>
          <p:cNvPr id="190" name="Straight Connector 189">
            <a:extLst>
              <a:ext uri="{FF2B5EF4-FFF2-40B4-BE49-F238E27FC236}">
                <a16:creationId xmlns:a16="http://schemas.microsoft.com/office/drawing/2014/main" id="{1AB45CB1-1B0D-584B-97FE-A7F2539D371B}"/>
              </a:ext>
            </a:extLst>
          </p:cNvPr>
          <p:cNvCxnSpPr>
            <a:cxnSpLocks/>
            <a:stCxn id="17" idx="7"/>
            <a:endCxn id="19" idx="2"/>
          </p:cNvCxnSpPr>
          <p:nvPr/>
        </p:nvCxnSpPr>
        <p:spPr>
          <a:xfrm flipV="1">
            <a:off x="4036685" y="3314700"/>
            <a:ext cx="1828736" cy="1868815"/>
          </a:xfrm>
          <a:prstGeom prst="line">
            <a:avLst/>
          </a:prstGeom>
          <a:ln w="28575"/>
        </p:spPr>
        <p:style>
          <a:lnRef idx="1">
            <a:schemeClr val="dk1"/>
          </a:lnRef>
          <a:fillRef idx="0">
            <a:schemeClr val="dk1"/>
          </a:fillRef>
          <a:effectRef idx="0">
            <a:schemeClr val="dk1"/>
          </a:effectRef>
          <a:fontRef idx="minor">
            <a:schemeClr val="tx1"/>
          </a:fontRef>
        </p:style>
      </p:cxnSp>
      <p:cxnSp>
        <p:nvCxnSpPr>
          <p:cNvPr id="193" name="Straight Connector 192">
            <a:extLst>
              <a:ext uri="{FF2B5EF4-FFF2-40B4-BE49-F238E27FC236}">
                <a16:creationId xmlns:a16="http://schemas.microsoft.com/office/drawing/2014/main" id="{0ADD363D-8B62-FC45-BBAF-319CD0FB238D}"/>
              </a:ext>
            </a:extLst>
          </p:cNvPr>
          <p:cNvCxnSpPr>
            <a:cxnSpLocks/>
            <a:stCxn id="17" idx="7"/>
          </p:cNvCxnSpPr>
          <p:nvPr/>
        </p:nvCxnSpPr>
        <p:spPr>
          <a:xfrm flipV="1">
            <a:off x="4036685" y="3923343"/>
            <a:ext cx="1817883" cy="1260172"/>
          </a:xfrm>
          <a:prstGeom prst="line">
            <a:avLst/>
          </a:prstGeom>
          <a:ln w="28575"/>
        </p:spPr>
        <p:style>
          <a:lnRef idx="1">
            <a:schemeClr val="dk1"/>
          </a:lnRef>
          <a:fillRef idx="0">
            <a:schemeClr val="dk1"/>
          </a:fillRef>
          <a:effectRef idx="0">
            <a:schemeClr val="dk1"/>
          </a:effectRef>
          <a:fontRef idx="minor">
            <a:schemeClr val="tx1"/>
          </a:fontRef>
        </p:style>
      </p:cxnSp>
      <p:cxnSp>
        <p:nvCxnSpPr>
          <p:cNvPr id="196" name="Straight Connector 195">
            <a:extLst>
              <a:ext uri="{FF2B5EF4-FFF2-40B4-BE49-F238E27FC236}">
                <a16:creationId xmlns:a16="http://schemas.microsoft.com/office/drawing/2014/main" id="{534135AE-C435-D64E-AA08-0D0030B432B8}"/>
              </a:ext>
            </a:extLst>
          </p:cNvPr>
          <p:cNvCxnSpPr>
            <a:cxnSpLocks/>
            <a:stCxn id="17" idx="7"/>
          </p:cNvCxnSpPr>
          <p:nvPr/>
        </p:nvCxnSpPr>
        <p:spPr>
          <a:xfrm flipV="1">
            <a:off x="4036685" y="4526281"/>
            <a:ext cx="1817883" cy="657234"/>
          </a:xfrm>
          <a:prstGeom prst="line">
            <a:avLst/>
          </a:prstGeom>
          <a:ln w="28575"/>
        </p:spPr>
        <p:style>
          <a:lnRef idx="1">
            <a:schemeClr val="dk1"/>
          </a:lnRef>
          <a:fillRef idx="0">
            <a:schemeClr val="dk1"/>
          </a:fillRef>
          <a:effectRef idx="0">
            <a:schemeClr val="dk1"/>
          </a:effectRef>
          <a:fontRef idx="minor">
            <a:schemeClr val="tx1"/>
          </a:fontRef>
        </p:style>
      </p:cxnSp>
      <p:cxnSp>
        <p:nvCxnSpPr>
          <p:cNvPr id="207" name="Straight Connector 206">
            <a:extLst>
              <a:ext uri="{FF2B5EF4-FFF2-40B4-BE49-F238E27FC236}">
                <a16:creationId xmlns:a16="http://schemas.microsoft.com/office/drawing/2014/main" id="{3FBFF0A4-0C35-8647-B007-BF69D24C0E97}"/>
              </a:ext>
            </a:extLst>
          </p:cNvPr>
          <p:cNvCxnSpPr>
            <a:cxnSpLocks/>
            <a:stCxn id="17" idx="7"/>
            <a:endCxn id="22" idx="2"/>
          </p:cNvCxnSpPr>
          <p:nvPr/>
        </p:nvCxnSpPr>
        <p:spPr>
          <a:xfrm flipV="1">
            <a:off x="4036685" y="5143500"/>
            <a:ext cx="1830715" cy="40015"/>
          </a:xfrm>
          <a:prstGeom prst="line">
            <a:avLst/>
          </a:prstGeom>
          <a:ln w="28575"/>
        </p:spPr>
        <p:style>
          <a:lnRef idx="1">
            <a:schemeClr val="dk1"/>
          </a:lnRef>
          <a:fillRef idx="0">
            <a:schemeClr val="dk1"/>
          </a:fillRef>
          <a:effectRef idx="0">
            <a:schemeClr val="dk1"/>
          </a:effectRef>
          <a:fontRef idx="minor">
            <a:schemeClr val="tx1"/>
          </a:fontRef>
        </p:style>
      </p:cxnSp>
      <p:cxnSp>
        <p:nvCxnSpPr>
          <p:cNvPr id="210" name="Straight Connector 209">
            <a:extLst>
              <a:ext uri="{FF2B5EF4-FFF2-40B4-BE49-F238E27FC236}">
                <a16:creationId xmlns:a16="http://schemas.microsoft.com/office/drawing/2014/main" id="{7C093255-E26A-A64B-9A5D-AB76A5666C72}"/>
              </a:ext>
            </a:extLst>
          </p:cNvPr>
          <p:cNvCxnSpPr>
            <a:cxnSpLocks/>
            <a:stCxn id="17" idx="7"/>
            <a:endCxn id="23" idx="2"/>
          </p:cNvCxnSpPr>
          <p:nvPr/>
        </p:nvCxnSpPr>
        <p:spPr>
          <a:xfrm>
            <a:off x="4036685" y="5183515"/>
            <a:ext cx="1828736" cy="569585"/>
          </a:xfrm>
          <a:prstGeom prst="line">
            <a:avLst/>
          </a:prstGeom>
          <a:ln w="28575"/>
        </p:spPr>
        <p:style>
          <a:lnRef idx="1">
            <a:schemeClr val="dk1"/>
          </a:lnRef>
          <a:fillRef idx="0">
            <a:schemeClr val="dk1"/>
          </a:fillRef>
          <a:effectRef idx="0">
            <a:schemeClr val="dk1"/>
          </a:effectRef>
          <a:fontRef idx="minor">
            <a:schemeClr val="tx1"/>
          </a:fontRef>
        </p:style>
      </p:cxnSp>
      <p:cxnSp>
        <p:nvCxnSpPr>
          <p:cNvPr id="213" name="Straight Connector 212">
            <a:extLst>
              <a:ext uri="{FF2B5EF4-FFF2-40B4-BE49-F238E27FC236}">
                <a16:creationId xmlns:a16="http://schemas.microsoft.com/office/drawing/2014/main" id="{478440D9-42E6-DE49-A7D5-1E04DFA629CE}"/>
              </a:ext>
            </a:extLst>
          </p:cNvPr>
          <p:cNvCxnSpPr>
            <a:cxnSpLocks/>
            <a:stCxn id="17" idx="7"/>
            <a:endCxn id="25" idx="2"/>
          </p:cNvCxnSpPr>
          <p:nvPr/>
        </p:nvCxnSpPr>
        <p:spPr>
          <a:xfrm>
            <a:off x="4036685" y="5183515"/>
            <a:ext cx="1828736" cy="1179185"/>
          </a:xfrm>
          <a:prstGeom prst="line">
            <a:avLst/>
          </a:prstGeom>
          <a:ln w="28575"/>
        </p:spPr>
        <p:style>
          <a:lnRef idx="1">
            <a:schemeClr val="dk1"/>
          </a:lnRef>
          <a:fillRef idx="0">
            <a:schemeClr val="dk1"/>
          </a:fillRef>
          <a:effectRef idx="0">
            <a:schemeClr val="dk1"/>
          </a:effectRef>
          <a:fontRef idx="minor">
            <a:schemeClr val="tx1"/>
          </a:fontRef>
        </p:style>
      </p:cxnSp>
      <p:grpSp>
        <p:nvGrpSpPr>
          <p:cNvPr id="76" name="Group 75">
            <a:extLst>
              <a:ext uri="{FF2B5EF4-FFF2-40B4-BE49-F238E27FC236}">
                <a16:creationId xmlns:a16="http://schemas.microsoft.com/office/drawing/2014/main" id="{4440B9F7-CCBC-C34A-828B-F8797096FDD1}"/>
              </a:ext>
            </a:extLst>
          </p:cNvPr>
          <p:cNvGrpSpPr/>
          <p:nvPr/>
        </p:nvGrpSpPr>
        <p:grpSpPr>
          <a:xfrm>
            <a:off x="642264" y="1904997"/>
            <a:ext cx="661050" cy="4648203"/>
            <a:chOff x="856144" y="3124199"/>
            <a:chExt cx="1277456" cy="2209801"/>
          </a:xfrm>
        </p:grpSpPr>
        <p:sp>
          <p:nvSpPr>
            <p:cNvPr id="77" name="TextBox 76">
              <a:extLst>
                <a:ext uri="{FF2B5EF4-FFF2-40B4-BE49-F238E27FC236}">
                  <a16:creationId xmlns:a16="http://schemas.microsoft.com/office/drawing/2014/main" id="{904C049D-063F-AA49-8FE5-F37E6C55B503}"/>
                </a:ext>
              </a:extLst>
            </p:cNvPr>
            <p:cNvSpPr txBox="1"/>
            <p:nvPr/>
          </p:nvSpPr>
          <p:spPr>
            <a:xfrm rot="16200000">
              <a:off x="155198" y="3825145"/>
              <a:ext cx="2115614" cy="713721"/>
            </a:xfrm>
            <a:prstGeom prst="rect">
              <a:avLst/>
            </a:prstGeom>
            <a:noFill/>
          </p:spPr>
          <p:txBody>
            <a:bodyPr wrap="square" rtlCol="0">
              <a:spAutoFit/>
            </a:bodyPr>
            <a:lstStyle/>
            <a:p>
              <a:pPr algn="ctr"/>
              <a:r>
                <a:rPr lang="en-US" dirty="0">
                  <a:solidFill>
                    <a:srgbClr val="D60093"/>
                  </a:solidFill>
                </a:rPr>
                <a:t>Target word = books</a:t>
              </a:r>
              <a:endParaRPr lang="en-US" dirty="0">
                <a:solidFill>
                  <a:srgbClr val="D60093"/>
                </a:solidFill>
                <a:latin typeface="Arial" pitchFamily="34" charset="0"/>
                <a:cs typeface="Arial" pitchFamily="34" charset="0"/>
              </a:endParaRPr>
            </a:p>
          </p:txBody>
        </p:sp>
        <p:sp>
          <p:nvSpPr>
            <p:cNvPr id="79" name="Left Brace 78">
              <a:extLst>
                <a:ext uri="{FF2B5EF4-FFF2-40B4-BE49-F238E27FC236}">
                  <a16:creationId xmlns:a16="http://schemas.microsoft.com/office/drawing/2014/main" id="{3FD0ABCC-5EDB-0347-8A22-3C0D19BBDBBE}"/>
                </a:ext>
              </a:extLst>
            </p:cNvPr>
            <p:cNvSpPr/>
            <p:nvPr/>
          </p:nvSpPr>
          <p:spPr>
            <a:xfrm>
              <a:off x="1569865" y="3124200"/>
              <a:ext cx="563735" cy="2209800"/>
            </a:xfrm>
            <a:prstGeom prst="leftBrace">
              <a:avLst/>
            </a:prstGeom>
            <a:ln w="28575">
              <a:solidFill>
                <a:srgbClr val="D60093"/>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sp>
        <p:nvSpPr>
          <p:cNvPr id="29" name="TextBox 28">
            <a:extLst>
              <a:ext uri="{FF2B5EF4-FFF2-40B4-BE49-F238E27FC236}">
                <a16:creationId xmlns:a16="http://schemas.microsoft.com/office/drawing/2014/main" id="{0989CABD-8ACB-D341-B194-735DBFB8EC4F}"/>
              </a:ext>
            </a:extLst>
          </p:cNvPr>
          <p:cNvSpPr txBox="1"/>
          <p:nvPr/>
        </p:nvSpPr>
        <p:spPr>
          <a:xfrm>
            <a:off x="2971800" y="6019800"/>
            <a:ext cx="2133600" cy="369332"/>
          </a:xfrm>
          <a:prstGeom prst="rect">
            <a:avLst/>
          </a:prstGeom>
          <a:noFill/>
        </p:spPr>
        <p:txBody>
          <a:bodyPr wrap="square" rtlCol="0">
            <a:spAutoFit/>
          </a:bodyPr>
          <a:lstStyle/>
          <a:p>
            <a:r>
              <a:rPr lang="en-US" dirty="0">
                <a:solidFill>
                  <a:srgbClr val="0000FF"/>
                </a:solidFill>
                <a:latin typeface="Arial" pitchFamily="34" charset="0"/>
                <a:cs typeface="Arial" pitchFamily="34" charset="0"/>
              </a:rPr>
              <a:t>3-dim embedding</a:t>
            </a:r>
          </a:p>
        </p:txBody>
      </p:sp>
      <p:sp>
        <p:nvSpPr>
          <p:cNvPr id="89" name="Title 1">
            <a:extLst>
              <a:ext uri="{FF2B5EF4-FFF2-40B4-BE49-F238E27FC236}">
                <a16:creationId xmlns:a16="http://schemas.microsoft.com/office/drawing/2014/main" id="{B19AD8C4-BEA1-314E-8896-166397774656}"/>
              </a:ext>
            </a:extLst>
          </p:cNvPr>
          <p:cNvSpPr>
            <a:spLocks noGrp="1"/>
          </p:cNvSpPr>
          <p:nvPr>
            <p:ph type="title"/>
          </p:nvPr>
        </p:nvSpPr>
        <p:spPr>
          <a:xfrm>
            <a:off x="457200" y="76200"/>
            <a:ext cx="8229600" cy="987552"/>
          </a:xfrm>
        </p:spPr>
        <p:txBody>
          <a:bodyPr/>
          <a:lstStyle/>
          <a:p>
            <a:r>
              <a:rPr lang="en-US" dirty="0"/>
              <a:t>Word2Vec: Example</a:t>
            </a:r>
          </a:p>
        </p:txBody>
      </p:sp>
      <p:sp>
        <p:nvSpPr>
          <p:cNvPr id="82" name="TextBox 81">
            <a:extLst>
              <a:ext uri="{FF2B5EF4-FFF2-40B4-BE49-F238E27FC236}">
                <a16:creationId xmlns:a16="http://schemas.microsoft.com/office/drawing/2014/main" id="{7B4B38B5-5293-CE4E-812D-A2ABE52C2109}"/>
              </a:ext>
            </a:extLst>
          </p:cNvPr>
          <p:cNvSpPr txBox="1"/>
          <p:nvPr/>
        </p:nvSpPr>
        <p:spPr>
          <a:xfrm>
            <a:off x="2266120" y="2003273"/>
            <a:ext cx="1089275" cy="369332"/>
          </a:xfrm>
          <a:prstGeom prst="rect">
            <a:avLst/>
          </a:prstGeom>
          <a:noFill/>
        </p:spPr>
        <p:txBody>
          <a:bodyPr wrap="square" rtlCol="0">
            <a:spAutoFit/>
          </a:bodyPr>
          <a:lstStyle/>
          <a:p>
            <a:r>
              <a:rPr lang="en-US" b="1" dirty="0" err="1">
                <a:solidFill>
                  <a:srgbClr val="0000FF"/>
                </a:solidFill>
                <a:latin typeface="Arial" pitchFamily="34" charset="0"/>
                <a:cs typeface="Arial" pitchFamily="34" charset="0"/>
              </a:rPr>
              <a:t>W</a:t>
            </a:r>
            <a:r>
              <a:rPr lang="en-US" b="1" baseline="-25000" dirty="0" err="1">
                <a:solidFill>
                  <a:srgbClr val="0000FF"/>
                </a:solidFill>
                <a:latin typeface="Arial" pitchFamily="34" charset="0"/>
                <a:cs typeface="Arial" pitchFamily="34" charset="0"/>
              </a:rPr>
              <a:t>VxN</a:t>
            </a:r>
            <a:endParaRPr lang="en-US" b="1" baseline="-25000" dirty="0">
              <a:solidFill>
                <a:srgbClr val="0000FF"/>
              </a:solidFill>
              <a:latin typeface="Arial" pitchFamily="34" charset="0"/>
              <a:cs typeface="Arial" pitchFamily="34" charset="0"/>
            </a:endParaRPr>
          </a:p>
        </p:txBody>
      </p:sp>
      <p:sp>
        <p:nvSpPr>
          <p:cNvPr id="83" name="TextBox 82">
            <a:extLst>
              <a:ext uri="{FF2B5EF4-FFF2-40B4-BE49-F238E27FC236}">
                <a16:creationId xmlns:a16="http://schemas.microsoft.com/office/drawing/2014/main" id="{44D429D3-60E6-2D40-AA00-0E9C18A8B216}"/>
              </a:ext>
            </a:extLst>
          </p:cNvPr>
          <p:cNvSpPr txBox="1"/>
          <p:nvPr/>
        </p:nvSpPr>
        <p:spPr>
          <a:xfrm>
            <a:off x="4284925" y="2041890"/>
            <a:ext cx="1089275" cy="369332"/>
          </a:xfrm>
          <a:prstGeom prst="rect">
            <a:avLst/>
          </a:prstGeom>
          <a:noFill/>
        </p:spPr>
        <p:txBody>
          <a:bodyPr wrap="square" rtlCol="0">
            <a:spAutoFit/>
          </a:bodyPr>
          <a:lstStyle/>
          <a:p>
            <a:r>
              <a:rPr lang="en-US" b="1" dirty="0" err="1">
                <a:solidFill>
                  <a:srgbClr val="0000FF"/>
                </a:solidFill>
                <a:latin typeface="Arial" pitchFamily="34" charset="0"/>
                <a:cs typeface="Arial" pitchFamily="34" charset="0"/>
              </a:rPr>
              <a:t>W’</a:t>
            </a:r>
            <a:r>
              <a:rPr lang="en-US" b="1" baseline="-25000" dirty="0" err="1">
                <a:solidFill>
                  <a:srgbClr val="0000FF"/>
                </a:solidFill>
                <a:latin typeface="Arial" pitchFamily="34" charset="0"/>
                <a:cs typeface="Arial" pitchFamily="34" charset="0"/>
              </a:rPr>
              <a:t>NxV</a:t>
            </a:r>
            <a:endParaRPr lang="en-US" b="1" baseline="-25000" dirty="0">
              <a:solidFill>
                <a:srgbClr val="0000FF"/>
              </a:solidFill>
              <a:latin typeface="Arial" pitchFamily="34" charset="0"/>
              <a:cs typeface="Arial" pitchFamily="34" charset="0"/>
            </a:endParaRPr>
          </a:p>
        </p:txBody>
      </p:sp>
    </p:spTree>
    <p:extLst>
      <p:ext uri="{BB962C8B-B14F-4D97-AF65-F5344CB8AC3E}">
        <p14:creationId xmlns:p14="http://schemas.microsoft.com/office/powerpoint/2010/main" val="17392676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3EF999-0E22-E646-AE46-E78AE2A30EEA}"/>
              </a:ext>
            </a:extLst>
          </p:cNvPr>
          <p:cNvSpPr>
            <a:spLocks noGrp="1"/>
          </p:cNvSpPr>
          <p:nvPr>
            <p:ph idx="1"/>
          </p:nvPr>
        </p:nvSpPr>
        <p:spPr/>
        <p:txBody>
          <a:bodyPr/>
          <a:lstStyle/>
          <a:p>
            <a:r>
              <a:rPr lang="en-US" sz="2600" dirty="0"/>
              <a:t>If </a:t>
            </a:r>
            <a:r>
              <a:rPr lang="en-US" sz="2600" dirty="0" err="1">
                <a:solidFill>
                  <a:srgbClr val="0000FF"/>
                </a:solidFill>
              </a:rPr>
              <a:t>W’</a:t>
            </a:r>
            <a:r>
              <a:rPr lang="en-US" sz="2600" baseline="-25000" dirty="0" err="1">
                <a:solidFill>
                  <a:srgbClr val="0000FF"/>
                </a:solidFill>
              </a:rPr>
              <a:t>NxV</a:t>
            </a:r>
            <a:r>
              <a:rPr lang="en-US" sz="2600" baseline="-25000" dirty="0">
                <a:solidFill>
                  <a:srgbClr val="0000FF"/>
                </a:solidFill>
              </a:rPr>
              <a:t> </a:t>
            </a:r>
            <a:r>
              <a:rPr lang="en-US" sz="2600" dirty="0"/>
              <a:t>given:</a:t>
            </a:r>
            <a:endParaRPr lang="en-US" sz="2600" baseline="-25000" dirty="0"/>
          </a:p>
        </p:txBody>
      </p:sp>
      <p:sp>
        <p:nvSpPr>
          <p:cNvPr id="4" name="Date Placeholder 3">
            <a:extLst>
              <a:ext uri="{FF2B5EF4-FFF2-40B4-BE49-F238E27FC236}">
                <a16:creationId xmlns:a16="http://schemas.microsoft.com/office/drawing/2014/main" id="{3A95A54D-9A58-5549-8965-BA8F28D4AD61}"/>
              </a:ext>
            </a:extLst>
          </p:cNvPr>
          <p:cNvSpPr>
            <a:spLocks noGrp="1"/>
          </p:cNvSpPr>
          <p:nvPr>
            <p:ph type="dt" sz="half" idx="10"/>
          </p:nvPr>
        </p:nvSpPr>
        <p:spPr/>
        <p:txBody>
          <a:bodyPr/>
          <a:lstStyle/>
          <a:p>
            <a:fld id="{A4EF1DB2-BE1B-FA4C-9A58-19D9DF545839}" type="datetime1">
              <a:rPr lang="en-US" smtClean="0"/>
              <a:t>11/3/24</a:t>
            </a:fld>
            <a:endParaRPr lang="en-US"/>
          </a:p>
        </p:txBody>
      </p:sp>
      <p:sp>
        <p:nvSpPr>
          <p:cNvPr id="5" name="Footer Placeholder 4">
            <a:extLst>
              <a:ext uri="{FF2B5EF4-FFF2-40B4-BE49-F238E27FC236}">
                <a16:creationId xmlns:a16="http://schemas.microsoft.com/office/drawing/2014/main" id="{75E3F037-9750-654F-816B-A2F53F57A342}"/>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A9C7C246-21A0-724F-877A-EDE129D9F409}"/>
              </a:ext>
            </a:extLst>
          </p:cNvPr>
          <p:cNvSpPr>
            <a:spLocks noGrp="1"/>
          </p:cNvSpPr>
          <p:nvPr>
            <p:ph type="sldNum" sz="quarter" idx="12"/>
          </p:nvPr>
        </p:nvSpPr>
        <p:spPr/>
        <p:txBody>
          <a:bodyPr/>
          <a:lstStyle/>
          <a:p>
            <a:fld id="{19B12225-5612-419B-A8D5-4B8EEE4C217E}" type="slidenum">
              <a:rPr lang="en-US" smtClean="0"/>
              <a:pPr/>
              <a:t>59</a:t>
            </a:fld>
            <a:endParaRPr lang="en-US"/>
          </a:p>
        </p:txBody>
      </p:sp>
      <p:sp>
        <p:nvSpPr>
          <p:cNvPr id="7" name="Oval 6">
            <a:extLst>
              <a:ext uri="{FF2B5EF4-FFF2-40B4-BE49-F238E27FC236}">
                <a16:creationId xmlns:a16="http://schemas.microsoft.com/office/drawing/2014/main" id="{FE984F9E-3D6F-C247-A6C1-9FD84A14E635}"/>
              </a:ext>
            </a:extLst>
          </p:cNvPr>
          <p:cNvSpPr/>
          <p:nvPr/>
        </p:nvSpPr>
        <p:spPr>
          <a:xfrm>
            <a:off x="1447800" y="24384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8" name="Oval 7">
            <a:extLst>
              <a:ext uri="{FF2B5EF4-FFF2-40B4-BE49-F238E27FC236}">
                <a16:creationId xmlns:a16="http://schemas.microsoft.com/office/drawing/2014/main" id="{FCA76820-8ED3-7640-BA73-F8527CD9BB52}"/>
              </a:ext>
            </a:extLst>
          </p:cNvPr>
          <p:cNvSpPr/>
          <p:nvPr/>
        </p:nvSpPr>
        <p:spPr>
          <a:xfrm>
            <a:off x="1447800" y="30480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9" name="Oval 8">
            <a:extLst>
              <a:ext uri="{FF2B5EF4-FFF2-40B4-BE49-F238E27FC236}">
                <a16:creationId xmlns:a16="http://schemas.microsoft.com/office/drawing/2014/main" id="{B47E7577-F37D-4A4E-8A05-F4574EBC5AC3}"/>
              </a:ext>
            </a:extLst>
          </p:cNvPr>
          <p:cNvSpPr/>
          <p:nvPr/>
        </p:nvSpPr>
        <p:spPr>
          <a:xfrm>
            <a:off x="1445821" y="3657600"/>
            <a:ext cx="533400" cy="533400"/>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1</a:t>
            </a:r>
          </a:p>
        </p:txBody>
      </p:sp>
      <p:sp>
        <p:nvSpPr>
          <p:cNvPr id="10" name="Oval 9">
            <a:extLst>
              <a:ext uri="{FF2B5EF4-FFF2-40B4-BE49-F238E27FC236}">
                <a16:creationId xmlns:a16="http://schemas.microsoft.com/office/drawing/2014/main" id="{1669C58E-19E6-4840-8065-BDB33C26B166}"/>
              </a:ext>
            </a:extLst>
          </p:cNvPr>
          <p:cNvSpPr/>
          <p:nvPr/>
        </p:nvSpPr>
        <p:spPr>
          <a:xfrm>
            <a:off x="1449779" y="42672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1" name="Oval 10">
            <a:extLst>
              <a:ext uri="{FF2B5EF4-FFF2-40B4-BE49-F238E27FC236}">
                <a16:creationId xmlns:a16="http://schemas.microsoft.com/office/drawing/2014/main" id="{9017FFE6-10AE-FF43-99AE-960397B374DB}"/>
              </a:ext>
            </a:extLst>
          </p:cNvPr>
          <p:cNvSpPr/>
          <p:nvPr/>
        </p:nvSpPr>
        <p:spPr>
          <a:xfrm>
            <a:off x="1449779" y="48768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2" name="Oval 11">
            <a:extLst>
              <a:ext uri="{FF2B5EF4-FFF2-40B4-BE49-F238E27FC236}">
                <a16:creationId xmlns:a16="http://schemas.microsoft.com/office/drawing/2014/main" id="{0587A28A-D458-1444-99C8-17770F541260}"/>
              </a:ext>
            </a:extLst>
          </p:cNvPr>
          <p:cNvSpPr/>
          <p:nvPr/>
        </p:nvSpPr>
        <p:spPr>
          <a:xfrm>
            <a:off x="1447800" y="54864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3" name="Oval 12">
            <a:extLst>
              <a:ext uri="{FF2B5EF4-FFF2-40B4-BE49-F238E27FC236}">
                <a16:creationId xmlns:a16="http://schemas.microsoft.com/office/drawing/2014/main" id="{4D34B655-73FA-C34C-9A61-24A56C1E178B}"/>
              </a:ext>
            </a:extLst>
          </p:cNvPr>
          <p:cNvSpPr/>
          <p:nvPr/>
        </p:nvSpPr>
        <p:spPr>
          <a:xfrm>
            <a:off x="1447800" y="18288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4" name="Oval 13">
            <a:extLst>
              <a:ext uri="{FF2B5EF4-FFF2-40B4-BE49-F238E27FC236}">
                <a16:creationId xmlns:a16="http://schemas.microsoft.com/office/drawing/2014/main" id="{5760957A-AB0C-FC41-AA55-82C44F26A99C}"/>
              </a:ext>
            </a:extLst>
          </p:cNvPr>
          <p:cNvSpPr/>
          <p:nvPr/>
        </p:nvSpPr>
        <p:spPr>
          <a:xfrm>
            <a:off x="1447800" y="60960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5" name="Oval 14">
            <a:extLst>
              <a:ext uri="{FF2B5EF4-FFF2-40B4-BE49-F238E27FC236}">
                <a16:creationId xmlns:a16="http://schemas.microsoft.com/office/drawing/2014/main" id="{F0B5B778-2FF2-4044-BB0E-2570466FF450}"/>
              </a:ext>
            </a:extLst>
          </p:cNvPr>
          <p:cNvSpPr/>
          <p:nvPr/>
        </p:nvSpPr>
        <p:spPr>
          <a:xfrm>
            <a:off x="3581400" y="2703121"/>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dirty="0"/>
              <a:t>0.5</a:t>
            </a:r>
          </a:p>
        </p:txBody>
      </p:sp>
      <p:sp>
        <p:nvSpPr>
          <p:cNvPr id="16" name="Oval 15">
            <a:extLst>
              <a:ext uri="{FF2B5EF4-FFF2-40B4-BE49-F238E27FC236}">
                <a16:creationId xmlns:a16="http://schemas.microsoft.com/office/drawing/2014/main" id="{181F2C68-981D-824F-A4A2-7DD278B281DF}"/>
              </a:ext>
            </a:extLst>
          </p:cNvPr>
          <p:cNvSpPr/>
          <p:nvPr/>
        </p:nvSpPr>
        <p:spPr>
          <a:xfrm>
            <a:off x="3581400" y="39243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2.3</a:t>
            </a:r>
          </a:p>
        </p:txBody>
      </p:sp>
      <p:sp>
        <p:nvSpPr>
          <p:cNvPr id="17" name="Oval 16">
            <a:extLst>
              <a:ext uri="{FF2B5EF4-FFF2-40B4-BE49-F238E27FC236}">
                <a16:creationId xmlns:a16="http://schemas.microsoft.com/office/drawing/2014/main" id="{34985E82-54AF-0A45-9DCD-E6A8D656E586}"/>
              </a:ext>
            </a:extLst>
          </p:cNvPr>
          <p:cNvSpPr/>
          <p:nvPr/>
        </p:nvSpPr>
        <p:spPr>
          <a:xfrm>
            <a:off x="3581400" y="51054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dirty="0"/>
              <a:t>2.2</a:t>
            </a:r>
          </a:p>
        </p:txBody>
      </p:sp>
      <p:sp>
        <p:nvSpPr>
          <p:cNvPr id="18" name="Oval 17">
            <a:extLst>
              <a:ext uri="{FF2B5EF4-FFF2-40B4-BE49-F238E27FC236}">
                <a16:creationId xmlns:a16="http://schemas.microsoft.com/office/drawing/2014/main" id="{7AA8C92D-B711-8145-8F15-3FA48B6147BA}"/>
              </a:ext>
            </a:extLst>
          </p:cNvPr>
          <p:cNvSpPr/>
          <p:nvPr/>
        </p:nvSpPr>
        <p:spPr>
          <a:xfrm>
            <a:off x="5865421" y="24384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dirty="0"/>
              <a:t>5.6</a:t>
            </a:r>
          </a:p>
        </p:txBody>
      </p:sp>
      <p:sp>
        <p:nvSpPr>
          <p:cNvPr id="19" name="Oval 18">
            <a:extLst>
              <a:ext uri="{FF2B5EF4-FFF2-40B4-BE49-F238E27FC236}">
                <a16:creationId xmlns:a16="http://schemas.microsoft.com/office/drawing/2014/main" id="{5C48531D-05C0-8345-980B-30952593A5D8}"/>
              </a:ext>
            </a:extLst>
          </p:cNvPr>
          <p:cNvSpPr/>
          <p:nvPr/>
        </p:nvSpPr>
        <p:spPr>
          <a:xfrm>
            <a:off x="5865421" y="30480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dirty="0"/>
              <a:t>-2.4</a:t>
            </a:r>
          </a:p>
        </p:txBody>
      </p:sp>
      <p:sp>
        <p:nvSpPr>
          <p:cNvPr id="20" name="Oval 19">
            <a:extLst>
              <a:ext uri="{FF2B5EF4-FFF2-40B4-BE49-F238E27FC236}">
                <a16:creationId xmlns:a16="http://schemas.microsoft.com/office/drawing/2014/main" id="{C85BDEDA-0B29-0B48-AB49-A0443750BCFD}"/>
              </a:ext>
            </a:extLst>
          </p:cNvPr>
          <p:cNvSpPr/>
          <p:nvPr/>
        </p:nvSpPr>
        <p:spPr>
          <a:xfrm>
            <a:off x="5863442" y="36576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5.3</a:t>
            </a:r>
          </a:p>
        </p:txBody>
      </p:sp>
      <p:sp>
        <p:nvSpPr>
          <p:cNvPr id="21" name="Oval 20">
            <a:extLst>
              <a:ext uri="{FF2B5EF4-FFF2-40B4-BE49-F238E27FC236}">
                <a16:creationId xmlns:a16="http://schemas.microsoft.com/office/drawing/2014/main" id="{BE8785BA-01A9-8F40-A9A4-F3FEA11408FA}"/>
              </a:ext>
            </a:extLst>
          </p:cNvPr>
          <p:cNvSpPr/>
          <p:nvPr/>
        </p:nvSpPr>
        <p:spPr>
          <a:xfrm>
            <a:off x="5867400" y="42672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6.1</a:t>
            </a:r>
          </a:p>
        </p:txBody>
      </p:sp>
      <p:sp>
        <p:nvSpPr>
          <p:cNvPr id="22" name="Oval 21">
            <a:extLst>
              <a:ext uri="{FF2B5EF4-FFF2-40B4-BE49-F238E27FC236}">
                <a16:creationId xmlns:a16="http://schemas.microsoft.com/office/drawing/2014/main" id="{EB544E5D-9AED-0D4C-B87F-EAD417444152}"/>
              </a:ext>
            </a:extLst>
          </p:cNvPr>
          <p:cNvSpPr/>
          <p:nvPr/>
        </p:nvSpPr>
        <p:spPr>
          <a:xfrm>
            <a:off x="5867400" y="48768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7.4</a:t>
            </a:r>
          </a:p>
        </p:txBody>
      </p:sp>
      <p:sp>
        <p:nvSpPr>
          <p:cNvPr id="23" name="Oval 22">
            <a:extLst>
              <a:ext uri="{FF2B5EF4-FFF2-40B4-BE49-F238E27FC236}">
                <a16:creationId xmlns:a16="http://schemas.microsoft.com/office/drawing/2014/main" id="{F0C98CF2-6F2D-5840-8C01-71F89C11F9FF}"/>
              </a:ext>
            </a:extLst>
          </p:cNvPr>
          <p:cNvSpPr/>
          <p:nvPr/>
        </p:nvSpPr>
        <p:spPr>
          <a:xfrm>
            <a:off x="5865421" y="54864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rIns="0" rtlCol="0" anchor="ctr"/>
          <a:lstStyle/>
          <a:p>
            <a:pPr algn="ctr"/>
            <a:r>
              <a:rPr lang="en-US" dirty="0"/>
              <a:t>3</a:t>
            </a:r>
          </a:p>
        </p:txBody>
      </p:sp>
      <p:sp>
        <p:nvSpPr>
          <p:cNvPr id="24" name="Oval 23">
            <a:extLst>
              <a:ext uri="{FF2B5EF4-FFF2-40B4-BE49-F238E27FC236}">
                <a16:creationId xmlns:a16="http://schemas.microsoft.com/office/drawing/2014/main" id="{DB45B293-2C68-B645-9886-C89078196905}"/>
              </a:ext>
            </a:extLst>
          </p:cNvPr>
          <p:cNvSpPr/>
          <p:nvPr/>
        </p:nvSpPr>
        <p:spPr>
          <a:xfrm>
            <a:off x="5865421" y="18288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dirty="0"/>
              <a:t>1.0</a:t>
            </a:r>
          </a:p>
        </p:txBody>
      </p:sp>
      <p:sp>
        <p:nvSpPr>
          <p:cNvPr id="25" name="Oval 24">
            <a:extLst>
              <a:ext uri="{FF2B5EF4-FFF2-40B4-BE49-F238E27FC236}">
                <a16:creationId xmlns:a16="http://schemas.microsoft.com/office/drawing/2014/main" id="{BEF37F96-B6E3-C443-B434-C702B6BBF14F}"/>
              </a:ext>
            </a:extLst>
          </p:cNvPr>
          <p:cNvSpPr/>
          <p:nvPr/>
        </p:nvSpPr>
        <p:spPr>
          <a:xfrm>
            <a:off x="5865421" y="60960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3.5</a:t>
            </a:r>
          </a:p>
        </p:txBody>
      </p:sp>
      <p:cxnSp>
        <p:nvCxnSpPr>
          <p:cNvPr id="27" name="Straight Connector 26">
            <a:extLst>
              <a:ext uri="{FF2B5EF4-FFF2-40B4-BE49-F238E27FC236}">
                <a16:creationId xmlns:a16="http://schemas.microsoft.com/office/drawing/2014/main" id="{DD3E3EA0-C479-AE4B-A2A9-F7E0E4FCD5EF}"/>
              </a:ext>
            </a:extLst>
          </p:cNvPr>
          <p:cNvCxnSpPr>
            <a:cxnSpLocks/>
            <a:stCxn id="13" idx="5"/>
            <a:endCxn id="15" idx="2"/>
          </p:cNvCxnSpPr>
          <p:nvPr/>
        </p:nvCxnSpPr>
        <p:spPr>
          <a:xfrm>
            <a:off x="1903085" y="2284085"/>
            <a:ext cx="1678315" cy="685736"/>
          </a:xfrm>
          <a:prstGeom prst="line">
            <a:avLst/>
          </a:prstGeom>
          <a:ln w="28575"/>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F01C6554-CAC9-DB47-B06E-9910BCA07525}"/>
              </a:ext>
            </a:extLst>
          </p:cNvPr>
          <p:cNvCxnSpPr>
            <a:cxnSpLocks/>
          </p:cNvCxnSpPr>
          <p:nvPr/>
        </p:nvCxnSpPr>
        <p:spPr>
          <a:xfrm>
            <a:off x="2017353" y="2760303"/>
            <a:ext cx="1560089" cy="249596"/>
          </a:xfrm>
          <a:prstGeom prst="line">
            <a:avLst/>
          </a:prstGeom>
          <a:ln w="28575"/>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6AB9B9E8-C680-5248-9365-F0468870FBBC}"/>
              </a:ext>
            </a:extLst>
          </p:cNvPr>
          <p:cNvCxnSpPr>
            <a:cxnSpLocks/>
            <a:endCxn id="15" idx="2"/>
          </p:cNvCxnSpPr>
          <p:nvPr/>
        </p:nvCxnSpPr>
        <p:spPr>
          <a:xfrm flipV="1">
            <a:off x="2013395" y="2969821"/>
            <a:ext cx="1568005" cy="344882"/>
          </a:xfrm>
          <a:prstGeom prst="line">
            <a:avLst/>
          </a:prstGeom>
          <a:ln w="28575"/>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0927AA7F-71CE-C44D-897C-1E3897E5D80B}"/>
              </a:ext>
            </a:extLst>
          </p:cNvPr>
          <p:cNvCxnSpPr>
            <a:cxnSpLocks/>
            <a:stCxn id="9" idx="6"/>
          </p:cNvCxnSpPr>
          <p:nvPr/>
        </p:nvCxnSpPr>
        <p:spPr>
          <a:xfrm flipV="1">
            <a:off x="1979221" y="3017521"/>
            <a:ext cx="1594263" cy="90677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08B55ED0-0B80-4C46-B835-B9E815368BA5}"/>
              </a:ext>
            </a:extLst>
          </p:cNvPr>
          <p:cNvCxnSpPr>
            <a:cxnSpLocks/>
            <a:stCxn id="10" idx="6"/>
            <a:endCxn id="15" idx="2"/>
          </p:cNvCxnSpPr>
          <p:nvPr/>
        </p:nvCxnSpPr>
        <p:spPr>
          <a:xfrm flipV="1">
            <a:off x="1983179" y="2969821"/>
            <a:ext cx="1598221" cy="1564079"/>
          </a:xfrm>
          <a:prstGeom prst="line">
            <a:avLst/>
          </a:prstGeom>
          <a:ln w="28575"/>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A0598294-3668-E846-A022-5AF29B346430}"/>
              </a:ext>
            </a:extLst>
          </p:cNvPr>
          <p:cNvCxnSpPr>
            <a:cxnSpLocks/>
            <a:stCxn id="11" idx="6"/>
          </p:cNvCxnSpPr>
          <p:nvPr/>
        </p:nvCxnSpPr>
        <p:spPr>
          <a:xfrm flipV="1">
            <a:off x="1983179" y="3040378"/>
            <a:ext cx="1589316" cy="2103122"/>
          </a:xfrm>
          <a:prstGeom prst="line">
            <a:avLst/>
          </a:prstGeom>
          <a:ln w="28575"/>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9AF17E93-717C-114B-A363-D20DEFA81EA3}"/>
              </a:ext>
            </a:extLst>
          </p:cNvPr>
          <p:cNvCxnSpPr>
            <a:cxnSpLocks/>
            <a:stCxn id="12" idx="6"/>
            <a:endCxn id="15" idx="2"/>
          </p:cNvCxnSpPr>
          <p:nvPr/>
        </p:nvCxnSpPr>
        <p:spPr>
          <a:xfrm flipV="1">
            <a:off x="1981200" y="2969821"/>
            <a:ext cx="1600200" cy="2783279"/>
          </a:xfrm>
          <a:prstGeom prst="line">
            <a:avLst/>
          </a:prstGeom>
          <a:ln w="28575"/>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DF3785BE-70E0-FD4A-A597-0F8F86E4C71A}"/>
              </a:ext>
            </a:extLst>
          </p:cNvPr>
          <p:cNvCxnSpPr>
            <a:cxnSpLocks/>
            <a:endCxn id="15" idx="2"/>
          </p:cNvCxnSpPr>
          <p:nvPr/>
        </p:nvCxnSpPr>
        <p:spPr>
          <a:xfrm flipV="1">
            <a:off x="2013395" y="2969821"/>
            <a:ext cx="1568005" cy="3385262"/>
          </a:xfrm>
          <a:prstGeom prst="line">
            <a:avLst/>
          </a:prstGeom>
          <a:ln w="28575"/>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825B194E-AF66-FD48-AC5A-D674DC6458DB}"/>
              </a:ext>
            </a:extLst>
          </p:cNvPr>
          <p:cNvCxnSpPr>
            <a:cxnSpLocks/>
            <a:stCxn id="13" idx="5"/>
            <a:endCxn id="16" idx="1"/>
          </p:cNvCxnSpPr>
          <p:nvPr/>
        </p:nvCxnSpPr>
        <p:spPr>
          <a:xfrm>
            <a:off x="1903085" y="2284085"/>
            <a:ext cx="1756430" cy="1718330"/>
          </a:xfrm>
          <a:prstGeom prst="line">
            <a:avLst/>
          </a:prstGeom>
          <a:ln w="28575"/>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9DD01029-FF5B-904A-BAAA-1D41687D60E1}"/>
              </a:ext>
            </a:extLst>
          </p:cNvPr>
          <p:cNvCxnSpPr>
            <a:cxnSpLocks/>
            <a:endCxn id="16" idx="1"/>
          </p:cNvCxnSpPr>
          <p:nvPr/>
        </p:nvCxnSpPr>
        <p:spPr>
          <a:xfrm>
            <a:off x="1985158" y="2771700"/>
            <a:ext cx="1674357" cy="1230715"/>
          </a:xfrm>
          <a:prstGeom prst="line">
            <a:avLst/>
          </a:prstGeom>
          <a:ln w="28575"/>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D69EAF91-AF65-7449-81D4-6E69506E7ED0}"/>
              </a:ext>
            </a:extLst>
          </p:cNvPr>
          <p:cNvCxnSpPr>
            <a:cxnSpLocks/>
            <a:endCxn id="16" idx="1"/>
          </p:cNvCxnSpPr>
          <p:nvPr/>
        </p:nvCxnSpPr>
        <p:spPr>
          <a:xfrm>
            <a:off x="2015374" y="3322320"/>
            <a:ext cx="1644141" cy="680095"/>
          </a:xfrm>
          <a:prstGeom prst="line">
            <a:avLst/>
          </a:prstGeom>
          <a:ln w="28575"/>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98471BCB-43C3-F54E-AC06-888020A6DEF8}"/>
              </a:ext>
            </a:extLst>
          </p:cNvPr>
          <p:cNvCxnSpPr>
            <a:cxnSpLocks/>
            <a:stCxn id="9" idx="6"/>
            <a:endCxn id="16" idx="1"/>
          </p:cNvCxnSpPr>
          <p:nvPr/>
        </p:nvCxnSpPr>
        <p:spPr>
          <a:xfrm>
            <a:off x="1979221" y="3924300"/>
            <a:ext cx="1680294" cy="7811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C7450171-6F98-294E-B819-3BCCDC274A74}"/>
              </a:ext>
            </a:extLst>
          </p:cNvPr>
          <p:cNvCxnSpPr>
            <a:cxnSpLocks/>
            <a:endCxn id="16" idx="1"/>
          </p:cNvCxnSpPr>
          <p:nvPr/>
        </p:nvCxnSpPr>
        <p:spPr>
          <a:xfrm flipV="1">
            <a:off x="2007458" y="4002415"/>
            <a:ext cx="1652057" cy="530528"/>
          </a:xfrm>
          <a:prstGeom prst="line">
            <a:avLst/>
          </a:prstGeom>
          <a:ln w="28575"/>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A9231821-C0FC-3D4E-8209-6CE8958D439F}"/>
              </a:ext>
            </a:extLst>
          </p:cNvPr>
          <p:cNvCxnSpPr>
            <a:cxnSpLocks/>
            <a:stCxn id="11" idx="6"/>
            <a:endCxn id="16" idx="1"/>
          </p:cNvCxnSpPr>
          <p:nvPr/>
        </p:nvCxnSpPr>
        <p:spPr>
          <a:xfrm flipV="1">
            <a:off x="1983179" y="4002415"/>
            <a:ext cx="1676336" cy="1141085"/>
          </a:xfrm>
          <a:prstGeom prst="line">
            <a:avLst/>
          </a:prstGeom>
          <a:ln w="28575"/>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340E5CF9-4B90-E042-9382-4392634B1350}"/>
              </a:ext>
            </a:extLst>
          </p:cNvPr>
          <p:cNvCxnSpPr>
            <a:cxnSpLocks/>
            <a:stCxn id="12" idx="6"/>
            <a:endCxn id="16" idx="1"/>
          </p:cNvCxnSpPr>
          <p:nvPr/>
        </p:nvCxnSpPr>
        <p:spPr>
          <a:xfrm flipV="1">
            <a:off x="1981200" y="4002415"/>
            <a:ext cx="1678315" cy="1750685"/>
          </a:xfrm>
          <a:prstGeom prst="line">
            <a:avLst/>
          </a:prstGeom>
          <a:ln w="28575"/>
        </p:spPr>
        <p:style>
          <a:lnRef idx="1">
            <a:schemeClr val="dk1"/>
          </a:lnRef>
          <a:fillRef idx="0">
            <a:schemeClr val="dk1"/>
          </a:fillRef>
          <a:effectRef idx="0">
            <a:schemeClr val="dk1"/>
          </a:effectRef>
          <a:fontRef idx="minor">
            <a:schemeClr val="tx1"/>
          </a:fontRef>
        </p:style>
      </p:cxnSp>
      <p:cxnSp>
        <p:nvCxnSpPr>
          <p:cNvPr id="72" name="Straight Connector 71">
            <a:extLst>
              <a:ext uri="{FF2B5EF4-FFF2-40B4-BE49-F238E27FC236}">
                <a16:creationId xmlns:a16="http://schemas.microsoft.com/office/drawing/2014/main" id="{FFD42355-850B-AE41-83A6-9E363D9EA07E}"/>
              </a:ext>
            </a:extLst>
          </p:cNvPr>
          <p:cNvCxnSpPr>
            <a:cxnSpLocks/>
            <a:endCxn id="16" idx="1"/>
          </p:cNvCxnSpPr>
          <p:nvPr/>
        </p:nvCxnSpPr>
        <p:spPr>
          <a:xfrm flipV="1">
            <a:off x="2009437" y="4002415"/>
            <a:ext cx="1650078" cy="2352666"/>
          </a:xfrm>
          <a:prstGeom prst="line">
            <a:avLst/>
          </a:prstGeom>
          <a:ln w="28575"/>
        </p:spPr>
        <p:style>
          <a:lnRef idx="1">
            <a:schemeClr val="dk1"/>
          </a:lnRef>
          <a:fillRef idx="0">
            <a:schemeClr val="dk1"/>
          </a:fillRef>
          <a:effectRef idx="0">
            <a:schemeClr val="dk1"/>
          </a:effectRef>
          <a:fontRef idx="minor">
            <a:schemeClr val="tx1"/>
          </a:fontRef>
        </p:style>
      </p:cxnSp>
      <p:cxnSp>
        <p:nvCxnSpPr>
          <p:cNvPr id="75" name="Straight Connector 74">
            <a:extLst>
              <a:ext uri="{FF2B5EF4-FFF2-40B4-BE49-F238E27FC236}">
                <a16:creationId xmlns:a16="http://schemas.microsoft.com/office/drawing/2014/main" id="{B7EB380F-C9BF-0842-95F4-1848117705A6}"/>
              </a:ext>
            </a:extLst>
          </p:cNvPr>
          <p:cNvCxnSpPr>
            <a:cxnSpLocks/>
            <a:stCxn id="13" idx="5"/>
            <a:endCxn id="17" idx="1"/>
          </p:cNvCxnSpPr>
          <p:nvPr/>
        </p:nvCxnSpPr>
        <p:spPr>
          <a:xfrm>
            <a:off x="1903085" y="2284085"/>
            <a:ext cx="1756430" cy="2899430"/>
          </a:xfrm>
          <a:prstGeom prst="line">
            <a:avLst/>
          </a:prstGeom>
          <a:ln w="28575"/>
        </p:spPr>
        <p:style>
          <a:lnRef idx="1">
            <a:schemeClr val="dk1"/>
          </a:lnRef>
          <a:fillRef idx="0">
            <a:schemeClr val="dk1"/>
          </a:fillRef>
          <a:effectRef idx="0">
            <a:schemeClr val="dk1"/>
          </a:effectRef>
          <a:fontRef idx="minor">
            <a:schemeClr val="tx1"/>
          </a:fontRef>
        </p:style>
      </p:cxnSp>
      <p:cxnSp>
        <p:nvCxnSpPr>
          <p:cNvPr id="78" name="Straight Connector 77">
            <a:extLst>
              <a:ext uri="{FF2B5EF4-FFF2-40B4-BE49-F238E27FC236}">
                <a16:creationId xmlns:a16="http://schemas.microsoft.com/office/drawing/2014/main" id="{5002F88C-127F-4B46-942B-1D1B6DF0DDB5}"/>
              </a:ext>
            </a:extLst>
          </p:cNvPr>
          <p:cNvCxnSpPr>
            <a:cxnSpLocks/>
            <a:endCxn id="17" idx="1"/>
          </p:cNvCxnSpPr>
          <p:nvPr/>
        </p:nvCxnSpPr>
        <p:spPr>
          <a:xfrm>
            <a:off x="2009437" y="2817964"/>
            <a:ext cx="1650078" cy="2365551"/>
          </a:xfrm>
          <a:prstGeom prst="line">
            <a:avLst/>
          </a:prstGeom>
          <a:ln w="28575"/>
        </p:spPr>
        <p:style>
          <a:lnRef idx="1">
            <a:schemeClr val="dk1"/>
          </a:lnRef>
          <a:fillRef idx="0">
            <a:schemeClr val="dk1"/>
          </a:fillRef>
          <a:effectRef idx="0">
            <a:schemeClr val="dk1"/>
          </a:effectRef>
          <a:fontRef idx="minor">
            <a:schemeClr val="tx1"/>
          </a:fontRef>
        </p:style>
      </p:cxnSp>
      <p:cxnSp>
        <p:nvCxnSpPr>
          <p:cNvPr id="81" name="Straight Connector 80">
            <a:extLst>
              <a:ext uri="{FF2B5EF4-FFF2-40B4-BE49-F238E27FC236}">
                <a16:creationId xmlns:a16="http://schemas.microsoft.com/office/drawing/2014/main" id="{D559DD3A-2B0C-C04F-88B9-065B32D32C37}"/>
              </a:ext>
            </a:extLst>
          </p:cNvPr>
          <p:cNvCxnSpPr>
            <a:cxnSpLocks/>
            <a:endCxn id="17" idx="1"/>
          </p:cNvCxnSpPr>
          <p:nvPr/>
        </p:nvCxnSpPr>
        <p:spPr>
          <a:xfrm>
            <a:off x="2009437" y="3322320"/>
            <a:ext cx="1650078" cy="1861195"/>
          </a:xfrm>
          <a:prstGeom prst="line">
            <a:avLst/>
          </a:prstGeom>
          <a:ln w="28575"/>
        </p:spPr>
        <p:style>
          <a:lnRef idx="1">
            <a:schemeClr val="dk1"/>
          </a:lnRef>
          <a:fillRef idx="0">
            <a:schemeClr val="dk1"/>
          </a:fillRef>
          <a:effectRef idx="0">
            <a:schemeClr val="dk1"/>
          </a:effectRef>
          <a:fontRef idx="minor">
            <a:schemeClr val="tx1"/>
          </a:fontRef>
        </p:style>
      </p:cxnSp>
      <p:cxnSp>
        <p:nvCxnSpPr>
          <p:cNvPr id="84" name="Straight Connector 83">
            <a:extLst>
              <a:ext uri="{FF2B5EF4-FFF2-40B4-BE49-F238E27FC236}">
                <a16:creationId xmlns:a16="http://schemas.microsoft.com/office/drawing/2014/main" id="{9C2FCB5F-C58E-8742-94E7-20E6D3B434C1}"/>
              </a:ext>
            </a:extLst>
          </p:cNvPr>
          <p:cNvCxnSpPr>
            <a:cxnSpLocks/>
            <a:stCxn id="9" idx="6"/>
            <a:endCxn id="17" idx="1"/>
          </p:cNvCxnSpPr>
          <p:nvPr/>
        </p:nvCxnSpPr>
        <p:spPr>
          <a:xfrm>
            <a:off x="1979221" y="3924300"/>
            <a:ext cx="1680294" cy="125921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7" name="Straight Connector 86">
            <a:extLst>
              <a:ext uri="{FF2B5EF4-FFF2-40B4-BE49-F238E27FC236}">
                <a16:creationId xmlns:a16="http://schemas.microsoft.com/office/drawing/2014/main" id="{3B21A8BD-05E0-1B43-A4F8-62FF7028DDDB}"/>
              </a:ext>
            </a:extLst>
          </p:cNvPr>
          <p:cNvCxnSpPr>
            <a:cxnSpLocks/>
            <a:endCxn id="17" idx="1"/>
          </p:cNvCxnSpPr>
          <p:nvPr/>
        </p:nvCxnSpPr>
        <p:spPr>
          <a:xfrm>
            <a:off x="2017353" y="4532943"/>
            <a:ext cx="1642162" cy="650572"/>
          </a:xfrm>
          <a:prstGeom prst="line">
            <a:avLst/>
          </a:prstGeom>
          <a:ln w="28575"/>
        </p:spPr>
        <p:style>
          <a:lnRef idx="1">
            <a:schemeClr val="dk1"/>
          </a:lnRef>
          <a:fillRef idx="0">
            <a:schemeClr val="dk1"/>
          </a:fillRef>
          <a:effectRef idx="0">
            <a:schemeClr val="dk1"/>
          </a:effectRef>
          <a:fontRef idx="minor">
            <a:schemeClr val="tx1"/>
          </a:fontRef>
        </p:style>
      </p:cxnSp>
      <p:cxnSp>
        <p:nvCxnSpPr>
          <p:cNvPr id="90" name="Straight Connector 89">
            <a:extLst>
              <a:ext uri="{FF2B5EF4-FFF2-40B4-BE49-F238E27FC236}">
                <a16:creationId xmlns:a16="http://schemas.microsoft.com/office/drawing/2014/main" id="{A2DEFA17-6869-DD4A-892B-DB71F8944EE3}"/>
              </a:ext>
            </a:extLst>
          </p:cNvPr>
          <p:cNvCxnSpPr>
            <a:cxnSpLocks/>
            <a:endCxn id="17" idx="1"/>
          </p:cNvCxnSpPr>
          <p:nvPr/>
        </p:nvCxnSpPr>
        <p:spPr>
          <a:xfrm>
            <a:off x="2015374" y="5143022"/>
            <a:ext cx="1644141" cy="40493"/>
          </a:xfrm>
          <a:prstGeom prst="line">
            <a:avLst/>
          </a:prstGeom>
          <a:ln w="28575"/>
        </p:spPr>
        <p:style>
          <a:lnRef idx="1">
            <a:schemeClr val="dk1"/>
          </a:lnRef>
          <a:fillRef idx="0">
            <a:schemeClr val="dk1"/>
          </a:fillRef>
          <a:effectRef idx="0">
            <a:schemeClr val="dk1"/>
          </a:effectRef>
          <a:fontRef idx="minor">
            <a:schemeClr val="tx1"/>
          </a:fontRef>
        </p:style>
      </p:cxnSp>
      <p:cxnSp>
        <p:nvCxnSpPr>
          <p:cNvPr id="93" name="Straight Connector 92">
            <a:extLst>
              <a:ext uri="{FF2B5EF4-FFF2-40B4-BE49-F238E27FC236}">
                <a16:creationId xmlns:a16="http://schemas.microsoft.com/office/drawing/2014/main" id="{33EBA30B-F746-234E-8095-F36CD9CFEDD1}"/>
              </a:ext>
            </a:extLst>
          </p:cNvPr>
          <p:cNvCxnSpPr>
            <a:cxnSpLocks/>
            <a:endCxn id="17" idx="1"/>
          </p:cNvCxnSpPr>
          <p:nvPr/>
        </p:nvCxnSpPr>
        <p:spPr>
          <a:xfrm flipV="1">
            <a:off x="1987137" y="5183515"/>
            <a:ext cx="1672378" cy="549340"/>
          </a:xfrm>
          <a:prstGeom prst="line">
            <a:avLst/>
          </a:prstGeom>
          <a:ln w="28575"/>
        </p:spPr>
        <p:style>
          <a:lnRef idx="1">
            <a:schemeClr val="dk1"/>
          </a:lnRef>
          <a:fillRef idx="0">
            <a:schemeClr val="dk1"/>
          </a:fillRef>
          <a:effectRef idx="0">
            <a:schemeClr val="dk1"/>
          </a:effectRef>
          <a:fontRef idx="minor">
            <a:schemeClr val="tx1"/>
          </a:fontRef>
        </p:style>
      </p:cxnSp>
      <p:cxnSp>
        <p:nvCxnSpPr>
          <p:cNvPr id="96" name="Straight Connector 95">
            <a:extLst>
              <a:ext uri="{FF2B5EF4-FFF2-40B4-BE49-F238E27FC236}">
                <a16:creationId xmlns:a16="http://schemas.microsoft.com/office/drawing/2014/main" id="{C3F4262C-798D-B145-8790-D0AB85D7C565}"/>
              </a:ext>
            </a:extLst>
          </p:cNvPr>
          <p:cNvCxnSpPr>
            <a:cxnSpLocks/>
            <a:endCxn id="17" idx="1"/>
          </p:cNvCxnSpPr>
          <p:nvPr/>
        </p:nvCxnSpPr>
        <p:spPr>
          <a:xfrm flipV="1">
            <a:off x="1987137" y="5183515"/>
            <a:ext cx="1672378" cy="1178708"/>
          </a:xfrm>
          <a:prstGeom prst="line">
            <a:avLst/>
          </a:prstGeom>
          <a:ln w="28575"/>
        </p:spPr>
        <p:style>
          <a:lnRef idx="1">
            <a:schemeClr val="dk1"/>
          </a:lnRef>
          <a:fillRef idx="0">
            <a:schemeClr val="dk1"/>
          </a:fillRef>
          <a:effectRef idx="0">
            <a:schemeClr val="dk1"/>
          </a:effectRef>
          <a:fontRef idx="minor">
            <a:schemeClr val="tx1"/>
          </a:fontRef>
        </p:style>
      </p:cxnSp>
      <p:cxnSp>
        <p:nvCxnSpPr>
          <p:cNvPr id="133" name="Straight Connector 132">
            <a:extLst>
              <a:ext uri="{FF2B5EF4-FFF2-40B4-BE49-F238E27FC236}">
                <a16:creationId xmlns:a16="http://schemas.microsoft.com/office/drawing/2014/main" id="{59E3FBCE-1889-E047-8EB5-E03741D3B3C9}"/>
              </a:ext>
            </a:extLst>
          </p:cNvPr>
          <p:cNvCxnSpPr>
            <a:cxnSpLocks/>
            <a:endCxn id="24" idx="2"/>
          </p:cNvCxnSpPr>
          <p:nvPr/>
        </p:nvCxnSpPr>
        <p:spPr>
          <a:xfrm flipV="1">
            <a:off x="4107012" y="2095500"/>
            <a:ext cx="1758409" cy="874682"/>
          </a:xfrm>
          <a:prstGeom prst="line">
            <a:avLst/>
          </a:prstGeom>
          <a:ln w="28575"/>
        </p:spPr>
        <p:style>
          <a:lnRef idx="1">
            <a:schemeClr val="dk1"/>
          </a:lnRef>
          <a:fillRef idx="0">
            <a:schemeClr val="dk1"/>
          </a:fillRef>
          <a:effectRef idx="0">
            <a:schemeClr val="dk1"/>
          </a:effectRef>
          <a:fontRef idx="minor">
            <a:schemeClr val="tx1"/>
          </a:fontRef>
        </p:style>
      </p:cxnSp>
      <p:cxnSp>
        <p:nvCxnSpPr>
          <p:cNvPr id="135" name="Straight Connector 134">
            <a:extLst>
              <a:ext uri="{FF2B5EF4-FFF2-40B4-BE49-F238E27FC236}">
                <a16:creationId xmlns:a16="http://schemas.microsoft.com/office/drawing/2014/main" id="{B5727415-039A-2448-9199-2E57DCBD9AC0}"/>
              </a:ext>
            </a:extLst>
          </p:cNvPr>
          <p:cNvCxnSpPr>
            <a:cxnSpLocks/>
            <a:endCxn id="18" idx="2"/>
          </p:cNvCxnSpPr>
          <p:nvPr/>
        </p:nvCxnSpPr>
        <p:spPr>
          <a:xfrm flipV="1">
            <a:off x="4118758" y="2705100"/>
            <a:ext cx="1746663" cy="263652"/>
          </a:xfrm>
          <a:prstGeom prst="line">
            <a:avLst/>
          </a:prstGeom>
          <a:ln w="28575"/>
        </p:spPr>
        <p:style>
          <a:lnRef idx="1">
            <a:schemeClr val="dk1"/>
          </a:lnRef>
          <a:fillRef idx="0">
            <a:schemeClr val="dk1"/>
          </a:fillRef>
          <a:effectRef idx="0">
            <a:schemeClr val="dk1"/>
          </a:effectRef>
          <a:fontRef idx="minor">
            <a:schemeClr val="tx1"/>
          </a:fontRef>
        </p:style>
      </p:cxnSp>
      <p:cxnSp>
        <p:nvCxnSpPr>
          <p:cNvPr id="138" name="Straight Connector 137">
            <a:extLst>
              <a:ext uri="{FF2B5EF4-FFF2-40B4-BE49-F238E27FC236}">
                <a16:creationId xmlns:a16="http://schemas.microsoft.com/office/drawing/2014/main" id="{818BC6C0-2071-A24E-A718-DE477817BA04}"/>
              </a:ext>
            </a:extLst>
          </p:cNvPr>
          <p:cNvCxnSpPr>
            <a:cxnSpLocks/>
            <a:endCxn id="19" idx="2"/>
          </p:cNvCxnSpPr>
          <p:nvPr/>
        </p:nvCxnSpPr>
        <p:spPr>
          <a:xfrm>
            <a:off x="4118758" y="2999232"/>
            <a:ext cx="1746663" cy="315468"/>
          </a:xfrm>
          <a:prstGeom prst="line">
            <a:avLst/>
          </a:prstGeom>
          <a:ln w="28575"/>
        </p:spPr>
        <p:style>
          <a:lnRef idx="1">
            <a:schemeClr val="dk1"/>
          </a:lnRef>
          <a:fillRef idx="0">
            <a:schemeClr val="dk1"/>
          </a:fillRef>
          <a:effectRef idx="0">
            <a:schemeClr val="dk1"/>
          </a:effectRef>
          <a:fontRef idx="minor">
            <a:schemeClr val="tx1"/>
          </a:fontRef>
        </p:style>
      </p:cxnSp>
      <p:cxnSp>
        <p:nvCxnSpPr>
          <p:cNvPr id="141" name="Straight Connector 140">
            <a:extLst>
              <a:ext uri="{FF2B5EF4-FFF2-40B4-BE49-F238E27FC236}">
                <a16:creationId xmlns:a16="http://schemas.microsoft.com/office/drawing/2014/main" id="{B9B1CDC6-7E14-0C43-9CCE-DDF9538FCA6A}"/>
              </a:ext>
            </a:extLst>
          </p:cNvPr>
          <p:cNvCxnSpPr>
            <a:cxnSpLocks/>
            <a:stCxn id="15" idx="6"/>
            <a:endCxn id="20" idx="2"/>
          </p:cNvCxnSpPr>
          <p:nvPr/>
        </p:nvCxnSpPr>
        <p:spPr>
          <a:xfrm>
            <a:off x="4114800" y="2969821"/>
            <a:ext cx="1748642" cy="954479"/>
          </a:xfrm>
          <a:prstGeom prst="line">
            <a:avLst/>
          </a:prstGeom>
          <a:ln w="28575"/>
        </p:spPr>
        <p:style>
          <a:lnRef idx="1">
            <a:schemeClr val="dk1"/>
          </a:lnRef>
          <a:fillRef idx="0">
            <a:schemeClr val="dk1"/>
          </a:fillRef>
          <a:effectRef idx="0">
            <a:schemeClr val="dk1"/>
          </a:effectRef>
          <a:fontRef idx="minor">
            <a:schemeClr val="tx1"/>
          </a:fontRef>
        </p:style>
      </p:cxnSp>
      <p:cxnSp>
        <p:nvCxnSpPr>
          <p:cNvPr id="145" name="Straight Connector 144">
            <a:extLst>
              <a:ext uri="{FF2B5EF4-FFF2-40B4-BE49-F238E27FC236}">
                <a16:creationId xmlns:a16="http://schemas.microsoft.com/office/drawing/2014/main" id="{AA18D6E2-DE37-F040-8002-761744537496}"/>
              </a:ext>
            </a:extLst>
          </p:cNvPr>
          <p:cNvCxnSpPr>
            <a:cxnSpLocks/>
            <a:stCxn id="15" idx="6"/>
            <a:endCxn id="21" idx="2"/>
          </p:cNvCxnSpPr>
          <p:nvPr/>
        </p:nvCxnSpPr>
        <p:spPr>
          <a:xfrm>
            <a:off x="4114800" y="2969821"/>
            <a:ext cx="1752600" cy="1564079"/>
          </a:xfrm>
          <a:prstGeom prst="line">
            <a:avLst/>
          </a:prstGeom>
          <a:ln w="28575"/>
        </p:spPr>
        <p:style>
          <a:lnRef idx="1">
            <a:schemeClr val="dk1"/>
          </a:lnRef>
          <a:fillRef idx="0">
            <a:schemeClr val="dk1"/>
          </a:fillRef>
          <a:effectRef idx="0">
            <a:schemeClr val="dk1"/>
          </a:effectRef>
          <a:fontRef idx="minor">
            <a:schemeClr val="tx1"/>
          </a:fontRef>
        </p:style>
      </p:cxnSp>
      <p:cxnSp>
        <p:nvCxnSpPr>
          <p:cNvPr id="148" name="Straight Connector 147">
            <a:extLst>
              <a:ext uri="{FF2B5EF4-FFF2-40B4-BE49-F238E27FC236}">
                <a16:creationId xmlns:a16="http://schemas.microsoft.com/office/drawing/2014/main" id="{09600B10-7575-2D43-8D58-0C92EF63F6B2}"/>
              </a:ext>
            </a:extLst>
          </p:cNvPr>
          <p:cNvCxnSpPr>
            <a:cxnSpLocks/>
            <a:stCxn id="15" idx="6"/>
            <a:endCxn id="22" idx="2"/>
          </p:cNvCxnSpPr>
          <p:nvPr/>
        </p:nvCxnSpPr>
        <p:spPr>
          <a:xfrm>
            <a:off x="4114800" y="2969821"/>
            <a:ext cx="1752600" cy="2173679"/>
          </a:xfrm>
          <a:prstGeom prst="line">
            <a:avLst/>
          </a:prstGeom>
          <a:ln w="28575"/>
        </p:spPr>
        <p:style>
          <a:lnRef idx="1">
            <a:schemeClr val="dk1"/>
          </a:lnRef>
          <a:fillRef idx="0">
            <a:schemeClr val="dk1"/>
          </a:fillRef>
          <a:effectRef idx="0">
            <a:schemeClr val="dk1"/>
          </a:effectRef>
          <a:fontRef idx="minor">
            <a:schemeClr val="tx1"/>
          </a:fontRef>
        </p:style>
      </p:cxnSp>
      <p:cxnSp>
        <p:nvCxnSpPr>
          <p:cNvPr id="151" name="Straight Connector 150">
            <a:extLst>
              <a:ext uri="{FF2B5EF4-FFF2-40B4-BE49-F238E27FC236}">
                <a16:creationId xmlns:a16="http://schemas.microsoft.com/office/drawing/2014/main" id="{A95BDE5A-9779-A542-AF26-5F7ADC0484B3}"/>
              </a:ext>
            </a:extLst>
          </p:cNvPr>
          <p:cNvCxnSpPr>
            <a:cxnSpLocks/>
            <a:stCxn id="15" idx="6"/>
            <a:endCxn id="23" idx="2"/>
          </p:cNvCxnSpPr>
          <p:nvPr/>
        </p:nvCxnSpPr>
        <p:spPr>
          <a:xfrm>
            <a:off x="4114800" y="2969821"/>
            <a:ext cx="1750621" cy="2783279"/>
          </a:xfrm>
          <a:prstGeom prst="line">
            <a:avLst/>
          </a:prstGeom>
          <a:ln w="28575"/>
        </p:spPr>
        <p:style>
          <a:lnRef idx="1">
            <a:schemeClr val="dk1"/>
          </a:lnRef>
          <a:fillRef idx="0">
            <a:schemeClr val="dk1"/>
          </a:fillRef>
          <a:effectRef idx="0">
            <a:schemeClr val="dk1"/>
          </a:effectRef>
          <a:fontRef idx="minor">
            <a:schemeClr val="tx1"/>
          </a:fontRef>
        </p:style>
      </p:cxnSp>
      <p:cxnSp>
        <p:nvCxnSpPr>
          <p:cNvPr id="154" name="Straight Connector 153">
            <a:extLst>
              <a:ext uri="{FF2B5EF4-FFF2-40B4-BE49-F238E27FC236}">
                <a16:creationId xmlns:a16="http://schemas.microsoft.com/office/drawing/2014/main" id="{587368D1-F990-D944-BA26-0CC51A917895}"/>
              </a:ext>
            </a:extLst>
          </p:cNvPr>
          <p:cNvCxnSpPr>
            <a:cxnSpLocks/>
            <a:endCxn id="25" idx="2"/>
          </p:cNvCxnSpPr>
          <p:nvPr/>
        </p:nvCxnSpPr>
        <p:spPr>
          <a:xfrm>
            <a:off x="4117768" y="2996184"/>
            <a:ext cx="1747653" cy="3366516"/>
          </a:xfrm>
          <a:prstGeom prst="line">
            <a:avLst/>
          </a:prstGeom>
          <a:ln w="28575"/>
        </p:spPr>
        <p:style>
          <a:lnRef idx="1">
            <a:schemeClr val="dk1"/>
          </a:lnRef>
          <a:fillRef idx="0">
            <a:schemeClr val="dk1"/>
          </a:fillRef>
          <a:effectRef idx="0">
            <a:schemeClr val="dk1"/>
          </a:effectRef>
          <a:fontRef idx="minor">
            <a:schemeClr val="tx1"/>
          </a:fontRef>
        </p:style>
      </p:cxnSp>
      <p:cxnSp>
        <p:nvCxnSpPr>
          <p:cNvPr id="157" name="Straight Connector 156">
            <a:extLst>
              <a:ext uri="{FF2B5EF4-FFF2-40B4-BE49-F238E27FC236}">
                <a16:creationId xmlns:a16="http://schemas.microsoft.com/office/drawing/2014/main" id="{1EBDECDF-52DC-0A4D-9BA4-BB4AA08C8B98}"/>
              </a:ext>
            </a:extLst>
          </p:cNvPr>
          <p:cNvCxnSpPr>
            <a:cxnSpLocks/>
          </p:cNvCxnSpPr>
          <p:nvPr/>
        </p:nvCxnSpPr>
        <p:spPr>
          <a:xfrm flipV="1">
            <a:off x="4117768" y="2123384"/>
            <a:ext cx="1742706" cy="1968555"/>
          </a:xfrm>
          <a:prstGeom prst="line">
            <a:avLst/>
          </a:prstGeom>
          <a:ln w="28575"/>
        </p:spPr>
        <p:style>
          <a:lnRef idx="1">
            <a:schemeClr val="dk1"/>
          </a:lnRef>
          <a:fillRef idx="0">
            <a:schemeClr val="dk1"/>
          </a:fillRef>
          <a:effectRef idx="0">
            <a:schemeClr val="dk1"/>
          </a:effectRef>
          <a:fontRef idx="minor">
            <a:schemeClr val="tx1"/>
          </a:fontRef>
        </p:style>
      </p:cxnSp>
      <p:cxnSp>
        <p:nvCxnSpPr>
          <p:cNvPr id="160" name="Straight Connector 159">
            <a:extLst>
              <a:ext uri="{FF2B5EF4-FFF2-40B4-BE49-F238E27FC236}">
                <a16:creationId xmlns:a16="http://schemas.microsoft.com/office/drawing/2014/main" id="{3FF110E6-2EB0-564C-AB9B-4D999D58F9D4}"/>
              </a:ext>
            </a:extLst>
          </p:cNvPr>
          <p:cNvCxnSpPr>
            <a:cxnSpLocks/>
            <a:endCxn id="18" idx="2"/>
          </p:cNvCxnSpPr>
          <p:nvPr/>
        </p:nvCxnSpPr>
        <p:spPr>
          <a:xfrm flipV="1">
            <a:off x="4108894" y="2705100"/>
            <a:ext cx="1756527" cy="1386840"/>
          </a:xfrm>
          <a:prstGeom prst="line">
            <a:avLst/>
          </a:prstGeom>
          <a:ln w="28575"/>
        </p:spPr>
        <p:style>
          <a:lnRef idx="1">
            <a:schemeClr val="dk1"/>
          </a:lnRef>
          <a:fillRef idx="0">
            <a:schemeClr val="dk1"/>
          </a:fillRef>
          <a:effectRef idx="0">
            <a:schemeClr val="dk1"/>
          </a:effectRef>
          <a:fontRef idx="minor">
            <a:schemeClr val="tx1"/>
          </a:fontRef>
        </p:style>
      </p:cxnSp>
      <p:cxnSp>
        <p:nvCxnSpPr>
          <p:cNvPr id="165" name="Straight Connector 164">
            <a:extLst>
              <a:ext uri="{FF2B5EF4-FFF2-40B4-BE49-F238E27FC236}">
                <a16:creationId xmlns:a16="http://schemas.microsoft.com/office/drawing/2014/main" id="{EB50F085-577A-434F-8E0E-516959178510}"/>
              </a:ext>
            </a:extLst>
          </p:cNvPr>
          <p:cNvCxnSpPr>
            <a:cxnSpLocks/>
            <a:endCxn id="19" idx="2"/>
          </p:cNvCxnSpPr>
          <p:nvPr/>
        </p:nvCxnSpPr>
        <p:spPr>
          <a:xfrm flipV="1">
            <a:off x="4122716" y="3314700"/>
            <a:ext cx="1742705" cy="773430"/>
          </a:xfrm>
          <a:prstGeom prst="line">
            <a:avLst/>
          </a:prstGeom>
          <a:ln w="28575"/>
        </p:spPr>
        <p:style>
          <a:lnRef idx="1">
            <a:schemeClr val="dk1"/>
          </a:lnRef>
          <a:fillRef idx="0">
            <a:schemeClr val="dk1"/>
          </a:fillRef>
          <a:effectRef idx="0">
            <a:schemeClr val="dk1"/>
          </a:effectRef>
          <a:fontRef idx="minor">
            <a:schemeClr val="tx1"/>
          </a:fontRef>
        </p:style>
      </p:cxnSp>
      <p:cxnSp>
        <p:nvCxnSpPr>
          <p:cNvPr id="168" name="Straight Connector 167">
            <a:extLst>
              <a:ext uri="{FF2B5EF4-FFF2-40B4-BE49-F238E27FC236}">
                <a16:creationId xmlns:a16="http://schemas.microsoft.com/office/drawing/2014/main" id="{D786C8DE-B75C-2442-BAC4-27A6C4AB4EE9}"/>
              </a:ext>
            </a:extLst>
          </p:cNvPr>
          <p:cNvCxnSpPr>
            <a:cxnSpLocks/>
            <a:endCxn id="20" idx="2"/>
          </p:cNvCxnSpPr>
          <p:nvPr/>
        </p:nvCxnSpPr>
        <p:spPr>
          <a:xfrm flipV="1">
            <a:off x="4117768" y="3924300"/>
            <a:ext cx="1745674" cy="163830"/>
          </a:xfrm>
          <a:prstGeom prst="line">
            <a:avLst/>
          </a:prstGeom>
          <a:ln w="28575"/>
        </p:spPr>
        <p:style>
          <a:lnRef idx="1">
            <a:schemeClr val="dk1"/>
          </a:lnRef>
          <a:fillRef idx="0">
            <a:schemeClr val="dk1"/>
          </a:fillRef>
          <a:effectRef idx="0">
            <a:schemeClr val="dk1"/>
          </a:effectRef>
          <a:fontRef idx="minor">
            <a:schemeClr val="tx1"/>
          </a:fontRef>
        </p:style>
      </p:cxnSp>
      <p:cxnSp>
        <p:nvCxnSpPr>
          <p:cNvPr id="171" name="Straight Connector 170">
            <a:extLst>
              <a:ext uri="{FF2B5EF4-FFF2-40B4-BE49-F238E27FC236}">
                <a16:creationId xmlns:a16="http://schemas.microsoft.com/office/drawing/2014/main" id="{3DB0A451-42CF-C142-A193-4F7D3E8CCF08}"/>
              </a:ext>
            </a:extLst>
          </p:cNvPr>
          <p:cNvCxnSpPr>
            <a:cxnSpLocks/>
            <a:endCxn id="21" idx="2"/>
          </p:cNvCxnSpPr>
          <p:nvPr/>
        </p:nvCxnSpPr>
        <p:spPr>
          <a:xfrm>
            <a:off x="4123674" y="4088130"/>
            <a:ext cx="1743726" cy="445770"/>
          </a:xfrm>
          <a:prstGeom prst="line">
            <a:avLst/>
          </a:prstGeom>
          <a:ln w="28575"/>
        </p:spPr>
        <p:style>
          <a:lnRef idx="1">
            <a:schemeClr val="dk1"/>
          </a:lnRef>
          <a:fillRef idx="0">
            <a:schemeClr val="dk1"/>
          </a:fillRef>
          <a:effectRef idx="0">
            <a:schemeClr val="dk1"/>
          </a:effectRef>
          <a:fontRef idx="minor">
            <a:schemeClr val="tx1"/>
          </a:fontRef>
        </p:style>
      </p:cxnSp>
      <p:cxnSp>
        <p:nvCxnSpPr>
          <p:cNvPr id="174" name="Straight Connector 173">
            <a:extLst>
              <a:ext uri="{FF2B5EF4-FFF2-40B4-BE49-F238E27FC236}">
                <a16:creationId xmlns:a16="http://schemas.microsoft.com/office/drawing/2014/main" id="{06B6CE7C-5BDE-4A44-B96A-724BDFA0EA5F}"/>
              </a:ext>
            </a:extLst>
          </p:cNvPr>
          <p:cNvCxnSpPr>
            <a:cxnSpLocks/>
            <a:endCxn id="22" idx="2"/>
          </p:cNvCxnSpPr>
          <p:nvPr/>
        </p:nvCxnSpPr>
        <p:spPr>
          <a:xfrm>
            <a:off x="4122716" y="4076699"/>
            <a:ext cx="1744684" cy="1066801"/>
          </a:xfrm>
          <a:prstGeom prst="line">
            <a:avLst/>
          </a:prstGeom>
          <a:ln w="28575"/>
        </p:spPr>
        <p:style>
          <a:lnRef idx="1">
            <a:schemeClr val="dk1"/>
          </a:lnRef>
          <a:fillRef idx="0">
            <a:schemeClr val="dk1"/>
          </a:fillRef>
          <a:effectRef idx="0">
            <a:schemeClr val="dk1"/>
          </a:effectRef>
          <a:fontRef idx="minor">
            <a:schemeClr val="tx1"/>
          </a:fontRef>
        </p:style>
      </p:cxnSp>
      <p:cxnSp>
        <p:nvCxnSpPr>
          <p:cNvPr id="178" name="Straight Connector 177">
            <a:extLst>
              <a:ext uri="{FF2B5EF4-FFF2-40B4-BE49-F238E27FC236}">
                <a16:creationId xmlns:a16="http://schemas.microsoft.com/office/drawing/2014/main" id="{603F59D7-12C1-2E4C-899D-CCDA050F7E5F}"/>
              </a:ext>
            </a:extLst>
          </p:cNvPr>
          <p:cNvCxnSpPr>
            <a:cxnSpLocks/>
            <a:endCxn id="23" idx="2"/>
          </p:cNvCxnSpPr>
          <p:nvPr/>
        </p:nvCxnSpPr>
        <p:spPr>
          <a:xfrm>
            <a:off x="4117768" y="4076699"/>
            <a:ext cx="1747653" cy="1676401"/>
          </a:xfrm>
          <a:prstGeom prst="line">
            <a:avLst/>
          </a:prstGeom>
          <a:ln w="28575"/>
        </p:spPr>
        <p:style>
          <a:lnRef idx="1">
            <a:schemeClr val="dk1"/>
          </a:lnRef>
          <a:fillRef idx="0">
            <a:schemeClr val="dk1"/>
          </a:fillRef>
          <a:effectRef idx="0">
            <a:schemeClr val="dk1"/>
          </a:effectRef>
          <a:fontRef idx="minor">
            <a:schemeClr val="tx1"/>
          </a:fontRef>
        </p:style>
      </p:cxnSp>
      <p:cxnSp>
        <p:nvCxnSpPr>
          <p:cNvPr id="181" name="Straight Connector 180">
            <a:extLst>
              <a:ext uri="{FF2B5EF4-FFF2-40B4-BE49-F238E27FC236}">
                <a16:creationId xmlns:a16="http://schemas.microsoft.com/office/drawing/2014/main" id="{9DE6BC36-53DC-DF43-9ACA-D9CC74A66992}"/>
              </a:ext>
            </a:extLst>
          </p:cNvPr>
          <p:cNvCxnSpPr>
            <a:cxnSpLocks/>
            <a:endCxn id="25" idx="2"/>
          </p:cNvCxnSpPr>
          <p:nvPr/>
        </p:nvCxnSpPr>
        <p:spPr>
          <a:xfrm>
            <a:off x="4119747" y="4076699"/>
            <a:ext cx="1745674" cy="2286001"/>
          </a:xfrm>
          <a:prstGeom prst="line">
            <a:avLst/>
          </a:prstGeom>
          <a:ln w="28575"/>
        </p:spPr>
        <p:style>
          <a:lnRef idx="1">
            <a:schemeClr val="dk1"/>
          </a:lnRef>
          <a:fillRef idx="0">
            <a:schemeClr val="dk1"/>
          </a:fillRef>
          <a:effectRef idx="0">
            <a:schemeClr val="dk1"/>
          </a:effectRef>
          <a:fontRef idx="minor">
            <a:schemeClr val="tx1"/>
          </a:fontRef>
        </p:style>
      </p:cxnSp>
      <p:cxnSp>
        <p:nvCxnSpPr>
          <p:cNvPr id="184" name="Straight Connector 183">
            <a:extLst>
              <a:ext uri="{FF2B5EF4-FFF2-40B4-BE49-F238E27FC236}">
                <a16:creationId xmlns:a16="http://schemas.microsoft.com/office/drawing/2014/main" id="{7BF441FF-C8B6-9E46-8EFF-1B2D68709752}"/>
              </a:ext>
            </a:extLst>
          </p:cNvPr>
          <p:cNvCxnSpPr>
            <a:cxnSpLocks/>
            <a:stCxn id="17" idx="7"/>
            <a:endCxn id="24" idx="2"/>
          </p:cNvCxnSpPr>
          <p:nvPr/>
        </p:nvCxnSpPr>
        <p:spPr>
          <a:xfrm flipV="1">
            <a:off x="4036685" y="2095500"/>
            <a:ext cx="1828736" cy="3088015"/>
          </a:xfrm>
          <a:prstGeom prst="line">
            <a:avLst/>
          </a:prstGeom>
          <a:ln w="28575"/>
        </p:spPr>
        <p:style>
          <a:lnRef idx="1">
            <a:schemeClr val="dk1"/>
          </a:lnRef>
          <a:fillRef idx="0">
            <a:schemeClr val="dk1"/>
          </a:fillRef>
          <a:effectRef idx="0">
            <a:schemeClr val="dk1"/>
          </a:effectRef>
          <a:fontRef idx="minor">
            <a:schemeClr val="tx1"/>
          </a:fontRef>
        </p:style>
      </p:cxnSp>
      <p:cxnSp>
        <p:nvCxnSpPr>
          <p:cNvPr id="187" name="Straight Connector 186">
            <a:extLst>
              <a:ext uri="{FF2B5EF4-FFF2-40B4-BE49-F238E27FC236}">
                <a16:creationId xmlns:a16="http://schemas.microsoft.com/office/drawing/2014/main" id="{1C0650AA-5AFE-7643-8015-7F3A67E34C58}"/>
              </a:ext>
            </a:extLst>
          </p:cNvPr>
          <p:cNvCxnSpPr>
            <a:cxnSpLocks/>
            <a:stCxn id="17" idx="7"/>
            <a:endCxn id="18" idx="2"/>
          </p:cNvCxnSpPr>
          <p:nvPr/>
        </p:nvCxnSpPr>
        <p:spPr>
          <a:xfrm flipV="1">
            <a:off x="4036685" y="2705100"/>
            <a:ext cx="1828736" cy="2478415"/>
          </a:xfrm>
          <a:prstGeom prst="line">
            <a:avLst/>
          </a:prstGeom>
          <a:ln w="28575"/>
        </p:spPr>
        <p:style>
          <a:lnRef idx="1">
            <a:schemeClr val="dk1"/>
          </a:lnRef>
          <a:fillRef idx="0">
            <a:schemeClr val="dk1"/>
          </a:fillRef>
          <a:effectRef idx="0">
            <a:schemeClr val="dk1"/>
          </a:effectRef>
          <a:fontRef idx="minor">
            <a:schemeClr val="tx1"/>
          </a:fontRef>
        </p:style>
      </p:cxnSp>
      <p:cxnSp>
        <p:nvCxnSpPr>
          <p:cNvPr id="190" name="Straight Connector 189">
            <a:extLst>
              <a:ext uri="{FF2B5EF4-FFF2-40B4-BE49-F238E27FC236}">
                <a16:creationId xmlns:a16="http://schemas.microsoft.com/office/drawing/2014/main" id="{1AB45CB1-1B0D-584B-97FE-A7F2539D371B}"/>
              </a:ext>
            </a:extLst>
          </p:cNvPr>
          <p:cNvCxnSpPr>
            <a:cxnSpLocks/>
            <a:stCxn id="17" idx="7"/>
            <a:endCxn id="19" idx="2"/>
          </p:cNvCxnSpPr>
          <p:nvPr/>
        </p:nvCxnSpPr>
        <p:spPr>
          <a:xfrm flipV="1">
            <a:off x="4036685" y="3314700"/>
            <a:ext cx="1828736" cy="1868815"/>
          </a:xfrm>
          <a:prstGeom prst="line">
            <a:avLst/>
          </a:prstGeom>
          <a:ln w="28575"/>
        </p:spPr>
        <p:style>
          <a:lnRef idx="1">
            <a:schemeClr val="dk1"/>
          </a:lnRef>
          <a:fillRef idx="0">
            <a:schemeClr val="dk1"/>
          </a:fillRef>
          <a:effectRef idx="0">
            <a:schemeClr val="dk1"/>
          </a:effectRef>
          <a:fontRef idx="minor">
            <a:schemeClr val="tx1"/>
          </a:fontRef>
        </p:style>
      </p:cxnSp>
      <p:cxnSp>
        <p:nvCxnSpPr>
          <p:cNvPr id="193" name="Straight Connector 192">
            <a:extLst>
              <a:ext uri="{FF2B5EF4-FFF2-40B4-BE49-F238E27FC236}">
                <a16:creationId xmlns:a16="http://schemas.microsoft.com/office/drawing/2014/main" id="{0ADD363D-8B62-FC45-BBAF-319CD0FB238D}"/>
              </a:ext>
            </a:extLst>
          </p:cNvPr>
          <p:cNvCxnSpPr>
            <a:cxnSpLocks/>
            <a:stCxn id="17" idx="7"/>
          </p:cNvCxnSpPr>
          <p:nvPr/>
        </p:nvCxnSpPr>
        <p:spPr>
          <a:xfrm flipV="1">
            <a:off x="4036685" y="3923343"/>
            <a:ext cx="1817883" cy="1260172"/>
          </a:xfrm>
          <a:prstGeom prst="line">
            <a:avLst/>
          </a:prstGeom>
          <a:ln w="28575"/>
        </p:spPr>
        <p:style>
          <a:lnRef idx="1">
            <a:schemeClr val="dk1"/>
          </a:lnRef>
          <a:fillRef idx="0">
            <a:schemeClr val="dk1"/>
          </a:fillRef>
          <a:effectRef idx="0">
            <a:schemeClr val="dk1"/>
          </a:effectRef>
          <a:fontRef idx="minor">
            <a:schemeClr val="tx1"/>
          </a:fontRef>
        </p:style>
      </p:cxnSp>
      <p:cxnSp>
        <p:nvCxnSpPr>
          <p:cNvPr id="196" name="Straight Connector 195">
            <a:extLst>
              <a:ext uri="{FF2B5EF4-FFF2-40B4-BE49-F238E27FC236}">
                <a16:creationId xmlns:a16="http://schemas.microsoft.com/office/drawing/2014/main" id="{534135AE-C435-D64E-AA08-0D0030B432B8}"/>
              </a:ext>
            </a:extLst>
          </p:cNvPr>
          <p:cNvCxnSpPr>
            <a:cxnSpLocks/>
            <a:stCxn id="17" idx="7"/>
          </p:cNvCxnSpPr>
          <p:nvPr/>
        </p:nvCxnSpPr>
        <p:spPr>
          <a:xfrm flipV="1">
            <a:off x="4036685" y="4526281"/>
            <a:ext cx="1817883" cy="657234"/>
          </a:xfrm>
          <a:prstGeom prst="line">
            <a:avLst/>
          </a:prstGeom>
          <a:ln w="28575"/>
        </p:spPr>
        <p:style>
          <a:lnRef idx="1">
            <a:schemeClr val="dk1"/>
          </a:lnRef>
          <a:fillRef idx="0">
            <a:schemeClr val="dk1"/>
          </a:fillRef>
          <a:effectRef idx="0">
            <a:schemeClr val="dk1"/>
          </a:effectRef>
          <a:fontRef idx="minor">
            <a:schemeClr val="tx1"/>
          </a:fontRef>
        </p:style>
      </p:cxnSp>
      <p:cxnSp>
        <p:nvCxnSpPr>
          <p:cNvPr id="207" name="Straight Connector 206">
            <a:extLst>
              <a:ext uri="{FF2B5EF4-FFF2-40B4-BE49-F238E27FC236}">
                <a16:creationId xmlns:a16="http://schemas.microsoft.com/office/drawing/2014/main" id="{3FBFF0A4-0C35-8647-B007-BF69D24C0E97}"/>
              </a:ext>
            </a:extLst>
          </p:cNvPr>
          <p:cNvCxnSpPr>
            <a:cxnSpLocks/>
            <a:stCxn id="17" idx="7"/>
            <a:endCxn id="22" idx="2"/>
          </p:cNvCxnSpPr>
          <p:nvPr/>
        </p:nvCxnSpPr>
        <p:spPr>
          <a:xfrm flipV="1">
            <a:off x="4036685" y="5143500"/>
            <a:ext cx="1830715" cy="40015"/>
          </a:xfrm>
          <a:prstGeom prst="line">
            <a:avLst/>
          </a:prstGeom>
          <a:ln w="28575"/>
        </p:spPr>
        <p:style>
          <a:lnRef idx="1">
            <a:schemeClr val="dk1"/>
          </a:lnRef>
          <a:fillRef idx="0">
            <a:schemeClr val="dk1"/>
          </a:fillRef>
          <a:effectRef idx="0">
            <a:schemeClr val="dk1"/>
          </a:effectRef>
          <a:fontRef idx="minor">
            <a:schemeClr val="tx1"/>
          </a:fontRef>
        </p:style>
      </p:cxnSp>
      <p:cxnSp>
        <p:nvCxnSpPr>
          <p:cNvPr id="210" name="Straight Connector 209">
            <a:extLst>
              <a:ext uri="{FF2B5EF4-FFF2-40B4-BE49-F238E27FC236}">
                <a16:creationId xmlns:a16="http://schemas.microsoft.com/office/drawing/2014/main" id="{7C093255-E26A-A64B-9A5D-AB76A5666C72}"/>
              </a:ext>
            </a:extLst>
          </p:cNvPr>
          <p:cNvCxnSpPr>
            <a:cxnSpLocks/>
            <a:stCxn id="17" idx="7"/>
            <a:endCxn id="23" idx="2"/>
          </p:cNvCxnSpPr>
          <p:nvPr/>
        </p:nvCxnSpPr>
        <p:spPr>
          <a:xfrm>
            <a:off x="4036685" y="5183515"/>
            <a:ext cx="1828736" cy="569585"/>
          </a:xfrm>
          <a:prstGeom prst="line">
            <a:avLst/>
          </a:prstGeom>
          <a:ln w="28575"/>
        </p:spPr>
        <p:style>
          <a:lnRef idx="1">
            <a:schemeClr val="dk1"/>
          </a:lnRef>
          <a:fillRef idx="0">
            <a:schemeClr val="dk1"/>
          </a:fillRef>
          <a:effectRef idx="0">
            <a:schemeClr val="dk1"/>
          </a:effectRef>
          <a:fontRef idx="minor">
            <a:schemeClr val="tx1"/>
          </a:fontRef>
        </p:style>
      </p:cxnSp>
      <p:cxnSp>
        <p:nvCxnSpPr>
          <p:cNvPr id="213" name="Straight Connector 212">
            <a:extLst>
              <a:ext uri="{FF2B5EF4-FFF2-40B4-BE49-F238E27FC236}">
                <a16:creationId xmlns:a16="http://schemas.microsoft.com/office/drawing/2014/main" id="{478440D9-42E6-DE49-A7D5-1E04DFA629CE}"/>
              </a:ext>
            </a:extLst>
          </p:cNvPr>
          <p:cNvCxnSpPr>
            <a:cxnSpLocks/>
            <a:stCxn id="17" idx="7"/>
            <a:endCxn id="25" idx="2"/>
          </p:cNvCxnSpPr>
          <p:nvPr/>
        </p:nvCxnSpPr>
        <p:spPr>
          <a:xfrm>
            <a:off x="4036685" y="5183515"/>
            <a:ext cx="1828736" cy="1179185"/>
          </a:xfrm>
          <a:prstGeom prst="line">
            <a:avLst/>
          </a:prstGeom>
          <a:ln w="28575"/>
        </p:spPr>
        <p:style>
          <a:lnRef idx="1">
            <a:schemeClr val="dk1"/>
          </a:lnRef>
          <a:fillRef idx="0">
            <a:schemeClr val="dk1"/>
          </a:fillRef>
          <a:effectRef idx="0">
            <a:schemeClr val="dk1"/>
          </a:effectRef>
          <a:fontRef idx="minor">
            <a:schemeClr val="tx1"/>
          </a:fontRef>
        </p:style>
      </p:cxnSp>
      <p:grpSp>
        <p:nvGrpSpPr>
          <p:cNvPr id="76" name="Group 75">
            <a:extLst>
              <a:ext uri="{FF2B5EF4-FFF2-40B4-BE49-F238E27FC236}">
                <a16:creationId xmlns:a16="http://schemas.microsoft.com/office/drawing/2014/main" id="{4440B9F7-CCBC-C34A-828B-F8797096FDD1}"/>
              </a:ext>
            </a:extLst>
          </p:cNvPr>
          <p:cNvGrpSpPr/>
          <p:nvPr/>
        </p:nvGrpSpPr>
        <p:grpSpPr>
          <a:xfrm>
            <a:off x="642264" y="1904997"/>
            <a:ext cx="661050" cy="4648203"/>
            <a:chOff x="856144" y="3124199"/>
            <a:chExt cx="1277456" cy="2209801"/>
          </a:xfrm>
        </p:grpSpPr>
        <p:sp>
          <p:nvSpPr>
            <p:cNvPr id="77" name="TextBox 76">
              <a:extLst>
                <a:ext uri="{FF2B5EF4-FFF2-40B4-BE49-F238E27FC236}">
                  <a16:creationId xmlns:a16="http://schemas.microsoft.com/office/drawing/2014/main" id="{904C049D-063F-AA49-8FE5-F37E6C55B503}"/>
                </a:ext>
              </a:extLst>
            </p:cNvPr>
            <p:cNvSpPr txBox="1"/>
            <p:nvPr/>
          </p:nvSpPr>
          <p:spPr>
            <a:xfrm rot="16200000">
              <a:off x="155198" y="3825145"/>
              <a:ext cx="2115614" cy="713721"/>
            </a:xfrm>
            <a:prstGeom prst="rect">
              <a:avLst/>
            </a:prstGeom>
            <a:noFill/>
          </p:spPr>
          <p:txBody>
            <a:bodyPr wrap="square" rtlCol="0">
              <a:spAutoFit/>
            </a:bodyPr>
            <a:lstStyle/>
            <a:p>
              <a:pPr algn="ctr"/>
              <a:r>
                <a:rPr lang="en-US" dirty="0">
                  <a:solidFill>
                    <a:srgbClr val="D60093"/>
                  </a:solidFill>
                </a:rPr>
                <a:t>Target word = books</a:t>
              </a:r>
              <a:endParaRPr lang="en-US" dirty="0">
                <a:solidFill>
                  <a:srgbClr val="D60093"/>
                </a:solidFill>
                <a:latin typeface="Arial" pitchFamily="34" charset="0"/>
                <a:cs typeface="Arial" pitchFamily="34" charset="0"/>
              </a:endParaRPr>
            </a:p>
          </p:txBody>
        </p:sp>
        <p:sp>
          <p:nvSpPr>
            <p:cNvPr id="79" name="Left Brace 78">
              <a:extLst>
                <a:ext uri="{FF2B5EF4-FFF2-40B4-BE49-F238E27FC236}">
                  <a16:creationId xmlns:a16="http://schemas.microsoft.com/office/drawing/2014/main" id="{3FD0ABCC-5EDB-0347-8A22-3C0D19BBDBBE}"/>
                </a:ext>
              </a:extLst>
            </p:cNvPr>
            <p:cNvSpPr/>
            <p:nvPr/>
          </p:nvSpPr>
          <p:spPr>
            <a:xfrm>
              <a:off x="1569865" y="3124200"/>
              <a:ext cx="563735" cy="2209800"/>
            </a:xfrm>
            <a:prstGeom prst="leftBrace">
              <a:avLst/>
            </a:prstGeom>
            <a:ln w="28575">
              <a:solidFill>
                <a:srgbClr val="D60093"/>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sp>
        <p:nvSpPr>
          <p:cNvPr id="29" name="TextBox 28">
            <a:extLst>
              <a:ext uri="{FF2B5EF4-FFF2-40B4-BE49-F238E27FC236}">
                <a16:creationId xmlns:a16="http://schemas.microsoft.com/office/drawing/2014/main" id="{0989CABD-8ACB-D341-B194-735DBFB8EC4F}"/>
              </a:ext>
            </a:extLst>
          </p:cNvPr>
          <p:cNvSpPr txBox="1"/>
          <p:nvPr/>
        </p:nvSpPr>
        <p:spPr>
          <a:xfrm>
            <a:off x="2971800" y="6019800"/>
            <a:ext cx="2133600" cy="369332"/>
          </a:xfrm>
          <a:prstGeom prst="rect">
            <a:avLst/>
          </a:prstGeom>
          <a:noFill/>
        </p:spPr>
        <p:txBody>
          <a:bodyPr wrap="square" rtlCol="0">
            <a:spAutoFit/>
          </a:bodyPr>
          <a:lstStyle/>
          <a:p>
            <a:r>
              <a:rPr lang="en-US" dirty="0">
                <a:solidFill>
                  <a:srgbClr val="0000FF"/>
                </a:solidFill>
                <a:latin typeface="Arial" pitchFamily="34" charset="0"/>
                <a:cs typeface="Arial" pitchFamily="34" charset="0"/>
              </a:rPr>
              <a:t>3-dim embedding</a:t>
            </a:r>
          </a:p>
        </p:txBody>
      </p:sp>
      <p:sp>
        <p:nvSpPr>
          <p:cNvPr id="89" name="Title 1">
            <a:extLst>
              <a:ext uri="{FF2B5EF4-FFF2-40B4-BE49-F238E27FC236}">
                <a16:creationId xmlns:a16="http://schemas.microsoft.com/office/drawing/2014/main" id="{B19AD8C4-BEA1-314E-8896-166397774656}"/>
              </a:ext>
            </a:extLst>
          </p:cNvPr>
          <p:cNvSpPr>
            <a:spLocks noGrp="1"/>
          </p:cNvSpPr>
          <p:nvPr>
            <p:ph type="title"/>
          </p:nvPr>
        </p:nvSpPr>
        <p:spPr>
          <a:xfrm>
            <a:off x="457200" y="76200"/>
            <a:ext cx="8229600" cy="987552"/>
          </a:xfrm>
        </p:spPr>
        <p:txBody>
          <a:bodyPr/>
          <a:lstStyle/>
          <a:p>
            <a:r>
              <a:rPr lang="en-US" dirty="0"/>
              <a:t>Word2Vec: Example</a:t>
            </a:r>
          </a:p>
        </p:txBody>
      </p:sp>
      <p:sp>
        <p:nvSpPr>
          <p:cNvPr id="82" name="TextBox 81">
            <a:extLst>
              <a:ext uri="{FF2B5EF4-FFF2-40B4-BE49-F238E27FC236}">
                <a16:creationId xmlns:a16="http://schemas.microsoft.com/office/drawing/2014/main" id="{7B4B38B5-5293-CE4E-812D-A2ABE52C2109}"/>
              </a:ext>
            </a:extLst>
          </p:cNvPr>
          <p:cNvSpPr txBox="1"/>
          <p:nvPr/>
        </p:nvSpPr>
        <p:spPr>
          <a:xfrm>
            <a:off x="2266120" y="2003273"/>
            <a:ext cx="1089275" cy="369332"/>
          </a:xfrm>
          <a:prstGeom prst="rect">
            <a:avLst/>
          </a:prstGeom>
          <a:noFill/>
        </p:spPr>
        <p:txBody>
          <a:bodyPr wrap="square" rtlCol="0">
            <a:spAutoFit/>
          </a:bodyPr>
          <a:lstStyle/>
          <a:p>
            <a:r>
              <a:rPr lang="en-US" b="1" dirty="0" err="1">
                <a:solidFill>
                  <a:srgbClr val="0000FF"/>
                </a:solidFill>
                <a:latin typeface="Arial" pitchFamily="34" charset="0"/>
                <a:cs typeface="Arial" pitchFamily="34" charset="0"/>
              </a:rPr>
              <a:t>W</a:t>
            </a:r>
            <a:r>
              <a:rPr lang="en-US" b="1" baseline="-25000" dirty="0" err="1">
                <a:solidFill>
                  <a:srgbClr val="0000FF"/>
                </a:solidFill>
                <a:latin typeface="Arial" pitchFamily="34" charset="0"/>
                <a:cs typeface="Arial" pitchFamily="34" charset="0"/>
              </a:rPr>
              <a:t>VxN</a:t>
            </a:r>
            <a:endParaRPr lang="en-US" b="1" baseline="-25000" dirty="0">
              <a:solidFill>
                <a:srgbClr val="0000FF"/>
              </a:solidFill>
              <a:latin typeface="Arial" pitchFamily="34" charset="0"/>
              <a:cs typeface="Arial" pitchFamily="34" charset="0"/>
            </a:endParaRPr>
          </a:p>
        </p:txBody>
      </p:sp>
      <p:sp>
        <p:nvSpPr>
          <p:cNvPr id="83" name="TextBox 82">
            <a:extLst>
              <a:ext uri="{FF2B5EF4-FFF2-40B4-BE49-F238E27FC236}">
                <a16:creationId xmlns:a16="http://schemas.microsoft.com/office/drawing/2014/main" id="{44D429D3-60E6-2D40-AA00-0E9C18A8B216}"/>
              </a:ext>
            </a:extLst>
          </p:cNvPr>
          <p:cNvSpPr txBox="1"/>
          <p:nvPr/>
        </p:nvSpPr>
        <p:spPr>
          <a:xfrm>
            <a:off x="4284925" y="2041890"/>
            <a:ext cx="1089275" cy="369332"/>
          </a:xfrm>
          <a:prstGeom prst="rect">
            <a:avLst/>
          </a:prstGeom>
          <a:noFill/>
        </p:spPr>
        <p:txBody>
          <a:bodyPr wrap="square" rtlCol="0">
            <a:spAutoFit/>
          </a:bodyPr>
          <a:lstStyle/>
          <a:p>
            <a:r>
              <a:rPr lang="en-US" b="1" dirty="0" err="1">
                <a:solidFill>
                  <a:srgbClr val="0000FF"/>
                </a:solidFill>
                <a:latin typeface="Arial" pitchFamily="34" charset="0"/>
                <a:cs typeface="Arial" pitchFamily="34" charset="0"/>
              </a:rPr>
              <a:t>W’</a:t>
            </a:r>
            <a:r>
              <a:rPr lang="en-US" b="1" baseline="-25000" dirty="0" err="1">
                <a:solidFill>
                  <a:srgbClr val="0000FF"/>
                </a:solidFill>
                <a:latin typeface="Arial" pitchFamily="34" charset="0"/>
                <a:cs typeface="Arial" pitchFamily="34" charset="0"/>
              </a:rPr>
              <a:t>NxV</a:t>
            </a:r>
            <a:endParaRPr lang="en-US" b="1" baseline="-25000" dirty="0">
              <a:solidFill>
                <a:srgbClr val="0000FF"/>
              </a:solidFill>
              <a:latin typeface="Arial" pitchFamily="34" charset="0"/>
              <a:cs typeface="Arial" pitchFamily="34" charset="0"/>
            </a:endParaRPr>
          </a:p>
        </p:txBody>
      </p:sp>
      <p:sp>
        <p:nvSpPr>
          <p:cNvPr id="2" name="TextBox 1">
            <a:extLst>
              <a:ext uri="{FF2B5EF4-FFF2-40B4-BE49-F238E27FC236}">
                <a16:creationId xmlns:a16="http://schemas.microsoft.com/office/drawing/2014/main" id="{4724A27C-2864-E043-8F8D-9B19945C359A}"/>
              </a:ext>
            </a:extLst>
          </p:cNvPr>
          <p:cNvSpPr txBox="1"/>
          <p:nvPr/>
        </p:nvSpPr>
        <p:spPr>
          <a:xfrm>
            <a:off x="6796930" y="2669554"/>
            <a:ext cx="2074933" cy="313932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latin typeface="Arial" pitchFamily="34" charset="0"/>
                <a:cs typeface="Arial" pitchFamily="34" charset="0"/>
              </a:rPr>
              <a:t>We apply </a:t>
            </a:r>
            <a:r>
              <a:rPr lang="en-US" dirty="0" err="1">
                <a:latin typeface="Arial" pitchFamily="34" charset="0"/>
                <a:cs typeface="Arial" pitchFamily="34" charset="0"/>
              </a:rPr>
              <a:t>softmax</a:t>
            </a:r>
            <a:r>
              <a:rPr lang="en-US" dirty="0">
                <a:latin typeface="Arial" pitchFamily="34" charset="0"/>
                <a:cs typeface="Arial" pitchFamily="34" charset="0"/>
              </a:rPr>
              <a:t> functions to turn them into probabilities.</a:t>
            </a:r>
          </a:p>
          <a:p>
            <a:endParaRPr lang="en-US" dirty="0">
              <a:latin typeface="Arial" pitchFamily="34" charset="0"/>
              <a:cs typeface="Arial" pitchFamily="34" charset="0"/>
            </a:endParaRPr>
          </a:p>
          <a:p>
            <a:r>
              <a:rPr lang="en-US" dirty="0">
                <a:latin typeface="Arial" pitchFamily="34" charset="0"/>
                <a:cs typeface="Arial" pitchFamily="34" charset="0"/>
              </a:rPr>
              <a:t>Each output </a:t>
            </a:r>
          </a:p>
          <a:p>
            <a:endParaRPr lang="en-US" dirty="0">
              <a:latin typeface="Arial" pitchFamily="34" charset="0"/>
              <a:cs typeface="Arial" pitchFamily="34" charset="0"/>
            </a:endParaRPr>
          </a:p>
          <a:p>
            <a:r>
              <a:rPr lang="en-US" dirty="0">
                <a:latin typeface="Arial" pitchFamily="34" charset="0"/>
                <a:cs typeface="Arial" pitchFamily="34" charset="0"/>
              </a:rPr>
              <a:t>neuron x =</a:t>
            </a:r>
          </a:p>
          <a:p>
            <a:endParaRPr lang="en-US" dirty="0">
              <a:latin typeface="Arial" pitchFamily="34" charset="0"/>
              <a:cs typeface="Arial" pitchFamily="34" charset="0"/>
            </a:endParaRPr>
          </a:p>
          <a:p>
            <a:endParaRPr lang="en-US" dirty="0">
              <a:latin typeface="Arial" pitchFamily="34" charset="0"/>
              <a:cs typeface="Arial" pitchFamily="34" charset="0"/>
            </a:endParaRPr>
          </a:p>
          <a:p>
            <a:r>
              <a:rPr lang="en-US" dirty="0">
                <a:latin typeface="Arial" pitchFamily="34" charset="0"/>
                <a:cs typeface="Arial" pitchFamily="34" charset="0"/>
              </a:rPr>
              <a:t> </a:t>
            </a:r>
          </a:p>
        </p:txBody>
      </p:sp>
      <p:pic>
        <p:nvPicPr>
          <p:cNvPr id="30" name="Picture 29">
            <a:extLst>
              <a:ext uri="{FF2B5EF4-FFF2-40B4-BE49-F238E27FC236}">
                <a16:creationId xmlns:a16="http://schemas.microsoft.com/office/drawing/2014/main" id="{81ADE820-2F1A-0F4B-BA1D-F836FF14C301}"/>
              </a:ext>
            </a:extLst>
          </p:cNvPr>
          <p:cNvPicPr>
            <a:picLocks noChangeAspect="1"/>
          </p:cNvPicPr>
          <p:nvPr/>
        </p:nvPicPr>
        <p:blipFill>
          <a:blip r:embed="rId3"/>
          <a:stretch>
            <a:fillRect/>
          </a:stretch>
        </p:blipFill>
        <p:spPr>
          <a:xfrm>
            <a:off x="8089900" y="4360470"/>
            <a:ext cx="749300" cy="850900"/>
          </a:xfrm>
          <a:prstGeom prst="rect">
            <a:avLst/>
          </a:prstGeom>
        </p:spPr>
      </p:pic>
    </p:spTree>
    <p:extLst>
      <p:ext uri="{BB962C8B-B14F-4D97-AF65-F5344CB8AC3E}">
        <p14:creationId xmlns:p14="http://schemas.microsoft.com/office/powerpoint/2010/main" val="37460299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3EF999-0E22-E646-AE46-E78AE2A30EEA}"/>
              </a:ext>
            </a:extLst>
          </p:cNvPr>
          <p:cNvSpPr>
            <a:spLocks noGrp="1"/>
          </p:cNvSpPr>
          <p:nvPr>
            <p:ph idx="1"/>
          </p:nvPr>
        </p:nvSpPr>
        <p:spPr/>
        <p:txBody>
          <a:bodyPr/>
          <a:lstStyle/>
          <a:p>
            <a:r>
              <a:rPr lang="en-US" sz="2600" dirty="0"/>
              <a:t>If </a:t>
            </a:r>
            <a:r>
              <a:rPr lang="en-US" sz="2600" dirty="0" err="1">
                <a:solidFill>
                  <a:srgbClr val="0000FF"/>
                </a:solidFill>
              </a:rPr>
              <a:t>W’</a:t>
            </a:r>
            <a:r>
              <a:rPr lang="en-US" sz="2600" baseline="-25000" dirty="0" err="1">
                <a:solidFill>
                  <a:srgbClr val="0000FF"/>
                </a:solidFill>
              </a:rPr>
              <a:t>NxV</a:t>
            </a:r>
            <a:r>
              <a:rPr lang="en-US" sz="2600" baseline="-25000" dirty="0">
                <a:solidFill>
                  <a:srgbClr val="0000FF"/>
                </a:solidFill>
              </a:rPr>
              <a:t> </a:t>
            </a:r>
            <a:r>
              <a:rPr lang="en-US" sz="2600" dirty="0"/>
              <a:t>given:</a:t>
            </a:r>
            <a:endParaRPr lang="en-US" sz="2600" baseline="-25000" dirty="0"/>
          </a:p>
        </p:txBody>
      </p:sp>
      <p:sp>
        <p:nvSpPr>
          <p:cNvPr id="4" name="Date Placeholder 3">
            <a:extLst>
              <a:ext uri="{FF2B5EF4-FFF2-40B4-BE49-F238E27FC236}">
                <a16:creationId xmlns:a16="http://schemas.microsoft.com/office/drawing/2014/main" id="{3A95A54D-9A58-5549-8965-BA8F28D4AD61}"/>
              </a:ext>
            </a:extLst>
          </p:cNvPr>
          <p:cNvSpPr>
            <a:spLocks noGrp="1"/>
          </p:cNvSpPr>
          <p:nvPr>
            <p:ph type="dt" sz="half" idx="10"/>
          </p:nvPr>
        </p:nvSpPr>
        <p:spPr/>
        <p:txBody>
          <a:bodyPr/>
          <a:lstStyle/>
          <a:p>
            <a:fld id="{FBB1B42E-39D9-4444-89D0-91D69FE06648}" type="datetime1">
              <a:rPr lang="en-US" smtClean="0"/>
              <a:t>11/3/24</a:t>
            </a:fld>
            <a:endParaRPr lang="en-US"/>
          </a:p>
        </p:txBody>
      </p:sp>
      <p:sp>
        <p:nvSpPr>
          <p:cNvPr id="5" name="Footer Placeholder 4">
            <a:extLst>
              <a:ext uri="{FF2B5EF4-FFF2-40B4-BE49-F238E27FC236}">
                <a16:creationId xmlns:a16="http://schemas.microsoft.com/office/drawing/2014/main" id="{75E3F037-9750-654F-816B-A2F53F57A342}"/>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A9C7C246-21A0-724F-877A-EDE129D9F409}"/>
              </a:ext>
            </a:extLst>
          </p:cNvPr>
          <p:cNvSpPr>
            <a:spLocks noGrp="1"/>
          </p:cNvSpPr>
          <p:nvPr>
            <p:ph type="sldNum" sz="quarter" idx="12"/>
          </p:nvPr>
        </p:nvSpPr>
        <p:spPr/>
        <p:txBody>
          <a:bodyPr/>
          <a:lstStyle/>
          <a:p>
            <a:fld id="{19B12225-5612-419B-A8D5-4B8EEE4C217E}" type="slidenum">
              <a:rPr lang="en-US" smtClean="0"/>
              <a:pPr/>
              <a:t>60</a:t>
            </a:fld>
            <a:endParaRPr lang="en-US"/>
          </a:p>
        </p:txBody>
      </p:sp>
      <p:sp>
        <p:nvSpPr>
          <p:cNvPr id="7" name="Oval 6">
            <a:extLst>
              <a:ext uri="{FF2B5EF4-FFF2-40B4-BE49-F238E27FC236}">
                <a16:creationId xmlns:a16="http://schemas.microsoft.com/office/drawing/2014/main" id="{FE984F9E-3D6F-C247-A6C1-9FD84A14E635}"/>
              </a:ext>
            </a:extLst>
          </p:cNvPr>
          <p:cNvSpPr/>
          <p:nvPr/>
        </p:nvSpPr>
        <p:spPr>
          <a:xfrm>
            <a:off x="1447800" y="24384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8" name="Oval 7">
            <a:extLst>
              <a:ext uri="{FF2B5EF4-FFF2-40B4-BE49-F238E27FC236}">
                <a16:creationId xmlns:a16="http://schemas.microsoft.com/office/drawing/2014/main" id="{FCA76820-8ED3-7640-BA73-F8527CD9BB52}"/>
              </a:ext>
            </a:extLst>
          </p:cNvPr>
          <p:cNvSpPr/>
          <p:nvPr/>
        </p:nvSpPr>
        <p:spPr>
          <a:xfrm>
            <a:off x="1447800" y="30480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9" name="Oval 8">
            <a:extLst>
              <a:ext uri="{FF2B5EF4-FFF2-40B4-BE49-F238E27FC236}">
                <a16:creationId xmlns:a16="http://schemas.microsoft.com/office/drawing/2014/main" id="{B47E7577-F37D-4A4E-8A05-F4574EBC5AC3}"/>
              </a:ext>
            </a:extLst>
          </p:cNvPr>
          <p:cNvSpPr/>
          <p:nvPr/>
        </p:nvSpPr>
        <p:spPr>
          <a:xfrm>
            <a:off x="1445821" y="3657600"/>
            <a:ext cx="533400" cy="533400"/>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1</a:t>
            </a:r>
          </a:p>
        </p:txBody>
      </p:sp>
      <p:sp>
        <p:nvSpPr>
          <p:cNvPr id="10" name="Oval 9">
            <a:extLst>
              <a:ext uri="{FF2B5EF4-FFF2-40B4-BE49-F238E27FC236}">
                <a16:creationId xmlns:a16="http://schemas.microsoft.com/office/drawing/2014/main" id="{1669C58E-19E6-4840-8065-BDB33C26B166}"/>
              </a:ext>
            </a:extLst>
          </p:cNvPr>
          <p:cNvSpPr/>
          <p:nvPr/>
        </p:nvSpPr>
        <p:spPr>
          <a:xfrm>
            <a:off x="1449779" y="42672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1" name="Oval 10">
            <a:extLst>
              <a:ext uri="{FF2B5EF4-FFF2-40B4-BE49-F238E27FC236}">
                <a16:creationId xmlns:a16="http://schemas.microsoft.com/office/drawing/2014/main" id="{9017FFE6-10AE-FF43-99AE-960397B374DB}"/>
              </a:ext>
            </a:extLst>
          </p:cNvPr>
          <p:cNvSpPr/>
          <p:nvPr/>
        </p:nvSpPr>
        <p:spPr>
          <a:xfrm>
            <a:off x="1449779" y="48768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2" name="Oval 11">
            <a:extLst>
              <a:ext uri="{FF2B5EF4-FFF2-40B4-BE49-F238E27FC236}">
                <a16:creationId xmlns:a16="http://schemas.microsoft.com/office/drawing/2014/main" id="{0587A28A-D458-1444-99C8-17770F541260}"/>
              </a:ext>
            </a:extLst>
          </p:cNvPr>
          <p:cNvSpPr/>
          <p:nvPr/>
        </p:nvSpPr>
        <p:spPr>
          <a:xfrm>
            <a:off x="1447800" y="54864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3" name="Oval 12">
            <a:extLst>
              <a:ext uri="{FF2B5EF4-FFF2-40B4-BE49-F238E27FC236}">
                <a16:creationId xmlns:a16="http://schemas.microsoft.com/office/drawing/2014/main" id="{4D34B655-73FA-C34C-9A61-24A56C1E178B}"/>
              </a:ext>
            </a:extLst>
          </p:cNvPr>
          <p:cNvSpPr/>
          <p:nvPr/>
        </p:nvSpPr>
        <p:spPr>
          <a:xfrm>
            <a:off x="1447800" y="18288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4" name="Oval 13">
            <a:extLst>
              <a:ext uri="{FF2B5EF4-FFF2-40B4-BE49-F238E27FC236}">
                <a16:creationId xmlns:a16="http://schemas.microsoft.com/office/drawing/2014/main" id="{5760957A-AB0C-FC41-AA55-82C44F26A99C}"/>
              </a:ext>
            </a:extLst>
          </p:cNvPr>
          <p:cNvSpPr/>
          <p:nvPr/>
        </p:nvSpPr>
        <p:spPr>
          <a:xfrm>
            <a:off x="1447800" y="60960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5" name="Oval 14">
            <a:extLst>
              <a:ext uri="{FF2B5EF4-FFF2-40B4-BE49-F238E27FC236}">
                <a16:creationId xmlns:a16="http://schemas.microsoft.com/office/drawing/2014/main" id="{F0B5B778-2FF2-4044-BB0E-2570466FF450}"/>
              </a:ext>
            </a:extLst>
          </p:cNvPr>
          <p:cNvSpPr/>
          <p:nvPr/>
        </p:nvSpPr>
        <p:spPr>
          <a:xfrm>
            <a:off x="3581400" y="2703121"/>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dirty="0"/>
              <a:t>0.5</a:t>
            </a:r>
          </a:p>
        </p:txBody>
      </p:sp>
      <p:sp>
        <p:nvSpPr>
          <p:cNvPr id="16" name="Oval 15">
            <a:extLst>
              <a:ext uri="{FF2B5EF4-FFF2-40B4-BE49-F238E27FC236}">
                <a16:creationId xmlns:a16="http://schemas.microsoft.com/office/drawing/2014/main" id="{181F2C68-981D-824F-A4A2-7DD278B281DF}"/>
              </a:ext>
            </a:extLst>
          </p:cNvPr>
          <p:cNvSpPr/>
          <p:nvPr/>
        </p:nvSpPr>
        <p:spPr>
          <a:xfrm>
            <a:off x="3581400" y="39243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2.3</a:t>
            </a:r>
          </a:p>
        </p:txBody>
      </p:sp>
      <p:sp>
        <p:nvSpPr>
          <p:cNvPr id="17" name="Oval 16">
            <a:extLst>
              <a:ext uri="{FF2B5EF4-FFF2-40B4-BE49-F238E27FC236}">
                <a16:creationId xmlns:a16="http://schemas.microsoft.com/office/drawing/2014/main" id="{34985E82-54AF-0A45-9DCD-E6A8D656E586}"/>
              </a:ext>
            </a:extLst>
          </p:cNvPr>
          <p:cNvSpPr/>
          <p:nvPr/>
        </p:nvSpPr>
        <p:spPr>
          <a:xfrm>
            <a:off x="3581400" y="51054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dirty="0"/>
              <a:t>2.2</a:t>
            </a:r>
          </a:p>
        </p:txBody>
      </p:sp>
      <p:sp>
        <p:nvSpPr>
          <p:cNvPr id="18" name="Oval 17">
            <a:extLst>
              <a:ext uri="{FF2B5EF4-FFF2-40B4-BE49-F238E27FC236}">
                <a16:creationId xmlns:a16="http://schemas.microsoft.com/office/drawing/2014/main" id="{7AA8C92D-B711-8145-8F15-3FA48B6147BA}"/>
              </a:ext>
            </a:extLst>
          </p:cNvPr>
          <p:cNvSpPr/>
          <p:nvPr/>
        </p:nvSpPr>
        <p:spPr>
          <a:xfrm>
            <a:off x="5865421" y="24384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dirty="0"/>
              <a:t>5.6</a:t>
            </a:r>
          </a:p>
        </p:txBody>
      </p:sp>
      <p:sp>
        <p:nvSpPr>
          <p:cNvPr id="19" name="Oval 18">
            <a:extLst>
              <a:ext uri="{FF2B5EF4-FFF2-40B4-BE49-F238E27FC236}">
                <a16:creationId xmlns:a16="http://schemas.microsoft.com/office/drawing/2014/main" id="{5C48531D-05C0-8345-980B-30952593A5D8}"/>
              </a:ext>
            </a:extLst>
          </p:cNvPr>
          <p:cNvSpPr/>
          <p:nvPr/>
        </p:nvSpPr>
        <p:spPr>
          <a:xfrm>
            <a:off x="5865421" y="30480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dirty="0"/>
              <a:t>-2.4</a:t>
            </a:r>
          </a:p>
        </p:txBody>
      </p:sp>
      <p:sp>
        <p:nvSpPr>
          <p:cNvPr id="20" name="Oval 19">
            <a:extLst>
              <a:ext uri="{FF2B5EF4-FFF2-40B4-BE49-F238E27FC236}">
                <a16:creationId xmlns:a16="http://schemas.microsoft.com/office/drawing/2014/main" id="{C85BDEDA-0B29-0B48-AB49-A0443750BCFD}"/>
              </a:ext>
            </a:extLst>
          </p:cNvPr>
          <p:cNvSpPr/>
          <p:nvPr/>
        </p:nvSpPr>
        <p:spPr>
          <a:xfrm>
            <a:off x="5863442" y="36576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5.3</a:t>
            </a:r>
          </a:p>
        </p:txBody>
      </p:sp>
      <p:sp>
        <p:nvSpPr>
          <p:cNvPr id="21" name="Oval 20">
            <a:extLst>
              <a:ext uri="{FF2B5EF4-FFF2-40B4-BE49-F238E27FC236}">
                <a16:creationId xmlns:a16="http://schemas.microsoft.com/office/drawing/2014/main" id="{BE8785BA-01A9-8F40-A9A4-F3FEA11408FA}"/>
              </a:ext>
            </a:extLst>
          </p:cNvPr>
          <p:cNvSpPr/>
          <p:nvPr/>
        </p:nvSpPr>
        <p:spPr>
          <a:xfrm>
            <a:off x="5867400" y="42672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6.1</a:t>
            </a:r>
          </a:p>
        </p:txBody>
      </p:sp>
      <p:sp>
        <p:nvSpPr>
          <p:cNvPr id="22" name="Oval 21">
            <a:extLst>
              <a:ext uri="{FF2B5EF4-FFF2-40B4-BE49-F238E27FC236}">
                <a16:creationId xmlns:a16="http://schemas.microsoft.com/office/drawing/2014/main" id="{EB544E5D-9AED-0D4C-B87F-EAD417444152}"/>
              </a:ext>
            </a:extLst>
          </p:cNvPr>
          <p:cNvSpPr/>
          <p:nvPr/>
        </p:nvSpPr>
        <p:spPr>
          <a:xfrm>
            <a:off x="5867400" y="48768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7.4</a:t>
            </a:r>
          </a:p>
        </p:txBody>
      </p:sp>
      <p:sp>
        <p:nvSpPr>
          <p:cNvPr id="23" name="Oval 22">
            <a:extLst>
              <a:ext uri="{FF2B5EF4-FFF2-40B4-BE49-F238E27FC236}">
                <a16:creationId xmlns:a16="http://schemas.microsoft.com/office/drawing/2014/main" id="{F0C98CF2-6F2D-5840-8C01-71F89C11F9FF}"/>
              </a:ext>
            </a:extLst>
          </p:cNvPr>
          <p:cNvSpPr/>
          <p:nvPr/>
        </p:nvSpPr>
        <p:spPr>
          <a:xfrm>
            <a:off x="5865421" y="54864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rIns="0" rtlCol="0" anchor="ctr"/>
          <a:lstStyle/>
          <a:p>
            <a:pPr algn="ctr"/>
            <a:r>
              <a:rPr lang="en-US" dirty="0"/>
              <a:t>3</a:t>
            </a:r>
          </a:p>
        </p:txBody>
      </p:sp>
      <p:sp>
        <p:nvSpPr>
          <p:cNvPr id="24" name="Oval 23">
            <a:extLst>
              <a:ext uri="{FF2B5EF4-FFF2-40B4-BE49-F238E27FC236}">
                <a16:creationId xmlns:a16="http://schemas.microsoft.com/office/drawing/2014/main" id="{DB45B293-2C68-B645-9886-C89078196905}"/>
              </a:ext>
            </a:extLst>
          </p:cNvPr>
          <p:cNvSpPr/>
          <p:nvPr/>
        </p:nvSpPr>
        <p:spPr>
          <a:xfrm>
            <a:off x="5865421" y="18288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dirty="0"/>
              <a:t>1.0</a:t>
            </a:r>
          </a:p>
        </p:txBody>
      </p:sp>
      <p:sp>
        <p:nvSpPr>
          <p:cNvPr id="25" name="Oval 24">
            <a:extLst>
              <a:ext uri="{FF2B5EF4-FFF2-40B4-BE49-F238E27FC236}">
                <a16:creationId xmlns:a16="http://schemas.microsoft.com/office/drawing/2014/main" id="{BEF37F96-B6E3-C443-B434-C702B6BBF14F}"/>
              </a:ext>
            </a:extLst>
          </p:cNvPr>
          <p:cNvSpPr/>
          <p:nvPr/>
        </p:nvSpPr>
        <p:spPr>
          <a:xfrm>
            <a:off x="5865421" y="60960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3.5</a:t>
            </a:r>
          </a:p>
        </p:txBody>
      </p:sp>
      <p:cxnSp>
        <p:nvCxnSpPr>
          <p:cNvPr id="27" name="Straight Connector 26">
            <a:extLst>
              <a:ext uri="{FF2B5EF4-FFF2-40B4-BE49-F238E27FC236}">
                <a16:creationId xmlns:a16="http://schemas.microsoft.com/office/drawing/2014/main" id="{DD3E3EA0-C479-AE4B-A2A9-F7E0E4FCD5EF}"/>
              </a:ext>
            </a:extLst>
          </p:cNvPr>
          <p:cNvCxnSpPr>
            <a:cxnSpLocks/>
            <a:stCxn id="13" idx="5"/>
            <a:endCxn id="15" idx="2"/>
          </p:cNvCxnSpPr>
          <p:nvPr/>
        </p:nvCxnSpPr>
        <p:spPr>
          <a:xfrm>
            <a:off x="1903085" y="2284085"/>
            <a:ext cx="1678315" cy="685736"/>
          </a:xfrm>
          <a:prstGeom prst="line">
            <a:avLst/>
          </a:prstGeom>
          <a:ln w="28575"/>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F01C6554-CAC9-DB47-B06E-9910BCA07525}"/>
              </a:ext>
            </a:extLst>
          </p:cNvPr>
          <p:cNvCxnSpPr>
            <a:cxnSpLocks/>
          </p:cNvCxnSpPr>
          <p:nvPr/>
        </p:nvCxnSpPr>
        <p:spPr>
          <a:xfrm>
            <a:off x="2017353" y="2760303"/>
            <a:ext cx="1560089" cy="249596"/>
          </a:xfrm>
          <a:prstGeom prst="line">
            <a:avLst/>
          </a:prstGeom>
          <a:ln w="28575"/>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6AB9B9E8-C680-5248-9365-F0468870FBBC}"/>
              </a:ext>
            </a:extLst>
          </p:cNvPr>
          <p:cNvCxnSpPr>
            <a:cxnSpLocks/>
            <a:endCxn id="15" idx="2"/>
          </p:cNvCxnSpPr>
          <p:nvPr/>
        </p:nvCxnSpPr>
        <p:spPr>
          <a:xfrm flipV="1">
            <a:off x="2013395" y="2969821"/>
            <a:ext cx="1568005" cy="344882"/>
          </a:xfrm>
          <a:prstGeom prst="line">
            <a:avLst/>
          </a:prstGeom>
          <a:ln w="28575"/>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0927AA7F-71CE-C44D-897C-1E3897E5D80B}"/>
              </a:ext>
            </a:extLst>
          </p:cNvPr>
          <p:cNvCxnSpPr>
            <a:cxnSpLocks/>
            <a:stCxn id="9" idx="6"/>
          </p:cNvCxnSpPr>
          <p:nvPr/>
        </p:nvCxnSpPr>
        <p:spPr>
          <a:xfrm flipV="1">
            <a:off x="1979221" y="3017521"/>
            <a:ext cx="1594263" cy="90677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08B55ED0-0B80-4C46-B835-B9E815368BA5}"/>
              </a:ext>
            </a:extLst>
          </p:cNvPr>
          <p:cNvCxnSpPr>
            <a:cxnSpLocks/>
            <a:stCxn id="10" idx="6"/>
            <a:endCxn id="15" idx="2"/>
          </p:cNvCxnSpPr>
          <p:nvPr/>
        </p:nvCxnSpPr>
        <p:spPr>
          <a:xfrm flipV="1">
            <a:off x="1983179" y="2969821"/>
            <a:ext cx="1598221" cy="1564079"/>
          </a:xfrm>
          <a:prstGeom prst="line">
            <a:avLst/>
          </a:prstGeom>
          <a:ln w="28575"/>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A0598294-3668-E846-A022-5AF29B346430}"/>
              </a:ext>
            </a:extLst>
          </p:cNvPr>
          <p:cNvCxnSpPr>
            <a:cxnSpLocks/>
            <a:stCxn id="11" idx="6"/>
          </p:cNvCxnSpPr>
          <p:nvPr/>
        </p:nvCxnSpPr>
        <p:spPr>
          <a:xfrm flipV="1">
            <a:off x="1983179" y="3040378"/>
            <a:ext cx="1589316" cy="2103122"/>
          </a:xfrm>
          <a:prstGeom prst="line">
            <a:avLst/>
          </a:prstGeom>
          <a:ln w="28575"/>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9AF17E93-717C-114B-A363-D20DEFA81EA3}"/>
              </a:ext>
            </a:extLst>
          </p:cNvPr>
          <p:cNvCxnSpPr>
            <a:cxnSpLocks/>
            <a:stCxn id="12" idx="6"/>
            <a:endCxn id="15" idx="2"/>
          </p:cNvCxnSpPr>
          <p:nvPr/>
        </p:nvCxnSpPr>
        <p:spPr>
          <a:xfrm flipV="1">
            <a:off x="1981200" y="2969821"/>
            <a:ext cx="1600200" cy="2783279"/>
          </a:xfrm>
          <a:prstGeom prst="line">
            <a:avLst/>
          </a:prstGeom>
          <a:ln w="28575"/>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DF3785BE-70E0-FD4A-A597-0F8F86E4C71A}"/>
              </a:ext>
            </a:extLst>
          </p:cNvPr>
          <p:cNvCxnSpPr>
            <a:cxnSpLocks/>
            <a:endCxn id="15" idx="2"/>
          </p:cNvCxnSpPr>
          <p:nvPr/>
        </p:nvCxnSpPr>
        <p:spPr>
          <a:xfrm flipV="1">
            <a:off x="2013395" y="2969821"/>
            <a:ext cx="1568005" cy="3385262"/>
          </a:xfrm>
          <a:prstGeom prst="line">
            <a:avLst/>
          </a:prstGeom>
          <a:ln w="28575"/>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825B194E-AF66-FD48-AC5A-D674DC6458DB}"/>
              </a:ext>
            </a:extLst>
          </p:cNvPr>
          <p:cNvCxnSpPr>
            <a:cxnSpLocks/>
            <a:stCxn id="13" idx="5"/>
            <a:endCxn id="16" idx="1"/>
          </p:cNvCxnSpPr>
          <p:nvPr/>
        </p:nvCxnSpPr>
        <p:spPr>
          <a:xfrm>
            <a:off x="1903085" y="2284085"/>
            <a:ext cx="1756430" cy="1718330"/>
          </a:xfrm>
          <a:prstGeom prst="line">
            <a:avLst/>
          </a:prstGeom>
          <a:ln w="28575"/>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9DD01029-FF5B-904A-BAAA-1D41687D60E1}"/>
              </a:ext>
            </a:extLst>
          </p:cNvPr>
          <p:cNvCxnSpPr>
            <a:cxnSpLocks/>
            <a:endCxn id="16" idx="1"/>
          </p:cNvCxnSpPr>
          <p:nvPr/>
        </p:nvCxnSpPr>
        <p:spPr>
          <a:xfrm>
            <a:off x="1985158" y="2771700"/>
            <a:ext cx="1674357" cy="1230715"/>
          </a:xfrm>
          <a:prstGeom prst="line">
            <a:avLst/>
          </a:prstGeom>
          <a:ln w="28575"/>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D69EAF91-AF65-7449-81D4-6E69506E7ED0}"/>
              </a:ext>
            </a:extLst>
          </p:cNvPr>
          <p:cNvCxnSpPr>
            <a:cxnSpLocks/>
            <a:endCxn id="16" idx="1"/>
          </p:cNvCxnSpPr>
          <p:nvPr/>
        </p:nvCxnSpPr>
        <p:spPr>
          <a:xfrm>
            <a:off x="2015374" y="3322320"/>
            <a:ext cx="1644141" cy="680095"/>
          </a:xfrm>
          <a:prstGeom prst="line">
            <a:avLst/>
          </a:prstGeom>
          <a:ln w="28575"/>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98471BCB-43C3-F54E-AC06-888020A6DEF8}"/>
              </a:ext>
            </a:extLst>
          </p:cNvPr>
          <p:cNvCxnSpPr>
            <a:cxnSpLocks/>
            <a:stCxn id="9" idx="6"/>
            <a:endCxn id="16" idx="1"/>
          </p:cNvCxnSpPr>
          <p:nvPr/>
        </p:nvCxnSpPr>
        <p:spPr>
          <a:xfrm>
            <a:off x="1979221" y="3924300"/>
            <a:ext cx="1680294" cy="7811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C7450171-6F98-294E-B819-3BCCDC274A74}"/>
              </a:ext>
            </a:extLst>
          </p:cNvPr>
          <p:cNvCxnSpPr>
            <a:cxnSpLocks/>
            <a:endCxn id="16" idx="1"/>
          </p:cNvCxnSpPr>
          <p:nvPr/>
        </p:nvCxnSpPr>
        <p:spPr>
          <a:xfrm flipV="1">
            <a:off x="2007458" y="4002415"/>
            <a:ext cx="1652057" cy="530528"/>
          </a:xfrm>
          <a:prstGeom prst="line">
            <a:avLst/>
          </a:prstGeom>
          <a:ln w="28575"/>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A9231821-C0FC-3D4E-8209-6CE8958D439F}"/>
              </a:ext>
            </a:extLst>
          </p:cNvPr>
          <p:cNvCxnSpPr>
            <a:cxnSpLocks/>
            <a:stCxn id="11" idx="6"/>
            <a:endCxn id="16" idx="1"/>
          </p:cNvCxnSpPr>
          <p:nvPr/>
        </p:nvCxnSpPr>
        <p:spPr>
          <a:xfrm flipV="1">
            <a:off x="1983179" y="4002415"/>
            <a:ext cx="1676336" cy="1141085"/>
          </a:xfrm>
          <a:prstGeom prst="line">
            <a:avLst/>
          </a:prstGeom>
          <a:ln w="28575"/>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340E5CF9-4B90-E042-9382-4392634B1350}"/>
              </a:ext>
            </a:extLst>
          </p:cNvPr>
          <p:cNvCxnSpPr>
            <a:cxnSpLocks/>
            <a:stCxn id="12" idx="6"/>
            <a:endCxn id="16" idx="1"/>
          </p:cNvCxnSpPr>
          <p:nvPr/>
        </p:nvCxnSpPr>
        <p:spPr>
          <a:xfrm flipV="1">
            <a:off x="1981200" y="4002415"/>
            <a:ext cx="1678315" cy="1750685"/>
          </a:xfrm>
          <a:prstGeom prst="line">
            <a:avLst/>
          </a:prstGeom>
          <a:ln w="28575"/>
        </p:spPr>
        <p:style>
          <a:lnRef idx="1">
            <a:schemeClr val="dk1"/>
          </a:lnRef>
          <a:fillRef idx="0">
            <a:schemeClr val="dk1"/>
          </a:fillRef>
          <a:effectRef idx="0">
            <a:schemeClr val="dk1"/>
          </a:effectRef>
          <a:fontRef idx="minor">
            <a:schemeClr val="tx1"/>
          </a:fontRef>
        </p:style>
      </p:cxnSp>
      <p:cxnSp>
        <p:nvCxnSpPr>
          <p:cNvPr id="72" name="Straight Connector 71">
            <a:extLst>
              <a:ext uri="{FF2B5EF4-FFF2-40B4-BE49-F238E27FC236}">
                <a16:creationId xmlns:a16="http://schemas.microsoft.com/office/drawing/2014/main" id="{FFD42355-850B-AE41-83A6-9E363D9EA07E}"/>
              </a:ext>
            </a:extLst>
          </p:cNvPr>
          <p:cNvCxnSpPr>
            <a:cxnSpLocks/>
            <a:endCxn id="16" idx="1"/>
          </p:cNvCxnSpPr>
          <p:nvPr/>
        </p:nvCxnSpPr>
        <p:spPr>
          <a:xfrm flipV="1">
            <a:off x="2009437" y="4002415"/>
            <a:ext cx="1650078" cy="2352666"/>
          </a:xfrm>
          <a:prstGeom prst="line">
            <a:avLst/>
          </a:prstGeom>
          <a:ln w="28575"/>
        </p:spPr>
        <p:style>
          <a:lnRef idx="1">
            <a:schemeClr val="dk1"/>
          </a:lnRef>
          <a:fillRef idx="0">
            <a:schemeClr val="dk1"/>
          </a:fillRef>
          <a:effectRef idx="0">
            <a:schemeClr val="dk1"/>
          </a:effectRef>
          <a:fontRef idx="minor">
            <a:schemeClr val="tx1"/>
          </a:fontRef>
        </p:style>
      </p:cxnSp>
      <p:cxnSp>
        <p:nvCxnSpPr>
          <p:cNvPr id="75" name="Straight Connector 74">
            <a:extLst>
              <a:ext uri="{FF2B5EF4-FFF2-40B4-BE49-F238E27FC236}">
                <a16:creationId xmlns:a16="http://schemas.microsoft.com/office/drawing/2014/main" id="{B7EB380F-C9BF-0842-95F4-1848117705A6}"/>
              </a:ext>
            </a:extLst>
          </p:cNvPr>
          <p:cNvCxnSpPr>
            <a:cxnSpLocks/>
            <a:stCxn id="13" idx="5"/>
            <a:endCxn id="17" idx="1"/>
          </p:cNvCxnSpPr>
          <p:nvPr/>
        </p:nvCxnSpPr>
        <p:spPr>
          <a:xfrm>
            <a:off x="1903085" y="2284085"/>
            <a:ext cx="1756430" cy="2899430"/>
          </a:xfrm>
          <a:prstGeom prst="line">
            <a:avLst/>
          </a:prstGeom>
          <a:ln w="28575"/>
        </p:spPr>
        <p:style>
          <a:lnRef idx="1">
            <a:schemeClr val="dk1"/>
          </a:lnRef>
          <a:fillRef idx="0">
            <a:schemeClr val="dk1"/>
          </a:fillRef>
          <a:effectRef idx="0">
            <a:schemeClr val="dk1"/>
          </a:effectRef>
          <a:fontRef idx="minor">
            <a:schemeClr val="tx1"/>
          </a:fontRef>
        </p:style>
      </p:cxnSp>
      <p:cxnSp>
        <p:nvCxnSpPr>
          <p:cNvPr id="78" name="Straight Connector 77">
            <a:extLst>
              <a:ext uri="{FF2B5EF4-FFF2-40B4-BE49-F238E27FC236}">
                <a16:creationId xmlns:a16="http://schemas.microsoft.com/office/drawing/2014/main" id="{5002F88C-127F-4B46-942B-1D1B6DF0DDB5}"/>
              </a:ext>
            </a:extLst>
          </p:cNvPr>
          <p:cNvCxnSpPr>
            <a:cxnSpLocks/>
            <a:endCxn id="17" idx="1"/>
          </p:cNvCxnSpPr>
          <p:nvPr/>
        </p:nvCxnSpPr>
        <p:spPr>
          <a:xfrm>
            <a:off x="2009437" y="2817964"/>
            <a:ext cx="1650078" cy="2365551"/>
          </a:xfrm>
          <a:prstGeom prst="line">
            <a:avLst/>
          </a:prstGeom>
          <a:ln w="28575"/>
        </p:spPr>
        <p:style>
          <a:lnRef idx="1">
            <a:schemeClr val="dk1"/>
          </a:lnRef>
          <a:fillRef idx="0">
            <a:schemeClr val="dk1"/>
          </a:fillRef>
          <a:effectRef idx="0">
            <a:schemeClr val="dk1"/>
          </a:effectRef>
          <a:fontRef idx="minor">
            <a:schemeClr val="tx1"/>
          </a:fontRef>
        </p:style>
      </p:cxnSp>
      <p:cxnSp>
        <p:nvCxnSpPr>
          <p:cNvPr id="81" name="Straight Connector 80">
            <a:extLst>
              <a:ext uri="{FF2B5EF4-FFF2-40B4-BE49-F238E27FC236}">
                <a16:creationId xmlns:a16="http://schemas.microsoft.com/office/drawing/2014/main" id="{D559DD3A-2B0C-C04F-88B9-065B32D32C37}"/>
              </a:ext>
            </a:extLst>
          </p:cNvPr>
          <p:cNvCxnSpPr>
            <a:cxnSpLocks/>
            <a:endCxn id="17" idx="1"/>
          </p:cNvCxnSpPr>
          <p:nvPr/>
        </p:nvCxnSpPr>
        <p:spPr>
          <a:xfrm>
            <a:off x="2009437" y="3322320"/>
            <a:ext cx="1650078" cy="1861195"/>
          </a:xfrm>
          <a:prstGeom prst="line">
            <a:avLst/>
          </a:prstGeom>
          <a:ln w="28575"/>
        </p:spPr>
        <p:style>
          <a:lnRef idx="1">
            <a:schemeClr val="dk1"/>
          </a:lnRef>
          <a:fillRef idx="0">
            <a:schemeClr val="dk1"/>
          </a:fillRef>
          <a:effectRef idx="0">
            <a:schemeClr val="dk1"/>
          </a:effectRef>
          <a:fontRef idx="minor">
            <a:schemeClr val="tx1"/>
          </a:fontRef>
        </p:style>
      </p:cxnSp>
      <p:cxnSp>
        <p:nvCxnSpPr>
          <p:cNvPr id="84" name="Straight Connector 83">
            <a:extLst>
              <a:ext uri="{FF2B5EF4-FFF2-40B4-BE49-F238E27FC236}">
                <a16:creationId xmlns:a16="http://schemas.microsoft.com/office/drawing/2014/main" id="{9C2FCB5F-C58E-8742-94E7-20E6D3B434C1}"/>
              </a:ext>
            </a:extLst>
          </p:cNvPr>
          <p:cNvCxnSpPr>
            <a:cxnSpLocks/>
            <a:stCxn id="9" idx="6"/>
            <a:endCxn id="17" idx="1"/>
          </p:cNvCxnSpPr>
          <p:nvPr/>
        </p:nvCxnSpPr>
        <p:spPr>
          <a:xfrm>
            <a:off x="1979221" y="3924300"/>
            <a:ext cx="1680294" cy="125921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7" name="Straight Connector 86">
            <a:extLst>
              <a:ext uri="{FF2B5EF4-FFF2-40B4-BE49-F238E27FC236}">
                <a16:creationId xmlns:a16="http://schemas.microsoft.com/office/drawing/2014/main" id="{3B21A8BD-05E0-1B43-A4F8-62FF7028DDDB}"/>
              </a:ext>
            </a:extLst>
          </p:cNvPr>
          <p:cNvCxnSpPr>
            <a:cxnSpLocks/>
            <a:endCxn id="17" idx="1"/>
          </p:cNvCxnSpPr>
          <p:nvPr/>
        </p:nvCxnSpPr>
        <p:spPr>
          <a:xfrm>
            <a:off x="2017353" y="4532943"/>
            <a:ext cx="1642162" cy="650572"/>
          </a:xfrm>
          <a:prstGeom prst="line">
            <a:avLst/>
          </a:prstGeom>
          <a:ln w="28575"/>
        </p:spPr>
        <p:style>
          <a:lnRef idx="1">
            <a:schemeClr val="dk1"/>
          </a:lnRef>
          <a:fillRef idx="0">
            <a:schemeClr val="dk1"/>
          </a:fillRef>
          <a:effectRef idx="0">
            <a:schemeClr val="dk1"/>
          </a:effectRef>
          <a:fontRef idx="minor">
            <a:schemeClr val="tx1"/>
          </a:fontRef>
        </p:style>
      </p:cxnSp>
      <p:cxnSp>
        <p:nvCxnSpPr>
          <p:cNvPr id="90" name="Straight Connector 89">
            <a:extLst>
              <a:ext uri="{FF2B5EF4-FFF2-40B4-BE49-F238E27FC236}">
                <a16:creationId xmlns:a16="http://schemas.microsoft.com/office/drawing/2014/main" id="{A2DEFA17-6869-DD4A-892B-DB71F8944EE3}"/>
              </a:ext>
            </a:extLst>
          </p:cNvPr>
          <p:cNvCxnSpPr>
            <a:cxnSpLocks/>
            <a:endCxn id="17" idx="1"/>
          </p:cNvCxnSpPr>
          <p:nvPr/>
        </p:nvCxnSpPr>
        <p:spPr>
          <a:xfrm>
            <a:off x="2015374" y="5143022"/>
            <a:ext cx="1644141" cy="40493"/>
          </a:xfrm>
          <a:prstGeom prst="line">
            <a:avLst/>
          </a:prstGeom>
          <a:ln w="28575"/>
        </p:spPr>
        <p:style>
          <a:lnRef idx="1">
            <a:schemeClr val="dk1"/>
          </a:lnRef>
          <a:fillRef idx="0">
            <a:schemeClr val="dk1"/>
          </a:fillRef>
          <a:effectRef idx="0">
            <a:schemeClr val="dk1"/>
          </a:effectRef>
          <a:fontRef idx="minor">
            <a:schemeClr val="tx1"/>
          </a:fontRef>
        </p:style>
      </p:cxnSp>
      <p:cxnSp>
        <p:nvCxnSpPr>
          <p:cNvPr id="93" name="Straight Connector 92">
            <a:extLst>
              <a:ext uri="{FF2B5EF4-FFF2-40B4-BE49-F238E27FC236}">
                <a16:creationId xmlns:a16="http://schemas.microsoft.com/office/drawing/2014/main" id="{33EBA30B-F746-234E-8095-F36CD9CFEDD1}"/>
              </a:ext>
            </a:extLst>
          </p:cNvPr>
          <p:cNvCxnSpPr>
            <a:cxnSpLocks/>
            <a:endCxn id="17" idx="1"/>
          </p:cNvCxnSpPr>
          <p:nvPr/>
        </p:nvCxnSpPr>
        <p:spPr>
          <a:xfrm flipV="1">
            <a:off x="1987137" y="5183515"/>
            <a:ext cx="1672378" cy="549340"/>
          </a:xfrm>
          <a:prstGeom prst="line">
            <a:avLst/>
          </a:prstGeom>
          <a:ln w="28575"/>
        </p:spPr>
        <p:style>
          <a:lnRef idx="1">
            <a:schemeClr val="dk1"/>
          </a:lnRef>
          <a:fillRef idx="0">
            <a:schemeClr val="dk1"/>
          </a:fillRef>
          <a:effectRef idx="0">
            <a:schemeClr val="dk1"/>
          </a:effectRef>
          <a:fontRef idx="minor">
            <a:schemeClr val="tx1"/>
          </a:fontRef>
        </p:style>
      </p:cxnSp>
      <p:cxnSp>
        <p:nvCxnSpPr>
          <p:cNvPr id="96" name="Straight Connector 95">
            <a:extLst>
              <a:ext uri="{FF2B5EF4-FFF2-40B4-BE49-F238E27FC236}">
                <a16:creationId xmlns:a16="http://schemas.microsoft.com/office/drawing/2014/main" id="{C3F4262C-798D-B145-8790-D0AB85D7C565}"/>
              </a:ext>
            </a:extLst>
          </p:cNvPr>
          <p:cNvCxnSpPr>
            <a:cxnSpLocks/>
            <a:endCxn id="17" idx="1"/>
          </p:cNvCxnSpPr>
          <p:nvPr/>
        </p:nvCxnSpPr>
        <p:spPr>
          <a:xfrm flipV="1">
            <a:off x="1987137" y="5183515"/>
            <a:ext cx="1672378" cy="1178708"/>
          </a:xfrm>
          <a:prstGeom prst="line">
            <a:avLst/>
          </a:prstGeom>
          <a:ln w="28575"/>
        </p:spPr>
        <p:style>
          <a:lnRef idx="1">
            <a:schemeClr val="dk1"/>
          </a:lnRef>
          <a:fillRef idx="0">
            <a:schemeClr val="dk1"/>
          </a:fillRef>
          <a:effectRef idx="0">
            <a:schemeClr val="dk1"/>
          </a:effectRef>
          <a:fontRef idx="minor">
            <a:schemeClr val="tx1"/>
          </a:fontRef>
        </p:style>
      </p:cxnSp>
      <p:cxnSp>
        <p:nvCxnSpPr>
          <p:cNvPr id="133" name="Straight Connector 132">
            <a:extLst>
              <a:ext uri="{FF2B5EF4-FFF2-40B4-BE49-F238E27FC236}">
                <a16:creationId xmlns:a16="http://schemas.microsoft.com/office/drawing/2014/main" id="{59E3FBCE-1889-E047-8EB5-E03741D3B3C9}"/>
              </a:ext>
            </a:extLst>
          </p:cNvPr>
          <p:cNvCxnSpPr>
            <a:cxnSpLocks/>
            <a:endCxn id="24" idx="2"/>
          </p:cNvCxnSpPr>
          <p:nvPr/>
        </p:nvCxnSpPr>
        <p:spPr>
          <a:xfrm flipV="1">
            <a:off x="4107012" y="2095500"/>
            <a:ext cx="1758409" cy="874682"/>
          </a:xfrm>
          <a:prstGeom prst="line">
            <a:avLst/>
          </a:prstGeom>
          <a:ln w="28575"/>
        </p:spPr>
        <p:style>
          <a:lnRef idx="1">
            <a:schemeClr val="dk1"/>
          </a:lnRef>
          <a:fillRef idx="0">
            <a:schemeClr val="dk1"/>
          </a:fillRef>
          <a:effectRef idx="0">
            <a:schemeClr val="dk1"/>
          </a:effectRef>
          <a:fontRef idx="minor">
            <a:schemeClr val="tx1"/>
          </a:fontRef>
        </p:style>
      </p:cxnSp>
      <p:cxnSp>
        <p:nvCxnSpPr>
          <p:cNvPr id="135" name="Straight Connector 134">
            <a:extLst>
              <a:ext uri="{FF2B5EF4-FFF2-40B4-BE49-F238E27FC236}">
                <a16:creationId xmlns:a16="http://schemas.microsoft.com/office/drawing/2014/main" id="{B5727415-039A-2448-9199-2E57DCBD9AC0}"/>
              </a:ext>
            </a:extLst>
          </p:cNvPr>
          <p:cNvCxnSpPr>
            <a:cxnSpLocks/>
            <a:endCxn id="18" idx="2"/>
          </p:cNvCxnSpPr>
          <p:nvPr/>
        </p:nvCxnSpPr>
        <p:spPr>
          <a:xfrm flipV="1">
            <a:off x="4118758" y="2705100"/>
            <a:ext cx="1746663" cy="263652"/>
          </a:xfrm>
          <a:prstGeom prst="line">
            <a:avLst/>
          </a:prstGeom>
          <a:ln w="28575"/>
        </p:spPr>
        <p:style>
          <a:lnRef idx="1">
            <a:schemeClr val="dk1"/>
          </a:lnRef>
          <a:fillRef idx="0">
            <a:schemeClr val="dk1"/>
          </a:fillRef>
          <a:effectRef idx="0">
            <a:schemeClr val="dk1"/>
          </a:effectRef>
          <a:fontRef idx="minor">
            <a:schemeClr val="tx1"/>
          </a:fontRef>
        </p:style>
      </p:cxnSp>
      <p:cxnSp>
        <p:nvCxnSpPr>
          <p:cNvPr id="138" name="Straight Connector 137">
            <a:extLst>
              <a:ext uri="{FF2B5EF4-FFF2-40B4-BE49-F238E27FC236}">
                <a16:creationId xmlns:a16="http://schemas.microsoft.com/office/drawing/2014/main" id="{818BC6C0-2071-A24E-A718-DE477817BA04}"/>
              </a:ext>
            </a:extLst>
          </p:cNvPr>
          <p:cNvCxnSpPr>
            <a:cxnSpLocks/>
            <a:endCxn id="19" idx="2"/>
          </p:cNvCxnSpPr>
          <p:nvPr/>
        </p:nvCxnSpPr>
        <p:spPr>
          <a:xfrm>
            <a:off x="4118758" y="2999232"/>
            <a:ext cx="1746663" cy="315468"/>
          </a:xfrm>
          <a:prstGeom prst="line">
            <a:avLst/>
          </a:prstGeom>
          <a:ln w="28575"/>
        </p:spPr>
        <p:style>
          <a:lnRef idx="1">
            <a:schemeClr val="dk1"/>
          </a:lnRef>
          <a:fillRef idx="0">
            <a:schemeClr val="dk1"/>
          </a:fillRef>
          <a:effectRef idx="0">
            <a:schemeClr val="dk1"/>
          </a:effectRef>
          <a:fontRef idx="minor">
            <a:schemeClr val="tx1"/>
          </a:fontRef>
        </p:style>
      </p:cxnSp>
      <p:cxnSp>
        <p:nvCxnSpPr>
          <p:cNvPr id="141" name="Straight Connector 140">
            <a:extLst>
              <a:ext uri="{FF2B5EF4-FFF2-40B4-BE49-F238E27FC236}">
                <a16:creationId xmlns:a16="http://schemas.microsoft.com/office/drawing/2014/main" id="{B9B1CDC6-7E14-0C43-9CCE-DDF9538FCA6A}"/>
              </a:ext>
            </a:extLst>
          </p:cNvPr>
          <p:cNvCxnSpPr>
            <a:cxnSpLocks/>
            <a:stCxn id="15" idx="6"/>
            <a:endCxn id="20" idx="2"/>
          </p:cNvCxnSpPr>
          <p:nvPr/>
        </p:nvCxnSpPr>
        <p:spPr>
          <a:xfrm>
            <a:off x="4114800" y="2969821"/>
            <a:ext cx="1748642" cy="954479"/>
          </a:xfrm>
          <a:prstGeom prst="line">
            <a:avLst/>
          </a:prstGeom>
          <a:ln w="28575"/>
        </p:spPr>
        <p:style>
          <a:lnRef idx="1">
            <a:schemeClr val="dk1"/>
          </a:lnRef>
          <a:fillRef idx="0">
            <a:schemeClr val="dk1"/>
          </a:fillRef>
          <a:effectRef idx="0">
            <a:schemeClr val="dk1"/>
          </a:effectRef>
          <a:fontRef idx="minor">
            <a:schemeClr val="tx1"/>
          </a:fontRef>
        </p:style>
      </p:cxnSp>
      <p:cxnSp>
        <p:nvCxnSpPr>
          <p:cNvPr id="145" name="Straight Connector 144">
            <a:extLst>
              <a:ext uri="{FF2B5EF4-FFF2-40B4-BE49-F238E27FC236}">
                <a16:creationId xmlns:a16="http://schemas.microsoft.com/office/drawing/2014/main" id="{AA18D6E2-DE37-F040-8002-761744537496}"/>
              </a:ext>
            </a:extLst>
          </p:cNvPr>
          <p:cNvCxnSpPr>
            <a:cxnSpLocks/>
            <a:stCxn id="15" idx="6"/>
            <a:endCxn id="21" idx="2"/>
          </p:cNvCxnSpPr>
          <p:nvPr/>
        </p:nvCxnSpPr>
        <p:spPr>
          <a:xfrm>
            <a:off x="4114800" y="2969821"/>
            <a:ext cx="1752600" cy="1564079"/>
          </a:xfrm>
          <a:prstGeom prst="line">
            <a:avLst/>
          </a:prstGeom>
          <a:ln w="28575"/>
        </p:spPr>
        <p:style>
          <a:lnRef idx="1">
            <a:schemeClr val="dk1"/>
          </a:lnRef>
          <a:fillRef idx="0">
            <a:schemeClr val="dk1"/>
          </a:fillRef>
          <a:effectRef idx="0">
            <a:schemeClr val="dk1"/>
          </a:effectRef>
          <a:fontRef idx="minor">
            <a:schemeClr val="tx1"/>
          </a:fontRef>
        </p:style>
      </p:cxnSp>
      <p:cxnSp>
        <p:nvCxnSpPr>
          <p:cNvPr id="148" name="Straight Connector 147">
            <a:extLst>
              <a:ext uri="{FF2B5EF4-FFF2-40B4-BE49-F238E27FC236}">
                <a16:creationId xmlns:a16="http://schemas.microsoft.com/office/drawing/2014/main" id="{09600B10-7575-2D43-8D58-0C92EF63F6B2}"/>
              </a:ext>
            </a:extLst>
          </p:cNvPr>
          <p:cNvCxnSpPr>
            <a:cxnSpLocks/>
            <a:stCxn id="15" idx="6"/>
            <a:endCxn id="22" idx="2"/>
          </p:cNvCxnSpPr>
          <p:nvPr/>
        </p:nvCxnSpPr>
        <p:spPr>
          <a:xfrm>
            <a:off x="4114800" y="2969821"/>
            <a:ext cx="1752600" cy="2173679"/>
          </a:xfrm>
          <a:prstGeom prst="line">
            <a:avLst/>
          </a:prstGeom>
          <a:ln w="28575"/>
        </p:spPr>
        <p:style>
          <a:lnRef idx="1">
            <a:schemeClr val="dk1"/>
          </a:lnRef>
          <a:fillRef idx="0">
            <a:schemeClr val="dk1"/>
          </a:fillRef>
          <a:effectRef idx="0">
            <a:schemeClr val="dk1"/>
          </a:effectRef>
          <a:fontRef idx="minor">
            <a:schemeClr val="tx1"/>
          </a:fontRef>
        </p:style>
      </p:cxnSp>
      <p:cxnSp>
        <p:nvCxnSpPr>
          <p:cNvPr id="151" name="Straight Connector 150">
            <a:extLst>
              <a:ext uri="{FF2B5EF4-FFF2-40B4-BE49-F238E27FC236}">
                <a16:creationId xmlns:a16="http://schemas.microsoft.com/office/drawing/2014/main" id="{A95BDE5A-9779-A542-AF26-5F7ADC0484B3}"/>
              </a:ext>
            </a:extLst>
          </p:cNvPr>
          <p:cNvCxnSpPr>
            <a:cxnSpLocks/>
            <a:stCxn id="15" idx="6"/>
            <a:endCxn id="23" idx="2"/>
          </p:cNvCxnSpPr>
          <p:nvPr/>
        </p:nvCxnSpPr>
        <p:spPr>
          <a:xfrm>
            <a:off x="4114800" y="2969821"/>
            <a:ext cx="1750621" cy="2783279"/>
          </a:xfrm>
          <a:prstGeom prst="line">
            <a:avLst/>
          </a:prstGeom>
          <a:ln w="28575"/>
        </p:spPr>
        <p:style>
          <a:lnRef idx="1">
            <a:schemeClr val="dk1"/>
          </a:lnRef>
          <a:fillRef idx="0">
            <a:schemeClr val="dk1"/>
          </a:fillRef>
          <a:effectRef idx="0">
            <a:schemeClr val="dk1"/>
          </a:effectRef>
          <a:fontRef idx="minor">
            <a:schemeClr val="tx1"/>
          </a:fontRef>
        </p:style>
      </p:cxnSp>
      <p:cxnSp>
        <p:nvCxnSpPr>
          <p:cNvPr id="154" name="Straight Connector 153">
            <a:extLst>
              <a:ext uri="{FF2B5EF4-FFF2-40B4-BE49-F238E27FC236}">
                <a16:creationId xmlns:a16="http://schemas.microsoft.com/office/drawing/2014/main" id="{587368D1-F990-D944-BA26-0CC51A917895}"/>
              </a:ext>
            </a:extLst>
          </p:cNvPr>
          <p:cNvCxnSpPr>
            <a:cxnSpLocks/>
            <a:endCxn id="25" idx="2"/>
          </p:cNvCxnSpPr>
          <p:nvPr/>
        </p:nvCxnSpPr>
        <p:spPr>
          <a:xfrm>
            <a:off x="4117768" y="2996184"/>
            <a:ext cx="1747653" cy="3366516"/>
          </a:xfrm>
          <a:prstGeom prst="line">
            <a:avLst/>
          </a:prstGeom>
          <a:ln w="28575"/>
        </p:spPr>
        <p:style>
          <a:lnRef idx="1">
            <a:schemeClr val="dk1"/>
          </a:lnRef>
          <a:fillRef idx="0">
            <a:schemeClr val="dk1"/>
          </a:fillRef>
          <a:effectRef idx="0">
            <a:schemeClr val="dk1"/>
          </a:effectRef>
          <a:fontRef idx="minor">
            <a:schemeClr val="tx1"/>
          </a:fontRef>
        </p:style>
      </p:cxnSp>
      <p:cxnSp>
        <p:nvCxnSpPr>
          <p:cNvPr id="157" name="Straight Connector 156">
            <a:extLst>
              <a:ext uri="{FF2B5EF4-FFF2-40B4-BE49-F238E27FC236}">
                <a16:creationId xmlns:a16="http://schemas.microsoft.com/office/drawing/2014/main" id="{1EBDECDF-52DC-0A4D-9BA4-BB4AA08C8B98}"/>
              </a:ext>
            </a:extLst>
          </p:cNvPr>
          <p:cNvCxnSpPr>
            <a:cxnSpLocks/>
          </p:cNvCxnSpPr>
          <p:nvPr/>
        </p:nvCxnSpPr>
        <p:spPr>
          <a:xfrm flipV="1">
            <a:off x="4117768" y="2123384"/>
            <a:ext cx="1742706" cy="1968555"/>
          </a:xfrm>
          <a:prstGeom prst="line">
            <a:avLst/>
          </a:prstGeom>
          <a:ln w="28575"/>
        </p:spPr>
        <p:style>
          <a:lnRef idx="1">
            <a:schemeClr val="dk1"/>
          </a:lnRef>
          <a:fillRef idx="0">
            <a:schemeClr val="dk1"/>
          </a:fillRef>
          <a:effectRef idx="0">
            <a:schemeClr val="dk1"/>
          </a:effectRef>
          <a:fontRef idx="minor">
            <a:schemeClr val="tx1"/>
          </a:fontRef>
        </p:style>
      </p:cxnSp>
      <p:cxnSp>
        <p:nvCxnSpPr>
          <p:cNvPr id="160" name="Straight Connector 159">
            <a:extLst>
              <a:ext uri="{FF2B5EF4-FFF2-40B4-BE49-F238E27FC236}">
                <a16:creationId xmlns:a16="http://schemas.microsoft.com/office/drawing/2014/main" id="{3FF110E6-2EB0-564C-AB9B-4D999D58F9D4}"/>
              </a:ext>
            </a:extLst>
          </p:cNvPr>
          <p:cNvCxnSpPr>
            <a:cxnSpLocks/>
            <a:endCxn id="18" idx="2"/>
          </p:cNvCxnSpPr>
          <p:nvPr/>
        </p:nvCxnSpPr>
        <p:spPr>
          <a:xfrm flipV="1">
            <a:off x="4108894" y="2705100"/>
            <a:ext cx="1756527" cy="1386840"/>
          </a:xfrm>
          <a:prstGeom prst="line">
            <a:avLst/>
          </a:prstGeom>
          <a:ln w="28575"/>
        </p:spPr>
        <p:style>
          <a:lnRef idx="1">
            <a:schemeClr val="dk1"/>
          </a:lnRef>
          <a:fillRef idx="0">
            <a:schemeClr val="dk1"/>
          </a:fillRef>
          <a:effectRef idx="0">
            <a:schemeClr val="dk1"/>
          </a:effectRef>
          <a:fontRef idx="minor">
            <a:schemeClr val="tx1"/>
          </a:fontRef>
        </p:style>
      </p:cxnSp>
      <p:cxnSp>
        <p:nvCxnSpPr>
          <p:cNvPr id="165" name="Straight Connector 164">
            <a:extLst>
              <a:ext uri="{FF2B5EF4-FFF2-40B4-BE49-F238E27FC236}">
                <a16:creationId xmlns:a16="http://schemas.microsoft.com/office/drawing/2014/main" id="{EB50F085-577A-434F-8E0E-516959178510}"/>
              </a:ext>
            </a:extLst>
          </p:cNvPr>
          <p:cNvCxnSpPr>
            <a:cxnSpLocks/>
            <a:endCxn id="19" idx="2"/>
          </p:cNvCxnSpPr>
          <p:nvPr/>
        </p:nvCxnSpPr>
        <p:spPr>
          <a:xfrm flipV="1">
            <a:off x="4122716" y="3314700"/>
            <a:ext cx="1742705" cy="773430"/>
          </a:xfrm>
          <a:prstGeom prst="line">
            <a:avLst/>
          </a:prstGeom>
          <a:ln w="28575"/>
        </p:spPr>
        <p:style>
          <a:lnRef idx="1">
            <a:schemeClr val="dk1"/>
          </a:lnRef>
          <a:fillRef idx="0">
            <a:schemeClr val="dk1"/>
          </a:fillRef>
          <a:effectRef idx="0">
            <a:schemeClr val="dk1"/>
          </a:effectRef>
          <a:fontRef idx="minor">
            <a:schemeClr val="tx1"/>
          </a:fontRef>
        </p:style>
      </p:cxnSp>
      <p:cxnSp>
        <p:nvCxnSpPr>
          <p:cNvPr id="168" name="Straight Connector 167">
            <a:extLst>
              <a:ext uri="{FF2B5EF4-FFF2-40B4-BE49-F238E27FC236}">
                <a16:creationId xmlns:a16="http://schemas.microsoft.com/office/drawing/2014/main" id="{D786C8DE-B75C-2442-BAC4-27A6C4AB4EE9}"/>
              </a:ext>
            </a:extLst>
          </p:cNvPr>
          <p:cNvCxnSpPr>
            <a:cxnSpLocks/>
            <a:endCxn id="20" idx="2"/>
          </p:cNvCxnSpPr>
          <p:nvPr/>
        </p:nvCxnSpPr>
        <p:spPr>
          <a:xfrm flipV="1">
            <a:off x="4117768" y="3924300"/>
            <a:ext cx="1745674" cy="163830"/>
          </a:xfrm>
          <a:prstGeom prst="line">
            <a:avLst/>
          </a:prstGeom>
          <a:ln w="28575"/>
        </p:spPr>
        <p:style>
          <a:lnRef idx="1">
            <a:schemeClr val="dk1"/>
          </a:lnRef>
          <a:fillRef idx="0">
            <a:schemeClr val="dk1"/>
          </a:fillRef>
          <a:effectRef idx="0">
            <a:schemeClr val="dk1"/>
          </a:effectRef>
          <a:fontRef idx="minor">
            <a:schemeClr val="tx1"/>
          </a:fontRef>
        </p:style>
      </p:cxnSp>
      <p:cxnSp>
        <p:nvCxnSpPr>
          <p:cNvPr id="171" name="Straight Connector 170">
            <a:extLst>
              <a:ext uri="{FF2B5EF4-FFF2-40B4-BE49-F238E27FC236}">
                <a16:creationId xmlns:a16="http://schemas.microsoft.com/office/drawing/2014/main" id="{3DB0A451-42CF-C142-A193-4F7D3E8CCF08}"/>
              </a:ext>
            </a:extLst>
          </p:cNvPr>
          <p:cNvCxnSpPr>
            <a:cxnSpLocks/>
            <a:endCxn id="21" idx="2"/>
          </p:cNvCxnSpPr>
          <p:nvPr/>
        </p:nvCxnSpPr>
        <p:spPr>
          <a:xfrm>
            <a:off x="4123674" y="4088130"/>
            <a:ext cx="1743726" cy="445770"/>
          </a:xfrm>
          <a:prstGeom prst="line">
            <a:avLst/>
          </a:prstGeom>
          <a:ln w="28575"/>
        </p:spPr>
        <p:style>
          <a:lnRef idx="1">
            <a:schemeClr val="dk1"/>
          </a:lnRef>
          <a:fillRef idx="0">
            <a:schemeClr val="dk1"/>
          </a:fillRef>
          <a:effectRef idx="0">
            <a:schemeClr val="dk1"/>
          </a:effectRef>
          <a:fontRef idx="minor">
            <a:schemeClr val="tx1"/>
          </a:fontRef>
        </p:style>
      </p:cxnSp>
      <p:cxnSp>
        <p:nvCxnSpPr>
          <p:cNvPr id="174" name="Straight Connector 173">
            <a:extLst>
              <a:ext uri="{FF2B5EF4-FFF2-40B4-BE49-F238E27FC236}">
                <a16:creationId xmlns:a16="http://schemas.microsoft.com/office/drawing/2014/main" id="{06B6CE7C-5BDE-4A44-B96A-724BDFA0EA5F}"/>
              </a:ext>
            </a:extLst>
          </p:cNvPr>
          <p:cNvCxnSpPr>
            <a:cxnSpLocks/>
            <a:endCxn id="22" idx="2"/>
          </p:cNvCxnSpPr>
          <p:nvPr/>
        </p:nvCxnSpPr>
        <p:spPr>
          <a:xfrm>
            <a:off x="4122716" y="4076699"/>
            <a:ext cx="1744684" cy="1066801"/>
          </a:xfrm>
          <a:prstGeom prst="line">
            <a:avLst/>
          </a:prstGeom>
          <a:ln w="28575"/>
        </p:spPr>
        <p:style>
          <a:lnRef idx="1">
            <a:schemeClr val="dk1"/>
          </a:lnRef>
          <a:fillRef idx="0">
            <a:schemeClr val="dk1"/>
          </a:fillRef>
          <a:effectRef idx="0">
            <a:schemeClr val="dk1"/>
          </a:effectRef>
          <a:fontRef idx="minor">
            <a:schemeClr val="tx1"/>
          </a:fontRef>
        </p:style>
      </p:cxnSp>
      <p:cxnSp>
        <p:nvCxnSpPr>
          <p:cNvPr id="178" name="Straight Connector 177">
            <a:extLst>
              <a:ext uri="{FF2B5EF4-FFF2-40B4-BE49-F238E27FC236}">
                <a16:creationId xmlns:a16="http://schemas.microsoft.com/office/drawing/2014/main" id="{603F59D7-12C1-2E4C-899D-CCDA050F7E5F}"/>
              </a:ext>
            </a:extLst>
          </p:cNvPr>
          <p:cNvCxnSpPr>
            <a:cxnSpLocks/>
            <a:endCxn id="23" idx="2"/>
          </p:cNvCxnSpPr>
          <p:nvPr/>
        </p:nvCxnSpPr>
        <p:spPr>
          <a:xfrm>
            <a:off x="4117768" y="4076699"/>
            <a:ext cx="1747653" cy="1676401"/>
          </a:xfrm>
          <a:prstGeom prst="line">
            <a:avLst/>
          </a:prstGeom>
          <a:ln w="28575"/>
        </p:spPr>
        <p:style>
          <a:lnRef idx="1">
            <a:schemeClr val="dk1"/>
          </a:lnRef>
          <a:fillRef idx="0">
            <a:schemeClr val="dk1"/>
          </a:fillRef>
          <a:effectRef idx="0">
            <a:schemeClr val="dk1"/>
          </a:effectRef>
          <a:fontRef idx="minor">
            <a:schemeClr val="tx1"/>
          </a:fontRef>
        </p:style>
      </p:cxnSp>
      <p:cxnSp>
        <p:nvCxnSpPr>
          <p:cNvPr id="181" name="Straight Connector 180">
            <a:extLst>
              <a:ext uri="{FF2B5EF4-FFF2-40B4-BE49-F238E27FC236}">
                <a16:creationId xmlns:a16="http://schemas.microsoft.com/office/drawing/2014/main" id="{9DE6BC36-53DC-DF43-9ACA-D9CC74A66992}"/>
              </a:ext>
            </a:extLst>
          </p:cNvPr>
          <p:cNvCxnSpPr>
            <a:cxnSpLocks/>
            <a:endCxn id="25" idx="2"/>
          </p:cNvCxnSpPr>
          <p:nvPr/>
        </p:nvCxnSpPr>
        <p:spPr>
          <a:xfrm>
            <a:off x="4119747" y="4076699"/>
            <a:ext cx="1745674" cy="2286001"/>
          </a:xfrm>
          <a:prstGeom prst="line">
            <a:avLst/>
          </a:prstGeom>
          <a:ln w="28575"/>
        </p:spPr>
        <p:style>
          <a:lnRef idx="1">
            <a:schemeClr val="dk1"/>
          </a:lnRef>
          <a:fillRef idx="0">
            <a:schemeClr val="dk1"/>
          </a:fillRef>
          <a:effectRef idx="0">
            <a:schemeClr val="dk1"/>
          </a:effectRef>
          <a:fontRef idx="minor">
            <a:schemeClr val="tx1"/>
          </a:fontRef>
        </p:style>
      </p:cxnSp>
      <p:cxnSp>
        <p:nvCxnSpPr>
          <p:cNvPr id="184" name="Straight Connector 183">
            <a:extLst>
              <a:ext uri="{FF2B5EF4-FFF2-40B4-BE49-F238E27FC236}">
                <a16:creationId xmlns:a16="http://schemas.microsoft.com/office/drawing/2014/main" id="{7BF441FF-C8B6-9E46-8EFF-1B2D68709752}"/>
              </a:ext>
            </a:extLst>
          </p:cNvPr>
          <p:cNvCxnSpPr>
            <a:cxnSpLocks/>
            <a:stCxn id="17" idx="7"/>
            <a:endCxn id="24" idx="2"/>
          </p:cNvCxnSpPr>
          <p:nvPr/>
        </p:nvCxnSpPr>
        <p:spPr>
          <a:xfrm flipV="1">
            <a:off x="4036685" y="2095500"/>
            <a:ext cx="1828736" cy="3088015"/>
          </a:xfrm>
          <a:prstGeom prst="line">
            <a:avLst/>
          </a:prstGeom>
          <a:ln w="28575"/>
        </p:spPr>
        <p:style>
          <a:lnRef idx="1">
            <a:schemeClr val="dk1"/>
          </a:lnRef>
          <a:fillRef idx="0">
            <a:schemeClr val="dk1"/>
          </a:fillRef>
          <a:effectRef idx="0">
            <a:schemeClr val="dk1"/>
          </a:effectRef>
          <a:fontRef idx="minor">
            <a:schemeClr val="tx1"/>
          </a:fontRef>
        </p:style>
      </p:cxnSp>
      <p:cxnSp>
        <p:nvCxnSpPr>
          <p:cNvPr id="187" name="Straight Connector 186">
            <a:extLst>
              <a:ext uri="{FF2B5EF4-FFF2-40B4-BE49-F238E27FC236}">
                <a16:creationId xmlns:a16="http://schemas.microsoft.com/office/drawing/2014/main" id="{1C0650AA-5AFE-7643-8015-7F3A67E34C58}"/>
              </a:ext>
            </a:extLst>
          </p:cNvPr>
          <p:cNvCxnSpPr>
            <a:cxnSpLocks/>
            <a:stCxn id="17" idx="7"/>
            <a:endCxn id="18" idx="2"/>
          </p:cNvCxnSpPr>
          <p:nvPr/>
        </p:nvCxnSpPr>
        <p:spPr>
          <a:xfrm flipV="1">
            <a:off x="4036685" y="2705100"/>
            <a:ext cx="1828736" cy="2478415"/>
          </a:xfrm>
          <a:prstGeom prst="line">
            <a:avLst/>
          </a:prstGeom>
          <a:ln w="28575"/>
        </p:spPr>
        <p:style>
          <a:lnRef idx="1">
            <a:schemeClr val="dk1"/>
          </a:lnRef>
          <a:fillRef idx="0">
            <a:schemeClr val="dk1"/>
          </a:fillRef>
          <a:effectRef idx="0">
            <a:schemeClr val="dk1"/>
          </a:effectRef>
          <a:fontRef idx="minor">
            <a:schemeClr val="tx1"/>
          </a:fontRef>
        </p:style>
      </p:cxnSp>
      <p:cxnSp>
        <p:nvCxnSpPr>
          <p:cNvPr id="190" name="Straight Connector 189">
            <a:extLst>
              <a:ext uri="{FF2B5EF4-FFF2-40B4-BE49-F238E27FC236}">
                <a16:creationId xmlns:a16="http://schemas.microsoft.com/office/drawing/2014/main" id="{1AB45CB1-1B0D-584B-97FE-A7F2539D371B}"/>
              </a:ext>
            </a:extLst>
          </p:cNvPr>
          <p:cNvCxnSpPr>
            <a:cxnSpLocks/>
            <a:stCxn id="17" idx="7"/>
            <a:endCxn id="19" idx="2"/>
          </p:cNvCxnSpPr>
          <p:nvPr/>
        </p:nvCxnSpPr>
        <p:spPr>
          <a:xfrm flipV="1">
            <a:off x="4036685" y="3314700"/>
            <a:ext cx="1828736" cy="1868815"/>
          </a:xfrm>
          <a:prstGeom prst="line">
            <a:avLst/>
          </a:prstGeom>
          <a:ln w="28575"/>
        </p:spPr>
        <p:style>
          <a:lnRef idx="1">
            <a:schemeClr val="dk1"/>
          </a:lnRef>
          <a:fillRef idx="0">
            <a:schemeClr val="dk1"/>
          </a:fillRef>
          <a:effectRef idx="0">
            <a:schemeClr val="dk1"/>
          </a:effectRef>
          <a:fontRef idx="minor">
            <a:schemeClr val="tx1"/>
          </a:fontRef>
        </p:style>
      </p:cxnSp>
      <p:cxnSp>
        <p:nvCxnSpPr>
          <p:cNvPr id="193" name="Straight Connector 192">
            <a:extLst>
              <a:ext uri="{FF2B5EF4-FFF2-40B4-BE49-F238E27FC236}">
                <a16:creationId xmlns:a16="http://schemas.microsoft.com/office/drawing/2014/main" id="{0ADD363D-8B62-FC45-BBAF-319CD0FB238D}"/>
              </a:ext>
            </a:extLst>
          </p:cNvPr>
          <p:cNvCxnSpPr>
            <a:cxnSpLocks/>
            <a:stCxn id="17" idx="7"/>
          </p:cNvCxnSpPr>
          <p:nvPr/>
        </p:nvCxnSpPr>
        <p:spPr>
          <a:xfrm flipV="1">
            <a:off x="4036685" y="3923343"/>
            <a:ext cx="1817883" cy="1260172"/>
          </a:xfrm>
          <a:prstGeom prst="line">
            <a:avLst/>
          </a:prstGeom>
          <a:ln w="28575"/>
        </p:spPr>
        <p:style>
          <a:lnRef idx="1">
            <a:schemeClr val="dk1"/>
          </a:lnRef>
          <a:fillRef idx="0">
            <a:schemeClr val="dk1"/>
          </a:fillRef>
          <a:effectRef idx="0">
            <a:schemeClr val="dk1"/>
          </a:effectRef>
          <a:fontRef idx="minor">
            <a:schemeClr val="tx1"/>
          </a:fontRef>
        </p:style>
      </p:cxnSp>
      <p:cxnSp>
        <p:nvCxnSpPr>
          <p:cNvPr id="196" name="Straight Connector 195">
            <a:extLst>
              <a:ext uri="{FF2B5EF4-FFF2-40B4-BE49-F238E27FC236}">
                <a16:creationId xmlns:a16="http://schemas.microsoft.com/office/drawing/2014/main" id="{534135AE-C435-D64E-AA08-0D0030B432B8}"/>
              </a:ext>
            </a:extLst>
          </p:cNvPr>
          <p:cNvCxnSpPr>
            <a:cxnSpLocks/>
            <a:stCxn id="17" idx="7"/>
          </p:cNvCxnSpPr>
          <p:nvPr/>
        </p:nvCxnSpPr>
        <p:spPr>
          <a:xfrm flipV="1">
            <a:off x="4036685" y="4526281"/>
            <a:ext cx="1817883" cy="657234"/>
          </a:xfrm>
          <a:prstGeom prst="line">
            <a:avLst/>
          </a:prstGeom>
          <a:ln w="28575"/>
        </p:spPr>
        <p:style>
          <a:lnRef idx="1">
            <a:schemeClr val="dk1"/>
          </a:lnRef>
          <a:fillRef idx="0">
            <a:schemeClr val="dk1"/>
          </a:fillRef>
          <a:effectRef idx="0">
            <a:schemeClr val="dk1"/>
          </a:effectRef>
          <a:fontRef idx="minor">
            <a:schemeClr val="tx1"/>
          </a:fontRef>
        </p:style>
      </p:cxnSp>
      <p:cxnSp>
        <p:nvCxnSpPr>
          <p:cNvPr id="207" name="Straight Connector 206">
            <a:extLst>
              <a:ext uri="{FF2B5EF4-FFF2-40B4-BE49-F238E27FC236}">
                <a16:creationId xmlns:a16="http://schemas.microsoft.com/office/drawing/2014/main" id="{3FBFF0A4-0C35-8647-B007-BF69D24C0E97}"/>
              </a:ext>
            </a:extLst>
          </p:cNvPr>
          <p:cNvCxnSpPr>
            <a:cxnSpLocks/>
            <a:stCxn id="17" idx="7"/>
            <a:endCxn id="22" idx="2"/>
          </p:cNvCxnSpPr>
          <p:nvPr/>
        </p:nvCxnSpPr>
        <p:spPr>
          <a:xfrm flipV="1">
            <a:off x="4036685" y="5143500"/>
            <a:ext cx="1830715" cy="40015"/>
          </a:xfrm>
          <a:prstGeom prst="line">
            <a:avLst/>
          </a:prstGeom>
          <a:ln w="28575"/>
        </p:spPr>
        <p:style>
          <a:lnRef idx="1">
            <a:schemeClr val="dk1"/>
          </a:lnRef>
          <a:fillRef idx="0">
            <a:schemeClr val="dk1"/>
          </a:fillRef>
          <a:effectRef idx="0">
            <a:schemeClr val="dk1"/>
          </a:effectRef>
          <a:fontRef idx="minor">
            <a:schemeClr val="tx1"/>
          </a:fontRef>
        </p:style>
      </p:cxnSp>
      <p:cxnSp>
        <p:nvCxnSpPr>
          <p:cNvPr id="210" name="Straight Connector 209">
            <a:extLst>
              <a:ext uri="{FF2B5EF4-FFF2-40B4-BE49-F238E27FC236}">
                <a16:creationId xmlns:a16="http://schemas.microsoft.com/office/drawing/2014/main" id="{7C093255-E26A-A64B-9A5D-AB76A5666C72}"/>
              </a:ext>
            </a:extLst>
          </p:cNvPr>
          <p:cNvCxnSpPr>
            <a:cxnSpLocks/>
            <a:stCxn id="17" idx="7"/>
            <a:endCxn id="23" idx="2"/>
          </p:cNvCxnSpPr>
          <p:nvPr/>
        </p:nvCxnSpPr>
        <p:spPr>
          <a:xfrm>
            <a:off x="4036685" y="5183515"/>
            <a:ext cx="1828736" cy="569585"/>
          </a:xfrm>
          <a:prstGeom prst="line">
            <a:avLst/>
          </a:prstGeom>
          <a:ln w="28575"/>
        </p:spPr>
        <p:style>
          <a:lnRef idx="1">
            <a:schemeClr val="dk1"/>
          </a:lnRef>
          <a:fillRef idx="0">
            <a:schemeClr val="dk1"/>
          </a:fillRef>
          <a:effectRef idx="0">
            <a:schemeClr val="dk1"/>
          </a:effectRef>
          <a:fontRef idx="minor">
            <a:schemeClr val="tx1"/>
          </a:fontRef>
        </p:style>
      </p:cxnSp>
      <p:cxnSp>
        <p:nvCxnSpPr>
          <p:cNvPr id="213" name="Straight Connector 212">
            <a:extLst>
              <a:ext uri="{FF2B5EF4-FFF2-40B4-BE49-F238E27FC236}">
                <a16:creationId xmlns:a16="http://schemas.microsoft.com/office/drawing/2014/main" id="{478440D9-42E6-DE49-A7D5-1E04DFA629CE}"/>
              </a:ext>
            </a:extLst>
          </p:cNvPr>
          <p:cNvCxnSpPr>
            <a:cxnSpLocks/>
            <a:stCxn id="17" idx="7"/>
            <a:endCxn id="25" idx="2"/>
          </p:cNvCxnSpPr>
          <p:nvPr/>
        </p:nvCxnSpPr>
        <p:spPr>
          <a:xfrm>
            <a:off x="4036685" y="5183515"/>
            <a:ext cx="1828736" cy="1179185"/>
          </a:xfrm>
          <a:prstGeom prst="line">
            <a:avLst/>
          </a:prstGeom>
          <a:ln w="28575"/>
        </p:spPr>
        <p:style>
          <a:lnRef idx="1">
            <a:schemeClr val="dk1"/>
          </a:lnRef>
          <a:fillRef idx="0">
            <a:schemeClr val="dk1"/>
          </a:fillRef>
          <a:effectRef idx="0">
            <a:schemeClr val="dk1"/>
          </a:effectRef>
          <a:fontRef idx="minor">
            <a:schemeClr val="tx1"/>
          </a:fontRef>
        </p:style>
      </p:cxnSp>
      <p:grpSp>
        <p:nvGrpSpPr>
          <p:cNvPr id="76" name="Group 75">
            <a:extLst>
              <a:ext uri="{FF2B5EF4-FFF2-40B4-BE49-F238E27FC236}">
                <a16:creationId xmlns:a16="http://schemas.microsoft.com/office/drawing/2014/main" id="{4440B9F7-CCBC-C34A-828B-F8797096FDD1}"/>
              </a:ext>
            </a:extLst>
          </p:cNvPr>
          <p:cNvGrpSpPr/>
          <p:nvPr/>
        </p:nvGrpSpPr>
        <p:grpSpPr>
          <a:xfrm>
            <a:off x="642264" y="1904997"/>
            <a:ext cx="661050" cy="4648203"/>
            <a:chOff x="856144" y="3124199"/>
            <a:chExt cx="1277456" cy="2209801"/>
          </a:xfrm>
        </p:grpSpPr>
        <p:sp>
          <p:nvSpPr>
            <p:cNvPr id="77" name="TextBox 76">
              <a:extLst>
                <a:ext uri="{FF2B5EF4-FFF2-40B4-BE49-F238E27FC236}">
                  <a16:creationId xmlns:a16="http://schemas.microsoft.com/office/drawing/2014/main" id="{904C049D-063F-AA49-8FE5-F37E6C55B503}"/>
                </a:ext>
              </a:extLst>
            </p:cNvPr>
            <p:cNvSpPr txBox="1"/>
            <p:nvPr/>
          </p:nvSpPr>
          <p:spPr>
            <a:xfrm rot="16200000">
              <a:off x="155198" y="3825145"/>
              <a:ext cx="2115614" cy="713721"/>
            </a:xfrm>
            <a:prstGeom prst="rect">
              <a:avLst/>
            </a:prstGeom>
            <a:noFill/>
          </p:spPr>
          <p:txBody>
            <a:bodyPr wrap="square" rtlCol="0">
              <a:spAutoFit/>
            </a:bodyPr>
            <a:lstStyle/>
            <a:p>
              <a:pPr algn="ctr"/>
              <a:r>
                <a:rPr lang="en-US" dirty="0">
                  <a:solidFill>
                    <a:srgbClr val="D60093"/>
                  </a:solidFill>
                </a:rPr>
                <a:t>Target word = books</a:t>
              </a:r>
              <a:endParaRPr lang="en-US" dirty="0">
                <a:solidFill>
                  <a:srgbClr val="D60093"/>
                </a:solidFill>
                <a:latin typeface="Arial" pitchFamily="34" charset="0"/>
                <a:cs typeface="Arial" pitchFamily="34" charset="0"/>
              </a:endParaRPr>
            </a:p>
          </p:txBody>
        </p:sp>
        <p:sp>
          <p:nvSpPr>
            <p:cNvPr id="79" name="Left Brace 78">
              <a:extLst>
                <a:ext uri="{FF2B5EF4-FFF2-40B4-BE49-F238E27FC236}">
                  <a16:creationId xmlns:a16="http://schemas.microsoft.com/office/drawing/2014/main" id="{3FD0ABCC-5EDB-0347-8A22-3C0D19BBDBBE}"/>
                </a:ext>
              </a:extLst>
            </p:cNvPr>
            <p:cNvSpPr/>
            <p:nvPr/>
          </p:nvSpPr>
          <p:spPr>
            <a:xfrm>
              <a:off x="1569865" y="3124200"/>
              <a:ext cx="563735" cy="2209800"/>
            </a:xfrm>
            <a:prstGeom prst="leftBrace">
              <a:avLst/>
            </a:prstGeom>
            <a:ln w="28575">
              <a:solidFill>
                <a:srgbClr val="D60093"/>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sp>
        <p:nvSpPr>
          <p:cNvPr id="29" name="TextBox 28">
            <a:extLst>
              <a:ext uri="{FF2B5EF4-FFF2-40B4-BE49-F238E27FC236}">
                <a16:creationId xmlns:a16="http://schemas.microsoft.com/office/drawing/2014/main" id="{0989CABD-8ACB-D341-B194-735DBFB8EC4F}"/>
              </a:ext>
            </a:extLst>
          </p:cNvPr>
          <p:cNvSpPr txBox="1"/>
          <p:nvPr/>
        </p:nvSpPr>
        <p:spPr>
          <a:xfrm>
            <a:off x="2971800" y="6019800"/>
            <a:ext cx="2133600" cy="369332"/>
          </a:xfrm>
          <a:prstGeom prst="rect">
            <a:avLst/>
          </a:prstGeom>
          <a:noFill/>
        </p:spPr>
        <p:txBody>
          <a:bodyPr wrap="square" rtlCol="0">
            <a:spAutoFit/>
          </a:bodyPr>
          <a:lstStyle/>
          <a:p>
            <a:r>
              <a:rPr lang="en-US" dirty="0">
                <a:solidFill>
                  <a:srgbClr val="0000FF"/>
                </a:solidFill>
                <a:latin typeface="Arial" pitchFamily="34" charset="0"/>
                <a:cs typeface="Arial" pitchFamily="34" charset="0"/>
              </a:rPr>
              <a:t>3-dim embedding</a:t>
            </a:r>
          </a:p>
        </p:txBody>
      </p:sp>
      <p:sp>
        <p:nvSpPr>
          <p:cNvPr id="89" name="Title 1">
            <a:extLst>
              <a:ext uri="{FF2B5EF4-FFF2-40B4-BE49-F238E27FC236}">
                <a16:creationId xmlns:a16="http://schemas.microsoft.com/office/drawing/2014/main" id="{B19AD8C4-BEA1-314E-8896-166397774656}"/>
              </a:ext>
            </a:extLst>
          </p:cNvPr>
          <p:cNvSpPr>
            <a:spLocks noGrp="1"/>
          </p:cNvSpPr>
          <p:nvPr>
            <p:ph type="title"/>
          </p:nvPr>
        </p:nvSpPr>
        <p:spPr>
          <a:xfrm>
            <a:off x="457200" y="84778"/>
            <a:ext cx="8229600" cy="987552"/>
          </a:xfrm>
        </p:spPr>
        <p:txBody>
          <a:bodyPr/>
          <a:lstStyle/>
          <a:p>
            <a:r>
              <a:rPr lang="en-US" dirty="0"/>
              <a:t>Word2Vec: Example</a:t>
            </a:r>
          </a:p>
        </p:txBody>
      </p:sp>
      <p:sp>
        <p:nvSpPr>
          <p:cNvPr id="82" name="TextBox 81">
            <a:extLst>
              <a:ext uri="{FF2B5EF4-FFF2-40B4-BE49-F238E27FC236}">
                <a16:creationId xmlns:a16="http://schemas.microsoft.com/office/drawing/2014/main" id="{7B4B38B5-5293-CE4E-812D-A2ABE52C2109}"/>
              </a:ext>
            </a:extLst>
          </p:cNvPr>
          <p:cNvSpPr txBox="1"/>
          <p:nvPr/>
        </p:nvSpPr>
        <p:spPr>
          <a:xfrm>
            <a:off x="2266120" y="2003273"/>
            <a:ext cx="1089275" cy="369332"/>
          </a:xfrm>
          <a:prstGeom prst="rect">
            <a:avLst/>
          </a:prstGeom>
          <a:noFill/>
        </p:spPr>
        <p:txBody>
          <a:bodyPr wrap="square" rtlCol="0">
            <a:spAutoFit/>
          </a:bodyPr>
          <a:lstStyle/>
          <a:p>
            <a:r>
              <a:rPr lang="en-US" b="1" dirty="0" err="1">
                <a:solidFill>
                  <a:srgbClr val="0000FF"/>
                </a:solidFill>
                <a:latin typeface="Arial" pitchFamily="34" charset="0"/>
                <a:cs typeface="Arial" pitchFamily="34" charset="0"/>
              </a:rPr>
              <a:t>W</a:t>
            </a:r>
            <a:r>
              <a:rPr lang="en-US" b="1" baseline="-25000" dirty="0" err="1">
                <a:solidFill>
                  <a:srgbClr val="0000FF"/>
                </a:solidFill>
                <a:latin typeface="Arial" pitchFamily="34" charset="0"/>
                <a:cs typeface="Arial" pitchFamily="34" charset="0"/>
              </a:rPr>
              <a:t>VxN</a:t>
            </a:r>
            <a:endParaRPr lang="en-US" b="1" baseline="-25000" dirty="0">
              <a:solidFill>
                <a:srgbClr val="0000FF"/>
              </a:solidFill>
              <a:latin typeface="Arial" pitchFamily="34" charset="0"/>
              <a:cs typeface="Arial" pitchFamily="34" charset="0"/>
            </a:endParaRPr>
          </a:p>
        </p:txBody>
      </p:sp>
      <p:sp>
        <p:nvSpPr>
          <p:cNvPr id="83" name="TextBox 82">
            <a:extLst>
              <a:ext uri="{FF2B5EF4-FFF2-40B4-BE49-F238E27FC236}">
                <a16:creationId xmlns:a16="http://schemas.microsoft.com/office/drawing/2014/main" id="{44D429D3-60E6-2D40-AA00-0E9C18A8B216}"/>
              </a:ext>
            </a:extLst>
          </p:cNvPr>
          <p:cNvSpPr txBox="1"/>
          <p:nvPr/>
        </p:nvSpPr>
        <p:spPr>
          <a:xfrm>
            <a:off x="4284925" y="2041890"/>
            <a:ext cx="1089275" cy="369332"/>
          </a:xfrm>
          <a:prstGeom prst="rect">
            <a:avLst/>
          </a:prstGeom>
          <a:noFill/>
        </p:spPr>
        <p:txBody>
          <a:bodyPr wrap="square" rtlCol="0">
            <a:spAutoFit/>
          </a:bodyPr>
          <a:lstStyle/>
          <a:p>
            <a:r>
              <a:rPr lang="en-US" b="1" dirty="0" err="1">
                <a:solidFill>
                  <a:srgbClr val="0000FF"/>
                </a:solidFill>
                <a:latin typeface="Arial" pitchFamily="34" charset="0"/>
                <a:cs typeface="Arial" pitchFamily="34" charset="0"/>
              </a:rPr>
              <a:t>W’</a:t>
            </a:r>
            <a:r>
              <a:rPr lang="en-US" b="1" baseline="-25000" dirty="0" err="1">
                <a:solidFill>
                  <a:srgbClr val="0000FF"/>
                </a:solidFill>
                <a:latin typeface="Arial" pitchFamily="34" charset="0"/>
                <a:cs typeface="Arial" pitchFamily="34" charset="0"/>
              </a:rPr>
              <a:t>NxV</a:t>
            </a:r>
            <a:endParaRPr lang="en-US" b="1" baseline="-25000" dirty="0">
              <a:solidFill>
                <a:srgbClr val="0000FF"/>
              </a:solidFill>
              <a:latin typeface="Arial" pitchFamily="34" charset="0"/>
              <a:cs typeface="Arial" pitchFamily="34" charset="0"/>
            </a:endParaRPr>
          </a:p>
        </p:txBody>
      </p:sp>
      <p:cxnSp>
        <p:nvCxnSpPr>
          <p:cNvPr id="32" name="Straight Arrow Connector 31">
            <a:extLst>
              <a:ext uri="{FF2B5EF4-FFF2-40B4-BE49-F238E27FC236}">
                <a16:creationId xmlns:a16="http://schemas.microsoft.com/office/drawing/2014/main" id="{DA6310B8-C8F3-104F-8280-3C68A7C254B3}"/>
              </a:ext>
            </a:extLst>
          </p:cNvPr>
          <p:cNvCxnSpPr/>
          <p:nvPr/>
        </p:nvCxnSpPr>
        <p:spPr>
          <a:xfrm>
            <a:off x="6553200" y="2095500"/>
            <a:ext cx="533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5" name="Straight Arrow Connector 84">
            <a:extLst>
              <a:ext uri="{FF2B5EF4-FFF2-40B4-BE49-F238E27FC236}">
                <a16:creationId xmlns:a16="http://schemas.microsoft.com/office/drawing/2014/main" id="{795A150A-FDE6-A14E-9E1F-E2386B583E3E}"/>
              </a:ext>
            </a:extLst>
          </p:cNvPr>
          <p:cNvCxnSpPr/>
          <p:nvPr/>
        </p:nvCxnSpPr>
        <p:spPr>
          <a:xfrm>
            <a:off x="6553200" y="2743200"/>
            <a:ext cx="533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6" name="Straight Arrow Connector 85">
            <a:extLst>
              <a:ext uri="{FF2B5EF4-FFF2-40B4-BE49-F238E27FC236}">
                <a16:creationId xmlns:a16="http://schemas.microsoft.com/office/drawing/2014/main" id="{64E1A233-11A5-2647-9389-B331E5BC96F0}"/>
              </a:ext>
            </a:extLst>
          </p:cNvPr>
          <p:cNvCxnSpPr/>
          <p:nvPr/>
        </p:nvCxnSpPr>
        <p:spPr>
          <a:xfrm>
            <a:off x="6553200" y="3314700"/>
            <a:ext cx="533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8" name="Straight Arrow Connector 87">
            <a:extLst>
              <a:ext uri="{FF2B5EF4-FFF2-40B4-BE49-F238E27FC236}">
                <a16:creationId xmlns:a16="http://schemas.microsoft.com/office/drawing/2014/main" id="{F14E9146-B5CD-6049-9A69-17FD805E6DB1}"/>
              </a:ext>
            </a:extLst>
          </p:cNvPr>
          <p:cNvCxnSpPr/>
          <p:nvPr/>
        </p:nvCxnSpPr>
        <p:spPr>
          <a:xfrm>
            <a:off x="6553200" y="3962400"/>
            <a:ext cx="533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1" name="Straight Arrow Connector 90">
            <a:extLst>
              <a:ext uri="{FF2B5EF4-FFF2-40B4-BE49-F238E27FC236}">
                <a16:creationId xmlns:a16="http://schemas.microsoft.com/office/drawing/2014/main" id="{F8E8D2EC-51F1-BB4D-B415-B375FC999492}"/>
              </a:ext>
            </a:extLst>
          </p:cNvPr>
          <p:cNvCxnSpPr/>
          <p:nvPr/>
        </p:nvCxnSpPr>
        <p:spPr>
          <a:xfrm>
            <a:off x="6553200" y="4495800"/>
            <a:ext cx="533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2" name="Straight Arrow Connector 91">
            <a:extLst>
              <a:ext uri="{FF2B5EF4-FFF2-40B4-BE49-F238E27FC236}">
                <a16:creationId xmlns:a16="http://schemas.microsoft.com/office/drawing/2014/main" id="{AAA32A31-AB71-CA44-8293-E7A6D6B28760}"/>
              </a:ext>
            </a:extLst>
          </p:cNvPr>
          <p:cNvCxnSpPr/>
          <p:nvPr/>
        </p:nvCxnSpPr>
        <p:spPr>
          <a:xfrm>
            <a:off x="6553200" y="5143500"/>
            <a:ext cx="533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4" name="Straight Arrow Connector 93">
            <a:extLst>
              <a:ext uri="{FF2B5EF4-FFF2-40B4-BE49-F238E27FC236}">
                <a16:creationId xmlns:a16="http://schemas.microsoft.com/office/drawing/2014/main" id="{8E707385-A940-A44E-BF74-B201D3434F23}"/>
              </a:ext>
            </a:extLst>
          </p:cNvPr>
          <p:cNvCxnSpPr/>
          <p:nvPr/>
        </p:nvCxnSpPr>
        <p:spPr>
          <a:xfrm>
            <a:off x="6553200" y="5715000"/>
            <a:ext cx="533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5" name="Straight Arrow Connector 94">
            <a:extLst>
              <a:ext uri="{FF2B5EF4-FFF2-40B4-BE49-F238E27FC236}">
                <a16:creationId xmlns:a16="http://schemas.microsoft.com/office/drawing/2014/main" id="{717C2349-2B13-3744-AC10-2377460D9C12}"/>
              </a:ext>
            </a:extLst>
          </p:cNvPr>
          <p:cNvCxnSpPr/>
          <p:nvPr/>
        </p:nvCxnSpPr>
        <p:spPr>
          <a:xfrm>
            <a:off x="6553200" y="6362700"/>
            <a:ext cx="533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3" name="Rectangle 32">
            <a:extLst>
              <a:ext uri="{FF2B5EF4-FFF2-40B4-BE49-F238E27FC236}">
                <a16:creationId xmlns:a16="http://schemas.microsoft.com/office/drawing/2014/main" id="{354F2B31-4F9C-114B-B89F-2188E6143A37}"/>
              </a:ext>
            </a:extLst>
          </p:cNvPr>
          <p:cNvSpPr/>
          <p:nvPr/>
        </p:nvSpPr>
        <p:spPr>
          <a:xfrm>
            <a:off x="7162800" y="1828800"/>
            <a:ext cx="609600" cy="397756"/>
          </a:xfrm>
          <a:prstGeom prst="rect">
            <a:avLst/>
          </a:prstGeom>
          <a:ln/>
        </p:spPr>
        <p:style>
          <a:lnRef idx="1">
            <a:schemeClr val="accent4"/>
          </a:lnRef>
          <a:fillRef idx="2">
            <a:schemeClr val="accent4"/>
          </a:fillRef>
          <a:effectRef idx="1">
            <a:schemeClr val="accent4"/>
          </a:effectRef>
          <a:fontRef idx="minor">
            <a:schemeClr val="dk1"/>
          </a:fontRef>
        </p:style>
        <p:txBody>
          <a:bodyPr lIns="0" rtlCol="0" anchor="ctr"/>
          <a:lstStyle/>
          <a:p>
            <a:pPr algn="ctr"/>
            <a:r>
              <a:rPr lang="en-US" dirty="0"/>
              <a:t>0.001</a:t>
            </a:r>
          </a:p>
        </p:txBody>
      </p:sp>
      <p:sp>
        <p:nvSpPr>
          <p:cNvPr id="105" name="Rectangle 104">
            <a:extLst>
              <a:ext uri="{FF2B5EF4-FFF2-40B4-BE49-F238E27FC236}">
                <a16:creationId xmlns:a16="http://schemas.microsoft.com/office/drawing/2014/main" id="{B2491E53-4099-D447-B0AB-640F46645A58}"/>
              </a:ext>
            </a:extLst>
          </p:cNvPr>
          <p:cNvSpPr/>
          <p:nvPr/>
        </p:nvSpPr>
        <p:spPr>
          <a:xfrm>
            <a:off x="7158842" y="2504243"/>
            <a:ext cx="609600" cy="397756"/>
          </a:xfrm>
          <a:prstGeom prst="rect">
            <a:avLst/>
          </a:prstGeom>
          <a:ln/>
        </p:spPr>
        <p:style>
          <a:lnRef idx="1">
            <a:schemeClr val="accent4"/>
          </a:lnRef>
          <a:fillRef idx="2">
            <a:schemeClr val="accent4"/>
          </a:fillRef>
          <a:effectRef idx="1">
            <a:schemeClr val="accent4"/>
          </a:effectRef>
          <a:fontRef idx="minor">
            <a:schemeClr val="dk1"/>
          </a:fontRef>
        </p:style>
        <p:txBody>
          <a:bodyPr lIns="0" rtlCol="0" anchor="ctr"/>
          <a:lstStyle/>
          <a:p>
            <a:pPr algn="ctr"/>
            <a:r>
              <a:rPr lang="en-US" dirty="0"/>
              <a:t>0.104</a:t>
            </a:r>
          </a:p>
        </p:txBody>
      </p:sp>
      <p:sp>
        <p:nvSpPr>
          <p:cNvPr id="106" name="Rectangle 105">
            <a:extLst>
              <a:ext uri="{FF2B5EF4-FFF2-40B4-BE49-F238E27FC236}">
                <a16:creationId xmlns:a16="http://schemas.microsoft.com/office/drawing/2014/main" id="{52FC4260-9067-1E45-9986-0911C003D662}"/>
              </a:ext>
            </a:extLst>
          </p:cNvPr>
          <p:cNvSpPr/>
          <p:nvPr/>
        </p:nvSpPr>
        <p:spPr>
          <a:xfrm>
            <a:off x="7158842" y="3123442"/>
            <a:ext cx="609600" cy="397756"/>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0</a:t>
            </a:r>
          </a:p>
        </p:txBody>
      </p:sp>
      <p:sp>
        <p:nvSpPr>
          <p:cNvPr id="107" name="Rectangle 106">
            <a:extLst>
              <a:ext uri="{FF2B5EF4-FFF2-40B4-BE49-F238E27FC236}">
                <a16:creationId xmlns:a16="http://schemas.microsoft.com/office/drawing/2014/main" id="{32F14135-21DF-4942-86C0-2127E8DCD559}"/>
              </a:ext>
            </a:extLst>
          </p:cNvPr>
          <p:cNvSpPr/>
          <p:nvPr/>
        </p:nvSpPr>
        <p:spPr>
          <a:xfrm>
            <a:off x="7154884" y="3798885"/>
            <a:ext cx="609600" cy="397756"/>
          </a:xfrm>
          <a:prstGeom prst="rect">
            <a:avLst/>
          </a:prstGeom>
          <a:ln/>
        </p:spPr>
        <p:style>
          <a:lnRef idx="1">
            <a:schemeClr val="accent4"/>
          </a:lnRef>
          <a:fillRef idx="2">
            <a:schemeClr val="accent4"/>
          </a:fillRef>
          <a:effectRef idx="1">
            <a:schemeClr val="accent4"/>
          </a:effectRef>
          <a:fontRef idx="minor">
            <a:schemeClr val="dk1"/>
          </a:fontRef>
        </p:style>
        <p:txBody>
          <a:bodyPr lIns="0" rtlCol="0" anchor="ctr"/>
          <a:lstStyle/>
          <a:p>
            <a:pPr algn="ctr"/>
            <a:r>
              <a:rPr lang="en-US" dirty="0"/>
              <a:t>0.077</a:t>
            </a:r>
          </a:p>
        </p:txBody>
      </p:sp>
      <p:sp>
        <p:nvSpPr>
          <p:cNvPr id="108" name="Rectangle 107">
            <a:extLst>
              <a:ext uri="{FF2B5EF4-FFF2-40B4-BE49-F238E27FC236}">
                <a16:creationId xmlns:a16="http://schemas.microsoft.com/office/drawing/2014/main" id="{6AD3AE92-C50B-F344-AB31-F7F2D4D52A0B}"/>
              </a:ext>
            </a:extLst>
          </p:cNvPr>
          <p:cNvSpPr/>
          <p:nvPr/>
        </p:nvSpPr>
        <p:spPr>
          <a:xfrm>
            <a:off x="7162800" y="4354551"/>
            <a:ext cx="609600" cy="397756"/>
          </a:xfrm>
          <a:prstGeom prst="rect">
            <a:avLst/>
          </a:prstGeom>
          <a:ln/>
        </p:spPr>
        <p:style>
          <a:lnRef idx="1">
            <a:schemeClr val="accent4"/>
          </a:lnRef>
          <a:fillRef idx="2">
            <a:schemeClr val="accent4"/>
          </a:fillRef>
          <a:effectRef idx="1">
            <a:schemeClr val="accent4"/>
          </a:effectRef>
          <a:fontRef idx="minor">
            <a:schemeClr val="dk1"/>
          </a:fontRef>
        </p:style>
        <p:txBody>
          <a:bodyPr lIns="0" rtlCol="0" anchor="ctr"/>
          <a:lstStyle/>
          <a:p>
            <a:pPr algn="ctr"/>
            <a:r>
              <a:rPr lang="en-US" dirty="0"/>
              <a:t>0.177</a:t>
            </a:r>
          </a:p>
        </p:txBody>
      </p:sp>
      <p:sp>
        <p:nvSpPr>
          <p:cNvPr id="109" name="Rectangle 108">
            <a:extLst>
              <a:ext uri="{FF2B5EF4-FFF2-40B4-BE49-F238E27FC236}">
                <a16:creationId xmlns:a16="http://schemas.microsoft.com/office/drawing/2014/main" id="{FB0ED8B4-B69A-4243-8511-41088425EBBC}"/>
              </a:ext>
            </a:extLst>
          </p:cNvPr>
          <p:cNvSpPr/>
          <p:nvPr/>
        </p:nvSpPr>
        <p:spPr>
          <a:xfrm>
            <a:off x="7154388" y="4981998"/>
            <a:ext cx="609600" cy="397756"/>
          </a:xfrm>
          <a:prstGeom prst="rect">
            <a:avLst/>
          </a:prstGeom>
          <a:ln/>
        </p:spPr>
        <p:style>
          <a:lnRef idx="1">
            <a:schemeClr val="accent4"/>
          </a:lnRef>
          <a:fillRef idx="2">
            <a:schemeClr val="accent4"/>
          </a:fillRef>
          <a:effectRef idx="1">
            <a:schemeClr val="accent4"/>
          </a:effectRef>
          <a:fontRef idx="minor">
            <a:schemeClr val="dk1"/>
          </a:fontRef>
        </p:style>
        <p:txBody>
          <a:bodyPr lIns="0" rtlCol="0" anchor="ctr"/>
          <a:lstStyle/>
          <a:p>
            <a:pPr algn="ctr"/>
            <a:r>
              <a:rPr lang="en-US" dirty="0"/>
              <a:t>0.627</a:t>
            </a:r>
          </a:p>
        </p:txBody>
      </p:sp>
      <p:sp>
        <p:nvSpPr>
          <p:cNvPr id="110" name="Rectangle 109">
            <a:extLst>
              <a:ext uri="{FF2B5EF4-FFF2-40B4-BE49-F238E27FC236}">
                <a16:creationId xmlns:a16="http://schemas.microsoft.com/office/drawing/2014/main" id="{38961B35-7059-3F44-A682-B27D4B3D41C6}"/>
              </a:ext>
            </a:extLst>
          </p:cNvPr>
          <p:cNvSpPr/>
          <p:nvPr/>
        </p:nvSpPr>
        <p:spPr>
          <a:xfrm>
            <a:off x="7137070" y="5570092"/>
            <a:ext cx="609600" cy="397756"/>
          </a:xfrm>
          <a:prstGeom prst="rect">
            <a:avLst/>
          </a:prstGeom>
          <a:ln/>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dirty="0"/>
              <a:t>0.008</a:t>
            </a:r>
          </a:p>
        </p:txBody>
      </p:sp>
      <p:sp>
        <p:nvSpPr>
          <p:cNvPr id="111" name="Rectangle 110">
            <a:extLst>
              <a:ext uri="{FF2B5EF4-FFF2-40B4-BE49-F238E27FC236}">
                <a16:creationId xmlns:a16="http://schemas.microsoft.com/office/drawing/2014/main" id="{08814719-05E1-F649-8D96-36B0025A1BD1}"/>
              </a:ext>
            </a:extLst>
          </p:cNvPr>
          <p:cNvSpPr/>
          <p:nvPr/>
        </p:nvSpPr>
        <p:spPr>
          <a:xfrm>
            <a:off x="7164452" y="6204466"/>
            <a:ext cx="609600" cy="397756"/>
          </a:xfrm>
          <a:prstGeom prst="rect">
            <a:avLst/>
          </a:prstGeom>
          <a:ln/>
        </p:spPr>
        <p:style>
          <a:lnRef idx="1">
            <a:schemeClr val="accent4"/>
          </a:lnRef>
          <a:fillRef idx="2">
            <a:schemeClr val="accent4"/>
          </a:fillRef>
          <a:effectRef idx="1">
            <a:schemeClr val="accent4"/>
          </a:effectRef>
          <a:fontRef idx="minor">
            <a:schemeClr val="dk1"/>
          </a:fontRef>
        </p:style>
        <p:txBody>
          <a:bodyPr lIns="0" rtlCol="0" anchor="ctr"/>
          <a:lstStyle/>
          <a:p>
            <a:pPr algn="ctr"/>
            <a:r>
              <a:rPr lang="en-US" dirty="0"/>
              <a:t>0.013</a:t>
            </a:r>
          </a:p>
        </p:txBody>
      </p:sp>
      <p:sp>
        <p:nvSpPr>
          <p:cNvPr id="112" name="TextBox 111">
            <a:extLst>
              <a:ext uri="{FF2B5EF4-FFF2-40B4-BE49-F238E27FC236}">
                <a16:creationId xmlns:a16="http://schemas.microsoft.com/office/drawing/2014/main" id="{0E06C57C-6434-F943-B55F-06AE1F6B8390}"/>
              </a:ext>
            </a:extLst>
          </p:cNvPr>
          <p:cNvSpPr txBox="1"/>
          <p:nvPr/>
        </p:nvSpPr>
        <p:spPr>
          <a:xfrm>
            <a:off x="6412775" y="1149605"/>
            <a:ext cx="2522615" cy="646331"/>
          </a:xfrm>
          <a:prstGeom prst="rect">
            <a:avLst/>
          </a:prstGeom>
          <a:noFill/>
        </p:spPr>
        <p:txBody>
          <a:bodyPr wrap="square" rtlCol="0">
            <a:spAutoFit/>
          </a:bodyPr>
          <a:lstStyle/>
          <a:p>
            <a:r>
              <a:rPr lang="en-US" dirty="0">
                <a:solidFill>
                  <a:srgbClr val="0000FF"/>
                </a:solidFill>
                <a:latin typeface="Arial" pitchFamily="34" charset="0"/>
                <a:cs typeface="Arial" pitchFamily="34" charset="0"/>
              </a:rPr>
              <a:t>Probability distribution of context word</a:t>
            </a:r>
          </a:p>
        </p:txBody>
      </p:sp>
    </p:spTree>
    <p:extLst>
      <p:ext uri="{BB962C8B-B14F-4D97-AF65-F5344CB8AC3E}">
        <p14:creationId xmlns:p14="http://schemas.microsoft.com/office/powerpoint/2010/main" val="24900386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3EF999-0E22-E646-AE46-E78AE2A30EEA}"/>
              </a:ext>
            </a:extLst>
          </p:cNvPr>
          <p:cNvSpPr>
            <a:spLocks noGrp="1"/>
          </p:cNvSpPr>
          <p:nvPr>
            <p:ph idx="1"/>
          </p:nvPr>
        </p:nvSpPr>
        <p:spPr/>
        <p:txBody>
          <a:bodyPr/>
          <a:lstStyle/>
          <a:p>
            <a:r>
              <a:rPr lang="en-US" sz="2600" dirty="0"/>
              <a:t>If </a:t>
            </a:r>
            <a:r>
              <a:rPr lang="en-US" sz="2600" dirty="0" err="1">
                <a:solidFill>
                  <a:srgbClr val="0000FF"/>
                </a:solidFill>
              </a:rPr>
              <a:t>W’</a:t>
            </a:r>
            <a:r>
              <a:rPr lang="en-US" sz="2600" baseline="-25000" dirty="0" err="1">
                <a:solidFill>
                  <a:srgbClr val="0000FF"/>
                </a:solidFill>
              </a:rPr>
              <a:t>NxV</a:t>
            </a:r>
            <a:r>
              <a:rPr lang="en-US" sz="2600" baseline="-25000" dirty="0">
                <a:solidFill>
                  <a:srgbClr val="0000FF"/>
                </a:solidFill>
              </a:rPr>
              <a:t> </a:t>
            </a:r>
            <a:r>
              <a:rPr lang="en-US" sz="2600" dirty="0"/>
              <a:t>given:</a:t>
            </a:r>
            <a:endParaRPr lang="en-US" sz="2600" baseline="-25000" dirty="0"/>
          </a:p>
        </p:txBody>
      </p:sp>
      <p:sp>
        <p:nvSpPr>
          <p:cNvPr id="4" name="Date Placeholder 3">
            <a:extLst>
              <a:ext uri="{FF2B5EF4-FFF2-40B4-BE49-F238E27FC236}">
                <a16:creationId xmlns:a16="http://schemas.microsoft.com/office/drawing/2014/main" id="{3A95A54D-9A58-5549-8965-BA8F28D4AD61}"/>
              </a:ext>
            </a:extLst>
          </p:cNvPr>
          <p:cNvSpPr>
            <a:spLocks noGrp="1"/>
          </p:cNvSpPr>
          <p:nvPr>
            <p:ph type="dt" sz="half" idx="10"/>
          </p:nvPr>
        </p:nvSpPr>
        <p:spPr/>
        <p:txBody>
          <a:bodyPr/>
          <a:lstStyle/>
          <a:p>
            <a:fld id="{05C35C66-110D-254B-B3D8-3DE52BF3B28F}" type="datetime1">
              <a:rPr lang="en-US" smtClean="0"/>
              <a:t>11/3/24</a:t>
            </a:fld>
            <a:endParaRPr lang="en-US"/>
          </a:p>
        </p:txBody>
      </p:sp>
      <p:sp>
        <p:nvSpPr>
          <p:cNvPr id="5" name="Footer Placeholder 4">
            <a:extLst>
              <a:ext uri="{FF2B5EF4-FFF2-40B4-BE49-F238E27FC236}">
                <a16:creationId xmlns:a16="http://schemas.microsoft.com/office/drawing/2014/main" id="{75E3F037-9750-654F-816B-A2F53F57A342}"/>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A9C7C246-21A0-724F-877A-EDE129D9F409}"/>
              </a:ext>
            </a:extLst>
          </p:cNvPr>
          <p:cNvSpPr>
            <a:spLocks noGrp="1"/>
          </p:cNvSpPr>
          <p:nvPr>
            <p:ph type="sldNum" sz="quarter" idx="12"/>
          </p:nvPr>
        </p:nvSpPr>
        <p:spPr/>
        <p:txBody>
          <a:bodyPr/>
          <a:lstStyle/>
          <a:p>
            <a:fld id="{19B12225-5612-419B-A8D5-4B8EEE4C217E}" type="slidenum">
              <a:rPr lang="en-US" smtClean="0"/>
              <a:pPr/>
              <a:t>61</a:t>
            </a:fld>
            <a:endParaRPr lang="en-US"/>
          </a:p>
        </p:txBody>
      </p:sp>
      <p:sp>
        <p:nvSpPr>
          <p:cNvPr id="7" name="Oval 6">
            <a:extLst>
              <a:ext uri="{FF2B5EF4-FFF2-40B4-BE49-F238E27FC236}">
                <a16:creationId xmlns:a16="http://schemas.microsoft.com/office/drawing/2014/main" id="{FE984F9E-3D6F-C247-A6C1-9FD84A14E635}"/>
              </a:ext>
            </a:extLst>
          </p:cNvPr>
          <p:cNvSpPr/>
          <p:nvPr/>
        </p:nvSpPr>
        <p:spPr>
          <a:xfrm>
            <a:off x="1447800" y="24384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8" name="Oval 7">
            <a:extLst>
              <a:ext uri="{FF2B5EF4-FFF2-40B4-BE49-F238E27FC236}">
                <a16:creationId xmlns:a16="http://schemas.microsoft.com/office/drawing/2014/main" id="{FCA76820-8ED3-7640-BA73-F8527CD9BB52}"/>
              </a:ext>
            </a:extLst>
          </p:cNvPr>
          <p:cNvSpPr/>
          <p:nvPr/>
        </p:nvSpPr>
        <p:spPr>
          <a:xfrm>
            <a:off x="1447800" y="30480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9" name="Oval 8">
            <a:extLst>
              <a:ext uri="{FF2B5EF4-FFF2-40B4-BE49-F238E27FC236}">
                <a16:creationId xmlns:a16="http://schemas.microsoft.com/office/drawing/2014/main" id="{B47E7577-F37D-4A4E-8A05-F4574EBC5AC3}"/>
              </a:ext>
            </a:extLst>
          </p:cNvPr>
          <p:cNvSpPr/>
          <p:nvPr/>
        </p:nvSpPr>
        <p:spPr>
          <a:xfrm>
            <a:off x="1445821" y="3657600"/>
            <a:ext cx="533400" cy="533400"/>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1</a:t>
            </a:r>
          </a:p>
        </p:txBody>
      </p:sp>
      <p:sp>
        <p:nvSpPr>
          <p:cNvPr id="10" name="Oval 9">
            <a:extLst>
              <a:ext uri="{FF2B5EF4-FFF2-40B4-BE49-F238E27FC236}">
                <a16:creationId xmlns:a16="http://schemas.microsoft.com/office/drawing/2014/main" id="{1669C58E-19E6-4840-8065-BDB33C26B166}"/>
              </a:ext>
            </a:extLst>
          </p:cNvPr>
          <p:cNvSpPr/>
          <p:nvPr/>
        </p:nvSpPr>
        <p:spPr>
          <a:xfrm>
            <a:off x="1449779" y="42672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1" name="Oval 10">
            <a:extLst>
              <a:ext uri="{FF2B5EF4-FFF2-40B4-BE49-F238E27FC236}">
                <a16:creationId xmlns:a16="http://schemas.microsoft.com/office/drawing/2014/main" id="{9017FFE6-10AE-FF43-99AE-960397B374DB}"/>
              </a:ext>
            </a:extLst>
          </p:cNvPr>
          <p:cNvSpPr/>
          <p:nvPr/>
        </p:nvSpPr>
        <p:spPr>
          <a:xfrm>
            <a:off x="1449779" y="48768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2" name="Oval 11">
            <a:extLst>
              <a:ext uri="{FF2B5EF4-FFF2-40B4-BE49-F238E27FC236}">
                <a16:creationId xmlns:a16="http://schemas.microsoft.com/office/drawing/2014/main" id="{0587A28A-D458-1444-99C8-17770F541260}"/>
              </a:ext>
            </a:extLst>
          </p:cNvPr>
          <p:cNvSpPr/>
          <p:nvPr/>
        </p:nvSpPr>
        <p:spPr>
          <a:xfrm>
            <a:off x="1447800" y="54864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3" name="Oval 12">
            <a:extLst>
              <a:ext uri="{FF2B5EF4-FFF2-40B4-BE49-F238E27FC236}">
                <a16:creationId xmlns:a16="http://schemas.microsoft.com/office/drawing/2014/main" id="{4D34B655-73FA-C34C-9A61-24A56C1E178B}"/>
              </a:ext>
            </a:extLst>
          </p:cNvPr>
          <p:cNvSpPr/>
          <p:nvPr/>
        </p:nvSpPr>
        <p:spPr>
          <a:xfrm>
            <a:off x="1447800" y="18288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4" name="Oval 13">
            <a:extLst>
              <a:ext uri="{FF2B5EF4-FFF2-40B4-BE49-F238E27FC236}">
                <a16:creationId xmlns:a16="http://schemas.microsoft.com/office/drawing/2014/main" id="{5760957A-AB0C-FC41-AA55-82C44F26A99C}"/>
              </a:ext>
            </a:extLst>
          </p:cNvPr>
          <p:cNvSpPr/>
          <p:nvPr/>
        </p:nvSpPr>
        <p:spPr>
          <a:xfrm>
            <a:off x="1447800" y="60960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5" name="Oval 14">
            <a:extLst>
              <a:ext uri="{FF2B5EF4-FFF2-40B4-BE49-F238E27FC236}">
                <a16:creationId xmlns:a16="http://schemas.microsoft.com/office/drawing/2014/main" id="{F0B5B778-2FF2-4044-BB0E-2570466FF450}"/>
              </a:ext>
            </a:extLst>
          </p:cNvPr>
          <p:cNvSpPr/>
          <p:nvPr/>
        </p:nvSpPr>
        <p:spPr>
          <a:xfrm>
            <a:off x="3581400" y="2703121"/>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dirty="0"/>
              <a:t>0.5</a:t>
            </a:r>
          </a:p>
        </p:txBody>
      </p:sp>
      <p:sp>
        <p:nvSpPr>
          <p:cNvPr id="16" name="Oval 15">
            <a:extLst>
              <a:ext uri="{FF2B5EF4-FFF2-40B4-BE49-F238E27FC236}">
                <a16:creationId xmlns:a16="http://schemas.microsoft.com/office/drawing/2014/main" id="{181F2C68-981D-824F-A4A2-7DD278B281DF}"/>
              </a:ext>
            </a:extLst>
          </p:cNvPr>
          <p:cNvSpPr/>
          <p:nvPr/>
        </p:nvSpPr>
        <p:spPr>
          <a:xfrm>
            <a:off x="3581400" y="39243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2.3</a:t>
            </a:r>
          </a:p>
        </p:txBody>
      </p:sp>
      <p:sp>
        <p:nvSpPr>
          <p:cNvPr id="17" name="Oval 16">
            <a:extLst>
              <a:ext uri="{FF2B5EF4-FFF2-40B4-BE49-F238E27FC236}">
                <a16:creationId xmlns:a16="http://schemas.microsoft.com/office/drawing/2014/main" id="{34985E82-54AF-0A45-9DCD-E6A8D656E586}"/>
              </a:ext>
            </a:extLst>
          </p:cNvPr>
          <p:cNvSpPr/>
          <p:nvPr/>
        </p:nvSpPr>
        <p:spPr>
          <a:xfrm>
            <a:off x="3581400" y="51054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dirty="0"/>
              <a:t>2.2</a:t>
            </a:r>
          </a:p>
        </p:txBody>
      </p:sp>
      <p:sp>
        <p:nvSpPr>
          <p:cNvPr id="18" name="Oval 17">
            <a:extLst>
              <a:ext uri="{FF2B5EF4-FFF2-40B4-BE49-F238E27FC236}">
                <a16:creationId xmlns:a16="http://schemas.microsoft.com/office/drawing/2014/main" id="{7AA8C92D-B711-8145-8F15-3FA48B6147BA}"/>
              </a:ext>
            </a:extLst>
          </p:cNvPr>
          <p:cNvSpPr/>
          <p:nvPr/>
        </p:nvSpPr>
        <p:spPr>
          <a:xfrm>
            <a:off x="5865421" y="24384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dirty="0"/>
              <a:t>5.6</a:t>
            </a:r>
          </a:p>
        </p:txBody>
      </p:sp>
      <p:sp>
        <p:nvSpPr>
          <p:cNvPr id="19" name="Oval 18">
            <a:extLst>
              <a:ext uri="{FF2B5EF4-FFF2-40B4-BE49-F238E27FC236}">
                <a16:creationId xmlns:a16="http://schemas.microsoft.com/office/drawing/2014/main" id="{5C48531D-05C0-8345-980B-30952593A5D8}"/>
              </a:ext>
            </a:extLst>
          </p:cNvPr>
          <p:cNvSpPr/>
          <p:nvPr/>
        </p:nvSpPr>
        <p:spPr>
          <a:xfrm>
            <a:off x="5865421" y="30480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dirty="0"/>
              <a:t>-2.4</a:t>
            </a:r>
          </a:p>
        </p:txBody>
      </p:sp>
      <p:sp>
        <p:nvSpPr>
          <p:cNvPr id="20" name="Oval 19">
            <a:extLst>
              <a:ext uri="{FF2B5EF4-FFF2-40B4-BE49-F238E27FC236}">
                <a16:creationId xmlns:a16="http://schemas.microsoft.com/office/drawing/2014/main" id="{C85BDEDA-0B29-0B48-AB49-A0443750BCFD}"/>
              </a:ext>
            </a:extLst>
          </p:cNvPr>
          <p:cNvSpPr/>
          <p:nvPr/>
        </p:nvSpPr>
        <p:spPr>
          <a:xfrm>
            <a:off x="5863442" y="36576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5.3</a:t>
            </a:r>
          </a:p>
        </p:txBody>
      </p:sp>
      <p:sp>
        <p:nvSpPr>
          <p:cNvPr id="21" name="Oval 20">
            <a:extLst>
              <a:ext uri="{FF2B5EF4-FFF2-40B4-BE49-F238E27FC236}">
                <a16:creationId xmlns:a16="http://schemas.microsoft.com/office/drawing/2014/main" id="{BE8785BA-01A9-8F40-A9A4-F3FEA11408FA}"/>
              </a:ext>
            </a:extLst>
          </p:cNvPr>
          <p:cNvSpPr/>
          <p:nvPr/>
        </p:nvSpPr>
        <p:spPr>
          <a:xfrm>
            <a:off x="5867400" y="42672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6.1</a:t>
            </a:r>
          </a:p>
        </p:txBody>
      </p:sp>
      <p:sp>
        <p:nvSpPr>
          <p:cNvPr id="22" name="Oval 21">
            <a:extLst>
              <a:ext uri="{FF2B5EF4-FFF2-40B4-BE49-F238E27FC236}">
                <a16:creationId xmlns:a16="http://schemas.microsoft.com/office/drawing/2014/main" id="{EB544E5D-9AED-0D4C-B87F-EAD417444152}"/>
              </a:ext>
            </a:extLst>
          </p:cNvPr>
          <p:cNvSpPr/>
          <p:nvPr/>
        </p:nvSpPr>
        <p:spPr>
          <a:xfrm>
            <a:off x="5867400" y="48768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7.4</a:t>
            </a:r>
          </a:p>
        </p:txBody>
      </p:sp>
      <p:sp>
        <p:nvSpPr>
          <p:cNvPr id="23" name="Oval 22">
            <a:extLst>
              <a:ext uri="{FF2B5EF4-FFF2-40B4-BE49-F238E27FC236}">
                <a16:creationId xmlns:a16="http://schemas.microsoft.com/office/drawing/2014/main" id="{F0C98CF2-6F2D-5840-8C01-71F89C11F9FF}"/>
              </a:ext>
            </a:extLst>
          </p:cNvPr>
          <p:cNvSpPr/>
          <p:nvPr/>
        </p:nvSpPr>
        <p:spPr>
          <a:xfrm>
            <a:off x="5865421" y="54864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rIns="0" rtlCol="0" anchor="ctr"/>
          <a:lstStyle/>
          <a:p>
            <a:pPr algn="ctr"/>
            <a:r>
              <a:rPr lang="en-US" dirty="0"/>
              <a:t>3</a:t>
            </a:r>
          </a:p>
        </p:txBody>
      </p:sp>
      <p:sp>
        <p:nvSpPr>
          <p:cNvPr id="24" name="Oval 23">
            <a:extLst>
              <a:ext uri="{FF2B5EF4-FFF2-40B4-BE49-F238E27FC236}">
                <a16:creationId xmlns:a16="http://schemas.microsoft.com/office/drawing/2014/main" id="{DB45B293-2C68-B645-9886-C89078196905}"/>
              </a:ext>
            </a:extLst>
          </p:cNvPr>
          <p:cNvSpPr/>
          <p:nvPr/>
        </p:nvSpPr>
        <p:spPr>
          <a:xfrm>
            <a:off x="5865421" y="18288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dirty="0"/>
              <a:t>1.0</a:t>
            </a:r>
          </a:p>
        </p:txBody>
      </p:sp>
      <p:sp>
        <p:nvSpPr>
          <p:cNvPr id="25" name="Oval 24">
            <a:extLst>
              <a:ext uri="{FF2B5EF4-FFF2-40B4-BE49-F238E27FC236}">
                <a16:creationId xmlns:a16="http://schemas.microsoft.com/office/drawing/2014/main" id="{BEF37F96-B6E3-C443-B434-C702B6BBF14F}"/>
              </a:ext>
            </a:extLst>
          </p:cNvPr>
          <p:cNvSpPr/>
          <p:nvPr/>
        </p:nvSpPr>
        <p:spPr>
          <a:xfrm>
            <a:off x="5865421" y="60960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3.5</a:t>
            </a:r>
          </a:p>
        </p:txBody>
      </p:sp>
      <p:cxnSp>
        <p:nvCxnSpPr>
          <p:cNvPr id="27" name="Straight Connector 26">
            <a:extLst>
              <a:ext uri="{FF2B5EF4-FFF2-40B4-BE49-F238E27FC236}">
                <a16:creationId xmlns:a16="http://schemas.microsoft.com/office/drawing/2014/main" id="{DD3E3EA0-C479-AE4B-A2A9-F7E0E4FCD5EF}"/>
              </a:ext>
            </a:extLst>
          </p:cNvPr>
          <p:cNvCxnSpPr>
            <a:cxnSpLocks/>
            <a:stCxn id="13" idx="5"/>
            <a:endCxn id="15" idx="2"/>
          </p:cNvCxnSpPr>
          <p:nvPr/>
        </p:nvCxnSpPr>
        <p:spPr>
          <a:xfrm>
            <a:off x="1903085" y="2284085"/>
            <a:ext cx="1678315" cy="685736"/>
          </a:xfrm>
          <a:prstGeom prst="line">
            <a:avLst/>
          </a:prstGeom>
          <a:ln w="28575"/>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F01C6554-CAC9-DB47-B06E-9910BCA07525}"/>
              </a:ext>
            </a:extLst>
          </p:cNvPr>
          <p:cNvCxnSpPr>
            <a:cxnSpLocks/>
          </p:cNvCxnSpPr>
          <p:nvPr/>
        </p:nvCxnSpPr>
        <p:spPr>
          <a:xfrm>
            <a:off x="2017353" y="2760303"/>
            <a:ext cx="1560089" cy="249596"/>
          </a:xfrm>
          <a:prstGeom prst="line">
            <a:avLst/>
          </a:prstGeom>
          <a:ln w="28575"/>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6AB9B9E8-C680-5248-9365-F0468870FBBC}"/>
              </a:ext>
            </a:extLst>
          </p:cNvPr>
          <p:cNvCxnSpPr>
            <a:cxnSpLocks/>
            <a:endCxn id="15" idx="2"/>
          </p:cNvCxnSpPr>
          <p:nvPr/>
        </p:nvCxnSpPr>
        <p:spPr>
          <a:xfrm flipV="1">
            <a:off x="2013395" y="2969821"/>
            <a:ext cx="1568005" cy="344882"/>
          </a:xfrm>
          <a:prstGeom prst="line">
            <a:avLst/>
          </a:prstGeom>
          <a:ln w="28575"/>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0927AA7F-71CE-C44D-897C-1E3897E5D80B}"/>
              </a:ext>
            </a:extLst>
          </p:cNvPr>
          <p:cNvCxnSpPr>
            <a:cxnSpLocks/>
            <a:stCxn id="9" idx="6"/>
          </p:cNvCxnSpPr>
          <p:nvPr/>
        </p:nvCxnSpPr>
        <p:spPr>
          <a:xfrm flipV="1">
            <a:off x="1979221" y="3017521"/>
            <a:ext cx="1594263" cy="90677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08B55ED0-0B80-4C46-B835-B9E815368BA5}"/>
              </a:ext>
            </a:extLst>
          </p:cNvPr>
          <p:cNvCxnSpPr>
            <a:cxnSpLocks/>
            <a:stCxn id="10" idx="6"/>
            <a:endCxn id="15" idx="2"/>
          </p:cNvCxnSpPr>
          <p:nvPr/>
        </p:nvCxnSpPr>
        <p:spPr>
          <a:xfrm flipV="1">
            <a:off x="1983179" y="2969821"/>
            <a:ext cx="1598221" cy="1564079"/>
          </a:xfrm>
          <a:prstGeom prst="line">
            <a:avLst/>
          </a:prstGeom>
          <a:ln w="28575"/>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A0598294-3668-E846-A022-5AF29B346430}"/>
              </a:ext>
            </a:extLst>
          </p:cNvPr>
          <p:cNvCxnSpPr>
            <a:cxnSpLocks/>
            <a:stCxn id="11" idx="6"/>
          </p:cNvCxnSpPr>
          <p:nvPr/>
        </p:nvCxnSpPr>
        <p:spPr>
          <a:xfrm flipV="1">
            <a:off x="1983179" y="3040378"/>
            <a:ext cx="1589316" cy="2103122"/>
          </a:xfrm>
          <a:prstGeom prst="line">
            <a:avLst/>
          </a:prstGeom>
          <a:ln w="28575"/>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9AF17E93-717C-114B-A363-D20DEFA81EA3}"/>
              </a:ext>
            </a:extLst>
          </p:cNvPr>
          <p:cNvCxnSpPr>
            <a:cxnSpLocks/>
            <a:stCxn id="12" idx="6"/>
            <a:endCxn id="15" idx="2"/>
          </p:cNvCxnSpPr>
          <p:nvPr/>
        </p:nvCxnSpPr>
        <p:spPr>
          <a:xfrm flipV="1">
            <a:off x="1981200" y="2969821"/>
            <a:ext cx="1600200" cy="2783279"/>
          </a:xfrm>
          <a:prstGeom prst="line">
            <a:avLst/>
          </a:prstGeom>
          <a:ln w="28575"/>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DF3785BE-70E0-FD4A-A597-0F8F86E4C71A}"/>
              </a:ext>
            </a:extLst>
          </p:cNvPr>
          <p:cNvCxnSpPr>
            <a:cxnSpLocks/>
            <a:endCxn id="15" idx="2"/>
          </p:cNvCxnSpPr>
          <p:nvPr/>
        </p:nvCxnSpPr>
        <p:spPr>
          <a:xfrm flipV="1">
            <a:off x="2013395" y="2969821"/>
            <a:ext cx="1568005" cy="3385262"/>
          </a:xfrm>
          <a:prstGeom prst="line">
            <a:avLst/>
          </a:prstGeom>
          <a:ln w="28575"/>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825B194E-AF66-FD48-AC5A-D674DC6458DB}"/>
              </a:ext>
            </a:extLst>
          </p:cNvPr>
          <p:cNvCxnSpPr>
            <a:cxnSpLocks/>
            <a:stCxn id="13" idx="5"/>
            <a:endCxn id="16" idx="1"/>
          </p:cNvCxnSpPr>
          <p:nvPr/>
        </p:nvCxnSpPr>
        <p:spPr>
          <a:xfrm>
            <a:off x="1903085" y="2284085"/>
            <a:ext cx="1756430" cy="1718330"/>
          </a:xfrm>
          <a:prstGeom prst="line">
            <a:avLst/>
          </a:prstGeom>
          <a:ln w="28575"/>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9DD01029-FF5B-904A-BAAA-1D41687D60E1}"/>
              </a:ext>
            </a:extLst>
          </p:cNvPr>
          <p:cNvCxnSpPr>
            <a:cxnSpLocks/>
            <a:endCxn id="16" idx="1"/>
          </p:cNvCxnSpPr>
          <p:nvPr/>
        </p:nvCxnSpPr>
        <p:spPr>
          <a:xfrm>
            <a:off x="1985158" y="2771700"/>
            <a:ext cx="1674357" cy="1230715"/>
          </a:xfrm>
          <a:prstGeom prst="line">
            <a:avLst/>
          </a:prstGeom>
          <a:ln w="28575"/>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D69EAF91-AF65-7449-81D4-6E69506E7ED0}"/>
              </a:ext>
            </a:extLst>
          </p:cNvPr>
          <p:cNvCxnSpPr>
            <a:cxnSpLocks/>
            <a:endCxn id="16" idx="1"/>
          </p:cNvCxnSpPr>
          <p:nvPr/>
        </p:nvCxnSpPr>
        <p:spPr>
          <a:xfrm>
            <a:off x="2015374" y="3322320"/>
            <a:ext cx="1644141" cy="680095"/>
          </a:xfrm>
          <a:prstGeom prst="line">
            <a:avLst/>
          </a:prstGeom>
          <a:ln w="28575"/>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98471BCB-43C3-F54E-AC06-888020A6DEF8}"/>
              </a:ext>
            </a:extLst>
          </p:cNvPr>
          <p:cNvCxnSpPr>
            <a:cxnSpLocks/>
            <a:stCxn id="9" idx="6"/>
            <a:endCxn id="16" idx="1"/>
          </p:cNvCxnSpPr>
          <p:nvPr/>
        </p:nvCxnSpPr>
        <p:spPr>
          <a:xfrm>
            <a:off x="1979221" y="3924300"/>
            <a:ext cx="1680294" cy="7811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C7450171-6F98-294E-B819-3BCCDC274A74}"/>
              </a:ext>
            </a:extLst>
          </p:cNvPr>
          <p:cNvCxnSpPr>
            <a:cxnSpLocks/>
            <a:endCxn id="16" idx="1"/>
          </p:cNvCxnSpPr>
          <p:nvPr/>
        </p:nvCxnSpPr>
        <p:spPr>
          <a:xfrm flipV="1">
            <a:off x="2007458" y="4002415"/>
            <a:ext cx="1652057" cy="530528"/>
          </a:xfrm>
          <a:prstGeom prst="line">
            <a:avLst/>
          </a:prstGeom>
          <a:ln w="28575"/>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A9231821-C0FC-3D4E-8209-6CE8958D439F}"/>
              </a:ext>
            </a:extLst>
          </p:cNvPr>
          <p:cNvCxnSpPr>
            <a:cxnSpLocks/>
            <a:stCxn id="11" idx="6"/>
            <a:endCxn id="16" idx="1"/>
          </p:cNvCxnSpPr>
          <p:nvPr/>
        </p:nvCxnSpPr>
        <p:spPr>
          <a:xfrm flipV="1">
            <a:off x="1983179" y="4002415"/>
            <a:ext cx="1676336" cy="1141085"/>
          </a:xfrm>
          <a:prstGeom prst="line">
            <a:avLst/>
          </a:prstGeom>
          <a:ln w="28575"/>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340E5CF9-4B90-E042-9382-4392634B1350}"/>
              </a:ext>
            </a:extLst>
          </p:cNvPr>
          <p:cNvCxnSpPr>
            <a:cxnSpLocks/>
            <a:stCxn id="12" idx="6"/>
            <a:endCxn id="16" idx="1"/>
          </p:cNvCxnSpPr>
          <p:nvPr/>
        </p:nvCxnSpPr>
        <p:spPr>
          <a:xfrm flipV="1">
            <a:off x="1981200" y="4002415"/>
            <a:ext cx="1678315" cy="1750685"/>
          </a:xfrm>
          <a:prstGeom prst="line">
            <a:avLst/>
          </a:prstGeom>
          <a:ln w="28575"/>
        </p:spPr>
        <p:style>
          <a:lnRef idx="1">
            <a:schemeClr val="dk1"/>
          </a:lnRef>
          <a:fillRef idx="0">
            <a:schemeClr val="dk1"/>
          </a:fillRef>
          <a:effectRef idx="0">
            <a:schemeClr val="dk1"/>
          </a:effectRef>
          <a:fontRef idx="minor">
            <a:schemeClr val="tx1"/>
          </a:fontRef>
        </p:style>
      </p:cxnSp>
      <p:cxnSp>
        <p:nvCxnSpPr>
          <p:cNvPr id="72" name="Straight Connector 71">
            <a:extLst>
              <a:ext uri="{FF2B5EF4-FFF2-40B4-BE49-F238E27FC236}">
                <a16:creationId xmlns:a16="http://schemas.microsoft.com/office/drawing/2014/main" id="{FFD42355-850B-AE41-83A6-9E363D9EA07E}"/>
              </a:ext>
            </a:extLst>
          </p:cNvPr>
          <p:cNvCxnSpPr>
            <a:cxnSpLocks/>
            <a:endCxn id="16" idx="1"/>
          </p:cNvCxnSpPr>
          <p:nvPr/>
        </p:nvCxnSpPr>
        <p:spPr>
          <a:xfrm flipV="1">
            <a:off x="2009437" y="4002415"/>
            <a:ext cx="1650078" cy="2352666"/>
          </a:xfrm>
          <a:prstGeom prst="line">
            <a:avLst/>
          </a:prstGeom>
          <a:ln w="28575"/>
        </p:spPr>
        <p:style>
          <a:lnRef idx="1">
            <a:schemeClr val="dk1"/>
          </a:lnRef>
          <a:fillRef idx="0">
            <a:schemeClr val="dk1"/>
          </a:fillRef>
          <a:effectRef idx="0">
            <a:schemeClr val="dk1"/>
          </a:effectRef>
          <a:fontRef idx="minor">
            <a:schemeClr val="tx1"/>
          </a:fontRef>
        </p:style>
      </p:cxnSp>
      <p:cxnSp>
        <p:nvCxnSpPr>
          <p:cNvPr id="75" name="Straight Connector 74">
            <a:extLst>
              <a:ext uri="{FF2B5EF4-FFF2-40B4-BE49-F238E27FC236}">
                <a16:creationId xmlns:a16="http://schemas.microsoft.com/office/drawing/2014/main" id="{B7EB380F-C9BF-0842-95F4-1848117705A6}"/>
              </a:ext>
            </a:extLst>
          </p:cNvPr>
          <p:cNvCxnSpPr>
            <a:cxnSpLocks/>
            <a:stCxn id="13" idx="5"/>
            <a:endCxn id="17" idx="1"/>
          </p:cNvCxnSpPr>
          <p:nvPr/>
        </p:nvCxnSpPr>
        <p:spPr>
          <a:xfrm>
            <a:off x="1903085" y="2284085"/>
            <a:ext cx="1756430" cy="2899430"/>
          </a:xfrm>
          <a:prstGeom prst="line">
            <a:avLst/>
          </a:prstGeom>
          <a:ln w="28575"/>
        </p:spPr>
        <p:style>
          <a:lnRef idx="1">
            <a:schemeClr val="dk1"/>
          </a:lnRef>
          <a:fillRef idx="0">
            <a:schemeClr val="dk1"/>
          </a:fillRef>
          <a:effectRef idx="0">
            <a:schemeClr val="dk1"/>
          </a:effectRef>
          <a:fontRef idx="minor">
            <a:schemeClr val="tx1"/>
          </a:fontRef>
        </p:style>
      </p:cxnSp>
      <p:cxnSp>
        <p:nvCxnSpPr>
          <p:cNvPr id="78" name="Straight Connector 77">
            <a:extLst>
              <a:ext uri="{FF2B5EF4-FFF2-40B4-BE49-F238E27FC236}">
                <a16:creationId xmlns:a16="http://schemas.microsoft.com/office/drawing/2014/main" id="{5002F88C-127F-4B46-942B-1D1B6DF0DDB5}"/>
              </a:ext>
            </a:extLst>
          </p:cNvPr>
          <p:cNvCxnSpPr>
            <a:cxnSpLocks/>
            <a:endCxn id="17" idx="1"/>
          </p:cNvCxnSpPr>
          <p:nvPr/>
        </p:nvCxnSpPr>
        <p:spPr>
          <a:xfrm>
            <a:off x="2009437" y="2817964"/>
            <a:ext cx="1650078" cy="2365551"/>
          </a:xfrm>
          <a:prstGeom prst="line">
            <a:avLst/>
          </a:prstGeom>
          <a:ln w="28575"/>
        </p:spPr>
        <p:style>
          <a:lnRef idx="1">
            <a:schemeClr val="dk1"/>
          </a:lnRef>
          <a:fillRef idx="0">
            <a:schemeClr val="dk1"/>
          </a:fillRef>
          <a:effectRef idx="0">
            <a:schemeClr val="dk1"/>
          </a:effectRef>
          <a:fontRef idx="minor">
            <a:schemeClr val="tx1"/>
          </a:fontRef>
        </p:style>
      </p:cxnSp>
      <p:cxnSp>
        <p:nvCxnSpPr>
          <p:cNvPr id="81" name="Straight Connector 80">
            <a:extLst>
              <a:ext uri="{FF2B5EF4-FFF2-40B4-BE49-F238E27FC236}">
                <a16:creationId xmlns:a16="http://schemas.microsoft.com/office/drawing/2014/main" id="{D559DD3A-2B0C-C04F-88B9-065B32D32C37}"/>
              </a:ext>
            </a:extLst>
          </p:cNvPr>
          <p:cNvCxnSpPr>
            <a:cxnSpLocks/>
            <a:endCxn id="17" idx="1"/>
          </p:cNvCxnSpPr>
          <p:nvPr/>
        </p:nvCxnSpPr>
        <p:spPr>
          <a:xfrm>
            <a:off x="2009437" y="3322320"/>
            <a:ext cx="1650078" cy="1861195"/>
          </a:xfrm>
          <a:prstGeom prst="line">
            <a:avLst/>
          </a:prstGeom>
          <a:ln w="28575"/>
        </p:spPr>
        <p:style>
          <a:lnRef idx="1">
            <a:schemeClr val="dk1"/>
          </a:lnRef>
          <a:fillRef idx="0">
            <a:schemeClr val="dk1"/>
          </a:fillRef>
          <a:effectRef idx="0">
            <a:schemeClr val="dk1"/>
          </a:effectRef>
          <a:fontRef idx="minor">
            <a:schemeClr val="tx1"/>
          </a:fontRef>
        </p:style>
      </p:cxnSp>
      <p:cxnSp>
        <p:nvCxnSpPr>
          <p:cNvPr id="84" name="Straight Connector 83">
            <a:extLst>
              <a:ext uri="{FF2B5EF4-FFF2-40B4-BE49-F238E27FC236}">
                <a16:creationId xmlns:a16="http://schemas.microsoft.com/office/drawing/2014/main" id="{9C2FCB5F-C58E-8742-94E7-20E6D3B434C1}"/>
              </a:ext>
            </a:extLst>
          </p:cNvPr>
          <p:cNvCxnSpPr>
            <a:cxnSpLocks/>
            <a:stCxn id="9" idx="6"/>
            <a:endCxn id="17" idx="1"/>
          </p:cNvCxnSpPr>
          <p:nvPr/>
        </p:nvCxnSpPr>
        <p:spPr>
          <a:xfrm>
            <a:off x="1979221" y="3924300"/>
            <a:ext cx="1680294" cy="125921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7" name="Straight Connector 86">
            <a:extLst>
              <a:ext uri="{FF2B5EF4-FFF2-40B4-BE49-F238E27FC236}">
                <a16:creationId xmlns:a16="http://schemas.microsoft.com/office/drawing/2014/main" id="{3B21A8BD-05E0-1B43-A4F8-62FF7028DDDB}"/>
              </a:ext>
            </a:extLst>
          </p:cNvPr>
          <p:cNvCxnSpPr>
            <a:cxnSpLocks/>
            <a:endCxn id="17" idx="1"/>
          </p:cNvCxnSpPr>
          <p:nvPr/>
        </p:nvCxnSpPr>
        <p:spPr>
          <a:xfrm>
            <a:off x="2017353" y="4532943"/>
            <a:ext cx="1642162" cy="650572"/>
          </a:xfrm>
          <a:prstGeom prst="line">
            <a:avLst/>
          </a:prstGeom>
          <a:ln w="28575"/>
        </p:spPr>
        <p:style>
          <a:lnRef idx="1">
            <a:schemeClr val="dk1"/>
          </a:lnRef>
          <a:fillRef idx="0">
            <a:schemeClr val="dk1"/>
          </a:fillRef>
          <a:effectRef idx="0">
            <a:schemeClr val="dk1"/>
          </a:effectRef>
          <a:fontRef idx="minor">
            <a:schemeClr val="tx1"/>
          </a:fontRef>
        </p:style>
      </p:cxnSp>
      <p:cxnSp>
        <p:nvCxnSpPr>
          <p:cNvPr id="90" name="Straight Connector 89">
            <a:extLst>
              <a:ext uri="{FF2B5EF4-FFF2-40B4-BE49-F238E27FC236}">
                <a16:creationId xmlns:a16="http://schemas.microsoft.com/office/drawing/2014/main" id="{A2DEFA17-6869-DD4A-892B-DB71F8944EE3}"/>
              </a:ext>
            </a:extLst>
          </p:cNvPr>
          <p:cNvCxnSpPr>
            <a:cxnSpLocks/>
            <a:endCxn id="17" idx="1"/>
          </p:cNvCxnSpPr>
          <p:nvPr/>
        </p:nvCxnSpPr>
        <p:spPr>
          <a:xfrm>
            <a:off x="2015374" y="5143022"/>
            <a:ext cx="1644141" cy="40493"/>
          </a:xfrm>
          <a:prstGeom prst="line">
            <a:avLst/>
          </a:prstGeom>
          <a:ln w="28575"/>
        </p:spPr>
        <p:style>
          <a:lnRef idx="1">
            <a:schemeClr val="dk1"/>
          </a:lnRef>
          <a:fillRef idx="0">
            <a:schemeClr val="dk1"/>
          </a:fillRef>
          <a:effectRef idx="0">
            <a:schemeClr val="dk1"/>
          </a:effectRef>
          <a:fontRef idx="minor">
            <a:schemeClr val="tx1"/>
          </a:fontRef>
        </p:style>
      </p:cxnSp>
      <p:cxnSp>
        <p:nvCxnSpPr>
          <p:cNvPr id="93" name="Straight Connector 92">
            <a:extLst>
              <a:ext uri="{FF2B5EF4-FFF2-40B4-BE49-F238E27FC236}">
                <a16:creationId xmlns:a16="http://schemas.microsoft.com/office/drawing/2014/main" id="{33EBA30B-F746-234E-8095-F36CD9CFEDD1}"/>
              </a:ext>
            </a:extLst>
          </p:cNvPr>
          <p:cNvCxnSpPr>
            <a:cxnSpLocks/>
            <a:endCxn id="17" idx="1"/>
          </p:cNvCxnSpPr>
          <p:nvPr/>
        </p:nvCxnSpPr>
        <p:spPr>
          <a:xfrm flipV="1">
            <a:off x="1987137" y="5183515"/>
            <a:ext cx="1672378" cy="549340"/>
          </a:xfrm>
          <a:prstGeom prst="line">
            <a:avLst/>
          </a:prstGeom>
          <a:ln w="28575"/>
        </p:spPr>
        <p:style>
          <a:lnRef idx="1">
            <a:schemeClr val="dk1"/>
          </a:lnRef>
          <a:fillRef idx="0">
            <a:schemeClr val="dk1"/>
          </a:fillRef>
          <a:effectRef idx="0">
            <a:schemeClr val="dk1"/>
          </a:effectRef>
          <a:fontRef idx="minor">
            <a:schemeClr val="tx1"/>
          </a:fontRef>
        </p:style>
      </p:cxnSp>
      <p:cxnSp>
        <p:nvCxnSpPr>
          <p:cNvPr id="96" name="Straight Connector 95">
            <a:extLst>
              <a:ext uri="{FF2B5EF4-FFF2-40B4-BE49-F238E27FC236}">
                <a16:creationId xmlns:a16="http://schemas.microsoft.com/office/drawing/2014/main" id="{C3F4262C-798D-B145-8790-D0AB85D7C565}"/>
              </a:ext>
            </a:extLst>
          </p:cNvPr>
          <p:cNvCxnSpPr>
            <a:cxnSpLocks/>
            <a:endCxn id="17" idx="1"/>
          </p:cNvCxnSpPr>
          <p:nvPr/>
        </p:nvCxnSpPr>
        <p:spPr>
          <a:xfrm flipV="1">
            <a:off x="1987137" y="5183515"/>
            <a:ext cx="1672378" cy="1178708"/>
          </a:xfrm>
          <a:prstGeom prst="line">
            <a:avLst/>
          </a:prstGeom>
          <a:ln w="28575"/>
        </p:spPr>
        <p:style>
          <a:lnRef idx="1">
            <a:schemeClr val="dk1"/>
          </a:lnRef>
          <a:fillRef idx="0">
            <a:schemeClr val="dk1"/>
          </a:fillRef>
          <a:effectRef idx="0">
            <a:schemeClr val="dk1"/>
          </a:effectRef>
          <a:fontRef idx="minor">
            <a:schemeClr val="tx1"/>
          </a:fontRef>
        </p:style>
      </p:cxnSp>
      <p:cxnSp>
        <p:nvCxnSpPr>
          <p:cNvPr id="133" name="Straight Connector 132">
            <a:extLst>
              <a:ext uri="{FF2B5EF4-FFF2-40B4-BE49-F238E27FC236}">
                <a16:creationId xmlns:a16="http://schemas.microsoft.com/office/drawing/2014/main" id="{59E3FBCE-1889-E047-8EB5-E03741D3B3C9}"/>
              </a:ext>
            </a:extLst>
          </p:cNvPr>
          <p:cNvCxnSpPr>
            <a:cxnSpLocks/>
            <a:endCxn id="24" idx="2"/>
          </p:cNvCxnSpPr>
          <p:nvPr/>
        </p:nvCxnSpPr>
        <p:spPr>
          <a:xfrm flipV="1">
            <a:off x="4107012" y="2095500"/>
            <a:ext cx="1758409" cy="874682"/>
          </a:xfrm>
          <a:prstGeom prst="line">
            <a:avLst/>
          </a:prstGeom>
          <a:ln w="28575"/>
        </p:spPr>
        <p:style>
          <a:lnRef idx="1">
            <a:schemeClr val="dk1"/>
          </a:lnRef>
          <a:fillRef idx="0">
            <a:schemeClr val="dk1"/>
          </a:fillRef>
          <a:effectRef idx="0">
            <a:schemeClr val="dk1"/>
          </a:effectRef>
          <a:fontRef idx="minor">
            <a:schemeClr val="tx1"/>
          </a:fontRef>
        </p:style>
      </p:cxnSp>
      <p:cxnSp>
        <p:nvCxnSpPr>
          <p:cNvPr id="135" name="Straight Connector 134">
            <a:extLst>
              <a:ext uri="{FF2B5EF4-FFF2-40B4-BE49-F238E27FC236}">
                <a16:creationId xmlns:a16="http://schemas.microsoft.com/office/drawing/2014/main" id="{B5727415-039A-2448-9199-2E57DCBD9AC0}"/>
              </a:ext>
            </a:extLst>
          </p:cNvPr>
          <p:cNvCxnSpPr>
            <a:cxnSpLocks/>
            <a:endCxn id="18" idx="2"/>
          </p:cNvCxnSpPr>
          <p:nvPr/>
        </p:nvCxnSpPr>
        <p:spPr>
          <a:xfrm flipV="1">
            <a:off x="4118758" y="2705100"/>
            <a:ext cx="1746663" cy="263652"/>
          </a:xfrm>
          <a:prstGeom prst="line">
            <a:avLst/>
          </a:prstGeom>
          <a:ln w="28575"/>
        </p:spPr>
        <p:style>
          <a:lnRef idx="1">
            <a:schemeClr val="dk1"/>
          </a:lnRef>
          <a:fillRef idx="0">
            <a:schemeClr val="dk1"/>
          </a:fillRef>
          <a:effectRef idx="0">
            <a:schemeClr val="dk1"/>
          </a:effectRef>
          <a:fontRef idx="minor">
            <a:schemeClr val="tx1"/>
          </a:fontRef>
        </p:style>
      </p:cxnSp>
      <p:cxnSp>
        <p:nvCxnSpPr>
          <p:cNvPr id="138" name="Straight Connector 137">
            <a:extLst>
              <a:ext uri="{FF2B5EF4-FFF2-40B4-BE49-F238E27FC236}">
                <a16:creationId xmlns:a16="http://schemas.microsoft.com/office/drawing/2014/main" id="{818BC6C0-2071-A24E-A718-DE477817BA04}"/>
              </a:ext>
            </a:extLst>
          </p:cNvPr>
          <p:cNvCxnSpPr>
            <a:cxnSpLocks/>
            <a:endCxn id="19" idx="2"/>
          </p:cNvCxnSpPr>
          <p:nvPr/>
        </p:nvCxnSpPr>
        <p:spPr>
          <a:xfrm>
            <a:off x="4118758" y="2999232"/>
            <a:ext cx="1746663" cy="315468"/>
          </a:xfrm>
          <a:prstGeom prst="line">
            <a:avLst/>
          </a:prstGeom>
          <a:ln w="28575"/>
        </p:spPr>
        <p:style>
          <a:lnRef idx="1">
            <a:schemeClr val="dk1"/>
          </a:lnRef>
          <a:fillRef idx="0">
            <a:schemeClr val="dk1"/>
          </a:fillRef>
          <a:effectRef idx="0">
            <a:schemeClr val="dk1"/>
          </a:effectRef>
          <a:fontRef idx="minor">
            <a:schemeClr val="tx1"/>
          </a:fontRef>
        </p:style>
      </p:cxnSp>
      <p:cxnSp>
        <p:nvCxnSpPr>
          <p:cNvPr id="141" name="Straight Connector 140">
            <a:extLst>
              <a:ext uri="{FF2B5EF4-FFF2-40B4-BE49-F238E27FC236}">
                <a16:creationId xmlns:a16="http://schemas.microsoft.com/office/drawing/2014/main" id="{B9B1CDC6-7E14-0C43-9CCE-DDF9538FCA6A}"/>
              </a:ext>
            </a:extLst>
          </p:cNvPr>
          <p:cNvCxnSpPr>
            <a:cxnSpLocks/>
            <a:stCxn id="15" idx="6"/>
            <a:endCxn id="20" idx="2"/>
          </p:cNvCxnSpPr>
          <p:nvPr/>
        </p:nvCxnSpPr>
        <p:spPr>
          <a:xfrm>
            <a:off x="4114800" y="2969821"/>
            <a:ext cx="1748642" cy="954479"/>
          </a:xfrm>
          <a:prstGeom prst="line">
            <a:avLst/>
          </a:prstGeom>
          <a:ln w="28575"/>
        </p:spPr>
        <p:style>
          <a:lnRef idx="1">
            <a:schemeClr val="dk1"/>
          </a:lnRef>
          <a:fillRef idx="0">
            <a:schemeClr val="dk1"/>
          </a:fillRef>
          <a:effectRef idx="0">
            <a:schemeClr val="dk1"/>
          </a:effectRef>
          <a:fontRef idx="minor">
            <a:schemeClr val="tx1"/>
          </a:fontRef>
        </p:style>
      </p:cxnSp>
      <p:cxnSp>
        <p:nvCxnSpPr>
          <p:cNvPr id="145" name="Straight Connector 144">
            <a:extLst>
              <a:ext uri="{FF2B5EF4-FFF2-40B4-BE49-F238E27FC236}">
                <a16:creationId xmlns:a16="http://schemas.microsoft.com/office/drawing/2014/main" id="{AA18D6E2-DE37-F040-8002-761744537496}"/>
              </a:ext>
            </a:extLst>
          </p:cNvPr>
          <p:cNvCxnSpPr>
            <a:cxnSpLocks/>
            <a:stCxn id="15" idx="6"/>
            <a:endCxn id="21" idx="2"/>
          </p:cNvCxnSpPr>
          <p:nvPr/>
        </p:nvCxnSpPr>
        <p:spPr>
          <a:xfrm>
            <a:off x="4114800" y="2969821"/>
            <a:ext cx="1752600" cy="1564079"/>
          </a:xfrm>
          <a:prstGeom prst="line">
            <a:avLst/>
          </a:prstGeom>
          <a:ln w="28575"/>
        </p:spPr>
        <p:style>
          <a:lnRef idx="1">
            <a:schemeClr val="dk1"/>
          </a:lnRef>
          <a:fillRef idx="0">
            <a:schemeClr val="dk1"/>
          </a:fillRef>
          <a:effectRef idx="0">
            <a:schemeClr val="dk1"/>
          </a:effectRef>
          <a:fontRef idx="minor">
            <a:schemeClr val="tx1"/>
          </a:fontRef>
        </p:style>
      </p:cxnSp>
      <p:cxnSp>
        <p:nvCxnSpPr>
          <p:cNvPr id="148" name="Straight Connector 147">
            <a:extLst>
              <a:ext uri="{FF2B5EF4-FFF2-40B4-BE49-F238E27FC236}">
                <a16:creationId xmlns:a16="http://schemas.microsoft.com/office/drawing/2014/main" id="{09600B10-7575-2D43-8D58-0C92EF63F6B2}"/>
              </a:ext>
            </a:extLst>
          </p:cNvPr>
          <p:cNvCxnSpPr>
            <a:cxnSpLocks/>
            <a:stCxn id="15" idx="6"/>
            <a:endCxn id="22" idx="2"/>
          </p:cNvCxnSpPr>
          <p:nvPr/>
        </p:nvCxnSpPr>
        <p:spPr>
          <a:xfrm>
            <a:off x="4114800" y="2969821"/>
            <a:ext cx="1752600" cy="2173679"/>
          </a:xfrm>
          <a:prstGeom prst="line">
            <a:avLst/>
          </a:prstGeom>
          <a:ln w="28575"/>
        </p:spPr>
        <p:style>
          <a:lnRef idx="1">
            <a:schemeClr val="dk1"/>
          </a:lnRef>
          <a:fillRef idx="0">
            <a:schemeClr val="dk1"/>
          </a:fillRef>
          <a:effectRef idx="0">
            <a:schemeClr val="dk1"/>
          </a:effectRef>
          <a:fontRef idx="minor">
            <a:schemeClr val="tx1"/>
          </a:fontRef>
        </p:style>
      </p:cxnSp>
      <p:cxnSp>
        <p:nvCxnSpPr>
          <p:cNvPr id="151" name="Straight Connector 150">
            <a:extLst>
              <a:ext uri="{FF2B5EF4-FFF2-40B4-BE49-F238E27FC236}">
                <a16:creationId xmlns:a16="http://schemas.microsoft.com/office/drawing/2014/main" id="{A95BDE5A-9779-A542-AF26-5F7ADC0484B3}"/>
              </a:ext>
            </a:extLst>
          </p:cNvPr>
          <p:cNvCxnSpPr>
            <a:cxnSpLocks/>
            <a:stCxn id="15" idx="6"/>
            <a:endCxn id="23" idx="2"/>
          </p:cNvCxnSpPr>
          <p:nvPr/>
        </p:nvCxnSpPr>
        <p:spPr>
          <a:xfrm>
            <a:off x="4114800" y="2969821"/>
            <a:ext cx="1750621" cy="2783279"/>
          </a:xfrm>
          <a:prstGeom prst="line">
            <a:avLst/>
          </a:prstGeom>
          <a:ln w="28575"/>
        </p:spPr>
        <p:style>
          <a:lnRef idx="1">
            <a:schemeClr val="dk1"/>
          </a:lnRef>
          <a:fillRef idx="0">
            <a:schemeClr val="dk1"/>
          </a:fillRef>
          <a:effectRef idx="0">
            <a:schemeClr val="dk1"/>
          </a:effectRef>
          <a:fontRef idx="minor">
            <a:schemeClr val="tx1"/>
          </a:fontRef>
        </p:style>
      </p:cxnSp>
      <p:cxnSp>
        <p:nvCxnSpPr>
          <p:cNvPr id="154" name="Straight Connector 153">
            <a:extLst>
              <a:ext uri="{FF2B5EF4-FFF2-40B4-BE49-F238E27FC236}">
                <a16:creationId xmlns:a16="http://schemas.microsoft.com/office/drawing/2014/main" id="{587368D1-F990-D944-BA26-0CC51A917895}"/>
              </a:ext>
            </a:extLst>
          </p:cNvPr>
          <p:cNvCxnSpPr>
            <a:cxnSpLocks/>
            <a:endCxn id="25" idx="2"/>
          </p:cNvCxnSpPr>
          <p:nvPr/>
        </p:nvCxnSpPr>
        <p:spPr>
          <a:xfrm>
            <a:off x="4117768" y="2996184"/>
            <a:ext cx="1747653" cy="3366516"/>
          </a:xfrm>
          <a:prstGeom prst="line">
            <a:avLst/>
          </a:prstGeom>
          <a:ln w="28575"/>
        </p:spPr>
        <p:style>
          <a:lnRef idx="1">
            <a:schemeClr val="dk1"/>
          </a:lnRef>
          <a:fillRef idx="0">
            <a:schemeClr val="dk1"/>
          </a:fillRef>
          <a:effectRef idx="0">
            <a:schemeClr val="dk1"/>
          </a:effectRef>
          <a:fontRef idx="minor">
            <a:schemeClr val="tx1"/>
          </a:fontRef>
        </p:style>
      </p:cxnSp>
      <p:cxnSp>
        <p:nvCxnSpPr>
          <p:cNvPr id="157" name="Straight Connector 156">
            <a:extLst>
              <a:ext uri="{FF2B5EF4-FFF2-40B4-BE49-F238E27FC236}">
                <a16:creationId xmlns:a16="http://schemas.microsoft.com/office/drawing/2014/main" id="{1EBDECDF-52DC-0A4D-9BA4-BB4AA08C8B98}"/>
              </a:ext>
            </a:extLst>
          </p:cNvPr>
          <p:cNvCxnSpPr>
            <a:cxnSpLocks/>
          </p:cNvCxnSpPr>
          <p:nvPr/>
        </p:nvCxnSpPr>
        <p:spPr>
          <a:xfrm flipV="1">
            <a:off x="4117768" y="2123384"/>
            <a:ext cx="1742706" cy="1968555"/>
          </a:xfrm>
          <a:prstGeom prst="line">
            <a:avLst/>
          </a:prstGeom>
          <a:ln w="28575"/>
        </p:spPr>
        <p:style>
          <a:lnRef idx="1">
            <a:schemeClr val="dk1"/>
          </a:lnRef>
          <a:fillRef idx="0">
            <a:schemeClr val="dk1"/>
          </a:fillRef>
          <a:effectRef idx="0">
            <a:schemeClr val="dk1"/>
          </a:effectRef>
          <a:fontRef idx="minor">
            <a:schemeClr val="tx1"/>
          </a:fontRef>
        </p:style>
      </p:cxnSp>
      <p:cxnSp>
        <p:nvCxnSpPr>
          <p:cNvPr id="160" name="Straight Connector 159">
            <a:extLst>
              <a:ext uri="{FF2B5EF4-FFF2-40B4-BE49-F238E27FC236}">
                <a16:creationId xmlns:a16="http://schemas.microsoft.com/office/drawing/2014/main" id="{3FF110E6-2EB0-564C-AB9B-4D999D58F9D4}"/>
              </a:ext>
            </a:extLst>
          </p:cNvPr>
          <p:cNvCxnSpPr>
            <a:cxnSpLocks/>
            <a:endCxn id="18" idx="2"/>
          </p:cNvCxnSpPr>
          <p:nvPr/>
        </p:nvCxnSpPr>
        <p:spPr>
          <a:xfrm flipV="1">
            <a:off x="4108894" y="2705100"/>
            <a:ext cx="1756527" cy="1386840"/>
          </a:xfrm>
          <a:prstGeom prst="line">
            <a:avLst/>
          </a:prstGeom>
          <a:ln w="28575"/>
        </p:spPr>
        <p:style>
          <a:lnRef idx="1">
            <a:schemeClr val="dk1"/>
          </a:lnRef>
          <a:fillRef idx="0">
            <a:schemeClr val="dk1"/>
          </a:fillRef>
          <a:effectRef idx="0">
            <a:schemeClr val="dk1"/>
          </a:effectRef>
          <a:fontRef idx="minor">
            <a:schemeClr val="tx1"/>
          </a:fontRef>
        </p:style>
      </p:cxnSp>
      <p:cxnSp>
        <p:nvCxnSpPr>
          <p:cNvPr id="165" name="Straight Connector 164">
            <a:extLst>
              <a:ext uri="{FF2B5EF4-FFF2-40B4-BE49-F238E27FC236}">
                <a16:creationId xmlns:a16="http://schemas.microsoft.com/office/drawing/2014/main" id="{EB50F085-577A-434F-8E0E-516959178510}"/>
              </a:ext>
            </a:extLst>
          </p:cNvPr>
          <p:cNvCxnSpPr>
            <a:cxnSpLocks/>
            <a:endCxn id="19" idx="2"/>
          </p:cNvCxnSpPr>
          <p:nvPr/>
        </p:nvCxnSpPr>
        <p:spPr>
          <a:xfrm flipV="1">
            <a:off x="4122716" y="3314700"/>
            <a:ext cx="1742705" cy="773430"/>
          </a:xfrm>
          <a:prstGeom prst="line">
            <a:avLst/>
          </a:prstGeom>
          <a:ln w="28575"/>
        </p:spPr>
        <p:style>
          <a:lnRef idx="1">
            <a:schemeClr val="dk1"/>
          </a:lnRef>
          <a:fillRef idx="0">
            <a:schemeClr val="dk1"/>
          </a:fillRef>
          <a:effectRef idx="0">
            <a:schemeClr val="dk1"/>
          </a:effectRef>
          <a:fontRef idx="minor">
            <a:schemeClr val="tx1"/>
          </a:fontRef>
        </p:style>
      </p:cxnSp>
      <p:cxnSp>
        <p:nvCxnSpPr>
          <p:cNvPr id="168" name="Straight Connector 167">
            <a:extLst>
              <a:ext uri="{FF2B5EF4-FFF2-40B4-BE49-F238E27FC236}">
                <a16:creationId xmlns:a16="http://schemas.microsoft.com/office/drawing/2014/main" id="{D786C8DE-B75C-2442-BAC4-27A6C4AB4EE9}"/>
              </a:ext>
            </a:extLst>
          </p:cNvPr>
          <p:cNvCxnSpPr>
            <a:cxnSpLocks/>
            <a:endCxn id="20" idx="2"/>
          </p:cNvCxnSpPr>
          <p:nvPr/>
        </p:nvCxnSpPr>
        <p:spPr>
          <a:xfrm flipV="1">
            <a:off x="4117768" y="3924300"/>
            <a:ext cx="1745674" cy="163830"/>
          </a:xfrm>
          <a:prstGeom prst="line">
            <a:avLst/>
          </a:prstGeom>
          <a:ln w="28575"/>
        </p:spPr>
        <p:style>
          <a:lnRef idx="1">
            <a:schemeClr val="dk1"/>
          </a:lnRef>
          <a:fillRef idx="0">
            <a:schemeClr val="dk1"/>
          </a:fillRef>
          <a:effectRef idx="0">
            <a:schemeClr val="dk1"/>
          </a:effectRef>
          <a:fontRef idx="minor">
            <a:schemeClr val="tx1"/>
          </a:fontRef>
        </p:style>
      </p:cxnSp>
      <p:cxnSp>
        <p:nvCxnSpPr>
          <p:cNvPr id="171" name="Straight Connector 170">
            <a:extLst>
              <a:ext uri="{FF2B5EF4-FFF2-40B4-BE49-F238E27FC236}">
                <a16:creationId xmlns:a16="http://schemas.microsoft.com/office/drawing/2014/main" id="{3DB0A451-42CF-C142-A193-4F7D3E8CCF08}"/>
              </a:ext>
            </a:extLst>
          </p:cNvPr>
          <p:cNvCxnSpPr>
            <a:cxnSpLocks/>
            <a:endCxn id="21" idx="2"/>
          </p:cNvCxnSpPr>
          <p:nvPr/>
        </p:nvCxnSpPr>
        <p:spPr>
          <a:xfrm>
            <a:off x="4123674" y="4088130"/>
            <a:ext cx="1743726" cy="445770"/>
          </a:xfrm>
          <a:prstGeom prst="line">
            <a:avLst/>
          </a:prstGeom>
          <a:ln w="28575"/>
        </p:spPr>
        <p:style>
          <a:lnRef idx="1">
            <a:schemeClr val="dk1"/>
          </a:lnRef>
          <a:fillRef idx="0">
            <a:schemeClr val="dk1"/>
          </a:fillRef>
          <a:effectRef idx="0">
            <a:schemeClr val="dk1"/>
          </a:effectRef>
          <a:fontRef idx="minor">
            <a:schemeClr val="tx1"/>
          </a:fontRef>
        </p:style>
      </p:cxnSp>
      <p:cxnSp>
        <p:nvCxnSpPr>
          <p:cNvPr id="174" name="Straight Connector 173">
            <a:extLst>
              <a:ext uri="{FF2B5EF4-FFF2-40B4-BE49-F238E27FC236}">
                <a16:creationId xmlns:a16="http://schemas.microsoft.com/office/drawing/2014/main" id="{06B6CE7C-5BDE-4A44-B96A-724BDFA0EA5F}"/>
              </a:ext>
            </a:extLst>
          </p:cNvPr>
          <p:cNvCxnSpPr>
            <a:cxnSpLocks/>
            <a:endCxn id="22" idx="2"/>
          </p:cNvCxnSpPr>
          <p:nvPr/>
        </p:nvCxnSpPr>
        <p:spPr>
          <a:xfrm>
            <a:off x="4122716" y="4076699"/>
            <a:ext cx="1744684" cy="1066801"/>
          </a:xfrm>
          <a:prstGeom prst="line">
            <a:avLst/>
          </a:prstGeom>
          <a:ln w="28575"/>
        </p:spPr>
        <p:style>
          <a:lnRef idx="1">
            <a:schemeClr val="dk1"/>
          </a:lnRef>
          <a:fillRef idx="0">
            <a:schemeClr val="dk1"/>
          </a:fillRef>
          <a:effectRef idx="0">
            <a:schemeClr val="dk1"/>
          </a:effectRef>
          <a:fontRef idx="minor">
            <a:schemeClr val="tx1"/>
          </a:fontRef>
        </p:style>
      </p:cxnSp>
      <p:cxnSp>
        <p:nvCxnSpPr>
          <p:cNvPr id="178" name="Straight Connector 177">
            <a:extLst>
              <a:ext uri="{FF2B5EF4-FFF2-40B4-BE49-F238E27FC236}">
                <a16:creationId xmlns:a16="http://schemas.microsoft.com/office/drawing/2014/main" id="{603F59D7-12C1-2E4C-899D-CCDA050F7E5F}"/>
              </a:ext>
            </a:extLst>
          </p:cNvPr>
          <p:cNvCxnSpPr>
            <a:cxnSpLocks/>
            <a:endCxn id="23" idx="2"/>
          </p:cNvCxnSpPr>
          <p:nvPr/>
        </p:nvCxnSpPr>
        <p:spPr>
          <a:xfrm>
            <a:off x="4117768" y="4076699"/>
            <a:ext cx="1747653" cy="1676401"/>
          </a:xfrm>
          <a:prstGeom prst="line">
            <a:avLst/>
          </a:prstGeom>
          <a:ln w="28575"/>
        </p:spPr>
        <p:style>
          <a:lnRef idx="1">
            <a:schemeClr val="dk1"/>
          </a:lnRef>
          <a:fillRef idx="0">
            <a:schemeClr val="dk1"/>
          </a:fillRef>
          <a:effectRef idx="0">
            <a:schemeClr val="dk1"/>
          </a:effectRef>
          <a:fontRef idx="minor">
            <a:schemeClr val="tx1"/>
          </a:fontRef>
        </p:style>
      </p:cxnSp>
      <p:cxnSp>
        <p:nvCxnSpPr>
          <p:cNvPr id="181" name="Straight Connector 180">
            <a:extLst>
              <a:ext uri="{FF2B5EF4-FFF2-40B4-BE49-F238E27FC236}">
                <a16:creationId xmlns:a16="http://schemas.microsoft.com/office/drawing/2014/main" id="{9DE6BC36-53DC-DF43-9ACA-D9CC74A66992}"/>
              </a:ext>
            </a:extLst>
          </p:cNvPr>
          <p:cNvCxnSpPr>
            <a:cxnSpLocks/>
            <a:endCxn id="25" idx="2"/>
          </p:cNvCxnSpPr>
          <p:nvPr/>
        </p:nvCxnSpPr>
        <p:spPr>
          <a:xfrm>
            <a:off x="4119747" y="4076699"/>
            <a:ext cx="1745674" cy="2286001"/>
          </a:xfrm>
          <a:prstGeom prst="line">
            <a:avLst/>
          </a:prstGeom>
          <a:ln w="28575"/>
        </p:spPr>
        <p:style>
          <a:lnRef idx="1">
            <a:schemeClr val="dk1"/>
          </a:lnRef>
          <a:fillRef idx="0">
            <a:schemeClr val="dk1"/>
          </a:fillRef>
          <a:effectRef idx="0">
            <a:schemeClr val="dk1"/>
          </a:effectRef>
          <a:fontRef idx="minor">
            <a:schemeClr val="tx1"/>
          </a:fontRef>
        </p:style>
      </p:cxnSp>
      <p:cxnSp>
        <p:nvCxnSpPr>
          <p:cNvPr id="184" name="Straight Connector 183">
            <a:extLst>
              <a:ext uri="{FF2B5EF4-FFF2-40B4-BE49-F238E27FC236}">
                <a16:creationId xmlns:a16="http://schemas.microsoft.com/office/drawing/2014/main" id="{7BF441FF-C8B6-9E46-8EFF-1B2D68709752}"/>
              </a:ext>
            </a:extLst>
          </p:cNvPr>
          <p:cNvCxnSpPr>
            <a:cxnSpLocks/>
            <a:stCxn id="17" idx="7"/>
            <a:endCxn id="24" idx="2"/>
          </p:cNvCxnSpPr>
          <p:nvPr/>
        </p:nvCxnSpPr>
        <p:spPr>
          <a:xfrm flipV="1">
            <a:off x="4036685" y="2095500"/>
            <a:ext cx="1828736" cy="3088015"/>
          </a:xfrm>
          <a:prstGeom prst="line">
            <a:avLst/>
          </a:prstGeom>
          <a:ln w="28575"/>
        </p:spPr>
        <p:style>
          <a:lnRef idx="1">
            <a:schemeClr val="dk1"/>
          </a:lnRef>
          <a:fillRef idx="0">
            <a:schemeClr val="dk1"/>
          </a:fillRef>
          <a:effectRef idx="0">
            <a:schemeClr val="dk1"/>
          </a:effectRef>
          <a:fontRef idx="minor">
            <a:schemeClr val="tx1"/>
          </a:fontRef>
        </p:style>
      </p:cxnSp>
      <p:cxnSp>
        <p:nvCxnSpPr>
          <p:cNvPr id="187" name="Straight Connector 186">
            <a:extLst>
              <a:ext uri="{FF2B5EF4-FFF2-40B4-BE49-F238E27FC236}">
                <a16:creationId xmlns:a16="http://schemas.microsoft.com/office/drawing/2014/main" id="{1C0650AA-5AFE-7643-8015-7F3A67E34C58}"/>
              </a:ext>
            </a:extLst>
          </p:cNvPr>
          <p:cNvCxnSpPr>
            <a:cxnSpLocks/>
            <a:stCxn id="17" idx="7"/>
            <a:endCxn id="18" idx="2"/>
          </p:cNvCxnSpPr>
          <p:nvPr/>
        </p:nvCxnSpPr>
        <p:spPr>
          <a:xfrm flipV="1">
            <a:off x="4036685" y="2705100"/>
            <a:ext cx="1828736" cy="2478415"/>
          </a:xfrm>
          <a:prstGeom prst="line">
            <a:avLst/>
          </a:prstGeom>
          <a:ln w="28575"/>
        </p:spPr>
        <p:style>
          <a:lnRef idx="1">
            <a:schemeClr val="dk1"/>
          </a:lnRef>
          <a:fillRef idx="0">
            <a:schemeClr val="dk1"/>
          </a:fillRef>
          <a:effectRef idx="0">
            <a:schemeClr val="dk1"/>
          </a:effectRef>
          <a:fontRef idx="minor">
            <a:schemeClr val="tx1"/>
          </a:fontRef>
        </p:style>
      </p:cxnSp>
      <p:cxnSp>
        <p:nvCxnSpPr>
          <p:cNvPr id="190" name="Straight Connector 189">
            <a:extLst>
              <a:ext uri="{FF2B5EF4-FFF2-40B4-BE49-F238E27FC236}">
                <a16:creationId xmlns:a16="http://schemas.microsoft.com/office/drawing/2014/main" id="{1AB45CB1-1B0D-584B-97FE-A7F2539D371B}"/>
              </a:ext>
            </a:extLst>
          </p:cNvPr>
          <p:cNvCxnSpPr>
            <a:cxnSpLocks/>
            <a:stCxn id="17" idx="7"/>
            <a:endCxn id="19" idx="2"/>
          </p:cNvCxnSpPr>
          <p:nvPr/>
        </p:nvCxnSpPr>
        <p:spPr>
          <a:xfrm flipV="1">
            <a:off x="4036685" y="3314700"/>
            <a:ext cx="1828736" cy="1868815"/>
          </a:xfrm>
          <a:prstGeom prst="line">
            <a:avLst/>
          </a:prstGeom>
          <a:ln w="28575"/>
        </p:spPr>
        <p:style>
          <a:lnRef idx="1">
            <a:schemeClr val="dk1"/>
          </a:lnRef>
          <a:fillRef idx="0">
            <a:schemeClr val="dk1"/>
          </a:fillRef>
          <a:effectRef idx="0">
            <a:schemeClr val="dk1"/>
          </a:effectRef>
          <a:fontRef idx="minor">
            <a:schemeClr val="tx1"/>
          </a:fontRef>
        </p:style>
      </p:cxnSp>
      <p:cxnSp>
        <p:nvCxnSpPr>
          <p:cNvPr id="193" name="Straight Connector 192">
            <a:extLst>
              <a:ext uri="{FF2B5EF4-FFF2-40B4-BE49-F238E27FC236}">
                <a16:creationId xmlns:a16="http://schemas.microsoft.com/office/drawing/2014/main" id="{0ADD363D-8B62-FC45-BBAF-319CD0FB238D}"/>
              </a:ext>
            </a:extLst>
          </p:cNvPr>
          <p:cNvCxnSpPr>
            <a:cxnSpLocks/>
            <a:stCxn id="17" idx="7"/>
          </p:cNvCxnSpPr>
          <p:nvPr/>
        </p:nvCxnSpPr>
        <p:spPr>
          <a:xfrm flipV="1">
            <a:off x="4036685" y="3923343"/>
            <a:ext cx="1817883" cy="1260172"/>
          </a:xfrm>
          <a:prstGeom prst="line">
            <a:avLst/>
          </a:prstGeom>
          <a:ln w="28575"/>
        </p:spPr>
        <p:style>
          <a:lnRef idx="1">
            <a:schemeClr val="dk1"/>
          </a:lnRef>
          <a:fillRef idx="0">
            <a:schemeClr val="dk1"/>
          </a:fillRef>
          <a:effectRef idx="0">
            <a:schemeClr val="dk1"/>
          </a:effectRef>
          <a:fontRef idx="minor">
            <a:schemeClr val="tx1"/>
          </a:fontRef>
        </p:style>
      </p:cxnSp>
      <p:cxnSp>
        <p:nvCxnSpPr>
          <p:cNvPr id="196" name="Straight Connector 195">
            <a:extLst>
              <a:ext uri="{FF2B5EF4-FFF2-40B4-BE49-F238E27FC236}">
                <a16:creationId xmlns:a16="http://schemas.microsoft.com/office/drawing/2014/main" id="{534135AE-C435-D64E-AA08-0D0030B432B8}"/>
              </a:ext>
            </a:extLst>
          </p:cNvPr>
          <p:cNvCxnSpPr>
            <a:cxnSpLocks/>
            <a:stCxn id="17" idx="7"/>
          </p:cNvCxnSpPr>
          <p:nvPr/>
        </p:nvCxnSpPr>
        <p:spPr>
          <a:xfrm flipV="1">
            <a:off x="4036685" y="4526281"/>
            <a:ext cx="1817883" cy="657234"/>
          </a:xfrm>
          <a:prstGeom prst="line">
            <a:avLst/>
          </a:prstGeom>
          <a:ln w="28575"/>
        </p:spPr>
        <p:style>
          <a:lnRef idx="1">
            <a:schemeClr val="dk1"/>
          </a:lnRef>
          <a:fillRef idx="0">
            <a:schemeClr val="dk1"/>
          </a:fillRef>
          <a:effectRef idx="0">
            <a:schemeClr val="dk1"/>
          </a:effectRef>
          <a:fontRef idx="minor">
            <a:schemeClr val="tx1"/>
          </a:fontRef>
        </p:style>
      </p:cxnSp>
      <p:cxnSp>
        <p:nvCxnSpPr>
          <p:cNvPr id="207" name="Straight Connector 206">
            <a:extLst>
              <a:ext uri="{FF2B5EF4-FFF2-40B4-BE49-F238E27FC236}">
                <a16:creationId xmlns:a16="http://schemas.microsoft.com/office/drawing/2014/main" id="{3FBFF0A4-0C35-8647-B007-BF69D24C0E97}"/>
              </a:ext>
            </a:extLst>
          </p:cNvPr>
          <p:cNvCxnSpPr>
            <a:cxnSpLocks/>
            <a:stCxn id="17" idx="7"/>
            <a:endCxn id="22" idx="2"/>
          </p:cNvCxnSpPr>
          <p:nvPr/>
        </p:nvCxnSpPr>
        <p:spPr>
          <a:xfrm flipV="1">
            <a:off x="4036685" y="5143500"/>
            <a:ext cx="1830715" cy="40015"/>
          </a:xfrm>
          <a:prstGeom prst="line">
            <a:avLst/>
          </a:prstGeom>
          <a:ln w="28575"/>
        </p:spPr>
        <p:style>
          <a:lnRef idx="1">
            <a:schemeClr val="dk1"/>
          </a:lnRef>
          <a:fillRef idx="0">
            <a:schemeClr val="dk1"/>
          </a:fillRef>
          <a:effectRef idx="0">
            <a:schemeClr val="dk1"/>
          </a:effectRef>
          <a:fontRef idx="minor">
            <a:schemeClr val="tx1"/>
          </a:fontRef>
        </p:style>
      </p:cxnSp>
      <p:cxnSp>
        <p:nvCxnSpPr>
          <p:cNvPr id="210" name="Straight Connector 209">
            <a:extLst>
              <a:ext uri="{FF2B5EF4-FFF2-40B4-BE49-F238E27FC236}">
                <a16:creationId xmlns:a16="http://schemas.microsoft.com/office/drawing/2014/main" id="{7C093255-E26A-A64B-9A5D-AB76A5666C72}"/>
              </a:ext>
            </a:extLst>
          </p:cNvPr>
          <p:cNvCxnSpPr>
            <a:cxnSpLocks/>
            <a:stCxn id="17" idx="7"/>
            <a:endCxn id="23" idx="2"/>
          </p:cNvCxnSpPr>
          <p:nvPr/>
        </p:nvCxnSpPr>
        <p:spPr>
          <a:xfrm>
            <a:off x="4036685" y="5183515"/>
            <a:ext cx="1828736" cy="569585"/>
          </a:xfrm>
          <a:prstGeom prst="line">
            <a:avLst/>
          </a:prstGeom>
          <a:ln w="28575"/>
        </p:spPr>
        <p:style>
          <a:lnRef idx="1">
            <a:schemeClr val="dk1"/>
          </a:lnRef>
          <a:fillRef idx="0">
            <a:schemeClr val="dk1"/>
          </a:fillRef>
          <a:effectRef idx="0">
            <a:schemeClr val="dk1"/>
          </a:effectRef>
          <a:fontRef idx="minor">
            <a:schemeClr val="tx1"/>
          </a:fontRef>
        </p:style>
      </p:cxnSp>
      <p:cxnSp>
        <p:nvCxnSpPr>
          <p:cNvPr id="213" name="Straight Connector 212">
            <a:extLst>
              <a:ext uri="{FF2B5EF4-FFF2-40B4-BE49-F238E27FC236}">
                <a16:creationId xmlns:a16="http://schemas.microsoft.com/office/drawing/2014/main" id="{478440D9-42E6-DE49-A7D5-1E04DFA629CE}"/>
              </a:ext>
            </a:extLst>
          </p:cNvPr>
          <p:cNvCxnSpPr>
            <a:cxnSpLocks/>
            <a:stCxn id="17" idx="7"/>
            <a:endCxn id="25" idx="2"/>
          </p:cNvCxnSpPr>
          <p:nvPr/>
        </p:nvCxnSpPr>
        <p:spPr>
          <a:xfrm>
            <a:off x="4036685" y="5183515"/>
            <a:ext cx="1828736" cy="1179185"/>
          </a:xfrm>
          <a:prstGeom prst="line">
            <a:avLst/>
          </a:prstGeom>
          <a:ln w="28575"/>
        </p:spPr>
        <p:style>
          <a:lnRef idx="1">
            <a:schemeClr val="dk1"/>
          </a:lnRef>
          <a:fillRef idx="0">
            <a:schemeClr val="dk1"/>
          </a:fillRef>
          <a:effectRef idx="0">
            <a:schemeClr val="dk1"/>
          </a:effectRef>
          <a:fontRef idx="minor">
            <a:schemeClr val="tx1"/>
          </a:fontRef>
        </p:style>
      </p:cxnSp>
      <p:grpSp>
        <p:nvGrpSpPr>
          <p:cNvPr id="76" name="Group 75">
            <a:extLst>
              <a:ext uri="{FF2B5EF4-FFF2-40B4-BE49-F238E27FC236}">
                <a16:creationId xmlns:a16="http://schemas.microsoft.com/office/drawing/2014/main" id="{4440B9F7-CCBC-C34A-828B-F8797096FDD1}"/>
              </a:ext>
            </a:extLst>
          </p:cNvPr>
          <p:cNvGrpSpPr/>
          <p:nvPr/>
        </p:nvGrpSpPr>
        <p:grpSpPr>
          <a:xfrm>
            <a:off x="642264" y="1904997"/>
            <a:ext cx="661050" cy="4648203"/>
            <a:chOff x="856144" y="3124199"/>
            <a:chExt cx="1277456" cy="2209801"/>
          </a:xfrm>
        </p:grpSpPr>
        <p:sp>
          <p:nvSpPr>
            <p:cNvPr id="77" name="TextBox 76">
              <a:extLst>
                <a:ext uri="{FF2B5EF4-FFF2-40B4-BE49-F238E27FC236}">
                  <a16:creationId xmlns:a16="http://schemas.microsoft.com/office/drawing/2014/main" id="{904C049D-063F-AA49-8FE5-F37E6C55B503}"/>
                </a:ext>
              </a:extLst>
            </p:cNvPr>
            <p:cNvSpPr txBox="1"/>
            <p:nvPr/>
          </p:nvSpPr>
          <p:spPr>
            <a:xfrm rot="16200000">
              <a:off x="155198" y="3825145"/>
              <a:ext cx="2115614" cy="713721"/>
            </a:xfrm>
            <a:prstGeom prst="rect">
              <a:avLst/>
            </a:prstGeom>
            <a:noFill/>
          </p:spPr>
          <p:txBody>
            <a:bodyPr wrap="square" rtlCol="0">
              <a:spAutoFit/>
            </a:bodyPr>
            <a:lstStyle/>
            <a:p>
              <a:pPr algn="ctr"/>
              <a:r>
                <a:rPr lang="en-US" dirty="0">
                  <a:solidFill>
                    <a:srgbClr val="D60093"/>
                  </a:solidFill>
                </a:rPr>
                <a:t>Target word = books</a:t>
              </a:r>
              <a:endParaRPr lang="en-US" dirty="0">
                <a:solidFill>
                  <a:srgbClr val="D60093"/>
                </a:solidFill>
                <a:latin typeface="Arial" pitchFamily="34" charset="0"/>
                <a:cs typeface="Arial" pitchFamily="34" charset="0"/>
              </a:endParaRPr>
            </a:p>
          </p:txBody>
        </p:sp>
        <p:sp>
          <p:nvSpPr>
            <p:cNvPr id="79" name="Left Brace 78">
              <a:extLst>
                <a:ext uri="{FF2B5EF4-FFF2-40B4-BE49-F238E27FC236}">
                  <a16:creationId xmlns:a16="http://schemas.microsoft.com/office/drawing/2014/main" id="{3FD0ABCC-5EDB-0347-8A22-3C0D19BBDBBE}"/>
                </a:ext>
              </a:extLst>
            </p:cNvPr>
            <p:cNvSpPr/>
            <p:nvPr/>
          </p:nvSpPr>
          <p:spPr>
            <a:xfrm>
              <a:off x="1569865" y="3124200"/>
              <a:ext cx="563735" cy="2209800"/>
            </a:xfrm>
            <a:prstGeom prst="leftBrace">
              <a:avLst/>
            </a:prstGeom>
            <a:ln w="28575">
              <a:solidFill>
                <a:srgbClr val="D60093"/>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sp>
        <p:nvSpPr>
          <p:cNvPr id="29" name="TextBox 28">
            <a:extLst>
              <a:ext uri="{FF2B5EF4-FFF2-40B4-BE49-F238E27FC236}">
                <a16:creationId xmlns:a16="http://schemas.microsoft.com/office/drawing/2014/main" id="{0989CABD-8ACB-D341-B194-735DBFB8EC4F}"/>
              </a:ext>
            </a:extLst>
          </p:cNvPr>
          <p:cNvSpPr txBox="1"/>
          <p:nvPr/>
        </p:nvSpPr>
        <p:spPr>
          <a:xfrm>
            <a:off x="2971800" y="6019800"/>
            <a:ext cx="2133600" cy="369332"/>
          </a:xfrm>
          <a:prstGeom prst="rect">
            <a:avLst/>
          </a:prstGeom>
          <a:noFill/>
        </p:spPr>
        <p:txBody>
          <a:bodyPr wrap="square" rtlCol="0">
            <a:spAutoFit/>
          </a:bodyPr>
          <a:lstStyle/>
          <a:p>
            <a:r>
              <a:rPr lang="en-US" dirty="0">
                <a:solidFill>
                  <a:srgbClr val="0000FF"/>
                </a:solidFill>
                <a:latin typeface="Arial" pitchFamily="34" charset="0"/>
                <a:cs typeface="Arial" pitchFamily="34" charset="0"/>
              </a:rPr>
              <a:t>3-dim embedding</a:t>
            </a:r>
          </a:p>
        </p:txBody>
      </p:sp>
      <p:sp>
        <p:nvSpPr>
          <p:cNvPr id="89" name="Title 1">
            <a:extLst>
              <a:ext uri="{FF2B5EF4-FFF2-40B4-BE49-F238E27FC236}">
                <a16:creationId xmlns:a16="http://schemas.microsoft.com/office/drawing/2014/main" id="{B19AD8C4-BEA1-314E-8896-166397774656}"/>
              </a:ext>
            </a:extLst>
          </p:cNvPr>
          <p:cNvSpPr>
            <a:spLocks noGrp="1"/>
          </p:cNvSpPr>
          <p:nvPr>
            <p:ph type="title"/>
          </p:nvPr>
        </p:nvSpPr>
        <p:spPr>
          <a:xfrm>
            <a:off x="457200" y="84778"/>
            <a:ext cx="8229600" cy="987552"/>
          </a:xfrm>
        </p:spPr>
        <p:txBody>
          <a:bodyPr/>
          <a:lstStyle/>
          <a:p>
            <a:r>
              <a:rPr lang="en-US" dirty="0"/>
              <a:t>Word2Vec: Example</a:t>
            </a:r>
          </a:p>
        </p:txBody>
      </p:sp>
      <p:sp>
        <p:nvSpPr>
          <p:cNvPr id="82" name="TextBox 81">
            <a:extLst>
              <a:ext uri="{FF2B5EF4-FFF2-40B4-BE49-F238E27FC236}">
                <a16:creationId xmlns:a16="http://schemas.microsoft.com/office/drawing/2014/main" id="{7B4B38B5-5293-CE4E-812D-A2ABE52C2109}"/>
              </a:ext>
            </a:extLst>
          </p:cNvPr>
          <p:cNvSpPr txBox="1"/>
          <p:nvPr/>
        </p:nvSpPr>
        <p:spPr>
          <a:xfrm>
            <a:off x="2266120" y="2003273"/>
            <a:ext cx="1089275" cy="369332"/>
          </a:xfrm>
          <a:prstGeom prst="rect">
            <a:avLst/>
          </a:prstGeom>
          <a:noFill/>
        </p:spPr>
        <p:txBody>
          <a:bodyPr wrap="square" rtlCol="0">
            <a:spAutoFit/>
          </a:bodyPr>
          <a:lstStyle/>
          <a:p>
            <a:r>
              <a:rPr lang="en-US" b="1" dirty="0" err="1">
                <a:solidFill>
                  <a:srgbClr val="0000FF"/>
                </a:solidFill>
                <a:latin typeface="Arial" pitchFamily="34" charset="0"/>
                <a:cs typeface="Arial" pitchFamily="34" charset="0"/>
              </a:rPr>
              <a:t>W</a:t>
            </a:r>
            <a:r>
              <a:rPr lang="en-US" b="1" baseline="-25000" dirty="0" err="1">
                <a:solidFill>
                  <a:srgbClr val="0000FF"/>
                </a:solidFill>
                <a:latin typeface="Arial" pitchFamily="34" charset="0"/>
                <a:cs typeface="Arial" pitchFamily="34" charset="0"/>
              </a:rPr>
              <a:t>VxN</a:t>
            </a:r>
            <a:endParaRPr lang="en-US" b="1" baseline="-25000" dirty="0">
              <a:solidFill>
                <a:srgbClr val="0000FF"/>
              </a:solidFill>
              <a:latin typeface="Arial" pitchFamily="34" charset="0"/>
              <a:cs typeface="Arial" pitchFamily="34" charset="0"/>
            </a:endParaRPr>
          </a:p>
        </p:txBody>
      </p:sp>
      <p:sp>
        <p:nvSpPr>
          <p:cNvPr id="83" name="TextBox 82">
            <a:extLst>
              <a:ext uri="{FF2B5EF4-FFF2-40B4-BE49-F238E27FC236}">
                <a16:creationId xmlns:a16="http://schemas.microsoft.com/office/drawing/2014/main" id="{44D429D3-60E6-2D40-AA00-0E9C18A8B216}"/>
              </a:ext>
            </a:extLst>
          </p:cNvPr>
          <p:cNvSpPr txBox="1"/>
          <p:nvPr/>
        </p:nvSpPr>
        <p:spPr>
          <a:xfrm>
            <a:off x="4284925" y="2041890"/>
            <a:ext cx="1089275" cy="369332"/>
          </a:xfrm>
          <a:prstGeom prst="rect">
            <a:avLst/>
          </a:prstGeom>
          <a:noFill/>
        </p:spPr>
        <p:txBody>
          <a:bodyPr wrap="square" rtlCol="0">
            <a:spAutoFit/>
          </a:bodyPr>
          <a:lstStyle/>
          <a:p>
            <a:r>
              <a:rPr lang="en-US" b="1" dirty="0" err="1">
                <a:solidFill>
                  <a:srgbClr val="0000FF"/>
                </a:solidFill>
                <a:latin typeface="Arial" pitchFamily="34" charset="0"/>
                <a:cs typeface="Arial" pitchFamily="34" charset="0"/>
              </a:rPr>
              <a:t>W’</a:t>
            </a:r>
            <a:r>
              <a:rPr lang="en-US" b="1" baseline="-25000" dirty="0" err="1">
                <a:solidFill>
                  <a:srgbClr val="0000FF"/>
                </a:solidFill>
                <a:latin typeface="Arial" pitchFamily="34" charset="0"/>
                <a:cs typeface="Arial" pitchFamily="34" charset="0"/>
              </a:rPr>
              <a:t>NxV</a:t>
            </a:r>
            <a:endParaRPr lang="en-US" b="1" baseline="-25000" dirty="0">
              <a:solidFill>
                <a:srgbClr val="0000FF"/>
              </a:solidFill>
              <a:latin typeface="Arial" pitchFamily="34" charset="0"/>
              <a:cs typeface="Arial" pitchFamily="34" charset="0"/>
            </a:endParaRPr>
          </a:p>
        </p:txBody>
      </p:sp>
      <p:cxnSp>
        <p:nvCxnSpPr>
          <p:cNvPr id="32" name="Straight Arrow Connector 31">
            <a:extLst>
              <a:ext uri="{FF2B5EF4-FFF2-40B4-BE49-F238E27FC236}">
                <a16:creationId xmlns:a16="http://schemas.microsoft.com/office/drawing/2014/main" id="{DA6310B8-C8F3-104F-8280-3C68A7C254B3}"/>
              </a:ext>
            </a:extLst>
          </p:cNvPr>
          <p:cNvCxnSpPr/>
          <p:nvPr/>
        </p:nvCxnSpPr>
        <p:spPr>
          <a:xfrm>
            <a:off x="6553200" y="2095500"/>
            <a:ext cx="533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5" name="Straight Arrow Connector 84">
            <a:extLst>
              <a:ext uri="{FF2B5EF4-FFF2-40B4-BE49-F238E27FC236}">
                <a16:creationId xmlns:a16="http://schemas.microsoft.com/office/drawing/2014/main" id="{795A150A-FDE6-A14E-9E1F-E2386B583E3E}"/>
              </a:ext>
            </a:extLst>
          </p:cNvPr>
          <p:cNvCxnSpPr/>
          <p:nvPr/>
        </p:nvCxnSpPr>
        <p:spPr>
          <a:xfrm>
            <a:off x="6553200" y="2743200"/>
            <a:ext cx="533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6" name="Straight Arrow Connector 85">
            <a:extLst>
              <a:ext uri="{FF2B5EF4-FFF2-40B4-BE49-F238E27FC236}">
                <a16:creationId xmlns:a16="http://schemas.microsoft.com/office/drawing/2014/main" id="{64E1A233-11A5-2647-9389-B331E5BC96F0}"/>
              </a:ext>
            </a:extLst>
          </p:cNvPr>
          <p:cNvCxnSpPr/>
          <p:nvPr/>
        </p:nvCxnSpPr>
        <p:spPr>
          <a:xfrm>
            <a:off x="6553200" y="3314700"/>
            <a:ext cx="533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8" name="Straight Arrow Connector 87">
            <a:extLst>
              <a:ext uri="{FF2B5EF4-FFF2-40B4-BE49-F238E27FC236}">
                <a16:creationId xmlns:a16="http://schemas.microsoft.com/office/drawing/2014/main" id="{F14E9146-B5CD-6049-9A69-17FD805E6DB1}"/>
              </a:ext>
            </a:extLst>
          </p:cNvPr>
          <p:cNvCxnSpPr/>
          <p:nvPr/>
        </p:nvCxnSpPr>
        <p:spPr>
          <a:xfrm>
            <a:off x="6553200" y="3962400"/>
            <a:ext cx="533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1" name="Straight Arrow Connector 90">
            <a:extLst>
              <a:ext uri="{FF2B5EF4-FFF2-40B4-BE49-F238E27FC236}">
                <a16:creationId xmlns:a16="http://schemas.microsoft.com/office/drawing/2014/main" id="{F8E8D2EC-51F1-BB4D-B415-B375FC999492}"/>
              </a:ext>
            </a:extLst>
          </p:cNvPr>
          <p:cNvCxnSpPr/>
          <p:nvPr/>
        </p:nvCxnSpPr>
        <p:spPr>
          <a:xfrm>
            <a:off x="6553200" y="4495800"/>
            <a:ext cx="533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2" name="Straight Arrow Connector 91">
            <a:extLst>
              <a:ext uri="{FF2B5EF4-FFF2-40B4-BE49-F238E27FC236}">
                <a16:creationId xmlns:a16="http://schemas.microsoft.com/office/drawing/2014/main" id="{AAA32A31-AB71-CA44-8293-E7A6D6B28760}"/>
              </a:ext>
            </a:extLst>
          </p:cNvPr>
          <p:cNvCxnSpPr/>
          <p:nvPr/>
        </p:nvCxnSpPr>
        <p:spPr>
          <a:xfrm>
            <a:off x="6553200" y="5143500"/>
            <a:ext cx="533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4" name="Straight Arrow Connector 93">
            <a:extLst>
              <a:ext uri="{FF2B5EF4-FFF2-40B4-BE49-F238E27FC236}">
                <a16:creationId xmlns:a16="http://schemas.microsoft.com/office/drawing/2014/main" id="{8E707385-A940-A44E-BF74-B201D3434F23}"/>
              </a:ext>
            </a:extLst>
          </p:cNvPr>
          <p:cNvCxnSpPr/>
          <p:nvPr/>
        </p:nvCxnSpPr>
        <p:spPr>
          <a:xfrm>
            <a:off x="6553200" y="5715000"/>
            <a:ext cx="533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5" name="Straight Arrow Connector 94">
            <a:extLst>
              <a:ext uri="{FF2B5EF4-FFF2-40B4-BE49-F238E27FC236}">
                <a16:creationId xmlns:a16="http://schemas.microsoft.com/office/drawing/2014/main" id="{717C2349-2B13-3744-AC10-2377460D9C12}"/>
              </a:ext>
            </a:extLst>
          </p:cNvPr>
          <p:cNvCxnSpPr/>
          <p:nvPr/>
        </p:nvCxnSpPr>
        <p:spPr>
          <a:xfrm>
            <a:off x="6553200" y="6362700"/>
            <a:ext cx="533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3" name="Rectangle 32">
            <a:extLst>
              <a:ext uri="{FF2B5EF4-FFF2-40B4-BE49-F238E27FC236}">
                <a16:creationId xmlns:a16="http://schemas.microsoft.com/office/drawing/2014/main" id="{354F2B31-4F9C-114B-B89F-2188E6143A37}"/>
              </a:ext>
            </a:extLst>
          </p:cNvPr>
          <p:cNvSpPr/>
          <p:nvPr/>
        </p:nvSpPr>
        <p:spPr>
          <a:xfrm>
            <a:off x="7162800" y="1828800"/>
            <a:ext cx="609600" cy="397756"/>
          </a:xfrm>
          <a:prstGeom prst="rect">
            <a:avLst/>
          </a:prstGeom>
          <a:ln/>
        </p:spPr>
        <p:style>
          <a:lnRef idx="1">
            <a:schemeClr val="accent4"/>
          </a:lnRef>
          <a:fillRef idx="2">
            <a:schemeClr val="accent4"/>
          </a:fillRef>
          <a:effectRef idx="1">
            <a:schemeClr val="accent4"/>
          </a:effectRef>
          <a:fontRef idx="minor">
            <a:schemeClr val="dk1"/>
          </a:fontRef>
        </p:style>
        <p:txBody>
          <a:bodyPr lIns="0" rtlCol="0" anchor="ctr"/>
          <a:lstStyle/>
          <a:p>
            <a:pPr algn="ctr"/>
            <a:r>
              <a:rPr lang="en-US" dirty="0"/>
              <a:t>0.001</a:t>
            </a:r>
          </a:p>
        </p:txBody>
      </p:sp>
      <p:sp>
        <p:nvSpPr>
          <p:cNvPr id="105" name="Rectangle 104">
            <a:extLst>
              <a:ext uri="{FF2B5EF4-FFF2-40B4-BE49-F238E27FC236}">
                <a16:creationId xmlns:a16="http://schemas.microsoft.com/office/drawing/2014/main" id="{B2491E53-4099-D447-B0AB-640F46645A58}"/>
              </a:ext>
            </a:extLst>
          </p:cNvPr>
          <p:cNvSpPr/>
          <p:nvPr/>
        </p:nvSpPr>
        <p:spPr>
          <a:xfrm>
            <a:off x="7158842" y="2504243"/>
            <a:ext cx="609600" cy="397756"/>
          </a:xfrm>
          <a:prstGeom prst="rect">
            <a:avLst/>
          </a:prstGeom>
          <a:ln/>
        </p:spPr>
        <p:style>
          <a:lnRef idx="1">
            <a:schemeClr val="accent4"/>
          </a:lnRef>
          <a:fillRef idx="2">
            <a:schemeClr val="accent4"/>
          </a:fillRef>
          <a:effectRef idx="1">
            <a:schemeClr val="accent4"/>
          </a:effectRef>
          <a:fontRef idx="minor">
            <a:schemeClr val="dk1"/>
          </a:fontRef>
        </p:style>
        <p:txBody>
          <a:bodyPr lIns="0" rtlCol="0" anchor="ctr"/>
          <a:lstStyle/>
          <a:p>
            <a:pPr algn="ctr"/>
            <a:r>
              <a:rPr lang="en-US" dirty="0"/>
              <a:t>0.104</a:t>
            </a:r>
          </a:p>
        </p:txBody>
      </p:sp>
      <p:sp>
        <p:nvSpPr>
          <p:cNvPr id="106" name="Rectangle 105">
            <a:extLst>
              <a:ext uri="{FF2B5EF4-FFF2-40B4-BE49-F238E27FC236}">
                <a16:creationId xmlns:a16="http://schemas.microsoft.com/office/drawing/2014/main" id="{52FC4260-9067-1E45-9986-0911C003D662}"/>
              </a:ext>
            </a:extLst>
          </p:cNvPr>
          <p:cNvSpPr/>
          <p:nvPr/>
        </p:nvSpPr>
        <p:spPr>
          <a:xfrm>
            <a:off x="7158842" y="3123442"/>
            <a:ext cx="609600" cy="397756"/>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0</a:t>
            </a:r>
          </a:p>
        </p:txBody>
      </p:sp>
      <p:sp>
        <p:nvSpPr>
          <p:cNvPr id="107" name="Rectangle 106">
            <a:extLst>
              <a:ext uri="{FF2B5EF4-FFF2-40B4-BE49-F238E27FC236}">
                <a16:creationId xmlns:a16="http://schemas.microsoft.com/office/drawing/2014/main" id="{32F14135-21DF-4942-86C0-2127E8DCD559}"/>
              </a:ext>
            </a:extLst>
          </p:cNvPr>
          <p:cNvSpPr/>
          <p:nvPr/>
        </p:nvSpPr>
        <p:spPr>
          <a:xfrm>
            <a:off x="7154884" y="3798885"/>
            <a:ext cx="609600" cy="397756"/>
          </a:xfrm>
          <a:prstGeom prst="rect">
            <a:avLst/>
          </a:prstGeom>
          <a:ln/>
        </p:spPr>
        <p:style>
          <a:lnRef idx="1">
            <a:schemeClr val="accent4"/>
          </a:lnRef>
          <a:fillRef idx="2">
            <a:schemeClr val="accent4"/>
          </a:fillRef>
          <a:effectRef idx="1">
            <a:schemeClr val="accent4"/>
          </a:effectRef>
          <a:fontRef idx="minor">
            <a:schemeClr val="dk1"/>
          </a:fontRef>
        </p:style>
        <p:txBody>
          <a:bodyPr lIns="0" rtlCol="0" anchor="ctr"/>
          <a:lstStyle/>
          <a:p>
            <a:pPr algn="ctr"/>
            <a:r>
              <a:rPr lang="en-US" dirty="0"/>
              <a:t>0.077</a:t>
            </a:r>
          </a:p>
        </p:txBody>
      </p:sp>
      <p:sp>
        <p:nvSpPr>
          <p:cNvPr id="108" name="Rectangle 107">
            <a:extLst>
              <a:ext uri="{FF2B5EF4-FFF2-40B4-BE49-F238E27FC236}">
                <a16:creationId xmlns:a16="http://schemas.microsoft.com/office/drawing/2014/main" id="{6AD3AE92-C50B-F344-AB31-F7F2D4D52A0B}"/>
              </a:ext>
            </a:extLst>
          </p:cNvPr>
          <p:cNvSpPr/>
          <p:nvPr/>
        </p:nvSpPr>
        <p:spPr>
          <a:xfrm>
            <a:off x="7162800" y="4354551"/>
            <a:ext cx="609600" cy="397756"/>
          </a:xfrm>
          <a:prstGeom prst="rect">
            <a:avLst/>
          </a:prstGeom>
          <a:ln/>
        </p:spPr>
        <p:style>
          <a:lnRef idx="1">
            <a:schemeClr val="accent4"/>
          </a:lnRef>
          <a:fillRef idx="2">
            <a:schemeClr val="accent4"/>
          </a:fillRef>
          <a:effectRef idx="1">
            <a:schemeClr val="accent4"/>
          </a:effectRef>
          <a:fontRef idx="minor">
            <a:schemeClr val="dk1"/>
          </a:fontRef>
        </p:style>
        <p:txBody>
          <a:bodyPr lIns="0" rtlCol="0" anchor="ctr"/>
          <a:lstStyle/>
          <a:p>
            <a:pPr algn="ctr"/>
            <a:r>
              <a:rPr lang="en-US" dirty="0"/>
              <a:t>0.177</a:t>
            </a:r>
          </a:p>
        </p:txBody>
      </p:sp>
      <p:sp>
        <p:nvSpPr>
          <p:cNvPr id="109" name="Rectangle 108">
            <a:extLst>
              <a:ext uri="{FF2B5EF4-FFF2-40B4-BE49-F238E27FC236}">
                <a16:creationId xmlns:a16="http://schemas.microsoft.com/office/drawing/2014/main" id="{FB0ED8B4-B69A-4243-8511-41088425EBBC}"/>
              </a:ext>
            </a:extLst>
          </p:cNvPr>
          <p:cNvSpPr/>
          <p:nvPr/>
        </p:nvSpPr>
        <p:spPr>
          <a:xfrm>
            <a:off x="7154388" y="4981998"/>
            <a:ext cx="609600" cy="397756"/>
          </a:xfrm>
          <a:prstGeom prst="rect">
            <a:avLst/>
          </a:prstGeom>
          <a:ln/>
        </p:spPr>
        <p:style>
          <a:lnRef idx="1">
            <a:schemeClr val="accent4"/>
          </a:lnRef>
          <a:fillRef idx="2">
            <a:schemeClr val="accent4"/>
          </a:fillRef>
          <a:effectRef idx="1">
            <a:schemeClr val="accent4"/>
          </a:effectRef>
          <a:fontRef idx="minor">
            <a:schemeClr val="dk1"/>
          </a:fontRef>
        </p:style>
        <p:txBody>
          <a:bodyPr lIns="0" rtlCol="0" anchor="ctr"/>
          <a:lstStyle/>
          <a:p>
            <a:pPr algn="ctr"/>
            <a:r>
              <a:rPr lang="en-US" dirty="0"/>
              <a:t>0.627</a:t>
            </a:r>
          </a:p>
        </p:txBody>
      </p:sp>
      <p:sp>
        <p:nvSpPr>
          <p:cNvPr id="110" name="Rectangle 109">
            <a:extLst>
              <a:ext uri="{FF2B5EF4-FFF2-40B4-BE49-F238E27FC236}">
                <a16:creationId xmlns:a16="http://schemas.microsoft.com/office/drawing/2014/main" id="{38961B35-7059-3F44-A682-B27D4B3D41C6}"/>
              </a:ext>
            </a:extLst>
          </p:cNvPr>
          <p:cNvSpPr/>
          <p:nvPr/>
        </p:nvSpPr>
        <p:spPr>
          <a:xfrm>
            <a:off x="7137070" y="5570092"/>
            <a:ext cx="609600" cy="397756"/>
          </a:xfrm>
          <a:prstGeom prst="rect">
            <a:avLst/>
          </a:prstGeom>
          <a:ln/>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dirty="0"/>
              <a:t>0.008</a:t>
            </a:r>
          </a:p>
        </p:txBody>
      </p:sp>
      <p:sp>
        <p:nvSpPr>
          <p:cNvPr id="111" name="Rectangle 110">
            <a:extLst>
              <a:ext uri="{FF2B5EF4-FFF2-40B4-BE49-F238E27FC236}">
                <a16:creationId xmlns:a16="http://schemas.microsoft.com/office/drawing/2014/main" id="{08814719-05E1-F649-8D96-36B0025A1BD1}"/>
              </a:ext>
            </a:extLst>
          </p:cNvPr>
          <p:cNvSpPr/>
          <p:nvPr/>
        </p:nvSpPr>
        <p:spPr>
          <a:xfrm>
            <a:off x="7164452" y="6204466"/>
            <a:ext cx="609600" cy="397756"/>
          </a:xfrm>
          <a:prstGeom prst="rect">
            <a:avLst/>
          </a:prstGeom>
          <a:ln/>
        </p:spPr>
        <p:style>
          <a:lnRef idx="1">
            <a:schemeClr val="accent4"/>
          </a:lnRef>
          <a:fillRef idx="2">
            <a:schemeClr val="accent4"/>
          </a:fillRef>
          <a:effectRef idx="1">
            <a:schemeClr val="accent4"/>
          </a:effectRef>
          <a:fontRef idx="minor">
            <a:schemeClr val="dk1"/>
          </a:fontRef>
        </p:style>
        <p:txBody>
          <a:bodyPr lIns="0" rtlCol="0" anchor="ctr"/>
          <a:lstStyle/>
          <a:p>
            <a:pPr algn="ctr"/>
            <a:r>
              <a:rPr lang="en-US" dirty="0"/>
              <a:t>0.013</a:t>
            </a:r>
          </a:p>
        </p:txBody>
      </p:sp>
      <p:sp>
        <p:nvSpPr>
          <p:cNvPr id="112" name="TextBox 111">
            <a:extLst>
              <a:ext uri="{FF2B5EF4-FFF2-40B4-BE49-F238E27FC236}">
                <a16:creationId xmlns:a16="http://schemas.microsoft.com/office/drawing/2014/main" id="{0E06C57C-6434-F943-B55F-06AE1F6B8390}"/>
              </a:ext>
            </a:extLst>
          </p:cNvPr>
          <p:cNvSpPr txBox="1"/>
          <p:nvPr/>
        </p:nvSpPr>
        <p:spPr>
          <a:xfrm>
            <a:off x="6509162" y="1412476"/>
            <a:ext cx="1548740" cy="369332"/>
          </a:xfrm>
          <a:prstGeom prst="rect">
            <a:avLst/>
          </a:prstGeom>
          <a:noFill/>
        </p:spPr>
        <p:txBody>
          <a:bodyPr wrap="square" rtlCol="0">
            <a:spAutoFit/>
          </a:bodyPr>
          <a:lstStyle/>
          <a:p>
            <a:r>
              <a:rPr lang="en-US" dirty="0">
                <a:solidFill>
                  <a:srgbClr val="0000FF"/>
                </a:solidFill>
                <a:latin typeface="Arial" pitchFamily="34" charset="0"/>
                <a:cs typeface="Arial" pitchFamily="34" charset="0"/>
              </a:rPr>
              <a:t>probabilities</a:t>
            </a:r>
          </a:p>
        </p:txBody>
      </p:sp>
      <p:cxnSp>
        <p:nvCxnSpPr>
          <p:cNvPr id="26" name="Straight Arrow Connector 25">
            <a:extLst>
              <a:ext uri="{FF2B5EF4-FFF2-40B4-BE49-F238E27FC236}">
                <a16:creationId xmlns:a16="http://schemas.microsoft.com/office/drawing/2014/main" id="{69895E33-D959-A54A-826E-243226E9EC3C}"/>
              </a:ext>
            </a:extLst>
          </p:cNvPr>
          <p:cNvCxnSpPr/>
          <p:nvPr/>
        </p:nvCxnSpPr>
        <p:spPr>
          <a:xfrm>
            <a:off x="7924800" y="2041890"/>
            <a:ext cx="381000"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cxnSp>
        <p:nvCxnSpPr>
          <p:cNvPr id="99" name="Straight Arrow Connector 98">
            <a:extLst>
              <a:ext uri="{FF2B5EF4-FFF2-40B4-BE49-F238E27FC236}">
                <a16:creationId xmlns:a16="http://schemas.microsoft.com/office/drawing/2014/main" id="{34C88998-7706-654C-A572-BFB15D7C97F2}"/>
              </a:ext>
            </a:extLst>
          </p:cNvPr>
          <p:cNvCxnSpPr/>
          <p:nvPr/>
        </p:nvCxnSpPr>
        <p:spPr>
          <a:xfrm>
            <a:off x="7924800" y="2700476"/>
            <a:ext cx="381000"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cxnSp>
        <p:nvCxnSpPr>
          <p:cNvPr id="100" name="Straight Arrow Connector 99">
            <a:extLst>
              <a:ext uri="{FF2B5EF4-FFF2-40B4-BE49-F238E27FC236}">
                <a16:creationId xmlns:a16="http://schemas.microsoft.com/office/drawing/2014/main" id="{8577F993-004C-2840-9C92-50410E5DB217}"/>
              </a:ext>
            </a:extLst>
          </p:cNvPr>
          <p:cNvCxnSpPr/>
          <p:nvPr/>
        </p:nvCxnSpPr>
        <p:spPr>
          <a:xfrm>
            <a:off x="7924800" y="3236521"/>
            <a:ext cx="381000"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cxnSp>
        <p:nvCxnSpPr>
          <p:cNvPr id="101" name="Straight Arrow Connector 100">
            <a:extLst>
              <a:ext uri="{FF2B5EF4-FFF2-40B4-BE49-F238E27FC236}">
                <a16:creationId xmlns:a16="http://schemas.microsoft.com/office/drawing/2014/main" id="{2262C881-C565-E347-9B58-93F0E8A17A0F}"/>
              </a:ext>
            </a:extLst>
          </p:cNvPr>
          <p:cNvCxnSpPr/>
          <p:nvPr/>
        </p:nvCxnSpPr>
        <p:spPr>
          <a:xfrm>
            <a:off x="7924800" y="3895107"/>
            <a:ext cx="381000"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cxnSp>
        <p:nvCxnSpPr>
          <p:cNvPr id="102" name="Straight Arrow Connector 101">
            <a:extLst>
              <a:ext uri="{FF2B5EF4-FFF2-40B4-BE49-F238E27FC236}">
                <a16:creationId xmlns:a16="http://schemas.microsoft.com/office/drawing/2014/main" id="{C48C7B78-B76B-164B-9FFA-DDF042659F99}"/>
              </a:ext>
            </a:extLst>
          </p:cNvPr>
          <p:cNvCxnSpPr/>
          <p:nvPr/>
        </p:nvCxnSpPr>
        <p:spPr>
          <a:xfrm>
            <a:off x="7924800" y="4542173"/>
            <a:ext cx="381000"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cxnSp>
        <p:nvCxnSpPr>
          <p:cNvPr id="103" name="Straight Arrow Connector 102">
            <a:extLst>
              <a:ext uri="{FF2B5EF4-FFF2-40B4-BE49-F238E27FC236}">
                <a16:creationId xmlns:a16="http://schemas.microsoft.com/office/drawing/2014/main" id="{9367B863-44C1-BE4F-8DCB-5F5ED1E11916}"/>
              </a:ext>
            </a:extLst>
          </p:cNvPr>
          <p:cNvCxnSpPr/>
          <p:nvPr/>
        </p:nvCxnSpPr>
        <p:spPr>
          <a:xfrm>
            <a:off x="7924800" y="5200759"/>
            <a:ext cx="381000"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cxnSp>
        <p:nvCxnSpPr>
          <p:cNvPr id="104" name="Straight Arrow Connector 103">
            <a:extLst>
              <a:ext uri="{FF2B5EF4-FFF2-40B4-BE49-F238E27FC236}">
                <a16:creationId xmlns:a16="http://schemas.microsoft.com/office/drawing/2014/main" id="{156234D9-ED92-6747-8906-855A354D2DFA}"/>
              </a:ext>
            </a:extLst>
          </p:cNvPr>
          <p:cNvCxnSpPr/>
          <p:nvPr/>
        </p:nvCxnSpPr>
        <p:spPr>
          <a:xfrm>
            <a:off x="7924800" y="5736804"/>
            <a:ext cx="381000"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cxnSp>
        <p:nvCxnSpPr>
          <p:cNvPr id="113" name="Straight Arrow Connector 112">
            <a:extLst>
              <a:ext uri="{FF2B5EF4-FFF2-40B4-BE49-F238E27FC236}">
                <a16:creationId xmlns:a16="http://schemas.microsoft.com/office/drawing/2014/main" id="{EA6D8E74-44AF-6340-AE26-6AD614978E45}"/>
              </a:ext>
            </a:extLst>
          </p:cNvPr>
          <p:cNvCxnSpPr/>
          <p:nvPr/>
        </p:nvCxnSpPr>
        <p:spPr>
          <a:xfrm>
            <a:off x="7924800" y="6395390"/>
            <a:ext cx="381000"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sp>
        <p:nvSpPr>
          <p:cNvPr id="114" name="Oval 113">
            <a:extLst>
              <a:ext uri="{FF2B5EF4-FFF2-40B4-BE49-F238E27FC236}">
                <a16:creationId xmlns:a16="http://schemas.microsoft.com/office/drawing/2014/main" id="{2461E769-CA44-E548-AE73-3469040783B9}"/>
              </a:ext>
            </a:extLst>
          </p:cNvPr>
          <p:cNvSpPr/>
          <p:nvPr/>
        </p:nvSpPr>
        <p:spPr>
          <a:xfrm>
            <a:off x="8354786" y="2365866"/>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15" name="Oval 114">
            <a:extLst>
              <a:ext uri="{FF2B5EF4-FFF2-40B4-BE49-F238E27FC236}">
                <a16:creationId xmlns:a16="http://schemas.microsoft.com/office/drawing/2014/main" id="{C00E05E7-23F7-974A-8208-F953C6161251}"/>
              </a:ext>
            </a:extLst>
          </p:cNvPr>
          <p:cNvSpPr/>
          <p:nvPr/>
        </p:nvSpPr>
        <p:spPr>
          <a:xfrm>
            <a:off x="8354786" y="2975466"/>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16" name="Oval 115">
            <a:extLst>
              <a:ext uri="{FF2B5EF4-FFF2-40B4-BE49-F238E27FC236}">
                <a16:creationId xmlns:a16="http://schemas.microsoft.com/office/drawing/2014/main" id="{7D049E04-CFDB-0545-AFC2-62115C4821A7}"/>
              </a:ext>
            </a:extLst>
          </p:cNvPr>
          <p:cNvSpPr/>
          <p:nvPr/>
        </p:nvSpPr>
        <p:spPr>
          <a:xfrm>
            <a:off x="8352807" y="3585066"/>
            <a:ext cx="533400" cy="533400"/>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17" name="Oval 116">
            <a:extLst>
              <a:ext uri="{FF2B5EF4-FFF2-40B4-BE49-F238E27FC236}">
                <a16:creationId xmlns:a16="http://schemas.microsoft.com/office/drawing/2014/main" id="{67C751FF-33D2-B244-B73B-FC086E04B02E}"/>
              </a:ext>
            </a:extLst>
          </p:cNvPr>
          <p:cNvSpPr/>
          <p:nvPr/>
        </p:nvSpPr>
        <p:spPr>
          <a:xfrm>
            <a:off x="8356765" y="4194666"/>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18" name="Oval 117">
            <a:extLst>
              <a:ext uri="{FF2B5EF4-FFF2-40B4-BE49-F238E27FC236}">
                <a16:creationId xmlns:a16="http://schemas.microsoft.com/office/drawing/2014/main" id="{D5DDC259-9CA7-6642-84EF-C29917C337F9}"/>
              </a:ext>
            </a:extLst>
          </p:cNvPr>
          <p:cNvSpPr/>
          <p:nvPr/>
        </p:nvSpPr>
        <p:spPr>
          <a:xfrm>
            <a:off x="8356765" y="4804266"/>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1</a:t>
            </a:r>
          </a:p>
        </p:txBody>
      </p:sp>
      <p:sp>
        <p:nvSpPr>
          <p:cNvPr id="119" name="Oval 118">
            <a:extLst>
              <a:ext uri="{FF2B5EF4-FFF2-40B4-BE49-F238E27FC236}">
                <a16:creationId xmlns:a16="http://schemas.microsoft.com/office/drawing/2014/main" id="{141477E0-F914-964B-B2B1-693BBF28AF9D}"/>
              </a:ext>
            </a:extLst>
          </p:cNvPr>
          <p:cNvSpPr/>
          <p:nvPr/>
        </p:nvSpPr>
        <p:spPr>
          <a:xfrm>
            <a:off x="8354786" y="5413866"/>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20" name="Oval 119">
            <a:extLst>
              <a:ext uri="{FF2B5EF4-FFF2-40B4-BE49-F238E27FC236}">
                <a16:creationId xmlns:a16="http://schemas.microsoft.com/office/drawing/2014/main" id="{795F5880-A17F-154E-8C27-AD65CC2892F1}"/>
              </a:ext>
            </a:extLst>
          </p:cNvPr>
          <p:cNvSpPr/>
          <p:nvPr/>
        </p:nvSpPr>
        <p:spPr>
          <a:xfrm>
            <a:off x="8354786" y="1756266"/>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21" name="Oval 120">
            <a:extLst>
              <a:ext uri="{FF2B5EF4-FFF2-40B4-BE49-F238E27FC236}">
                <a16:creationId xmlns:a16="http://schemas.microsoft.com/office/drawing/2014/main" id="{86C188B0-DB19-2E49-9B72-D4DF86957986}"/>
              </a:ext>
            </a:extLst>
          </p:cNvPr>
          <p:cNvSpPr/>
          <p:nvPr/>
        </p:nvSpPr>
        <p:spPr>
          <a:xfrm>
            <a:off x="8354786" y="6023466"/>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22" name="TextBox 121">
            <a:extLst>
              <a:ext uri="{FF2B5EF4-FFF2-40B4-BE49-F238E27FC236}">
                <a16:creationId xmlns:a16="http://schemas.microsoft.com/office/drawing/2014/main" id="{EF262AC0-8632-9F49-9101-326CBEFEA3B5}"/>
              </a:ext>
            </a:extLst>
          </p:cNvPr>
          <p:cNvSpPr txBox="1"/>
          <p:nvPr/>
        </p:nvSpPr>
        <p:spPr>
          <a:xfrm>
            <a:off x="8000010" y="1081910"/>
            <a:ext cx="1220190" cy="646331"/>
          </a:xfrm>
          <a:prstGeom prst="rect">
            <a:avLst/>
          </a:prstGeom>
          <a:noFill/>
        </p:spPr>
        <p:txBody>
          <a:bodyPr wrap="square" rtlCol="0">
            <a:spAutoFit/>
          </a:bodyPr>
          <a:lstStyle/>
          <a:p>
            <a:r>
              <a:rPr lang="en-US" dirty="0">
                <a:solidFill>
                  <a:srgbClr val="0000FF"/>
                </a:solidFill>
                <a:latin typeface="Arial" pitchFamily="34" charset="0"/>
                <a:cs typeface="Arial" pitchFamily="34" charset="0"/>
              </a:rPr>
              <a:t>One-hot of context</a:t>
            </a:r>
          </a:p>
        </p:txBody>
      </p:sp>
    </p:spTree>
    <p:extLst>
      <p:ext uri="{BB962C8B-B14F-4D97-AF65-F5344CB8AC3E}">
        <p14:creationId xmlns:p14="http://schemas.microsoft.com/office/powerpoint/2010/main" val="5819308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3EF999-0E22-E646-AE46-E78AE2A30EEA}"/>
              </a:ext>
            </a:extLst>
          </p:cNvPr>
          <p:cNvSpPr>
            <a:spLocks noGrp="1"/>
          </p:cNvSpPr>
          <p:nvPr>
            <p:ph idx="1"/>
          </p:nvPr>
        </p:nvSpPr>
        <p:spPr/>
        <p:txBody>
          <a:bodyPr/>
          <a:lstStyle/>
          <a:p>
            <a:r>
              <a:rPr lang="en-US" sz="2600" dirty="0"/>
              <a:t>If </a:t>
            </a:r>
            <a:r>
              <a:rPr lang="en-US" sz="2600" dirty="0" err="1">
                <a:solidFill>
                  <a:srgbClr val="0000FF"/>
                </a:solidFill>
              </a:rPr>
              <a:t>W’</a:t>
            </a:r>
            <a:r>
              <a:rPr lang="en-US" sz="2600" baseline="-25000" dirty="0" err="1">
                <a:solidFill>
                  <a:srgbClr val="0000FF"/>
                </a:solidFill>
              </a:rPr>
              <a:t>NxV</a:t>
            </a:r>
            <a:r>
              <a:rPr lang="en-US" sz="2600" baseline="-25000" dirty="0">
                <a:solidFill>
                  <a:srgbClr val="0000FF"/>
                </a:solidFill>
              </a:rPr>
              <a:t> </a:t>
            </a:r>
            <a:r>
              <a:rPr lang="en-US" sz="2600" dirty="0"/>
              <a:t>given:</a:t>
            </a:r>
            <a:endParaRPr lang="en-US" sz="2600" baseline="-25000" dirty="0"/>
          </a:p>
        </p:txBody>
      </p:sp>
      <p:sp>
        <p:nvSpPr>
          <p:cNvPr id="4" name="Date Placeholder 3">
            <a:extLst>
              <a:ext uri="{FF2B5EF4-FFF2-40B4-BE49-F238E27FC236}">
                <a16:creationId xmlns:a16="http://schemas.microsoft.com/office/drawing/2014/main" id="{3A95A54D-9A58-5549-8965-BA8F28D4AD61}"/>
              </a:ext>
            </a:extLst>
          </p:cNvPr>
          <p:cNvSpPr>
            <a:spLocks noGrp="1"/>
          </p:cNvSpPr>
          <p:nvPr>
            <p:ph type="dt" sz="half" idx="10"/>
          </p:nvPr>
        </p:nvSpPr>
        <p:spPr/>
        <p:txBody>
          <a:bodyPr/>
          <a:lstStyle/>
          <a:p>
            <a:fld id="{2B007DB8-A4A5-374C-8F7A-62CD72CD9ADF}" type="datetime1">
              <a:rPr lang="en-US" smtClean="0"/>
              <a:t>11/3/24</a:t>
            </a:fld>
            <a:endParaRPr lang="en-US"/>
          </a:p>
        </p:txBody>
      </p:sp>
      <p:sp>
        <p:nvSpPr>
          <p:cNvPr id="5" name="Footer Placeholder 4">
            <a:extLst>
              <a:ext uri="{FF2B5EF4-FFF2-40B4-BE49-F238E27FC236}">
                <a16:creationId xmlns:a16="http://schemas.microsoft.com/office/drawing/2014/main" id="{75E3F037-9750-654F-816B-A2F53F57A342}"/>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A9C7C246-21A0-724F-877A-EDE129D9F409}"/>
              </a:ext>
            </a:extLst>
          </p:cNvPr>
          <p:cNvSpPr>
            <a:spLocks noGrp="1"/>
          </p:cNvSpPr>
          <p:nvPr>
            <p:ph type="sldNum" sz="quarter" idx="12"/>
          </p:nvPr>
        </p:nvSpPr>
        <p:spPr/>
        <p:txBody>
          <a:bodyPr/>
          <a:lstStyle/>
          <a:p>
            <a:fld id="{19B12225-5612-419B-A8D5-4B8EEE4C217E}" type="slidenum">
              <a:rPr lang="en-US" smtClean="0"/>
              <a:pPr/>
              <a:t>62</a:t>
            </a:fld>
            <a:endParaRPr lang="en-US"/>
          </a:p>
        </p:txBody>
      </p:sp>
      <p:sp>
        <p:nvSpPr>
          <p:cNvPr id="7" name="Oval 6">
            <a:extLst>
              <a:ext uri="{FF2B5EF4-FFF2-40B4-BE49-F238E27FC236}">
                <a16:creationId xmlns:a16="http://schemas.microsoft.com/office/drawing/2014/main" id="{FE984F9E-3D6F-C247-A6C1-9FD84A14E635}"/>
              </a:ext>
            </a:extLst>
          </p:cNvPr>
          <p:cNvSpPr/>
          <p:nvPr/>
        </p:nvSpPr>
        <p:spPr>
          <a:xfrm>
            <a:off x="1447800" y="24384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8" name="Oval 7">
            <a:extLst>
              <a:ext uri="{FF2B5EF4-FFF2-40B4-BE49-F238E27FC236}">
                <a16:creationId xmlns:a16="http://schemas.microsoft.com/office/drawing/2014/main" id="{FCA76820-8ED3-7640-BA73-F8527CD9BB52}"/>
              </a:ext>
            </a:extLst>
          </p:cNvPr>
          <p:cNvSpPr/>
          <p:nvPr/>
        </p:nvSpPr>
        <p:spPr>
          <a:xfrm>
            <a:off x="1447800" y="30480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9" name="Oval 8">
            <a:extLst>
              <a:ext uri="{FF2B5EF4-FFF2-40B4-BE49-F238E27FC236}">
                <a16:creationId xmlns:a16="http://schemas.microsoft.com/office/drawing/2014/main" id="{B47E7577-F37D-4A4E-8A05-F4574EBC5AC3}"/>
              </a:ext>
            </a:extLst>
          </p:cNvPr>
          <p:cNvSpPr/>
          <p:nvPr/>
        </p:nvSpPr>
        <p:spPr>
          <a:xfrm>
            <a:off x="1445821" y="3657600"/>
            <a:ext cx="533400" cy="533400"/>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1</a:t>
            </a:r>
          </a:p>
        </p:txBody>
      </p:sp>
      <p:sp>
        <p:nvSpPr>
          <p:cNvPr id="10" name="Oval 9">
            <a:extLst>
              <a:ext uri="{FF2B5EF4-FFF2-40B4-BE49-F238E27FC236}">
                <a16:creationId xmlns:a16="http://schemas.microsoft.com/office/drawing/2014/main" id="{1669C58E-19E6-4840-8065-BDB33C26B166}"/>
              </a:ext>
            </a:extLst>
          </p:cNvPr>
          <p:cNvSpPr/>
          <p:nvPr/>
        </p:nvSpPr>
        <p:spPr>
          <a:xfrm>
            <a:off x="1449779" y="42672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1" name="Oval 10">
            <a:extLst>
              <a:ext uri="{FF2B5EF4-FFF2-40B4-BE49-F238E27FC236}">
                <a16:creationId xmlns:a16="http://schemas.microsoft.com/office/drawing/2014/main" id="{9017FFE6-10AE-FF43-99AE-960397B374DB}"/>
              </a:ext>
            </a:extLst>
          </p:cNvPr>
          <p:cNvSpPr/>
          <p:nvPr/>
        </p:nvSpPr>
        <p:spPr>
          <a:xfrm>
            <a:off x="1449779" y="48768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2" name="Oval 11">
            <a:extLst>
              <a:ext uri="{FF2B5EF4-FFF2-40B4-BE49-F238E27FC236}">
                <a16:creationId xmlns:a16="http://schemas.microsoft.com/office/drawing/2014/main" id="{0587A28A-D458-1444-99C8-17770F541260}"/>
              </a:ext>
            </a:extLst>
          </p:cNvPr>
          <p:cNvSpPr/>
          <p:nvPr/>
        </p:nvSpPr>
        <p:spPr>
          <a:xfrm>
            <a:off x="1447800" y="54864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3" name="Oval 12">
            <a:extLst>
              <a:ext uri="{FF2B5EF4-FFF2-40B4-BE49-F238E27FC236}">
                <a16:creationId xmlns:a16="http://schemas.microsoft.com/office/drawing/2014/main" id="{4D34B655-73FA-C34C-9A61-24A56C1E178B}"/>
              </a:ext>
            </a:extLst>
          </p:cNvPr>
          <p:cNvSpPr/>
          <p:nvPr/>
        </p:nvSpPr>
        <p:spPr>
          <a:xfrm>
            <a:off x="1447800" y="18288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4" name="Oval 13">
            <a:extLst>
              <a:ext uri="{FF2B5EF4-FFF2-40B4-BE49-F238E27FC236}">
                <a16:creationId xmlns:a16="http://schemas.microsoft.com/office/drawing/2014/main" id="{5760957A-AB0C-FC41-AA55-82C44F26A99C}"/>
              </a:ext>
            </a:extLst>
          </p:cNvPr>
          <p:cNvSpPr/>
          <p:nvPr/>
        </p:nvSpPr>
        <p:spPr>
          <a:xfrm>
            <a:off x="1447800" y="6096000"/>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5" name="Oval 14">
            <a:extLst>
              <a:ext uri="{FF2B5EF4-FFF2-40B4-BE49-F238E27FC236}">
                <a16:creationId xmlns:a16="http://schemas.microsoft.com/office/drawing/2014/main" id="{F0B5B778-2FF2-4044-BB0E-2570466FF450}"/>
              </a:ext>
            </a:extLst>
          </p:cNvPr>
          <p:cNvSpPr/>
          <p:nvPr/>
        </p:nvSpPr>
        <p:spPr>
          <a:xfrm>
            <a:off x="3581400" y="2703121"/>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dirty="0"/>
              <a:t>0.5</a:t>
            </a:r>
          </a:p>
        </p:txBody>
      </p:sp>
      <p:sp>
        <p:nvSpPr>
          <p:cNvPr id="16" name="Oval 15">
            <a:extLst>
              <a:ext uri="{FF2B5EF4-FFF2-40B4-BE49-F238E27FC236}">
                <a16:creationId xmlns:a16="http://schemas.microsoft.com/office/drawing/2014/main" id="{181F2C68-981D-824F-A4A2-7DD278B281DF}"/>
              </a:ext>
            </a:extLst>
          </p:cNvPr>
          <p:cNvSpPr/>
          <p:nvPr/>
        </p:nvSpPr>
        <p:spPr>
          <a:xfrm>
            <a:off x="3581400" y="39243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2.3</a:t>
            </a:r>
          </a:p>
        </p:txBody>
      </p:sp>
      <p:sp>
        <p:nvSpPr>
          <p:cNvPr id="17" name="Oval 16">
            <a:extLst>
              <a:ext uri="{FF2B5EF4-FFF2-40B4-BE49-F238E27FC236}">
                <a16:creationId xmlns:a16="http://schemas.microsoft.com/office/drawing/2014/main" id="{34985E82-54AF-0A45-9DCD-E6A8D656E586}"/>
              </a:ext>
            </a:extLst>
          </p:cNvPr>
          <p:cNvSpPr/>
          <p:nvPr/>
        </p:nvSpPr>
        <p:spPr>
          <a:xfrm>
            <a:off x="3581400" y="51054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dirty="0"/>
              <a:t>2.2</a:t>
            </a:r>
          </a:p>
        </p:txBody>
      </p:sp>
      <p:sp>
        <p:nvSpPr>
          <p:cNvPr id="18" name="Oval 17">
            <a:extLst>
              <a:ext uri="{FF2B5EF4-FFF2-40B4-BE49-F238E27FC236}">
                <a16:creationId xmlns:a16="http://schemas.microsoft.com/office/drawing/2014/main" id="{7AA8C92D-B711-8145-8F15-3FA48B6147BA}"/>
              </a:ext>
            </a:extLst>
          </p:cNvPr>
          <p:cNvSpPr/>
          <p:nvPr/>
        </p:nvSpPr>
        <p:spPr>
          <a:xfrm>
            <a:off x="5865421" y="24384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dirty="0"/>
              <a:t>5.6</a:t>
            </a:r>
          </a:p>
        </p:txBody>
      </p:sp>
      <p:sp>
        <p:nvSpPr>
          <p:cNvPr id="19" name="Oval 18">
            <a:extLst>
              <a:ext uri="{FF2B5EF4-FFF2-40B4-BE49-F238E27FC236}">
                <a16:creationId xmlns:a16="http://schemas.microsoft.com/office/drawing/2014/main" id="{5C48531D-05C0-8345-980B-30952593A5D8}"/>
              </a:ext>
            </a:extLst>
          </p:cNvPr>
          <p:cNvSpPr/>
          <p:nvPr/>
        </p:nvSpPr>
        <p:spPr>
          <a:xfrm>
            <a:off x="5865421" y="30480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lang="en-US" dirty="0"/>
              <a:t>-2.4</a:t>
            </a:r>
          </a:p>
        </p:txBody>
      </p:sp>
      <p:sp>
        <p:nvSpPr>
          <p:cNvPr id="20" name="Oval 19">
            <a:extLst>
              <a:ext uri="{FF2B5EF4-FFF2-40B4-BE49-F238E27FC236}">
                <a16:creationId xmlns:a16="http://schemas.microsoft.com/office/drawing/2014/main" id="{C85BDEDA-0B29-0B48-AB49-A0443750BCFD}"/>
              </a:ext>
            </a:extLst>
          </p:cNvPr>
          <p:cNvSpPr/>
          <p:nvPr/>
        </p:nvSpPr>
        <p:spPr>
          <a:xfrm>
            <a:off x="5863442" y="36576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5.3</a:t>
            </a:r>
          </a:p>
        </p:txBody>
      </p:sp>
      <p:sp>
        <p:nvSpPr>
          <p:cNvPr id="21" name="Oval 20">
            <a:extLst>
              <a:ext uri="{FF2B5EF4-FFF2-40B4-BE49-F238E27FC236}">
                <a16:creationId xmlns:a16="http://schemas.microsoft.com/office/drawing/2014/main" id="{BE8785BA-01A9-8F40-A9A4-F3FEA11408FA}"/>
              </a:ext>
            </a:extLst>
          </p:cNvPr>
          <p:cNvSpPr/>
          <p:nvPr/>
        </p:nvSpPr>
        <p:spPr>
          <a:xfrm>
            <a:off x="5867400" y="42672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6.1</a:t>
            </a:r>
          </a:p>
        </p:txBody>
      </p:sp>
      <p:sp>
        <p:nvSpPr>
          <p:cNvPr id="22" name="Oval 21">
            <a:extLst>
              <a:ext uri="{FF2B5EF4-FFF2-40B4-BE49-F238E27FC236}">
                <a16:creationId xmlns:a16="http://schemas.microsoft.com/office/drawing/2014/main" id="{EB544E5D-9AED-0D4C-B87F-EAD417444152}"/>
              </a:ext>
            </a:extLst>
          </p:cNvPr>
          <p:cNvSpPr/>
          <p:nvPr/>
        </p:nvSpPr>
        <p:spPr>
          <a:xfrm>
            <a:off x="5867400" y="48768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7.4</a:t>
            </a:r>
          </a:p>
        </p:txBody>
      </p:sp>
      <p:sp>
        <p:nvSpPr>
          <p:cNvPr id="23" name="Oval 22">
            <a:extLst>
              <a:ext uri="{FF2B5EF4-FFF2-40B4-BE49-F238E27FC236}">
                <a16:creationId xmlns:a16="http://schemas.microsoft.com/office/drawing/2014/main" id="{F0C98CF2-6F2D-5840-8C01-71F89C11F9FF}"/>
              </a:ext>
            </a:extLst>
          </p:cNvPr>
          <p:cNvSpPr/>
          <p:nvPr/>
        </p:nvSpPr>
        <p:spPr>
          <a:xfrm>
            <a:off x="5865421" y="54864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rIns="0" rtlCol="0" anchor="ctr"/>
          <a:lstStyle/>
          <a:p>
            <a:pPr algn="ctr"/>
            <a:r>
              <a:rPr lang="en-US" dirty="0"/>
              <a:t>3</a:t>
            </a:r>
          </a:p>
        </p:txBody>
      </p:sp>
      <p:sp>
        <p:nvSpPr>
          <p:cNvPr id="24" name="Oval 23">
            <a:extLst>
              <a:ext uri="{FF2B5EF4-FFF2-40B4-BE49-F238E27FC236}">
                <a16:creationId xmlns:a16="http://schemas.microsoft.com/office/drawing/2014/main" id="{DB45B293-2C68-B645-9886-C89078196905}"/>
              </a:ext>
            </a:extLst>
          </p:cNvPr>
          <p:cNvSpPr/>
          <p:nvPr/>
        </p:nvSpPr>
        <p:spPr>
          <a:xfrm>
            <a:off x="5865421" y="18288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algn="ctr"/>
            <a:r>
              <a:rPr lang="en-US" dirty="0"/>
              <a:t>1.0</a:t>
            </a:r>
          </a:p>
        </p:txBody>
      </p:sp>
      <p:sp>
        <p:nvSpPr>
          <p:cNvPr id="25" name="Oval 24">
            <a:extLst>
              <a:ext uri="{FF2B5EF4-FFF2-40B4-BE49-F238E27FC236}">
                <a16:creationId xmlns:a16="http://schemas.microsoft.com/office/drawing/2014/main" id="{BEF37F96-B6E3-C443-B434-C702B6BBF14F}"/>
              </a:ext>
            </a:extLst>
          </p:cNvPr>
          <p:cNvSpPr/>
          <p:nvPr/>
        </p:nvSpPr>
        <p:spPr>
          <a:xfrm>
            <a:off x="5865421" y="6096000"/>
            <a:ext cx="533400" cy="533400"/>
          </a:xfrm>
          <a:prstGeom prst="ellipse">
            <a:avLst/>
          </a:prstGeom>
          <a:ln/>
        </p:spPr>
        <p:style>
          <a:lnRef idx="1">
            <a:schemeClr val="accent3"/>
          </a:lnRef>
          <a:fillRef idx="2">
            <a:schemeClr val="accent3"/>
          </a:fillRef>
          <a:effectRef idx="1">
            <a:schemeClr val="accent3"/>
          </a:effectRef>
          <a:fontRef idx="minor">
            <a:schemeClr val="dk1"/>
          </a:fontRef>
        </p:style>
        <p:txBody>
          <a:bodyPr lIns="0" rtlCol="0" anchor="ctr"/>
          <a:lstStyle/>
          <a:p>
            <a:pPr algn="ctr"/>
            <a:r>
              <a:rPr lang="en-US" dirty="0"/>
              <a:t>3.5</a:t>
            </a:r>
          </a:p>
        </p:txBody>
      </p:sp>
      <p:cxnSp>
        <p:nvCxnSpPr>
          <p:cNvPr id="27" name="Straight Connector 26">
            <a:extLst>
              <a:ext uri="{FF2B5EF4-FFF2-40B4-BE49-F238E27FC236}">
                <a16:creationId xmlns:a16="http://schemas.microsoft.com/office/drawing/2014/main" id="{DD3E3EA0-C479-AE4B-A2A9-F7E0E4FCD5EF}"/>
              </a:ext>
            </a:extLst>
          </p:cNvPr>
          <p:cNvCxnSpPr>
            <a:cxnSpLocks/>
            <a:stCxn id="13" idx="5"/>
            <a:endCxn id="15" idx="2"/>
          </p:cNvCxnSpPr>
          <p:nvPr/>
        </p:nvCxnSpPr>
        <p:spPr>
          <a:xfrm>
            <a:off x="1903085" y="2284085"/>
            <a:ext cx="1678315" cy="685736"/>
          </a:xfrm>
          <a:prstGeom prst="line">
            <a:avLst/>
          </a:prstGeom>
          <a:ln w="28575"/>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F01C6554-CAC9-DB47-B06E-9910BCA07525}"/>
              </a:ext>
            </a:extLst>
          </p:cNvPr>
          <p:cNvCxnSpPr>
            <a:cxnSpLocks/>
          </p:cNvCxnSpPr>
          <p:nvPr/>
        </p:nvCxnSpPr>
        <p:spPr>
          <a:xfrm>
            <a:off x="2017353" y="2760303"/>
            <a:ext cx="1560089" cy="249596"/>
          </a:xfrm>
          <a:prstGeom prst="line">
            <a:avLst/>
          </a:prstGeom>
          <a:ln w="28575"/>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6AB9B9E8-C680-5248-9365-F0468870FBBC}"/>
              </a:ext>
            </a:extLst>
          </p:cNvPr>
          <p:cNvCxnSpPr>
            <a:cxnSpLocks/>
            <a:endCxn id="15" idx="2"/>
          </p:cNvCxnSpPr>
          <p:nvPr/>
        </p:nvCxnSpPr>
        <p:spPr>
          <a:xfrm flipV="1">
            <a:off x="2013395" y="2969821"/>
            <a:ext cx="1568005" cy="344882"/>
          </a:xfrm>
          <a:prstGeom prst="line">
            <a:avLst/>
          </a:prstGeom>
          <a:ln w="28575"/>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0927AA7F-71CE-C44D-897C-1E3897E5D80B}"/>
              </a:ext>
            </a:extLst>
          </p:cNvPr>
          <p:cNvCxnSpPr>
            <a:cxnSpLocks/>
            <a:stCxn id="9" idx="6"/>
          </p:cNvCxnSpPr>
          <p:nvPr/>
        </p:nvCxnSpPr>
        <p:spPr>
          <a:xfrm flipV="1">
            <a:off x="1979221" y="3017521"/>
            <a:ext cx="1594263" cy="90677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08B55ED0-0B80-4C46-B835-B9E815368BA5}"/>
              </a:ext>
            </a:extLst>
          </p:cNvPr>
          <p:cNvCxnSpPr>
            <a:cxnSpLocks/>
            <a:stCxn id="10" idx="6"/>
            <a:endCxn id="15" idx="2"/>
          </p:cNvCxnSpPr>
          <p:nvPr/>
        </p:nvCxnSpPr>
        <p:spPr>
          <a:xfrm flipV="1">
            <a:off x="1983179" y="2969821"/>
            <a:ext cx="1598221" cy="1564079"/>
          </a:xfrm>
          <a:prstGeom prst="line">
            <a:avLst/>
          </a:prstGeom>
          <a:ln w="28575"/>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A0598294-3668-E846-A022-5AF29B346430}"/>
              </a:ext>
            </a:extLst>
          </p:cNvPr>
          <p:cNvCxnSpPr>
            <a:cxnSpLocks/>
            <a:stCxn id="11" idx="6"/>
          </p:cNvCxnSpPr>
          <p:nvPr/>
        </p:nvCxnSpPr>
        <p:spPr>
          <a:xfrm flipV="1">
            <a:off x="1983179" y="3040378"/>
            <a:ext cx="1589316" cy="2103122"/>
          </a:xfrm>
          <a:prstGeom prst="line">
            <a:avLst/>
          </a:prstGeom>
          <a:ln w="28575"/>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9AF17E93-717C-114B-A363-D20DEFA81EA3}"/>
              </a:ext>
            </a:extLst>
          </p:cNvPr>
          <p:cNvCxnSpPr>
            <a:cxnSpLocks/>
            <a:stCxn id="12" idx="6"/>
            <a:endCxn id="15" idx="2"/>
          </p:cNvCxnSpPr>
          <p:nvPr/>
        </p:nvCxnSpPr>
        <p:spPr>
          <a:xfrm flipV="1">
            <a:off x="1981200" y="2969821"/>
            <a:ext cx="1600200" cy="2783279"/>
          </a:xfrm>
          <a:prstGeom prst="line">
            <a:avLst/>
          </a:prstGeom>
          <a:ln w="28575"/>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DF3785BE-70E0-FD4A-A597-0F8F86E4C71A}"/>
              </a:ext>
            </a:extLst>
          </p:cNvPr>
          <p:cNvCxnSpPr>
            <a:cxnSpLocks/>
            <a:endCxn id="15" idx="2"/>
          </p:cNvCxnSpPr>
          <p:nvPr/>
        </p:nvCxnSpPr>
        <p:spPr>
          <a:xfrm flipV="1">
            <a:off x="2013395" y="2969821"/>
            <a:ext cx="1568005" cy="3385262"/>
          </a:xfrm>
          <a:prstGeom prst="line">
            <a:avLst/>
          </a:prstGeom>
          <a:ln w="28575"/>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825B194E-AF66-FD48-AC5A-D674DC6458DB}"/>
              </a:ext>
            </a:extLst>
          </p:cNvPr>
          <p:cNvCxnSpPr>
            <a:cxnSpLocks/>
            <a:stCxn id="13" idx="5"/>
            <a:endCxn id="16" idx="1"/>
          </p:cNvCxnSpPr>
          <p:nvPr/>
        </p:nvCxnSpPr>
        <p:spPr>
          <a:xfrm>
            <a:off x="1903085" y="2284085"/>
            <a:ext cx="1756430" cy="1718330"/>
          </a:xfrm>
          <a:prstGeom prst="line">
            <a:avLst/>
          </a:prstGeom>
          <a:ln w="28575"/>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9DD01029-FF5B-904A-BAAA-1D41687D60E1}"/>
              </a:ext>
            </a:extLst>
          </p:cNvPr>
          <p:cNvCxnSpPr>
            <a:cxnSpLocks/>
            <a:endCxn id="16" idx="1"/>
          </p:cNvCxnSpPr>
          <p:nvPr/>
        </p:nvCxnSpPr>
        <p:spPr>
          <a:xfrm>
            <a:off x="1985158" y="2771700"/>
            <a:ext cx="1674357" cy="1230715"/>
          </a:xfrm>
          <a:prstGeom prst="line">
            <a:avLst/>
          </a:prstGeom>
          <a:ln w="28575"/>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D69EAF91-AF65-7449-81D4-6E69506E7ED0}"/>
              </a:ext>
            </a:extLst>
          </p:cNvPr>
          <p:cNvCxnSpPr>
            <a:cxnSpLocks/>
            <a:endCxn id="16" idx="1"/>
          </p:cNvCxnSpPr>
          <p:nvPr/>
        </p:nvCxnSpPr>
        <p:spPr>
          <a:xfrm>
            <a:off x="2015374" y="3322320"/>
            <a:ext cx="1644141" cy="680095"/>
          </a:xfrm>
          <a:prstGeom prst="line">
            <a:avLst/>
          </a:prstGeom>
          <a:ln w="28575"/>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98471BCB-43C3-F54E-AC06-888020A6DEF8}"/>
              </a:ext>
            </a:extLst>
          </p:cNvPr>
          <p:cNvCxnSpPr>
            <a:cxnSpLocks/>
            <a:stCxn id="9" idx="6"/>
            <a:endCxn id="16" idx="1"/>
          </p:cNvCxnSpPr>
          <p:nvPr/>
        </p:nvCxnSpPr>
        <p:spPr>
          <a:xfrm>
            <a:off x="1979221" y="3924300"/>
            <a:ext cx="1680294" cy="7811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C7450171-6F98-294E-B819-3BCCDC274A74}"/>
              </a:ext>
            </a:extLst>
          </p:cNvPr>
          <p:cNvCxnSpPr>
            <a:cxnSpLocks/>
            <a:endCxn id="16" idx="1"/>
          </p:cNvCxnSpPr>
          <p:nvPr/>
        </p:nvCxnSpPr>
        <p:spPr>
          <a:xfrm flipV="1">
            <a:off x="2007458" y="4002415"/>
            <a:ext cx="1652057" cy="530528"/>
          </a:xfrm>
          <a:prstGeom prst="line">
            <a:avLst/>
          </a:prstGeom>
          <a:ln w="28575"/>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A9231821-C0FC-3D4E-8209-6CE8958D439F}"/>
              </a:ext>
            </a:extLst>
          </p:cNvPr>
          <p:cNvCxnSpPr>
            <a:cxnSpLocks/>
            <a:stCxn id="11" idx="6"/>
            <a:endCxn id="16" idx="1"/>
          </p:cNvCxnSpPr>
          <p:nvPr/>
        </p:nvCxnSpPr>
        <p:spPr>
          <a:xfrm flipV="1">
            <a:off x="1983179" y="4002415"/>
            <a:ext cx="1676336" cy="1141085"/>
          </a:xfrm>
          <a:prstGeom prst="line">
            <a:avLst/>
          </a:prstGeom>
          <a:ln w="28575"/>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340E5CF9-4B90-E042-9382-4392634B1350}"/>
              </a:ext>
            </a:extLst>
          </p:cNvPr>
          <p:cNvCxnSpPr>
            <a:cxnSpLocks/>
            <a:stCxn id="12" idx="6"/>
            <a:endCxn id="16" idx="1"/>
          </p:cNvCxnSpPr>
          <p:nvPr/>
        </p:nvCxnSpPr>
        <p:spPr>
          <a:xfrm flipV="1">
            <a:off x="1981200" y="4002415"/>
            <a:ext cx="1678315" cy="1750685"/>
          </a:xfrm>
          <a:prstGeom prst="line">
            <a:avLst/>
          </a:prstGeom>
          <a:ln w="28575"/>
        </p:spPr>
        <p:style>
          <a:lnRef idx="1">
            <a:schemeClr val="dk1"/>
          </a:lnRef>
          <a:fillRef idx="0">
            <a:schemeClr val="dk1"/>
          </a:fillRef>
          <a:effectRef idx="0">
            <a:schemeClr val="dk1"/>
          </a:effectRef>
          <a:fontRef idx="minor">
            <a:schemeClr val="tx1"/>
          </a:fontRef>
        </p:style>
      </p:cxnSp>
      <p:cxnSp>
        <p:nvCxnSpPr>
          <p:cNvPr id="72" name="Straight Connector 71">
            <a:extLst>
              <a:ext uri="{FF2B5EF4-FFF2-40B4-BE49-F238E27FC236}">
                <a16:creationId xmlns:a16="http://schemas.microsoft.com/office/drawing/2014/main" id="{FFD42355-850B-AE41-83A6-9E363D9EA07E}"/>
              </a:ext>
            </a:extLst>
          </p:cNvPr>
          <p:cNvCxnSpPr>
            <a:cxnSpLocks/>
            <a:endCxn id="16" idx="1"/>
          </p:cNvCxnSpPr>
          <p:nvPr/>
        </p:nvCxnSpPr>
        <p:spPr>
          <a:xfrm flipV="1">
            <a:off x="2009437" y="4002415"/>
            <a:ext cx="1650078" cy="2352666"/>
          </a:xfrm>
          <a:prstGeom prst="line">
            <a:avLst/>
          </a:prstGeom>
          <a:ln w="28575"/>
        </p:spPr>
        <p:style>
          <a:lnRef idx="1">
            <a:schemeClr val="dk1"/>
          </a:lnRef>
          <a:fillRef idx="0">
            <a:schemeClr val="dk1"/>
          </a:fillRef>
          <a:effectRef idx="0">
            <a:schemeClr val="dk1"/>
          </a:effectRef>
          <a:fontRef idx="minor">
            <a:schemeClr val="tx1"/>
          </a:fontRef>
        </p:style>
      </p:cxnSp>
      <p:cxnSp>
        <p:nvCxnSpPr>
          <p:cNvPr id="75" name="Straight Connector 74">
            <a:extLst>
              <a:ext uri="{FF2B5EF4-FFF2-40B4-BE49-F238E27FC236}">
                <a16:creationId xmlns:a16="http://schemas.microsoft.com/office/drawing/2014/main" id="{B7EB380F-C9BF-0842-95F4-1848117705A6}"/>
              </a:ext>
            </a:extLst>
          </p:cNvPr>
          <p:cNvCxnSpPr>
            <a:cxnSpLocks/>
            <a:stCxn id="13" idx="5"/>
            <a:endCxn id="17" idx="1"/>
          </p:cNvCxnSpPr>
          <p:nvPr/>
        </p:nvCxnSpPr>
        <p:spPr>
          <a:xfrm>
            <a:off x="1903085" y="2284085"/>
            <a:ext cx="1756430" cy="2899430"/>
          </a:xfrm>
          <a:prstGeom prst="line">
            <a:avLst/>
          </a:prstGeom>
          <a:ln w="28575"/>
        </p:spPr>
        <p:style>
          <a:lnRef idx="1">
            <a:schemeClr val="dk1"/>
          </a:lnRef>
          <a:fillRef idx="0">
            <a:schemeClr val="dk1"/>
          </a:fillRef>
          <a:effectRef idx="0">
            <a:schemeClr val="dk1"/>
          </a:effectRef>
          <a:fontRef idx="minor">
            <a:schemeClr val="tx1"/>
          </a:fontRef>
        </p:style>
      </p:cxnSp>
      <p:cxnSp>
        <p:nvCxnSpPr>
          <p:cNvPr id="78" name="Straight Connector 77">
            <a:extLst>
              <a:ext uri="{FF2B5EF4-FFF2-40B4-BE49-F238E27FC236}">
                <a16:creationId xmlns:a16="http://schemas.microsoft.com/office/drawing/2014/main" id="{5002F88C-127F-4B46-942B-1D1B6DF0DDB5}"/>
              </a:ext>
            </a:extLst>
          </p:cNvPr>
          <p:cNvCxnSpPr>
            <a:cxnSpLocks/>
            <a:endCxn id="17" idx="1"/>
          </p:cNvCxnSpPr>
          <p:nvPr/>
        </p:nvCxnSpPr>
        <p:spPr>
          <a:xfrm>
            <a:off x="2009437" y="2817964"/>
            <a:ext cx="1650078" cy="2365551"/>
          </a:xfrm>
          <a:prstGeom prst="line">
            <a:avLst/>
          </a:prstGeom>
          <a:ln w="28575"/>
        </p:spPr>
        <p:style>
          <a:lnRef idx="1">
            <a:schemeClr val="dk1"/>
          </a:lnRef>
          <a:fillRef idx="0">
            <a:schemeClr val="dk1"/>
          </a:fillRef>
          <a:effectRef idx="0">
            <a:schemeClr val="dk1"/>
          </a:effectRef>
          <a:fontRef idx="minor">
            <a:schemeClr val="tx1"/>
          </a:fontRef>
        </p:style>
      </p:cxnSp>
      <p:cxnSp>
        <p:nvCxnSpPr>
          <p:cNvPr id="81" name="Straight Connector 80">
            <a:extLst>
              <a:ext uri="{FF2B5EF4-FFF2-40B4-BE49-F238E27FC236}">
                <a16:creationId xmlns:a16="http://schemas.microsoft.com/office/drawing/2014/main" id="{D559DD3A-2B0C-C04F-88B9-065B32D32C37}"/>
              </a:ext>
            </a:extLst>
          </p:cNvPr>
          <p:cNvCxnSpPr>
            <a:cxnSpLocks/>
            <a:endCxn id="17" idx="1"/>
          </p:cNvCxnSpPr>
          <p:nvPr/>
        </p:nvCxnSpPr>
        <p:spPr>
          <a:xfrm>
            <a:off x="2009437" y="3322320"/>
            <a:ext cx="1650078" cy="1861195"/>
          </a:xfrm>
          <a:prstGeom prst="line">
            <a:avLst/>
          </a:prstGeom>
          <a:ln w="28575"/>
        </p:spPr>
        <p:style>
          <a:lnRef idx="1">
            <a:schemeClr val="dk1"/>
          </a:lnRef>
          <a:fillRef idx="0">
            <a:schemeClr val="dk1"/>
          </a:fillRef>
          <a:effectRef idx="0">
            <a:schemeClr val="dk1"/>
          </a:effectRef>
          <a:fontRef idx="minor">
            <a:schemeClr val="tx1"/>
          </a:fontRef>
        </p:style>
      </p:cxnSp>
      <p:cxnSp>
        <p:nvCxnSpPr>
          <p:cNvPr id="84" name="Straight Connector 83">
            <a:extLst>
              <a:ext uri="{FF2B5EF4-FFF2-40B4-BE49-F238E27FC236}">
                <a16:creationId xmlns:a16="http://schemas.microsoft.com/office/drawing/2014/main" id="{9C2FCB5F-C58E-8742-94E7-20E6D3B434C1}"/>
              </a:ext>
            </a:extLst>
          </p:cNvPr>
          <p:cNvCxnSpPr>
            <a:cxnSpLocks/>
            <a:stCxn id="9" idx="6"/>
            <a:endCxn id="17" idx="1"/>
          </p:cNvCxnSpPr>
          <p:nvPr/>
        </p:nvCxnSpPr>
        <p:spPr>
          <a:xfrm>
            <a:off x="1979221" y="3924300"/>
            <a:ext cx="1680294" cy="125921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7" name="Straight Connector 86">
            <a:extLst>
              <a:ext uri="{FF2B5EF4-FFF2-40B4-BE49-F238E27FC236}">
                <a16:creationId xmlns:a16="http://schemas.microsoft.com/office/drawing/2014/main" id="{3B21A8BD-05E0-1B43-A4F8-62FF7028DDDB}"/>
              </a:ext>
            </a:extLst>
          </p:cNvPr>
          <p:cNvCxnSpPr>
            <a:cxnSpLocks/>
            <a:endCxn id="17" idx="1"/>
          </p:cNvCxnSpPr>
          <p:nvPr/>
        </p:nvCxnSpPr>
        <p:spPr>
          <a:xfrm>
            <a:off x="2017353" y="4532943"/>
            <a:ext cx="1642162" cy="650572"/>
          </a:xfrm>
          <a:prstGeom prst="line">
            <a:avLst/>
          </a:prstGeom>
          <a:ln w="28575"/>
        </p:spPr>
        <p:style>
          <a:lnRef idx="1">
            <a:schemeClr val="dk1"/>
          </a:lnRef>
          <a:fillRef idx="0">
            <a:schemeClr val="dk1"/>
          </a:fillRef>
          <a:effectRef idx="0">
            <a:schemeClr val="dk1"/>
          </a:effectRef>
          <a:fontRef idx="minor">
            <a:schemeClr val="tx1"/>
          </a:fontRef>
        </p:style>
      </p:cxnSp>
      <p:cxnSp>
        <p:nvCxnSpPr>
          <p:cNvPr id="90" name="Straight Connector 89">
            <a:extLst>
              <a:ext uri="{FF2B5EF4-FFF2-40B4-BE49-F238E27FC236}">
                <a16:creationId xmlns:a16="http://schemas.microsoft.com/office/drawing/2014/main" id="{A2DEFA17-6869-DD4A-892B-DB71F8944EE3}"/>
              </a:ext>
            </a:extLst>
          </p:cNvPr>
          <p:cNvCxnSpPr>
            <a:cxnSpLocks/>
            <a:endCxn id="17" idx="1"/>
          </p:cNvCxnSpPr>
          <p:nvPr/>
        </p:nvCxnSpPr>
        <p:spPr>
          <a:xfrm>
            <a:off x="2015374" y="5143022"/>
            <a:ext cx="1644141" cy="40493"/>
          </a:xfrm>
          <a:prstGeom prst="line">
            <a:avLst/>
          </a:prstGeom>
          <a:ln w="28575"/>
        </p:spPr>
        <p:style>
          <a:lnRef idx="1">
            <a:schemeClr val="dk1"/>
          </a:lnRef>
          <a:fillRef idx="0">
            <a:schemeClr val="dk1"/>
          </a:fillRef>
          <a:effectRef idx="0">
            <a:schemeClr val="dk1"/>
          </a:effectRef>
          <a:fontRef idx="minor">
            <a:schemeClr val="tx1"/>
          </a:fontRef>
        </p:style>
      </p:cxnSp>
      <p:cxnSp>
        <p:nvCxnSpPr>
          <p:cNvPr id="93" name="Straight Connector 92">
            <a:extLst>
              <a:ext uri="{FF2B5EF4-FFF2-40B4-BE49-F238E27FC236}">
                <a16:creationId xmlns:a16="http://schemas.microsoft.com/office/drawing/2014/main" id="{33EBA30B-F746-234E-8095-F36CD9CFEDD1}"/>
              </a:ext>
            </a:extLst>
          </p:cNvPr>
          <p:cNvCxnSpPr>
            <a:cxnSpLocks/>
            <a:endCxn id="17" idx="1"/>
          </p:cNvCxnSpPr>
          <p:nvPr/>
        </p:nvCxnSpPr>
        <p:spPr>
          <a:xfrm flipV="1">
            <a:off x="1987137" y="5183515"/>
            <a:ext cx="1672378" cy="549340"/>
          </a:xfrm>
          <a:prstGeom prst="line">
            <a:avLst/>
          </a:prstGeom>
          <a:ln w="28575"/>
        </p:spPr>
        <p:style>
          <a:lnRef idx="1">
            <a:schemeClr val="dk1"/>
          </a:lnRef>
          <a:fillRef idx="0">
            <a:schemeClr val="dk1"/>
          </a:fillRef>
          <a:effectRef idx="0">
            <a:schemeClr val="dk1"/>
          </a:effectRef>
          <a:fontRef idx="minor">
            <a:schemeClr val="tx1"/>
          </a:fontRef>
        </p:style>
      </p:cxnSp>
      <p:cxnSp>
        <p:nvCxnSpPr>
          <p:cNvPr id="96" name="Straight Connector 95">
            <a:extLst>
              <a:ext uri="{FF2B5EF4-FFF2-40B4-BE49-F238E27FC236}">
                <a16:creationId xmlns:a16="http://schemas.microsoft.com/office/drawing/2014/main" id="{C3F4262C-798D-B145-8790-D0AB85D7C565}"/>
              </a:ext>
            </a:extLst>
          </p:cNvPr>
          <p:cNvCxnSpPr>
            <a:cxnSpLocks/>
            <a:endCxn id="17" idx="1"/>
          </p:cNvCxnSpPr>
          <p:nvPr/>
        </p:nvCxnSpPr>
        <p:spPr>
          <a:xfrm flipV="1">
            <a:off x="1987137" y="5183515"/>
            <a:ext cx="1672378" cy="1178708"/>
          </a:xfrm>
          <a:prstGeom prst="line">
            <a:avLst/>
          </a:prstGeom>
          <a:ln w="28575"/>
        </p:spPr>
        <p:style>
          <a:lnRef idx="1">
            <a:schemeClr val="dk1"/>
          </a:lnRef>
          <a:fillRef idx="0">
            <a:schemeClr val="dk1"/>
          </a:fillRef>
          <a:effectRef idx="0">
            <a:schemeClr val="dk1"/>
          </a:effectRef>
          <a:fontRef idx="minor">
            <a:schemeClr val="tx1"/>
          </a:fontRef>
        </p:style>
      </p:cxnSp>
      <p:cxnSp>
        <p:nvCxnSpPr>
          <p:cNvPr id="133" name="Straight Connector 132">
            <a:extLst>
              <a:ext uri="{FF2B5EF4-FFF2-40B4-BE49-F238E27FC236}">
                <a16:creationId xmlns:a16="http://schemas.microsoft.com/office/drawing/2014/main" id="{59E3FBCE-1889-E047-8EB5-E03741D3B3C9}"/>
              </a:ext>
            </a:extLst>
          </p:cNvPr>
          <p:cNvCxnSpPr>
            <a:cxnSpLocks/>
            <a:endCxn id="24" idx="2"/>
          </p:cNvCxnSpPr>
          <p:nvPr/>
        </p:nvCxnSpPr>
        <p:spPr>
          <a:xfrm flipV="1">
            <a:off x="4107012" y="2095500"/>
            <a:ext cx="1758409" cy="874682"/>
          </a:xfrm>
          <a:prstGeom prst="line">
            <a:avLst/>
          </a:prstGeom>
          <a:ln w="28575"/>
        </p:spPr>
        <p:style>
          <a:lnRef idx="1">
            <a:schemeClr val="dk1"/>
          </a:lnRef>
          <a:fillRef idx="0">
            <a:schemeClr val="dk1"/>
          </a:fillRef>
          <a:effectRef idx="0">
            <a:schemeClr val="dk1"/>
          </a:effectRef>
          <a:fontRef idx="minor">
            <a:schemeClr val="tx1"/>
          </a:fontRef>
        </p:style>
      </p:cxnSp>
      <p:cxnSp>
        <p:nvCxnSpPr>
          <p:cNvPr id="135" name="Straight Connector 134">
            <a:extLst>
              <a:ext uri="{FF2B5EF4-FFF2-40B4-BE49-F238E27FC236}">
                <a16:creationId xmlns:a16="http://schemas.microsoft.com/office/drawing/2014/main" id="{B5727415-039A-2448-9199-2E57DCBD9AC0}"/>
              </a:ext>
            </a:extLst>
          </p:cNvPr>
          <p:cNvCxnSpPr>
            <a:cxnSpLocks/>
            <a:endCxn id="18" idx="2"/>
          </p:cNvCxnSpPr>
          <p:nvPr/>
        </p:nvCxnSpPr>
        <p:spPr>
          <a:xfrm flipV="1">
            <a:off x="4118758" y="2705100"/>
            <a:ext cx="1746663" cy="263652"/>
          </a:xfrm>
          <a:prstGeom prst="line">
            <a:avLst/>
          </a:prstGeom>
          <a:ln w="28575"/>
        </p:spPr>
        <p:style>
          <a:lnRef idx="1">
            <a:schemeClr val="dk1"/>
          </a:lnRef>
          <a:fillRef idx="0">
            <a:schemeClr val="dk1"/>
          </a:fillRef>
          <a:effectRef idx="0">
            <a:schemeClr val="dk1"/>
          </a:effectRef>
          <a:fontRef idx="minor">
            <a:schemeClr val="tx1"/>
          </a:fontRef>
        </p:style>
      </p:cxnSp>
      <p:cxnSp>
        <p:nvCxnSpPr>
          <p:cNvPr id="138" name="Straight Connector 137">
            <a:extLst>
              <a:ext uri="{FF2B5EF4-FFF2-40B4-BE49-F238E27FC236}">
                <a16:creationId xmlns:a16="http://schemas.microsoft.com/office/drawing/2014/main" id="{818BC6C0-2071-A24E-A718-DE477817BA04}"/>
              </a:ext>
            </a:extLst>
          </p:cNvPr>
          <p:cNvCxnSpPr>
            <a:cxnSpLocks/>
            <a:endCxn id="19" idx="2"/>
          </p:cNvCxnSpPr>
          <p:nvPr/>
        </p:nvCxnSpPr>
        <p:spPr>
          <a:xfrm>
            <a:off x="4118758" y="2999232"/>
            <a:ext cx="1746663" cy="315468"/>
          </a:xfrm>
          <a:prstGeom prst="line">
            <a:avLst/>
          </a:prstGeom>
          <a:ln w="28575"/>
        </p:spPr>
        <p:style>
          <a:lnRef idx="1">
            <a:schemeClr val="dk1"/>
          </a:lnRef>
          <a:fillRef idx="0">
            <a:schemeClr val="dk1"/>
          </a:fillRef>
          <a:effectRef idx="0">
            <a:schemeClr val="dk1"/>
          </a:effectRef>
          <a:fontRef idx="minor">
            <a:schemeClr val="tx1"/>
          </a:fontRef>
        </p:style>
      </p:cxnSp>
      <p:cxnSp>
        <p:nvCxnSpPr>
          <p:cNvPr id="141" name="Straight Connector 140">
            <a:extLst>
              <a:ext uri="{FF2B5EF4-FFF2-40B4-BE49-F238E27FC236}">
                <a16:creationId xmlns:a16="http://schemas.microsoft.com/office/drawing/2014/main" id="{B9B1CDC6-7E14-0C43-9CCE-DDF9538FCA6A}"/>
              </a:ext>
            </a:extLst>
          </p:cNvPr>
          <p:cNvCxnSpPr>
            <a:cxnSpLocks/>
            <a:stCxn id="15" idx="6"/>
            <a:endCxn id="20" idx="2"/>
          </p:cNvCxnSpPr>
          <p:nvPr/>
        </p:nvCxnSpPr>
        <p:spPr>
          <a:xfrm>
            <a:off x="4114800" y="2969821"/>
            <a:ext cx="1748642" cy="954479"/>
          </a:xfrm>
          <a:prstGeom prst="line">
            <a:avLst/>
          </a:prstGeom>
          <a:ln w="28575"/>
        </p:spPr>
        <p:style>
          <a:lnRef idx="1">
            <a:schemeClr val="dk1"/>
          </a:lnRef>
          <a:fillRef idx="0">
            <a:schemeClr val="dk1"/>
          </a:fillRef>
          <a:effectRef idx="0">
            <a:schemeClr val="dk1"/>
          </a:effectRef>
          <a:fontRef idx="minor">
            <a:schemeClr val="tx1"/>
          </a:fontRef>
        </p:style>
      </p:cxnSp>
      <p:cxnSp>
        <p:nvCxnSpPr>
          <p:cNvPr id="145" name="Straight Connector 144">
            <a:extLst>
              <a:ext uri="{FF2B5EF4-FFF2-40B4-BE49-F238E27FC236}">
                <a16:creationId xmlns:a16="http://schemas.microsoft.com/office/drawing/2014/main" id="{AA18D6E2-DE37-F040-8002-761744537496}"/>
              </a:ext>
            </a:extLst>
          </p:cNvPr>
          <p:cNvCxnSpPr>
            <a:cxnSpLocks/>
            <a:stCxn id="15" idx="6"/>
            <a:endCxn id="21" idx="2"/>
          </p:cNvCxnSpPr>
          <p:nvPr/>
        </p:nvCxnSpPr>
        <p:spPr>
          <a:xfrm>
            <a:off x="4114800" y="2969821"/>
            <a:ext cx="1752600" cy="1564079"/>
          </a:xfrm>
          <a:prstGeom prst="line">
            <a:avLst/>
          </a:prstGeom>
          <a:ln w="28575"/>
        </p:spPr>
        <p:style>
          <a:lnRef idx="1">
            <a:schemeClr val="dk1"/>
          </a:lnRef>
          <a:fillRef idx="0">
            <a:schemeClr val="dk1"/>
          </a:fillRef>
          <a:effectRef idx="0">
            <a:schemeClr val="dk1"/>
          </a:effectRef>
          <a:fontRef idx="minor">
            <a:schemeClr val="tx1"/>
          </a:fontRef>
        </p:style>
      </p:cxnSp>
      <p:cxnSp>
        <p:nvCxnSpPr>
          <p:cNvPr id="148" name="Straight Connector 147">
            <a:extLst>
              <a:ext uri="{FF2B5EF4-FFF2-40B4-BE49-F238E27FC236}">
                <a16:creationId xmlns:a16="http://schemas.microsoft.com/office/drawing/2014/main" id="{09600B10-7575-2D43-8D58-0C92EF63F6B2}"/>
              </a:ext>
            </a:extLst>
          </p:cNvPr>
          <p:cNvCxnSpPr>
            <a:cxnSpLocks/>
            <a:stCxn id="15" idx="6"/>
            <a:endCxn id="22" idx="2"/>
          </p:cNvCxnSpPr>
          <p:nvPr/>
        </p:nvCxnSpPr>
        <p:spPr>
          <a:xfrm>
            <a:off x="4114800" y="2969821"/>
            <a:ext cx="1752600" cy="2173679"/>
          </a:xfrm>
          <a:prstGeom prst="line">
            <a:avLst/>
          </a:prstGeom>
          <a:ln w="28575"/>
        </p:spPr>
        <p:style>
          <a:lnRef idx="1">
            <a:schemeClr val="dk1"/>
          </a:lnRef>
          <a:fillRef idx="0">
            <a:schemeClr val="dk1"/>
          </a:fillRef>
          <a:effectRef idx="0">
            <a:schemeClr val="dk1"/>
          </a:effectRef>
          <a:fontRef idx="minor">
            <a:schemeClr val="tx1"/>
          </a:fontRef>
        </p:style>
      </p:cxnSp>
      <p:cxnSp>
        <p:nvCxnSpPr>
          <p:cNvPr id="151" name="Straight Connector 150">
            <a:extLst>
              <a:ext uri="{FF2B5EF4-FFF2-40B4-BE49-F238E27FC236}">
                <a16:creationId xmlns:a16="http://schemas.microsoft.com/office/drawing/2014/main" id="{A95BDE5A-9779-A542-AF26-5F7ADC0484B3}"/>
              </a:ext>
            </a:extLst>
          </p:cNvPr>
          <p:cNvCxnSpPr>
            <a:cxnSpLocks/>
            <a:stCxn id="15" idx="6"/>
            <a:endCxn id="23" idx="2"/>
          </p:cNvCxnSpPr>
          <p:nvPr/>
        </p:nvCxnSpPr>
        <p:spPr>
          <a:xfrm>
            <a:off x="4114800" y="2969821"/>
            <a:ext cx="1750621" cy="2783279"/>
          </a:xfrm>
          <a:prstGeom prst="line">
            <a:avLst/>
          </a:prstGeom>
          <a:ln w="28575"/>
        </p:spPr>
        <p:style>
          <a:lnRef idx="1">
            <a:schemeClr val="dk1"/>
          </a:lnRef>
          <a:fillRef idx="0">
            <a:schemeClr val="dk1"/>
          </a:fillRef>
          <a:effectRef idx="0">
            <a:schemeClr val="dk1"/>
          </a:effectRef>
          <a:fontRef idx="minor">
            <a:schemeClr val="tx1"/>
          </a:fontRef>
        </p:style>
      </p:cxnSp>
      <p:cxnSp>
        <p:nvCxnSpPr>
          <p:cNvPr id="154" name="Straight Connector 153">
            <a:extLst>
              <a:ext uri="{FF2B5EF4-FFF2-40B4-BE49-F238E27FC236}">
                <a16:creationId xmlns:a16="http://schemas.microsoft.com/office/drawing/2014/main" id="{587368D1-F990-D944-BA26-0CC51A917895}"/>
              </a:ext>
            </a:extLst>
          </p:cNvPr>
          <p:cNvCxnSpPr>
            <a:cxnSpLocks/>
            <a:endCxn id="25" idx="2"/>
          </p:cNvCxnSpPr>
          <p:nvPr/>
        </p:nvCxnSpPr>
        <p:spPr>
          <a:xfrm>
            <a:off x="4117768" y="2996184"/>
            <a:ext cx="1747653" cy="3366516"/>
          </a:xfrm>
          <a:prstGeom prst="line">
            <a:avLst/>
          </a:prstGeom>
          <a:ln w="28575"/>
        </p:spPr>
        <p:style>
          <a:lnRef idx="1">
            <a:schemeClr val="dk1"/>
          </a:lnRef>
          <a:fillRef idx="0">
            <a:schemeClr val="dk1"/>
          </a:fillRef>
          <a:effectRef idx="0">
            <a:schemeClr val="dk1"/>
          </a:effectRef>
          <a:fontRef idx="minor">
            <a:schemeClr val="tx1"/>
          </a:fontRef>
        </p:style>
      </p:cxnSp>
      <p:cxnSp>
        <p:nvCxnSpPr>
          <p:cNvPr id="157" name="Straight Connector 156">
            <a:extLst>
              <a:ext uri="{FF2B5EF4-FFF2-40B4-BE49-F238E27FC236}">
                <a16:creationId xmlns:a16="http://schemas.microsoft.com/office/drawing/2014/main" id="{1EBDECDF-52DC-0A4D-9BA4-BB4AA08C8B98}"/>
              </a:ext>
            </a:extLst>
          </p:cNvPr>
          <p:cNvCxnSpPr>
            <a:cxnSpLocks/>
          </p:cNvCxnSpPr>
          <p:nvPr/>
        </p:nvCxnSpPr>
        <p:spPr>
          <a:xfrm flipV="1">
            <a:off x="4117768" y="2123384"/>
            <a:ext cx="1742706" cy="1968555"/>
          </a:xfrm>
          <a:prstGeom prst="line">
            <a:avLst/>
          </a:prstGeom>
          <a:ln w="28575"/>
        </p:spPr>
        <p:style>
          <a:lnRef idx="1">
            <a:schemeClr val="dk1"/>
          </a:lnRef>
          <a:fillRef idx="0">
            <a:schemeClr val="dk1"/>
          </a:fillRef>
          <a:effectRef idx="0">
            <a:schemeClr val="dk1"/>
          </a:effectRef>
          <a:fontRef idx="minor">
            <a:schemeClr val="tx1"/>
          </a:fontRef>
        </p:style>
      </p:cxnSp>
      <p:cxnSp>
        <p:nvCxnSpPr>
          <p:cNvPr id="160" name="Straight Connector 159">
            <a:extLst>
              <a:ext uri="{FF2B5EF4-FFF2-40B4-BE49-F238E27FC236}">
                <a16:creationId xmlns:a16="http://schemas.microsoft.com/office/drawing/2014/main" id="{3FF110E6-2EB0-564C-AB9B-4D999D58F9D4}"/>
              </a:ext>
            </a:extLst>
          </p:cNvPr>
          <p:cNvCxnSpPr>
            <a:cxnSpLocks/>
            <a:endCxn id="18" idx="2"/>
          </p:cNvCxnSpPr>
          <p:nvPr/>
        </p:nvCxnSpPr>
        <p:spPr>
          <a:xfrm flipV="1">
            <a:off x="4108894" y="2705100"/>
            <a:ext cx="1756527" cy="1386840"/>
          </a:xfrm>
          <a:prstGeom prst="line">
            <a:avLst/>
          </a:prstGeom>
          <a:ln w="28575"/>
        </p:spPr>
        <p:style>
          <a:lnRef idx="1">
            <a:schemeClr val="dk1"/>
          </a:lnRef>
          <a:fillRef idx="0">
            <a:schemeClr val="dk1"/>
          </a:fillRef>
          <a:effectRef idx="0">
            <a:schemeClr val="dk1"/>
          </a:effectRef>
          <a:fontRef idx="minor">
            <a:schemeClr val="tx1"/>
          </a:fontRef>
        </p:style>
      </p:cxnSp>
      <p:cxnSp>
        <p:nvCxnSpPr>
          <p:cNvPr id="165" name="Straight Connector 164">
            <a:extLst>
              <a:ext uri="{FF2B5EF4-FFF2-40B4-BE49-F238E27FC236}">
                <a16:creationId xmlns:a16="http://schemas.microsoft.com/office/drawing/2014/main" id="{EB50F085-577A-434F-8E0E-516959178510}"/>
              </a:ext>
            </a:extLst>
          </p:cNvPr>
          <p:cNvCxnSpPr>
            <a:cxnSpLocks/>
            <a:endCxn id="19" idx="2"/>
          </p:cNvCxnSpPr>
          <p:nvPr/>
        </p:nvCxnSpPr>
        <p:spPr>
          <a:xfrm flipV="1">
            <a:off x="4122716" y="3314700"/>
            <a:ext cx="1742705" cy="773430"/>
          </a:xfrm>
          <a:prstGeom prst="line">
            <a:avLst/>
          </a:prstGeom>
          <a:ln w="28575"/>
        </p:spPr>
        <p:style>
          <a:lnRef idx="1">
            <a:schemeClr val="dk1"/>
          </a:lnRef>
          <a:fillRef idx="0">
            <a:schemeClr val="dk1"/>
          </a:fillRef>
          <a:effectRef idx="0">
            <a:schemeClr val="dk1"/>
          </a:effectRef>
          <a:fontRef idx="minor">
            <a:schemeClr val="tx1"/>
          </a:fontRef>
        </p:style>
      </p:cxnSp>
      <p:cxnSp>
        <p:nvCxnSpPr>
          <p:cNvPr id="168" name="Straight Connector 167">
            <a:extLst>
              <a:ext uri="{FF2B5EF4-FFF2-40B4-BE49-F238E27FC236}">
                <a16:creationId xmlns:a16="http://schemas.microsoft.com/office/drawing/2014/main" id="{D786C8DE-B75C-2442-BAC4-27A6C4AB4EE9}"/>
              </a:ext>
            </a:extLst>
          </p:cNvPr>
          <p:cNvCxnSpPr>
            <a:cxnSpLocks/>
            <a:endCxn id="20" idx="2"/>
          </p:cNvCxnSpPr>
          <p:nvPr/>
        </p:nvCxnSpPr>
        <p:spPr>
          <a:xfrm flipV="1">
            <a:off x="4117768" y="3924300"/>
            <a:ext cx="1745674" cy="163830"/>
          </a:xfrm>
          <a:prstGeom prst="line">
            <a:avLst/>
          </a:prstGeom>
          <a:ln w="28575"/>
        </p:spPr>
        <p:style>
          <a:lnRef idx="1">
            <a:schemeClr val="dk1"/>
          </a:lnRef>
          <a:fillRef idx="0">
            <a:schemeClr val="dk1"/>
          </a:fillRef>
          <a:effectRef idx="0">
            <a:schemeClr val="dk1"/>
          </a:effectRef>
          <a:fontRef idx="minor">
            <a:schemeClr val="tx1"/>
          </a:fontRef>
        </p:style>
      </p:cxnSp>
      <p:cxnSp>
        <p:nvCxnSpPr>
          <p:cNvPr id="171" name="Straight Connector 170">
            <a:extLst>
              <a:ext uri="{FF2B5EF4-FFF2-40B4-BE49-F238E27FC236}">
                <a16:creationId xmlns:a16="http://schemas.microsoft.com/office/drawing/2014/main" id="{3DB0A451-42CF-C142-A193-4F7D3E8CCF08}"/>
              </a:ext>
            </a:extLst>
          </p:cNvPr>
          <p:cNvCxnSpPr>
            <a:cxnSpLocks/>
            <a:endCxn id="21" idx="2"/>
          </p:cNvCxnSpPr>
          <p:nvPr/>
        </p:nvCxnSpPr>
        <p:spPr>
          <a:xfrm>
            <a:off x="4123674" y="4088130"/>
            <a:ext cx="1743726" cy="445770"/>
          </a:xfrm>
          <a:prstGeom prst="line">
            <a:avLst/>
          </a:prstGeom>
          <a:ln w="28575"/>
        </p:spPr>
        <p:style>
          <a:lnRef idx="1">
            <a:schemeClr val="dk1"/>
          </a:lnRef>
          <a:fillRef idx="0">
            <a:schemeClr val="dk1"/>
          </a:fillRef>
          <a:effectRef idx="0">
            <a:schemeClr val="dk1"/>
          </a:effectRef>
          <a:fontRef idx="minor">
            <a:schemeClr val="tx1"/>
          </a:fontRef>
        </p:style>
      </p:cxnSp>
      <p:cxnSp>
        <p:nvCxnSpPr>
          <p:cNvPr id="174" name="Straight Connector 173">
            <a:extLst>
              <a:ext uri="{FF2B5EF4-FFF2-40B4-BE49-F238E27FC236}">
                <a16:creationId xmlns:a16="http://schemas.microsoft.com/office/drawing/2014/main" id="{06B6CE7C-5BDE-4A44-B96A-724BDFA0EA5F}"/>
              </a:ext>
            </a:extLst>
          </p:cNvPr>
          <p:cNvCxnSpPr>
            <a:cxnSpLocks/>
            <a:endCxn id="22" idx="2"/>
          </p:cNvCxnSpPr>
          <p:nvPr/>
        </p:nvCxnSpPr>
        <p:spPr>
          <a:xfrm>
            <a:off x="4122716" y="4076699"/>
            <a:ext cx="1744684" cy="1066801"/>
          </a:xfrm>
          <a:prstGeom prst="line">
            <a:avLst/>
          </a:prstGeom>
          <a:ln w="28575"/>
        </p:spPr>
        <p:style>
          <a:lnRef idx="1">
            <a:schemeClr val="dk1"/>
          </a:lnRef>
          <a:fillRef idx="0">
            <a:schemeClr val="dk1"/>
          </a:fillRef>
          <a:effectRef idx="0">
            <a:schemeClr val="dk1"/>
          </a:effectRef>
          <a:fontRef idx="minor">
            <a:schemeClr val="tx1"/>
          </a:fontRef>
        </p:style>
      </p:cxnSp>
      <p:cxnSp>
        <p:nvCxnSpPr>
          <p:cNvPr id="178" name="Straight Connector 177">
            <a:extLst>
              <a:ext uri="{FF2B5EF4-FFF2-40B4-BE49-F238E27FC236}">
                <a16:creationId xmlns:a16="http://schemas.microsoft.com/office/drawing/2014/main" id="{603F59D7-12C1-2E4C-899D-CCDA050F7E5F}"/>
              </a:ext>
            </a:extLst>
          </p:cNvPr>
          <p:cNvCxnSpPr>
            <a:cxnSpLocks/>
            <a:endCxn id="23" idx="2"/>
          </p:cNvCxnSpPr>
          <p:nvPr/>
        </p:nvCxnSpPr>
        <p:spPr>
          <a:xfrm>
            <a:off x="4117768" y="4076699"/>
            <a:ext cx="1747653" cy="1676401"/>
          </a:xfrm>
          <a:prstGeom prst="line">
            <a:avLst/>
          </a:prstGeom>
          <a:ln w="28575"/>
        </p:spPr>
        <p:style>
          <a:lnRef idx="1">
            <a:schemeClr val="dk1"/>
          </a:lnRef>
          <a:fillRef idx="0">
            <a:schemeClr val="dk1"/>
          </a:fillRef>
          <a:effectRef idx="0">
            <a:schemeClr val="dk1"/>
          </a:effectRef>
          <a:fontRef idx="minor">
            <a:schemeClr val="tx1"/>
          </a:fontRef>
        </p:style>
      </p:cxnSp>
      <p:cxnSp>
        <p:nvCxnSpPr>
          <p:cNvPr id="181" name="Straight Connector 180">
            <a:extLst>
              <a:ext uri="{FF2B5EF4-FFF2-40B4-BE49-F238E27FC236}">
                <a16:creationId xmlns:a16="http://schemas.microsoft.com/office/drawing/2014/main" id="{9DE6BC36-53DC-DF43-9ACA-D9CC74A66992}"/>
              </a:ext>
            </a:extLst>
          </p:cNvPr>
          <p:cNvCxnSpPr>
            <a:cxnSpLocks/>
            <a:endCxn id="25" idx="2"/>
          </p:cNvCxnSpPr>
          <p:nvPr/>
        </p:nvCxnSpPr>
        <p:spPr>
          <a:xfrm>
            <a:off x="4119747" y="4076699"/>
            <a:ext cx="1745674" cy="2286001"/>
          </a:xfrm>
          <a:prstGeom prst="line">
            <a:avLst/>
          </a:prstGeom>
          <a:ln w="28575"/>
        </p:spPr>
        <p:style>
          <a:lnRef idx="1">
            <a:schemeClr val="dk1"/>
          </a:lnRef>
          <a:fillRef idx="0">
            <a:schemeClr val="dk1"/>
          </a:fillRef>
          <a:effectRef idx="0">
            <a:schemeClr val="dk1"/>
          </a:effectRef>
          <a:fontRef idx="minor">
            <a:schemeClr val="tx1"/>
          </a:fontRef>
        </p:style>
      </p:cxnSp>
      <p:cxnSp>
        <p:nvCxnSpPr>
          <p:cNvPr id="184" name="Straight Connector 183">
            <a:extLst>
              <a:ext uri="{FF2B5EF4-FFF2-40B4-BE49-F238E27FC236}">
                <a16:creationId xmlns:a16="http://schemas.microsoft.com/office/drawing/2014/main" id="{7BF441FF-C8B6-9E46-8EFF-1B2D68709752}"/>
              </a:ext>
            </a:extLst>
          </p:cNvPr>
          <p:cNvCxnSpPr>
            <a:cxnSpLocks/>
            <a:stCxn id="17" idx="7"/>
            <a:endCxn id="24" idx="2"/>
          </p:cNvCxnSpPr>
          <p:nvPr/>
        </p:nvCxnSpPr>
        <p:spPr>
          <a:xfrm flipV="1">
            <a:off x="4036685" y="2095500"/>
            <a:ext cx="1828736" cy="3088015"/>
          </a:xfrm>
          <a:prstGeom prst="line">
            <a:avLst/>
          </a:prstGeom>
          <a:ln w="28575"/>
        </p:spPr>
        <p:style>
          <a:lnRef idx="1">
            <a:schemeClr val="dk1"/>
          </a:lnRef>
          <a:fillRef idx="0">
            <a:schemeClr val="dk1"/>
          </a:fillRef>
          <a:effectRef idx="0">
            <a:schemeClr val="dk1"/>
          </a:effectRef>
          <a:fontRef idx="minor">
            <a:schemeClr val="tx1"/>
          </a:fontRef>
        </p:style>
      </p:cxnSp>
      <p:cxnSp>
        <p:nvCxnSpPr>
          <p:cNvPr id="187" name="Straight Connector 186">
            <a:extLst>
              <a:ext uri="{FF2B5EF4-FFF2-40B4-BE49-F238E27FC236}">
                <a16:creationId xmlns:a16="http://schemas.microsoft.com/office/drawing/2014/main" id="{1C0650AA-5AFE-7643-8015-7F3A67E34C58}"/>
              </a:ext>
            </a:extLst>
          </p:cNvPr>
          <p:cNvCxnSpPr>
            <a:cxnSpLocks/>
            <a:stCxn id="17" idx="7"/>
            <a:endCxn id="18" idx="2"/>
          </p:cNvCxnSpPr>
          <p:nvPr/>
        </p:nvCxnSpPr>
        <p:spPr>
          <a:xfrm flipV="1">
            <a:off x="4036685" y="2705100"/>
            <a:ext cx="1828736" cy="2478415"/>
          </a:xfrm>
          <a:prstGeom prst="line">
            <a:avLst/>
          </a:prstGeom>
          <a:ln w="28575"/>
        </p:spPr>
        <p:style>
          <a:lnRef idx="1">
            <a:schemeClr val="dk1"/>
          </a:lnRef>
          <a:fillRef idx="0">
            <a:schemeClr val="dk1"/>
          </a:fillRef>
          <a:effectRef idx="0">
            <a:schemeClr val="dk1"/>
          </a:effectRef>
          <a:fontRef idx="minor">
            <a:schemeClr val="tx1"/>
          </a:fontRef>
        </p:style>
      </p:cxnSp>
      <p:cxnSp>
        <p:nvCxnSpPr>
          <p:cNvPr id="190" name="Straight Connector 189">
            <a:extLst>
              <a:ext uri="{FF2B5EF4-FFF2-40B4-BE49-F238E27FC236}">
                <a16:creationId xmlns:a16="http://schemas.microsoft.com/office/drawing/2014/main" id="{1AB45CB1-1B0D-584B-97FE-A7F2539D371B}"/>
              </a:ext>
            </a:extLst>
          </p:cNvPr>
          <p:cNvCxnSpPr>
            <a:cxnSpLocks/>
            <a:stCxn id="17" idx="7"/>
            <a:endCxn id="19" idx="2"/>
          </p:cNvCxnSpPr>
          <p:nvPr/>
        </p:nvCxnSpPr>
        <p:spPr>
          <a:xfrm flipV="1">
            <a:off x="4036685" y="3314700"/>
            <a:ext cx="1828736" cy="1868815"/>
          </a:xfrm>
          <a:prstGeom prst="line">
            <a:avLst/>
          </a:prstGeom>
          <a:ln w="28575"/>
        </p:spPr>
        <p:style>
          <a:lnRef idx="1">
            <a:schemeClr val="dk1"/>
          </a:lnRef>
          <a:fillRef idx="0">
            <a:schemeClr val="dk1"/>
          </a:fillRef>
          <a:effectRef idx="0">
            <a:schemeClr val="dk1"/>
          </a:effectRef>
          <a:fontRef idx="minor">
            <a:schemeClr val="tx1"/>
          </a:fontRef>
        </p:style>
      </p:cxnSp>
      <p:cxnSp>
        <p:nvCxnSpPr>
          <p:cNvPr id="193" name="Straight Connector 192">
            <a:extLst>
              <a:ext uri="{FF2B5EF4-FFF2-40B4-BE49-F238E27FC236}">
                <a16:creationId xmlns:a16="http://schemas.microsoft.com/office/drawing/2014/main" id="{0ADD363D-8B62-FC45-BBAF-319CD0FB238D}"/>
              </a:ext>
            </a:extLst>
          </p:cNvPr>
          <p:cNvCxnSpPr>
            <a:cxnSpLocks/>
            <a:stCxn id="17" idx="7"/>
          </p:cNvCxnSpPr>
          <p:nvPr/>
        </p:nvCxnSpPr>
        <p:spPr>
          <a:xfrm flipV="1">
            <a:off x="4036685" y="3923343"/>
            <a:ext cx="1817883" cy="1260172"/>
          </a:xfrm>
          <a:prstGeom prst="line">
            <a:avLst/>
          </a:prstGeom>
          <a:ln w="28575"/>
        </p:spPr>
        <p:style>
          <a:lnRef idx="1">
            <a:schemeClr val="dk1"/>
          </a:lnRef>
          <a:fillRef idx="0">
            <a:schemeClr val="dk1"/>
          </a:fillRef>
          <a:effectRef idx="0">
            <a:schemeClr val="dk1"/>
          </a:effectRef>
          <a:fontRef idx="minor">
            <a:schemeClr val="tx1"/>
          </a:fontRef>
        </p:style>
      </p:cxnSp>
      <p:cxnSp>
        <p:nvCxnSpPr>
          <p:cNvPr id="196" name="Straight Connector 195">
            <a:extLst>
              <a:ext uri="{FF2B5EF4-FFF2-40B4-BE49-F238E27FC236}">
                <a16:creationId xmlns:a16="http://schemas.microsoft.com/office/drawing/2014/main" id="{534135AE-C435-D64E-AA08-0D0030B432B8}"/>
              </a:ext>
            </a:extLst>
          </p:cNvPr>
          <p:cNvCxnSpPr>
            <a:cxnSpLocks/>
            <a:stCxn id="17" idx="7"/>
          </p:cNvCxnSpPr>
          <p:nvPr/>
        </p:nvCxnSpPr>
        <p:spPr>
          <a:xfrm flipV="1">
            <a:off x="4036685" y="4526281"/>
            <a:ext cx="1817883" cy="657234"/>
          </a:xfrm>
          <a:prstGeom prst="line">
            <a:avLst/>
          </a:prstGeom>
          <a:ln w="28575"/>
        </p:spPr>
        <p:style>
          <a:lnRef idx="1">
            <a:schemeClr val="dk1"/>
          </a:lnRef>
          <a:fillRef idx="0">
            <a:schemeClr val="dk1"/>
          </a:fillRef>
          <a:effectRef idx="0">
            <a:schemeClr val="dk1"/>
          </a:effectRef>
          <a:fontRef idx="minor">
            <a:schemeClr val="tx1"/>
          </a:fontRef>
        </p:style>
      </p:cxnSp>
      <p:cxnSp>
        <p:nvCxnSpPr>
          <p:cNvPr id="207" name="Straight Connector 206">
            <a:extLst>
              <a:ext uri="{FF2B5EF4-FFF2-40B4-BE49-F238E27FC236}">
                <a16:creationId xmlns:a16="http://schemas.microsoft.com/office/drawing/2014/main" id="{3FBFF0A4-0C35-8647-B007-BF69D24C0E97}"/>
              </a:ext>
            </a:extLst>
          </p:cNvPr>
          <p:cNvCxnSpPr>
            <a:cxnSpLocks/>
            <a:stCxn id="17" idx="7"/>
            <a:endCxn id="22" idx="2"/>
          </p:cNvCxnSpPr>
          <p:nvPr/>
        </p:nvCxnSpPr>
        <p:spPr>
          <a:xfrm flipV="1">
            <a:off x="4036685" y="5143500"/>
            <a:ext cx="1830715" cy="40015"/>
          </a:xfrm>
          <a:prstGeom prst="line">
            <a:avLst/>
          </a:prstGeom>
          <a:ln w="28575"/>
        </p:spPr>
        <p:style>
          <a:lnRef idx="1">
            <a:schemeClr val="dk1"/>
          </a:lnRef>
          <a:fillRef idx="0">
            <a:schemeClr val="dk1"/>
          </a:fillRef>
          <a:effectRef idx="0">
            <a:schemeClr val="dk1"/>
          </a:effectRef>
          <a:fontRef idx="minor">
            <a:schemeClr val="tx1"/>
          </a:fontRef>
        </p:style>
      </p:cxnSp>
      <p:cxnSp>
        <p:nvCxnSpPr>
          <p:cNvPr id="210" name="Straight Connector 209">
            <a:extLst>
              <a:ext uri="{FF2B5EF4-FFF2-40B4-BE49-F238E27FC236}">
                <a16:creationId xmlns:a16="http://schemas.microsoft.com/office/drawing/2014/main" id="{7C093255-E26A-A64B-9A5D-AB76A5666C72}"/>
              </a:ext>
            </a:extLst>
          </p:cNvPr>
          <p:cNvCxnSpPr>
            <a:cxnSpLocks/>
            <a:stCxn id="17" idx="7"/>
            <a:endCxn id="23" idx="2"/>
          </p:cNvCxnSpPr>
          <p:nvPr/>
        </p:nvCxnSpPr>
        <p:spPr>
          <a:xfrm>
            <a:off x="4036685" y="5183515"/>
            <a:ext cx="1828736" cy="569585"/>
          </a:xfrm>
          <a:prstGeom prst="line">
            <a:avLst/>
          </a:prstGeom>
          <a:ln w="28575"/>
        </p:spPr>
        <p:style>
          <a:lnRef idx="1">
            <a:schemeClr val="dk1"/>
          </a:lnRef>
          <a:fillRef idx="0">
            <a:schemeClr val="dk1"/>
          </a:fillRef>
          <a:effectRef idx="0">
            <a:schemeClr val="dk1"/>
          </a:effectRef>
          <a:fontRef idx="minor">
            <a:schemeClr val="tx1"/>
          </a:fontRef>
        </p:style>
      </p:cxnSp>
      <p:cxnSp>
        <p:nvCxnSpPr>
          <p:cNvPr id="213" name="Straight Connector 212">
            <a:extLst>
              <a:ext uri="{FF2B5EF4-FFF2-40B4-BE49-F238E27FC236}">
                <a16:creationId xmlns:a16="http://schemas.microsoft.com/office/drawing/2014/main" id="{478440D9-42E6-DE49-A7D5-1E04DFA629CE}"/>
              </a:ext>
            </a:extLst>
          </p:cNvPr>
          <p:cNvCxnSpPr>
            <a:cxnSpLocks/>
            <a:stCxn id="17" idx="7"/>
            <a:endCxn id="25" idx="2"/>
          </p:cNvCxnSpPr>
          <p:nvPr/>
        </p:nvCxnSpPr>
        <p:spPr>
          <a:xfrm>
            <a:off x="4036685" y="5183515"/>
            <a:ext cx="1828736" cy="1179185"/>
          </a:xfrm>
          <a:prstGeom prst="line">
            <a:avLst/>
          </a:prstGeom>
          <a:ln w="28575"/>
        </p:spPr>
        <p:style>
          <a:lnRef idx="1">
            <a:schemeClr val="dk1"/>
          </a:lnRef>
          <a:fillRef idx="0">
            <a:schemeClr val="dk1"/>
          </a:fillRef>
          <a:effectRef idx="0">
            <a:schemeClr val="dk1"/>
          </a:effectRef>
          <a:fontRef idx="minor">
            <a:schemeClr val="tx1"/>
          </a:fontRef>
        </p:style>
      </p:cxnSp>
      <p:grpSp>
        <p:nvGrpSpPr>
          <p:cNvPr id="76" name="Group 75">
            <a:extLst>
              <a:ext uri="{FF2B5EF4-FFF2-40B4-BE49-F238E27FC236}">
                <a16:creationId xmlns:a16="http://schemas.microsoft.com/office/drawing/2014/main" id="{4440B9F7-CCBC-C34A-828B-F8797096FDD1}"/>
              </a:ext>
            </a:extLst>
          </p:cNvPr>
          <p:cNvGrpSpPr/>
          <p:nvPr/>
        </p:nvGrpSpPr>
        <p:grpSpPr>
          <a:xfrm>
            <a:off x="642264" y="1904997"/>
            <a:ext cx="661050" cy="4648203"/>
            <a:chOff x="856144" y="3124199"/>
            <a:chExt cx="1277456" cy="2209801"/>
          </a:xfrm>
        </p:grpSpPr>
        <p:sp>
          <p:nvSpPr>
            <p:cNvPr id="77" name="TextBox 76">
              <a:extLst>
                <a:ext uri="{FF2B5EF4-FFF2-40B4-BE49-F238E27FC236}">
                  <a16:creationId xmlns:a16="http://schemas.microsoft.com/office/drawing/2014/main" id="{904C049D-063F-AA49-8FE5-F37E6C55B503}"/>
                </a:ext>
              </a:extLst>
            </p:cNvPr>
            <p:cNvSpPr txBox="1"/>
            <p:nvPr/>
          </p:nvSpPr>
          <p:spPr>
            <a:xfrm rot="16200000">
              <a:off x="155198" y="3825145"/>
              <a:ext cx="2115614" cy="713721"/>
            </a:xfrm>
            <a:prstGeom prst="rect">
              <a:avLst/>
            </a:prstGeom>
            <a:noFill/>
          </p:spPr>
          <p:txBody>
            <a:bodyPr wrap="square" rtlCol="0">
              <a:spAutoFit/>
            </a:bodyPr>
            <a:lstStyle/>
            <a:p>
              <a:pPr algn="ctr"/>
              <a:r>
                <a:rPr lang="en-US" dirty="0">
                  <a:solidFill>
                    <a:srgbClr val="D60093"/>
                  </a:solidFill>
                </a:rPr>
                <a:t>Target word = books</a:t>
              </a:r>
              <a:endParaRPr lang="en-US" dirty="0">
                <a:solidFill>
                  <a:srgbClr val="D60093"/>
                </a:solidFill>
                <a:latin typeface="Arial" pitchFamily="34" charset="0"/>
                <a:cs typeface="Arial" pitchFamily="34" charset="0"/>
              </a:endParaRPr>
            </a:p>
          </p:txBody>
        </p:sp>
        <p:sp>
          <p:nvSpPr>
            <p:cNvPr id="79" name="Left Brace 78">
              <a:extLst>
                <a:ext uri="{FF2B5EF4-FFF2-40B4-BE49-F238E27FC236}">
                  <a16:creationId xmlns:a16="http://schemas.microsoft.com/office/drawing/2014/main" id="{3FD0ABCC-5EDB-0347-8A22-3C0D19BBDBBE}"/>
                </a:ext>
              </a:extLst>
            </p:cNvPr>
            <p:cNvSpPr/>
            <p:nvPr/>
          </p:nvSpPr>
          <p:spPr>
            <a:xfrm>
              <a:off x="1569865" y="3124200"/>
              <a:ext cx="563735" cy="2209800"/>
            </a:xfrm>
            <a:prstGeom prst="leftBrace">
              <a:avLst/>
            </a:prstGeom>
            <a:ln w="28575">
              <a:solidFill>
                <a:srgbClr val="D60093"/>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sp>
        <p:nvSpPr>
          <p:cNvPr id="29" name="TextBox 28">
            <a:extLst>
              <a:ext uri="{FF2B5EF4-FFF2-40B4-BE49-F238E27FC236}">
                <a16:creationId xmlns:a16="http://schemas.microsoft.com/office/drawing/2014/main" id="{0989CABD-8ACB-D341-B194-735DBFB8EC4F}"/>
              </a:ext>
            </a:extLst>
          </p:cNvPr>
          <p:cNvSpPr txBox="1"/>
          <p:nvPr/>
        </p:nvSpPr>
        <p:spPr>
          <a:xfrm>
            <a:off x="2971800" y="6019800"/>
            <a:ext cx="2133600" cy="369332"/>
          </a:xfrm>
          <a:prstGeom prst="rect">
            <a:avLst/>
          </a:prstGeom>
          <a:noFill/>
        </p:spPr>
        <p:txBody>
          <a:bodyPr wrap="square" rtlCol="0">
            <a:spAutoFit/>
          </a:bodyPr>
          <a:lstStyle/>
          <a:p>
            <a:r>
              <a:rPr lang="en-US" dirty="0">
                <a:solidFill>
                  <a:srgbClr val="0000FF"/>
                </a:solidFill>
                <a:latin typeface="Arial" pitchFamily="34" charset="0"/>
                <a:cs typeface="Arial" pitchFamily="34" charset="0"/>
              </a:rPr>
              <a:t>3-dim embedding</a:t>
            </a:r>
          </a:p>
        </p:txBody>
      </p:sp>
      <p:sp>
        <p:nvSpPr>
          <p:cNvPr id="89" name="Title 1">
            <a:extLst>
              <a:ext uri="{FF2B5EF4-FFF2-40B4-BE49-F238E27FC236}">
                <a16:creationId xmlns:a16="http://schemas.microsoft.com/office/drawing/2014/main" id="{B19AD8C4-BEA1-314E-8896-166397774656}"/>
              </a:ext>
            </a:extLst>
          </p:cNvPr>
          <p:cNvSpPr>
            <a:spLocks noGrp="1"/>
          </p:cNvSpPr>
          <p:nvPr>
            <p:ph type="title"/>
          </p:nvPr>
        </p:nvSpPr>
        <p:spPr>
          <a:xfrm>
            <a:off x="457200" y="84778"/>
            <a:ext cx="8229600" cy="987552"/>
          </a:xfrm>
        </p:spPr>
        <p:txBody>
          <a:bodyPr/>
          <a:lstStyle/>
          <a:p>
            <a:r>
              <a:rPr lang="en-US" dirty="0"/>
              <a:t>Word2Vec: Example</a:t>
            </a:r>
          </a:p>
        </p:txBody>
      </p:sp>
      <p:sp>
        <p:nvSpPr>
          <p:cNvPr id="82" name="TextBox 81">
            <a:extLst>
              <a:ext uri="{FF2B5EF4-FFF2-40B4-BE49-F238E27FC236}">
                <a16:creationId xmlns:a16="http://schemas.microsoft.com/office/drawing/2014/main" id="{7B4B38B5-5293-CE4E-812D-A2ABE52C2109}"/>
              </a:ext>
            </a:extLst>
          </p:cNvPr>
          <p:cNvSpPr txBox="1"/>
          <p:nvPr/>
        </p:nvSpPr>
        <p:spPr>
          <a:xfrm>
            <a:off x="2266120" y="2003273"/>
            <a:ext cx="1089275" cy="369332"/>
          </a:xfrm>
          <a:prstGeom prst="rect">
            <a:avLst/>
          </a:prstGeom>
          <a:noFill/>
        </p:spPr>
        <p:txBody>
          <a:bodyPr wrap="square" rtlCol="0">
            <a:spAutoFit/>
          </a:bodyPr>
          <a:lstStyle/>
          <a:p>
            <a:r>
              <a:rPr lang="en-US" b="1" dirty="0" err="1">
                <a:solidFill>
                  <a:srgbClr val="0000FF"/>
                </a:solidFill>
                <a:latin typeface="Arial" pitchFamily="34" charset="0"/>
                <a:cs typeface="Arial" pitchFamily="34" charset="0"/>
              </a:rPr>
              <a:t>W</a:t>
            </a:r>
            <a:r>
              <a:rPr lang="en-US" b="1" baseline="-25000" dirty="0" err="1">
                <a:solidFill>
                  <a:srgbClr val="0000FF"/>
                </a:solidFill>
                <a:latin typeface="Arial" pitchFamily="34" charset="0"/>
                <a:cs typeface="Arial" pitchFamily="34" charset="0"/>
              </a:rPr>
              <a:t>VxN</a:t>
            </a:r>
            <a:endParaRPr lang="en-US" b="1" baseline="-25000" dirty="0">
              <a:solidFill>
                <a:srgbClr val="0000FF"/>
              </a:solidFill>
              <a:latin typeface="Arial" pitchFamily="34" charset="0"/>
              <a:cs typeface="Arial" pitchFamily="34" charset="0"/>
            </a:endParaRPr>
          </a:p>
        </p:txBody>
      </p:sp>
      <p:sp>
        <p:nvSpPr>
          <p:cNvPr id="83" name="TextBox 82">
            <a:extLst>
              <a:ext uri="{FF2B5EF4-FFF2-40B4-BE49-F238E27FC236}">
                <a16:creationId xmlns:a16="http://schemas.microsoft.com/office/drawing/2014/main" id="{44D429D3-60E6-2D40-AA00-0E9C18A8B216}"/>
              </a:ext>
            </a:extLst>
          </p:cNvPr>
          <p:cNvSpPr txBox="1"/>
          <p:nvPr/>
        </p:nvSpPr>
        <p:spPr>
          <a:xfrm>
            <a:off x="4284925" y="2041890"/>
            <a:ext cx="1089275" cy="369332"/>
          </a:xfrm>
          <a:prstGeom prst="rect">
            <a:avLst/>
          </a:prstGeom>
          <a:noFill/>
        </p:spPr>
        <p:txBody>
          <a:bodyPr wrap="square" rtlCol="0">
            <a:spAutoFit/>
          </a:bodyPr>
          <a:lstStyle/>
          <a:p>
            <a:r>
              <a:rPr lang="en-US" b="1" dirty="0" err="1">
                <a:solidFill>
                  <a:srgbClr val="0000FF"/>
                </a:solidFill>
                <a:latin typeface="Arial" pitchFamily="34" charset="0"/>
                <a:cs typeface="Arial" pitchFamily="34" charset="0"/>
              </a:rPr>
              <a:t>W’</a:t>
            </a:r>
            <a:r>
              <a:rPr lang="en-US" b="1" baseline="-25000" dirty="0" err="1">
                <a:solidFill>
                  <a:srgbClr val="0000FF"/>
                </a:solidFill>
                <a:latin typeface="Arial" pitchFamily="34" charset="0"/>
                <a:cs typeface="Arial" pitchFamily="34" charset="0"/>
              </a:rPr>
              <a:t>NxV</a:t>
            </a:r>
            <a:endParaRPr lang="en-US" b="1" baseline="-25000" dirty="0">
              <a:solidFill>
                <a:srgbClr val="0000FF"/>
              </a:solidFill>
              <a:latin typeface="Arial" pitchFamily="34" charset="0"/>
              <a:cs typeface="Arial" pitchFamily="34" charset="0"/>
            </a:endParaRPr>
          </a:p>
        </p:txBody>
      </p:sp>
      <p:cxnSp>
        <p:nvCxnSpPr>
          <p:cNvPr id="32" name="Straight Arrow Connector 31">
            <a:extLst>
              <a:ext uri="{FF2B5EF4-FFF2-40B4-BE49-F238E27FC236}">
                <a16:creationId xmlns:a16="http://schemas.microsoft.com/office/drawing/2014/main" id="{DA6310B8-C8F3-104F-8280-3C68A7C254B3}"/>
              </a:ext>
            </a:extLst>
          </p:cNvPr>
          <p:cNvCxnSpPr/>
          <p:nvPr/>
        </p:nvCxnSpPr>
        <p:spPr>
          <a:xfrm>
            <a:off x="6553200" y="2095500"/>
            <a:ext cx="533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5" name="Straight Arrow Connector 84">
            <a:extLst>
              <a:ext uri="{FF2B5EF4-FFF2-40B4-BE49-F238E27FC236}">
                <a16:creationId xmlns:a16="http://schemas.microsoft.com/office/drawing/2014/main" id="{795A150A-FDE6-A14E-9E1F-E2386B583E3E}"/>
              </a:ext>
            </a:extLst>
          </p:cNvPr>
          <p:cNvCxnSpPr/>
          <p:nvPr/>
        </p:nvCxnSpPr>
        <p:spPr>
          <a:xfrm>
            <a:off x="6553200" y="2743200"/>
            <a:ext cx="533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6" name="Straight Arrow Connector 85">
            <a:extLst>
              <a:ext uri="{FF2B5EF4-FFF2-40B4-BE49-F238E27FC236}">
                <a16:creationId xmlns:a16="http://schemas.microsoft.com/office/drawing/2014/main" id="{64E1A233-11A5-2647-9389-B331E5BC96F0}"/>
              </a:ext>
            </a:extLst>
          </p:cNvPr>
          <p:cNvCxnSpPr/>
          <p:nvPr/>
        </p:nvCxnSpPr>
        <p:spPr>
          <a:xfrm>
            <a:off x="6553200" y="3314700"/>
            <a:ext cx="533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8" name="Straight Arrow Connector 87">
            <a:extLst>
              <a:ext uri="{FF2B5EF4-FFF2-40B4-BE49-F238E27FC236}">
                <a16:creationId xmlns:a16="http://schemas.microsoft.com/office/drawing/2014/main" id="{F14E9146-B5CD-6049-9A69-17FD805E6DB1}"/>
              </a:ext>
            </a:extLst>
          </p:cNvPr>
          <p:cNvCxnSpPr/>
          <p:nvPr/>
        </p:nvCxnSpPr>
        <p:spPr>
          <a:xfrm>
            <a:off x="6553200" y="3962400"/>
            <a:ext cx="533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1" name="Straight Arrow Connector 90">
            <a:extLst>
              <a:ext uri="{FF2B5EF4-FFF2-40B4-BE49-F238E27FC236}">
                <a16:creationId xmlns:a16="http://schemas.microsoft.com/office/drawing/2014/main" id="{F8E8D2EC-51F1-BB4D-B415-B375FC999492}"/>
              </a:ext>
            </a:extLst>
          </p:cNvPr>
          <p:cNvCxnSpPr/>
          <p:nvPr/>
        </p:nvCxnSpPr>
        <p:spPr>
          <a:xfrm>
            <a:off x="6553200" y="4495800"/>
            <a:ext cx="533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2" name="Straight Arrow Connector 91">
            <a:extLst>
              <a:ext uri="{FF2B5EF4-FFF2-40B4-BE49-F238E27FC236}">
                <a16:creationId xmlns:a16="http://schemas.microsoft.com/office/drawing/2014/main" id="{AAA32A31-AB71-CA44-8293-E7A6D6B28760}"/>
              </a:ext>
            </a:extLst>
          </p:cNvPr>
          <p:cNvCxnSpPr/>
          <p:nvPr/>
        </p:nvCxnSpPr>
        <p:spPr>
          <a:xfrm>
            <a:off x="6553200" y="5143500"/>
            <a:ext cx="533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4" name="Straight Arrow Connector 93">
            <a:extLst>
              <a:ext uri="{FF2B5EF4-FFF2-40B4-BE49-F238E27FC236}">
                <a16:creationId xmlns:a16="http://schemas.microsoft.com/office/drawing/2014/main" id="{8E707385-A940-A44E-BF74-B201D3434F23}"/>
              </a:ext>
            </a:extLst>
          </p:cNvPr>
          <p:cNvCxnSpPr/>
          <p:nvPr/>
        </p:nvCxnSpPr>
        <p:spPr>
          <a:xfrm>
            <a:off x="6553200" y="5715000"/>
            <a:ext cx="533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5" name="Straight Arrow Connector 94">
            <a:extLst>
              <a:ext uri="{FF2B5EF4-FFF2-40B4-BE49-F238E27FC236}">
                <a16:creationId xmlns:a16="http://schemas.microsoft.com/office/drawing/2014/main" id="{717C2349-2B13-3744-AC10-2377460D9C12}"/>
              </a:ext>
            </a:extLst>
          </p:cNvPr>
          <p:cNvCxnSpPr/>
          <p:nvPr/>
        </p:nvCxnSpPr>
        <p:spPr>
          <a:xfrm>
            <a:off x="6553200" y="6362700"/>
            <a:ext cx="5334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3" name="Rectangle 32">
            <a:extLst>
              <a:ext uri="{FF2B5EF4-FFF2-40B4-BE49-F238E27FC236}">
                <a16:creationId xmlns:a16="http://schemas.microsoft.com/office/drawing/2014/main" id="{354F2B31-4F9C-114B-B89F-2188E6143A37}"/>
              </a:ext>
            </a:extLst>
          </p:cNvPr>
          <p:cNvSpPr/>
          <p:nvPr/>
        </p:nvSpPr>
        <p:spPr>
          <a:xfrm>
            <a:off x="7162800" y="1828800"/>
            <a:ext cx="609600" cy="397756"/>
          </a:xfrm>
          <a:prstGeom prst="rect">
            <a:avLst/>
          </a:prstGeom>
          <a:ln/>
        </p:spPr>
        <p:style>
          <a:lnRef idx="1">
            <a:schemeClr val="accent4"/>
          </a:lnRef>
          <a:fillRef idx="2">
            <a:schemeClr val="accent4"/>
          </a:fillRef>
          <a:effectRef idx="1">
            <a:schemeClr val="accent4"/>
          </a:effectRef>
          <a:fontRef idx="minor">
            <a:schemeClr val="dk1"/>
          </a:fontRef>
        </p:style>
        <p:txBody>
          <a:bodyPr lIns="0" rtlCol="0" anchor="ctr"/>
          <a:lstStyle/>
          <a:p>
            <a:pPr algn="ctr"/>
            <a:r>
              <a:rPr lang="en-US" dirty="0"/>
              <a:t>0.001</a:t>
            </a:r>
          </a:p>
        </p:txBody>
      </p:sp>
      <p:sp>
        <p:nvSpPr>
          <p:cNvPr id="105" name="Rectangle 104">
            <a:extLst>
              <a:ext uri="{FF2B5EF4-FFF2-40B4-BE49-F238E27FC236}">
                <a16:creationId xmlns:a16="http://schemas.microsoft.com/office/drawing/2014/main" id="{B2491E53-4099-D447-B0AB-640F46645A58}"/>
              </a:ext>
            </a:extLst>
          </p:cNvPr>
          <p:cNvSpPr/>
          <p:nvPr/>
        </p:nvSpPr>
        <p:spPr>
          <a:xfrm>
            <a:off x="7158842" y="2504243"/>
            <a:ext cx="609600" cy="397756"/>
          </a:xfrm>
          <a:prstGeom prst="rect">
            <a:avLst/>
          </a:prstGeom>
          <a:ln/>
        </p:spPr>
        <p:style>
          <a:lnRef idx="1">
            <a:schemeClr val="accent4"/>
          </a:lnRef>
          <a:fillRef idx="2">
            <a:schemeClr val="accent4"/>
          </a:fillRef>
          <a:effectRef idx="1">
            <a:schemeClr val="accent4"/>
          </a:effectRef>
          <a:fontRef idx="minor">
            <a:schemeClr val="dk1"/>
          </a:fontRef>
        </p:style>
        <p:txBody>
          <a:bodyPr lIns="0" rtlCol="0" anchor="ctr"/>
          <a:lstStyle/>
          <a:p>
            <a:pPr algn="ctr"/>
            <a:r>
              <a:rPr lang="en-US" dirty="0"/>
              <a:t>0.104</a:t>
            </a:r>
          </a:p>
        </p:txBody>
      </p:sp>
      <p:sp>
        <p:nvSpPr>
          <p:cNvPr id="106" name="Rectangle 105">
            <a:extLst>
              <a:ext uri="{FF2B5EF4-FFF2-40B4-BE49-F238E27FC236}">
                <a16:creationId xmlns:a16="http://schemas.microsoft.com/office/drawing/2014/main" id="{52FC4260-9067-1E45-9986-0911C003D662}"/>
              </a:ext>
            </a:extLst>
          </p:cNvPr>
          <p:cNvSpPr/>
          <p:nvPr/>
        </p:nvSpPr>
        <p:spPr>
          <a:xfrm>
            <a:off x="7158842" y="3123442"/>
            <a:ext cx="609600" cy="397756"/>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0</a:t>
            </a:r>
          </a:p>
        </p:txBody>
      </p:sp>
      <p:sp>
        <p:nvSpPr>
          <p:cNvPr id="107" name="Rectangle 106">
            <a:extLst>
              <a:ext uri="{FF2B5EF4-FFF2-40B4-BE49-F238E27FC236}">
                <a16:creationId xmlns:a16="http://schemas.microsoft.com/office/drawing/2014/main" id="{32F14135-21DF-4942-86C0-2127E8DCD559}"/>
              </a:ext>
            </a:extLst>
          </p:cNvPr>
          <p:cNvSpPr/>
          <p:nvPr/>
        </p:nvSpPr>
        <p:spPr>
          <a:xfrm>
            <a:off x="7154884" y="3798885"/>
            <a:ext cx="609600" cy="397756"/>
          </a:xfrm>
          <a:prstGeom prst="rect">
            <a:avLst/>
          </a:prstGeom>
          <a:ln/>
        </p:spPr>
        <p:style>
          <a:lnRef idx="1">
            <a:schemeClr val="accent4"/>
          </a:lnRef>
          <a:fillRef idx="2">
            <a:schemeClr val="accent4"/>
          </a:fillRef>
          <a:effectRef idx="1">
            <a:schemeClr val="accent4"/>
          </a:effectRef>
          <a:fontRef idx="minor">
            <a:schemeClr val="dk1"/>
          </a:fontRef>
        </p:style>
        <p:txBody>
          <a:bodyPr lIns="0" rtlCol="0" anchor="ctr"/>
          <a:lstStyle/>
          <a:p>
            <a:pPr algn="ctr"/>
            <a:r>
              <a:rPr lang="en-US" dirty="0"/>
              <a:t>0.077</a:t>
            </a:r>
          </a:p>
        </p:txBody>
      </p:sp>
      <p:sp>
        <p:nvSpPr>
          <p:cNvPr id="108" name="Rectangle 107">
            <a:extLst>
              <a:ext uri="{FF2B5EF4-FFF2-40B4-BE49-F238E27FC236}">
                <a16:creationId xmlns:a16="http://schemas.microsoft.com/office/drawing/2014/main" id="{6AD3AE92-C50B-F344-AB31-F7F2D4D52A0B}"/>
              </a:ext>
            </a:extLst>
          </p:cNvPr>
          <p:cNvSpPr/>
          <p:nvPr/>
        </p:nvSpPr>
        <p:spPr>
          <a:xfrm>
            <a:off x="7162800" y="4354551"/>
            <a:ext cx="609600" cy="397756"/>
          </a:xfrm>
          <a:prstGeom prst="rect">
            <a:avLst/>
          </a:prstGeom>
          <a:ln/>
        </p:spPr>
        <p:style>
          <a:lnRef idx="1">
            <a:schemeClr val="accent4"/>
          </a:lnRef>
          <a:fillRef idx="2">
            <a:schemeClr val="accent4"/>
          </a:fillRef>
          <a:effectRef idx="1">
            <a:schemeClr val="accent4"/>
          </a:effectRef>
          <a:fontRef idx="minor">
            <a:schemeClr val="dk1"/>
          </a:fontRef>
        </p:style>
        <p:txBody>
          <a:bodyPr lIns="0" rtlCol="0" anchor="ctr"/>
          <a:lstStyle/>
          <a:p>
            <a:pPr algn="ctr"/>
            <a:r>
              <a:rPr lang="en-US" dirty="0"/>
              <a:t>0.177</a:t>
            </a:r>
          </a:p>
        </p:txBody>
      </p:sp>
      <p:sp>
        <p:nvSpPr>
          <p:cNvPr id="109" name="Rectangle 108">
            <a:extLst>
              <a:ext uri="{FF2B5EF4-FFF2-40B4-BE49-F238E27FC236}">
                <a16:creationId xmlns:a16="http://schemas.microsoft.com/office/drawing/2014/main" id="{FB0ED8B4-B69A-4243-8511-41088425EBBC}"/>
              </a:ext>
            </a:extLst>
          </p:cNvPr>
          <p:cNvSpPr/>
          <p:nvPr/>
        </p:nvSpPr>
        <p:spPr>
          <a:xfrm>
            <a:off x="7154388" y="4981998"/>
            <a:ext cx="609600" cy="397756"/>
          </a:xfrm>
          <a:prstGeom prst="rect">
            <a:avLst/>
          </a:prstGeom>
          <a:ln/>
        </p:spPr>
        <p:style>
          <a:lnRef idx="1">
            <a:schemeClr val="accent4"/>
          </a:lnRef>
          <a:fillRef idx="2">
            <a:schemeClr val="accent4"/>
          </a:fillRef>
          <a:effectRef idx="1">
            <a:schemeClr val="accent4"/>
          </a:effectRef>
          <a:fontRef idx="minor">
            <a:schemeClr val="dk1"/>
          </a:fontRef>
        </p:style>
        <p:txBody>
          <a:bodyPr lIns="0" rtlCol="0" anchor="ctr"/>
          <a:lstStyle/>
          <a:p>
            <a:pPr algn="ctr"/>
            <a:r>
              <a:rPr lang="en-US" dirty="0"/>
              <a:t>0.627</a:t>
            </a:r>
          </a:p>
        </p:txBody>
      </p:sp>
      <p:sp>
        <p:nvSpPr>
          <p:cNvPr id="110" name="Rectangle 109">
            <a:extLst>
              <a:ext uri="{FF2B5EF4-FFF2-40B4-BE49-F238E27FC236}">
                <a16:creationId xmlns:a16="http://schemas.microsoft.com/office/drawing/2014/main" id="{38961B35-7059-3F44-A682-B27D4B3D41C6}"/>
              </a:ext>
            </a:extLst>
          </p:cNvPr>
          <p:cNvSpPr/>
          <p:nvPr/>
        </p:nvSpPr>
        <p:spPr>
          <a:xfrm>
            <a:off x="7137070" y="5570092"/>
            <a:ext cx="609600" cy="397756"/>
          </a:xfrm>
          <a:prstGeom prst="rect">
            <a:avLst/>
          </a:prstGeom>
          <a:ln/>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dirty="0"/>
              <a:t>0.008</a:t>
            </a:r>
          </a:p>
        </p:txBody>
      </p:sp>
      <p:sp>
        <p:nvSpPr>
          <p:cNvPr id="111" name="Rectangle 110">
            <a:extLst>
              <a:ext uri="{FF2B5EF4-FFF2-40B4-BE49-F238E27FC236}">
                <a16:creationId xmlns:a16="http://schemas.microsoft.com/office/drawing/2014/main" id="{08814719-05E1-F649-8D96-36B0025A1BD1}"/>
              </a:ext>
            </a:extLst>
          </p:cNvPr>
          <p:cNvSpPr/>
          <p:nvPr/>
        </p:nvSpPr>
        <p:spPr>
          <a:xfrm>
            <a:off x="7164452" y="6204466"/>
            <a:ext cx="609600" cy="397756"/>
          </a:xfrm>
          <a:prstGeom prst="rect">
            <a:avLst/>
          </a:prstGeom>
          <a:ln/>
        </p:spPr>
        <p:style>
          <a:lnRef idx="1">
            <a:schemeClr val="accent4"/>
          </a:lnRef>
          <a:fillRef idx="2">
            <a:schemeClr val="accent4"/>
          </a:fillRef>
          <a:effectRef idx="1">
            <a:schemeClr val="accent4"/>
          </a:effectRef>
          <a:fontRef idx="minor">
            <a:schemeClr val="dk1"/>
          </a:fontRef>
        </p:style>
        <p:txBody>
          <a:bodyPr lIns="0" rtlCol="0" anchor="ctr"/>
          <a:lstStyle/>
          <a:p>
            <a:pPr algn="ctr"/>
            <a:r>
              <a:rPr lang="en-US" dirty="0"/>
              <a:t>0.013</a:t>
            </a:r>
          </a:p>
        </p:txBody>
      </p:sp>
      <p:sp>
        <p:nvSpPr>
          <p:cNvPr id="112" name="TextBox 111">
            <a:extLst>
              <a:ext uri="{FF2B5EF4-FFF2-40B4-BE49-F238E27FC236}">
                <a16:creationId xmlns:a16="http://schemas.microsoft.com/office/drawing/2014/main" id="{0E06C57C-6434-F943-B55F-06AE1F6B8390}"/>
              </a:ext>
            </a:extLst>
          </p:cNvPr>
          <p:cNvSpPr txBox="1"/>
          <p:nvPr/>
        </p:nvSpPr>
        <p:spPr>
          <a:xfrm>
            <a:off x="6509162" y="1412476"/>
            <a:ext cx="1548740" cy="369332"/>
          </a:xfrm>
          <a:prstGeom prst="rect">
            <a:avLst/>
          </a:prstGeom>
          <a:noFill/>
        </p:spPr>
        <p:txBody>
          <a:bodyPr wrap="square" rtlCol="0">
            <a:spAutoFit/>
          </a:bodyPr>
          <a:lstStyle/>
          <a:p>
            <a:r>
              <a:rPr lang="en-US" dirty="0">
                <a:solidFill>
                  <a:srgbClr val="0000FF"/>
                </a:solidFill>
                <a:latin typeface="Arial" pitchFamily="34" charset="0"/>
                <a:cs typeface="Arial" pitchFamily="34" charset="0"/>
              </a:rPr>
              <a:t>probabilities</a:t>
            </a:r>
          </a:p>
        </p:txBody>
      </p:sp>
      <p:cxnSp>
        <p:nvCxnSpPr>
          <p:cNvPr id="26" name="Straight Arrow Connector 25">
            <a:extLst>
              <a:ext uri="{FF2B5EF4-FFF2-40B4-BE49-F238E27FC236}">
                <a16:creationId xmlns:a16="http://schemas.microsoft.com/office/drawing/2014/main" id="{69895E33-D959-A54A-826E-243226E9EC3C}"/>
              </a:ext>
            </a:extLst>
          </p:cNvPr>
          <p:cNvCxnSpPr/>
          <p:nvPr/>
        </p:nvCxnSpPr>
        <p:spPr>
          <a:xfrm>
            <a:off x="7924800" y="2041890"/>
            <a:ext cx="381000"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cxnSp>
        <p:nvCxnSpPr>
          <p:cNvPr id="99" name="Straight Arrow Connector 98">
            <a:extLst>
              <a:ext uri="{FF2B5EF4-FFF2-40B4-BE49-F238E27FC236}">
                <a16:creationId xmlns:a16="http://schemas.microsoft.com/office/drawing/2014/main" id="{34C88998-7706-654C-A572-BFB15D7C97F2}"/>
              </a:ext>
            </a:extLst>
          </p:cNvPr>
          <p:cNvCxnSpPr/>
          <p:nvPr/>
        </p:nvCxnSpPr>
        <p:spPr>
          <a:xfrm>
            <a:off x="7924800" y="2700476"/>
            <a:ext cx="381000"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cxnSp>
        <p:nvCxnSpPr>
          <p:cNvPr id="100" name="Straight Arrow Connector 99">
            <a:extLst>
              <a:ext uri="{FF2B5EF4-FFF2-40B4-BE49-F238E27FC236}">
                <a16:creationId xmlns:a16="http://schemas.microsoft.com/office/drawing/2014/main" id="{8577F993-004C-2840-9C92-50410E5DB217}"/>
              </a:ext>
            </a:extLst>
          </p:cNvPr>
          <p:cNvCxnSpPr/>
          <p:nvPr/>
        </p:nvCxnSpPr>
        <p:spPr>
          <a:xfrm>
            <a:off x="7924800" y="3236521"/>
            <a:ext cx="381000"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cxnSp>
        <p:nvCxnSpPr>
          <p:cNvPr id="101" name="Straight Arrow Connector 100">
            <a:extLst>
              <a:ext uri="{FF2B5EF4-FFF2-40B4-BE49-F238E27FC236}">
                <a16:creationId xmlns:a16="http://schemas.microsoft.com/office/drawing/2014/main" id="{2262C881-C565-E347-9B58-93F0E8A17A0F}"/>
              </a:ext>
            </a:extLst>
          </p:cNvPr>
          <p:cNvCxnSpPr/>
          <p:nvPr/>
        </p:nvCxnSpPr>
        <p:spPr>
          <a:xfrm>
            <a:off x="7924800" y="3895107"/>
            <a:ext cx="381000"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cxnSp>
        <p:nvCxnSpPr>
          <p:cNvPr id="102" name="Straight Arrow Connector 101">
            <a:extLst>
              <a:ext uri="{FF2B5EF4-FFF2-40B4-BE49-F238E27FC236}">
                <a16:creationId xmlns:a16="http://schemas.microsoft.com/office/drawing/2014/main" id="{C48C7B78-B76B-164B-9FFA-DDF042659F99}"/>
              </a:ext>
            </a:extLst>
          </p:cNvPr>
          <p:cNvCxnSpPr/>
          <p:nvPr/>
        </p:nvCxnSpPr>
        <p:spPr>
          <a:xfrm>
            <a:off x="7924800" y="4542173"/>
            <a:ext cx="381000"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cxnSp>
        <p:nvCxnSpPr>
          <p:cNvPr id="103" name="Straight Arrow Connector 102">
            <a:extLst>
              <a:ext uri="{FF2B5EF4-FFF2-40B4-BE49-F238E27FC236}">
                <a16:creationId xmlns:a16="http://schemas.microsoft.com/office/drawing/2014/main" id="{9367B863-44C1-BE4F-8DCB-5F5ED1E11916}"/>
              </a:ext>
            </a:extLst>
          </p:cNvPr>
          <p:cNvCxnSpPr/>
          <p:nvPr/>
        </p:nvCxnSpPr>
        <p:spPr>
          <a:xfrm>
            <a:off x="7924800" y="5200759"/>
            <a:ext cx="381000"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cxnSp>
        <p:nvCxnSpPr>
          <p:cNvPr id="104" name="Straight Arrow Connector 103">
            <a:extLst>
              <a:ext uri="{FF2B5EF4-FFF2-40B4-BE49-F238E27FC236}">
                <a16:creationId xmlns:a16="http://schemas.microsoft.com/office/drawing/2014/main" id="{156234D9-ED92-6747-8906-855A354D2DFA}"/>
              </a:ext>
            </a:extLst>
          </p:cNvPr>
          <p:cNvCxnSpPr/>
          <p:nvPr/>
        </p:nvCxnSpPr>
        <p:spPr>
          <a:xfrm>
            <a:off x="7924800" y="5736804"/>
            <a:ext cx="381000"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cxnSp>
        <p:nvCxnSpPr>
          <p:cNvPr id="113" name="Straight Arrow Connector 112">
            <a:extLst>
              <a:ext uri="{FF2B5EF4-FFF2-40B4-BE49-F238E27FC236}">
                <a16:creationId xmlns:a16="http://schemas.microsoft.com/office/drawing/2014/main" id="{EA6D8E74-44AF-6340-AE26-6AD614978E45}"/>
              </a:ext>
            </a:extLst>
          </p:cNvPr>
          <p:cNvCxnSpPr/>
          <p:nvPr/>
        </p:nvCxnSpPr>
        <p:spPr>
          <a:xfrm>
            <a:off x="7924800" y="6395390"/>
            <a:ext cx="381000"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sp>
        <p:nvSpPr>
          <p:cNvPr id="114" name="Oval 113">
            <a:extLst>
              <a:ext uri="{FF2B5EF4-FFF2-40B4-BE49-F238E27FC236}">
                <a16:creationId xmlns:a16="http://schemas.microsoft.com/office/drawing/2014/main" id="{2461E769-CA44-E548-AE73-3469040783B9}"/>
              </a:ext>
            </a:extLst>
          </p:cNvPr>
          <p:cNvSpPr/>
          <p:nvPr/>
        </p:nvSpPr>
        <p:spPr>
          <a:xfrm>
            <a:off x="8354786" y="2365866"/>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15" name="Oval 114">
            <a:extLst>
              <a:ext uri="{FF2B5EF4-FFF2-40B4-BE49-F238E27FC236}">
                <a16:creationId xmlns:a16="http://schemas.microsoft.com/office/drawing/2014/main" id="{C00E05E7-23F7-974A-8208-F953C6161251}"/>
              </a:ext>
            </a:extLst>
          </p:cNvPr>
          <p:cNvSpPr/>
          <p:nvPr/>
        </p:nvSpPr>
        <p:spPr>
          <a:xfrm>
            <a:off x="8354786" y="2975466"/>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16" name="Oval 115">
            <a:extLst>
              <a:ext uri="{FF2B5EF4-FFF2-40B4-BE49-F238E27FC236}">
                <a16:creationId xmlns:a16="http://schemas.microsoft.com/office/drawing/2014/main" id="{7D049E04-CFDB-0545-AFC2-62115C4821A7}"/>
              </a:ext>
            </a:extLst>
          </p:cNvPr>
          <p:cNvSpPr/>
          <p:nvPr/>
        </p:nvSpPr>
        <p:spPr>
          <a:xfrm>
            <a:off x="8352807" y="3585066"/>
            <a:ext cx="533400" cy="533400"/>
          </a:xfrm>
          <a:prstGeom prst="ellipse">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17" name="Oval 116">
            <a:extLst>
              <a:ext uri="{FF2B5EF4-FFF2-40B4-BE49-F238E27FC236}">
                <a16:creationId xmlns:a16="http://schemas.microsoft.com/office/drawing/2014/main" id="{67C751FF-33D2-B244-B73B-FC086E04B02E}"/>
              </a:ext>
            </a:extLst>
          </p:cNvPr>
          <p:cNvSpPr/>
          <p:nvPr/>
        </p:nvSpPr>
        <p:spPr>
          <a:xfrm>
            <a:off x="8356765" y="4194666"/>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18" name="Oval 117">
            <a:extLst>
              <a:ext uri="{FF2B5EF4-FFF2-40B4-BE49-F238E27FC236}">
                <a16:creationId xmlns:a16="http://schemas.microsoft.com/office/drawing/2014/main" id="{D5DDC259-9CA7-6642-84EF-C29917C337F9}"/>
              </a:ext>
            </a:extLst>
          </p:cNvPr>
          <p:cNvSpPr/>
          <p:nvPr/>
        </p:nvSpPr>
        <p:spPr>
          <a:xfrm>
            <a:off x="8356765" y="4804266"/>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1</a:t>
            </a:r>
          </a:p>
        </p:txBody>
      </p:sp>
      <p:sp>
        <p:nvSpPr>
          <p:cNvPr id="119" name="Oval 118">
            <a:extLst>
              <a:ext uri="{FF2B5EF4-FFF2-40B4-BE49-F238E27FC236}">
                <a16:creationId xmlns:a16="http://schemas.microsoft.com/office/drawing/2014/main" id="{141477E0-F914-964B-B2B1-693BBF28AF9D}"/>
              </a:ext>
            </a:extLst>
          </p:cNvPr>
          <p:cNvSpPr/>
          <p:nvPr/>
        </p:nvSpPr>
        <p:spPr>
          <a:xfrm>
            <a:off x="8354786" y="5413866"/>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20" name="Oval 119">
            <a:extLst>
              <a:ext uri="{FF2B5EF4-FFF2-40B4-BE49-F238E27FC236}">
                <a16:creationId xmlns:a16="http://schemas.microsoft.com/office/drawing/2014/main" id="{795F5880-A17F-154E-8C27-AD65CC2892F1}"/>
              </a:ext>
            </a:extLst>
          </p:cNvPr>
          <p:cNvSpPr/>
          <p:nvPr/>
        </p:nvSpPr>
        <p:spPr>
          <a:xfrm>
            <a:off x="8354786" y="1756266"/>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21" name="Oval 120">
            <a:extLst>
              <a:ext uri="{FF2B5EF4-FFF2-40B4-BE49-F238E27FC236}">
                <a16:creationId xmlns:a16="http://schemas.microsoft.com/office/drawing/2014/main" id="{86C188B0-DB19-2E49-9B72-D4DF86957986}"/>
              </a:ext>
            </a:extLst>
          </p:cNvPr>
          <p:cNvSpPr/>
          <p:nvPr/>
        </p:nvSpPr>
        <p:spPr>
          <a:xfrm>
            <a:off x="8354786" y="6023466"/>
            <a:ext cx="533400" cy="533400"/>
          </a:xfrm>
          <a:prstGeom prst="ellipse">
            <a:avLst/>
          </a:prstGeom>
          <a:ln>
            <a:solidFill>
              <a:schemeClr val="tx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0</a:t>
            </a:r>
          </a:p>
        </p:txBody>
      </p:sp>
      <p:sp>
        <p:nvSpPr>
          <p:cNvPr id="122" name="TextBox 121">
            <a:extLst>
              <a:ext uri="{FF2B5EF4-FFF2-40B4-BE49-F238E27FC236}">
                <a16:creationId xmlns:a16="http://schemas.microsoft.com/office/drawing/2014/main" id="{EF262AC0-8632-9F49-9101-326CBEFEA3B5}"/>
              </a:ext>
            </a:extLst>
          </p:cNvPr>
          <p:cNvSpPr txBox="1"/>
          <p:nvPr/>
        </p:nvSpPr>
        <p:spPr>
          <a:xfrm>
            <a:off x="8000010" y="1081910"/>
            <a:ext cx="1220190" cy="646331"/>
          </a:xfrm>
          <a:prstGeom prst="rect">
            <a:avLst/>
          </a:prstGeom>
          <a:noFill/>
        </p:spPr>
        <p:txBody>
          <a:bodyPr wrap="square" rtlCol="0">
            <a:spAutoFit/>
          </a:bodyPr>
          <a:lstStyle/>
          <a:p>
            <a:r>
              <a:rPr lang="en-US" dirty="0">
                <a:solidFill>
                  <a:srgbClr val="0000FF"/>
                </a:solidFill>
                <a:latin typeface="Arial" pitchFamily="34" charset="0"/>
                <a:cs typeface="Arial" pitchFamily="34" charset="0"/>
              </a:rPr>
              <a:t>One-hot of context</a:t>
            </a:r>
          </a:p>
        </p:txBody>
      </p:sp>
      <p:sp>
        <p:nvSpPr>
          <p:cNvPr id="2" name="Rectangle 1">
            <a:extLst>
              <a:ext uri="{FF2B5EF4-FFF2-40B4-BE49-F238E27FC236}">
                <a16:creationId xmlns:a16="http://schemas.microsoft.com/office/drawing/2014/main" id="{30A7EB02-775C-2A45-A428-6A27F04A1296}"/>
              </a:ext>
            </a:extLst>
          </p:cNvPr>
          <p:cNvSpPr/>
          <p:nvPr/>
        </p:nvSpPr>
        <p:spPr>
          <a:xfrm rot="20723360">
            <a:off x="8157002" y="4858672"/>
            <a:ext cx="1015804" cy="460866"/>
          </a:xfrm>
          <a:prstGeom prst="rect">
            <a:avLst/>
          </a:prstGeom>
          <a:solidFill>
            <a:srgbClr val="FF0000"/>
          </a:solidFill>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r>
              <a:rPr lang="en-US" dirty="0"/>
              <a:t>drink</a:t>
            </a:r>
          </a:p>
        </p:txBody>
      </p:sp>
    </p:spTree>
    <p:extLst>
      <p:ext uri="{BB962C8B-B14F-4D97-AF65-F5344CB8AC3E}">
        <p14:creationId xmlns:p14="http://schemas.microsoft.com/office/powerpoint/2010/main" val="40019026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591B1-8FEE-B945-9A2C-B7AF7556E28E}"/>
              </a:ext>
            </a:extLst>
          </p:cNvPr>
          <p:cNvSpPr>
            <a:spLocks noGrp="1"/>
          </p:cNvSpPr>
          <p:nvPr>
            <p:ph type="title"/>
          </p:nvPr>
        </p:nvSpPr>
        <p:spPr/>
        <p:txBody>
          <a:bodyPr/>
          <a:lstStyle/>
          <a:p>
            <a:r>
              <a:rPr lang="en-US" dirty="0"/>
              <a:t>Word2Vec: Example</a:t>
            </a:r>
          </a:p>
        </p:txBody>
      </p:sp>
      <p:sp>
        <p:nvSpPr>
          <p:cNvPr id="3" name="Content Placeholder 2">
            <a:extLst>
              <a:ext uri="{FF2B5EF4-FFF2-40B4-BE49-F238E27FC236}">
                <a16:creationId xmlns:a16="http://schemas.microsoft.com/office/drawing/2014/main" id="{06F19A1F-2933-8C42-AA8B-785E9A2F132C}"/>
              </a:ext>
            </a:extLst>
          </p:cNvPr>
          <p:cNvSpPr>
            <a:spLocks noGrp="1"/>
          </p:cNvSpPr>
          <p:nvPr>
            <p:ph idx="1"/>
          </p:nvPr>
        </p:nvSpPr>
        <p:spPr>
          <a:xfrm>
            <a:off x="457200" y="1295400"/>
            <a:ext cx="8610600" cy="5257801"/>
          </a:xfrm>
        </p:spPr>
        <p:txBody>
          <a:bodyPr/>
          <a:lstStyle/>
          <a:p>
            <a:r>
              <a:rPr lang="en-US" dirty="0"/>
              <a:t>The network learns by comparing </a:t>
            </a:r>
            <a:r>
              <a:rPr lang="en-US" dirty="0" err="1"/>
              <a:t>softmax</a:t>
            </a:r>
            <a:r>
              <a:rPr lang="en-US" dirty="0"/>
              <a:t> vector to the one-hot of true context word.</a:t>
            </a:r>
          </a:p>
          <a:p>
            <a:r>
              <a:rPr lang="en-US" dirty="0"/>
              <a:t>In our example </a:t>
            </a:r>
            <a:r>
              <a:rPr lang="en-US" dirty="0">
                <a:solidFill>
                  <a:srgbClr val="D60093"/>
                </a:solidFill>
              </a:rPr>
              <a:t>target = “books”</a:t>
            </a:r>
            <a:r>
              <a:rPr lang="en-US" dirty="0"/>
              <a:t>, one correct </a:t>
            </a:r>
            <a:r>
              <a:rPr lang="en-US" dirty="0">
                <a:solidFill>
                  <a:srgbClr val="008000"/>
                </a:solidFill>
              </a:rPr>
              <a:t>context</a:t>
            </a:r>
            <a:r>
              <a:rPr lang="en-US" dirty="0"/>
              <a:t> =“</a:t>
            </a:r>
            <a:r>
              <a:rPr lang="en-US" dirty="0">
                <a:solidFill>
                  <a:srgbClr val="008000"/>
                </a:solidFill>
              </a:rPr>
              <a:t>read</a:t>
            </a:r>
            <a:r>
              <a:rPr lang="en-US" dirty="0"/>
              <a:t>” but we predicted “</a:t>
            </a:r>
            <a:r>
              <a:rPr lang="en-US" dirty="0">
                <a:solidFill>
                  <a:srgbClr val="FF0000"/>
                </a:solidFill>
              </a:rPr>
              <a:t>drink</a:t>
            </a:r>
            <a:r>
              <a:rPr lang="en-US" dirty="0"/>
              <a:t>”</a:t>
            </a:r>
          </a:p>
          <a:p>
            <a:pPr lvl="1"/>
            <a:r>
              <a:rPr lang="en-US" sz="2500" dirty="0"/>
              <a:t>Predicted vector = [0.001,</a:t>
            </a:r>
            <a:r>
              <a:rPr lang="en-US" sz="2500" dirty="0">
                <a:solidFill>
                  <a:srgbClr val="FF0000"/>
                </a:solidFill>
              </a:rPr>
              <a:t>0.104</a:t>
            </a:r>
            <a:r>
              <a:rPr lang="en-US" sz="2500" dirty="0"/>
              <a:t>,0,0.077,0.177,0.627,0.008,0.013]</a:t>
            </a:r>
          </a:p>
          <a:p>
            <a:pPr lvl="1"/>
            <a:r>
              <a:rPr lang="en-US" sz="2500" dirty="0"/>
              <a:t>One-hot of “read”= [0,</a:t>
            </a:r>
            <a:r>
              <a:rPr lang="en-US" sz="2500" dirty="0">
                <a:solidFill>
                  <a:srgbClr val="FF0000"/>
                </a:solidFill>
              </a:rPr>
              <a:t>1</a:t>
            </a:r>
            <a:r>
              <a:rPr lang="en-US" sz="2500" dirty="0"/>
              <a:t>,0,0,0,0,0,0]</a:t>
            </a:r>
          </a:p>
          <a:p>
            <a:pPr marL="457200" lvl="1" indent="0">
              <a:buNone/>
            </a:pPr>
            <a:endParaRPr lang="en-US" sz="2200" dirty="0"/>
          </a:p>
          <a:p>
            <a:pPr marL="457200" lvl="1" indent="0">
              <a:buNone/>
            </a:pPr>
            <a:r>
              <a:rPr lang="en-US" sz="2200" dirty="0"/>
              <a:t>Then</a:t>
            </a:r>
          </a:p>
          <a:p>
            <a:pPr marL="457200" lvl="1" indent="0">
              <a:buNone/>
            </a:pPr>
            <a:endParaRPr lang="en-US" sz="2200" dirty="0"/>
          </a:p>
        </p:txBody>
      </p:sp>
      <p:sp>
        <p:nvSpPr>
          <p:cNvPr id="4" name="Date Placeholder 3">
            <a:extLst>
              <a:ext uri="{FF2B5EF4-FFF2-40B4-BE49-F238E27FC236}">
                <a16:creationId xmlns:a16="http://schemas.microsoft.com/office/drawing/2014/main" id="{AC081DAB-377E-6142-822A-DF26EFC4DB2B}"/>
              </a:ext>
            </a:extLst>
          </p:cNvPr>
          <p:cNvSpPr>
            <a:spLocks noGrp="1"/>
          </p:cNvSpPr>
          <p:nvPr>
            <p:ph type="dt" sz="half" idx="10"/>
          </p:nvPr>
        </p:nvSpPr>
        <p:spPr/>
        <p:txBody>
          <a:bodyPr/>
          <a:lstStyle/>
          <a:p>
            <a:fld id="{6B31BD02-7F71-A347-8F56-35C3E4B8A2DB}" type="datetime1">
              <a:rPr lang="en-US" smtClean="0"/>
              <a:t>11/3/24</a:t>
            </a:fld>
            <a:endParaRPr lang="en-US"/>
          </a:p>
        </p:txBody>
      </p:sp>
      <p:sp>
        <p:nvSpPr>
          <p:cNvPr id="5" name="Footer Placeholder 4">
            <a:extLst>
              <a:ext uri="{FF2B5EF4-FFF2-40B4-BE49-F238E27FC236}">
                <a16:creationId xmlns:a16="http://schemas.microsoft.com/office/drawing/2014/main" id="{359A655D-192E-9F4C-B3F1-BCC06D693916}"/>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38DD9C56-5CC0-FC45-A382-1D2EB220AFF6}"/>
              </a:ext>
            </a:extLst>
          </p:cNvPr>
          <p:cNvSpPr>
            <a:spLocks noGrp="1"/>
          </p:cNvSpPr>
          <p:nvPr>
            <p:ph type="sldNum" sz="quarter" idx="12"/>
          </p:nvPr>
        </p:nvSpPr>
        <p:spPr/>
        <p:txBody>
          <a:bodyPr/>
          <a:lstStyle/>
          <a:p>
            <a:fld id="{19B12225-5612-419B-A8D5-4B8EEE4C217E}" type="slidenum">
              <a:rPr lang="en-US" smtClean="0"/>
              <a:pPr/>
              <a:t>63</a:t>
            </a:fld>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1E77CC6-F0E9-C640-AE90-ECCCA07AFCC5}"/>
                  </a:ext>
                </a:extLst>
              </p:cNvPr>
              <p:cNvSpPr txBox="1"/>
              <p:nvPr/>
            </p:nvSpPr>
            <p:spPr>
              <a:xfrm>
                <a:off x="1638300" y="4846734"/>
                <a:ext cx="5867400"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cs typeface="Arial" pitchFamily="34" charset="0"/>
                        </a:rPr>
                        <m:t>𝐿</m:t>
                      </m:r>
                      <m:r>
                        <a:rPr lang="en-US" sz="2200" b="0" i="1" smtClean="0">
                          <a:latin typeface="Cambria Math" panose="02040503050406030204" pitchFamily="18" charset="0"/>
                          <a:cs typeface="Arial" pitchFamily="34" charset="0"/>
                        </a:rPr>
                        <m:t>=</m:t>
                      </m:r>
                      <m:r>
                        <a:rPr lang="en-US" sz="2200">
                          <a:latin typeface="Cambria Math" panose="02040503050406030204" pitchFamily="18" charset="0"/>
                          <a:cs typeface="Arial" pitchFamily="34" charset="0"/>
                        </a:rPr>
                        <m:t>−</m:t>
                      </m:r>
                      <m:func>
                        <m:funcPr>
                          <m:ctrlPr>
                            <a:rPr lang="en-US" sz="2200" i="1">
                              <a:latin typeface="Cambria Math" panose="02040503050406030204" pitchFamily="18" charset="0"/>
                              <a:cs typeface="Arial" pitchFamily="34" charset="0"/>
                            </a:rPr>
                          </m:ctrlPr>
                        </m:funcPr>
                        <m:fName>
                          <m:r>
                            <m:rPr>
                              <m:sty m:val="p"/>
                            </m:rPr>
                            <a:rPr lang="en-US" sz="2200">
                              <a:latin typeface="Cambria Math" panose="02040503050406030204" pitchFamily="18" charset="0"/>
                              <a:cs typeface="Arial" pitchFamily="34" charset="0"/>
                            </a:rPr>
                            <m:t>ln</m:t>
                          </m:r>
                        </m:fName>
                        <m:e>
                          <m:d>
                            <m:dPr>
                              <m:ctrlPr>
                                <a:rPr lang="en-US" sz="2200" i="1">
                                  <a:latin typeface="Cambria Math" panose="02040503050406030204" pitchFamily="18" charset="0"/>
                                  <a:cs typeface="Arial" pitchFamily="34" charset="0"/>
                                </a:rPr>
                              </m:ctrlPr>
                            </m:dPr>
                            <m:e>
                              <m:r>
                                <a:rPr lang="en-US" sz="2200" i="1">
                                  <a:latin typeface="Cambria Math" panose="02040503050406030204" pitchFamily="18" charset="0"/>
                                  <a:cs typeface="Arial" pitchFamily="34" charset="0"/>
                                </a:rPr>
                                <m:t>0.104</m:t>
                              </m:r>
                            </m:e>
                          </m:d>
                        </m:e>
                      </m:func>
                      <m:r>
                        <a:rPr lang="en-US" sz="2200" i="1">
                          <a:latin typeface="Cambria Math" panose="02040503050406030204" pitchFamily="18" charset="0"/>
                          <a:cs typeface="Arial" pitchFamily="34" charset="0"/>
                        </a:rPr>
                        <m:t>=2.26</m:t>
                      </m:r>
                    </m:oMath>
                  </m:oMathPara>
                </a14:m>
                <a:endParaRPr lang="en-US" sz="2200" dirty="0">
                  <a:latin typeface="Arial" pitchFamily="34" charset="0"/>
                  <a:cs typeface="Arial" pitchFamily="34" charset="0"/>
                </a:endParaRPr>
              </a:p>
            </p:txBody>
          </p:sp>
        </mc:Choice>
        <mc:Fallback xmlns="">
          <p:sp>
            <p:nvSpPr>
              <p:cNvPr id="10" name="TextBox 9">
                <a:extLst>
                  <a:ext uri="{FF2B5EF4-FFF2-40B4-BE49-F238E27FC236}">
                    <a16:creationId xmlns:a16="http://schemas.microsoft.com/office/drawing/2014/main" id="{21E77CC6-F0E9-C640-AE90-ECCCA07AFCC5}"/>
                  </a:ext>
                </a:extLst>
              </p:cNvPr>
              <p:cNvSpPr txBox="1">
                <a:spLocks noRot="1" noChangeAspect="1" noMove="1" noResize="1" noEditPoints="1" noAdjustHandles="1" noChangeArrowheads="1" noChangeShapeType="1" noTextEdit="1"/>
              </p:cNvSpPr>
              <p:nvPr/>
            </p:nvSpPr>
            <p:spPr>
              <a:xfrm>
                <a:off x="1638300" y="4846734"/>
                <a:ext cx="5867400" cy="338554"/>
              </a:xfrm>
              <a:prstGeom prst="rect">
                <a:avLst/>
              </a:prstGeom>
              <a:blipFill>
                <a:blip r:embed="rId2"/>
                <a:stretch>
                  <a:fillRect b="-7143"/>
                </a:stretch>
              </a:blipFill>
            </p:spPr>
            <p:txBody>
              <a:bodyPr/>
              <a:lstStyle/>
              <a:p>
                <a:r>
                  <a:rPr lang="en-US">
                    <a:noFill/>
                  </a:rPr>
                  <a:t> </a:t>
                </a:r>
              </a:p>
            </p:txBody>
          </p:sp>
        </mc:Fallback>
      </mc:AlternateContent>
    </p:spTree>
    <p:extLst>
      <p:ext uri="{BB962C8B-B14F-4D97-AF65-F5344CB8AC3E}">
        <p14:creationId xmlns:p14="http://schemas.microsoft.com/office/powerpoint/2010/main" val="13129214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A6B73-F01E-3A46-9096-3FA95FDDA7D7}"/>
              </a:ext>
            </a:extLst>
          </p:cNvPr>
          <p:cNvSpPr>
            <a:spLocks noGrp="1"/>
          </p:cNvSpPr>
          <p:nvPr>
            <p:ph type="title"/>
          </p:nvPr>
        </p:nvSpPr>
        <p:spPr/>
        <p:txBody>
          <a:bodyPr/>
          <a:lstStyle/>
          <a:p>
            <a:r>
              <a:rPr lang="en-US" dirty="0"/>
              <a:t>Word2Vec: Summary</a:t>
            </a:r>
          </a:p>
        </p:txBody>
      </p:sp>
      <p:sp>
        <p:nvSpPr>
          <p:cNvPr id="3" name="Content Placeholder 2">
            <a:extLst>
              <a:ext uri="{FF2B5EF4-FFF2-40B4-BE49-F238E27FC236}">
                <a16:creationId xmlns:a16="http://schemas.microsoft.com/office/drawing/2014/main" id="{3813127D-DCC9-264E-997E-F3DA70711C7B}"/>
              </a:ext>
            </a:extLst>
          </p:cNvPr>
          <p:cNvSpPr>
            <a:spLocks noGrp="1"/>
          </p:cNvSpPr>
          <p:nvPr>
            <p:ph idx="1"/>
          </p:nvPr>
        </p:nvSpPr>
        <p:spPr/>
        <p:txBody>
          <a:bodyPr>
            <a:normAutofit fontScale="92500"/>
          </a:bodyPr>
          <a:lstStyle/>
          <a:p>
            <a:r>
              <a:rPr lang="en-US" dirty="0"/>
              <a:t>Word2Vec comes in two architecture:</a:t>
            </a:r>
          </a:p>
          <a:p>
            <a:pPr lvl="1"/>
            <a:r>
              <a:rPr lang="en-US" dirty="0"/>
              <a:t>CBOW: Given context words, it predicts target word </a:t>
            </a:r>
          </a:p>
          <a:p>
            <a:pPr lvl="1"/>
            <a:r>
              <a:rPr lang="en-US" dirty="0"/>
              <a:t>Skip-Gram: Given target word, predicts context words </a:t>
            </a:r>
          </a:p>
          <a:p>
            <a:endParaRPr lang="en-US" dirty="0"/>
          </a:p>
          <a:p>
            <a:r>
              <a:rPr lang="en-US" dirty="0"/>
              <a:t>Skip Gram method:</a:t>
            </a:r>
          </a:p>
          <a:p>
            <a:pPr lvl="1"/>
            <a:r>
              <a:rPr lang="en-US" dirty="0"/>
              <a:t> works well with small amount of data and is found to represent rare words well</a:t>
            </a:r>
          </a:p>
          <a:p>
            <a:pPr lvl="1"/>
            <a:endParaRPr lang="en-US" dirty="0"/>
          </a:p>
          <a:p>
            <a:r>
              <a:rPr lang="en-US" dirty="0"/>
              <a:t>CBOW method:</a:t>
            </a:r>
          </a:p>
          <a:p>
            <a:pPr lvl="1"/>
            <a:r>
              <a:rPr lang="en-US" dirty="0"/>
              <a:t>is faster and more suitable for large data, it has better representations for more frequent words.</a:t>
            </a:r>
          </a:p>
          <a:p>
            <a:endParaRPr lang="en-US" dirty="0"/>
          </a:p>
        </p:txBody>
      </p:sp>
      <p:sp>
        <p:nvSpPr>
          <p:cNvPr id="4" name="Date Placeholder 3">
            <a:extLst>
              <a:ext uri="{FF2B5EF4-FFF2-40B4-BE49-F238E27FC236}">
                <a16:creationId xmlns:a16="http://schemas.microsoft.com/office/drawing/2014/main" id="{EAEFD6F4-AD84-0D42-BD7C-C8C98087A2C8}"/>
              </a:ext>
            </a:extLst>
          </p:cNvPr>
          <p:cNvSpPr>
            <a:spLocks noGrp="1"/>
          </p:cNvSpPr>
          <p:nvPr>
            <p:ph type="dt" sz="half" idx="10"/>
          </p:nvPr>
        </p:nvSpPr>
        <p:spPr/>
        <p:txBody>
          <a:bodyPr/>
          <a:lstStyle/>
          <a:p>
            <a:fld id="{2A19C47E-97B6-4D49-8531-F590973FAF10}" type="datetime1">
              <a:rPr lang="en-US" smtClean="0"/>
              <a:t>11/3/24</a:t>
            </a:fld>
            <a:endParaRPr lang="en-US"/>
          </a:p>
        </p:txBody>
      </p:sp>
      <p:sp>
        <p:nvSpPr>
          <p:cNvPr id="5" name="Footer Placeholder 4">
            <a:extLst>
              <a:ext uri="{FF2B5EF4-FFF2-40B4-BE49-F238E27FC236}">
                <a16:creationId xmlns:a16="http://schemas.microsoft.com/office/drawing/2014/main" id="{3210A960-2230-BA40-AD0F-3DE339562FC9}"/>
              </a:ext>
            </a:extLst>
          </p:cNvPr>
          <p:cNvSpPr>
            <a:spLocks noGrp="1"/>
          </p:cNvSpPr>
          <p:nvPr>
            <p:ph type="ftr" sz="quarter" idx="11"/>
          </p:nvPr>
        </p:nvSpPr>
        <p:spPr/>
        <p:txBody>
          <a:bodyPr/>
          <a:lstStyle/>
          <a:p>
            <a:r>
              <a:rPr lang="en-US"/>
              <a:t>Jure Leskovec &amp; Mina Ghashami, Stanford University </a:t>
            </a:r>
          </a:p>
        </p:txBody>
      </p:sp>
      <p:sp>
        <p:nvSpPr>
          <p:cNvPr id="6" name="Slide Number Placeholder 5">
            <a:extLst>
              <a:ext uri="{FF2B5EF4-FFF2-40B4-BE49-F238E27FC236}">
                <a16:creationId xmlns:a16="http://schemas.microsoft.com/office/drawing/2014/main" id="{FCBF61A7-B682-AE48-8439-D2C0D6CB127F}"/>
              </a:ext>
            </a:extLst>
          </p:cNvPr>
          <p:cNvSpPr>
            <a:spLocks noGrp="1"/>
          </p:cNvSpPr>
          <p:nvPr>
            <p:ph type="sldNum" sz="quarter" idx="12"/>
          </p:nvPr>
        </p:nvSpPr>
        <p:spPr/>
        <p:txBody>
          <a:bodyPr/>
          <a:lstStyle/>
          <a:p>
            <a:fld id="{19B12225-5612-419B-A8D5-4B8EEE4C217E}" type="slidenum">
              <a:rPr lang="en-US" smtClean="0"/>
              <a:pPr/>
              <a:t>64</a:t>
            </a:fld>
            <a:endParaRPr lang="en-US"/>
          </a:p>
        </p:txBody>
      </p:sp>
    </p:spTree>
    <p:extLst>
      <p:ext uri="{BB962C8B-B14F-4D97-AF65-F5344CB8AC3E}">
        <p14:creationId xmlns:p14="http://schemas.microsoft.com/office/powerpoint/2010/main" val="20820882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w="38100">
          <a:solidFill>
            <a:srgbClr val="008000"/>
          </a:solidFill>
        </a:ln>
      </a:spPr>
      <a:bodyPr rtlCol="0" anchor="ctr"/>
      <a:lstStyle>
        <a:defPPr algn="ctr">
          <a:defRPr/>
        </a:defPPr>
      </a:lstStyle>
      <a:style>
        <a:lnRef idx="1">
          <a:schemeClr val="dk1"/>
        </a:lnRef>
        <a:fillRef idx="0">
          <a:schemeClr val="dk1"/>
        </a:fillRef>
        <a:effectRef idx="0">
          <a:schemeClr val="dk1"/>
        </a:effectRef>
        <a:fontRef idx="minor">
          <a:schemeClr val="tx1"/>
        </a:fontRef>
      </a:style>
    </a:spDef>
    <a:lnDef>
      <a:spPr>
        <a:ln w="28575"/>
      </a:spPr>
      <a:bodyPr/>
      <a:lstStyle/>
      <a:style>
        <a:lnRef idx="1">
          <a:schemeClr val="dk1"/>
        </a:lnRef>
        <a:fillRef idx="0">
          <a:schemeClr val="dk1"/>
        </a:fillRef>
        <a:effectRef idx="0">
          <a:schemeClr val="dk1"/>
        </a:effectRef>
        <a:fontRef idx="minor">
          <a:schemeClr val="tx1"/>
        </a:fontRef>
      </a:style>
    </a:lnDef>
    <a:txDef>
      <a:spPr>
        <a:noFill/>
      </a:spPr>
      <a:bodyPr wrap="none" rtlCol="0">
        <a:spAutoFit/>
      </a:bodyPr>
      <a:lstStyle>
        <a:defPPr>
          <a:defRPr dirty="0" smtClean="0">
            <a:latin typeface="Arial" pitchFamily="34" charset="0"/>
            <a:cs typeface="Arial"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52888</TotalTime>
  <Words>6703</Words>
  <Application>Microsoft Macintosh PowerPoint</Application>
  <PresentationFormat>On-screen Show (4:3)</PresentationFormat>
  <Paragraphs>1513</Paragraphs>
  <Slides>64</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64</vt:i4>
      </vt:variant>
    </vt:vector>
  </HeadingPairs>
  <TitlesOfParts>
    <vt:vector size="73" baseType="lpstr">
      <vt:lpstr>Arial</vt:lpstr>
      <vt:lpstr>Calibri</vt:lpstr>
      <vt:lpstr>Cambria Math</vt:lpstr>
      <vt:lpstr>Corbel</vt:lpstr>
      <vt:lpstr>Symbol</vt:lpstr>
      <vt:lpstr>Times New Roman</vt:lpstr>
      <vt:lpstr>Wingdings</vt:lpstr>
      <vt:lpstr>Wingdings 2</vt:lpstr>
      <vt:lpstr>Module</vt:lpstr>
      <vt:lpstr>Neural Networks</vt:lpstr>
      <vt:lpstr>Input Feature Vectors</vt:lpstr>
      <vt:lpstr>Categorical Features</vt:lpstr>
      <vt:lpstr>Integer Encoding</vt:lpstr>
      <vt:lpstr>One-hot Encoding</vt:lpstr>
      <vt:lpstr>Multi-hot Encoding</vt:lpstr>
      <vt:lpstr>Applying encodings on Movies dataset</vt:lpstr>
      <vt:lpstr>From encoding to embedding</vt:lpstr>
      <vt:lpstr>Review: SVD as an embedder</vt:lpstr>
      <vt:lpstr>PowerPoint Presentation</vt:lpstr>
      <vt:lpstr>Review: SVD as an embedder</vt:lpstr>
      <vt:lpstr>Review: SVD as an embedder</vt:lpstr>
      <vt:lpstr>Review: SVD as an embedder</vt:lpstr>
      <vt:lpstr>Review: SVD as an embedder</vt:lpstr>
      <vt:lpstr>Review: SVD as an embedder</vt:lpstr>
      <vt:lpstr>Review: SVD as an embedder</vt:lpstr>
      <vt:lpstr>Review: SVD as an embedder</vt:lpstr>
      <vt:lpstr>Review: SVD as an embedder</vt:lpstr>
      <vt:lpstr>Review: SVD as an embedder</vt:lpstr>
      <vt:lpstr>Review: SVD as an embedder</vt:lpstr>
      <vt:lpstr>Review: SVD as an embedder</vt:lpstr>
      <vt:lpstr>Review: SVD as an embedder</vt:lpstr>
      <vt:lpstr>From SVD to Neural Networks</vt:lpstr>
      <vt:lpstr>Neural Networks Fundamentals</vt:lpstr>
      <vt:lpstr>Neural Network: Architecture</vt:lpstr>
      <vt:lpstr>Neural Network</vt:lpstr>
      <vt:lpstr>Neural Network: A Neuron</vt:lpstr>
      <vt:lpstr>Neural Network: A Layer</vt:lpstr>
      <vt:lpstr>Neural Network: A Layer</vt:lpstr>
      <vt:lpstr>Neural Network: Loss Function</vt:lpstr>
      <vt:lpstr>Cross Entropy Loss</vt:lpstr>
      <vt:lpstr>Cross Entropy Loss</vt:lpstr>
      <vt:lpstr>Neural Network: Training</vt:lpstr>
      <vt:lpstr>Neural Network</vt:lpstr>
      <vt:lpstr>Learning Embeddings using Neural Networks</vt:lpstr>
      <vt:lpstr>Task Independent Embedding</vt:lpstr>
      <vt:lpstr>Word2Vec</vt:lpstr>
      <vt:lpstr>Word2Vec: target and context</vt:lpstr>
      <vt:lpstr>Word2Vec: target and context</vt:lpstr>
      <vt:lpstr>Word2Vec: architecture</vt:lpstr>
      <vt:lpstr>Word2Vec: high level architecture</vt:lpstr>
      <vt:lpstr>Word2Vec: high level architecture</vt:lpstr>
      <vt:lpstr>Word2Vec: architecture</vt:lpstr>
      <vt:lpstr>Word2Vec: architecture</vt:lpstr>
      <vt:lpstr>Word2Vec: architecture</vt:lpstr>
      <vt:lpstr>Word2Vec: architecture</vt:lpstr>
      <vt:lpstr>Word2Vec: Training the network</vt:lpstr>
      <vt:lpstr>Word2Vec: Training data</vt:lpstr>
      <vt:lpstr>Word2Vec: Training data</vt:lpstr>
      <vt:lpstr>Word2Vec: Loss function</vt:lpstr>
      <vt:lpstr>Word2Vec: Loss function</vt:lpstr>
      <vt:lpstr>Word2Vec: Backpropagation</vt:lpstr>
      <vt:lpstr>Word2Vec: Example</vt:lpstr>
      <vt:lpstr>Word2Vec: Example</vt:lpstr>
      <vt:lpstr>Word2Vec: Example</vt:lpstr>
      <vt:lpstr>Word2Vec: Example</vt:lpstr>
      <vt:lpstr>Word2Vec: Example</vt:lpstr>
      <vt:lpstr>Word2Vec: Example</vt:lpstr>
      <vt:lpstr>Word2Vec: Example</vt:lpstr>
      <vt:lpstr>Word2Vec: Example</vt:lpstr>
      <vt:lpstr>Word2Vec: Example</vt:lpstr>
      <vt:lpstr>Word2Vec: Example</vt:lpstr>
      <vt:lpstr>Word2Vec: Example</vt:lpstr>
      <vt:lpstr>Word2Vec: Summary</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jure</dc:creator>
  <cp:lastModifiedBy>Microsoft Office User</cp:lastModifiedBy>
  <cp:revision>2026</cp:revision>
  <cp:lastPrinted>2022-01-27T18:35:56Z</cp:lastPrinted>
  <dcterms:created xsi:type="dcterms:W3CDTF">2009-06-12T17:14:38Z</dcterms:created>
  <dcterms:modified xsi:type="dcterms:W3CDTF">2024-11-06T00:17:43Z</dcterms:modified>
</cp:coreProperties>
</file>