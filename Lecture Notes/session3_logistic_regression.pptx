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57" r:id="rId4"/>
    <p:sldId id="258" r:id="rId5"/>
    <p:sldId id="263" r:id="rId6"/>
    <p:sldId id="259" r:id="rId7"/>
    <p:sldId id="260" r:id="rId8"/>
    <p:sldId id="261" r:id="rId9"/>
    <p:sldId id="262" r:id="rId10"/>
    <p:sldId id="264" r:id="rId11"/>
    <p:sldId id="265" r:id="rId12"/>
    <p:sldId id="280" r:id="rId13"/>
    <p:sldId id="266" r:id="rId14"/>
    <p:sldId id="292" r:id="rId15"/>
    <p:sldId id="293" r:id="rId16"/>
    <p:sldId id="267" r:id="rId17"/>
    <p:sldId id="268" r:id="rId18"/>
    <p:sldId id="269" r:id="rId19"/>
    <p:sldId id="270" r:id="rId20"/>
    <p:sldId id="271" r:id="rId21"/>
    <p:sldId id="281" r:id="rId22"/>
    <p:sldId id="294" r:id="rId23"/>
    <p:sldId id="272" r:id="rId24"/>
    <p:sldId id="295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96" r:id="rId33"/>
    <p:sldId id="282" r:id="rId34"/>
    <p:sldId id="290" r:id="rId35"/>
    <p:sldId id="297" r:id="rId36"/>
    <p:sldId id="283" r:id="rId37"/>
    <p:sldId id="284" r:id="rId38"/>
    <p:sldId id="285" r:id="rId39"/>
    <p:sldId id="286" r:id="rId40"/>
    <p:sldId id="287" r:id="rId41"/>
    <p:sldId id="288" r:id="rId42"/>
    <p:sldId id="298" r:id="rId43"/>
    <p:sldId id="28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47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24CD-9AA1-DD3E-47D7-190F93162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F9305-B367-4437-230A-83F68C5BB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391C1-DDF8-EB64-9FB2-ECF1FE86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A3FD5-D2CE-FB32-4C7B-24AAFC07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3D6F6-2B38-09D8-2688-2F073CA2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7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3360-3156-743C-E7EA-6C4F7D9F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ABE7-600D-C6D4-0B7D-5973F8497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1B92-3AF0-1E42-7023-0801F36E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A6B91-2557-2FF7-DDB8-D03BD673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73216-08C6-99A6-1D45-89414DEF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2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649A-3412-FD61-2043-B0C57526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08BF7-A7CF-9BBC-4FE5-B101974C5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CA196-926F-439F-5164-B880FCE3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9E3D2-0E0A-A1FF-DE39-893D9B2C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9F20-CEBF-C729-27B1-656C36DE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3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8E0E-82ED-5B14-1431-643E882A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3D932-6887-37E1-F340-4A4348E49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231CD-D7E2-5A01-A6E1-A6F49F7A1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4EEAB-F14B-06AD-E908-24CDF6BE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F67B2-8DE0-9403-FAFE-7E636362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B8E28-5B06-886D-CE92-C98EF131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0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F57D-2FE4-DA2F-A161-B610F4B2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9D7A-C1AD-D221-0F07-E4F0BCBED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C4CE7-6C2F-EF31-EE50-C98D04AE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B37FD-2FB5-D820-058D-BC64B4B05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6D666-EB6F-06CB-A489-902AA7C9F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2FC960-9282-2AB6-8AEC-BC081C3D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092AF-8C86-BB2E-55A2-77F99C25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FA64D0-F4E3-F43C-2435-EA40598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2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B242-5401-DD89-9C63-0DBC58A5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9D0147-F4D3-8490-7816-F93798FC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973F1-DCED-3D6E-5CA6-4CCABA9A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09329-E6E1-0F9E-2737-F8341EB2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010E-47EE-03ED-5D6B-313751EC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CBDC2-030E-B36C-0DDA-7E016076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EC4FD-9F5A-D8CB-BC63-57885EF1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B771-D038-AC5A-8F64-AFC3463C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81A7-ED7A-676E-1104-9D586291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4E89F-0AA5-835D-9D3E-659324865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65278-9067-D205-B931-FD3851CF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42340-87C2-1495-D96E-2307819A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529E8-0D24-85F7-33E3-6C171EF9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3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11B4-4213-E086-FA68-99E61C8C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57169-10F2-D39B-59C6-F6A49E4C6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876F4-BC3F-8418-EE02-64992644D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2EAC3-E021-2943-D42C-42BF2D15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1947A-E4AA-03FA-E266-7697F31E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FD2B6-F221-3298-1641-373E1B67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39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2179-BCF7-E0EF-1674-14F84F68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F2A85-2F81-E3B4-F463-336D43A72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73E27-BFDD-EEF5-EA14-D813DB2C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3D05F-6552-5CC3-4679-42FD435D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50DB-CD8F-9A10-5809-6621D94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1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F9C86-2413-B8EA-1A9E-14680E765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DFA78-FFEC-DF28-7DBB-7651DAA78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F593-9E3A-20A9-EB92-C333697B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5EE86-775D-B762-26DD-40028F7D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7FB8C-3736-C0BF-BC27-A03DCE7E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0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864096-77D4-D378-8462-EDC6D95F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7232A-181D-9A6D-8CFD-DA84CC58E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E21AF-C1A9-9F85-A944-5D4D5F201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E7056-0CAB-5246-9CF0-FCA49FE84A8D}" type="datetimeFigureOut">
              <a:rPr lang="en-US" smtClean="0"/>
              <a:t>9/16/24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FF218-63DD-3238-FACB-118334B3E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4DCA1-7500-5065-F50A-B1C75E227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4B96-4FBE-724C-92F4-D107CB63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svivek.com/teaching/lectures/slides/logistic-regression/logistic-regressio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EABA-7411-D2C4-442F-9825EC690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AB7AA-C669-D15F-F2EA-EA0315AC7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53686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5B5E-ABDB-911F-0218-FCCC11BF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1727-6BE2-EF29-78E6-90AC998C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Perceptron, Adaline </a:t>
            </a:r>
          </a:p>
          <a:p>
            <a:r>
              <a:rPr lang="en-US" dirty="0">
                <a:highlight>
                  <a:srgbClr val="FFFF00"/>
                </a:highlight>
              </a:rPr>
              <a:t>Binary Linear classifiers</a:t>
            </a:r>
            <a:r>
              <a:rPr lang="en-US" dirty="0"/>
              <a:t>: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-&gt; W: weight param, x: feature vector</a:t>
            </a:r>
          </a:p>
          <a:p>
            <a:r>
              <a:rPr lang="en-US" dirty="0"/>
              <a:t>Threshold function: sign </a:t>
            </a:r>
            <a:r>
              <a:rPr lang="en-US" dirty="0">
                <a:sym typeface="Wingdings" pitchFamily="2" charset="2"/>
              </a:rPr>
              <a:t> y^ = sign(</a:t>
            </a:r>
            <a:r>
              <a:rPr lang="en-US" dirty="0" err="1">
                <a:sym typeface="Wingdings" pitchFamily="2" charset="2"/>
              </a:rPr>
              <a:t>W</a:t>
            </a:r>
            <a:r>
              <a:rPr lang="en-US" baseline="30000" dirty="0" err="1">
                <a:sym typeface="Wingdings" pitchFamily="2" charset="2"/>
              </a:rPr>
              <a:t>T</a:t>
            </a:r>
            <a:r>
              <a:rPr lang="en-US" dirty="0" err="1">
                <a:sym typeface="Wingdings" pitchFamily="2" charset="2"/>
              </a:rPr>
              <a:t>x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r>
              <a:rPr lang="en-US" dirty="0">
                <a:sym typeface="Wingdings" pitchFamily="2" charset="2"/>
              </a:rPr>
              <a:t>Range(</a:t>
            </a:r>
            <a:r>
              <a:rPr lang="en-US" dirty="0" err="1">
                <a:sym typeface="Wingdings" pitchFamily="2" charset="2"/>
              </a:rPr>
              <a:t>W</a:t>
            </a:r>
            <a:r>
              <a:rPr lang="en-US" baseline="30000" dirty="0" err="1">
                <a:sym typeface="Wingdings" pitchFamily="2" charset="2"/>
              </a:rPr>
              <a:t>T</a:t>
            </a:r>
            <a:r>
              <a:rPr lang="en-US" dirty="0" err="1">
                <a:sym typeface="Wingdings" pitchFamily="2" charset="2"/>
              </a:rPr>
              <a:t>x</a:t>
            </a:r>
            <a:r>
              <a:rPr lang="en-US" dirty="0">
                <a:sym typeface="Wingdings" pitchFamily="2" charset="2"/>
              </a:rPr>
              <a:t>) in R </a:t>
            </a:r>
          </a:p>
          <a:p>
            <a:r>
              <a:rPr lang="en-US" dirty="0">
                <a:sym typeface="Wingdings" pitchFamily="2" charset="2"/>
              </a:rPr>
              <a:t>Logistic regression: binary linear classifier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86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AEA8-6176-DE11-84F4-55CED8E7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9B24-C572-B7A2-0C1A-B4AB9095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586F6-65FB-0485-9D5E-E80123E0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2" y="297824"/>
            <a:ext cx="8857594" cy="59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0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F32F-90C6-7B1B-C233-0DA8A007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7A5CD-4730-8CB3-D8A3-0F4FF301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09FF9-1DE2-7A53-E00D-D455268D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42" y="236969"/>
            <a:ext cx="8962696" cy="59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9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F014-28B0-0E08-0F21-86722597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9ACC9-1CA8-65A9-16C4-F68FC7971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54C41-8A6C-F7A0-EE4D-BE2C92EB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4168"/>
            <a:ext cx="8568559" cy="592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03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AA2B-4F11-0801-8746-CB16D325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BA06-10B7-21C4-1360-0321C072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74C7F-ED59-B1AE-B3B6-61BBD6FC8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4659"/>
            <a:ext cx="8936421" cy="579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3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7D8D-49E1-5576-FB35-9862AEE0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DD87-5F96-284F-442D-16E11517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07833-3CDE-6A55-6DEF-BB30AF94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2" y="310120"/>
            <a:ext cx="8752490" cy="58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9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AA2B-4F11-0801-8746-CB16D325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BA06-10B7-21C4-1360-0321C072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83C61-8791-89E3-CAC7-862ADA15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2" y="247768"/>
            <a:ext cx="8699938" cy="59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3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7D8D-49E1-5576-FB35-9862AEE0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DD87-5F96-284F-442D-16E11517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6CF88-0574-982F-6B6F-C6666A9A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0651"/>
            <a:ext cx="8967952" cy="582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2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BF07B-D3AF-32A2-3A08-E55C069F8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468"/>
            <a:ext cx="9104586" cy="591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4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E9139-8BBA-26EC-BBE0-BB51D104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2404"/>
            <a:ext cx="8873359" cy="581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2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EABA-7411-D2C4-442F-9825EC690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AB7AA-C669-D15F-F2EA-EA0315AC7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First: Maximum likelihood estimation (MLE)</a:t>
            </a:r>
          </a:p>
          <a:p>
            <a:r>
              <a:rPr lang="en-US" dirty="0"/>
              <a:t>Then: Adding priors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Maximum a Posteriori estimation</a:t>
            </a:r>
          </a:p>
        </p:txBody>
      </p:sp>
    </p:spTree>
    <p:extLst>
      <p:ext uri="{BB962C8B-B14F-4D97-AF65-F5344CB8AC3E}">
        <p14:creationId xmlns:p14="http://schemas.microsoft.com/office/powerpoint/2010/main" val="444844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4ED98-7B4D-EFAB-7DE7-31298182C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1" y="206641"/>
            <a:ext cx="8657897" cy="597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5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44D9-CBEE-8A66-F960-096C5FCA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= 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174EB-EB87-C4AE-E78E-857749BF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find parameters W </a:t>
            </a:r>
          </a:p>
          <a:p>
            <a:r>
              <a:rPr lang="en-US" dirty="0"/>
              <a:t>Given: data S </a:t>
            </a:r>
          </a:p>
          <a:p>
            <a:r>
              <a:rPr lang="en-US" dirty="0"/>
              <a:t>How: w = argmax P(</a:t>
            </a:r>
            <a:r>
              <a:rPr lang="en-US" dirty="0" err="1"/>
              <a:t>w|S</a:t>
            </a:r>
            <a:r>
              <a:rPr lang="en-US" dirty="0"/>
              <a:t>) = argmax P(</a:t>
            </a:r>
            <a:r>
              <a:rPr lang="en-US" dirty="0" err="1"/>
              <a:t>S|w</a:t>
            </a:r>
            <a:r>
              <a:rPr lang="en-US" dirty="0"/>
              <a:t>). P(w)/P(S) </a:t>
            </a:r>
            <a:r>
              <a:rPr lang="en-US" dirty="0">
                <a:sym typeface="Wingdings" pitchFamily="2" charset="2"/>
              </a:rPr>
              <a:t> S is const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           w = argmax P(</a:t>
            </a:r>
            <a:r>
              <a:rPr lang="en-US" dirty="0" err="1">
                <a:highlight>
                  <a:srgbClr val="FFFF00"/>
                </a:highlight>
              </a:rPr>
              <a:t>S|w</a:t>
            </a:r>
            <a:r>
              <a:rPr lang="en-US" dirty="0">
                <a:highlight>
                  <a:srgbClr val="FFFF00"/>
                </a:highlight>
              </a:rPr>
              <a:t>). P(w)</a:t>
            </a:r>
          </a:p>
          <a:p>
            <a:r>
              <a:rPr lang="en-US" dirty="0"/>
              <a:t>MLE: we assume that w is from a uniform distribution. </a:t>
            </a:r>
          </a:p>
          <a:p>
            <a:pPr lvl="1"/>
            <a:r>
              <a:rPr lang="en-US" dirty="0"/>
              <a:t>P(w) = c 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w = argmax P(</a:t>
            </a:r>
            <a:r>
              <a:rPr lang="en-US" dirty="0" err="1">
                <a:highlight>
                  <a:srgbClr val="00FFFF"/>
                </a:highlight>
              </a:rPr>
              <a:t>S|w</a:t>
            </a:r>
            <a:r>
              <a:rPr lang="en-US" dirty="0">
                <a:highlight>
                  <a:srgbClr val="00FFFF"/>
                </a:highlight>
              </a:rPr>
              <a:t>)</a:t>
            </a:r>
          </a:p>
          <a:p>
            <a:pPr lvl="1"/>
            <a:endParaRPr lang="en-US" dirty="0"/>
          </a:p>
          <a:p>
            <a:r>
              <a:rPr lang="en-US" dirty="0"/>
              <a:t>Bayes Rule: </a:t>
            </a:r>
            <a:r>
              <a:rPr lang="en-US" dirty="0">
                <a:highlight>
                  <a:srgbClr val="FFFF00"/>
                </a:highlight>
              </a:rPr>
              <a:t>P(A|B) = P(B|A). P(A)/P(B)</a:t>
            </a:r>
          </a:p>
        </p:txBody>
      </p:sp>
    </p:spTree>
    <p:extLst>
      <p:ext uri="{BB962C8B-B14F-4D97-AF65-F5344CB8AC3E}">
        <p14:creationId xmlns:p14="http://schemas.microsoft.com/office/powerpoint/2010/main" val="332923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57DB-27E2-2C6C-5936-39BF02FE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CF31-6015-DD3A-4BB0-AAA7D3CEC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</a:t>
            </a:r>
            <a:r>
              <a:rPr lang="en-US" dirty="0" err="1"/>
              <a:t>S|w</a:t>
            </a:r>
            <a:r>
              <a:rPr lang="en-US" dirty="0"/>
              <a:t>) = P((x1,y1),(x2,y2),...,(</a:t>
            </a:r>
            <a:r>
              <a:rPr lang="en-US" dirty="0" err="1"/>
              <a:t>xm,ym</a:t>
            </a:r>
            <a:r>
              <a:rPr lang="en-US" dirty="0"/>
              <a:t>)|w)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i.i.d</a:t>
            </a:r>
            <a:r>
              <a:rPr lang="en-US" dirty="0">
                <a:sym typeface="Wingdings" pitchFamily="2" charset="2"/>
              </a:rPr>
              <a:t> assumption</a:t>
            </a:r>
          </a:p>
          <a:p>
            <a:r>
              <a:rPr lang="en-US" dirty="0">
                <a:sym typeface="Wingdings" pitchFamily="2" charset="2"/>
              </a:rPr>
              <a:t>             = P((x1,y1)|w) * P((x2,y2)|w) * ....* P((</a:t>
            </a:r>
            <a:r>
              <a:rPr lang="en-US" dirty="0" err="1">
                <a:sym typeface="Wingdings" pitchFamily="2" charset="2"/>
              </a:rPr>
              <a:t>xm,ym</a:t>
            </a:r>
            <a:r>
              <a:rPr lang="en-US" dirty="0">
                <a:sym typeface="Wingdings" pitchFamily="2" charset="2"/>
              </a:rPr>
              <a:t>)|w)</a:t>
            </a:r>
          </a:p>
          <a:p>
            <a:r>
              <a:rPr lang="en-US" dirty="0">
                <a:sym typeface="Wingdings" pitchFamily="2" charset="2"/>
              </a:rPr>
              <a:t>             = P(y1|x1,w) * P(y2|x2,w) * .... * P(</a:t>
            </a:r>
            <a:r>
              <a:rPr lang="en-US" dirty="0" err="1">
                <a:sym typeface="Wingdings" pitchFamily="2" charset="2"/>
              </a:rPr>
              <a:t>ym</a:t>
            </a:r>
            <a:r>
              <a:rPr lang="en-US" dirty="0">
                <a:sym typeface="Wingdings" pitchFamily="2" charset="2"/>
              </a:rPr>
              <a:t>| </a:t>
            </a:r>
            <a:r>
              <a:rPr lang="en-US" dirty="0" err="1">
                <a:sym typeface="Wingdings" pitchFamily="2" charset="2"/>
              </a:rPr>
              <a:t>xm</a:t>
            </a:r>
            <a:r>
              <a:rPr lang="en-US" dirty="0">
                <a:sym typeface="Wingdings" pitchFamily="2" charset="2"/>
              </a:rPr>
              <a:t>, w)</a:t>
            </a:r>
          </a:p>
        </p:txBody>
      </p:sp>
    </p:spTree>
    <p:extLst>
      <p:ext uri="{BB962C8B-B14F-4D97-AF65-F5344CB8AC3E}">
        <p14:creationId xmlns:p14="http://schemas.microsoft.com/office/powerpoint/2010/main" val="645699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0BBAA-391E-6CEF-E9CD-837B9B160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1" y="245718"/>
            <a:ext cx="9088821" cy="593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68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0AA25-2324-9E41-8E30-D685E458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859"/>
            <a:ext cx="8778766" cy="591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59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9900A-34CF-1E69-D8AC-A0DB7209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784"/>
            <a:ext cx="9167648" cy="587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8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4387B-0BF8-600B-B8DB-6CDF4019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0769"/>
            <a:ext cx="8652641" cy="585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57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4B919-D330-3F85-D0C4-CF5C5B02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360"/>
            <a:ext cx="8316310" cy="58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73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4B919-D330-3F85-D0C4-CF5C5B02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360"/>
            <a:ext cx="8316310" cy="58626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0B0BA8-7DE3-CA41-BE9B-A6C91B4E52FD}"/>
              </a:ext>
            </a:extLst>
          </p:cNvPr>
          <p:cNvSpPr/>
          <p:nvPr/>
        </p:nvSpPr>
        <p:spPr>
          <a:xfrm>
            <a:off x="4204138" y="4519448"/>
            <a:ext cx="3016469" cy="504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7C5103-1988-3811-374E-B1D46192A09E}"/>
              </a:ext>
            </a:extLst>
          </p:cNvPr>
          <p:cNvCxnSpPr>
            <a:cxnSpLocks/>
          </p:cNvCxnSpPr>
          <p:nvPr/>
        </p:nvCxnSpPr>
        <p:spPr>
          <a:xfrm>
            <a:off x="7283669" y="4918841"/>
            <a:ext cx="4204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4B2250-6B4D-7A65-4F91-929901C711AD}"/>
              </a:ext>
            </a:extLst>
          </p:cNvPr>
          <p:cNvSpPr txBox="1"/>
          <p:nvPr/>
        </p:nvSpPr>
        <p:spPr>
          <a:xfrm>
            <a:off x="7767145" y="4665124"/>
            <a:ext cx="175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loss</a:t>
            </a:r>
          </a:p>
        </p:txBody>
      </p:sp>
    </p:spTree>
    <p:extLst>
      <p:ext uri="{BB962C8B-B14F-4D97-AF65-F5344CB8AC3E}">
        <p14:creationId xmlns:p14="http://schemas.microsoft.com/office/powerpoint/2010/main" val="1526127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0388-15AC-ED26-ACC4-D43D7799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42FF-B9C4-B763-1C59-F48624BE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Logistic loss: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Train it via GD:</a:t>
            </a:r>
          </a:p>
          <a:p>
            <a:pPr lvl="1"/>
            <a:r>
              <a:rPr lang="en-US" dirty="0"/>
              <a:t>Initialize parameter w to either 0 or a small random number</a:t>
            </a:r>
          </a:p>
          <a:p>
            <a:pPr lvl="1"/>
            <a:r>
              <a:rPr lang="en-US" dirty="0"/>
              <a:t>d = Compute derivative of loss </a:t>
            </a:r>
            <a:r>
              <a:rPr lang="en-US" dirty="0" err="1"/>
              <a:t>w.r.t</a:t>
            </a:r>
            <a:r>
              <a:rPr lang="en-US" dirty="0"/>
              <a:t> w</a:t>
            </a:r>
          </a:p>
          <a:p>
            <a:pPr lvl="1"/>
            <a:r>
              <a:rPr lang="en-US" dirty="0"/>
              <a:t>Update: w = w – r * d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B2BD0-DDEC-CE11-F145-A14835480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78834"/>
            <a:ext cx="7772400" cy="1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5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3419A-C5E9-03B6-1DA1-8A2A6A48B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86287"/>
            <a:ext cx="8831317" cy="589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08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4A4C-7814-8341-DD1C-41314F28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– maximum a posterior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E7974-30AA-27BF-E2FB-1940729E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 = argmax P(</a:t>
            </a:r>
            <a:r>
              <a:rPr lang="en-US" dirty="0" err="1"/>
              <a:t>w|S</a:t>
            </a:r>
            <a:r>
              <a:rPr lang="en-US" dirty="0"/>
              <a:t>) </a:t>
            </a:r>
            <a:r>
              <a:rPr lang="en-US" dirty="0">
                <a:highlight>
                  <a:srgbClr val="00FFFF"/>
                </a:highlight>
              </a:rPr>
              <a:t>= argmax P(</a:t>
            </a:r>
            <a:r>
              <a:rPr lang="en-US" dirty="0" err="1">
                <a:highlight>
                  <a:srgbClr val="00FFFF"/>
                </a:highlight>
              </a:rPr>
              <a:t>S|w</a:t>
            </a:r>
            <a:r>
              <a:rPr lang="en-US" dirty="0">
                <a:highlight>
                  <a:srgbClr val="00FFFF"/>
                </a:highlight>
              </a:rPr>
              <a:t>).P(w) </a:t>
            </a:r>
          </a:p>
        </p:txBody>
      </p:sp>
    </p:spTree>
    <p:extLst>
      <p:ext uri="{BB962C8B-B14F-4D97-AF65-F5344CB8AC3E}">
        <p14:creationId xmlns:p14="http://schemas.microsoft.com/office/powerpoint/2010/main" val="3890929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52CB5-7350-933A-E788-F2232EB4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74"/>
            <a:ext cx="8925910" cy="583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97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19CA0-8727-CAC7-B522-F134A76D6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5310"/>
            <a:ext cx="8757745" cy="588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B19ED8-274D-2382-59C9-5B4651A9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3280"/>
            <a:ext cx="8326821" cy="58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76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0433D-6041-B496-F8D5-0F213D70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52" y="301309"/>
            <a:ext cx="8531772" cy="587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85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4F2B1-8490-8834-84B7-40C35BC02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7668"/>
            <a:ext cx="8715703" cy="585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18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A15F-68F9-46AD-A8D4-A0F7629D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467-C3FA-2C50-5C42-639C737AE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303D9-E073-B7A0-0CEC-1F6F2E5B0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212"/>
            <a:ext cx="8547538" cy="59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8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4BC-B05B-20D6-0397-F44D2CA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72FF-ABE9-41D2-1550-D56026DA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F2AA2-8270-C5CC-3C57-3BF14FD5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1" y="257700"/>
            <a:ext cx="8426669" cy="59192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61F574-D50F-C700-6FB9-17391DD9EA0F}"/>
              </a:ext>
            </a:extLst>
          </p:cNvPr>
          <p:cNvSpPr/>
          <p:nvPr/>
        </p:nvSpPr>
        <p:spPr>
          <a:xfrm>
            <a:off x="3312543" y="4787660"/>
            <a:ext cx="2855344" cy="586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5C7A19-372A-AA1D-31D9-319360DD9740}"/>
              </a:ext>
            </a:extLst>
          </p:cNvPr>
          <p:cNvSpPr/>
          <p:nvPr/>
        </p:nvSpPr>
        <p:spPr>
          <a:xfrm>
            <a:off x="6383547" y="4787659"/>
            <a:ext cx="1164566" cy="586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11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35BE-7E54-6DA3-BA05-E78E7E6A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vs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C4D4-6CC4-0E22-5968-4AC6DC26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MAP: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86DAD-FBB1-0774-E22C-4B8305FC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88277"/>
            <a:ext cx="7772400" cy="1681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99FC2-A5BC-A16E-F83D-B159FA79C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660687"/>
            <a:ext cx="7772400" cy="16465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E4117C-DA21-7081-3C06-7206B791A49D}"/>
              </a:ext>
            </a:extLst>
          </p:cNvPr>
          <p:cNvSpPr txBox="1"/>
          <p:nvPr/>
        </p:nvSpPr>
        <p:spPr>
          <a:xfrm>
            <a:off x="10067026" y="4804913"/>
            <a:ext cx="1820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w</a:t>
            </a:r>
            <a:r>
              <a:rPr lang="en-US" dirty="0"/>
              <a:t> = |W|</a:t>
            </a:r>
            <a:r>
              <a:rPr lang="en-US" baseline="30000" dirty="0"/>
              <a:t>2 </a:t>
            </a:r>
          </a:p>
          <a:p>
            <a:r>
              <a:rPr lang="en-US" dirty="0"/>
              <a:t>L2 norm </a:t>
            </a:r>
            <a:r>
              <a:rPr lang="en-US" dirty="0" err="1"/>
              <a:t>regularizer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6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is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classifier that predicts the </a:t>
            </a:r>
            <a:r>
              <a:rPr lang="en-US" b="1" dirty="0"/>
              <a:t>probability</a:t>
            </a:r>
            <a:r>
              <a:rPr lang="en-US" dirty="0"/>
              <a:t> that the label is +1 for a particular input</a:t>
            </a:r>
          </a:p>
          <a:p>
            <a:endParaRPr lang="en-US" dirty="0"/>
          </a:p>
          <a:p>
            <a:r>
              <a:rPr lang="en-US" dirty="0"/>
              <a:t>A classifier that can be trained via </a:t>
            </a:r>
            <a:r>
              <a:rPr lang="en-US" b="1" dirty="0"/>
              <a:t>MAP or MLE </a:t>
            </a:r>
            <a:r>
              <a:rPr lang="en-US" dirty="0"/>
              <a:t>estimation</a:t>
            </a:r>
          </a:p>
          <a:p>
            <a:endParaRPr lang="en-US" dirty="0"/>
          </a:p>
          <a:p>
            <a:r>
              <a:rPr lang="en-US" dirty="0"/>
              <a:t>A classifier that minimizes the </a:t>
            </a:r>
            <a:r>
              <a:rPr lang="en-US" b="1" dirty="0"/>
              <a:t>logistic loss </a:t>
            </a:r>
            <a:r>
              <a:rPr lang="en-US" dirty="0"/>
              <a:t>over the training set</a:t>
            </a:r>
          </a:p>
        </p:txBody>
      </p:sp>
    </p:spTree>
    <p:extLst>
      <p:ext uri="{BB962C8B-B14F-4D97-AF65-F5344CB8AC3E}">
        <p14:creationId xmlns:p14="http://schemas.microsoft.com/office/powerpoint/2010/main" val="913245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EABA-7411-D2C4-442F-9825EC690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as Loss Minimization</a:t>
            </a:r>
          </a:p>
        </p:txBody>
      </p:sp>
    </p:spTree>
    <p:extLst>
      <p:ext uri="{BB962C8B-B14F-4D97-AF65-F5344CB8AC3E}">
        <p14:creationId xmlns:p14="http://schemas.microsoft.com/office/powerpoint/2010/main" val="254412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ECE2-5446-B9C5-07B4-369A8441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3FD2-8871-E6A7-EB4E-D5E104656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machine learning: given data points x </a:t>
            </a:r>
          </a:p>
          <a:p>
            <a:r>
              <a:rPr lang="en-US" dirty="0"/>
              <a:t>We know that x come from a distribution (unknown)</a:t>
            </a:r>
          </a:p>
          <a:p>
            <a:r>
              <a:rPr lang="en-US" b="1" dirty="0"/>
              <a:t>Goal in ML: minimize a loss function on the distribution</a:t>
            </a:r>
          </a:p>
          <a:p>
            <a:r>
              <a:rPr lang="en-US" dirty="0"/>
              <a:t>Catch</a:t>
            </a:r>
            <a:r>
              <a:rPr lang="en-US" b="1" dirty="0"/>
              <a:t>: </a:t>
            </a:r>
            <a:r>
              <a:rPr lang="en-US" dirty="0"/>
              <a:t>distribution is unknown</a:t>
            </a:r>
          </a:p>
          <a:p>
            <a:r>
              <a:rPr lang="en-US" b="1" dirty="0"/>
              <a:t>Instead of minimizing loss on distribution, minimize on training data</a:t>
            </a:r>
          </a:p>
          <a:p>
            <a:r>
              <a:rPr lang="en-US" dirty="0"/>
              <a:t>Training data S = {(</a:t>
            </a:r>
            <a:r>
              <a:rPr lang="en-US" dirty="0" err="1"/>
              <a:t>x,y</a:t>
            </a:r>
            <a:r>
              <a:rPr lang="en-US" dirty="0"/>
              <a:t>)}</a:t>
            </a:r>
          </a:p>
          <a:p>
            <a:r>
              <a:rPr lang="en-US" dirty="0">
                <a:highlight>
                  <a:srgbClr val="00FFFF"/>
                </a:highlight>
              </a:rPr>
              <a:t>Empirical loss </a:t>
            </a:r>
            <a:r>
              <a:rPr lang="en-US" dirty="0"/>
              <a:t>= minimize the loss on training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4820F-A966-1FC4-C0F6-B872ADD6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997" y="5401933"/>
            <a:ext cx="5499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38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A6773-8CAC-C5AD-0BD0-DB748C40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776"/>
            <a:ext cx="8925910" cy="586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52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BBF95-F374-0D5F-639C-61C326BA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830"/>
            <a:ext cx="8789276" cy="587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32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4B203-8883-85B3-2126-53EC5EEDC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560"/>
            <a:ext cx="8915400" cy="58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44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18976-5C3D-AFE2-2CCF-57694CC2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1207"/>
            <a:ext cx="8831317" cy="577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01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A4E8A-0601-4269-F1DE-014A8133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066"/>
            <a:ext cx="8726214" cy="588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86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DADE2-2F8E-1B17-AB58-E071AE165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76369"/>
            <a:ext cx="8789277" cy="47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58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742C-5EC0-FC5B-2FBB-9224E7EF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6A70-ADA9-2513-645A-ADA0AC59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L2 norm regularization: |w|</a:t>
            </a:r>
            <a:r>
              <a:rPr lang="en-US" baseline="30000" dirty="0"/>
              <a:t>2 </a:t>
            </a:r>
            <a:r>
              <a:rPr lang="en-US" dirty="0"/>
              <a:t>= w1</a:t>
            </a:r>
            <a:r>
              <a:rPr lang="en-US" baseline="30000" dirty="0"/>
              <a:t>2</a:t>
            </a:r>
            <a:r>
              <a:rPr lang="en-US" dirty="0"/>
              <a:t> + w2</a:t>
            </a:r>
            <a:r>
              <a:rPr lang="en-US" baseline="30000" dirty="0"/>
              <a:t>2</a:t>
            </a:r>
            <a:r>
              <a:rPr lang="en-US" dirty="0"/>
              <a:t> + ... +wd</a:t>
            </a:r>
            <a:r>
              <a:rPr lang="en-US" baseline="30000" dirty="0"/>
              <a:t>2</a:t>
            </a:r>
          </a:p>
          <a:p>
            <a:r>
              <a:rPr lang="en-US" dirty="0"/>
              <a:t>L1 norm regularization  = |w|1 + |w|2 + ... +|</a:t>
            </a:r>
            <a:r>
              <a:rPr lang="en-US" dirty="0" err="1"/>
              <a:t>w|d</a:t>
            </a:r>
            <a:endParaRPr lang="en-US" baseline="30000" dirty="0"/>
          </a:p>
          <a:p>
            <a:r>
              <a:rPr lang="en-US" dirty="0"/>
              <a:t>Elastic net regularization = c.L2 + b.L1 </a:t>
            </a:r>
          </a:p>
          <a:p>
            <a:endParaRPr lang="en-US" dirty="0"/>
          </a:p>
          <a:p>
            <a:r>
              <a:rPr lang="en-US" dirty="0"/>
              <a:t>Feature are d-dim</a:t>
            </a:r>
          </a:p>
          <a:p>
            <a:r>
              <a:rPr lang="en-US" dirty="0"/>
              <a:t>W vector is d-dim</a:t>
            </a:r>
          </a:p>
          <a:p>
            <a:r>
              <a:rPr lang="en-US" dirty="0"/>
              <a:t>Feature selection as part of model training, use L1 norm</a:t>
            </a:r>
          </a:p>
        </p:txBody>
      </p:sp>
    </p:spTree>
    <p:extLst>
      <p:ext uri="{BB962C8B-B14F-4D97-AF65-F5344CB8AC3E}">
        <p14:creationId xmlns:p14="http://schemas.microsoft.com/office/powerpoint/2010/main" val="25341064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801C-D8C6-C858-23A2-E5AAC43E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96C1-F571-C1D3-D479-1B774428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https://svivek.com/teaching/lectures/slides/logistic-regression/logistic-regression.pdf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4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550</Words>
  <Application>Microsoft Macintosh PowerPoint</Application>
  <PresentationFormat>Widescreen</PresentationFormat>
  <Paragraphs>71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Machine Learning INET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Logistic Regression</vt:lpstr>
      <vt:lpstr>PowerPoint Presentation</vt:lpstr>
      <vt:lpstr>MLE = Maximum Likelihood Estimation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logistic regression</vt:lpstr>
      <vt:lpstr>PowerPoint Presentation</vt:lpstr>
      <vt:lpstr>MAP – maximum a posterior estimation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MLE vs MAP</vt:lpstr>
      <vt:lpstr>Logistic Regression is ...</vt:lpstr>
      <vt:lpstr>Learning as Loss Minimization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loss functions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2024-09-17T00:53:49Z</dcterms:created>
  <dcterms:modified xsi:type="dcterms:W3CDTF">2024-09-17T23:18:25Z</dcterms:modified>
</cp:coreProperties>
</file>